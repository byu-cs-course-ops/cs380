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on time — this session is almost entirely work, and the two rounds are what make it valuable. Have the pairings ready to read out and the protocol sheets handed out as they sit. The LMS deadline closed at the start of the period, so the submission list is final; note who is missing a draft but don't make a scene of it — they still review, and the Argument &amp; revision cap does the enforcing. Say the shape of the day in one line: two rounds of review, then a clinic on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minutes, and the framing matters more than it looks — students arrive thinking peer review is a classroom formality. Name the transfer explicitly: this is the protocol for design review in Week 6, code review in Week 7, the repo audit in Week 11, and every PR they open at work. Dwell on the two mindsets. Reviewers over-soften; authors over-explain. Say plainly that an author who spends the discussion defending has bought nothing — the draft leaves the room exactly as good as it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read one pair aloud. The point students miss: the left column is not rude, it's useless — kindness is not the differentiator here, usability is. Every left-hand comment leaves the author guessing which sentence to change; every right-hand one names a criterion and points at a place. Tell them this is exactly what a good code review comment does too. If the room needs it, take one weak comment from the floor and rewrite it live in criteria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walk it once — they have it on paper, so don't read the slide to them. Emphasize two things. First, the pen: comments must land on the page, not just in the air, or the author has nothing to submit Monday and nothing to revise against tonight. Second, initials — the grader should be able to see whose feedback got acted on. Mention the reading order deliberately: scope and risks first, because that is where drafts fail and where the remaining time is best spent.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here, then leave it available — flip back to this slide during the rounds so the room can read the criteria from any seat while the sheet stays under their pen. Point at the two starred rows and say why they carry the session: scope realism and risks are where first drafts fail, and they are the two a cold reader can actually judge. Note the weights out loud once — feasibility at 20 is the heaviest single criterion, and it is the one students most often assert rather than argue.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pairings out, start the timer, then circulate. Sit with any pair whose discussion stalls — usually the reviewer has read politely and has nothing marked. Early on, model one strong critique aloud so the room hears the register; that single demonstration sets the level for both rounds. Watch the clock at the 10-minute mark and call the switch to discussion, or the silent read eats the conversation. Keep an eye on anyone reviewing without a draft of their own — they still do full work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before the second round. Correct the assumption students bring in: both readers are cold, so round 2 is not a harder audience — it is an independent replication. Teach the inference, because it transfers to code review and user research alike: agreement between two people who never spoke is evidence about the artifact; a lone flag is ambiguous and worth checking, not discarding. Then the recruiting question. A proposal can be technically sound and still attract nobody, and Pitch Day is a week out — tell reviewers an honest no with a reason is the most useful thing they can hand a classmate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coaching pattern, tighter clock. Circulate toward the pairs you did not reach in round 1. The failure mode here is contamination: an author who opens with "my last reviewer said the scope was too big" has just thrown away the independence that makes this round worth eighteen minutes. Interrupt that if you hear it. Around three minutes out, warn the room so discussion lands rather than getting cut, and remind authors to mark the agreements before they stand up. Then collect attention for the clinic — that transition runs long if you let it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Reconvene and set up the clinic. Ask cold for a volunteer whose reviewers both said 'too big' — after two rounds the room knows, and a student who has just heard it twice is usually willing. Walk the four moves in about three minutes, then spend the rest applying them live to one or two real proposals; the live work teaches far more than the list. If nobody volunteers, narrow the weak sample proposal from Monday instead, then ask again — someone almost always speaks up once the move is demonstrated on paper that isn't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arithmetic on the board with the volunteer's project, out loud, with real numbers from that student. It is the single most useful thing in the session and it lands only when it is somebody's actual proposal. Push back gently on optimistic inputs — a student who claims eight build hours a week has forgotten the reading and the reviews. End with the reframe on the amber band: discovering the scope problem now costs an evening of rewriting; discovering it in Week 12 costs the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and hold the room quiet for the first five — the edit list is what converts today into a better proposal, and students who leave without it lose most of the value by Friday. Give them the ranking rule: what both reviewers flagged goes first. Walk past a few sheets; if you see 'fix scope' or 'add evidence', push for the specific version out loud. Say the capture instruction twice — tonight, while they still know which page came from which reviewer. A scanner or a scanning app gives the cleanest result; a phone photo is perfectly acceptable if it is flat, well lit, and legible.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 under a minute — they have work to do tonight. The one-liner is worth saying slowly: reviewing well is a learned skill, and scope realism is the difference between a proposal that recruits a teammate and one that makes people nervous. Then the three dates, plainly. Flag Monday's shift explicitly: the same argument becomes a six-to-eight minute spoken pitch, and the students who revise this weekend will have a far easier time building slides from a proposal they already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Your Draft Meets Its Readers</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8 — peer review + scope-narrowing clinic</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Wednesday, September 30,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WHY WE DO THIS — 6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Work only its author has read is a guess</a:t>
            </a:r>
            <a:endParaRPr lang="en-US" sz="3100" dirty="0"/>
          </a:p>
        </p:txBody>
      </p:sp>
      <p:sp>
        <p:nvSpPr>
          <p:cNvPr id="5" name="Shape 3"/>
          <p:cNvSpPr/>
          <p:nvPr/>
        </p:nvSpPr>
        <p:spPr>
          <a:xfrm>
            <a:off x="548640" y="1828800"/>
            <a:ext cx="11064240" cy="868680"/>
          </a:xfrm>
          <a:prstGeom prst="roundRect">
            <a:avLst>
              <a:gd name="adj" fmla="val 9474"/>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029968"/>
            <a:ext cx="475488" cy="475488"/>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997062" y="2158350"/>
            <a:ext cx="218724" cy="218724"/>
          </a:xfrm>
          <a:prstGeom prst="rect">
            <a:avLst/>
          </a:prstGeom>
        </p:spPr>
      </p:pic>
      <p:sp>
        <p:nvSpPr>
          <p:cNvPr id="8" name="Text 5"/>
          <p:cNvSpPr/>
          <p:nvPr/>
        </p:nvSpPr>
        <p:spPr>
          <a:xfrm>
            <a:off x="1572768" y="1828800"/>
            <a:ext cx="9784080" cy="868680"/>
          </a:xfrm>
          <a:prstGeom prst="rect">
            <a:avLst/>
          </a:prstGeom>
          <a:noFill/>
          <a:ln/>
        </p:spPr>
        <p:txBody>
          <a:bodyPr wrap="square" lIns="0" tIns="0" rIns="0" bIns="0" rtlCol="0" anchor="ctr"/>
          <a:lstStyle/>
          <a:p>
            <a:pPr indent="0" marL="0">
              <a:lnSpc>
                <a:spcPct val="104000"/>
              </a:lnSpc>
              <a:buNone/>
            </a:pPr>
            <a:r>
              <a:rPr lang="en-US" sz="1650" dirty="0">
                <a:solidFill>
                  <a:srgbClr val="CFE0E9"/>
                </a:solidFill>
                <a:latin typeface="Calibri" pitchFamily="34" charset="0"/>
                <a:ea typeface="Calibri" pitchFamily="34" charset="-122"/>
                <a:cs typeface="Calibri" pitchFamily="34" charset="-120"/>
              </a:rPr>
              <a:t>Draft → review → revise → build → reflect. From here on, every major artifact is reviewed before it is graded.</a:t>
            </a:r>
            <a:endParaRPr lang="en-US" sz="1650" dirty="0"/>
          </a:p>
        </p:txBody>
      </p:sp>
      <p:sp>
        <p:nvSpPr>
          <p:cNvPr id="9" name="Shape 6"/>
          <p:cNvSpPr/>
          <p:nvPr/>
        </p:nvSpPr>
        <p:spPr>
          <a:xfrm>
            <a:off x="548640" y="2880360"/>
            <a:ext cx="5440680" cy="2377440"/>
          </a:xfrm>
          <a:prstGeom prst="roundRect">
            <a:avLst>
              <a:gd name="adj" fmla="val 3462"/>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822960" y="3154680"/>
            <a:ext cx="548640" cy="548640"/>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971093" y="3302813"/>
            <a:ext cx="252374" cy="252374"/>
          </a:xfrm>
          <a:prstGeom prst="rect">
            <a:avLst/>
          </a:prstGeom>
        </p:spPr>
      </p:pic>
      <p:sp>
        <p:nvSpPr>
          <p:cNvPr id="12" name="Text 8"/>
          <p:cNvSpPr/>
          <p:nvPr/>
        </p:nvSpPr>
        <p:spPr>
          <a:xfrm>
            <a:off x="1517904" y="3200400"/>
            <a:ext cx="4206240" cy="45720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As a reviewer</a:t>
            </a:r>
            <a:endParaRPr lang="en-US" sz="1900" dirty="0"/>
          </a:p>
        </p:txBody>
      </p:sp>
      <p:sp>
        <p:nvSpPr>
          <p:cNvPr id="13" name="Text 9"/>
          <p:cNvSpPr/>
          <p:nvPr/>
        </p:nvSpPr>
        <p:spPr>
          <a:xfrm>
            <a:off x="914400" y="3858768"/>
            <a:ext cx="4846320" cy="1325880"/>
          </a:xfrm>
          <a:prstGeom prst="rect">
            <a:avLst/>
          </a:prstGeom>
          <a:noFill/>
          <a:ln/>
        </p:spPr>
        <p:txBody>
          <a:bodyPr wrap="square" lIns="0" tIns="0" rIns="0" bIns="0" rtlCol="0" anchor="t"/>
          <a:lstStyle/>
          <a:p>
            <a:pPr marL="177800" indent="-177800">
              <a:spcAft>
                <a:spcPts val="700"/>
              </a:spcAft>
              <a:buSzPct val="100000"/>
              <a:buChar char="•"/>
            </a:pPr>
            <a:r>
              <a:rPr lang="en-US" sz="1550" dirty="0">
                <a:solidFill>
                  <a:srgbClr val="1E2A36"/>
                </a:solidFill>
                <a:latin typeface="Calibri" pitchFamily="34" charset="0"/>
                <a:ea typeface="Calibri" pitchFamily="34" charset="-122"/>
                <a:cs typeface="Calibri" pitchFamily="34" charset="-120"/>
              </a:rPr>
              <a:t>Your job is to make the work better — not to show you're smart</a:t>
            </a:r>
            <a:endParaRPr lang="en-US" sz="1550" dirty="0"/>
          </a:p>
          <a:p>
            <a:pPr marL="177800" indent="-177800">
              <a:spcAft>
                <a:spcPts val="700"/>
              </a:spcAft>
              <a:buSzPct val="100000"/>
              <a:buChar char="•"/>
            </a:pPr>
            <a:r>
              <a:rPr lang="en-US" sz="1550" dirty="0">
                <a:solidFill>
                  <a:srgbClr val="1E2A36"/>
                </a:solidFill>
                <a:latin typeface="Calibri" pitchFamily="34" charset="0"/>
                <a:ea typeface="Calibri" pitchFamily="34" charset="-122"/>
                <a:cs typeface="Calibri" pitchFamily="34" charset="-120"/>
              </a:rPr>
              <a:t>Specific beats general; criteria beat taste</a:t>
            </a:r>
            <a:endParaRPr lang="en-US" sz="1550" dirty="0"/>
          </a:p>
          <a:p>
            <a:pPr marL="177800" indent="-177800">
              <a:buSzPct val="100000"/>
              <a:buChar char="•"/>
            </a:pPr>
            <a:r>
              <a:rPr lang="en-US" sz="1550" dirty="0">
                <a:solidFill>
                  <a:srgbClr val="1E2A36"/>
                </a:solidFill>
                <a:latin typeface="Calibri" pitchFamily="34" charset="0"/>
                <a:ea typeface="Calibri" pitchFamily="34" charset="-122"/>
                <a:cs typeface="Calibri" pitchFamily="34" charset="-120"/>
              </a:rPr>
              <a:t>A question often lands harder than a verdict</a:t>
            </a:r>
            <a:endParaRPr lang="en-US" sz="1550" dirty="0"/>
          </a:p>
        </p:txBody>
      </p:sp>
      <p:sp>
        <p:nvSpPr>
          <p:cNvPr id="14" name="Shape 10"/>
          <p:cNvSpPr/>
          <p:nvPr/>
        </p:nvSpPr>
        <p:spPr>
          <a:xfrm>
            <a:off x="6172200" y="2880360"/>
            <a:ext cx="5440680" cy="2377440"/>
          </a:xfrm>
          <a:prstGeom prst="roundRect">
            <a:avLst>
              <a:gd name="adj" fmla="val 3462"/>
            </a:avLst>
          </a:prstGeom>
          <a:solidFill>
            <a:srgbClr val="F2F6F8"/>
          </a:solidFill>
          <a:ln/>
          <a:effectLst>
            <a:outerShdw sx="100000" sy="100000" kx="0" ky="0" algn="bl" rotWithShape="0" blurRad="88900" dist="38100" dir="5400000">
              <a:srgbClr val="000000">
                <a:alpha val="13000"/>
              </a:srgbClr>
            </a:outerShdw>
          </a:effectLst>
        </p:spPr>
      </p:sp>
      <p:sp>
        <p:nvSpPr>
          <p:cNvPr id="15" name="Shape 11"/>
          <p:cNvSpPr/>
          <p:nvPr/>
        </p:nvSpPr>
        <p:spPr>
          <a:xfrm>
            <a:off x="6446520" y="3154680"/>
            <a:ext cx="548640" cy="548640"/>
          </a:xfrm>
          <a:prstGeom prst="ellipse">
            <a:avLst/>
          </a:prstGeom>
          <a:solidFill>
            <a:srgbClr val="E8A33D"/>
          </a:solidFill>
          <a:ln/>
        </p:spPr>
      </p:sp>
      <p:pic>
        <p:nvPicPr>
          <p:cNvPr id="16" name="Image 2" descr="preencoded.png">    </p:cNvPr>
          <p:cNvPicPr>
            <a:picLocks noChangeAspect="1"/>
          </p:cNvPicPr>
          <p:nvPr/>
        </p:nvPicPr>
        <p:blipFill>
          <a:blip r:embed="rId3"/>
          <a:stretch>
            <a:fillRect/>
          </a:stretch>
        </p:blipFill>
        <p:spPr>
          <a:xfrm>
            <a:off x="6594653" y="3302813"/>
            <a:ext cx="252374" cy="252374"/>
          </a:xfrm>
          <a:prstGeom prst="rect">
            <a:avLst/>
          </a:prstGeom>
        </p:spPr>
      </p:pic>
      <p:sp>
        <p:nvSpPr>
          <p:cNvPr id="17" name="Text 12"/>
          <p:cNvSpPr/>
          <p:nvPr/>
        </p:nvSpPr>
        <p:spPr>
          <a:xfrm>
            <a:off x="7141464" y="3200400"/>
            <a:ext cx="4206240" cy="45720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As an author</a:t>
            </a:r>
            <a:endParaRPr lang="en-US" sz="1900" dirty="0"/>
          </a:p>
        </p:txBody>
      </p:sp>
      <p:sp>
        <p:nvSpPr>
          <p:cNvPr id="18" name="Text 13"/>
          <p:cNvSpPr/>
          <p:nvPr/>
        </p:nvSpPr>
        <p:spPr>
          <a:xfrm>
            <a:off x="6537960" y="3858768"/>
            <a:ext cx="4846320" cy="1325880"/>
          </a:xfrm>
          <a:prstGeom prst="rect">
            <a:avLst/>
          </a:prstGeom>
          <a:noFill/>
          <a:ln/>
        </p:spPr>
        <p:txBody>
          <a:bodyPr wrap="square" lIns="0" tIns="0" rIns="0" bIns="0" rtlCol="0" anchor="t"/>
          <a:lstStyle/>
          <a:p>
            <a:pPr marL="177800" indent="-177800">
              <a:spcAft>
                <a:spcPts val="700"/>
              </a:spcAft>
              <a:buSzPct val="100000"/>
              <a:buChar char="•"/>
            </a:pPr>
            <a:r>
              <a:rPr lang="en-US" sz="1550" dirty="0">
                <a:solidFill>
                  <a:srgbClr val="1E2A36"/>
                </a:solidFill>
                <a:latin typeface="Calibri" pitchFamily="34" charset="0"/>
                <a:ea typeface="Calibri" pitchFamily="34" charset="-122"/>
                <a:cs typeface="Calibri" pitchFamily="34" charset="-120"/>
              </a:rPr>
              <a:t>Capture, don't defend — you decide later what to act on</a:t>
            </a:r>
            <a:endParaRPr lang="en-US" sz="1550" dirty="0"/>
          </a:p>
          <a:p>
            <a:pPr marL="177800" indent="-177800">
              <a:spcAft>
                <a:spcPts val="700"/>
              </a:spcAft>
              <a:buSzPct val="100000"/>
              <a:buChar char="•"/>
            </a:pPr>
            <a:r>
              <a:rPr lang="en-US" sz="1550" dirty="0">
                <a:solidFill>
                  <a:srgbClr val="1E2A36"/>
                </a:solidFill>
                <a:latin typeface="Calibri" pitchFamily="34" charset="0"/>
                <a:ea typeface="Calibri" pitchFamily="34" charset="-122"/>
                <a:cs typeface="Calibri" pitchFamily="34" charset="-120"/>
              </a:rPr>
              <a:t>Probe for the specific: "which paragraph made you doubt it?"</a:t>
            </a:r>
            <a:endParaRPr lang="en-US" sz="1550" dirty="0"/>
          </a:p>
          <a:p>
            <a:pPr marL="177800" indent="-177800">
              <a:buSzPct val="100000"/>
              <a:buChar char="•"/>
            </a:pPr>
            <a:r>
              <a:rPr lang="en-US" sz="1550" dirty="0">
                <a:solidFill>
                  <a:srgbClr val="1E2A36"/>
                </a:solidFill>
                <a:latin typeface="Calibri" pitchFamily="34" charset="0"/>
                <a:ea typeface="Calibri" pitchFamily="34" charset="-122"/>
                <a:cs typeface="Calibri" pitchFamily="34" charset="-120"/>
              </a:rPr>
              <a:t>You can't act on feedback you argued away</a:t>
            </a:r>
            <a:endParaRPr lang="en-US" sz="1550" dirty="0"/>
          </a:p>
        </p:txBody>
      </p:sp>
      <p:sp>
        <p:nvSpPr>
          <p:cNvPr id="19" name="Shape 14"/>
          <p:cNvSpPr/>
          <p:nvPr/>
        </p:nvSpPr>
        <p:spPr>
          <a:xfrm>
            <a:off x="548640" y="5440680"/>
            <a:ext cx="11064240" cy="749808"/>
          </a:xfrm>
          <a:prstGeom prst="roundRect">
            <a:avLst>
              <a:gd name="adj" fmla="val 10976"/>
            </a:avLst>
          </a:prstGeom>
          <a:solidFill>
            <a:srgbClr val="FBEEDA"/>
          </a:solidFill>
          <a:ln/>
          <a:effectLst>
            <a:outerShdw sx="100000" sy="100000" kx="0" ky="0" algn="bl" rotWithShape="0" blurRad="88900" dist="38100" dir="5400000">
              <a:srgbClr val="000000">
                <a:alpha val="13000"/>
              </a:srgbClr>
            </a:outerShdw>
          </a:effectLst>
        </p:spPr>
      </p:sp>
      <p:sp>
        <p:nvSpPr>
          <p:cNvPr id="20" name="Text 15"/>
          <p:cNvSpPr/>
          <p:nvPr/>
        </p:nvSpPr>
        <p:spPr>
          <a:xfrm>
            <a:off x="822960" y="5440680"/>
            <a:ext cx="10515600" cy="749808"/>
          </a:xfrm>
          <a:prstGeom prst="rect">
            <a:avLst/>
          </a:prstGeom>
          <a:noFill/>
          <a:ln/>
        </p:spPr>
        <p:txBody>
          <a:bodyPr wrap="square" lIns="0" tIns="0" rIns="0" bIns="0" rtlCol="0" anchor="ctr"/>
          <a:lstStyle/>
          <a:p>
            <a:pPr algn="ctr" indent="0" marL="0">
              <a:buNone/>
            </a:pPr>
            <a:r>
              <a:rPr lang="en-US" sz="1500" b="1" dirty="0">
                <a:solidFill>
                  <a:srgbClr val="0E6E6D"/>
                </a:solidFill>
                <a:latin typeface="Calibri" pitchFamily="34" charset="0"/>
                <a:ea typeface="Calibri" pitchFamily="34" charset="-122"/>
                <a:cs typeface="Calibri" pitchFamily="34" charset="-120"/>
              </a:rPr>
              <a:t>This is not a course ritual.  </a:t>
            </a:r>
            <a:pPr algn="ctr" indent="0" marL="0">
              <a:buNone/>
            </a:pPr>
            <a:r>
              <a:rPr lang="en-US" sz="1500" dirty="0">
                <a:solidFill>
                  <a:srgbClr val="1E2A36"/>
                </a:solidFill>
                <a:latin typeface="Calibri" pitchFamily="34" charset="0"/>
                <a:ea typeface="Calibri" pitchFamily="34" charset="-122"/>
                <a:cs typeface="Calibri" pitchFamily="34" charset="-120"/>
              </a:rPr>
              <a:t>Design review, code review, and every pull request you ever open run on these same moves.</a:t>
            </a:r>
            <a:endParaRPr lang="en-US" sz="1500" dirty="0"/>
          </a:p>
        </p:txBody>
      </p:sp>
      <p:sp>
        <p:nvSpPr>
          <p:cNvPr id="21" name="Text 1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8 · Peer Review Workshop</a:t>
            </a:r>
            <a:endParaRPr lang="en-US" sz="1000" dirty="0"/>
          </a:p>
        </p:txBody>
      </p:sp>
      <p:sp>
        <p:nvSpPr>
          <p:cNvPr id="22" name="Text 1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REGISTER</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Say it so it can be used</a:t>
            </a:r>
            <a:endParaRPr lang="en-US" sz="3100" dirty="0"/>
          </a:p>
        </p:txBody>
      </p:sp>
      <p:sp>
        <p:nvSpPr>
          <p:cNvPr id="5" name="Shape 3"/>
          <p:cNvSpPr/>
          <p:nvPr/>
        </p:nvSpPr>
        <p:spPr>
          <a:xfrm>
            <a:off x="548640" y="1783080"/>
            <a:ext cx="5440680" cy="502920"/>
          </a:xfrm>
          <a:prstGeom prst="roundRect">
            <a:avLst>
              <a:gd name="adj" fmla="val 16364"/>
            </a:avLst>
          </a:prstGeom>
          <a:solidFill>
            <a:srgbClr val="D9614C"/>
          </a:solidFill>
          <a:ln/>
          <a:effectLst>
            <a:outerShdw sx="100000" sy="100000" kx="0" ky="0" algn="bl" rotWithShape="0" blurRad="88900" dist="38100" dir="5400000">
              <a:srgbClr val="000000">
                <a:alpha val="13000"/>
              </a:srgbClr>
            </a:outerShdw>
          </a:effectLst>
        </p:spPr>
      </p:sp>
      <p:sp>
        <p:nvSpPr>
          <p:cNvPr id="6" name="Text 4"/>
          <p:cNvSpPr/>
          <p:nvPr/>
        </p:nvSpPr>
        <p:spPr>
          <a:xfrm>
            <a:off x="548640" y="1783080"/>
            <a:ext cx="544068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NOT USABLE — taste, or a shrug</a:t>
            </a:r>
            <a:endParaRPr lang="en-US" sz="1500" dirty="0"/>
          </a:p>
        </p:txBody>
      </p:sp>
      <p:sp>
        <p:nvSpPr>
          <p:cNvPr id="7" name="Shape 5"/>
          <p:cNvSpPr/>
          <p:nvPr/>
        </p:nvSpPr>
        <p:spPr>
          <a:xfrm>
            <a:off x="6172200" y="1783080"/>
            <a:ext cx="5440680" cy="502920"/>
          </a:xfrm>
          <a:prstGeom prst="roundRect">
            <a:avLst>
              <a:gd name="adj" fmla="val 16364"/>
            </a:avLst>
          </a:prstGeom>
          <a:solidFill>
            <a:srgbClr val="0E6E6D"/>
          </a:solidFill>
          <a:ln/>
          <a:effectLst>
            <a:outerShdw sx="100000" sy="100000" kx="0" ky="0" algn="bl" rotWithShape="0" blurRad="88900" dist="38100" dir="5400000">
              <a:srgbClr val="000000">
                <a:alpha val="13000"/>
              </a:srgbClr>
            </a:outerShdw>
          </a:effectLst>
        </p:spPr>
      </p:sp>
      <p:sp>
        <p:nvSpPr>
          <p:cNvPr id="8" name="Text 6"/>
          <p:cNvSpPr/>
          <p:nvPr/>
        </p:nvSpPr>
        <p:spPr>
          <a:xfrm>
            <a:off x="6172200" y="1783080"/>
            <a:ext cx="544068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USABLE — specific, criteria-anchored</a:t>
            </a:r>
            <a:endParaRPr lang="en-US" sz="1500" dirty="0"/>
          </a:p>
        </p:txBody>
      </p:sp>
      <p:sp>
        <p:nvSpPr>
          <p:cNvPr id="9" name="Shape 7"/>
          <p:cNvSpPr/>
          <p:nvPr/>
        </p:nvSpPr>
        <p:spPr>
          <a:xfrm>
            <a:off x="548640" y="2450592"/>
            <a:ext cx="5440680" cy="1024128"/>
          </a:xfrm>
          <a:prstGeom prst="roundRect">
            <a:avLst>
              <a:gd name="adj" fmla="val 8036"/>
            </a:avLst>
          </a:prstGeom>
          <a:solidFill>
            <a:srgbClr val="FBECE8"/>
          </a:solidFill>
          <a:ln/>
          <a:effectLst>
            <a:outerShdw sx="100000" sy="100000" kx="0" ky="0" algn="bl" rotWithShape="0" blurRad="88900" dist="38100" dir="5400000">
              <a:srgbClr val="000000">
                <a:alpha val="13000"/>
              </a:srgbClr>
            </a:outerShdw>
          </a:effectLst>
        </p:spPr>
      </p:sp>
      <p:sp>
        <p:nvSpPr>
          <p:cNvPr id="10" name="Text 8"/>
          <p:cNvSpPr/>
          <p:nvPr/>
        </p:nvSpPr>
        <p:spPr>
          <a:xfrm>
            <a:off x="841248" y="2450592"/>
            <a:ext cx="4846320" cy="1024128"/>
          </a:xfrm>
          <a:prstGeom prst="rect">
            <a:avLst/>
          </a:prstGeom>
          <a:noFill/>
          <a:ln/>
        </p:spPr>
        <p:txBody>
          <a:bodyPr wrap="square" lIns="0" tIns="0" rIns="0" bIns="0" rtlCol="0" anchor="ctr"/>
          <a:lstStyle/>
          <a:p>
            <a:pPr indent="0" marL="0">
              <a:lnSpc>
                <a:spcPct val="104000"/>
              </a:lnSpc>
              <a:buNone/>
            </a:pPr>
            <a:r>
              <a:rPr lang="en-US" sz="1600" i="1" dirty="0">
                <a:solidFill>
                  <a:srgbClr val="1E2A36"/>
                </a:solidFill>
                <a:latin typeface="Calibri" pitchFamily="34" charset="0"/>
                <a:ea typeface="Calibri" pitchFamily="34" charset="-122"/>
                <a:cs typeface="Calibri" pitchFamily="34" charset="-120"/>
              </a:rPr>
              <a:t>"This seems like a lot."</a:t>
            </a:r>
            <a:endParaRPr lang="en-US" sz="1600" dirty="0"/>
          </a:p>
        </p:txBody>
      </p:sp>
      <p:sp>
        <p:nvSpPr>
          <p:cNvPr id="11" name="Shape 9"/>
          <p:cNvSpPr/>
          <p:nvPr/>
        </p:nvSpPr>
        <p:spPr>
          <a:xfrm>
            <a:off x="6172200" y="2450592"/>
            <a:ext cx="5440680" cy="1024128"/>
          </a:xfrm>
          <a:prstGeom prst="roundRect">
            <a:avLst>
              <a:gd name="adj" fmla="val 8036"/>
            </a:avLst>
          </a:prstGeom>
          <a:solidFill>
            <a:srgbClr val="EAF4EE"/>
          </a:solidFill>
          <a:ln/>
          <a:effectLst>
            <a:outerShdw sx="100000" sy="100000" kx="0" ky="0" algn="bl" rotWithShape="0" blurRad="88900" dist="38100" dir="5400000">
              <a:srgbClr val="000000">
                <a:alpha val="13000"/>
              </a:srgbClr>
            </a:outerShdw>
          </a:effectLst>
        </p:spPr>
      </p:sp>
      <p:sp>
        <p:nvSpPr>
          <p:cNvPr id="12" name="Text 10"/>
          <p:cNvSpPr/>
          <p:nvPr/>
        </p:nvSpPr>
        <p:spPr>
          <a:xfrm>
            <a:off x="6464808" y="2450592"/>
            <a:ext cx="4846320" cy="1024128"/>
          </a:xfrm>
          <a:prstGeom prst="rect">
            <a:avLst/>
          </a:prstGeom>
          <a:noFill/>
          <a:ln/>
        </p:spPr>
        <p:txBody>
          <a:bodyPr wrap="square" lIns="0" tIns="0" rIns="0" bIns="0" rtlCol="0" anchor="ctr"/>
          <a:lstStyle/>
          <a:p>
            <a:pPr indent="0" marL="0">
              <a:lnSpc>
                <a:spcPct val="104000"/>
              </a:lnSpc>
              <a:buNone/>
            </a:pPr>
            <a:r>
              <a:rPr lang="en-US" sz="1550" dirty="0">
                <a:solidFill>
                  <a:srgbClr val="1E2A36"/>
                </a:solidFill>
                <a:latin typeface="Calibri" pitchFamily="34" charset="0"/>
                <a:ea typeface="Calibri" pitchFamily="34" charset="-122"/>
                <a:cs typeface="Calibri" pitchFamily="34" charset="-120"/>
              </a:rPr>
              <a:t>"Scope realism — I don't believe the calendar sync fits five weeks of real building."</a:t>
            </a:r>
            <a:endParaRPr lang="en-US" sz="1550" dirty="0"/>
          </a:p>
        </p:txBody>
      </p:sp>
      <p:sp>
        <p:nvSpPr>
          <p:cNvPr id="13" name="Shape 11"/>
          <p:cNvSpPr/>
          <p:nvPr/>
        </p:nvSpPr>
        <p:spPr>
          <a:xfrm>
            <a:off x="548640" y="3621024"/>
            <a:ext cx="5440680" cy="1024128"/>
          </a:xfrm>
          <a:prstGeom prst="roundRect">
            <a:avLst>
              <a:gd name="adj" fmla="val 8036"/>
            </a:avLst>
          </a:prstGeom>
          <a:solidFill>
            <a:srgbClr val="FBECE8"/>
          </a:solidFill>
          <a:ln/>
          <a:effectLst>
            <a:outerShdw sx="100000" sy="100000" kx="0" ky="0" algn="bl" rotWithShape="0" blurRad="88900" dist="38100" dir="5400000">
              <a:srgbClr val="000000">
                <a:alpha val="13000"/>
              </a:srgbClr>
            </a:outerShdw>
          </a:effectLst>
        </p:spPr>
      </p:sp>
      <p:sp>
        <p:nvSpPr>
          <p:cNvPr id="14" name="Text 12"/>
          <p:cNvSpPr/>
          <p:nvPr/>
        </p:nvSpPr>
        <p:spPr>
          <a:xfrm>
            <a:off x="841248" y="3621024"/>
            <a:ext cx="4846320" cy="1024128"/>
          </a:xfrm>
          <a:prstGeom prst="rect">
            <a:avLst/>
          </a:prstGeom>
          <a:noFill/>
          <a:ln/>
        </p:spPr>
        <p:txBody>
          <a:bodyPr wrap="square" lIns="0" tIns="0" rIns="0" bIns="0" rtlCol="0" anchor="ctr"/>
          <a:lstStyle/>
          <a:p>
            <a:pPr indent="0" marL="0">
              <a:lnSpc>
                <a:spcPct val="104000"/>
              </a:lnSpc>
              <a:buNone/>
            </a:pPr>
            <a:r>
              <a:rPr lang="en-US" sz="1600" i="1" dirty="0">
                <a:solidFill>
                  <a:srgbClr val="1E2A36"/>
                </a:solidFill>
                <a:latin typeface="Calibri" pitchFamily="34" charset="0"/>
                <a:ea typeface="Calibri" pitchFamily="34" charset="-122"/>
                <a:cs typeface="Calibri" pitchFamily="34" charset="-120"/>
              </a:rPr>
              <a:t>"The problem section is vague."</a:t>
            </a:r>
            <a:endParaRPr lang="en-US" sz="1600" dirty="0"/>
          </a:p>
        </p:txBody>
      </p:sp>
      <p:sp>
        <p:nvSpPr>
          <p:cNvPr id="15" name="Shape 13"/>
          <p:cNvSpPr/>
          <p:nvPr/>
        </p:nvSpPr>
        <p:spPr>
          <a:xfrm>
            <a:off x="6172200" y="3621024"/>
            <a:ext cx="5440680" cy="1024128"/>
          </a:xfrm>
          <a:prstGeom prst="roundRect">
            <a:avLst>
              <a:gd name="adj" fmla="val 8036"/>
            </a:avLst>
          </a:prstGeom>
          <a:solidFill>
            <a:srgbClr val="EAF4EE"/>
          </a:solidFill>
          <a:ln/>
          <a:effectLst>
            <a:outerShdw sx="100000" sy="100000" kx="0" ky="0" algn="bl" rotWithShape="0" blurRad="88900" dist="38100" dir="5400000">
              <a:srgbClr val="000000">
                <a:alpha val="13000"/>
              </a:srgbClr>
            </a:outerShdw>
          </a:effectLst>
        </p:spPr>
      </p:sp>
      <p:sp>
        <p:nvSpPr>
          <p:cNvPr id="16" name="Text 14"/>
          <p:cNvSpPr/>
          <p:nvPr/>
        </p:nvSpPr>
        <p:spPr>
          <a:xfrm>
            <a:off x="6464808" y="3621024"/>
            <a:ext cx="4846320" cy="1024128"/>
          </a:xfrm>
          <a:prstGeom prst="rect">
            <a:avLst/>
          </a:prstGeom>
          <a:noFill/>
          <a:ln/>
        </p:spPr>
        <p:txBody>
          <a:bodyPr wrap="square" lIns="0" tIns="0" rIns="0" bIns="0" rtlCol="0" anchor="ctr"/>
          <a:lstStyle/>
          <a:p>
            <a:pPr indent="0" marL="0">
              <a:lnSpc>
                <a:spcPct val="104000"/>
              </a:lnSpc>
              <a:buNone/>
            </a:pPr>
            <a:r>
              <a:rPr lang="en-US" sz="1550" dirty="0">
                <a:solidFill>
                  <a:srgbClr val="1E2A36"/>
                </a:solidFill>
                <a:latin typeface="Calibri" pitchFamily="34" charset="0"/>
                <a:ea typeface="Calibri" pitchFamily="34" charset="-122"/>
                <a:cs typeface="Calibri" pitchFamily="34" charset="-120"/>
              </a:rPr>
              <a:t>"Problem &amp; users — 'students' isn't bounded. Which ones, how many, how did you reach them?"</a:t>
            </a:r>
            <a:endParaRPr lang="en-US" sz="1550" dirty="0"/>
          </a:p>
        </p:txBody>
      </p:sp>
      <p:sp>
        <p:nvSpPr>
          <p:cNvPr id="17" name="Shape 15"/>
          <p:cNvSpPr/>
          <p:nvPr/>
        </p:nvSpPr>
        <p:spPr>
          <a:xfrm>
            <a:off x="548640" y="4791456"/>
            <a:ext cx="5440680" cy="1024128"/>
          </a:xfrm>
          <a:prstGeom prst="roundRect">
            <a:avLst>
              <a:gd name="adj" fmla="val 8036"/>
            </a:avLst>
          </a:prstGeom>
          <a:solidFill>
            <a:srgbClr val="FBECE8"/>
          </a:solidFill>
          <a:ln/>
          <a:effectLst>
            <a:outerShdw sx="100000" sy="100000" kx="0" ky="0" algn="bl" rotWithShape="0" blurRad="88900" dist="38100" dir="5400000">
              <a:srgbClr val="000000">
                <a:alpha val="13000"/>
              </a:srgbClr>
            </a:outerShdw>
          </a:effectLst>
        </p:spPr>
      </p:sp>
      <p:sp>
        <p:nvSpPr>
          <p:cNvPr id="18" name="Text 16"/>
          <p:cNvSpPr/>
          <p:nvPr/>
        </p:nvSpPr>
        <p:spPr>
          <a:xfrm>
            <a:off x="841248" y="4791456"/>
            <a:ext cx="4846320" cy="1024128"/>
          </a:xfrm>
          <a:prstGeom prst="rect">
            <a:avLst/>
          </a:prstGeom>
          <a:noFill/>
          <a:ln/>
        </p:spPr>
        <p:txBody>
          <a:bodyPr wrap="square" lIns="0" tIns="0" rIns="0" bIns="0" rtlCol="0" anchor="ctr"/>
          <a:lstStyle/>
          <a:p>
            <a:pPr indent="0" marL="0">
              <a:lnSpc>
                <a:spcPct val="104000"/>
              </a:lnSpc>
              <a:buNone/>
            </a:pPr>
            <a:r>
              <a:rPr lang="en-US" sz="1600" i="1" dirty="0">
                <a:solidFill>
                  <a:srgbClr val="1E2A36"/>
                </a:solidFill>
                <a:latin typeface="Calibri" pitchFamily="34" charset="0"/>
                <a:ea typeface="Calibri" pitchFamily="34" charset="-122"/>
                <a:cs typeface="Calibri" pitchFamily="34" charset="-120"/>
              </a:rPr>
              <a:t>"Good risks section."</a:t>
            </a:r>
            <a:endParaRPr lang="en-US" sz="1600" dirty="0"/>
          </a:p>
        </p:txBody>
      </p:sp>
      <p:sp>
        <p:nvSpPr>
          <p:cNvPr id="19" name="Shape 17"/>
          <p:cNvSpPr/>
          <p:nvPr/>
        </p:nvSpPr>
        <p:spPr>
          <a:xfrm>
            <a:off x="6172200" y="4791456"/>
            <a:ext cx="5440680" cy="1024128"/>
          </a:xfrm>
          <a:prstGeom prst="roundRect">
            <a:avLst>
              <a:gd name="adj" fmla="val 8036"/>
            </a:avLst>
          </a:prstGeom>
          <a:solidFill>
            <a:srgbClr val="EAF4EE"/>
          </a:solidFill>
          <a:ln/>
          <a:effectLst>
            <a:outerShdw sx="100000" sy="100000" kx="0" ky="0" algn="bl" rotWithShape="0" blurRad="88900" dist="38100" dir="5400000">
              <a:srgbClr val="000000">
                <a:alpha val="13000"/>
              </a:srgbClr>
            </a:outerShdw>
          </a:effectLst>
        </p:spPr>
      </p:sp>
      <p:sp>
        <p:nvSpPr>
          <p:cNvPr id="20" name="Text 18"/>
          <p:cNvSpPr/>
          <p:nvPr/>
        </p:nvSpPr>
        <p:spPr>
          <a:xfrm>
            <a:off x="6464808" y="4791456"/>
            <a:ext cx="4846320" cy="1024128"/>
          </a:xfrm>
          <a:prstGeom prst="rect">
            <a:avLst/>
          </a:prstGeom>
          <a:noFill/>
          <a:ln/>
        </p:spPr>
        <p:txBody>
          <a:bodyPr wrap="square" lIns="0" tIns="0" rIns="0" bIns="0" rtlCol="0" anchor="ctr"/>
          <a:lstStyle/>
          <a:p>
            <a:pPr indent="0" marL="0">
              <a:lnSpc>
                <a:spcPct val="104000"/>
              </a:lnSpc>
              <a:buNone/>
            </a:pPr>
            <a:r>
              <a:rPr lang="en-US" sz="1550" dirty="0">
                <a:solidFill>
                  <a:srgbClr val="1E2A36"/>
                </a:solidFill>
                <a:latin typeface="Calibri" pitchFamily="34" charset="0"/>
                <a:ea typeface="Calibri" pitchFamily="34" charset="-122"/>
                <a:cs typeface="Calibri" pitchFamily="34" charset="-120"/>
              </a:rPr>
              <a:t>"Risks — these could be in anyone's proposal. Which one is specific to this stack?"</a:t>
            </a:r>
            <a:endParaRPr lang="en-US" sz="1550" dirty="0"/>
          </a:p>
        </p:txBody>
      </p:sp>
      <p:sp>
        <p:nvSpPr>
          <p:cNvPr id="21" name="Shape 19"/>
          <p:cNvSpPr/>
          <p:nvPr/>
        </p:nvSpPr>
        <p:spPr>
          <a:xfrm>
            <a:off x="548640" y="5989320"/>
            <a:ext cx="11064240" cy="502920"/>
          </a:xfrm>
          <a:prstGeom prst="roundRect">
            <a:avLst>
              <a:gd name="adj" fmla="val 16364"/>
            </a:avLst>
          </a:prstGeom>
          <a:solidFill>
            <a:srgbClr val="F2F6F8"/>
          </a:solidFill>
          <a:ln/>
          <a:effectLst>
            <a:outerShdw sx="100000" sy="100000" kx="0" ky="0" algn="bl" rotWithShape="0" blurRad="88900" dist="38100" dir="5400000">
              <a:srgbClr val="000000">
                <a:alpha val="13000"/>
              </a:srgbClr>
            </a:outerShdw>
          </a:effectLst>
        </p:spPr>
      </p:sp>
      <p:sp>
        <p:nvSpPr>
          <p:cNvPr id="22" name="Text 20"/>
          <p:cNvSpPr/>
          <p:nvPr/>
        </p:nvSpPr>
        <p:spPr>
          <a:xfrm>
            <a:off x="822960" y="5989320"/>
            <a:ext cx="10515600" cy="502920"/>
          </a:xfrm>
          <a:prstGeom prst="rect">
            <a:avLst/>
          </a:prstGeom>
          <a:noFill/>
          <a:ln/>
        </p:spPr>
        <p:txBody>
          <a:bodyPr wrap="square" lIns="0" tIns="0" rIns="0" bIns="0" rtlCol="0" anchor="ctr"/>
          <a:lstStyle/>
          <a:p>
            <a:pPr algn="ctr" indent="0" marL="0">
              <a:buNone/>
            </a:pPr>
            <a:r>
              <a:rPr lang="en-US" sz="1500" i="1" dirty="0">
                <a:solidFill>
                  <a:srgbClr val="5F7284"/>
                </a:solidFill>
                <a:latin typeface="Calibri" pitchFamily="34" charset="0"/>
                <a:ea typeface="Calibri" pitchFamily="34" charset="-122"/>
                <a:cs typeface="Calibri" pitchFamily="34" charset="-120"/>
              </a:rPr>
              <a:t>Same concern, both columns. The right-hand version names a criterion and points at a sentence — so the author knows what to edit.</a:t>
            </a:r>
            <a:endParaRPr lang="en-US" sz="1500" dirty="0"/>
          </a:p>
        </p:txBody>
      </p:sp>
      <p:sp>
        <p:nvSpPr>
          <p:cNvPr id="23" name="Text 2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8 · Peer Review Workshop</a:t>
            </a:r>
            <a:endParaRPr lang="en-US" sz="1000" dirty="0"/>
          </a:p>
        </p:txBody>
      </p:sp>
      <p:sp>
        <p:nvSpPr>
          <p:cNvPr id="24"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PROTOCOL — 5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Three moves, on paper</a:t>
            </a:r>
            <a:endParaRPr lang="en-US" sz="3100" dirty="0"/>
          </a:p>
        </p:txBody>
      </p:sp>
      <p:sp>
        <p:nvSpPr>
          <p:cNvPr id="5" name="Shape 3"/>
          <p:cNvSpPr/>
          <p:nvPr/>
        </p:nvSpPr>
        <p:spPr>
          <a:xfrm>
            <a:off x="548640" y="1828800"/>
            <a:ext cx="3502152" cy="3017520"/>
          </a:xfrm>
          <a:prstGeom prst="roundRect">
            <a:avLst>
              <a:gd name="adj" fmla="val 2727"/>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03120"/>
            <a:ext cx="603504" cy="60350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5906" y="2266066"/>
            <a:ext cx="277612" cy="277612"/>
          </a:xfrm>
          <a:prstGeom prst="rect">
            <a:avLst/>
          </a:prstGeom>
        </p:spPr>
      </p:pic>
      <p:sp>
        <p:nvSpPr>
          <p:cNvPr id="8" name="Text 5"/>
          <p:cNvSpPr/>
          <p:nvPr/>
        </p:nvSpPr>
        <p:spPr>
          <a:xfrm>
            <a:off x="822960" y="2880360"/>
            <a:ext cx="2953512" cy="548640"/>
          </a:xfrm>
          <a:prstGeom prst="rect">
            <a:avLst/>
          </a:prstGeom>
          <a:noFill/>
          <a:ln/>
        </p:spPr>
        <p:txBody>
          <a:bodyPr wrap="square" lIns="0" tIns="0" rIns="0" bIns="0" rtlCol="0" anchor="t"/>
          <a:lstStyle/>
          <a:p>
            <a:pPr indent="0" marL="0">
              <a:buNone/>
            </a:pPr>
            <a:r>
              <a:rPr lang="en-US" sz="1900" b="1" dirty="0">
                <a:solidFill>
                  <a:srgbClr val="1E2A36"/>
                </a:solidFill>
                <a:latin typeface="Calibri" pitchFamily="34" charset="0"/>
                <a:ea typeface="Calibri" pitchFamily="34" charset="-122"/>
                <a:cs typeface="Calibri" pitchFamily="34" charset="-120"/>
              </a:rPr>
              <a:t>Read silently</a:t>
            </a:r>
            <a:endParaRPr lang="en-US" sz="1900" dirty="0"/>
          </a:p>
        </p:txBody>
      </p:sp>
      <p:sp>
        <p:nvSpPr>
          <p:cNvPr id="9" name="Text 6"/>
          <p:cNvSpPr/>
          <p:nvPr/>
        </p:nvSpPr>
        <p:spPr>
          <a:xfrm>
            <a:off x="822960" y="3474720"/>
            <a:ext cx="2953512" cy="1234440"/>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Rubric in front of you, pen on the author's printed copy. Start with scope realism and risks — then problem &amp; users.</a:t>
            </a:r>
            <a:endParaRPr lang="en-US" sz="1550" dirty="0"/>
          </a:p>
        </p:txBody>
      </p:sp>
      <p:sp>
        <p:nvSpPr>
          <p:cNvPr id="10" name="Shape 7"/>
          <p:cNvSpPr/>
          <p:nvPr/>
        </p:nvSpPr>
        <p:spPr>
          <a:xfrm>
            <a:off x="4270248" y="1828800"/>
            <a:ext cx="3502152" cy="3017520"/>
          </a:xfrm>
          <a:prstGeom prst="roundRect">
            <a:avLst>
              <a:gd name="adj" fmla="val 2727"/>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544568" y="2103120"/>
            <a:ext cx="603504" cy="603504"/>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707514" y="2266066"/>
            <a:ext cx="277612" cy="277612"/>
          </a:xfrm>
          <a:prstGeom prst="rect">
            <a:avLst/>
          </a:prstGeom>
        </p:spPr>
      </p:pic>
      <p:sp>
        <p:nvSpPr>
          <p:cNvPr id="13" name="Text 9"/>
          <p:cNvSpPr/>
          <p:nvPr/>
        </p:nvSpPr>
        <p:spPr>
          <a:xfrm>
            <a:off x="4544568" y="2880360"/>
            <a:ext cx="2953512" cy="548640"/>
          </a:xfrm>
          <a:prstGeom prst="rect">
            <a:avLst/>
          </a:prstGeom>
          <a:noFill/>
          <a:ln/>
        </p:spPr>
        <p:txBody>
          <a:bodyPr wrap="square" lIns="0" tIns="0" rIns="0" bIns="0" rtlCol="0" anchor="t"/>
          <a:lstStyle/>
          <a:p>
            <a:pPr indent="0" marL="0">
              <a:buNone/>
            </a:pPr>
            <a:r>
              <a:rPr lang="en-US" sz="1900" b="1" dirty="0">
                <a:solidFill>
                  <a:srgbClr val="1E2A36"/>
                </a:solidFill>
                <a:latin typeface="Calibri" pitchFamily="34" charset="0"/>
                <a:ea typeface="Calibri" pitchFamily="34" charset="-122"/>
                <a:cs typeface="Calibri" pitchFamily="34" charset="-120"/>
              </a:rPr>
              <a:t>Mark three things, in writing</a:t>
            </a:r>
            <a:endParaRPr lang="en-US" sz="1900" dirty="0"/>
          </a:p>
        </p:txBody>
      </p:sp>
      <p:sp>
        <p:nvSpPr>
          <p:cNvPr id="14" name="Text 10"/>
          <p:cNvSpPr/>
          <p:nvPr/>
        </p:nvSpPr>
        <p:spPr>
          <a:xfrm>
            <a:off x="4544568" y="3474720"/>
            <a:ext cx="2953512" cy="1234440"/>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The strongest section and why · your sharpest concern, in criteria language · one suggestion they can act on this week.</a:t>
            </a:r>
            <a:endParaRPr lang="en-US" sz="1550" dirty="0"/>
          </a:p>
        </p:txBody>
      </p:sp>
      <p:sp>
        <p:nvSpPr>
          <p:cNvPr id="15" name="Shape 11"/>
          <p:cNvSpPr/>
          <p:nvPr/>
        </p:nvSpPr>
        <p:spPr>
          <a:xfrm>
            <a:off x="7991856" y="1828800"/>
            <a:ext cx="3502152" cy="3017520"/>
          </a:xfrm>
          <a:prstGeom prst="roundRect">
            <a:avLst>
              <a:gd name="adj" fmla="val 2727"/>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266176" y="2103120"/>
            <a:ext cx="603504" cy="603504"/>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8429122" y="2266066"/>
            <a:ext cx="277612" cy="277612"/>
          </a:xfrm>
          <a:prstGeom prst="rect">
            <a:avLst/>
          </a:prstGeom>
        </p:spPr>
      </p:pic>
      <p:sp>
        <p:nvSpPr>
          <p:cNvPr id="18" name="Text 13"/>
          <p:cNvSpPr/>
          <p:nvPr/>
        </p:nvSpPr>
        <p:spPr>
          <a:xfrm>
            <a:off x="8266176" y="2880360"/>
            <a:ext cx="2953512" cy="548640"/>
          </a:xfrm>
          <a:prstGeom prst="rect">
            <a:avLst/>
          </a:prstGeom>
          <a:noFill/>
          <a:ln/>
        </p:spPr>
        <p:txBody>
          <a:bodyPr wrap="square" lIns="0" tIns="0" rIns="0" bIns="0" rtlCol="0" anchor="t"/>
          <a:lstStyle/>
          <a:p>
            <a:pPr indent="0" marL="0">
              <a:buNone/>
            </a:pPr>
            <a:r>
              <a:rPr lang="en-US" sz="1900" b="1" dirty="0">
                <a:solidFill>
                  <a:srgbClr val="1E2A36"/>
                </a:solidFill>
                <a:latin typeface="Calibri" pitchFamily="34" charset="0"/>
                <a:ea typeface="Calibri" pitchFamily="34" charset="-122"/>
                <a:cs typeface="Calibri" pitchFamily="34" charset="-120"/>
              </a:rPr>
              <a:t>Discuss</a:t>
            </a:r>
            <a:endParaRPr lang="en-US" sz="1900" dirty="0"/>
          </a:p>
        </p:txBody>
      </p:sp>
      <p:sp>
        <p:nvSpPr>
          <p:cNvPr id="19" name="Text 14"/>
          <p:cNvSpPr/>
          <p:nvPr/>
        </p:nvSpPr>
        <p:spPr>
          <a:xfrm>
            <a:off x="8266176" y="3474720"/>
            <a:ext cx="2953512" cy="1234440"/>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The author asks and captures; you explain. Initial your comments — the author submits these pages.</a:t>
            </a:r>
            <a:endParaRPr lang="en-US" sz="1550" dirty="0"/>
          </a:p>
        </p:txBody>
      </p:sp>
      <p:sp>
        <p:nvSpPr>
          <p:cNvPr id="20" name="Shape 15"/>
          <p:cNvSpPr/>
          <p:nvPr/>
        </p:nvSpPr>
        <p:spPr>
          <a:xfrm>
            <a:off x="548640" y="5074920"/>
            <a:ext cx="11064240" cy="777240"/>
          </a:xfrm>
          <a:prstGeom prst="roundRect">
            <a:avLst>
              <a:gd name="adj" fmla="val 10588"/>
            </a:avLst>
          </a:prstGeom>
          <a:solidFill>
            <a:srgbClr val="14233A"/>
          </a:solidFill>
          <a:ln/>
          <a:effectLst>
            <a:outerShdw sx="100000" sy="100000" kx="0" ky="0" algn="bl" rotWithShape="0" blurRad="88900" dist="38100" dir="5400000">
              <a:srgbClr val="000000">
                <a:alpha val="13000"/>
              </a:srgbClr>
            </a:outerShdw>
          </a:effectLst>
        </p:spPr>
      </p:sp>
      <p:sp>
        <p:nvSpPr>
          <p:cNvPr id="21" name="Text 16"/>
          <p:cNvSpPr/>
          <p:nvPr/>
        </p:nvSpPr>
        <p:spPr>
          <a:xfrm>
            <a:off x="914400" y="5074920"/>
            <a:ext cx="10332720" cy="777240"/>
          </a:xfrm>
          <a:prstGeom prst="rect">
            <a:avLst/>
          </a:prstGeom>
          <a:noFill/>
          <a:ln/>
        </p:spPr>
        <p:txBody>
          <a:bodyPr wrap="square" lIns="0" tIns="0" rIns="0" bIns="0" rtlCol="0" anchor="ctr"/>
          <a:lstStyle/>
          <a:p>
            <a:pPr indent="0" marL="0">
              <a:lnSpc>
                <a:spcPct val="104000"/>
              </a:lnSpc>
              <a:buNone/>
            </a:pPr>
            <a:r>
              <a:rPr lang="en-US" sz="1500" b="1" dirty="0">
                <a:solidFill>
                  <a:srgbClr val="E8A33D"/>
                </a:solidFill>
                <a:latin typeface="Calibri" pitchFamily="34" charset="0"/>
                <a:ea typeface="Calibri" pitchFamily="34" charset="-122"/>
                <a:cs typeface="Calibri" pitchFamily="34" charset="-120"/>
              </a:rPr>
              <a:t>Why paper: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these annotated pages are the evidence for CP3's Argument &amp; revision. A review held entirely out loud leaves the author with nothing to submit.</a:t>
            </a:r>
            <a:endParaRPr lang="en-US" sz="1500" dirty="0"/>
          </a:p>
        </p:txBody>
      </p:sp>
      <p:sp>
        <p:nvSpPr>
          <p:cNvPr id="22" name="Shape 17"/>
          <p:cNvSpPr/>
          <p:nvPr/>
        </p:nvSpPr>
        <p:spPr>
          <a:xfrm>
            <a:off x="548640" y="6035040"/>
            <a:ext cx="11064240" cy="502920"/>
          </a:xfrm>
          <a:prstGeom prst="roundRect">
            <a:avLst>
              <a:gd name="adj" fmla="val 16364"/>
            </a:avLst>
          </a:prstGeom>
          <a:solidFill>
            <a:srgbClr val="FBEEDA"/>
          </a:solidFill>
          <a:ln/>
          <a:effectLst>
            <a:outerShdw sx="100000" sy="100000" kx="0" ky="0" algn="bl" rotWithShape="0" blurRad="88900" dist="38100" dir="5400000">
              <a:srgbClr val="000000">
                <a:alpha val="13000"/>
              </a:srgbClr>
            </a:outerShdw>
          </a:effectLst>
        </p:spPr>
      </p:sp>
      <p:sp>
        <p:nvSpPr>
          <p:cNvPr id="23" name="Text 18"/>
          <p:cNvSpPr/>
          <p:nvPr/>
        </p:nvSpPr>
        <p:spPr>
          <a:xfrm>
            <a:off x="822960" y="6035040"/>
            <a:ext cx="10515600" cy="502920"/>
          </a:xfrm>
          <a:prstGeom prst="rect">
            <a:avLst/>
          </a:prstGeom>
          <a:noFill/>
          <a:ln/>
        </p:spPr>
        <p:txBody>
          <a:bodyPr wrap="square" lIns="0" tIns="0" rIns="0" bIns="0" rtlCol="0" anchor="ctr"/>
          <a:lstStyle/>
          <a:p>
            <a:pPr algn="ctr" indent="0" marL="0">
              <a:buNone/>
            </a:pPr>
            <a:r>
              <a:rPr lang="en-US" sz="1500" dirty="0">
                <a:solidFill>
                  <a:srgbClr val="1E2A36"/>
                </a:solidFill>
                <a:latin typeface="Calibri" pitchFamily="34" charset="0"/>
                <a:ea typeface="Calibri" pitchFamily="34" charset="-122"/>
                <a:cs typeface="Calibri" pitchFamily="34" charset="-120"/>
              </a:rPr>
              <a:t>All of this is on the protocol sheet in front of you — including the CP3 rubric.</a:t>
            </a:r>
            <a:endParaRPr lang="en-US" sz="1500" dirty="0"/>
          </a:p>
        </p:txBody>
      </p:sp>
      <p:sp>
        <p:nvSpPr>
          <p:cNvPr id="24" name="Text 1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8 · Peer Review Workshop</a:t>
            </a:r>
            <a:endParaRPr lang="en-US" sz="1000" dirty="0"/>
          </a:p>
        </p:txBody>
      </p:sp>
      <p:sp>
        <p:nvSpPr>
          <p:cNvPr id="25" name="Text 2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WHAT YOU ARE READING FOR</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CP3 rubric — leave this up if you need it</a:t>
            </a:r>
            <a:endParaRPr lang="en-US" sz="3100" dirty="0"/>
          </a:p>
        </p:txBody>
      </p:sp>
      <p:sp>
        <p:nvSpPr>
          <p:cNvPr id="5" name="Shape 3"/>
          <p:cNvSpPr/>
          <p:nvPr/>
        </p:nvSpPr>
        <p:spPr>
          <a:xfrm>
            <a:off x="548640" y="1828800"/>
            <a:ext cx="1106424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822960" y="1828800"/>
            <a:ext cx="3291840" cy="54864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Problem &amp; user clarity</a:t>
            </a:r>
            <a:endParaRPr lang="en-US" sz="1650" dirty="0"/>
          </a:p>
        </p:txBody>
      </p:sp>
      <p:sp>
        <p:nvSpPr>
          <p:cNvPr id="7" name="Text 5"/>
          <p:cNvSpPr/>
          <p:nvPr/>
        </p:nvSpPr>
        <p:spPr>
          <a:xfrm>
            <a:off x="4114800" y="1828800"/>
            <a:ext cx="640080" cy="548640"/>
          </a:xfrm>
          <a:prstGeom prst="rect">
            <a:avLst/>
          </a:prstGeom>
          <a:noFill/>
          <a:ln/>
        </p:spPr>
        <p:txBody>
          <a:bodyPr wrap="square" lIns="0" tIns="0" rIns="0" bIns="0" rtlCol="0" anchor="ctr"/>
          <a:lstStyle/>
          <a:p>
            <a:pPr algn="r" indent="0" marL="0">
              <a:buNone/>
            </a:pPr>
            <a:r>
              <a:rPr lang="en-US" sz="1600" dirty="0">
                <a:solidFill>
                  <a:srgbClr val="5F7284"/>
                </a:solidFill>
                <a:latin typeface="Calibri" pitchFamily="34" charset="0"/>
                <a:ea typeface="Calibri" pitchFamily="34" charset="-122"/>
                <a:cs typeface="Calibri" pitchFamily="34" charset="-120"/>
              </a:rPr>
              <a:t>15</a:t>
            </a:r>
            <a:endParaRPr lang="en-US" sz="1600" dirty="0"/>
          </a:p>
        </p:txBody>
      </p:sp>
      <p:sp>
        <p:nvSpPr>
          <p:cNvPr id="8" name="Text 6"/>
          <p:cNvSpPr/>
          <p:nvPr/>
        </p:nvSpPr>
        <p:spPr>
          <a:xfrm>
            <a:off x="5029200" y="1828800"/>
            <a:ext cx="6309360" cy="548640"/>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Compelling, evidence-backed problem; a bounded userbase</a:t>
            </a:r>
            <a:endParaRPr lang="en-US" sz="1550" dirty="0"/>
          </a:p>
        </p:txBody>
      </p:sp>
      <p:sp>
        <p:nvSpPr>
          <p:cNvPr id="9" name="Shape 7"/>
          <p:cNvSpPr/>
          <p:nvPr/>
        </p:nvSpPr>
        <p:spPr>
          <a:xfrm>
            <a:off x="548640" y="2441448"/>
            <a:ext cx="1106424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10" name="Text 8"/>
          <p:cNvSpPr/>
          <p:nvPr/>
        </p:nvSpPr>
        <p:spPr>
          <a:xfrm>
            <a:off x="822960" y="2441448"/>
            <a:ext cx="3291840" cy="54864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Solution &amp; core features</a:t>
            </a:r>
            <a:endParaRPr lang="en-US" sz="1650" dirty="0"/>
          </a:p>
        </p:txBody>
      </p:sp>
      <p:sp>
        <p:nvSpPr>
          <p:cNvPr id="11" name="Text 9"/>
          <p:cNvSpPr/>
          <p:nvPr/>
        </p:nvSpPr>
        <p:spPr>
          <a:xfrm>
            <a:off x="4114800" y="2441448"/>
            <a:ext cx="640080" cy="548640"/>
          </a:xfrm>
          <a:prstGeom prst="rect">
            <a:avLst/>
          </a:prstGeom>
          <a:noFill/>
          <a:ln/>
        </p:spPr>
        <p:txBody>
          <a:bodyPr wrap="square" lIns="0" tIns="0" rIns="0" bIns="0" rtlCol="0" anchor="ctr"/>
          <a:lstStyle/>
          <a:p>
            <a:pPr algn="r" indent="0" marL="0">
              <a:buNone/>
            </a:pPr>
            <a:r>
              <a:rPr lang="en-US" sz="1600" dirty="0">
                <a:solidFill>
                  <a:srgbClr val="5F7284"/>
                </a:solidFill>
                <a:latin typeface="Calibri" pitchFamily="34" charset="0"/>
                <a:ea typeface="Calibri" pitchFamily="34" charset="-122"/>
                <a:cs typeface="Calibri" pitchFamily="34" charset="-120"/>
              </a:rPr>
              <a:t>15</a:t>
            </a:r>
            <a:endParaRPr lang="en-US" sz="1600" dirty="0"/>
          </a:p>
        </p:txBody>
      </p:sp>
      <p:sp>
        <p:nvSpPr>
          <p:cNvPr id="12" name="Text 10"/>
          <p:cNvSpPr/>
          <p:nvPr/>
        </p:nvSpPr>
        <p:spPr>
          <a:xfrm>
            <a:off x="5029200" y="2441448"/>
            <a:ext cx="6309360" cy="548640"/>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Coherent solution, ranked features, explicit non-goals</a:t>
            </a:r>
            <a:endParaRPr lang="en-US" sz="1550" dirty="0"/>
          </a:p>
        </p:txBody>
      </p:sp>
      <p:sp>
        <p:nvSpPr>
          <p:cNvPr id="13" name="Shape 11"/>
          <p:cNvSpPr/>
          <p:nvPr/>
        </p:nvSpPr>
        <p:spPr>
          <a:xfrm>
            <a:off x="548640" y="3054096"/>
            <a:ext cx="1106424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14" name="Text 12"/>
          <p:cNvSpPr/>
          <p:nvPr/>
        </p:nvSpPr>
        <p:spPr>
          <a:xfrm>
            <a:off x="822960" y="3054096"/>
            <a:ext cx="3291840" cy="54864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Feasibility &amp; approach</a:t>
            </a:r>
            <a:endParaRPr lang="en-US" sz="1650" dirty="0"/>
          </a:p>
        </p:txBody>
      </p:sp>
      <p:sp>
        <p:nvSpPr>
          <p:cNvPr id="15" name="Text 13"/>
          <p:cNvSpPr/>
          <p:nvPr/>
        </p:nvSpPr>
        <p:spPr>
          <a:xfrm>
            <a:off x="4114800" y="3054096"/>
            <a:ext cx="640080" cy="548640"/>
          </a:xfrm>
          <a:prstGeom prst="rect">
            <a:avLst/>
          </a:prstGeom>
          <a:noFill/>
          <a:ln/>
        </p:spPr>
        <p:txBody>
          <a:bodyPr wrap="square" lIns="0" tIns="0" rIns="0" bIns="0" rtlCol="0" anchor="ctr"/>
          <a:lstStyle/>
          <a:p>
            <a:pPr algn="r" indent="0" marL="0">
              <a:buNone/>
            </a:pPr>
            <a:r>
              <a:rPr lang="en-US" sz="1600" dirty="0">
                <a:solidFill>
                  <a:srgbClr val="5F7284"/>
                </a:solidFill>
                <a:latin typeface="Calibri" pitchFamily="34" charset="0"/>
                <a:ea typeface="Calibri" pitchFamily="34" charset="-122"/>
                <a:cs typeface="Calibri" pitchFamily="34" charset="-120"/>
              </a:rPr>
              <a:t>20</a:t>
            </a:r>
            <a:endParaRPr lang="en-US" sz="1600" dirty="0"/>
          </a:p>
        </p:txBody>
      </p:sp>
      <p:sp>
        <p:nvSpPr>
          <p:cNvPr id="16" name="Text 14"/>
          <p:cNvSpPr/>
          <p:nvPr/>
        </p:nvSpPr>
        <p:spPr>
          <a:xfrm>
            <a:off x="5029200" y="3054096"/>
            <a:ext cx="6309360" cy="548640"/>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Stack and dependencies researched; approach justified</a:t>
            </a:r>
            <a:endParaRPr lang="en-US" sz="1550" dirty="0"/>
          </a:p>
        </p:txBody>
      </p:sp>
      <p:sp>
        <p:nvSpPr>
          <p:cNvPr id="17" name="Shape 15"/>
          <p:cNvSpPr/>
          <p:nvPr/>
        </p:nvSpPr>
        <p:spPr>
          <a:xfrm>
            <a:off x="548640" y="3666744"/>
            <a:ext cx="11064240" cy="548640"/>
          </a:xfrm>
          <a:prstGeom prst="roundRect">
            <a:avLst>
              <a:gd name="adj" fmla="val 15000"/>
            </a:avLst>
          </a:prstGeom>
          <a:solidFill>
            <a:srgbClr val="E4EEF1"/>
          </a:solidFill>
          <a:ln/>
          <a:effectLst>
            <a:outerShdw sx="100000" sy="100000" kx="0" ky="0" algn="bl" rotWithShape="0" blurRad="88900" dist="38100" dir="5400000">
              <a:srgbClr val="000000">
                <a:alpha val="13000"/>
              </a:srgbClr>
            </a:outerShdw>
          </a:effectLst>
        </p:spPr>
      </p:sp>
      <p:sp>
        <p:nvSpPr>
          <p:cNvPr id="18" name="Text 16"/>
          <p:cNvSpPr/>
          <p:nvPr/>
        </p:nvSpPr>
        <p:spPr>
          <a:xfrm>
            <a:off x="822960" y="3666744"/>
            <a:ext cx="3291840" cy="548640"/>
          </a:xfrm>
          <a:prstGeom prst="rect">
            <a:avLst/>
          </a:prstGeom>
          <a:noFill/>
          <a:ln/>
        </p:spPr>
        <p:txBody>
          <a:bodyPr wrap="square" lIns="0" tIns="0" rIns="0" bIns="0" rtlCol="0" anchor="ctr"/>
          <a:lstStyle/>
          <a:p>
            <a:pPr indent="0" marL="0">
              <a:buNone/>
            </a:pPr>
            <a:r>
              <a:rPr lang="en-US" sz="1650" b="1" dirty="0">
                <a:solidFill>
                  <a:srgbClr val="0E6E6D"/>
                </a:solidFill>
                <a:latin typeface="Calibri" pitchFamily="34" charset="0"/>
                <a:ea typeface="Calibri" pitchFamily="34" charset="-122"/>
                <a:cs typeface="Calibri" pitchFamily="34" charset="-120"/>
              </a:rPr>
              <a:t>★ Scope realism (MVP)</a:t>
            </a:r>
            <a:endParaRPr lang="en-US" sz="1650" dirty="0"/>
          </a:p>
        </p:txBody>
      </p:sp>
      <p:sp>
        <p:nvSpPr>
          <p:cNvPr id="19" name="Text 17"/>
          <p:cNvSpPr/>
          <p:nvPr/>
        </p:nvSpPr>
        <p:spPr>
          <a:xfrm>
            <a:off x="4114800" y="3666744"/>
            <a:ext cx="640080" cy="548640"/>
          </a:xfrm>
          <a:prstGeom prst="rect">
            <a:avLst/>
          </a:prstGeom>
          <a:noFill/>
          <a:ln/>
        </p:spPr>
        <p:txBody>
          <a:bodyPr wrap="square" lIns="0" tIns="0" rIns="0" bIns="0" rtlCol="0" anchor="ctr"/>
          <a:lstStyle/>
          <a:p>
            <a:pPr algn="r" indent="0" marL="0">
              <a:buNone/>
            </a:pPr>
            <a:r>
              <a:rPr lang="en-US" sz="1600" dirty="0">
                <a:solidFill>
                  <a:srgbClr val="5F7284"/>
                </a:solidFill>
                <a:latin typeface="Calibri" pitchFamily="34" charset="0"/>
                <a:ea typeface="Calibri" pitchFamily="34" charset="-122"/>
                <a:cs typeface="Calibri" pitchFamily="34" charset="-120"/>
              </a:rPr>
              <a:t>15</a:t>
            </a:r>
            <a:endParaRPr lang="en-US" sz="1600" dirty="0"/>
          </a:p>
        </p:txBody>
      </p:sp>
      <p:sp>
        <p:nvSpPr>
          <p:cNvPr id="20" name="Text 18"/>
          <p:cNvSpPr/>
          <p:nvPr/>
        </p:nvSpPr>
        <p:spPr>
          <a:xfrm>
            <a:off x="5029200" y="3666744"/>
            <a:ext cx="6309360" cy="548640"/>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A vertical slice sized against the real build window — arithmetic shown</a:t>
            </a:r>
            <a:endParaRPr lang="en-US" sz="1550" dirty="0"/>
          </a:p>
        </p:txBody>
      </p:sp>
      <p:sp>
        <p:nvSpPr>
          <p:cNvPr id="21" name="Shape 19"/>
          <p:cNvSpPr/>
          <p:nvPr/>
        </p:nvSpPr>
        <p:spPr>
          <a:xfrm>
            <a:off x="548640" y="4279392"/>
            <a:ext cx="1106424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22" name="Text 20"/>
          <p:cNvSpPr/>
          <p:nvPr/>
        </p:nvSpPr>
        <p:spPr>
          <a:xfrm>
            <a:off x="822960" y="4279392"/>
            <a:ext cx="3291840" cy="54864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Richness &amp; extensibility</a:t>
            </a:r>
            <a:endParaRPr lang="en-US" sz="1650" dirty="0"/>
          </a:p>
        </p:txBody>
      </p:sp>
      <p:sp>
        <p:nvSpPr>
          <p:cNvPr id="23" name="Text 21"/>
          <p:cNvSpPr/>
          <p:nvPr/>
        </p:nvSpPr>
        <p:spPr>
          <a:xfrm>
            <a:off x="4114800" y="4279392"/>
            <a:ext cx="640080" cy="548640"/>
          </a:xfrm>
          <a:prstGeom prst="rect">
            <a:avLst/>
          </a:prstGeom>
          <a:noFill/>
          <a:ln/>
        </p:spPr>
        <p:txBody>
          <a:bodyPr wrap="square" lIns="0" tIns="0" rIns="0" bIns="0" rtlCol="0" anchor="ctr"/>
          <a:lstStyle/>
          <a:p>
            <a:pPr algn="r" indent="0" marL="0">
              <a:buNone/>
            </a:pPr>
            <a:r>
              <a:rPr lang="en-US" sz="1600" dirty="0">
                <a:solidFill>
                  <a:srgbClr val="5F7284"/>
                </a:solidFill>
                <a:latin typeface="Calibri" pitchFamily="34" charset="0"/>
                <a:ea typeface="Calibri" pitchFamily="34" charset="-122"/>
                <a:cs typeface="Calibri" pitchFamily="34" charset="-120"/>
              </a:rPr>
              <a:t>15</a:t>
            </a:r>
            <a:endParaRPr lang="en-US" sz="1600" dirty="0"/>
          </a:p>
        </p:txBody>
      </p:sp>
      <p:sp>
        <p:nvSpPr>
          <p:cNvPr id="24" name="Text 22"/>
          <p:cNvSpPr/>
          <p:nvPr/>
        </p:nvSpPr>
        <p:spPr>
          <a:xfrm>
            <a:off x="5029200" y="4279392"/>
            <a:ext cx="6309360" cy="548640"/>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Several engineering dimensions; a path for others to build on</a:t>
            </a:r>
            <a:endParaRPr lang="en-US" sz="1550" dirty="0"/>
          </a:p>
        </p:txBody>
      </p:sp>
      <p:sp>
        <p:nvSpPr>
          <p:cNvPr id="25" name="Shape 23"/>
          <p:cNvSpPr/>
          <p:nvPr/>
        </p:nvSpPr>
        <p:spPr>
          <a:xfrm>
            <a:off x="548640" y="4892040"/>
            <a:ext cx="11064240" cy="548640"/>
          </a:xfrm>
          <a:prstGeom prst="roundRect">
            <a:avLst>
              <a:gd name="adj" fmla="val 15000"/>
            </a:avLst>
          </a:prstGeom>
          <a:solidFill>
            <a:srgbClr val="E4EEF1"/>
          </a:solidFill>
          <a:ln/>
          <a:effectLst>
            <a:outerShdw sx="100000" sy="100000" kx="0" ky="0" algn="bl" rotWithShape="0" blurRad="88900" dist="38100" dir="5400000">
              <a:srgbClr val="000000">
                <a:alpha val="13000"/>
              </a:srgbClr>
            </a:outerShdw>
          </a:effectLst>
        </p:spPr>
      </p:sp>
      <p:sp>
        <p:nvSpPr>
          <p:cNvPr id="26" name="Text 24"/>
          <p:cNvSpPr/>
          <p:nvPr/>
        </p:nvSpPr>
        <p:spPr>
          <a:xfrm>
            <a:off x="822960" y="4892040"/>
            <a:ext cx="3291840" cy="548640"/>
          </a:xfrm>
          <a:prstGeom prst="rect">
            <a:avLst/>
          </a:prstGeom>
          <a:noFill/>
          <a:ln/>
        </p:spPr>
        <p:txBody>
          <a:bodyPr wrap="square" lIns="0" tIns="0" rIns="0" bIns="0" rtlCol="0" anchor="ctr"/>
          <a:lstStyle/>
          <a:p>
            <a:pPr indent="0" marL="0">
              <a:buNone/>
            </a:pPr>
            <a:r>
              <a:rPr lang="en-US" sz="1650" b="1" dirty="0">
                <a:solidFill>
                  <a:srgbClr val="0E6E6D"/>
                </a:solidFill>
                <a:latin typeface="Calibri" pitchFamily="34" charset="0"/>
                <a:ea typeface="Calibri" pitchFamily="34" charset="-122"/>
                <a:cs typeface="Calibri" pitchFamily="34" charset="-120"/>
              </a:rPr>
              <a:t>★ Risks &amp; mitigation</a:t>
            </a:r>
            <a:endParaRPr lang="en-US" sz="1650" dirty="0"/>
          </a:p>
        </p:txBody>
      </p:sp>
      <p:sp>
        <p:nvSpPr>
          <p:cNvPr id="27" name="Text 25"/>
          <p:cNvSpPr/>
          <p:nvPr/>
        </p:nvSpPr>
        <p:spPr>
          <a:xfrm>
            <a:off x="4114800" y="4892040"/>
            <a:ext cx="640080" cy="548640"/>
          </a:xfrm>
          <a:prstGeom prst="rect">
            <a:avLst/>
          </a:prstGeom>
          <a:noFill/>
          <a:ln/>
        </p:spPr>
        <p:txBody>
          <a:bodyPr wrap="square" lIns="0" tIns="0" rIns="0" bIns="0" rtlCol="0" anchor="ctr"/>
          <a:lstStyle/>
          <a:p>
            <a:pPr algn="r" indent="0" marL="0">
              <a:buNone/>
            </a:pPr>
            <a:r>
              <a:rPr lang="en-US" sz="1600" dirty="0">
                <a:solidFill>
                  <a:srgbClr val="5F7284"/>
                </a:solidFill>
                <a:latin typeface="Calibri" pitchFamily="34" charset="0"/>
                <a:ea typeface="Calibri" pitchFamily="34" charset="-122"/>
                <a:cs typeface="Calibri" pitchFamily="34" charset="-120"/>
              </a:rPr>
              <a:t>10</a:t>
            </a:r>
            <a:endParaRPr lang="en-US" sz="1600" dirty="0"/>
          </a:p>
        </p:txBody>
      </p:sp>
      <p:sp>
        <p:nvSpPr>
          <p:cNvPr id="28" name="Text 26"/>
          <p:cNvSpPr/>
          <p:nvPr/>
        </p:nvSpPr>
        <p:spPr>
          <a:xfrm>
            <a:off x="5029200" y="4892040"/>
            <a:ext cx="6309360" cy="548640"/>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Project-specific risks; mitigations with a date or a trigger</a:t>
            </a:r>
            <a:endParaRPr lang="en-US" sz="1550" dirty="0"/>
          </a:p>
        </p:txBody>
      </p:sp>
      <p:sp>
        <p:nvSpPr>
          <p:cNvPr id="29" name="Shape 27"/>
          <p:cNvSpPr/>
          <p:nvPr/>
        </p:nvSpPr>
        <p:spPr>
          <a:xfrm>
            <a:off x="548640" y="5504688"/>
            <a:ext cx="1106424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30" name="Text 28"/>
          <p:cNvSpPr/>
          <p:nvPr/>
        </p:nvSpPr>
        <p:spPr>
          <a:xfrm>
            <a:off x="822960" y="5504688"/>
            <a:ext cx="3291840" cy="54864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Argument &amp; revision</a:t>
            </a:r>
            <a:endParaRPr lang="en-US" sz="1650" dirty="0"/>
          </a:p>
        </p:txBody>
      </p:sp>
      <p:sp>
        <p:nvSpPr>
          <p:cNvPr id="31" name="Text 29"/>
          <p:cNvSpPr/>
          <p:nvPr/>
        </p:nvSpPr>
        <p:spPr>
          <a:xfrm>
            <a:off x="4114800" y="5504688"/>
            <a:ext cx="640080" cy="548640"/>
          </a:xfrm>
          <a:prstGeom prst="rect">
            <a:avLst/>
          </a:prstGeom>
          <a:noFill/>
          <a:ln/>
        </p:spPr>
        <p:txBody>
          <a:bodyPr wrap="square" lIns="0" tIns="0" rIns="0" bIns="0" rtlCol="0" anchor="ctr"/>
          <a:lstStyle/>
          <a:p>
            <a:pPr algn="r" indent="0" marL="0">
              <a:buNone/>
            </a:pPr>
            <a:r>
              <a:rPr lang="en-US" sz="1600" dirty="0">
                <a:solidFill>
                  <a:srgbClr val="5F7284"/>
                </a:solidFill>
                <a:latin typeface="Calibri" pitchFamily="34" charset="0"/>
                <a:ea typeface="Calibri" pitchFamily="34" charset="-122"/>
                <a:cs typeface="Calibri" pitchFamily="34" charset="-120"/>
              </a:rPr>
              <a:t>10</a:t>
            </a:r>
            <a:endParaRPr lang="en-US" sz="1600" dirty="0"/>
          </a:p>
        </p:txBody>
      </p:sp>
      <p:sp>
        <p:nvSpPr>
          <p:cNvPr id="32" name="Text 30"/>
          <p:cNvSpPr/>
          <p:nvPr/>
        </p:nvSpPr>
        <p:spPr>
          <a:xfrm>
            <a:off x="5029200" y="5504688"/>
            <a:ext cx="6309360" cy="548640"/>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Persuasive writing with visible response to peer feedback</a:t>
            </a:r>
            <a:endParaRPr lang="en-US" sz="1550" dirty="0"/>
          </a:p>
        </p:txBody>
      </p:sp>
      <p:sp>
        <p:nvSpPr>
          <p:cNvPr id="33" name="Text 31"/>
          <p:cNvSpPr/>
          <p:nvPr/>
        </p:nvSpPr>
        <p:spPr>
          <a:xfrm>
            <a:off x="548640" y="6053328"/>
            <a:ext cx="11064240" cy="365760"/>
          </a:xfrm>
          <a:prstGeom prst="rect">
            <a:avLst/>
          </a:prstGeom>
          <a:noFill/>
          <a:ln/>
        </p:spPr>
        <p:txBody>
          <a:bodyPr wrap="square" lIns="0" tIns="0" rIns="0" bIns="0" rtlCol="0" anchor="ctr"/>
          <a:lstStyle/>
          <a:p>
            <a:pPr algn="ctr" indent="0" marL="0">
              <a:buNone/>
            </a:pPr>
            <a:r>
              <a:rPr lang="en-US" sz="1500" b="1" dirty="0">
                <a:solidFill>
                  <a:srgbClr val="0E6E6D"/>
                </a:solidFill>
                <a:latin typeface="Calibri" pitchFamily="34" charset="0"/>
                <a:ea typeface="Calibri" pitchFamily="34" charset="-122"/>
                <a:cs typeface="Calibri" pitchFamily="34" charset="-120"/>
              </a:rPr>
              <a:t>★ Today's focus — where proposals fail. Start your read there.</a:t>
            </a:r>
            <a:endParaRPr lang="en-US" sz="1500" dirty="0"/>
          </a:p>
        </p:txBody>
      </p:sp>
      <p:sp>
        <p:nvSpPr>
          <p:cNvPr id="34" name="Text 3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8 · Peer Review Workshop</a:t>
            </a:r>
            <a:endParaRPr lang="en-US" sz="1000" dirty="0"/>
          </a:p>
        </p:txBody>
      </p:sp>
      <p:sp>
        <p:nvSpPr>
          <p:cNvPr id="35" name="Text 3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ROUND 1 · 20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Trade drafts with your partner</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Your assigned pair (one triad if we're odd) — swap printed copies now:</a:t>
            </a:r>
            <a:endParaRPr lang="en-US" sz="1600" dirty="0"/>
          </a:p>
        </p:txBody>
      </p:sp>
      <p:sp>
        <p:nvSpPr>
          <p:cNvPr id="7" name="Shape 5"/>
          <p:cNvSpPr/>
          <p:nvPr/>
        </p:nvSpPr>
        <p:spPr>
          <a:xfrm>
            <a:off x="548640" y="2148840"/>
            <a:ext cx="11064240" cy="950976"/>
          </a:xfrm>
          <a:prstGeom prst="roundRect">
            <a:avLst>
              <a:gd name="adj" fmla="val 8654"/>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777240" y="2395728"/>
            <a:ext cx="457200" cy="457200"/>
          </a:xfrm>
          <a:prstGeom prst="ellipse">
            <a:avLst/>
          </a:prstGeom>
          <a:solidFill>
            <a:srgbClr val="E8A33D"/>
          </a:solidFill>
          <a:ln/>
        </p:spPr>
      </p:sp>
      <p:sp>
        <p:nvSpPr>
          <p:cNvPr id="9" name="Text 7"/>
          <p:cNvSpPr/>
          <p:nvPr/>
        </p:nvSpPr>
        <p:spPr>
          <a:xfrm>
            <a:off x="777240" y="2395728"/>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8595360" cy="950976"/>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Read silently, pen in hand. You may know nothing about this project — good. So will the reader on Oct 7.</a:t>
            </a:r>
            <a:endParaRPr lang="en-US" sz="1550" dirty="0"/>
          </a:p>
        </p:txBody>
      </p:sp>
      <p:sp>
        <p:nvSpPr>
          <p:cNvPr id="11" name="Text 9"/>
          <p:cNvSpPr/>
          <p:nvPr/>
        </p:nvSpPr>
        <p:spPr>
          <a:xfrm>
            <a:off x="10149840" y="2148840"/>
            <a:ext cx="1280160" cy="950976"/>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~10 min</a:t>
            </a:r>
            <a:endParaRPr lang="en-US" sz="1400" dirty="0"/>
          </a:p>
        </p:txBody>
      </p:sp>
      <p:sp>
        <p:nvSpPr>
          <p:cNvPr id="12" name="Shape 10"/>
          <p:cNvSpPr/>
          <p:nvPr/>
        </p:nvSpPr>
        <p:spPr>
          <a:xfrm>
            <a:off x="548640" y="3227832"/>
            <a:ext cx="11064240" cy="950976"/>
          </a:xfrm>
          <a:prstGeom prst="roundRect">
            <a:avLst>
              <a:gd name="adj" fmla="val 8654"/>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777240" y="3474720"/>
            <a:ext cx="457200" cy="457200"/>
          </a:xfrm>
          <a:prstGeom prst="ellipse">
            <a:avLst/>
          </a:prstGeom>
          <a:solidFill>
            <a:srgbClr val="E8A33D"/>
          </a:solidFill>
          <a:ln/>
        </p:spPr>
      </p:sp>
      <p:sp>
        <p:nvSpPr>
          <p:cNvPr id="14" name="Text 12"/>
          <p:cNvSpPr/>
          <p:nvPr/>
        </p:nvSpPr>
        <p:spPr>
          <a:xfrm>
            <a:off x="777240" y="3474720"/>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417320" y="3227832"/>
            <a:ext cx="8595360" cy="950976"/>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Mark the three things on the page — strongest, sharpest concern, one concrete suggestion. Initial them.</a:t>
            </a:r>
            <a:endParaRPr lang="en-US" sz="1550" dirty="0"/>
          </a:p>
        </p:txBody>
      </p:sp>
      <p:sp>
        <p:nvSpPr>
          <p:cNvPr id="16" name="Text 14"/>
          <p:cNvSpPr/>
          <p:nvPr/>
        </p:nvSpPr>
        <p:spPr>
          <a:xfrm>
            <a:off x="10149840" y="3227832"/>
            <a:ext cx="1280160" cy="950976"/>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in writing</a:t>
            </a:r>
            <a:endParaRPr lang="en-US" sz="1400" dirty="0"/>
          </a:p>
        </p:txBody>
      </p:sp>
      <p:sp>
        <p:nvSpPr>
          <p:cNvPr id="17" name="Shape 15"/>
          <p:cNvSpPr/>
          <p:nvPr/>
        </p:nvSpPr>
        <p:spPr>
          <a:xfrm>
            <a:off x="548640" y="4306824"/>
            <a:ext cx="11064240" cy="950976"/>
          </a:xfrm>
          <a:prstGeom prst="roundRect">
            <a:avLst>
              <a:gd name="adj" fmla="val 8654"/>
            </a:avLst>
          </a:prstGeom>
          <a:solidFill>
            <a:srgbClr val="1E3352"/>
          </a:solidFill>
          <a:ln/>
          <a:effectLst>
            <a:outerShdw sx="100000" sy="100000" kx="0" ky="0" algn="bl" rotWithShape="0" blurRad="88900" dist="38100" dir="5400000">
              <a:srgbClr val="000000">
                <a:alpha val="13000"/>
              </a:srgbClr>
            </a:outerShdw>
          </a:effectLst>
        </p:spPr>
      </p:sp>
      <p:sp>
        <p:nvSpPr>
          <p:cNvPr id="18" name="Shape 16"/>
          <p:cNvSpPr/>
          <p:nvPr/>
        </p:nvSpPr>
        <p:spPr>
          <a:xfrm>
            <a:off x="777240" y="4553712"/>
            <a:ext cx="457200" cy="457200"/>
          </a:xfrm>
          <a:prstGeom prst="ellipse">
            <a:avLst/>
          </a:prstGeom>
          <a:solidFill>
            <a:srgbClr val="E8A33D"/>
          </a:solidFill>
          <a:ln/>
        </p:spPr>
      </p:sp>
      <p:sp>
        <p:nvSpPr>
          <p:cNvPr id="19" name="Text 17"/>
          <p:cNvSpPr/>
          <p:nvPr/>
        </p:nvSpPr>
        <p:spPr>
          <a:xfrm>
            <a:off x="777240" y="4553712"/>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1417320" y="4306824"/>
            <a:ext cx="8595360" cy="950976"/>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Discuss. Author: ask, capture, don't defend.</a:t>
            </a:r>
            <a:endParaRPr lang="en-US" sz="1550" dirty="0"/>
          </a:p>
        </p:txBody>
      </p:sp>
      <p:sp>
        <p:nvSpPr>
          <p:cNvPr id="21" name="Text 19"/>
          <p:cNvSpPr/>
          <p:nvPr/>
        </p:nvSpPr>
        <p:spPr>
          <a:xfrm>
            <a:off x="10149840" y="4306824"/>
            <a:ext cx="1280160" cy="950976"/>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~7 min</a:t>
            </a:r>
            <a:endParaRPr lang="en-US" sz="1400" dirty="0"/>
          </a:p>
        </p:txBody>
      </p:sp>
      <p:sp>
        <p:nvSpPr>
          <p:cNvPr id="22" name="Shape 20"/>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23" name="Text 21"/>
          <p:cNvSpPr/>
          <p:nvPr/>
        </p:nvSpPr>
        <p:spPr>
          <a:xfrm>
            <a:off x="914400" y="5440680"/>
            <a:ext cx="10332720" cy="731520"/>
          </a:xfrm>
          <a:prstGeom prst="rect">
            <a:avLst/>
          </a:prstGeom>
          <a:noFill/>
          <a:ln/>
        </p:spPr>
        <p:txBody>
          <a:bodyPr wrap="square" lIns="0" tIns="0" rIns="0" bIns="0" rtlCol="0" anchor="ctr"/>
          <a:lstStyle/>
          <a:p>
            <a:pPr indent="0" marL="0">
              <a:buNone/>
            </a:pPr>
            <a:r>
              <a:rPr lang="en-US" sz="1500" b="1" dirty="0">
                <a:solidFill>
                  <a:srgbClr val="14233A"/>
                </a:solidFill>
                <a:latin typeface="Calibri" pitchFamily="34" charset="0"/>
                <a:ea typeface="Calibri" pitchFamily="34" charset="-122"/>
                <a:cs typeface="Calibri" pitchFamily="34" charset="-120"/>
              </a:rPr>
              <a:t>Authors: a note you argue away here is a note you can't use tonight.</a:t>
            </a:r>
            <a:endParaRPr lang="en-US" sz="1500" dirty="0"/>
          </a:p>
        </p:txBody>
      </p:sp>
      <p:sp>
        <p:nvSpPr>
          <p:cNvPr id="24" name="Text 2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8 · Peer Review Workshop</a:t>
            </a:r>
            <a:endParaRPr lang="en-US" sz="1000" dirty="0"/>
          </a:p>
        </p:txBody>
      </p:sp>
      <p:sp>
        <p:nvSpPr>
          <p:cNvPr id="25" name="Text 2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ROUND 2 — 18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 second, independent reader</a:t>
            </a:r>
            <a:endParaRPr lang="en-US" sz="3100" dirty="0"/>
          </a:p>
        </p:txBody>
      </p:sp>
      <p:sp>
        <p:nvSpPr>
          <p:cNvPr id="5" name="Shape 3"/>
          <p:cNvSpPr/>
          <p:nvPr/>
        </p:nvSpPr>
        <p:spPr>
          <a:xfrm>
            <a:off x="548640" y="1828800"/>
            <a:ext cx="1106424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121408"/>
            <a:ext cx="786384" cy="78638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81004" y="2333732"/>
            <a:ext cx="361737" cy="361737"/>
          </a:xfrm>
          <a:prstGeom prst="rect">
            <a:avLst/>
          </a:prstGeom>
        </p:spPr>
      </p:pic>
      <p:sp>
        <p:nvSpPr>
          <p:cNvPr id="8" name="Text 5"/>
          <p:cNvSpPr/>
          <p:nvPr/>
        </p:nvSpPr>
        <p:spPr>
          <a:xfrm>
            <a:off x="1920240" y="1828800"/>
            <a:ext cx="9418320" cy="1371600"/>
          </a:xfrm>
          <a:prstGeom prst="rect">
            <a:avLst/>
          </a:prstGeom>
          <a:noFill/>
          <a:ln/>
        </p:spPr>
        <p:txBody>
          <a:bodyPr wrap="square" lIns="0" tIns="0" rIns="0" bIns="0" rtlCol="0" anchor="ctr"/>
          <a:lstStyle/>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Both of your readers come in cold — that is the design. What round 2 buys you is not a colder read, it is an </a:t>
            </a:r>
            <a:pPr indent="0" marL="0">
              <a:lnSpc>
                <a:spcPct val="105000"/>
              </a:lnSpc>
              <a:buNone/>
            </a:pPr>
            <a:r>
              <a:rPr lang="en-US" sz="1700" b="1" dirty="0">
                <a:solidFill>
                  <a:srgbClr val="0E6E6D"/>
                </a:solidFill>
                <a:latin typeface="Calibri" pitchFamily="34" charset="0"/>
                <a:ea typeface="Calibri" pitchFamily="34" charset="-122"/>
                <a:cs typeface="Calibri" pitchFamily="34" charset="-120"/>
              </a:rPr>
              <a:t>independent</a:t>
            </a:r>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 one.</a:t>
            </a:r>
            <a:endParaRPr lang="en-US" sz="1700" dirty="0"/>
          </a:p>
        </p:txBody>
      </p:sp>
      <p:sp>
        <p:nvSpPr>
          <p:cNvPr id="9" name="Shape 6"/>
          <p:cNvSpPr/>
          <p:nvPr/>
        </p:nvSpPr>
        <p:spPr>
          <a:xfrm>
            <a:off x="548640" y="3383280"/>
            <a:ext cx="5440680" cy="1874520"/>
          </a:xfrm>
          <a:prstGeom prst="roundRect">
            <a:avLst>
              <a:gd name="adj" fmla="val 4390"/>
            </a:avLst>
          </a:prstGeom>
          <a:solidFill>
            <a:srgbClr val="EAF4EE"/>
          </a:solidFill>
          <a:ln/>
          <a:effectLst>
            <a:outerShdw sx="100000" sy="100000" kx="0" ky="0" algn="bl" rotWithShape="0" blurRad="88900" dist="38100" dir="5400000">
              <a:srgbClr val="000000">
                <a:alpha val="13000"/>
              </a:srgbClr>
            </a:outerShdw>
          </a:effectLst>
        </p:spPr>
      </p:sp>
      <p:sp>
        <p:nvSpPr>
          <p:cNvPr id="10" name="Shape 7"/>
          <p:cNvSpPr/>
          <p:nvPr/>
        </p:nvSpPr>
        <p:spPr>
          <a:xfrm>
            <a:off x="822960" y="3657600"/>
            <a:ext cx="566928" cy="566928"/>
          </a:xfrm>
          <a:prstGeom prst="ellipse">
            <a:avLst/>
          </a:prstGeom>
          <a:solidFill>
            <a:srgbClr val="3E9C6B"/>
          </a:solidFill>
          <a:ln/>
        </p:spPr>
      </p:sp>
      <p:pic>
        <p:nvPicPr>
          <p:cNvPr id="11" name="Image 1" descr="preencoded.png">    </p:cNvPr>
          <p:cNvPicPr>
            <a:picLocks noChangeAspect="1"/>
          </p:cNvPicPr>
          <p:nvPr/>
        </p:nvPicPr>
        <p:blipFill>
          <a:blip r:embed="rId2"/>
          <a:stretch>
            <a:fillRect/>
          </a:stretch>
        </p:blipFill>
        <p:spPr>
          <a:xfrm>
            <a:off x="976031" y="3810671"/>
            <a:ext cx="260787" cy="260787"/>
          </a:xfrm>
          <a:prstGeom prst="rect">
            <a:avLst/>
          </a:prstGeom>
        </p:spPr>
      </p:pic>
      <p:sp>
        <p:nvSpPr>
          <p:cNvPr id="12" name="Text 8"/>
          <p:cNvSpPr/>
          <p:nvPr/>
        </p:nvSpPr>
        <p:spPr>
          <a:xfrm>
            <a:off x="1536192" y="3703320"/>
            <a:ext cx="4206240" cy="45720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Both readers flagged it</a:t>
            </a:r>
            <a:endParaRPr lang="en-US" sz="1800" dirty="0"/>
          </a:p>
        </p:txBody>
      </p:sp>
      <p:sp>
        <p:nvSpPr>
          <p:cNvPr id="13" name="Text 9"/>
          <p:cNvSpPr/>
          <p:nvPr/>
        </p:nvSpPr>
        <p:spPr>
          <a:xfrm>
            <a:off x="914400" y="4370832"/>
            <a:ext cx="4846320" cy="777240"/>
          </a:xfrm>
          <a:prstGeom prst="rect">
            <a:avLst/>
          </a:prstGeom>
          <a:noFill/>
          <a:ln/>
        </p:spPr>
        <p:txBody>
          <a:bodyPr wrap="square" lIns="0" tIns="0" rIns="0" bIns="0" rtlCol="0" anchor="t"/>
          <a:lstStyle/>
          <a:p>
            <a:pPr indent="0" marL="0">
              <a:lnSpc>
                <a:spcPct val="104000"/>
              </a:lnSpc>
              <a:buNone/>
            </a:pPr>
            <a:r>
              <a:rPr lang="en-US" sz="1550" dirty="0">
                <a:solidFill>
                  <a:srgbClr val="1E2A36"/>
                </a:solidFill>
                <a:latin typeface="Calibri" pitchFamily="34" charset="0"/>
                <a:ea typeface="Calibri" pitchFamily="34" charset="-122"/>
                <a:cs typeface="Calibri" pitchFamily="34" charset="-120"/>
              </a:rPr>
              <a:t>Two people who never spoke found the same hole. That is the proposal — fix it first.</a:t>
            </a:r>
            <a:endParaRPr lang="en-US" sz="1550" dirty="0"/>
          </a:p>
        </p:txBody>
      </p:sp>
      <p:sp>
        <p:nvSpPr>
          <p:cNvPr id="14" name="Shape 10"/>
          <p:cNvSpPr/>
          <p:nvPr/>
        </p:nvSpPr>
        <p:spPr>
          <a:xfrm>
            <a:off x="6172200" y="3383280"/>
            <a:ext cx="5440680" cy="1874520"/>
          </a:xfrm>
          <a:prstGeom prst="roundRect">
            <a:avLst>
              <a:gd name="adj" fmla="val 4390"/>
            </a:avLst>
          </a:prstGeom>
          <a:solidFill>
            <a:srgbClr val="FBEEDA"/>
          </a:solidFill>
          <a:ln/>
          <a:effectLst>
            <a:outerShdw sx="100000" sy="100000" kx="0" ky="0" algn="bl" rotWithShape="0" blurRad="88900" dist="38100" dir="5400000">
              <a:srgbClr val="000000">
                <a:alpha val="13000"/>
              </a:srgbClr>
            </a:outerShdw>
          </a:effectLst>
        </p:spPr>
      </p:sp>
      <p:sp>
        <p:nvSpPr>
          <p:cNvPr id="15" name="Shape 11"/>
          <p:cNvSpPr/>
          <p:nvPr/>
        </p:nvSpPr>
        <p:spPr>
          <a:xfrm>
            <a:off x="6446520" y="3657600"/>
            <a:ext cx="566928" cy="566928"/>
          </a:xfrm>
          <a:prstGeom prst="ellipse">
            <a:avLst/>
          </a:prstGeom>
          <a:solidFill>
            <a:srgbClr val="E8A33D"/>
          </a:solidFill>
          <a:ln/>
        </p:spPr>
      </p:sp>
      <p:pic>
        <p:nvPicPr>
          <p:cNvPr id="16" name="Image 2" descr="preencoded.png">    </p:cNvPr>
          <p:cNvPicPr>
            <a:picLocks noChangeAspect="1"/>
          </p:cNvPicPr>
          <p:nvPr/>
        </p:nvPicPr>
        <p:blipFill>
          <a:blip r:embed="rId3"/>
          <a:stretch>
            <a:fillRect/>
          </a:stretch>
        </p:blipFill>
        <p:spPr>
          <a:xfrm>
            <a:off x="6599591" y="3810671"/>
            <a:ext cx="260787" cy="260787"/>
          </a:xfrm>
          <a:prstGeom prst="rect">
            <a:avLst/>
          </a:prstGeom>
        </p:spPr>
      </p:pic>
      <p:sp>
        <p:nvSpPr>
          <p:cNvPr id="17" name="Text 12"/>
          <p:cNvSpPr/>
          <p:nvPr/>
        </p:nvSpPr>
        <p:spPr>
          <a:xfrm>
            <a:off x="7159752" y="3703320"/>
            <a:ext cx="4206240" cy="45720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Only one flagged it</a:t>
            </a:r>
            <a:endParaRPr lang="en-US" sz="1800" dirty="0"/>
          </a:p>
        </p:txBody>
      </p:sp>
      <p:sp>
        <p:nvSpPr>
          <p:cNvPr id="18" name="Text 13"/>
          <p:cNvSpPr/>
          <p:nvPr/>
        </p:nvSpPr>
        <p:spPr>
          <a:xfrm>
            <a:off x="6537960" y="4370832"/>
            <a:ext cx="4846320" cy="777240"/>
          </a:xfrm>
          <a:prstGeom prst="rect">
            <a:avLst/>
          </a:prstGeom>
          <a:noFill/>
          <a:ln/>
        </p:spPr>
        <p:txBody>
          <a:bodyPr wrap="square" lIns="0" tIns="0" rIns="0" bIns="0" rtlCol="0" anchor="t"/>
          <a:lstStyle/>
          <a:p>
            <a:pPr indent="0" marL="0">
              <a:lnSpc>
                <a:spcPct val="104000"/>
              </a:lnSpc>
              <a:buNone/>
            </a:pPr>
            <a:r>
              <a:rPr lang="en-US" sz="1550" dirty="0">
                <a:solidFill>
                  <a:srgbClr val="1E2A36"/>
                </a:solidFill>
                <a:latin typeface="Calibri" pitchFamily="34" charset="0"/>
                <a:ea typeface="Calibri" pitchFamily="34" charset="-122"/>
                <a:cs typeface="Calibri" pitchFamily="34" charset="-120"/>
              </a:rPr>
              <a:t>Might be the proposal, might be that reader. Ask the other one — don't just discard it.</a:t>
            </a:r>
            <a:endParaRPr lang="en-US" sz="1550" dirty="0"/>
          </a:p>
        </p:txBody>
      </p:sp>
      <p:sp>
        <p:nvSpPr>
          <p:cNvPr id="19" name="Shape 14"/>
          <p:cNvSpPr/>
          <p:nvPr/>
        </p:nvSpPr>
        <p:spPr>
          <a:xfrm>
            <a:off x="548640" y="5394960"/>
            <a:ext cx="11064240" cy="804672"/>
          </a:xfrm>
          <a:prstGeom prst="roundRect">
            <a:avLst>
              <a:gd name="adj" fmla="val 10227"/>
            </a:avLst>
          </a:prstGeom>
          <a:solidFill>
            <a:srgbClr val="14233A"/>
          </a:solidFill>
          <a:ln/>
          <a:effectLst>
            <a:outerShdw sx="100000" sy="100000" kx="0" ky="0" algn="bl" rotWithShape="0" blurRad="88900" dist="38100" dir="5400000">
              <a:srgbClr val="000000">
                <a:alpha val="13000"/>
              </a:srgbClr>
            </a:outerShdw>
          </a:effectLst>
        </p:spPr>
      </p:sp>
      <p:sp>
        <p:nvSpPr>
          <p:cNvPr id="20" name="Shape 15"/>
          <p:cNvSpPr/>
          <p:nvPr/>
        </p:nvSpPr>
        <p:spPr>
          <a:xfrm>
            <a:off x="868680" y="5586984"/>
            <a:ext cx="420624" cy="420624"/>
          </a:xfrm>
          <a:prstGeom prst="ellipse">
            <a:avLst/>
          </a:prstGeom>
          <a:solidFill>
            <a:srgbClr val="E8A33D"/>
          </a:solidFill>
          <a:ln/>
        </p:spPr>
      </p:sp>
      <p:pic>
        <p:nvPicPr>
          <p:cNvPr id="21" name="Image 3" descr="preencoded.png">    </p:cNvPr>
          <p:cNvPicPr>
            <a:picLocks noChangeAspect="1"/>
          </p:cNvPicPr>
          <p:nvPr/>
        </p:nvPicPr>
        <p:blipFill>
          <a:blip r:embed="rId4"/>
          <a:stretch>
            <a:fillRect/>
          </a:stretch>
        </p:blipFill>
        <p:spPr>
          <a:xfrm>
            <a:off x="982248" y="5700552"/>
            <a:ext cx="193487" cy="193487"/>
          </a:xfrm>
          <a:prstGeom prst="rect">
            <a:avLst/>
          </a:prstGeom>
        </p:spPr>
      </p:pic>
      <p:sp>
        <p:nvSpPr>
          <p:cNvPr id="22" name="Text 16"/>
          <p:cNvSpPr/>
          <p:nvPr/>
        </p:nvSpPr>
        <p:spPr>
          <a:xfrm>
            <a:off x="1463040" y="5394960"/>
            <a:ext cx="9875520" cy="804672"/>
          </a:xfrm>
          <a:prstGeom prst="rect">
            <a:avLst/>
          </a:prstGeom>
          <a:noFill/>
          <a:ln/>
        </p:spPr>
        <p:txBody>
          <a:bodyPr wrap="square" lIns="0" tIns="0" rIns="0" bIns="0" rtlCol="0" anchor="ctr"/>
          <a:lstStyle/>
          <a:p>
            <a:pPr indent="0" marL="0">
              <a:lnSpc>
                <a:spcPct val="103000"/>
              </a:lnSpc>
              <a:buNone/>
            </a:pPr>
            <a:r>
              <a:rPr lang="en-US" sz="1550" b="1" dirty="0">
                <a:solidFill>
                  <a:srgbClr val="FFFFFF"/>
                </a:solidFill>
                <a:latin typeface="Calibri" pitchFamily="34" charset="0"/>
                <a:ea typeface="Calibri" pitchFamily="34" charset="-122"/>
                <a:cs typeface="Calibri" pitchFamily="34" charset="-120"/>
              </a:rPr>
              <a:t>Round 2 also adds one question: “Would this pitch recruit you?”  </a:t>
            </a:r>
            <a:pPr indent="0" marL="0">
              <a:lnSpc>
                <a:spcPct val="103000"/>
              </a:lnSpc>
              <a:buNone/>
            </a:pPr>
            <a:r>
              <a:rPr lang="en-US" sz="1550" dirty="0">
                <a:solidFill>
                  <a:srgbClr val="CFE0E9"/>
                </a:solidFill>
                <a:latin typeface="Calibri" pitchFamily="34" charset="0"/>
                <a:ea typeface="Calibri" pitchFamily="34" charset="-122"/>
                <a:cs typeface="Calibri" pitchFamily="34" charset="-120"/>
              </a:rPr>
              <a:t>Yes or no, and why — on Oct 7 nobody explains their reasoning.</a:t>
            </a:r>
            <a:endParaRPr lang="en-US" sz="1550" dirty="0"/>
          </a:p>
        </p:txBody>
      </p:sp>
      <p:sp>
        <p:nvSpPr>
          <p:cNvPr id="23" name="Text 1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8 · Peer Review Workshop</a:t>
            </a:r>
            <a:endParaRPr lang="en-US" sz="1000" dirty="0"/>
          </a:p>
        </p:txBody>
      </p:sp>
      <p:sp>
        <p:nvSpPr>
          <p:cNvPr id="24" name="Text 1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ROUND 2 · 18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New partner, independent read</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Re-pair from the list — same protocol, tighter clock:</a:t>
            </a:r>
            <a:endParaRPr lang="en-US" sz="1600" dirty="0"/>
          </a:p>
        </p:txBody>
      </p:sp>
      <p:sp>
        <p:nvSpPr>
          <p:cNvPr id="7" name="Shape 5"/>
          <p:cNvSpPr/>
          <p:nvPr/>
        </p:nvSpPr>
        <p:spPr>
          <a:xfrm>
            <a:off x="548640" y="2148840"/>
            <a:ext cx="11064240" cy="950976"/>
          </a:xfrm>
          <a:prstGeom prst="roundRect">
            <a:avLst>
              <a:gd name="adj" fmla="val 8654"/>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777240" y="2395728"/>
            <a:ext cx="457200" cy="457200"/>
          </a:xfrm>
          <a:prstGeom prst="ellipse">
            <a:avLst/>
          </a:prstGeom>
          <a:solidFill>
            <a:srgbClr val="E8A33D"/>
          </a:solidFill>
          <a:ln/>
        </p:spPr>
      </p:sp>
      <p:sp>
        <p:nvSpPr>
          <p:cNvPr id="9" name="Text 7"/>
          <p:cNvSpPr/>
          <p:nvPr/>
        </p:nvSpPr>
        <p:spPr>
          <a:xfrm>
            <a:off x="777240" y="2395728"/>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8595360" cy="950976"/>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Read it on its own terms. Don't ask what the first reviewer said — your read is only worth something if it's yours.</a:t>
            </a:r>
            <a:endParaRPr lang="en-US" sz="1550" dirty="0"/>
          </a:p>
        </p:txBody>
      </p:sp>
      <p:sp>
        <p:nvSpPr>
          <p:cNvPr id="11" name="Text 9"/>
          <p:cNvSpPr/>
          <p:nvPr/>
        </p:nvSpPr>
        <p:spPr>
          <a:xfrm>
            <a:off x="10149840" y="2148840"/>
            <a:ext cx="1280160" cy="950976"/>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~8 min</a:t>
            </a:r>
            <a:endParaRPr lang="en-US" sz="1400" dirty="0"/>
          </a:p>
        </p:txBody>
      </p:sp>
      <p:sp>
        <p:nvSpPr>
          <p:cNvPr id="12" name="Shape 10"/>
          <p:cNvSpPr/>
          <p:nvPr/>
        </p:nvSpPr>
        <p:spPr>
          <a:xfrm>
            <a:off x="548640" y="3227832"/>
            <a:ext cx="11064240" cy="950976"/>
          </a:xfrm>
          <a:prstGeom prst="roundRect">
            <a:avLst>
              <a:gd name="adj" fmla="val 8654"/>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777240" y="3474720"/>
            <a:ext cx="457200" cy="457200"/>
          </a:xfrm>
          <a:prstGeom prst="ellipse">
            <a:avLst/>
          </a:prstGeom>
          <a:solidFill>
            <a:srgbClr val="E8A33D"/>
          </a:solidFill>
          <a:ln/>
        </p:spPr>
      </p:sp>
      <p:sp>
        <p:nvSpPr>
          <p:cNvPr id="14" name="Text 12"/>
          <p:cNvSpPr/>
          <p:nvPr/>
        </p:nvSpPr>
        <p:spPr>
          <a:xfrm>
            <a:off x="777240" y="3474720"/>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417320" y="3227832"/>
            <a:ext cx="8595360" cy="950976"/>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Mark the same three things — plus your answer to "would this recruit you?"</a:t>
            </a:r>
            <a:endParaRPr lang="en-US" sz="1550" dirty="0"/>
          </a:p>
        </p:txBody>
      </p:sp>
      <p:sp>
        <p:nvSpPr>
          <p:cNvPr id="16" name="Text 14"/>
          <p:cNvSpPr/>
          <p:nvPr/>
        </p:nvSpPr>
        <p:spPr>
          <a:xfrm>
            <a:off x="10149840" y="3227832"/>
            <a:ext cx="1280160" cy="950976"/>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in writing</a:t>
            </a:r>
            <a:endParaRPr lang="en-US" sz="1400" dirty="0"/>
          </a:p>
        </p:txBody>
      </p:sp>
      <p:sp>
        <p:nvSpPr>
          <p:cNvPr id="17" name="Shape 15"/>
          <p:cNvSpPr/>
          <p:nvPr/>
        </p:nvSpPr>
        <p:spPr>
          <a:xfrm>
            <a:off x="548640" y="4306824"/>
            <a:ext cx="11064240" cy="950976"/>
          </a:xfrm>
          <a:prstGeom prst="roundRect">
            <a:avLst>
              <a:gd name="adj" fmla="val 8654"/>
            </a:avLst>
          </a:prstGeom>
          <a:solidFill>
            <a:srgbClr val="1E3352"/>
          </a:solidFill>
          <a:ln/>
          <a:effectLst>
            <a:outerShdw sx="100000" sy="100000" kx="0" ky="0" algn="bl" rotWithShape="0" blurRad="88900" dist="38100" dir="5400000">
              <a:srgbClr val="000000">
                <a:alpha val="13000"/>
              </a:srgbClr>
            </a:outerShdw>
          </a:effectLst>
        </p:spPr>
      </p:sp>
      <p:sp>
        <p:nvSpPr>
          <p:cNvPr id="18" name="Shape 16"/>
          <p:cNvSpPr/>
          <p:nvPr/>
        </p:nvSpPr>
        <p:spPr>
          <a:xfrm>
            <a:off x="777240" y="4553712"/>
            <a:ext cx="457200" cy="457200"/>
          </a:xfrm>
          <a:prstGeom prst="ellipse">
            <a:avLst/>
          </a:prstGeom>
          <a:solidFill>
            <a:srgbClr val="E8A33D"/>
          </a:solidFill>
          <a:ln/>
        </p:spPr>
      </p:sp>
      <p:sp>
        <p:nvSpPr>
          <p:cNvPr id="19" name="Text 17"/>
          <p:cNvSpPr/>
          <p:nvPr/>
        </p:nvSpPr>
        <p:spPr>
          <a:xfrm>
            <a:off x="777240" y="4553712"/>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1417320" y="4306824"/>
            <a:ext cx="8595360" cy="950976"/>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Discuss. Authors: capture, then mark where your two reviews agree.</a:t>
            </a:r>
            <a:endParaRPr lang="en-US" sz="1550" dirty="0"/>
          </a:p>
        </p:txBody>
      </p:sp>
      <p:sp>
        <p:nvSpPr>
          <p:cNvPr id="21" name="Text 19"/>
          <p:cNvSpPr/>
          <p:nvPr/>
        </p:nvSpPr>
        <p:spPr>
          <a:xfrm>
            <a:off x="10149840" y="4306824"/>
            <a:ext cx="1280160" cy="950976"/>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~7 min</a:t>
            </a:r>
            <a:endParaRPr lang="en-US" sz="1400" dirty="0"/>
          </a:p>
        </p:txBody>
      </p:sp>
      <p:sp>
        <p:nvSpPr>
          <p:cNvPr id="22" name="Shape 20"/>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23" name="Text 21"/>
          <p:cNvSpPr/>
          <p:nvPr/>
        </p:nvSpPr>
        <p:spPr>
          <a:xfrm>
            <a:off x="914400" y="5440680"/>
            <a:ext cx="10332720" cy="731520"/>
          </a:xfrm>
          <a:prstGeom prst="rect">
            <a:avLst/>
          </a:prstGeom>
          <a:noFill/>
          <a:ln/>
        </p:spPr>
        <p:txBody>
          <a:bodyPr wrap="square" lIns="0" tIns="0" rIns="0" bIns="0" rtlCol="0" anchor="ctr"/>
          <a:lstStyle/>
          <a:p>
            <a:pPr indent="0" marL="0">
              <a:buNone/>
            </a:pPr>
            <a:r>
              <a:rPr lang="en-US" sz="1500" b="1" dirty="0">
                <a:solidFill>
                  <a:srgbClr val="14233A"/>
                </a:solidFill>
                <a:latin typeface="Calibri" pitchFamily="34" charset="0"/>
                <a:ea typeface="Calibri" pitchFamily="34" charset="-122"/>
                <a:cs typeface="Calibri" pitchFamily="34" charset="-120"/>
              </a:rPr>
              <a:t>Both copies go home with the author tonight — they're part of Monday's submission.</a:t>
            </a:r>
            <a:endParaRPr lang="en-US" sz="1500" dirty="0"/>
          </a:p>
        </p:txBody>
      </p:sp>
      <p:sp>
        <p:nvSpPr>
          <p:cNvPr id="24" name="Text 2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8 · Peer Review Workshop</a:t>
            </a:r>
            <a:endParaRPr lang="en-US" sz="1000" dirty="0"/>
          </a:p>
        </p:txBody>
      </p:sp>
      <p:sp>
        <p:nvSpPr>
          <p:cNvPr id="25" name="Text 2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SCOPE-NARROWING CLINIC — 16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most common finding will be: too big</a:t>
            </a:r>
            <a:endParaRPr lang="en-US" sz="3100" dirty="0"/>
          </a:p>
        </p:txBody>
      </p:sp>
      <p:sp>
        <p:nvSpPr>
          <p:cNvPr id="5" name="Shape 3"/>
          <p:cNvSpPr/>
          <p:nvPr/>
        </p:nvSpPr>
        <p:spPr>
          <a:xfrm>
            <a:off x="548640" y="1828800"/>
            <a:ext cx="11064240" cy="1143000"/>
          </a:xfrm>
          <a:prstGeom prst="roundRect">
            <a:avLst>
              <a:gd name="adj" fmla="val 7200"/>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121408"/>
            <a:ext cx="548640" cy="548640"/>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16813" y="2269541"/>
            <a:ext cx="252374" cy="252374"/>
          </a:xfrm>
          <a:prstGeom prst="rect">
            <a:avLst/>
          </a:prstGeom>
        </p:spPr>
      </p:pic>
      <p:sp>
        <p:nvSpPr>
          <p:cNvPr id="8" name="Text 5"/>
          <p:cNvSpPr/>
          <p:nvPr/>
        </p:nvSpPr>
        <p:spPr>
          <a:xfrm>
            <a:off x="1627632" y="1828800"/>
            <a:ext cx="9692640" cy="1143000"/>
          </a:xfrm>
          <a:prstGeom prst="rect">
            <a:avLst/>
          </a:prstGeom>
          <a:noFill/>
          <a:ln/>
        </p:spPr>
        <p:txBody>
          <a:bodyPr wrap="square" lIns="0" tIns="0" rIns="0" bIns="0" rtlCol="0" anchor="ctr"/>
          <a:lstStyle/>
          <a:p>
            <a:pPr indent="0" marL="0">
              <a:lnSpc>
                <a:spcPct val="104000"/>
              </a:lnSpc>
              <a:buNone/>
            </a:pPr>
            <a:r>
              <a:rPr lang="en-US" sz="1650" dirty="0">
                <a:solidFill>
                  <a:srgbClr val="CFE0E9"/>
                </a:solidFill>
                <a:latin typeface="Calibri" pitchFamily="34" charset="0"/>
                <a:ea typeface="Calibri" pitchFamily="34" charset="-122"/>
                <a:cs typeface="Calibri" pitchFamily="34" charset="-120"/>
              </a:rPr>
              <a:t>Narrowing is not retreating. A proposal that names a smaller thing and proves it is stronger than one that promises a platform and ships a login page.</a:t>
            </a:r>
            <a:endParaRPr lang="en-US" sz="1650" dirty="0"/>
          </a:p>
        </p:txBody>
      </p:sp>
      <p:sp>
        <p:nvSpPr>
          <p:cNvPr id="9" name="Shape 6"/>
          <p:cNvSpPr/>
          <p:nvPr/>
        </p:nvSpPr>
        <p:spPr>
          <a:xfrm>
            <a:off x="548640" y="3154680"/>
            <a:ext cx="5440680" cy="1325880"/>
          </a:xfrm>
          <a:prstGeom prst="roundRect">
            <a:avLst>
              <a:gd name="adj" fmla="val 6207"/>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804672" y="3483864"/>
            <a:ext cx="658368" cy="658368"/>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982431" y="3661623"/>
            <a:ext cx="302849" cy="302849"/>
          </a:xfrm>
          <a:prstGeom prst="rect">
            <a:avLst/>
          </a:prstGeom>
        </p:spPr>
      </p:pic>
      <p:sp>
        <p:nvSpPr>
          <p:cNvPr id="12" name="Text 8"/>
          <p:cNvSpPr/>
          <p:nvPr/>
        </p:nvSpPr>
        <p:spPr>
          <a:xfrm>
            <a:off x="1645920" y="3319272"/>
            <a:ext cx="4206240" cy="45720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Cut the platform, keep the slice</a:t>
            </a:r>
            <a:endParaRPr lang="en-US" sz="1800" dirty="0"/>
          </a:p>
        </p:txBody>
      </p:sp>
      <p:sp>
        <p:nvSpPr>
          <p:cNvPr id="13" name="Text 9"/>
          <p:cNvSpPr/>
          <p:nvPr/>
        </p:nvSpPr>
        <p:spPr>
          <a:xfrm>
            <a:off x="1645920" y="3813048"/>
            <a:ext cx="4206240" cy="502920"/>
          </a:xfrm>
          <a:prstGeom prst="rect">
            <a:avLst/>
          </a:prstGeom>
          <a:noFill/>
          <a:ln/>
        </p:spPr>
        <p:txBody>
          <a:bodyPr wrap="square" lIns="0" tIns="0" rIns="0" bIns="0" rtlCol="0" anchor="t"/>
          <a:lstStyle/>
          <a:p>
            <a:pPr indent="0" marL="0">
              <a:buNone/>
            </a:pPr>
            <a:r>
              <a:rPr lang="en-US" sz="1500" dirty="0">
                <a:solidFill>
                  <a:srgbClr val="5F7284"/>
                </a:solidFill>
                <a:latin typeface="Calibri" pitchFamily="34" charset="0"/>
                <a:ea typeface="Calibri" pitchFamily="34" charset="-122"/>
                <a:cs typeface="Calibri" pitchFamily="34" charset="-120"/>
              </a:rPr>
              <a:t>One user type, one workflow, end to end.</a:t>
            </a:r>
            <a:endParaRPr lang="en-US" sz="1500" dirty="0"/>
          </a:p>
        </p:txBody>
      </p:sp>
      <p:sp>
        <p:nvSpPr>
          <p:cNvPr id="14" name="Shape 10"/>
          <p:cNvSpPr/>
          <p:nvPr/>
        </p:nvSpPr>
        <p:spPr>
          <a:xfrm>
            <a:off x="6172200" y="3154680"/>
            <a:ext cx="5440680" cy="1325880"/>
          </a:xfrm>
          <a:prstGeom prst="roundRect">
            <a:avLst>
              <a:gd name="adj" fmla="val 6207"/>
            </a:avLst>
          </a:prstGeom>
          <a:solidFill>
            <a:srgbClr val="F2F6F8"/>
          </a:solidFill>
          <a:ln/>
          <a:effectLst>
            <a:outerShdw sx="100000" sy="100000" kx="0" ky="0" algn="bl" rotWithShape="0" blurRad="88900" dist="38100" dir="5400000">
              <a:srgbClr val="000000">
                <a:alpha val="13000"/>
              </a:srgbClr>
            </a:outerShdw>
          </a:effectLst>
        </p:spPr>
      </p:sp>
      <p:sp>
        <p:nvSpPr>
          <p:cNvPr id="15" name="Shape 11"/>
          <p:cNvSpPr/>
          <p:nvPr/>
        </p:nvSpPr>
        <p:spPr>
          <a:xfrm>
            <a:off x="6428232" y="3483864"/>
            <a:ext cx="658368" cy="658368"/>
          </a:xfrm>
          <a:prstGeom prst="ellipse">
            <a:avLst/>
          </a:prstGeom>
          <a:solidFill>
            <a:srgbClr val="12908F"/>
          </a:solidFill>
          <a:ln/>
        </p:spPr>
      </p:sp>
      <p:pic>
        <p:nvPicPr>
          <p:cNvPr id="16" name="Image 2" descr="preencoded.png">    </p:cNvPr>
          <p:cNvPicPr>
            <a:picLocks noChangeAspect="1"/>
          </p:cNvPicPr>
          <p:nvPr/>
        </p:nvPicPr>
        <p:blipFill>
          <a:blip r:embed="rId3"/>
          <a:stretch>
            <a:fillRect/>
          </a:stretch>
        </p:blipFill>
        <p:spPr>
          <a:xfrm>
            <a:off x="6605991" y="3661623"/>
            <a:ext cx="302849" cy="302849"/>
          </a:xfrm>
          <a:prstGeom prst="rect">
            <a:avLst/>
          </a:prstGeom>
        </p:spPr>
      </p:pic>
      <p:sp>
        <p:nvSpPr>
          <p:cNvPr id="17" name="Text 12"/>
          <p:cNvSpPr/>
          <p:nvPr/>
        </p:nvSpPr>
        <p:spPr>
          <a:xfrm>
            <a:off x="7269480" y="3319272"/>
            <a:ext cx="4206240" cy="45720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Demote features to non-goals</a:t>
            </a:r>
            <a:endParaRPr lang="en-US" sz="1800" dirty="0"/>
          </a:p>
        </p:txBody>
      </p:sp>
      <p:sp>
        <p:nvSpPr>
          <p:cNvPr id="18" name="Text 13"/>
          <p:cNvSpPr/>
          <p:nvPr/>
        </p:nvSpPr>
        <p:spPr>
          <a:xfrm>
            <a:off x="7269480" y="3813048"/>
            <a:ext cx="4206240" cy="502920"/>
          </a:xfrm>
          <a:prstGeom prst="rect">
            <a:avLst/>
          </a:prstGeom>
          <a:noFill/>
          <a:ln/>
        </p:spPr>
        <p:txBody>
          <a:bodyPr wrap="square" lIns="0" tIns="0" rIns="0" bIns="0" rtlCol="0" anchor="t"/>
          <a:lstStyle/>
          <a:p>
            <a:pPr indent="0" marL="0">
              <a:buNone/>
            </a:pPr>
            <a:r>
              <a:rPr lang="en-US" sz="1500" dirty="0">
                <a:solidFill>
                  <a:srgbClr val="5F7284"/>
                </a:solidFill>
                <a:latin typeface="Calibri" pitchFamily="34" charset="0"/>
                <a:ea typeface="Calibri" pitchFamily="34" charset="-122"/>
                <a:cs typeface="Calibri" pitchFamily="34" charset="-120"/>
              </a:rPr>
              <a:t>Naming what you won't build strengthens the proposal.</a:t>
            </a:r>
            <a:endParaRPr lang="en-US" sz="1500" dirty="0"/>
          </a:p>
        </p:txBody>
      </p:sp>
      <p:sp>
        <p:nvSpPr>
          <p:cNvPr id="19" name="Shape 14"/>
          <p:cNvSpPr/>
          <p:nvPr/>
        </p:nvSpPr>
        <p:spPr>
          <a:xfrm>
            <a:off x="548640" y="4636008"/>
            <a:ext cx="5440680" cy="1325880"/>
          </a:xfrm>
          <a:prstGeom prst="roundRect">
            <a:avLst>
              <a:gd name="adj" fmla="val 6207"/>
            </a:avLst>
          </a:prstGeom>
          <a:solidFill>
            <a:srgbClr val="F2F6F8"/>
          </a:solidFill>
          <a:ln/>
          <a:effectLst>
            <a:outerShdw sx="100000" sy="100000" kx="0" ky="0" algn="bl" rotWithShape="0" blurRad="88900" dist="38100" dir="5400000">
              <a:srgbClr val="000000">
                <a:alpha val="13000"/>
              </a:srgbClr>
            </a:outerShdw>
          </a:effectLst>
        </p:spPr>
      </p:sp>
      <p:sp>
        <p:nvSpPr>
          <p:cNvPr id="20" name="Shape 15"/>
          <p:cNvSpPr/>
          <p:nvPr/>
        </p:nvSpPr>
        <p:spPr>
          <a:xfrm>
            <a:off x="804672" y="4965192"/>
            <a:ext cx="658368" cy="658368"/>
          </a:xfrm>
          <a:prstGeom prst="ellipse">
            <a:avLst/>
          </a:prstGeom>
          <a:solidFill>
            <a:srgbClr val="12908F"/>
          </a:solidFill>
          <a:ln/>
        </p:spPr>
      </p:sp>
      <p:pic>
        <p:nvPicPr>
          <p:cNvPr id="21" name="Image 3" descr="preencoded.png">    </p:cNvPr>
          <p:cNvPicPr>
            <a:picLocks noChangeAspect="1"/>
          </p:cNvPicPr>
          <p:nvPr/>
        </p:nvPicPr>
        <p:blipFill>
          <a:blip r:embed="rId4"/>
          <a:stretch>
            <a:fillRect/>
          </a:stretch>
        </p:blipFill>
        <p:spPr>
          <a:xfrm>
            <a:off x="982431" y="5142951"/>
            <a:ext cx="302849" cy="302849"/>
          </a:xfrm>
          <a:prstGeom prst="rect">
            <a:avLst/>
          </a:prstGeom>
        </p:spPr>
      </p:pic>
      <p:sp>
        <p:nvSpPr>
          <p:cNvPr id="22" name="Text 16"/>
          <p:cNvSpPr/>
          <p:nvPr/>
        </p:nvSpPr>
        <p:spPr>
          <a:xfrm>
            <a:off x="1645920" y="4800600"/>
            <a:ext cx="4206240" cy="45720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Shrink the user</a:t>
            </a:r>
            <a:endParaRPr lang="en-US" sz="1800" dirty="0"/>
          </a:p>
        </p:txBody>
      </p:sp>
      <p:sp>
        <p:nvSpPr>
          <p:cNvPr id="23" name="Text 17"/>
          <p:cNvSpPr/>
          <p:nvPr/>
        </p:nvSpPr>
        <p:spPr>
          <a:xfrm>
            <a:off x="1645920" y="5294376"/>
            <a:ext cx="4206240" cy="502920"/>
          </a:xfrm>
          <a:prstGeom prst="rect">
            <a:avLst/>
          </a:prstGeom>
          <a:noFill/>
          <a:ln/>
        </p:spPr>
        <p:txBody>
          <a:bodyPr wrap="square" lIns="0" tIns="0" rIns="0" bIns="0" rtlCol="0" anchor="t"/>
          <a:lstStyle/>
          <a:p>
            <a:pPr indent="0" marL="0">
              <a:buNone/>
            </a:pPr>
            <a:r>
              <a:rPr lang="en-US" sz="1500" dirty="0">
                <a:solidFill>
                  <a:srgbClr val="5F7284"/>
                </a:solidFill>
                <a:latin typeface="Calibri" pitchFamily="34" charset="0"/>
                <a:ea typeface="Calibri" pitchFamily="34" charset="-122"/>
                <a:cs typeface="Calibri" pitchFamily="34" charset="-120"/>
              </a:rPr>
              <a:t>One club, one ward, one lab, one theater.</a:t>
            </a:r>
            <a:endParaRPr lang="en-US" sz="1500" dirty="0"/>
          </a:p>
        </p:txBody>
      </p:sp>
      <p:sp>
        <p:nvSpPr>
          <p:cNvPr id="24" name="Shape 18"/>
          <p:cNvSpPr/>
          <p:nvPr/>
        </p:nvSpPr>
        <p:spPr>
          <a:xfrm>
            <a:off x="6172200" y="4636008"/>
            <a:ext cx="5440680" cy="1325880"/>
          </a:xfrm>
          <a:prstGeom prst="roundRect">
            <a:avLst>
              <a:gd name="adj" fmla="val 6207"/>
            </a:avLst>
          </a:prstGeom>
          <a:solidFill>
            <a:srgbClr val="F2F6F8"/>
          </a:solidFill>
          <a:ln/>
          <a:effectLst>
            <a:outerShdw sx="100000" sy="100000" kx="0" ky="0" algn="bl" rotWithShape="0" blurRad="88900" dist="38100" dir="5400000">
              <a:srgbClr val="000000">
                <a:alpha val="13000"/>
              </a:srgbClr>
            </a:outerShdw>
          </a:effectLst>
        </p:spPr>
      </p:sp>
      <p:sp>
        <p:nvSpPr>
          <p:cNvPr id="25" name="Shape 19"/>
          <p:cNvSpPr/>
          <p:nvPr/>
        </p:nvSpPr>
        <p:spPr>
          <a:xfrm>
            <a:off x="6428232" y="4965192"/>
            <a:ext cx="658368" cy="658368"/>
          </a:xfrm>
          <a:prstGeom prst="ellipse">
            <a:avLst/>
          </a:prstGeom>
          <a:solidFill>
            <a:srgbClr val="12908F"/>
          </a:solidFill>
          <a:ln/>
        </p:spPr>
      </p:sp>
      <p:pic>
        <p:nvPicPr>
          <p:cNvPr id="26" name="Image 4" descr="preencoded.png">    </p:cNvPr>
          <p:cNvPicPr>
            <a:picLocks noChangeAspect="1"/>
          </p:cNvPicPr>
          <p:nvPr/>
        </p:nvPicPr>
        <p:blipFill>
          <a:blip r:embed="rId5"/>
          <a:stretch>
            <a:fillRect/>
          </a:stretch>
        </p:blipFill>
        <p:spPr>
          <a:xfrm>
            <a:off x="6605991" y="5142951"/>
            <a:ext cx="302849" cy="302849"/>
          </a:xfrm>
          <a:prstGeom prst="rect">
            <a:avLst/>
          </a:prstGeom>
        </p:spPr>
      </p:pic>
      <p:sp>
        <p:nvSpPr>
          <p:cNvPr id="27" name="Text 20"/>
          <p:cNvSpPr/>
          <p:nvPr/>
        </p:nvSpPr>
        <p:spPr>
          <a:xfrm>
            <a:off x="7269480" y="4800600"/>
            <a:ext cx="4206240" cy="45720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Defer the hard integration</a:t>
            </a:r>
            <a:endParaRPr lang="en-US" sz="1800" dirty="0"/>
          </a:p>
        </p:txBody>
      </p:sp>
      <p:sp>
        <p:nvSpPr>
          <p:cNvPr id="28" name="Text 21"/>
          <p:cNvSpPr/>
          <p:nvPr/>
        </p:nvSpPr>
        <p:spPr>
          <a:xfrm>
            <a:off x="7269480" y="5294376"/>
            <a:ext cx="4206240" cy="502920"/>
          </a:xfrm>
          <a:prstGeom prst="rect">
            <a:avLst/>
          </a:prstGeom>
          <a:noFill/>
          <a:ln/>
        </p:spPr>
        <p:txBody>
          <a:bodyPr wrap="square" lIns="0" tIns="0" rIns="0" bIns="0" rtlCol="0" anchor="t"/>
          <a:lstStyle/>
          <a:p>
            <a:pPr indent="0" marL="0">
              <a:buNone/>
            </a:pPr>
            <a:r>
              <a:rPr lang="en-US" sz="1500" dirty="0">
                <a:solidFill>
                  <a:srgbClr val="5F7284"/>
                </a:solidFill>
                <a:latin typeface="Calibri" pitchFamily="34" charset="0"/>
                <a:ea typeface="Calibri" pitchFamily="34" charset="-122"/>
                <a:cs typeface="Calibri" pitchFamily="34" charset="-120"/>
              </a:rPr>
              <a:t>v1 proves the core; the sync is the roadmap's job.</a:t>
            </a:r>
            <a:endParaRPr lang="en-US" sz="1500" dirty="0"/>
          </a:p>
        </p:txBody>
      </p:sp>
      <p:sp>
        <p:nvSpPr>
          <p:cNvPr id="29" name="Text 2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8 · Peer Review Workshop</a:t>
            </a:r>
            <a:endParaRPr lang="en-US" sz="1000" dirty="0"/>
          </a:p>
        </p:txBody>
      </p:sp>
      <p:sp>
        <p:nvSpPr>
          <p:cNvPr id="30" name="Text 2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THEN CHECK THE ARITHMETIC</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Say it out loud, and do it honestly</a:t>
            </a:r>
            <a:endParaRPr lang="en-US" sz="3100" dirty="0"/>
          </a:p>
        </p:txBody>
      </p:sp>
      <p:sp>
        <p:nvSpPr>
          <p:cNvPr id="5" name="Shape 3"/>
          <p:cNvSpPr/>
          <p:nvPr/>
        </p:nvSpPr>
        <p:spPr>
          <a:xfrm>
            <a:off x="548640" y="1828800"/>
            <a:ext cx="11064240" cy="1051560"/>
          </a:xfrm>
          <a:prstGeom prst="roundRect">
            <a:avLst>
              <a:gd name="adj" fmla="val 7826"/>
            </a:avLst>
          </a:prstGeom>
          <a:solidFill>
            <a:srgbClr val="FBECE8"/>
          </a:solidFill>
          <a:ln/>
          <a:effectLst>
            <a:outerShdw sx="100000" sy="100000" kx="0" ky="0" algn="bl" rotWithShape="0" blurRad="88900" dist="38100" dir="5400000">
              <a:srgbClr val="000000">
                <a:alpha val="13000"/>
              </a:srgbClr>
            </a:outerShdw>
          </a:effectLst>
        </p:spPr>
      </p:sp>
      <p:sp>
        <p:nvSpPr>
          <p:cNvPr id="6" name="Text 4"/>
          <p:cNvSpPr/>
          <p:nvPr/>
        </p:nvSpPr>
        <p:spPr>
          <a:xfrm>
            <a:off x="914400" y="1828800"/>
            <a:ext cx="10332720" cy="1051560"/>
          </a:xfrm>
          <a:prstGeom prst="rect">
            <a:avLst/>
          </a:prstGeom>
          <a:noFill/>
          <a:ln/>
        </p:spPr>
        <p:txBody>
          <a:bodyPr wrap="square" lIns="0" tIns="0" rIns="0" bIns="0" rtlCol="0" anchor="ctr"/>
          <a:lstStyle/>
          <a:p>
            <a:pPr indent="0" marL="0">
              <a:buNone/>
            </a:pPr>
            <a:r>
              <a:rPr lang="en-US" sz="1700" b="1" dirty="0">
                <a:solidFill>
                  <a:srgbClr val="D9614C"/>
                </a:solidFill>
                <a:latin typeface="Calibri" pitchFamily="34" charset="0"/>
                <a:ea typeface="Calibri" pitchFamily="34" charset="-122"/>
                <a:cs typeface="Calibri" pitchFamily="34" charset="-120"/>
              </a:rPr>
              <a:t>The failure mode:  </a:t>
            </a:r>
            <a:pPr indent="0" marL="0">
              <a:buNone/>
            </a:pPr>
            <a:r>
              <a:rPr lang="en-US" sz="1700" i="1" dirty="0">
                <a:solidFill>
                  <a:srgbClr val="1E2A36"/>
                </a:solidFill>
                <a:latin typeface="Calibri" pitchFamily="34" charset="0"/>
                <a:ea typeface="Calibri" pitchFamily="34" charset="-122"/>
                <a:cs typeface="Calibri" pitchFamily="34" charset="-120"/>
              </a:rPr>
              <a:t>"10 hours a week × 14 weeks = 140 hours, so I can build all of it."</a:t>
            </a:r>
            <a:endParaRPr lang="en-US" sz="1700" dirty="0"/>
          </a:p>
        </p:txBody>
      </p:sp>
      <p:sp>
        <p:nvSpPr>
          <p:cNvPr id="7" name="Shape 5"/>
          <p:cNvSpPr/>
          <p:nvPr/>
        </p:nvSpPr>
        <p:spPr>
          <a:xfrm>
            <a:off x="548640" y="3063240"/>
            <a:ext cx="11064240" cy="822960"/>
          </a:xfrm>
          <a:prstGeom prst="roundRect">
            <a:avLst>
              <a:gd name="adj" fmla="val 10000"/>
            </a:avLst>
          </a:prstGeom>
          <a:solidFill>
            <a:srgbClr val="F2F6F8"/>
          </a:solidFill>
          <a:ln/>
          <a:effectLst>
            <a:outerShdw sx="100000" sy="100000" kx="0" ky="0" algn="bl" rotWithShape="0" blurRad="88900" dist="38100" dir="5400000">
              <a:srgbClr val="000000">
                <a:alpha val="13000"/>
              </a:srgbClr>
            </a:outerShdw>
          </a:effectLst>
        </p:spPr>
      </p:sp>
      <p:sp>
        <p:nvSpPr>
          <p:cNvPr id="8" name="Shape 6"/>
          <p:cNvSpPr/>
          <p:nvPr/>
        </p:nvSpPr>
        <p:spPr>
          <a:xfrm>
            <a:off x="822960" y="3255264"/>
            <a:ext cx="438912" cy="438912"/>
          </a:xfrm>
          <a:prstGeom prst="ellipse">
            <a:avLst/>
          </a:prstGeom>
          <a:solidFill>
            <a:srgbClr val="12908F"/>
          </a:solidFill>
          <a:ln/>
        </p:spPr>
      </p:sp>
      <p:sp>
        <p:nvSpPr>
          <p:cNvPr id="9" name="Text 7"/>
          <p:cNvSpPr/>
          <p:nvPr/>
        </p:nvSpPr>
        <p:spPr>
          <a:xfrm>
            <a:off x="822960" y="3255264"/>
            <a:ext cx="438912" cy="43891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10" name="Text 8"/>
          <p:cNvSpPr/>
          <p:nvPr/>
        </p:nvSpPr>
        <p:spPr>
          <a:xfrm>
            <a:off x="1463040" y="3063240"/>
            <a:ext cx="3749040" cy="82296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The ~10 hrs/week is everything</a:t>
            </a:r>
            <a:endParaRPr lang="en-US" sz="1700" dirty="0"/>
          </a:p>
        </p:txBody>
      </p:sp>
      <p:sp>
        <p:nvSpPr>
          <p:cNvPr id="11" name="Text 9"/>
          <p:cNvSpPr/>
          <p:nvPr/>
        </p:nvSpPr>
        <p:spPr>
          <a:xfrm>
            <a:off x="5303520" y="3063240"/>
            <a:ext cx="6035040" cy="822960"/>
          </a:xfrm>
          <a:prstGeom prst="rect">
            <a:avLst/>
          </a:prstGeom>
          <a:noFill/>
          <a:ln/>
        </p:spPr>
        <p:txBody>
          <a:bodyPr wrap="square" lIns="0" tIns="0" rIns="0" bIns="0" rtlCol="0" anchor="ctr"/>
          <a:lstStyle/>
          <a:p>
            <a:pPr indent="0" marL="0">
              <a:lnSpc>
                <a:spcPct val="103000"/>
              </a:lnSpc>
              <a:buNone/>
            </a:pPr>
            <a:r>
              <a:rPr lang="en-US" sz="1550" dirty="0">
                <a:solidFill>
                  <a:srgbClr val="1E2A36"/>
                </a:solidFill>
                <a:latin typeface="Calibri" pitchFamily="34" charset="0"/>
                <a:ea typeface="Calibri" pitchFamily="34" charset="-122"/>
                <a:cs typeface="Calibri" pitchFamily="34" charset="-120"/>
              </a:rPr>
              <a:t>Class, reading, discovery, writing, reviews — all of it comes out of that ten.</a:t>
            </a:r>
            <a:endParaRPr lang="en-US" sz="1550" dirty="0"/>
          </a:p>
        </p:txBody>
      </p:sp>
      <p:sp>
        <p:nvSpPr>
          <p:cNvPr id="12" name="Shape 10"/>
          <p:cNvSpPr/>
          <p:nvPr/>
        </p:nvSpPr>
        <p:spPr>
          <a:xfrm>
            <a:off x="548640" y="3995928"/>
            <a:ext cx="11064240" cy="822960"/>
          </a:xfrm>
          <a:prstGeom prst="roundRect">
            <a:avLst>
              <a:gd name="adj" fmla="val 10000"/>
            </a:avLst>
          </a:prstGeom>
          <a:solidFill>
            <a:srgbClr val="F2F6F8"/>
          </a:solidFill>
          <a:ln/>
          <a:effectLst>
            <a:outerShdw sx="100000" sy="100000" kx="0" ky="0" algn="bl" rotWithShape="0" blurRad="88900" dist="38100" dir="5400000">
              <a:srgbClr val="000000">
                <a:alpha val="13000"/>
              </a:srgbClr>
            </a:outerShdw>
          </a:effectLst>
        </p:spPr>
      </p:sp>
      <p:sp>
        <p:nvSpPr>
          <p:cNvPr id="13" name="Shape 11"/>
          <p:cNvSpPr/>
          <p:nvPr/>
        </p:nvSpPr>
        <p:spPr>
          <a:xfrm>
            <a:off x="822960" y="4187952"/>
            <a:ext cx="438912" cy="438912"/>
          </a:xfrm>
          <a:prstGeom prst="ellipse">
            <a:avLst/>
          </a:prstGeom>
          <a:solidFill>
            <a:srgbClr val="12908F"/>
          </a:solidFill>
          <a:ln/>
        </p:spPr>
      </p:sp>
      <p:sp>
        <p:nvSpPr>
          <p:cNvPr id="14" name="Text 12"/>
          <p:cNvSpPr/>
          <p:nvPr/>
        </p:nvSpPr>
        <p:spPr>
          <a:xfrm>
            <a:off x="822960" y="4187952"/>
            <a:ext cx="438912" cy="43891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5" name="Text 13"/>
          <p:cNvSpPr/>
          <p:nvPr/>
        </p:nvSpPr>
        <p:spPr>
          <a:xfrm>
            <a:off x="1463040" y="3995928"/>
            <a:ext cx="3749040" cy="82296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Subtract before you multiply</a:t>
            </a:r>
            <a:endParaRPr lang="en-US" sz="1700" dirty="0"/>
          </a:p>
        </p:txBody>
      </p:sp>
      <p:sp>
        <p:nvSpPr>
          <p:cNvPr id="16" name="Text 14"/>
          <p:cNvSpPr/>
          <p:nvPr/>
        </p:nvSpPr>
        <p:spPr>
          <a:xfrm>
            <a:off x="5303520" y="3995928"/>
            <a:ext cx="6035040" cy="822960"/>
          </a:xfrm>
          <a:prstGeom prst="rect">
            <a:avLst/>
          </a:prstGeom>
          <a:noFill/>
          <a:ln/>
        </p:spPr>
        <p:txBody>
          <a:bodyPr wrap="square" lIns="0" tIns="0" rIns="0" bIns="0" rtlCol="0" anchor="ctr"/>
          <a:lstStyle/>
          <a:p>
            <a:pPr indent="0" marL="0">
              <a:lnSpc>
                <a:spcPct val="103000"/>
              </a:lnSpc>
              <a:buNone/>
            </a:pPr>
            <a:r>
              <a:rPr lang="en-US" sz="1550" dirty="0">
                <a:solidFill>
                  <a:srgbClr val="1E2A36"/>
                </a:solidFill>
                <a:latin typeface="Calibri" pitchFamily="34" charset="0"/>
                <a:ea typeface="Calibri" pitchFamily="34" charset="-122"/>
                <a:cs typeface="Calibri" pitchFamily="34" charset="-120"/>
              </a:rPr>
              <a:t>What's actually left for building? Be honest; write the number down.</a:t>
            </a:r>
            <a:endParaRPr lang="en-US" sz="1550" dirty="0"/>
          </a:p>
        </p:txBody>
      </p:sp>
      <p:sp>
        <p:nvSpPr>
          <p:cNvPr id="17" name="Shape 15"/>
          <p:cNvSpPr/>
          <p:nvPr/>
        </p:nvSpPr>
        <p:spPr>
          <a:xfrm>
            <a:off x="548640" y="4928616"/>
            <a:ext cx="11064240" cy="822960"/>
          </a:xfrm>
          <a:prstGeom prst="roundRect">
            <a:avLst>
              <a:gd name="adj" fmla="val 10000"/>
            </a:avLst>
          </a:prstGeom>
          <a:solidFill>
            <a:srgbClr val="E4EEF1"/>
          </a:solidFill>
          <a:ln/>
          <a:effectLst>
            <a:outerShdw sx="100000" sy="100000" kx="0" ky="0" algn="bl" rotWithShape="0" blurRad="88900" dist="38100" dir="5400000">
              <a:srgbClr val="000000">
                <a:alpha val="13000"/>
              </a:srgbClr>
            </a:outerShdw>
          </a:effectLst>
        </p:spPr>
      </p:sp>
      <p:sp>
        <p:nvSpPr>
          <p:cNvPr id="18" name="Shape 16"/>
          <p:cNvSpPr/>
          <p:nvPr/>
        </p:nvSpPr>
        <p:spPr>
          <a:xfrm>
            <a:off x="822960" y="5120640"/>
            <a:ext cx="438912" cy="438912"/>
          </a:xfrm>
          <a:prstGeom prst="ellipse">
            <a:avLst/>
          </a:prstGeom>
          <a:solidFill>
            <a:srgbClr val="0E6E6D"/>
          </a:solidFill>
          <a:ln/>
        </p:spPr>
      </p:sp>
      <p:sp>
        <p:nvSpPr>
          <p:cNvPr id="19" name="Text 17"/>
          <p:cNvSpPr/>
          <p:nvPr/>
        </p:nvSpPr>
        <p:spPr>
          <a:xfrm>
            <a:off x="822960" y="5120640"/>
            <a:ext cx="438912" cy="43891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20" name="Text 18"/>
          <p:cNvSpPr/>
          <p:nvPr/>
        </p:nvSpPr>
        <p:spPr>
          <a:xfrm>
            <a:off x="1463040" y="4928616"/>
            <a:ext cx="3749040" cy="82296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Multiply by five, not fourteen</a:t>
            </a:r>
            <a:endParaRPr lang="en-US" sz="1700" dirty="0"/>
          </a:p>
        </p:txBody>
      </p:sp>
      <p:sp>
        <p:nvSpPr>
          <p:cNvPr id="21" name="Text 19"/>
          <p:cNvSpPr/>
          <p:nvPr/>
        </p:nvSpPr>
        <p:spPr>
          <a:xfrm>
            <a:off x="5303520" y="4928616"/>
            <a:ext cx="6035040" cy="822960"/>
          </a:xfrm>
          <a:prstGeom prst="rect">
            <a:avLst/>
          </a:prstGeom>
          <a:noFill/>
          <a:ln/>
        </p:spPr>
        <p:txBody>
          <a:bodyPr wrap="square" lIns="0" tIns="0" rIns="0" bIns="0" rtlCol="0" anchor="ctr"/>
          <a:lstStyle/>
          <a:p>
            <a:pPr indent="0" marL="0">
              <a:lnSpc>
                <a:spcPct val="103000"/>
              </a:lnSpc>
              <a:buNone/>
            </a:pPr>
            <a:r>
              <a:rPr lang="en-US" sz="1550" dirty="0">
                <a:solidFill>
                  <a:srgbClr val="1E2A36"/>
                </a:solidFill>
                <a:latin typeface="Calibri" pitchFamily="34" charset="0"/>
                <a:ea typeface="Calibri" pitchFamily="34" charset="-122"/>
                <a:cs typeface="Calibri" pitchFamily="34" charset="-120"/>
              </a:rPr>
              <a:t>Real building runs roughly five weeks (Weeks 9–13). That's your budget.</a:t>
            </a:r>
            <a:endParaRPr lang="en-US" sz="1550" dirty="0"/>
          </a:p>
        </p:txBody>
      </p:sp>
      <p:sp>
        <p:nvSpPr>
          <p:cNvPr id="22" name="Shape 20"/>
          <p:cNvSpPr/>
          <p:nvPr/>
        </p:nvSpPr>
        <p:spPr>
          <a:xfrm>
            <a:off x="548640" y="5897880"/>
            <a:ext cx="11064240" cy="548640"/>
          </a:xfrm>
          <a:prstGeom prst="roundRect">
            <a:avLst>
              <a:gd name="adj" fmla="val 15000"/>
            </a:avLst>
          </a:prstGeom>
          <a:solidFill>
            <a:srgbClr val="E8A33D"/>
          </a:solidFill>
          <a:ln/>
          <a:effectLst>
            <a:outerShdw sx="100000" sy="100000" kx="0" ky="0" algn="bl" rotWithShape="0" blurRad="88900" dist="38100" dir="5400000">
              <a:srgbClr val="000000">
                <a:alpha val="13000"/>
              </a:srgbClr>
            </a:outerShdw>
          </a:effectLst>
        </p:spPr>
      </p:sp>
      <p:sp>
        <p:nvSpPr>
          <p:cNvPr id="23" name="Text 21"/>
          <p:cNvSpPr/>
          <p:nvPr/>
        </p:nvSpPr>
        <p:spPr>
          <a:xfrm>
            <a:off x="822960" y="5897880"/>
            <a:ext cx="10515600" cy="548640"/>
          </a:xfrm>
          <a:prstGeom prst="rect">
            <a:avLst/>
          </a:prstGeom>
          <a:noFill/>
          <a:ln/>
        </p:spPr>
        <p:txBody>
          <a:bodyPr wrap="square" lIns="0" tIns="0" rIns="0" bIns="0" rtlCol="0" anchor="ctr"/>
          <a:lstStyle/>
          <a:p>
            <a:pPr algn="ctr" indent="0" marL="0">
              <a:buNone/>
            </a:pPr>
            <a:r>
              <a:rPr lang="en-US" sz="1550" b="1" dirty="0">
                <a:solidFill>
                  <a:srgbClr val="14233A"/>
                </a:solidFill>
                <a:latin typeface="Calibri" pitchFamily="34" charset="0"/>
                <a:ea typeface="Calibri" pitchFamily="34" charset="-122"/>
                <a:cs typeface="Calibri" pitchFamily="34" charset="-120"/>
              </a:rPr>
              <a:t>Most overscoped proposals die on this line — better here, on paper, than in Week 12.</a:t>
            </a:r>
            <a:endParaRPr lang="en-US" sz="1550" dirty="0"/>
          </a:p>
        </p:txBody>
      </p:sp>
      <p:sp>
        <p:nvSpPr>
          <p:cNvPr id="24" name="Text 2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8 · Peer Review Workshop</a:t>
            </a:r>
            <a:endParaRPr lang="en-US" sz="1000" dirty="0"/>
          </a:p>
        </p:txBody>
      </p:sp>
      <p:sp>
        <p:nvSpPr>
          <p:cNvPr id="25" name="Text 2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BEFORE YOU LEAVE · 10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Turn notes into an edit list</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Solo, on your protocol sheet — most important first:</a:t>
            </a:r>
            <a:endParaRPr lang="en-US" sz="1600" dirty="0"/>
          </a:p>
        </p:txBody>
      </p:sp>
      <p:sp>
        <p:nvSpPr>
          <p:cNvPr id="7" name="Shape 5"/>
          <p:cNvSpPr/>
          <p:nvPr/>
        </p:nvSpPr>
        <p:spPr>
          <a:xfrm>
            <a:off x="548640" y="2148840"/>
            <a:ext cx="11064240" cy="950976"/>
          </a:xfrm>
          <a:prstGeom prst="roundRect">
            <a:avLst>
              <a:gd name="adj" fmla="val 8654"/>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777240" y="2395728"/>
            <a:ext cx="457200" cy="457200"/>
          </a:xfrm>
          <a:prstGeom prst="ellipse">
            <a:avLst/>
          </a:prstGeom>
          <a:solidFill>
            <a:srgbClr val="E8A33D"/>
          </a:solidFill>
          <a:ln/>
        </p:spPr>
      </p:sp>
      <p:sp>
        <p:nvSpPr>
          <p:cNvPr id="9" name="Text 7"/>
          <p:cNvSpPr/>
          <p:nvPr/>
        </p:nvSpPr>
        <p:spPr>
          <a:xfrm>
            <a:off x="777240" y="2395728"/>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8595360" cy="950976"/>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Three concrete edits, ranked — start with what both readers flagged. "Bound the userbase to X," not "improve problem section."</a:t>
            </a:r>
            <a:endParaRPr lang="en-US" sz="1550" dirty="0"/>
          </a:p>
        </p:txBody>
      </p:sp>
      <p:sp>
        <p:nvSpPr>
          <p:cNvPr id="11" name="Text 9"/>
          <p:cNvSpPr/>
          <p:nvPr/>
        </p:nvSpPr>
        <p:spPr>
          <a:xfrm>
            <a:off x="10149840" y="2148840"/>
            <a:ext cx="1280160" cy="950976"/>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write it</a:t>
            </a:r>
            <a:endParaRPr lang="en-US" sz="1400" dirty="0"/>
          </a:p>
        </p:txBody>
      </p:sp>
      <p:sp>
        <p:nvSpPr>
          <p:cNvPr id="12" name="Shape 10"/>
          <p:cNvSpPr/>
          <p:nvPr/>
        </p:nvSpPr>
        <p:spPr>
          <a:xfrm>
            <a:off x="548640" y="3227832"/>
            <a:ext cx="11064240" cy="950976"/>
          </a:xfrm>
          <a:prstGeom prst="roundRect">
            <a:avLst>
              <a:gd name="adj" fmla="val 8654"/>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777240" y="3474720"/>
            <a:ext cx="457200" cy="457200"/>
          </a:xfrm>
          <a:prstGeom prst="ellipse">
            <a:avLst/>
          </a:prstGeom>
          <a:solidFill>
            <a:srgbClr val="E8A33D"/>
          </a:solidFill>
          <a:ln/>
        </p:spPr>
      </p:sp>
      <p:sp>
        <p:nvSpPr>
          <p:cNvPr id="14" name="Text 12"/>
          <p:cNvSpPr/>
          <p:nvPr/>
        </p:nvSpPr>
        <p:spPr>
          <a:xfrm>
            <a:off x="777240" y="3474720"/>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417320" y="3227832"/>
            <a:ext cx="8595360" cy="950976"/>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The one narrowing move your proposal most needs.</a:t>
            </a:r>
            <a:endParaRPr lang="en-US" sz="1550" dirty="0"/>
          </a:p>
        </p:txBody>
      </p:sp>
      <p:sp>
        <p:nvSpPr>
          <p:cNvPr id="16" name="Text 14"/>
          <p:cNvSpPr/>
          <p:nvPr/>
        </p:nvSpPr>
        <p:spPr>
          <a:xfrm>
            <a:off x="10149840" y="3227832"/>
            <a:ext cx="1280160" cy="950976"/>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one line</a:t>
            </a:r>
            <a:endParaRPr lang="en-US" sz="1400" dirty="0"/>
          </a:p>
        </p:txBody>
      </p:sp>
      <p:sp>
        <p:nvSpPr>
          <p:cNvPr id="17" name="Shape 15"/>
          <p:cNvSpPr/>
          <p:nvPr/>
        </p:nvSpPr>
        <p:spPr>
          <a:xfrm>
            <a:off x="548640" y="4306824"/>
            <a:ext cx="11064240" cy="950976"/>
          </a:xfrm>
          <a:prstGeom prst="roundRect">
            <a:avLst>
              <a:gd name="adj" fmla="val 8654"/>
            </a:avLst>
          </a:prstGeom>
          <a:solidFill>
            <a:srgbClr val="1E3352"/>
          </a:solidFill>
          <a:ln/>
          <a:effectLst>
            <a:outerShdw sx="100000" sy="100000" kx="0" ky="0" algn="bl" rotWithShape="0" blurRad="88900" dist="38100" dir="5400000">
              <a:srgbClr val="000000">
                <a:alpha val="13000"/>
              </a:srgbClr>
            </a:outerShdw>
          </a:effectLst>
        </p:spPr>
      </p:sp>
      <p:sp>
        <p:nvSpPr>
          <p:cNvPr id="18" name="Shape 16"/>
          <p:cNvSpPr/>
          <p:nvPr/>
        </p:nvSpPr>
        <p:spPr>
          <a:xfrm>
            <a:off x="777240" y="4553712"/>
            <a:ext cx="457200" cy="457200"/>
          </a:xfrm>
          <a:prstGeom prst="ellipse">
            <a:avLst/>
          </a:prstGeom>
          <a:solidFill>
            <a:srgbClr val="E8A33D"/>
          </a:solidFill>
          <a:ln/>
        </p:spPr>
      </p:sp>
      <p:sp>
        <p:nvSpPr>
          <p:cNvPr id="19" name="Text 17"/>
          <p:cNvSpPr/>
          <p:nvPr/>
        </p:nvSpPr>
        <p:spPr>
          <a:xfrm>
            <a:off x="777240" y="4553712"/>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1417320" y="4306824"/>
            <a:ext cx="8595360" cy="950976"/>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Scan or photograph both annotated copies tonight — a scan is cleaner, a phone photo is fine if it's legible.</a:t>
            </a:r>
            <a:endParaRPr lang="en-US" sz="1550" dirty="0"/>
          </a:p>
        </p:txBody>
      </p:sp>
      <p:sp>
        <p:nvSpPr>
          <p:cNvPr id="21" name="Text 19"/>
          <p:cNvSpPr/>
          <p:nvPr/>
        </p:nvSpPr>
        <p:spPr>
          <a:xfrm>
            <a:off x="10149840" y="4306824"/>
            <a:ext cx="1280160" cy="950976"/>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tonight</a:t>
            </a:r>
            <a:endParaRPr lang="en-US" sz="1400" dirty="0"/>
          </a:p>
        </p:txBody>
      </p:sp>
      <p:sp>
        <p:nvSpPr>
          <p:cNvPr id="22" name="Shape 20"/>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23" name="Text 21"/>
          <p:cNvSpPr/>
          <p:nvPr/>
        </p:nvSpPr>
        <p:spPr>
          <a:xfrm>
            <a:off x="914400" y="5440680"/>
            <a:ext cx="10332720" cy="731520"/>
          </a:xfrm>
          <a:prstGeom prst="rect">
            <a:avLst/>
          </a:prstGeom>
          <a:noFill/>
          <a:ln/>
        </p:spPr>
        <p:txBody>
          <a:bodyPr wrap="square" lIns="0" tIns="0" rIns="0" bIns="0" rtlCol="0" anchor="ctr"/>
          <a:lstStyle/>
          <a:p>
            <a:pPr indent="0" marL="0">
              <a:buNone/>
            </a:pPr>
            <a:r>
              <a:rPr lang="en-US" sz="1500" b="1" dirty="0">
                <a:solidFill>
                  <a:srgbClr val="14233A"/>
                </a:solidFill>
                <a:latin typeface="Calibri" pitchFamily="34" charset="0"/>
                <a:ea typeface="Calibri" pitchFamily="34" charset="-122"/>
                <a:cs typeface="Calibri" pitchFamily="34" charset="-120"/>
              </a:rPr>
              <a:t>CP3 due Mon, Oct 5 — the proposal plus images of both marked-up copies.</a:t>
            </a:r>
            <a:endParaRPr lang="en-US" sz="1500" dirty="0"/>
          </a:p>
        </p:txBody>
      </p:sp>
      <p:sp>
        <p:nvSpPr>
          <p:cNvPr id="24" name="Text 2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8 · Peer Review Workshop</a:t>
            </a:r>
            <a:endParaRPr lang="en-US" sz="1000" dirty="0"/>
          </a:p>
        </p:txBody>
      </p:sp>
      <p:sp>
        <p:nvSpPr>
          <p:cNvPr id="25" name="Text 2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143000"/>
            <a:ext cx="822960" cy="82296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45159" y="1365199"/>
            <a:ext cx="378562" cy="378562"/>
          </a:xfrm>
          <a:prstGeom prst="rect">
            <a:avLst/>
          </a:prstGeom>
        </p:spPr>
      </p:pic>
      <p:sp>
        <p:nvSpPr>
          <p:cNvPr id="5" name="Text 2"/>
          <p:cNvSpPr/>
          <p:nvPr/>
        </p:nvSpPr>
        <p:spPr>
          <a:xfrm>
            <a:off x="822960" y="2057400"/>
            <a:ext cx="10881360" cy="1737360"/>
          </a:xfrm>
          <a:prstGeom prst="rect">
            <a:avLst/>
          </a:prstGeom>
          <a:noFill/>
          <a:ln/>
        </p:spPr>
        <p:txBody>
          <a:bodyPr wrap="square" lIns="0" tIns="0" rIns="0" bIns="0" rtlCol="0" anchor="ctr"/>
          <a:lstStyle/>
          <a:p>
            <a:pPr indent="0" marL="0">
              <a:lnSpc>
                <a:spcPct val="108000"/>
              </a:lnSpc>
              <a:buNone/>
            </a:pPr>
            <a:r>
              <a:rPr lang="en-US" sz="2500" b="1" i="1" dirty="0">
                <a:solidFill>
                  <a:srgbClr val="FFFFFF"/>
                </a:solidFill>
                <a:latin typeface="Cambria" pitchFamily="34" charset="0"/>
                <a:ea typeface="Cambria" pitchFamily="34" charset="-122"/>
                <a:cs typeface="Cambria" pitchFamily="34" charset="-120"/>
              </a:rPr>
              <a:t>Review is a gift you learn to give.</a:t>
            </a:r>
            <a:endParaRPr lang="en-US" sz="2500" dirty="0"/>
          </a:p>
          <a:p>
            <a:pPr indent="0" marL="0">
              <a:lnSpc>
                <a:spcPct val="108000"/>
              </a:lnSpc>
              <a:buNone/>
            </a:pPr>
            <a:r>
              <a:rPr lang="en-US" sz="2500" b="1" i="1" dirty="0">
                <a:solidFill>
                  <a:srgbClr val="FFFFFF"/>
                </a:solidFill>
                <a:latin typeface="Cambria" pitchFamily="34" charset="0"/>
                <a:ea typeface="Cambria" pitchFamily="34" charset="-122"/>
                <a:cs typeface="Cambria" pitchFamily="34" charset="-120"/>
              </a:rPr>
              <a:t>Scope realism is what separates a proposal that recruits</a:t>
            </a:r>
            <a:endParaRPr lang="en-US" sz="2500" dirty="0"/>
          </a:p>
          <a:p>
            <a:pPr indent="0" marL="0">
              <a:lnSpc>
                <a:spcPct val="108000"/>
              </a:lnSpc>
              <a:buNone/>
            </a:pPr>
            <a:r>
              <a:rPr lang="en-US" sz="2500" b="1" i="1" dirty="0">
                <a:solidFill>
                  <a:srgbClr val="FFFFFF"/>
                </a:solidFill>
                <a:latin typeface="Cambria" pitchFamily="34" charset="0"/>
                <a:ea typeface="Cambria" pitchFamily="34" charset="-122"/>
                <a:cs typeface="Cambria" pitchFamily="34" charset="-120"/>
              </a:rPr>
              <a:t>from one that worries people.</a:t>
            </a:r>
            <a:endParaRPr lang="en-US" sz="2500" dirty="0"/>
          </a:p>
        </p:txBody>
      </p:sp>
      <p:sp>
        <p:nvSpPr>
          <p:cNvPr id="6" name="Text 3"/>
          <p:cNvSpPr/>
          <p:nvPr/>
        </p:nvSpPr>
        <p:spPr>
          <a:xfrm>
            <a:off x="841248" y="406908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WHAT'S NEXT</a:t>
            </a:r>
            <a:endParaRPr lang="en-US" sz="1400" dirty="0"/>
          </a:p>
        </p:txBody>
      </p:sp>
      <p:sp>
        <p:nvSpPr>
          <p:cNvPr id="7" name="Text 4"/>
          <p:cNvSpPr/>
          <p:nvPr/>
        </p:nvSpPr>
        <p:spPr>
          <a:xfrm>
            <a:off x="868680" y="4480560"/>
            <a:ext cx="10698480" cy="1737360"/>
          </a:xfrm>
          <a:prstGeom prst="rect">
            <a:avLst/>
          </a:prstGeom>
          <a:noFill/>
          <a:ln/>
        </p:spPr>
        <p:txBody>
          <a:bodyPr wrap="square" lIns="0" tIns="0" rIns="0" bIns="0" rtlCol="0" anchor="t"/>
          <a:lstStyle/>
          <a:p>
            <a:pPr marL="203200" indent="-203200">
              <a:spcAft>
                <a:spcPts val="800"/>
              </a:spcAft>
              <a:buSzPct val="100000"/>
              <a:buChar char="•"/>
            </a:pPr>
            <a:r>
              <a:rPr lang="en-US" sz="1550" dirty="0">
                <a:solidFill>
                  <a:srgbClr val="CBD8E6"/>
                </a:solidFill>
                <a:latin typeface="Calibri" pitchFamily="34" charset="0"/>
                <a:ea typeface="Calibri" pitchFamily="34" charset="-122"/>
                <a:cs typeface="Calibri" pitchFamily="34" charset="-120"/>
              </a:rPr>
              <a:t>Tonight — scan or photograph both annotated copies while you still know which is which</a:t>
            </a:r>
            <a:endParaRPr lang="en-US" sz="1550" dirty="0"/>
          </a:p>
          <a:p>
            <a:pPr marL="203200" indent="-203200">
              <a:spcAft>
                <a:spcPts val="800"/>
              </a:spcAft>
              <a:buSzPct val="100000"/>
              <a:buChar char="•"/>
            </a:pPr>
            <a:r>
              <a:rPr lang="en-US" sz="1550" dirty="0">
                <a:solidFill>
                  <a:srgbClr val="CBD8E6"/>
                </a:solidFill>
                <a:latin typeface="Calibri" pitchFamily="34" charset="0"/>
                <a:ea typeface="Calibri" pitchFamily="34" charset="-122"/>
                <a:cs typeface="Calibri" pitchFamily="34" charset="-120"/>
              </a:rPr>
              <a:t>Mon, Oct 5 — CP3 Written Proposal + images of both copies, start of class</a:t>
            </a:r>
            <a:endParaRPr lang="en-US" sz="1550" dirty="0"/>
          </a:p>
          <a:p>
            <a:pPr marL="203200" indent="-203200">
              <a:buSzPct val="100000"/>
              <a:buChar char="•"/>
            </a:pPr>
            <a:r>
              <a:rPr lang="en-US" sz="1550" dirty="0">
                <a:solidFill>
                  <a:srgbClr val="CBD8E6"/>
                </a:solidFill>
                <a:latin typeface="Calibri" pitchFamily="34" charset="0"/>
                <a:ea typeface="Calibri" pitchFamily="34" charset="-122"/>
                <a:cs typeface="Calibri" pitchFamily="34" charset="-120"/>
              </a:rPr>
              <a:t>Monday is the pitch workshop — same argument, 6–8 minutes. Pitch Day is Wed, Oct 7</a:t>
            </a:r>
            <a:endParaRPr lang="en-US" sz="1550" dirty="0"/>
          </a:p>
        </p:txBody>
      </p:sp>
      <p:sp>
        <p:nvSpPr>
          <p:cNvPr id="8" name="Text 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8 · Peer Review Workshop</a:t>
            </a:r>
            <a:endParaRPr lang="en-US" sz="1000" dirty="0"/>
          </a:p>
        </p:txBody>
      </p:sp>
      <p:sp>
        <p:nvSpPr>
          <p:cNvPr id="9" name="Text 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8 — Proposal Peer Review</dc:title>
  <dc:subject>PptxGenJS Presentation</dc:subject>
  <dc:creator>CS 301R</dc:creator>
  <cp:lastModifiedBy>CS 301R</cp:lastModifiedBy>
  <cp:revision>1</cp:revision>
  <dcterms:created xsi:type="dcterms:W3CDTF">2026-08-20T16:52:34Z</dcterms:created>
  <dcterms:modified xsi:type="dcterms:W3CDTF">2026-08-20T16:52:34Z</dcterms:modified>
</cp:coreProperties>
</file>