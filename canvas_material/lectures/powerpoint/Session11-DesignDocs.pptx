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61838" cy="6858000"/>
  <p:notesSz cx="6858000" cy="12161838"/>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5" d="100"/>
          <a:sy n="105" d="100"/>
        </p:scale>
        <p:origin x="19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26174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3 opens and the unit of work changes from a person to a team. Announce teams in the first two minutes — the next slide is for that — then get moving; the deliberation happened over the weekend and this is the result, not a negotiation. Today has three parts: what the genre is and how formal it gets, a dissection of a sample doc, and the charter written in the room. Have the Backstage sample printed, one per team, and the NASA PDF open in another window.</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Type the teams into the slots before class — project, founder, members — and reveal them one click at a time; approved solo paths get a slot too, named the same way as any other project, because solo is a first-class outcome here. Say the real numbers if they're good ("six of eight got their first choice"). Keep it brisk and matter-of-fact; this is the result of a process everyone participated in. Then move the room: teams sit together for the rest of today, and everything from here is team work. Day-of typing isn't in the build script, so a rebuild clears the slots.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and it does real work: the session's timing is a bet that the room read the article, because the next slide recalls the anatomy rather than teaching it. Push past the label — "alternatives considered" isn't an answer, "alternatives considered is where you prove the decision was a choice and not a habit" is. If the room is blank, spend three extra minutes on the anatomy slide and take it out of the dissection's buffer, not out of the dissection itself. Calibration, not shaming.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minute. The audience shift is the point: CP3 persuaded a skeptic, this guides a builder — including the teammate nobody has met yet, which is the contributor-ready thread applied to the team's own thinking. The amber band is the economic argument, and it's worth saying slowly: prose is the cheapest medium in which to be wrong.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the room rather than reading the list — they read it, and the entry check just told you how well. One line each on the job the section does. Spend your time on alternatives-considered, the highlighted row: it is the section that separates a design doc from a description, and it is the one students skip. The sizing line matters too, because students hear "design doc" and imagine either a page of hand-waving or a hundred-page specification.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 caveat plainly: the reading is describing one culture, not a law of engineering. In aerospace, medical devices, defense, and government work the design doc is a formal deliverable, written partly to earn management's approval before money is spent — the instructor's NASA documents were titled Detailed Design Documents for exactly that reason. Then switch to the GSSC-0012 PDF for two minutes: page 3, the signature page (prepared by, two concurrences, approved by); page 4, the change record running Draft v0.1 to Baseline across five years; page 9, where the introduction traces to numbered requirements documents. Come back here for the amber band. This is also why the course template has a status line, a revision history, and a sign-off table.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caveat. Students read "alternatives considered" as a paragraph you write from memory at the end; sometimes it is, and sometimes it is the summary of weeks of work. Walk the three rungs and land on the middle one, because that's theirs: the CP3 spike already produced exactly this kind of evidence, and the template asks them to cite it. The NASA quote is worth reading aloud — a rejected option that nobody wrote down gets re-proposed a year later by someone who wasn't in the room.</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Row 2 is the one to dwell on, because it is the failure mode of conscientious students: they mistake volume for rigor and produce a second, worse copy of the codebase. Give the test at the bottom and then complicate it on the next slide — the rule is not "less detail is better."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minutes, and it turns a rule into a judgment. Put GSSC-0012 back on screen: page 28 (a message definition — name, ID, senders, receivers, field layout), page 21 (every config parameter and its default), page 60 (every database table). Ask the room why those earn their place there. Answers to draw out: two teams integrating without talking need the field layout; an operator arriving in eight years needs the defaults; a mission under change control needs the record. Then the honest flip side, which a sharp student may raise first: that document has less alternatives-considered content than we require, because in that organization the trade-offs lived in requirements documents, trade studies, and review presentations. "Where does this thinking belong?" is itself a design-document question.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Walk the headings, don't read them — they map one-to-one onto the Design Document rubric criteria, which is the point: a reviewer always knows where to look, and a missing alternatives section is visible instantly. Say why every organization that takes design docs seriously has a template, and that conforming to one is part of the job rather than a course quirk. Point out the status line, revision history, and sign-off table as the lightweight version of what they just saw in GSSC-0012.</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out the printed sample, one per team. Eight minutes of quiet reading, then twelve of critique — hold the line on the reading time, because teams that start arguing at minute two critique the first page only. Circulate and listen for teams stuck on surface polish; steer them to the four questions. Every question has at least one solid answer planted in the doc, and the appendix of the outline has the key: a Checkout component nobody could build from, an assumption that the network is always there, a single-tenant decision asserted with no alternative, a column-by-column schema dump with pseudo-code, diagrams that contradict the prose and the MVP scope, and an implementation plan built in horizontal layers. Don't hand out the key — let them find it.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up while teams report out. Take one find per team rather than working through the questions in order — it moves faster and teams hear each other. Push for specifics: "the Checkout component" is better than "section four is vague." If nobody catches the diagram problem, point at it yourself, since diagram-versus-prose disagreement is the defect most likely to appear in their own drafts on Wednesday.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out the Design Doc Skeleton sheet, one per team and one per solo student; its four parts match the four items here and point at the template sections they become. Ten minutes, and the goal is a page of boxes, not a finished diagram. Circulate with two questions: what does this system depend on that you don't control, and where does the data live? Teams that can't name two real decisions usually haven't found their risky part yet — send them back to their proposal's risks and spike. Say clearly that Wednesday's workshop produces the draft, which is then due end of day Thursday — the boards are the work and Thursday night is transcription — so today's sketch is the thing that makes Wednesday survivable.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minutes, and for most of them this is the first time they have heard the concept named out loud — the reading is five minutes long and some will have skimmed it. Lead with the general move, not the assignment: groups that intend to last write down how they work together, and the cheapest moment is before anything is at stake. Ask for one unstated expectation that has bitten them on a past team project and take two answers; there is always a good one. Then the test — checkable, and survives a bad week — and a tour of the worksheet. Land the peer-evaluation stake plainly: this is the standard those evaluations reference in November, so it is worth writing something they would actually defend.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minutes, and only these two questions — they are the ones teams skip when left alone and the ones worth your coaching. Circulate while they talk: the team that says "we'll all do everything and communicate constantly" is the one that fails in Week 10, so push it for a named tiebreaker and a real response time. Deciding the deadlock rule now takes four minutes; deciding it during the deadlock costs a week. Solo students answer the abbreviated version on the same worksheet — the solo box says which sections. Then set the expectation out loud: the rest of the charter is the agenda for a first team meeting held before Wednesday, and that meeting starts by creating the project's GitHub organization and public repository — the Canvas guide, Starting Your Project Repository, walks through it. The finished charter carries the repository URL and is submitted end of day Wednesday — it does not go in the repo: it's an internal agreement among teammates, and the public parts of it become the governance docs in the Infrastructure Package. The design-doc draft is a day behind it, Thursday, so the two do not land on the same evening.</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when the room is solo; skip it when everyone is on a team. Slides 14 and 15 still run, framed as what a good team does and what you'll ask of the contributors you recruit. Then turn it to them: with no teammates, the charter's job shifts from a promise to each other to a contract with yourself, and the stake shifts from peer evaluation to self-accountability. Give them five minutes on §4 to §6 of the worksheet; the solo box on page 2 says the same thing. Push on the same test as slide 14 — checkable, and survives a bad week. "I'll work on it regularly" fails; "Tuesday and Thursday evenings, and every session ends with a push" passes. §6 is the hard one for solo founders: nobody notices when they slip, so the line has to name what gets cut, not just what gets done. Close on the logistics: repo first, then the charter with its URL, due end of day Wednesday.</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in two minutes. The one-liner at the top is the session in a sentence — say it, then the logistics. The first team meeting creates the repository before anything else — a GitHub organization named for the project, at least two owners, a public repo with a README paragraph, a .gitignore, and their working license — and nothing private goes in it, ever: no keys, no interview notes — and not the charter either, which stays with the team. Charter finished at that meeting and submitted end of day Wednesday with the repo URL in it; skeleton sketch brought Wednesday, draft due end of day Thursday, the revised Design Document a week later. Name the loop out loud: draft, review, revise, exactly as with the proposal, because revision is graded here too. If the room looks daunted, remind them Wednesday is three-quarters whiteboard time with you circulating as design reviewer.</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33A"/>
        </a:solidFill>
        <a:effectLst/>
      </p:bgPr>
    </p:bg>
    <p:spTree>
      <p:nvGrpSpPr>
        <p:cNvPr id="1" name=""/>
        <p:cNvGrpSpPr/>
        <p:nvPr/>
      </p:nvGrpSpPr>
      <p:grpSpPr>
        <a:xfrm>
          <a:off x="0" y="0"/>
          <a:ext cx="0" cy="0"/>
          <a:chOff x="0" y="0"/>
          <a:chExt cx="0" cy="0"/>
        </a:xfrm>
      </p:grpSpPr>
      <p:sp>
        <p:nvSpPr>
          <p:cNvPr id="2" name="Shape 0"/>
          <p:cNvSpPr/>
          <p:nvPr/>
        </p:nvSpPr>
        <p:spPr>
          <a:xfrm>
            <a:off x="9966960" y="-1280160"/>
            <a:ext cx="3840480" cy="3840480"/>
          </a:xfrm>
          <a:prstGeom prst="ellipse">
            <a:avLst/>
          </a:prstGeom>
          <a:solidFill>
            <a:srgbClr val="1C3252"/>
          </a:solidFill>
          <a:ln/>
        </p:spPr>
        <p:txBody>
          <a:bodyPr/>
          <a:lstStyle/>
          <a:p>
            <a:endParaRPr lang="en-US"/>
          </a:p>
        </p:txBody>
      </p:sp>
      <p:sp>
        <p:nvSpPr>
          <p:cNvPr id="3" name="Shape 1"/>
          <p:cNvSpPr/>
          <p:nvPr/>
        </p:nvSpPr>
        <p:spPr>
          <a:xfrm>
            <a:off x="10972800" y="4663440"/>
            <a:ext cx="2743200" cy="2743200"/>
          </a:xfrm>
          <a:prstGeom prst="ellipse">
            <a:avLst/>
          </a:prstGeom>
          <a:solidFill>
            <a:srgbClr val="1C3252"/>
          </a:solidFill>
          <a:ln/>
        </p:spPr>
        <p:txBody>
          <a:bodyPr/>
          <a:lstStyle/>
          <a:p>
            <a:endParaRPr lang="en-US"/>
          </a:p>
        </p:txBody>
      </p:sp>
      <p:sp>
        <p:nvSpPr>
          <p:cNvPr id="4" name="Shape 2"/>
          <p:cNvSpPr/>
          <p:nvPr/>
        </p:nvSpPr>
        <p:spPr>
          <a:xfrm>
            <a:off x="822960" y="1325880"/>
            <a:ext cx="914400" cy="914400"/>
          </a:xfrm>
          <a:prstGeom prst="ellipse">
            <a:avLst/>
          </a:prstGeom>
          <a:solidFill>
            <a:srgbClr val="E8A33D"/>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069848" y="1572768"/>
            <a:ext cx="420624" cy="420624"/>
          </a:xfrm>
          <a:prstGeom prst="rect">
            <a:avLst/>
          </a:prstGeom>
        </p:spPr>
      </p:pic>
      <p:sp>
        <p:nvSpPr>
          <p:cNvPr id="6" name="Text 3"/>
          <p:cNvSpPr/>
          <p:nvPr/>
        </p:nvSpPr>
        <p:spPr>
          <a:xfrm>
            <a:off x="841248" y="2514600"/>
            <a:ext cx="10058400" cy="320040"/>
          </a:xfrm>
          <a:prstGeom prst="rect">
            <a:avLst/>
          </a:prstGeom>
          <a:noFill/>
          <a:ln/>
        </p:spPr>
        <p:txBody>
          <a:bodyPr wrap="square" lIns="0" tIns="0" rIns="0" bIns="0" rtlCol="0" anchor="ctr"/>
          <a:lstStyle/>
          <a:p>
            <a:pPr marL="0" indent="0">
              <a:buNone/>
            </a:pPr>
            <a:r>
              <a:rPr lang="en-US" sz="1500" b="1" kern="0" spc="200" dirty="0">
                <a:solidFill>
                  <a:srgbClr val="9FB4C7"/>
                </a:solidFill>
                <a:latin typeface="Calibri" pitchFamily="34" charset="0"/>
                <a:ea typeface="Calibri" pitchFamily="34" charset="-122"/>
                <a:cs typeface="Calibri" pitchFamily="34" charset="-120"/>
              </a:rPr>
              <a:t>CS 301R · SOFTWARE ENGINEERING STUDIO I</a:t>
            </a:r>
            <a:endParaRPr lang="en-US" sz="1500" dirty="0"/>
          </a:p>
        </p:txBody>
      </p:sp>
      <p:sp>
        <p:nvSpPr>
          <p:cNvPr id="7" name="Text 4"/>
          <p:cNvSpPr/>
          <p:nvPr/>
        </p:nvSpPr>
        <p:spPr>
          <a:xfrm>
            <a:off x="822960" y="2880360"/>
            <a:ext cx="11064240" cy="1188720"/>
          </a:xfrm>
          <a:prstGeom prst="rect">
            <a:avLst/>
          </a:prstGeom>
          <a:noFill/>
          <a:ln/>
        </p:spPr>
        <p:txBody>
          <a:bodyPr wrap="square" lIns="0" tIns="0" rIns="0" bIns="0" rtlCol="0" anchor="ctr"/>
          <a:lstStyle/>
          <a:p>
            <a:pPr marL="0" indent="0">
              <a:buNone/>
            </a:pPr>
            <a:r>
              <a:rPr lang="en-US" sz="4200" b="1" dirty="0">
                <a:solidFill>
                  <a:srgbClr val="FFFFFF"/>
                </a:solidFill>
                <a:latin typeface="Cambria" pitchFamily="34" charset="0"/>
                <a:ea typeface="Cambria" pitchFamily="34" charset="-122"/>
                <a:cs typeface="Cambria" pitchFamily="34" charset="-120"/>
              </a:rPr>
              <a:t>Designing in the Open</a:t>
            </a:r>
            <a:endParaRPr lang="en-US" sz="4200" dirty="0"/>
          </a:p>
        </p:txBody>
      </p:sp>
      <p:sp>
        <p:nvSpPr>
          <p:cNvPr id="8" name="Text 5"/>
          <p:cNvSpPr/>
          <p:nvPr/>
        </p:nvSpPr>
        <p:spPr>
          <a:xfrm>
            <a:off x="841248" y="4297680"/>
            <a:ext cx="10058400" cy="822960"/>
          </a:xfrm>
          <a:prstGeom prst="rect">
            <a:avLst/>
          </a:prstGeom>
          <a:noFill/>
          <a:ln/>
        </p:spPr>
        <p:txBody>
          <a:bodyPr wrap="square" lIns="0" tIns="0" rIns="0" bIns="0" rtlCol="0" anchor="ctr"/>
          <a:lstStyle/>
          <a:p>
            <a:pPr marL="0" indent="0">
              <a:lnSpc>
                <a:spcPct val="120000"/>
              </a:lnSpc>
              <a:buNone/>
            </a:pPr>
            <a:r>
              <a:rPr lang="en-US" sz="1900" b="1" dirty="0">
                <a:solidFill>
                  <a:srgbClr val="E8A33D"/>
                </a:solidFill>
                <a:latin typeface="Calibri" pitchFamily="34" charset="0"/>
                <a:ea typeface="Calibri" pitchFamily="34" charset="-122"/>
                <a:cs typeface="Calibri" pitchFamily="34" charset="-120"/>
              </a:rPr>
              <a:t>Session 11 — dissecting a design document</a:t>
            </a:r>
            <a:endParaRPr lang="en-US" sz="1900" dirty="0"/>
          </a:p>
          <a:p>
            <a:pPr marL="0" indent="0">
              <a:lnSpc>
                <a:spcPct val="120000"/>
              </a:lnSpc>
              <a:buNone/>
            </a:pPr>
            <a:r>
              <a:rPr lang="en-US" sz="1900" dirty="0">
                <a:solidFill>
                  <a:srgbClr val="9FB4C7"/>
                </a:solidFill>
                <a:latin typeface="Calibri" pitchFamily="34" charset="0"/>
                <a:ea typeface="Calibri" pitchFamily="34" charset="-122"/>
                <a:cs typeface="Calibri" pitchFamily="34" charset="-120"/>
              </a:rPr>
              <a:t>Monday, October 12, 2026</a:t>
            </a:r>
            <a:endParaRPr lang="en-US" sz="1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name="Slide 2">
    <p:bg>
      <p:bgPr>
        <a:solidFill>
          <a:srgbClr val="14233A"/>
        </a:solidFill>
        <a:effectLst/>
      </p:bgPr>
    </p:bg>
    <p:spTree>
      <p:nvGrpSpPr>
        <p:cNvPr id="1" name=""/>
        <p:cNvGrpSpPr/>
        <p:nvPr/>
      </p:nvGrpSpPr>
      <p:grpSpPr>
        <a:xfrm>
          <a:off x="0" y="0"/>
          <a:ext cx="0" cy="0"/>
          <a:chOff x="0" y="0"/>
          <a:chExt cx="0" cy="0"/>
        </a:xfrm>
      </p:grpSpPr>
      <p:sp>
        <p:nvSpPr>
          <p:cNvPr id="2" name="Shape 0"/>
          <p:cNvSpPr/>
          <p:nvPr/>
        </p:nvSpPr>
        <p:spPr>
          <a:xfrm>
            <a:off x="10424160" y="-1188720"/>
            <a:ext cx="3291840" cy="3291840"/>
          </a:xfrm>
          <a:prstGeom prst="ellipse">
            <a:avLst/>
          </a:prstGeom>
          <a:solidFill>
            <a:srgbClr val="1C3252"/>
          </a:solidFill>
          <a:ln/>
        </p:spPr>
        <p:txBody>
          <a:bodyPr/>
          <a:lstStyle/>
          <a:p>
            <a:endParaRPr lang="en-US"/>
          </a:p>
        </p:txBody>
      </p:sp>
      <p:sp>
        <p:nvSpPr>
          <p:cNvPr id="3" name="Shape 1"/>
          <p:cNvSpPr/>
          <p:nvPr/>
        </p:nvSpPr>
        <p:spPr>
          <a:xfrm>
            <a:off x="566928" y="548640"/>
            <a:ext cx="137160" cy="137160"/>
          </a:xfrm>
          <a:prstGeom prst="ellipse">
            <a:avLst/>
          </a:prstGeom>
          <a:solidFill>
            <a:srgbClr val="E8A33D"/>
          </a:solidFill>
          <a:ln/>
        </p:spPr>
        <p:txBody>
          <a:bodyPr/>
          <a:lstStyle/>
          <a:p>
            <a:endParaRPr lang="en-US"/>
          </a:p>
        </p:txBody>
      </p:sp>
      <p:sp>
        <p:nvSpPr>
          <p:cNvPr id="4" name="Text 2"/>
          <p:cNvSpPr/>
          <p:nvPr/>
        </p:nvSpPr>
        <p:spPr>
          <a:xfrm>
            <a:off x="795528" y="457200"/>
            <a:ext cx="10515600" cy="310896"/>
          </a:xfrm>
          <a:prstGeom prst="rect">
            <a:avLst/>
          </a:prstGeom>
          <a:noFill/>
          <a:ln/>
        </p:spPr>
        <p:txBody>
          <a:bodyPr wrap="square" lIns="0" tIns="0" rIns="0" bIns="0" rtlCol="0" anchor="ctr"/>
          <a:lstStyle/>
          <a:p>
            <a:pPr marL="0" indent="0">
              <a:buNone/>
            </a:pPr>
            <a:r>
              <a:rPr lang="en-US" sz="1400" b="1" kern="0" spc="200" dirty="0">
                <a:solidFill>
                  <a:srgbClr val="E8A33D"/>
                </a:solidFill>
                <a:latin typeface="Calibri" pitchFamily="34" charset="0"/>
                <a:ea typeface="Calibri" pitchFamily="34" charset="-122"/>
                <a:cs typeface="Calibri" pitchFamily="34" charset="-120"/>
              </a:rPr>
              <a:t>PHASE 3 BEGINS</a:t>
            </a:r>
            <a:endParaRPr lang="en-US" sz="1400" dirty="0"/>
          </a:p>
        </p:txBody>
      </p:sp>
      <p:sp>
        <p:nvSpPr>
          <p:cNvPr id="5" name="Text 3"/>
          <p:cNvSpPr/>
          <p:nvPr/>
        </p:nvSpPr>
        <p:spPr>
          <a:xfrm>
            <a:off x="548640" y="822960"/>
            <a:ext cx="11064240" cy="73152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Your teams</a:t>
            </a:r>
            <a:endParaRPr lang="en-US" sz="3200" dirty="0"/>
          </a:p>
        </p:txBody>
      </p:sp>
      <p:sp>
        <p:nvSpPr>
          <p:cNvPr id="6" name="click-1"/>
          <p:cNvSpPr/>
          <p:nvPr/>
        </p:nvSpPr>
        <p:spPr>
          <a:xfrm>
            <a:off x="548640" y="1874520"/>
            <a:ext cx="566928" cy="566928"/>
          </a:xfrm>
          <a:prstGeom prst="ellipse">
            <a:avLst/>
          </a:prstGeom>
          <a:solidFill>
            <a:srgbClr val="E8A33D"/>
          </a:solidFill>
          <a:ln/>
        </p:spPr>
        <p:txBody>
          <a:bodyPr/>
          <a:lstStyle/>
          <a:p>
            <a:endParaRPr lang="en-US"/>
          </a:p>
        </p:txBody>
      </p:sp>
      <p:pic>
        <p:nvPicPr>
          <p:cNvPr id="7" name="click-1" descr="preencoded.png"/>
          <p:cNvPicPr>
            <a:picLocks noChangeAspect="1"/>
          </p:cNvPicPr>
          <p:nvPr/>
        </p:nvPicPr>
        <p:blipFill>
          <a:blip r:embed="rId3"/>
          <a:stretch>
            <a:fillRect/>
          </a:stretch>
        </p:blipFill>
        <p:spPr>
          <a:xfrm>
            <a:off x="701711" y="2027591"/>
            <a:ext cx="260787" cy="260787"/>
          </a:xfrm>
          <a:prstGeom prst="rect">
            <a:avLst/>
          </a:prstGeom>
        </p:spPr>
      </p:pic>
      <p:sp>
        <p:nvSpPr>
          <p:cNvPr id="8" name="click-1"/>
          <p:cNvSpPr/>
          <p:nvPr/>
        </p:nvSpPr>
        <p:spPr>
          <a:xfrm>
            <a:off x="1298448" y="1783080"/>
            <a:ext cx="10314432" cy="749808"/>
          </a:xfrm>
          <a:prstGeom prst="roundRect">
            <a:avLst>
              <a:gd name="adj" fmla="val 9756"/>
            </a:avLst>
          </a:prstGeom>
          <a:solidFill>
            <a:srgbClr val="1E3352"/>
          </a:solidFill>
          <a:ln w="12700">
            <a:solidFill>
              <a:srgbClr val="3A5578"/>
            </a:solidFill>
            <a:prstDash val="dash"/>
          </a:ln>
        </p:spPr>
        <p:txBody>
          <a:bodyPr wrap="square" lIns="228600" tIns="0" rIns="22860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 </a:t>
            </a:r>
            <a:endParaRPr lang="en-US" sz="2200" dirty="0"/>
          </a:p>
        </p:txBody>
      </p:sp>
      <p:sp>
        <p:nvSpPr>
          <p:cNvPr id="9" name="click-2"/>
          <p:cNvSpPr/>
          <p:nvPr/>
        </p:nvSpPr>
        <p:spPr>
          <a:xfrm>
            <a:off x="548640" y="2770632"/>
            <a:ext cx="566928" cy="566928"/>
          </a:xfrm>
          <a:prstGeom prst="ellipse">
            <a:avLst/>
          </a:prstGeom>
          <a:solidFill>
            <a:srgbClr val="E8A33D"/>
          </a:solidFill>
          <a:ln/>
        </p:spPr>
        <p:txBody>
          <a:bodyPr/>
          <a:lstStyle/>
          <a:p>
            <a:endParaRPr lang="en-US"/>
          </a:p>
        </p:txBody>
      </p:sp>
      <p:pic>
        <p:nvPicPr>
          <p:cNvPr id="10" name="click-2" descr="preencoded.png"/>
          <p:cNvPicPr>
            <a:picLocks noChangeAspect="1"/>
          </p:cNvPicPr>
          <p:nvPr/>
        </p:nvPicPr>
        <p:blipFill>
          <a:blip r:embed="rId3"/>
          <a:stretch>
            <a:fillRect/>
          </a:stretch>
        </p:blipFill>
        <p:spPr>
          <a:xfrm>
            <a:off x="701711" y="2923703"/>
            <a:ext cx="260787" cy="260787"/>
          </a:xfrm>
          <a:prstGeom prst="rect">
            <a:avLst/>
          </a:prstGeom>
        </p:spPr>
      </p:pic>
      <p:sp>
        <p:nvSpPr>
          <p:cNvPr id="11" name="click-2"/>
          <p:cNvSpPr/>
          <p:nvPr/>
        </p:nvSpPr>
        <p:spPr>
          <a:xfrm>
            <a:off x="1298448" y="2679192"/>
            <a:ext cx="10314432" cy="749808"/>
          </a:xfrm>
          <a:prstGeom prst="roundRect">
            <a:avLst>
              <a:gd name="adj" fmla="val 9756"/>
            </a:avLst>
          </a:prstGeom>
          <a:solidFill>
            <a:srgbClr val="1E3352"/>
          </a:solidFill>
          <a:ln w="12700">
            <a:solidFill>
              <a:srgbClr val="3A5578"/>
            </a:solidFill>
            <a:prstDash val="dash"/>
          </a:ln>
        </p:spPr>
        <p:txBody>
          <a:bodyPr wrap="square" lIns="228600" tIns="0" rIns="22860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 </a:t>
            </a:r>
            <a:endParaRPr lang="en-US" sz="2200" dirty="0"/>
          </a:p>
        </p:txBody>
      </p:sp>
      <p:sp>
        <p:nvSpPr>
          <p:cNvPr id="12" name="click-3"/>
          <p:cNvSpPr/>
          <p:nvPr/>
        </p:nvSpPr>
        <p:spPr>
          <a:xfrm>
            <a:off x="548640" y="3666744"/>
            <a:ext cx="566928" cy="566928"/>
          </a:xfrm>
          <a:prstGeom prst="ellipse">
            <a:avLst/>
          </a:prstGeom>
          <a:solidFill>
            <a:srgbClr val="E8A33D"/>
          </a:solidFill>
          <a:ln/>
        </p:spPr>
        <p:txBody>
          <a:bodyPr/>
          <a:lstStyle/>
          <a:p>
            <a:endParaRPr lang="en-US"/>
          </a:p>
        </p:txBody>
      </p:sp>
      <p:pic>
        <p:nvPicPr>
          <p:cNvPr id="13" name="click-3" descr="preencoded.png"/>
          <p:cNvPicPr>
            <a:picLocks noChangeAspect="1"/>
          </p:cNvPicPr>
          <p:nvPr/>
        </p:nvPicPr>
        <p:blipFill>
          <a:blip r:embed="rId3"/>
          <a:stretch>
            <a:fillRect/>
          </a:stretch>
        </p:blipFill>
        <p:spPr>
          <a:xfrm>
            <a:off x="701711" y="3819815"/>
            <a:ext cx="260787" cy="260787"/>
          </a:xfrm>
          <a:prstGeom prst="rect">
            <a:avLst/>
          </a:prstGeom>
        </p:spPr>
      </p:pic>
      <p:sp>
        <p:nvSpPr>
          <p:cNvPr id="14" name="click-3"/>
          <p:cNvSpPr/>
          <p:nvPr/>
        </p:nvSpPr>
        <p:spPr>
          <a:xfrm>
            <a:off x="1298448" y="3575304"/>
            <a:ext cx="10314432" cy="749808"/>
          </a:xfrm>
          <a:prstGeom prst="roundRect">
            <a:avLst>
              <a:gd name="adj" fmla="val 9756"/>
            </a:avLst>
          </a:prstGeom>
          <a:solidFill>
            <a:srgbClr val="1E3352"/>
          </a:solidFill>
          <a:ln w="12700">
            <a:solidFill>
              <a:srgbClr val="3A5578"/>
            </a:solidFill>
            <a:prstDash val="dash"/>
          </a:ln>
        </p:spPr>
        <p:txBody>
          <a:bodyPr wrap="square" lIns="228600" tIns="0" rIns="22860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 </a:t>
            </a:r>
            <a:endParaRPr lang="en-US" sz="2200" dirty="0"/>
          </a:p>
        </p:txBody>
      </p:sp>
      <p:sp>
        <p:nvSpPr>
          <p:cNvPr id="15" name="click-4"/>
          <p:cNvSpPr/>
          <p:nvPr/>
        </p:nvSpPr>
        <p:spPr>
          <a:xfrm>
            <a:off x="548640" y="4562856"/>
            <a:ext cx="566928" cy="566928"/>
          </a:xfrm>
          <a:prstGeom prst="ellipse">
            <a:avLst/>
          </a:prstGeom>
          <a:solidFill>
            <a:srgbClr val="E8A33D"/>
          </a:solidFill>
          <a:ln/>
        </p:spPr>
        <p:txBody>
          <a:bodyPr/>
          <a:lstStyle/>
          <a:p>
            <a:endParaRPr lang="en-US"/>
          </a:p>
        </p:txBody>
      </p:sp>
      <p:pic>
        <p:nvPicPr>
          <p:cNvPr id="16" name="click-4" descr="preencoded.png"/>
          <p:cNvPicPr>
            <a:picLocks noChangeAspect="1"/>
          </p:cNvPicPr>
          <p:nvPr/>
        </p:nvPicPr>
        <p:blipFill>
          <a:blip r:embed="rId3"/>
          <a:stretch>
            <a:fillRect/>
          </a:stretch>
        </p:blipFill>
        <p:spPr>
          <a:xfrm>
            <a:off x="701711" y="4715927"/>
            <a:ext cx="260787" cy="260787"/>
          </a:xfrm>
          <a:prstGeom prst="rect">
            <a:avLst/>
          </a:prstGeom>
        </p:spPr>
      </p:pic>
      <p:sp>
        <p:nvSpPr>
          <p:cNvPr id="17" name="click-4"/>
          <p:cNvSpPr/>
          <p:nvPr/>
        </p:nvSpPr>
        <p:spPr>
          <a:xfrm>
            <a:off x="1298448" y="4471416"/>
            <a:ext cx="10314432" cy="749808"/>
          </a:xfrm>
          <a:prstGeom prst="roundRect">
            <a:avLst>
              <a:gd name="adj" fmla="val 9756"/>
            </a:avLst>
          </a:prstGeom>
          <a:solidFill>
            <a:srgbClr val="1E3352"/>
          </a:solidFill>
          <a:ln w="12700">
            <a:solidFill>
              <a:srgbClr val="3A5578"/>
            </a:solidFill>
            <a:prstDash val="dash"/>
          </a:ln>
        </p:spPr>
        <p:txBody>
          <a:bodyPr wrap="square" lIns="228600" tIns="0" rIns="22860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 </a:t>
            </a:r>
            <a:endParaRPr lang="en-US" sz="2200" dirty="0"/>
          </a:p>
        </p:txBody>
      </p:sp>
      <p:sp>
        <p:nvSpPr>
          <p:cNvPr id="18" name="Shape 12"/>
          <p:cNvSpPr/>
          <p:nvPr/>
        </p:nvSpPr>
        <p:spPr>
          <a:xfrm>
            <a:off x="548640" y="5440680"/>
            <a:ext cx="11064240" cy="777240"/>
          </a:xfrm>
          <a:prstGeom prst="roundRect">
            <a:avLst>
              <a:gd name="adj" fmla="val 10588"/>
            </a:avLst>
          </a:prstGeom>
          <a:solidFill>
            <a:srgbClr val="F2F6F8"/>
          </a:solidFill>
          <a:ln/>
          <a:effectLst>
            <a:outerShdw blurRad="88900" dist="38100" dir="5400000" algn="bl" rotWithShape="0">
              <a:srgbClr val="000000">
                <a:alpha val="13000"/>
              </a:srgbClr>
            </a:outerShdw>
          </a:effectLst>
        </p:spPr>
        <p:txBody>
          <a:bodyPr/>
          <a:lstStyle/>
          <a:p>
            <a:endParaRPr lang="en-US"/>
          </a:p>
        </p:txBody>
      </p:sp>
      <p:sp>
        <p:nvSpPr>
          <p:cNvPr id="19" name="Text 13"/>
          <p:cNvSpPr/>
          <p:nvPr/>
        </p:nvSpPr>
        <p:spPr>
          <a:xfrm>
            <a:off x="868680" y="5440680"/>
            <a:ext cx="10424160" cy="777240"/>
          </a:xfrm>
          <a:prstGeom prst="rect">
            <a:avLst/>
          </a:prstGeom>
          <a:noFill/>
          <a:ln/>
        </p:spPr>
        <p:txBody>
          <a:bodyPr wrap="square" lIns="0" tIns="0" rIns="0" bIns="0" rtlCol="0" anchor="ctr"/>
          <a:lstStyle/>
          <a:p>
            <a:pPr marL="0" indent="0">
              <a:lnSpc>
                <a:spcPct val="104000"/>
              </a:lnSpc>
              <a:buNone/>
            </a:pPr>
            <a:r>
              <a:rPr lang="en-US" sz="1550" b="1" dirty="0">
                <a:solidFill>
                  <a:srgbClr val="0E6E6D"/>
                </a:solidFill>
                <a:latin typeface="Calibri" pitchFamily="34" charset="0"/>
                <a:ea typeface="Calibri" pitchFamily="34" charset="-122"/>
                <a:cs typeface="Calibri" pitchFamily="34" charset="-120"/>
              </a:rPr>
              <a:t>Most of you got a first or second choice.  </a:t>
            </a:r>
            <a:r>
              <a:rPr lang="en-US" sz="1550" dirty="0">
                <a:solidFill>
                  <a:srgbClr val="1E2A36"/>
                </a:solidFill>
                <a:latin typeface="Calibri" pitchFamily="34" charset="0"/>
                <a:ea typeface="Calibri" pitchFamily="34" charset="-122"/>
                <a:cs typeface="Calibri" pitchFamily="34" charset="-120"/>
              </a:rPr>
              <a:t>An idea that didn't anchor a team isn't a failure — its founder brings four weeks of discovery into whatever they join.</a:t>
            </a:r>
            <a:endParaRPr lang="en-US" sz="1550" dirty="0"/>
          </a:p>
        </p:txBody>
      </p:sp>
      <p:sp>
        <p:nvSpPr>
          <p:cNvPr id="20" name="Text 14"/>
          <p:cNvSpPr/>
          <p:nvPr/>
        </p:nvSpPr>
        <p:spPr>
          <a:xfrm>
            <a:off x="6675120" y="6437376"/>
            <a:ext cx="4937760" cy="274320"/>
          </a:xfrm>
          <a:prstGeom prst="rect">
            <a:avLst/>
          </a:prstGeom>
          <a:noFill/>
          <a:ln/>
        </p:spPr>
        <p:txBody>
          <a:bodyPr wrap="square" lIns="0" tIns="0" rIns="0" bIns="0" rtlCol="0" anchor="ctr"/>
          <a:lstStyle/>
          <a:p>
            <a:pPr marL="0" indent="0" algn="r">
              <a:buNone/>
            </a:pPr>
            <a:r>
              <a:rPr lang="en-US" sz="1000" dirty="0">
                <a:solidFill>
                  <a:srgbClr val="7E92A8"/>
                </a:solidFill>
                <a:latin typeface="Calibri" pitchFamily="34" charset="0"/>
                <a:ea typeface="Calibri" pitchFamily="34" charset="-122"/>
                <a:cs typeface="Calibri" pitchFamily="34" charset="-120"/>
              </a:rPr>
              <a:t>CS 301R · Session 11 · Design Documents</a:t>
            </a:r>
            <a:endParaRPr lang="en-US" sz="1000" dirty="0"/>
          </a:p>
        </p:txBody>
      </p:sp>
      <p:sp>
        <p:nvSpPr>
          <p:cNvPr id="21" name="Text 15"/>
          <p:cNvSpPr/>
          <p:nvPr/>
        </p:nvSpPr>
        <p:spPr>
          <a:xfrm>
            <a:off x="548640" y="6437376"/>
            <a:ext cx="548640" cy="274320"/>
          </a:xfrm>
          <a:prstGeom prst="rect">
            <a:avLst/>
          </a:prstGeom>
          <a:noFill/>
          <a:ln/>
        </p:spPr>
        <p:txBody>
          <a:bodyPr wrap="square" lIns="0" tIns="0" rIns="0" bIns="0" rtlCol="0" anchor="ctr"/>
          <a:lstStyle/>
          <a:p>
            <a:pPr marL="0" indent="0">
              <a:buNone/>
            </a:pPr>
            <a:r>
              <a:rPr lang="en-US" sz="1000" dirty="0">
                <a:solidFill>
                  <a:srgbClr val="7E92A8"/>
                </a:solidFill>
                <a:latin typeface="Calibri" pitchFamily="34" charset="0"/>
                <a:ea typeface="Calibri" pitchFamily="34" charset="-122"/>
                <a:cs typeface="Calibri" pitchFamily="34" charset="-120"/>
              </a:rPr>
              <a:t>2</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9" grpId="0" animBg="1"/>
      <p:bldP spid="11" grpId="0" animBg="1"/>
      <p:bldP spid="12" grpId="0" animBg="1"/>
      <p:bldP spid="14" grpId="0" animBg="1"/>
      <p:bldP spid="15" grpId="0" animBg="1"/>
      <p:bldP spid="1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4233A"/>
        </a:solidFill>
        <a:effectLst/>
      </p:bgPr>
    </p:bg>
    <p:spTree>
      <p:nvGrpSpPr>
        <p:cNvPr id="1" name=""/>
        <p:cNvGrpSpPr/>
        <p:nvPr/>
      </p:nvGrpSpPr>
      <p:grpSpPr>
        <a:xfrm>
          <a:off x="0" y="0"/>
          <a:ext cx="0" cy="0"/>
          <a:chOff x="0" y="0"/>
          <a:chExt cx="0" cy="0"/>
        </a:xfrm>
      </p:grpSpPr>
      <p:sp>
        <p:nvSpPr>
          <p:cNvPr id="2" name="Shape 0"/>
          <p:cNvSpPr/>
          <p:nvPr/>
        </p:nvSpPr>
        <p:spPr>
          <a:xfrm>
            <a:off x="-1280160" y="4480560"/>
            <a:ext cx="3657600" cy="3657600"/>
          </a:xfrm>
          <a:prstGeom prst="ellipse">
            <a:avLst/>
          </a:prstGeom>
          <a:solidFill>
            <a:srgbClr val="1C3252"/>
          </a:solidFill>
          <a:ln/>
        </p:spPr>
        <p:txBody>
          <a:bodyPr/>
          <a:lstStyle/>
          <a:p>
            <a:endParaRPr lang="en-US"/>
          </a:p>
        </p:txBody>
      </p:sp>
      <p:sp>
        <p:nvSpPr>
          <p:cNvPr id="3" name="Shape 1"/>
          <p:cNvSpPr/>
          <p:nvPr/>
        </p:nvSpPr>
        <p:spPr>
          <a:xfrm>
            <a:off x="566928" y="658368"/>
            <a:ext cx="137160" cy="137160"/>
          </a:xfrm>
          <a:prstGeom prst="ellipse">
            <a:avLst/>
          </a:prstGeom>
          <a:solidFill>
            <a:srgbClr val="E8A33D"/>
          </a:solidFill>
          <a:ln/>
        </p:spPr>
        <p:txBody>
          <a:bodyPr/>
          <a:lstStyle/>
          <a:p>
            <a:endParaRPr lang="en-US"/>
          </a:p>
        </p:txBody>
      </p:sp>
      <p:sp>
        <p:nvSpPr>
          <p:cNvPr id="4" name="Text 2"/>
          <p:cNvSpPr/>
          <p:nvPr/>
        </p:nvSpPr>
        <p:spPr>
          <a:xfrm>
            <a:off x="795528" y="566928"/>
            <a:ext cx="10515600" cy="310896"/>
          </a:xfrm>
          <a:prstGeom prst="rect">
            <a:avLst/>
          </a:prstGeom>
          <a:noFill/>
          <a:ln/>
        </p:spPr>
        <p:txBody>
          <a:bodyPr wrap="square" lIns="0" tIns="0" rIns="0" bIns="0" rtlCol="0" anchor="ctr"/>
          <a:lstStyle/>
          <a:p>
            <a:pPr marL="0" indent="0">
              <a:buNone/>
            </a:pPr>
            <a:r>
              <a:rPr lang="en-US" sz="1400" b="1" kern="0" spc="200" dirty="0">
                <a:solidFill>
                  <a:srgbClr val="E8A33D"/>
                </a:solidFill>
                <a:latin typeface="Calibri" pitchFamily="34" charset="0"/>
                <a:ea typeface="Calibri" pitchFamily="34" charset="-122"/>
                <a:cs typeface="Calibri" pitchFamily="34" charset="-120"/>
              </a:rPr>
              <a:t>BEFORE WE START</a:t>
            </a:r>
            <a:endParaRPr lang="en-US" sz="1400" dirty="0"/>
          </a:p>
        </p:txBody>
      </p:sp>
      <p:sp>
        <p:nvSpPr>
          <p:cNvPr id="5" name="Shape 3"/>
          <p:cNvSpPr/>
          <p:nvPr/>
        </p:nvSpPr>
        <p:spPr>
          <a:xfrm>
            <a:off x="822960" y="1234440"/>
            <a:ext cx="822960" cy="822960"/>
          </a:xfrm>
          <a:prstGeom prst="ellipse">
            <a:avLst/>
          </a:prstGeom>
          <a:solidFill>
            <a:srgbClr val="E8A33D"/>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1045159" y="1456639"/>
            <a:ext cx="378562" cy="378562"/>
          </a:xfrm>
          <a:prstGeom prst="rect">
            <a:avLst/>
          </a:prstGeom>
        </p:spPr>
      </p:pic>
      <p:sp>
        <p:nvSpPr>
          <p:cNvPr id="7" name="Text 4"/>
          <p:cNvSpPr/>
          <p:nvPr/>
        </p:nvSpPr>
        <p:spPr>
          <a:xfrm>
            <a:off x="822960" y="2212848"/>
            <a:ext cx="10881360" cy="1691640"/>
          </a:xfrm>
          <a:prstGeom prst="rect">
            <a:avLst/>
          </a:prstGeom>
          <a:noFill/>
          <a:ln/>
        </p:spPr>
        <p:txBody>
          <a:bodyPr wrap="square" lIns="0" tIns="0" rIns="0" bIns="0" rtlCol="0" anchor="ctr"/>
          <a:lstStyle/>
          <a:p>
            <a:pPr marL="0" indent="0">
              <a:lnSpc>
                <a:spcPct val="105000"/>
              </a:lnSpc>
              <a:buNone/>
            </a:pPr>
            <a:r>
              <a:rPr lang="en-US" sz="3100" b="1" dirty="0">
                <a:solidFill>
                  <a:srgbClr val="FFFFFF"/>
                </a:solidFill>
                <a:latin typeface="Cambria" pitchFamily="34" charset="0"/>
                <a:ea typeface="Cambria" pitchFamily="34" charset="-122"/>
                <a:cs typeface="Cambria" pitchFamily="34" charset="-120"/>
              </a:rPr>
              <a:t>Name one section of a design doc — and what it is </a:t>
            </a:r>
            <a:r>
              <a:rPr lang="en-US" sz="3100" b="1" i="1" dirty="0">
                <a:solidFill>
                  <a:srgbClr val="E8A33D"/>
                </a:solidFill>
                <a:latin typeface="Cambria" pitchFamily="34" charset="0"/>
                <a:ea typeface="Cambria" pitchFamily="34" charset="-122"/>
                <a:cs typeface="Cambria" pitchFamily="34" charset="-120"/>
              </a:rPr>
              <a:t>for</a:t>
            </a:r>
            <a:r>
              <a:rPr lang="en-US" sz="3100" b="1" dirty="0">
                <a:solidFill>
                  <a:srgbClr val="FFFFFF"/>
                </a:solidFill>
                <a:latin typeface="Cambria" pitchFamily="34" charset="0"/>
                <a:ea typeface="Cambria" pitchFamily="34" charset="-122"/>
                <a:cs typeface="Cambria" pitchFamily="34" charset="-120"/>
              </a:rPr>
              <a:t>.</a:t>
            </a:r>
            <a:endParaRPr lang="en-US" sz="3100" dirty="0"/>
          </a:p>
        </p:txBody>
      </p:sp>
      <p:sp>
        <p:nvSpPr>
          <p:cNvPr id="8" name="Shape 5"/>
          <p:cNvSpPr/>
          <p:nvPr/>
        </p:nvSpPr>
        <p:spPr>
          <a:xfrm>
            <a:off x="548640" y="4114800"/>
            <a:ext cx="11064240" cy="960120"/>
          </a:xfrm>
          <a:prstGeom prst="roundRect">
            <a:avLst>
              <a:gd name="adj" fmla="val 8571"/>
            </a:avLst>
          </a:prstGeom>
          <a:solidFill>
            <a:srgbClr val="1E3352"/>
          </a:solidFill>
          <a:ln/>
          <a:effectLst>
            <a:outerShdw blurRad="88900" dist="38100" dir="5400000" algn="bl" rotWithShape="0">
              <a:srgbClr val="000000">
                <a:alpha val="13000"/>
              </a:srgbClr>
            </a:outerShdw>
          </a:effectLst>
        </p:spPr>
        <p:txBody>
          <a:bodyPr/>
          <a:lstStyle/>
          <a:p>
            <a:endParaRPr lang="en-US"/>
          </a:p>
        </p:txBody>
      </p:sp>
      <p:sp>
        <p:nvSpPr>
          <p:cNvPr id="9" name="Text 6"/>
          <p:cNvSpPr/>
          <p:nvPr/>
        </p:nvSpPr>
        <p:spPr>
          <a:xfrm>
            <a:off x="914400" y="4114800"/>
            <a:ext cx="10332720" cy="960120"/>
          </a:xfrm>
          <a:prstGeom prst="rect">
            <a:avLst/>
          </a:prstGeom>
          <a:noFill/>
          <a:ln/>
        </p:spPr>
        <p:txBody>
          <a:bodyPr wrap="square" lIns="0" tIns="0" rIns="0" bIns="0" rtlCol="0" anchor="ctr"/>
          <a:lstStyle/>
          <a:p>
            <a:pPr marL="0" indent="0">
              <a:buNone/>
            </a:pPr>
            <a:r>
              <a:rPr lang="en-US" sz="1650" dirty="0">
                <a:solidFill>
                  <a:srgbClr val="CFE0E9"/>
                </a:solidFill>
                <a:latin typeface="Calibri" pitchFamily="34" charset="0"/>
                <a:ea typeface="Calibri" pitchFamily="34" charset="-122"/>
                <a:cs typeface="Calibri" pitchFamily="34" charset="-120"/>
              </a:rPr>
              <a:t>Not what it's called — what job it does for the reader. Two or three answers, out loud.</a:t>
            </a:r>
            <a:endParaRPr lang="en-US" sz="1650" dirty="0"/>
          </a:p>
        </p:txBody>
      </p:sp>
      <p:sp>
        <p:nvSpPr>
          <p:cNvPr id="10" name="Text 7"/>
          <p:cNvSpPr/>
          <p:nvPr/>
        </p:nvSpPr>
        <p:spPr>
          <a:xfrm>
            <a:off x="822960" y="5349240"/>
            <a:ext cx="10881360" cy="365760"/>
          </a:xfrm>
          <a:prstGeom prst="rect">
            <a:avLst/>
          </a:prstGeom>
          <a:noFill/>
          <a:ln/>
        </p:spPr>
        <p:txBody>
          <a:bodyPr wrap="square" lIns="0" tIns="0" rIns="0" bIns="0" rtlCol="0" anchor="ctr"/>
          <a:lstStyle/>
          <a:p>
            <a:pPr marL="0" indent="0">
              <a:buNone/>
            </a:pPr>
            <a:r>
              <a:rPr lang="en-US" sz="1500" i="1" dirty="0">
                <a:solidFill>
                  <a:srgbClr val="9FB4C7"/>
                </a:solidFill>
                <a:latin typeface="Calibri" pitchFamily="34" charset="0"/>
                <a:ea typeface="Calibri" pitchFamily="34" charset="-122"/>
                <a:cs typeface="Calibri" pitchFamily="34" charset="-120"/>
              </a:rPr>
              <a:t>Today's plan assumes you've read Design Docs at Google.</a:t>
            </a:r>
            <a:endParaRPr lang="en-US" sz="1500" dirty="0"/>
          </a:p>
        </p:txBody>
      </p:sp>
      <p:sp>
        <p:nvSpPr>
          <p:cNvPr id="11" name="Text 8"/>
          <p:cNvSpPr/>
          <p:nvPr/>
        </p:nvSpPr>
        <p:spPr>
          <a:xfrm>
            <a:off x="6675120" y="6437376"/>
            <a:ext cx="4937760" cy="274320"/>
          </a:xfrm>
          <a:prstGeom prst="rect">
            <a:avLst/>
          </a:prstGeom>
          <a:noFill/>
          <a:ln/>
        </p:spPr>
        <p:txBody>
          <a:bodyPr wrap="square" lIns="0" tIns="0" rIns="0" bIns="0" rtlCol="0" anchor="ctr"/>
          <a:lstStyle/>
          <a:p>
            <a:pPr marL="0" indent="0" algn="r">
              <a:buNone/>
            </a:pPr>
            <a:r>
              <a:rPr lang="en-US" sz="1000" dirty="0">
                <a:solidFill>
                  <a:srgbClr val="7E92A8"/>
                </a:solidFill>
                <a:latin typeface="Calibri" pitchFamily="34" charset="0"/>
                <a:ea typeface="Calibri" pitchFamily="34" charset="-122"/>
                <a:cs typeface="Calibri" pitchFamily="34" charset="-120"/>
              </a:rPr>
              <a:t>CS 301R · Session 11 · Design Documents</a:t>
            </a:r>
            <a:endParaRPr lang="en-US" sz="1000" dirty="0"/>
          </a:p>
        </p:txBody>
      </p:sp>
      <p:sp>
        <p:nvSpPr>
          <p:cNvPr id="12" name="Text 9"/>
          <p:cNvSpPr/>
          <p:nvPr/>
        </p:nvSpPr>
        <p:spPr>
          <a:xfrm>
            <a:off x="548640" y="6437376"/>
            <a:ext cx="548640" cy="274320"/>
          </a:xfrm>
          <a:prstGeom prst="rect">
            <a:avLst/>
          </a:prstGeom>
          <a:noFill/>
          <a:ln/>
        </p:spPr>
        <p:txBody>
          <a:bodyPr wrap="square" lIns="0" tIns="0" rIns="0" bIns="0" rtlCol="0" anchor="ctr"/>
          <a:lstStyle/>
          <a:p>
            <a:pPr marL="0" indent="0">
              <a:buNone/>
            </a:pPr>
            <a:r>
              <a:rPr lang="en-US" sz="1000" dirty="0">
                <a:solidFill>
                  <a:srgbClr val="7E92A8"/>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txBody>
          <a:bodyPr/>
          <a:lstStyle/>
          <a:p>
            <a:endParaRPr lang="en-US"/>
          </a:p>
        </p:txBody>
      </p:sp>
      <p:sp>
        <p:nvSpPr>
          <p:cNvPr id="3" name="Text 1"/>
          <p:cNvSpPr/>
          <p:nvPr/>
        </p:nvSpPr>
        <p:spPr>
          <a:xfrm>
            <a:off x="795528" y="402336"/>
            <a:ext cx="10515600" cy="310896"/>
          </a:xfrm>
          <a:prstGeom prst="rect">
            <a:avLst/>
          </a:prstGeom>
          <a:noFill/>
          <a:ln/>
        </p:spPr>
        <p:txBody>
          <a:bodyPr wrap="square" lIns="0" tIns="0" rIns="0" bIns="0" rtlCol="0" anchor="ctr"/>
          <a:lstStyle/>
          <a:p>
            <a:pPr marL="0" indent="0">
              <a:buNone/>
            </a:pPr>
            <a:r>
              <a:rPr lang="en-US" sz="1400" b="1" kern="0" spc="200" dirty="0">
                <a:solidFill>
                  <a:srgbClr val="12908F"/>
                </a:solidFill>
                <a:latin typeface="Calibri" pitchFamily="34" charset="0"/>
                <a:ea typeface="Calibri" pitchFamily="34" charset="-122"/>
                <a:cs typeface="Calibri" pitchFamily="34" charset="-120"/>
              </a:rPr>
              <a:t>WHERE WE ARE</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marL="0" indent="0">
              <a:buNone/>
            </a:pPr>
            <a:r>
              <a:rPr lang="en-US" sz="3100" b="1" dirty="0">
                <a:solidFill>
                  <a:srgbClr val="1E2A36"/>
                </a:solidFill>
                <a:latin typeface="Cambria" pitchFamily="34" charset="0"/>
                <a:ea typeface="Cambria" pitchFamily="34" charset="-122"/>
                <a:cs typeface="Cambria" pitchFamily="34" charset="-120"/>
              </a:rPr>
              <a:t>The proposal argued what. The design doc decides how.</a:t>
            </a:r>
            <a:endParaRPr lang="en-US" sz="3100" dirty="0"/>
          </a:p>
        </p:txBody>
      </p:sp>
      <p:sp>
        <p:nvSpPr>
          <p:cNvPr id="5" name="Shape 3"/>
          <p:cNvSpPr/>
          <p:nvPr/>
        </p:nvSpPr>
        <p:spPr>
          <a:xfrm>
            <a:off x="548640" y="1874520"/>
            <a:ext cx="5440680" cy="3017520"/>
          </a:xfrm>
          <a:prstGeom prst="roundRect">
            <a:avLst>
              <a:gd name="adj" fmla="val 2727"/>
            </a:avLst>
          </a:prstGeom>
          <a:solidFill>
            <a:srgbClr val="F2F6F8"/>
          </a:solidFill>
          <a:ln/>
          <a:effectLst>
            <a:outerShdw blurRad="88900" dist="38100" dir="5400000" algn="bl" rotWithShape="0">
              <a:srgbClr val="000000">
                <a:alpha val="13000"/>
              </a:srgbClr>
            </a:outerShdw>
          </a:effectLst>
        </p:spPr>
        <p:txBody>
          <a:bodyPr/>
          <a:lstStyle/>
          <a:p>
            <a:endParaRPr lang="en-US"/>
          </a:p>
        </p:txBody>
      </p:sp>
      <p:sp>
        <p:nvSpPr>
          <p:cNvPr id="6" name="Shape 4"/>
          <p:cNvSpPr/>
          <p:nvPr/>
        </p:nvSpPr>
        <p:spPr>
          <a:xfrm>
            <a:off x="822960" y="2148840"/>
            <a:ext cx="603504" cy="603504"/>
          </a:xfrm>
          <a:prstGeom prst="ellipse">
            <a:avLst/>
          </a:prstGeom>
          <a:solidFill>
            <a:srgbClr val="12908F"/>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985906" y="2311786"/>
            <a:ext cx="277612" cy="277612"/>
          </a:xfrm>
          <a:prstGeom prst="rect">
            <a:avLst/>
          </a:prstGeom>
        </p:spPr>
      </p:pic>
      <p:sp>
        <p:nvSpPr>
          <p:cNvPr id="8" name="Text 5"/>
          <p:cNvSpPr/>
          <p:nvPr/>
        </p:nvSpPr>
        <p:spPr>
          <a:xfrm>
            <a:off x="1572768" y="2212848"/>
            <a:ext cx="4206240" cy="457200"/>
          </a:xfrm>
          <a:prstGeom prst="rect">
            <a:avLst/>
          </a:prstGeom>
          <a:noFill/>
          <a:ln/>
        </p:spPr>
        <p:txBody>
          <a:bodyPr wrap="square" lIns="0" tIns="0" rIns="0" bIns="0" rtlCol="0" anchor="ctr"/>
          <a:lstStyle/>
          <a:p>
            <a:pPr marL="0" indent="0">
              <a:buNone/>
            </a:pPr>
            <a:r>
              <a:rPr lang="en-US" sz="1900" b="1" dirty="0">
                <a:solidFill>
                  <a:srgbClr val="1E2A36"/>
                </a:solidFill>
                <a:latin typeface="Calibri" pitchFamily="34" charset="0"/>
                <a:ea typeface="Calibri" pitchFamily="34" charset="-122"/>
                <a:cs typeface="Calibri" pitchFamily="34" charset="-120"/>
              </a:rPr>
              <a:t>The proposal</a:t>
            </a:r>
            <a:endParaRPr lang="en-US" sz="1900" dirty="0"/>
          </a:p>
        </p:txBody>
      </p:sp>
      <p:sp>
        <p:nvSpPr>
          <p:cNvPr id="9" name="Text 6"/>
          <p:cNvSpPr/>
          <p:nvPr/>
        </p:nvSpPr>
        <p:spPr>
          <a:xfrm>
            <a:off x="896112" y="2971800"/>
            <a:ext cx="4892040" cy="1737360"/>
          </a:xfrm>
          <a:prstGeom prst="rect">
            <a:avLst/>
          </a:prstGeom>
          <a:noFill/>
          <a:ln/>
        </p:spPr>
        <p:txBody>
          <a:bodyPr wrap="square" lIns="0" tIns="0" rIns="0" bIns="0" rtlCol="0" anchor="t"/>
          <a:lstStyle/>
          <a:p>
            <a:pPr marL="0" indent="0">
              <a:lnSpc>
                <a:spcPct val="106000"/>
              </a:lnSpc>
              <a:buNone/>
            </a:pPr>
            <a:r>
              <a:rPr lang="en-US" sz="1600" dirty="0">
                <a:solidFill>
                  <a:srgbClr val="1E2A36"/>
                </a:solidFill>
                <a:latin typeface="Calibri" pitchFamily="34" charset="0"/>
                <a:ea typeface="Calibri" pitchFamily="34" charset="-122"/>
                <a:cs typeface="Calibri" pitchFamily="34" charset="-120"/>
              </a:rPr>
              <a:t>Audience: a skeptical stranger. Its job was to convince someone the problem is real and the scope is honest.</a:t>
            </a:r>
            <a:endParaRPr lang="en-US" sz="1600" dirty="0"/>
          </a:p>
        </p:txBody>
      </p:sp>
      <p:sp>
        <p:nvSpPr>
          <p:cNvPr id="10" name="Shape 7"/>
          <p:cNvSpPr/>
          <p:nvPr/>
        </p:nvSpPr>
        <p:spPr>
          <a:xfrm>
            <a:off x="6172200" y="1874520"/>
            <a:ext cx="5440680" cy="3017520"/>
          </a:xfrm>
          <a:prstGeom prst="roundRect">
            <a:avLst>
              <a:gd name="adj" fmla="val 2727"/>
            </a:avLst>
          </a:prstGeom>
          <a:solidFill>
            <a:srgbClr val="14233A"/>
          </a:solidFill>
          <a:ln/>
          <a:effectLst>
            <a:outerShdw blurRad="88900" dist="38100" dir="5400000" algn="bl" rotWithShape="0">
              <a:srgbClr val="000000">
                <a:alpha val="13000"/>
              </a:srgbClr>
            </a:outerShdw>
          </a:effectLst>
        </p:spPr>
        <p:txBody>
          <a:bodyPr/>
          <a:lstStyle/>
          <a:p>
            <a:endParaRPr lang="en-US"/>
          </a:p>
        </p:txBody>
      </p:sp>
      <p:sp>
        <p:nvSpPr>
          <p:cNvPr id="11" name="Shape 8"/>
          <p:cNvSpPr/>
          <p:nvPr/>
        </p:nvSpPr>
        <p:spPr>
          <a:xfrm>
            <a:off x="6446520" y="2148840"/>
            <a:ext cx="603504" cy="603504"/>
          </a:xfrm>
          <a:prstGeom prst="ellipse">
            <a:avLst/>
          </a:prstGeom>
          <a:solidFill>
            <a:srgbClr val="E8A33D"/>
          </a:solidFill>
          <a:ln/>
        </p:spPr>
        <p:txBody>
          <a:bodyPr/>
          <a:lstStyle/>
          <a:p>
            <a:endParaRPr lang="en-US"/>
          </a:p>
        </p:txBody>
      </p:sp>
      <p:pic>
        <p:nvPicPr>
          <p:cNvPr id="12" name="Image 1" descr="preencoded.png"/>
          <p:cNvPicPr>
            <a:picLocks noChangeAspect="1"/>
          </p:cNvPicPr>
          <p:nvPr/>
        </p:nvPicPr>
        <p:blipFill>
          <a:blip r:embed="rId4"/>
          <a:stretch>
            <a:fillRect/>
          </a:stretch>
        </p:blipFill>
        <p:spPr>
          <a:xfrm>
            <a:off x="6609466" y="2311786"/>
            <a:ext cx="277612" cy="277612"/>
          </a:xfrm>
          <a:prstGeom prst="rect">
            <a:avLst/>
          </a:prstGeom>
        </p:spPr>
      </p:pic>
      <p:sp>
        <p:nvSpPr>
          <p:cNvPr id="13" name="Text 9"/>
          <p:cNvSpPr/>
          <p:nvPr/>
        </p:nvSpPr>
        <p:spPr>
          <a:xfrm>
            <a:off x="7196328" y="2212848"/>
            <a:ext cx="4297680" cy="45720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The design doc</a:t>
            </a:r>
            <a:endParaRPr lang="en-US" sz="1900" dirty="0"/>
          </a:p>
        </p:txBody>
      </p:sp>
      <p:sp>
        <p:nvSpPr>
          <p:cNvPr id="14" name="Text 10"/>
          <p:cNvSpPr/>
          <p:nvPr/>
        </p:nvSpPr>
        <p:spPr>
          <a:xfrm>
            <a:off x="6492240" y="2971800"/>
            <a:ext cx="4892040" cy="1737360"/>
          </a:xfrm>
          <a:prstGeom prst="rect">
            <a:avLst/>
          </a:prstGeom>
          <a:noFill/>
          <a:ln/>
        </p:spPr>
        <p:txBody>
          <a:bodyPr wrap="square" lIns="0" tIns="0" rIns="0" bIns="0" rtlCol="0" anchor="t"/>
          <a:lstStyle/>
          <a:p>
            <a:pPr marL="0" indent="0">
              <a:lnSpc>
                <a:spcPct val="106000"/>
              </a:lnSpc>
              <a:buNone/>
            </a:pPr>
            <a:r>
              <a:rPr lang="en-US" sz="1600" dirty="0">
                <a:solidFill>
                  <a:srgbClr val="CFE0E9"/>
                </a:solidFill>
                <a:latin typeface="Calibri" pitchFamily="34" charset="0"/>
                <a:ea typeface="Calibri" pitchFamily="34" charset="-122"/>
                <a:cs typeface="Calibri" pitchFamily="34" charset="-120"/>
              </a:rPr>
              <a:t>Audience: a builder — your teammates, and the contributor who joins in January and asks "where's the design doc?"</a:t>
            </a:r>
            <a:endParaRPr lang="en-US" sz="1600" dirty="0"/>
          </a:p>
        </p:txBody>
      </p:sp>
      <p:sp>
        <p:nvSpPr>
          <p:cNvPr id="15" name="Shape 11"/>
          <p:cNvSpPr/>
          <p:nvPr/>
        </p:nvSpPr>
        <p:spPr>
          <a:xfrm>
            <a:off x="548640" y="5166360"/>
            <a:ext cx="11064240" cy="1005840"/>
          </a:xfrm>
          <a:prstGeom prst="roundRect">
            <a:avLst>
              <a:gd name="adj" fmla="val 8182"/>
            </a:avLst>
          </a:prstGeom>
          <a:solidFill>
            <a:srgbClr val="E8A33D"/>
          </a:solidFill>
          <a:ln/>
          <a:effectLst>
            <a:outerShdw blurRad="88900" dist="38100" dir="5400000" algn="bl" rotWithShape="0">
              <a:srgbClr val="000000">
                <a:alpha val="13000"/>
              </a:srgbClr>
            </a:outerShdw>
          </a:effectLst>
        </p:spPr>
        <p:txBody>
          <a:bodyPr/>
          <a:lstStyle/>
          <a:p>
            <a:endParaRPr lang="en-US"/>
          </a:p>
        </p:txBody>
      </p:sp>
      <p:sp>
        <p:nvSpPr>
          <p:cNvPr id="16" name="Shape 12"/>
          <p:cNvSpPr/>
          <p:nvPr/>
        </p:nvSpPr>
        <p:spPr>
          <a:xfrm>
            <a:off x="841248" y="5394960"/>
            <a:ext cx="548640" cy="548640"/>
          </a:xfrm>
          <a:prstGeom prst="ellipse">
            <a:avLst/>
          </a:prstGeom>
          <a:solidFill>
            <a:srgbClr val="14233A"/>
          </a:solidFill>
          <a:ln/>
        </p:spPr>
        <p:txBody>
          <a:bodyPr/>
          <a:lstStyle/>
          <a:p>
            <a:endParaRPr lang="en-US"/>
          </a:p>
        </p:txBody>
      </p:sp>
      <p:pic>
        <p:nvPicPr>
          <p:cNvPr id="17" name="Image 2" descr="preencoded.png"/>
          <p:cNvPicPr>
            <a:picLocks noChangeAspect="1"/>
          </p:cNvPicPr>
          <p:nvPr/>
        </p:nvPicPr>
        <p:blipFill>
          <a:blip r:embed="rId5"/>
          <a:stretch>
            <a:fillRect/>
          </a:stretch>
        </p:blipFill>
        <p:spPr>
          <a:xfrm>
            <a:off x="989381" y="5543093"/>
            <a:ext cx="252374" cy="252374"/>
          </a:xfrm>
          <a:prstGeom prst="rect">
            <a:avLst/>
          </a:prstGeom>
        </p:spPr>
      </p:pic>
      <p:sp>
        <p:nvSpPr>
          <p:cNvPr id="18" name="Text 13"/>
          <p:cNvSpPr/>
          <p:nvPr/>
        </p:nvSpPr>
        <p:spPr>
          <a:xfrm>
            <a:off x="1691640" y="5166360"/>
            <a:ext cx="9692640" cy="1005840"/>
          </a:xfrm>
          <a:prstGeom prst="rect">
            <a:avLst/>
          </a:prstGeom>
          <a:noFill/>
          <a:ln/>
        </p:spPr>
        <p:txBody>
          <a:bodyPr wrap="square" lIns="0" tIns="0" rIns="0" bIns="0" rtlCol="0" anchor="ctr"/>
          <a:lstStyle/>
          <a:p>
            <a:pPr marL="0" indent="0">
              <a:lnSpc>
                <a:spcPct val="104000"/>
              </a:lnSpc>
              <a:buNone/>
            </a:pPr>
            <a:r>
              <a:rPr lang="en-US" sz="1650" b="1" dirty="0">
                <a:solidFill>
                  <a:srgbClr val="14233A"/>
                </a:solidFill>
                <a:latin typeface="Calibri" pitchFamily="34" charset="0"/>
                <a:ea typeface="Calibri" pitchFamily="34" charset="-122"/>
                <a:cs typeface="Calibri" pitchFamily="34" charset="-120"/>
              </a:rPr>
              <a:t>A design doc is where you make the expensive decisions while they are still cheap to change. In code, that same decision costs a rewrite.</a:t>
            </a:r>
            <a:endParaRPr lang="en-US" sz="1650" dirty="0"/>
          </a:p>
        </p:txBody>
      </p:sp>
      <p:sp>
        <p:nvSpPr>
          <p:cNvPr id="19" name="Text 14"/>
          <p:cNvSpPr/>
          <p:nvPr/>
        </p:nvSpPr>
        <p:spPr>
          <a:xfrm>
            <a:off x="6675120" y="6437376"/>
            <a:ext cx="4937760" cy="274320"/>
          </a:xfrm>
          <a:prstGeom prst="rect">
            <a:avLst/>
          </a:prstGeom>
          <a:noFill/>
          <a:ln/>
        </p:spPr>
        <p:txBody>
          <a:bodyPr wrap="square" lIns="0" tIns="0" rIns="0" bIns="0" rtlCol="0" anchor="ctr"/>
          <a:lstStyle/>
          <a:p>
            <a:pPr marL="0" indent="0" algn="r">
              <a:buNone/>
            </a:pPr>
            <a:r>
              <a:rPr lang="en-US" sz="1000" dirty="0">
                <a:solidFill>
                  <a:srgbClr val="5F7284"/>
                </a:solidFill>
                <a:latin typeface="Calibri" pitchFamily="34" charset="0"/>
                <a:ea typeface="Calibri" pitchFamily="34" charset="-122"/>
                <a:cs typeface="Calibri" pitchFamily="34" charset="-120"/>
              </a:rPr>
              <a:t>CS 301R · Session 11 · Design Documents</a:t>
            </a:r>
            <a:endParaRPr lang="en-US" sz="1000" dirty="0"/>
          </a:p>
        </p:txBody>
      </p:sp>
      <p:sp>
        <p:nvSpPr>
          <p:cNvPr id="20" name="Text 15"/>
          <p:cNvSpPr/>
          <p:nvPr/>
        </p:nvSpPr>
        <p:spPr>
          <a:xfrm>
            <a:off x="548640" y="6437376"/>
            <a:ext cx="548640" cy="274320"/>
          </a:xfrm>
          <a:prstGeom prst="rect">
            <a:avLst/>
          </a:prstGeom>
          <a:noFill/>
          <a:ln/>
        </p:spPr>
        <p:txBody>
          <a:bodyPr wrap="square" lIns="0" tIns="0" rIns="0" bIns="0" rtlCol="0" anchor="ctr"/>
          <a:lstStyle/>
          <a:p>
            <a:pPr marL="0" indent="0">
              <a:buNone/>
            </a:pPr>
            <a:r>
              <a:rPr lang="en-US" sz="1000" dirty="0">
                <a:solidFill>
                  <a:srgbClr val="5F7284"/>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txBody>
          <a:bodyPr/>
          <a:lstStyle/>
          <a:p>
            <a:endParaRPr lang="en-US"/>
          </a:p>
        </p:txBody>
      </p:sp>
      <p:sp>
        <p:nvSpPr>
          <p:cNvPr id="3" name="Text 1"/>
          <p:cNvSpPr/>
          <p:nvPr/>
        </p:nvSpPr>
        <p:spPr>
          <a:xfrm>
            <a:off x="795528" y="402336"/>
            <a:ext cx="10515600" cy="310896"/>
          </a:xfrm>
          <a:prstGeom prst="rect">
            <a:avLst/>
          </a:prstGeom>
          <a:noFill/>
          <a:ln/>
        </p:spPr>
        <p:txBody>
          <a:bodyPr wrap="square" lIns="0" tIns="0" rIns="0" bIns="0" rtlCol="0" anchor="ctr"/>
          <a:lstStyle/>
          <a:p>
            <a:pPr marL="0" indent="0">
              <a:buNone/>
            </a:pPr>
            <a:r>
              <a:rPr lang="en-US" sz="1400" b="1" kern="0" spc="200" dirty="0">
                <a:solidFill>
                  <a:srgbClr val="12908F"/>
                </a:solidFill>
                <a:latin typeface="Calibri" pitchFamily="34" charset="0"/>
                <a:ea typeface="Calibri" pitchFamily="34" charset="-122"/>
                <a:cs typeface="Calibri" pitchFamily="34" charset="-120"/>
              </a:rPr>
              <a:t>THE ANATOMY — RECALL, NOT LECTURE</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marL="0" indent="0">
              <a:buNone/>
            </a:pPr>
            <a:r>
              <a:rPr lang="en-US" sz="3100" b="1" dirty="0">
                <a:solidFill>
                  <a:srgbClr val="1E2A36"/>
                </a:solidFill>
                <a:latin typeface="Cambria" pitchFamily="34" charset="0"/>
                <a:ea typeface="Cambria" pitchFamily="34" charset="-122"/>
                <a:cs typeface="Cambria" pitchFamily="34" charset="-120"/>
              </a:rPr>
              <a:t>Five sections, and the job each one does</a:t>
            </a:r>
            <a:endParaRPr lang="en-US" sz="3100" dirty="0"/>
          </a:p>
        </p:txBody>
      </p:sp>
      <p:sp>
        <p:nvSpPr>
          <p:cNvPr id="5" name="Shape 3"/>
          <p:cNvSpPr/>
          <p:nvPr/>
        </p:nvSpPr>
        <p:spPr>
          <a:xfrm>
            <a:off x="548640" y="1783080"/>
            <a:ext cx="11064240" cy="749808"/>
          </a:xfrm>
          <a:prstGeom prst="roundRect">
            <a:avLst>
              <a:gd name="adj" fmla="val 10976"/>
            </a:avLst>
          </a:prstGeom>
          <a:solidFill>
            <a:srgbClr val="F2F6F8"/>
          </a:solidFill>
          <a:ln/>
          <a:effectLst>
            <a:outerShdw blurRad="88900" dist="38100" dir="5400000" algn="bl" rotWithShape="0">
              <a:srgbClr val="000000">
                <a:alpha val="13000"/>
              </a:srgbClr>
            </a:outerShdw>
          </a:effectLst>
        </p:spPr>
        <p:txBody>
          <a:bodyPr/>
          <a:lstStyle/>
          <a:p>
            <a:endParaRPr lang="en-US"/>
          </a:p>
        </p:txBody>
      </p:sp>
      <p:sp>
        <p:nvSpPr>
          <p:cNvPr id="6" name="Shape 4"/>
          <p:cNvSpPr/>
          <p:nvPr/>
        </p:nvSpPr>
        <p:spPr>
          <a:xfrm>
            <a:off x="804672" y="1883664"/>
            <a:ext cx="548640" cy="548640"/>
          </a:xfrm>
          <a:prstGeom prst="ellipse">
            <a:avLst/>
          </a:prstGeom>
          <a:solidFill>
            <a:srgbClr val="12908F"/>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952805" y="2031797"/>
            <a:ext cx="252374" cy="252374"/>
          </a:xfrm>
          <a:prstGeom prst="rect">
            <a:avLst/>
          </a:prstGeom>
        </p:spPr>
      </p:pic>
      <p:sp>
        <p:nvSpPr>
          <p:cNvPr id="8" name="Text 5"/>
          <p:cNvSpPr/>
          <p:nvPr/>
        </p:nvSpPr>
        <p:spPr>
          <a:xfrm>
            <a:off x="1536192" y="1783080"/>
            <a:ext cx="3200400" cy="749808"/>
          </a:xfrm>
          <a:prstGeom prst="rect">
            <a:avLst/>
          </a:prstGeom>
          <a:noFill/>
          <a:ln/>
        </p:spPr>
        <p:txBody>
          <a:bodyPr wrap="square" lIns="0" tIns="0" rIns="0" bIns="0" rtlCol="0" anchor="ctr"/>
          <a:lstStyle/>
          <a:p>
            <a:pPr marL="0" indent="0">
              <a:buNone/>
            </a:pPr>
            <a:r>
              <a:rPr lang="en-US" sz="1800" b="1" dirty="0">
                <a:solidFill>
                  <a:srgbClr val="1E2A36"/>
                </a:solidFill>
                <a:latin typeface="Calibri" pitchFamily="34" charset="0"/>
                <a:ea typeface="Calibri" pitchFamily="34" charset="-122"/>
                <a:cs typeface="Calibri" pitchFamily="34" charset="-120"/>
              </a:rPr>
              <a:t>Context &amp; scope</a:t>
            </a:r>
            <a:endParaRPr lang="en-US" sz="1800" dirty="0"/>
          </a:p>
        </p:txBody>
      </p:sp>
      <p:sp>
        <p:nvSpPr>
          <p:cNvPr id="9" name="Text 6"/>
          <p:cNvSpPr/>
          <p:nvPr/>
        </p:nvSpPr>
        <p:spPr>
          <a:xfrm>
            <a:off x="4846320" y="1783080"/>
            <a:ext cx="6492240" cy="749808"/>
          </a:xfrm>
          <a:prstGeom prst="rect">
            <a:avLst/>
          </a:prstGeom>
          <a:noFill/>
          <a:ln/>
        </p:spPr>
        <p:txBody>
          <a:bodyPr wrap="square" lIns="0" tIns="0" rIns="0" bIns="0" rtlCol="0" anchor="ctr"/>
          <a:lstStyle/>
          <a:p>
            <a:pPr marL="0" indent="0">
              <a:buNone/>
            </a:pPr>
            <a:r>
              <a:rPr lang="en-US" sz="1550" dirty="0">
                <a:solidFill>
                  <a:srgbClr val="5F7284"/>
                </a:solidFill>
                <a:latin typeface="Calibri" pitchFamily="34" charset="0"/>
                <a:ea typeface="Calibri" pitchFamily="34" charset="-122"/>
                <a:cs typeface="Calibri" pitchFamily="34" charset="-120"/>
              </a:rPr>
              <a:t>Brings a reader up to speed in a paragraph. Not a requirements dump.</a:t>
            </a:r>
            <a:endParaRPr lang="en-US" sz="1550" dirty="0"/>
          </a:p>
        </p:txBody>
      </p:sp>
      <p:sp>
        <p:nvSpPr>
          <p:cNvPr id="10" name="Shape 7"/>
          <p:cNvSpPr/>
          <p:nvPr/>
        </p:nvSpPr>
        <p:spPr>
          <a:xfrm>
            <a:off x="548640" y="2633472"/>
            <a:ext cx="11064240" cy="749808"/>
          </a:xfrm>
          <a:prstGeom prst="roundRect">
            <a:avLst>
              <a:gd name="adj" fmla="val 10976"/>
            </a:avLst>
          </a:prstGeom>
          <a:solidFill>
            <a:srgbClr val="F2F6F8"/>
          </a:solidFill>
          <a:ln/>
          <a:effectLst>
            <a:outerShdw blurRad="88900" dist="38100" dir="5400000" algn="bl" rotWithShape="0">
              <a:srgbClr val="000000">
                <a:alpha val="13000"/>
              </a:srgbClr>
            </a:outerShdw>
          </a:effectLst>
        </p:spPr>
        <p:txBody>
          <a:bodyPr/>
          <a:lstStyle/>
          <a:p>
            <a:endParaRPr lang="en-US"/>
          </a:p>
        </p:txBody>
      </p:sp>
      <p:sp>
        <p:nvSpPr>
          <p:cNvPr id="11" name="Shape 8"/>
          <p:cNvSpPr/>
          <p:nvPr/>
        </p:nvSpPr>
        <p:spPr>
          <a:xfrm>
            <a:off x="804672" y="2734056"/>
            <a:ext cx="548640" cy="548640"/>
          </a:xfrm>
          <a:prstGeom prst="ellipse">
            <a:avLst/>
          </a:prstGeom>
          <a:solidFill>
            <a:srgbClr val="12908F"/>
          </a:solidFill>
          <a:ln/>
        </p:spPr>
        <p:txBody>
          <a:bodyPr/>
          <a:lstStyle/>
          <a:p>
            <a:endParaRPr lang="en-US"/>
          </a:p>
        </p:txBody>
      </p:sp>
      <p:pic>
        <p:nvPicPr>
          <p:cNvPr id="12" name="Image 1" descr="preencoded.png"/>
          <p:cNvPicPr>
            <a:picLocks noChangeAspect="1"/>
          </p:cNvPicPr>
          <p:nvPr/>
        </p:nvPicPr>
        <p:blipFill>
          <a:blip r:embed="rId4"/>
          <a:stretch>
            <a:fillRect/>
          </a:stretch>
        </p:blipFill>
        <p:spPr>
          <a:xfrm>
            <a:off x="952805" y="2882189"/>
            <a:ext cx="252374" cy="252374"/>
          </a:xfrm>
          <a:prstGeom prst="rect">
            <a:avLst/>
          </a:prstGeom>
        </p:spPr>
      </p:pic>
      <p:sp>
        <p:nvSpPr>
          <p:cNvPr id="13" name="Text 9"/>
          <p:cNvSpPr/>
          <p:nvPr/>
        </p:nvSpPr>
        <p:spPr>
          <a:xfrm>
            <a:off x="1536192" y="2633472"/>
            <a:ext cx="3200400" cy="749808"/>
          </a:xfrm>
          <a:prstGeom prst="rect">
            <a:avLst/>
          </a:prstGeom>
          <a:noFill/>
          <a:ln/>
        </p:spPr>
        <p:txBody>
          <a:bodyPr wrap="square" lIns="0" tIns="0" rIns="0" bIns="0" rtlCol="0" anchor="ctr"/>
          <a:lstStyle/>
          <a:p>
            <a:pPr marL="0" indent="0">
              <a:buNone/>
            </a:pPr>
            <a:r>
              <a:rPr lang="en-US" sz="1800" b="1" dirty="0">
                <a:solidFill>
                  <a:srgbClr val="1E2A36"/>
                </a:solidFill>
                <a:latin typeface="Calibri" pitchFamily="34" charset="0"/>
                <a:ea typeface="Calibri" pitchFamily="34" charset="-122"/>
                <a:cs typeface="Calibri" pitchFamily="34" charset="-120"/>
              </a:rPr>
              <a:t>Goals &amp; non-goals</a:t>
            </a:r>
            <a:endParaRPr lang="en-US" sz="1800" dirty="0"/>
          </a:p>
        </p:txBody>
      </p:sp>
      <p:sp>
        <p:nvSpPr>
          <p:cNvPr id="14" name="Text 10"/>
          <p:cNvSpPr/>
          <p:nvPr/>
        </p:nvSpPr>
        <p:spPr>
          <a:xfrm>
            <a:off x="4846320" y="2633472"/>
            <a:ext cx="6492240" cy="749808"/>
          </a:xfrm>
          <a:prstGeom prst="rect">
            <a:avLst/>
          </a:prstGeom>
          <a:noFill/>
          <a:ln/>
        </p:spPr>
        <p:txBody>
          <a:bodyPr wrap="square" lIns="0" tIns="0" rIns="0" bIns="0" rtlCol="0" anchor="ctr"/>
          <a:lstStyle/>
          <a:p>
            <a:pPr marL="0" indent="0">
              <a:buNone/>
            </a:pPr>
            <a:r>
              <a:rPr lang="en-US" sz="1550" dirty="0">
                <a:solidFill>
                  <a:srgbClr val="5F7284"/>
                </a:solidFill>
                <a:latin typeface="Calibri" pitchFamily="34" charset="0"/>
                <a:ea typeface="Calibri" pitchFamily="34" charset="-122"/>
                <a:cs typeface="Calibri" pitchFamily="34" charset="-120"/>
              </a:rPr>
              <a:t>Non-goals return from the proposal — here they bound the design.</a:t>
            </a:r>
            <a:endParaRPr lang="en-US" sz="1550" dirty="0"/>
          </a:p>
        </p:txBody>
      </p:sp>
      <p:sp>
        <p:nvSpPr>
          <p:cNvPr id="15" name="Shape 11"/>
          <p:cNvSpPr/>
          <p:nvPr/>
        </p:nvSpPr>
        <p:spPr>
          <a:xfrm>
            <a:off x="548640" y="3483864"/>
            <a:ext cx="11064240" cy="749808"/>
          </a:xfrm>
          <a:prstGeom prst="roundRect">
            <a:avLst>
              <a:gd name="adj" fmla="val 10976"/>
            </a:avLst>
          </a:prstGeom>
          <a:solidFill>
            <a:srgbClr val="F2F6F8"/>
          </a:solidFill>
          <a:ln/>
          <a:effectLst>
            <a:outerShdw blurRad="88900" dist="38100" dir="5400000" algn="bl" rotWithShape="0">
              <a:srgbClr val="000000">
                <a:alpha val="13000"/>
              </a:srgbClr>
            </a:outerShdw>
          </a:effectLst>
        </p:spPr>
        <p:txBody>
          <a:bodyPr/>
          <a:lstStyle/>
          <a:p>
            <a:endParaRPr lang="en-US"/>
          </a:p>
        </p:txBody>
      </p:sp>
      <p:sp>
        <p:nvSpPr>
          <p:cNvPr id="16" name="Shape 12"/>
          <p:cNvSpPr/>
          <p:nvPr/>
        </p:nvSpPr>
        <p:spPr>
          <a:xfrm>
            <a:off x="804672" y="3584448"/>
            <a:ext cx="548640" cy="548640"/>
          </a:xfrm>
          <a:prstGeom prst="ellipse">
            <a:avLst/>
          </a:prstGeom>
          <a:solidFill>
            <a:srgbClr val="12908F"/>
          </a:solidFill>
          <a:ln/>
        </p:spPr>
        <p:txBody>
          <a:bodyPr/>
          <a:lstStyle/>
          <a:p>
            <a:endParaRPr lang="en-US"/>
          </a:p>
        </p:txBody>
      </p:sp>
      <p:pic>
        <p:nvPicPr>
          <p:cNvPr id="17" name="Image 2" descr="preencoded.png"/>
          <p:cNvPicPr>
            <a:picLocks noChangeAspect="1"/>
          </p:cNvPicPr>
          <p:nvPr/>
        </p:nvPicPr>
        <p:blipFill>
          <a:blip r:embed="rId5"/>
          <a:stretch>
            <a:fillRect/>
          </a:stretch>
        </p:blipFill>
        <p:spPr>
          <a:xfrm>
            <a:off x="952805" y="3732581"/>
            <a:ext cx="252374" cy="252374"/>
          </a:xfrm>
          <a:prstGeom prst="rect">
            <a:avLst/>
          </a:prstGeom>
        </p:spPr>
      </p:pic>
      <p:sp>
        <p:nvSpPr>
          <p:cNvPr id="18" name="Text 13"/>
          <p:cNvSpPr/>
          <p:nvPr/>
        </p:nvSpPr>
        <p:spPr>
          <a:xfrm>
            <a:off x="1536192" y="3483864"/>
            <a:ext cx="3200400" cy="749808"/>
          </a:xfrm>
          <a:prstGeom prst="rect">
            <a:avLst/>
          </a:prstGeom>
          <a:noFill/>
          <a:ln/>
        </p:spPr>
        <p:txBody>
          <a:bodyPr wrap="square" lIns="0" tIns="0" rIns="0" bIns="0" rtlCol="0" anchor="ctr"/>
          <a:lstStyle/>
          <a:p>
            <a:pPr marL="0" indent="0">
              <a:buNone/>
            </a:pPr>
            <a:r>
              <a:rPr lang="en-US" sz="1800" b="1" dirty="0">
                <a:solidFill>
                  <a:srgbClr val="1E2A36"/>
                </a:solidFill>
                <a:latin typeface="Calibri" pitchFamily="34" charset="0"/>
                <a:ea typeface="Calibri" pitchFamily="34" charset="-122"/>
                <a:cs typeface="Calibri" pitchFamily="34" charset="-120"/>
              </a:rPr>
              <a:t>The design</a:t>
            </a:r>
            <a:endParaRPr lang="en-US" sz="1800" dirty="0"/>
          </a:p>
        </p:txBody>
      </p:sp>
      <p:sp>
        <p:nvSpPr>
          <p:cNvPr id="19" name="Text 14"/>
          <p:cNvSpPr/>
          <p:nvPr/>
        </p:nvSpPr>
        <p:spPr>
          <a:xfrm>
            <a:off x="4846320" y="3483864"/>
            <a:ext cx="6492240" cy="749808"/>
          </a:xfrm>
          <a:prstGeom prst="rect">
            <a:avLst/>
          </a:prstGeom>
          <a:noFill/>
          <a:ln/>
        </p:spPr>
        <p:txBody>
          <a:bodyPr wrap="square" lIns="0" tIns="0" rIns="0" bIns="0" rtlCol="0" anchor="ctr"/>
          <a:lstStyle/>
          <a:p>
            <a:pPr marL="0" indent="0">
              <a:buNone/>
            </a:pPr>
            <a:r>
              <a:rPr lang="en-US" sz="1550" dirty="0">
                <a:solidFill>
                  <a:srgbClr val="5F7284"/>
                </a:solidFill>
                <a:latin typeface="Calibri" pitchFamily="34" charset="0"/>
                <a:ea typeface="Calibri" pitchFamily="34" charset="-122"/>
                <a:cs typeface="Calibri" pitchFamily="34" charset="-120"/>
              </a:rPr>
              <a:t>Context diagram, components, data, interfaces — whatever the trade-offs touch.</a:t>
            </a:r>
            <a:endParaRPr lang="en-US" sz="1550" dirty="0"/>
          </a:p>
        </p:txBody>
      </p:sp>
      <p:sp>
        <p:nvSpPr>
          <p:cNvPr id="20" name="Shape 15"/>
          <p:cNvSpPr/>
          <p:nvPr/>
        </p:nvSpPr>
        <p:spPr>
          <a:xfrm>
            <a:off x="548640" y="4334256"/>
            <a:ext cx="11064240" cy="749808"/>
          </a:xfrm>
          <a:prstGeom prst="roundRect">
            <a:avLst>
              <a:gd name="adj" fmla="val 10976"/>
            </a:avLst>
          </a:prstGeom>
          <a:solidFill>
            <a:srgbClr val="14233A"/>
          </a:solidFill>
          <a:ln/>
          <a:effectLst>
            <a:outerShdw blurRad="88900" dist="38100" dir="5400000" algn="bl" rotWithShape="0">
              <a:srgbClr val="000000">
                <a:alpha val="13000"/>
              </a:srgbClr>
            </a:outerShdw>
          </a:effectLst>
        </p:spPr>
        <p:txBody>
          <a:bodyPr/>
          <a:lstStyle/>
          <a:p>
            <a:endParaRPr lang="en-US"/>
          </a:p>
        </p:txBody>
      </p:sp>
      <p:sp>
        <p:nvSpPr>
          <p:cNvPr id="21" name="Shape 16"/>
          <p:cNvSpPr/>
          <p:nvPr/>
        </p:nvSpPr>
        <p:spPr>
          <a:xfrm>
            <a:off x="804672" y="4434840"/>
            <a:ext cx="548640" cy="548640"/>
          </a:xfrm>
          <a:prstGeom prst="ellipse">
            <a:avLst/>
          </a:prstGeom>
          <a:solidFill>
            <a:srgbClr val="E8A33D"/>
          </a:solidFill>
          <a:ln/>
        </p:spPr>
        <p:txBody>
          <a:bodyPr/>
          <a:lstStyle/>
          <a:p>
            <a:endParaRPr lang="en-US"/>
          </a:p>
        </p:txBody>
      </p:sp>
      <p:pic>
        <p:nvPicPr>
          <p:cNvPr id="22" name="Image 3" descr="preencoded.png"/>
          <p:cNvPicPr>
            <a:picLocks noChangeAspect="1"/>
          </p:cNvPicPr>
          <p:nvPr/>
        </p:nvPicPr>
        <p:blipFill>
          <a:blip r:embed="rId6"/>
          <a:stretch>
            <a:fillRect/>
          </a:stretch>
        </p:blipFill>
        <p:spPr>
          <a:xfrm>
            <a:off x="952805" y="4582973"/>
            <a:ext cx="252374" cy="252374"/>
          </a:xfrm>
          <a:prstGeom prst="rect">
            <a:avLst/>
          </a:prstGeom>
        </p:spPr>
      </p:pic>
      <p:sp>
        <p:nvSpPr>
          <p:cNvPr id="23" name="Text 17"/>
          <p:cNvSpPr/>
          <p:nvPr/>
        </p:nvSpPr>
        <p:spPr>
          <a:xfrm>
            <a:off x="1536192" y="4334256"/>
            <a:ext cx="3200400" cy="749808"/>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Alternatives considered</a:t>
            </a:r>
            <a:endParaRPr lang="en-US" sz="1800" dirty="0"/>
          </a:p>
        </p:txBody>
      </p:sp>
      <p:sp>
        <p:nvSpPr>
          <p:cNvPr id="24" name="Text 18"/>
          <p:cNvSpPr/>
          <p:nvPr/>
        </p:nvSpPr>
        <p:spPr>
          <a:xfrm>
            <a:off x="4846320" y="4334256"/>
            <a:ext cx="6492240" cy="749808"/>
          </a:xfrm>
          <a:prstGeom prst="rect">
            <a:avLst/>
          </a:prstGeom>
          <a:noFill/>
          <a:ln/>
        </p:spPr>
        <p:txBody>
          <a:bodyPr wrap="square" lIns="0" tIns="0" rIns="0" bIns="0" rtlCol="0" anchor="ctr"/>
          <a:lstStyle/>
          <a:p>
            <a:pPr marL="0" indent="0">
              <a:buNone/>
            </a:pPr>
            <a:r>
              <a:rPr lang="en-US" sz="1550" dirty="0">
                <a:solidFill>
                  <a:srgbClr val="CFE0E9"/>
                </a:solidFill>
                <a:latin typeface="Calibri" pitchFamily="34" charset="0"/>
                <a:ea typeface="Calibri" pitchFamily="34" charset="-122"/>
                <a:cs typeface="Calibri" pitchFamily="34" charset="-120"/>
              </a:rPr>
              <a:t>The most important section: why this beats what you didn't pick.</a:t>
            </a:r>
            <a:endParaRPr lang="en-US" sz="1550" dirty="0"/>
          </a:p>
        </p:txBody>
      </p:sp>
      <p:sp>
        <p:nvSpPr>
          <p:cNvPr id="25" name="Shape 19"/>
          <p:cNvSpPr/>
          <p:nvPr/>
        </p:nvSpPr>
        <p:spPr>
          <a:xfrm>
            <a:off x="548640" y="5184648"/>
            <a:ext cx="11064240" cy="749808"/>
          </a:xfrm>
          <a:prstGeom prst="roundRect">
            <a:avLst>
              <a:gd name="adj" fmla="val 10976"/>
            </a:avLst>
          </a:prstGeom>
          <a:solidFill>
            <a:srgbClr val="F2F6F8"/>
          </a:solidFill>
          <a:ln/>
          <a:effectLst>
            <a:outerShdw blurRad="88900" dist="38100" dir="5400000" algn="bl" rotWithShape="0">
              <a:srgbClr val="000000">
                <a:alpha val="13000"/>
              </a:srgbClr>
            </a:outerShdw>
          </a:effectLst>
        </p:spPr>
        <p:txBody>
          <a:bodyPr/>
          <a:lstStyle/>
          <a:p>
            <a:endParaRPr lang="en-US"/>
          </a:p>
        </p:txBody>
      </p:sp>
      <p:sp>
        <p:nvSpPr>
          <p:cNvPr id="26" name="Shape 20"/>
          <p:cNvSpPr/>
          <p:nvPr/>
        </p:nvSpPr>
        <p:spPr>
          <a:xfrm>
            <a:off x="804672" y="5285232"/>
            <a:ext cx="548640" cy="548640"/>
          </a:xfrm>
          <a:prstGeom prst="ellipse">
            <a:avLst/>
          </a:prstGeom>
          <a:solidFill>
            <a:srgbClr val="12908F"/>
          </a:solidFill>
          <a:ln/>
        </p:spPr>
        <p:txBody>
          <a:bodyPr/>
          <a:lstStyle/>
          <a:p>
            <a:endParaRPr lang="en-US"/>
          </a:p>
        </p:txBody>
      </p:sp>
      <p:pic>
        <p:nvPicPr>
          <p:cNvPr id="27" name="Image 4" descr="preencoded.png"/>
          <p:cNvPicPr>
            <a:picLocks noChangeAspect="1"/>
          </p:cNvPicPr>
          <p:nvPr/>
        </p:nvPicPr>
        <p:blipFill>
          <a:blip r:embed="rId7"/>
          <a:stretch>
            <a:fillRect/>
          </a:stretch>
        </p:blipFill>
        <p:spPr>
          <a:xfrm>
            <a:off x="952805" y="5433365"/>
            <a:ext cx="252374" cy="252374"/>
          </a:xfrm>
          <a:prstGeom prst="rect">
            <a:avLst/>
          </a:prstGeom>
        </p:spPr>
      </p:pic>
      <p:sp>
        <p:nvSpPr>
          <p:cNvPr id="28" name="Text 21"/>
          <p:cNvSpPr/>
          <p:nvPr/>
        </p:nvSpPr>
        <p:spPr>
          <a:xfrm>
            <a:off x="1536192" y="5184648"/>
            <a:ext cx="3200400" cy="749808"/>
          </a:xfrm>
          <a:prstGeom prst="rect">
            <a:avLst/>
          </a:prstGeom>
          <a:noFill/>
          <a:ln/>
        </p:spPr>
        <p:txBody>
          <a:bodyPr wrap="square" lIns="0" tIns="0" rIns="0" bIns="0" rtlCol="0" anchor="ctr"/>
          <a:lstStyle/>
          <a:p>
            <a:pPr marL="0" indent="0">
              <a:buNone/>
            </a:pPr>
            <a:r>
              <a:rPr lang="en-US" sz="1800" b="1" dirty="0">
                <a:solidFill>
                  <a:srgbClr val="1E2A36"/>
                </a:solidFill>
                <a:latin typeface="Calibri" pitchFamily="34" charset="0"/>
                <a:ea typeface="Calibri" pitchFamily="34" charset="-122"/>
                <a:cs typeface="Calibri" pitchFamily="34" charset="-120"/>
              </a:rPr>
              <a:t>Cross-cutting concerns</a:t>
            </a:r>
            <a:endParaRPr lang="en-US" sz="1800" dirty="0"/>
          </a:p>
        </p:txBody>
      </p:sp>
      <p:sp>
        <p:nvSpPr>
          <p:cNvPr id="29" name="Text 22"/>
          <p:cNvSpPr/>
          <p:nvPr/>
        </p:nvSpPr>
        <p:spPr>
          <a:xfrm>
            <a:off x="4846320" y="5184648"/>
            <a:ext cx="6492240" cy="749808"/>
          </a:xfrm>
          <a:prstGeom prst="rect">
            <a:avLst/>
          </a:prstGeom>
          <a:noFill/>
          <a:ln/>
        </p:spPr>
        <p:txBody>
          <a:bodyPr wrap="square" lIns="0" tIns="0" rIns="0" bIns="0" rtlCol="0" anchor="ctr"/>
          <a:lstStyle/>
          <a:p>
            <a:pPr marL="0" indent="0">
              <a:buNone/>
            </a:pPr>
            <a:r>
              <a:rPr lang="en-US" sz="1550" dirty="0">
                <a:solidFill>
                  <a:srgbClr val="5F7284"/>
                </a:solidFill>
                <a:latin typeface="Calibri" pitchFamily="34" charset="0"/>
                <a:ea typeface="Calibri" pitchFamily="34" charset="-122"/>
                <a:cs typeface="Calibri" pitchFamily="34" charset="-120"/>
              </a:rPr>
              <a:t>At our scale: privacy, error handling, deployment reality.</a:t>
            </a:r>
            <a:endParaRPr lang="en-US" sz="1550" dirty="0"/>
          </a:p>
        </p:txBody>
      </p:sp>
      <p:sp>
        <p:nvSpPr>
          <p:cNvPr id="30" name="Text 23"/>
          <p:cNvSpPr/>
          <p:nvPr/>
        </p:nvSpPr>
        <p:spPr>
          <a:xfrm>
            <a:off x="548640" y="5943600"/>
            <a:ext cx="11064240" cy="365760"/>
          </a:xfrm>
          <a:prstGeom prst="rect">
            <a:avLst/>
          </a:prstGeom>
          <a:noFill/>
          <a:ln/>
        </p:spPr>
        <p:txBody>
          <a:bodyPr wrap="square" lIns="0" tIns="0" rIns="0" bIns="0" rtlCol="0" anchor="ctr"/>
          <a:lstStyle/>
          <a:p>
            <a:pPr marL="0" indent="0" algn="ctr">
              <a:buNone/>
            </a:pPr>
            <a:r>
              <a:rPr lang="en-US" sz="1500" i="1" dirty="0">
                <a:solidFill>
                  <a:srgbClr val="5F7284"/>
                </a:solidFill>
                <a:latin typeface="Calibri" pitchFamily="34" charset="0"/>
                <a:ea typeface="Calibri" pitchFamily="34" charset="-122"/>
                <a:cs typeface="Calibri" pitchFamily="34" charset="-120"/>
              </a:rPr>
              <a:t>Google's run 10–20 pages. Ours are 3–6 plus diagrams — same rigor, smaller problem.</a:t>
            </a:r>
            <a:endParaRPr lang="en-US" sz="1500" dirty="0"/>
          </a:p>
        </p:txBody>
      </p:sp>
      <p:sp>
        <p:nvSpPr>
          <p:cNvPr id="31" name="Text 24"/>
          <p:cNvSpPr/>
          <p:nvPr/>
        </p:nvSpPr>
        <p:spPr>
          <a:xfrm>
            <a:off x="6675120" y="6437376"/>
            <a:ext cx="4937760" cy="274320"/>
          </a:xfrm>
          <a:prstGeom prst="rect">
            <a:avLst/>
          </a:prstGeom>
          <a:noFill/>
          <a:ln/>
        </p:spPr>
        <p:txBody>
          <a:bodyPr wrap="square" lIns="0" tIns="0" rIns="0" bIns="0" rtlCol="0" anchor="ctr"/>
          <a:lstStyle/>
          <a:p>
            <a:pPr marL="0" indent="0" algn="r">
              <a:buNone/>
            </a:pPr>
            <a:r>
              <a:rPr lang="en-US" sz="1000" dirty="0">
                <a:solidFill>
                  <a:srgbClr val="5F7284"/>
                </a:solidFill>
                <a:latin typeface="Calibri" pitchFamily="34" charset="0"/>
                <a:ea typeface="Calibri" pitchFamily="34" charset="-122"/>
                <a:cs typeface="Calibri" pitchFamily="34" charset="-120"/>
              </a:rPr>
              <a:t>CS 301R · Session 11 · Design Documents</a:t>
            </a:r>
            <a:endParaRPr lang="en-US" sz="1000" dirty="0"/>
          </a:p>
        </p:txBody>
      </p:sp>
      <p:sp>
        <p:nvSpPr>
          <p:cNvPr id="32" name="Text 25"/>
          <p:cNvSpPr/>
          <p:nvPr/>
        </p:nvSpPr>
        <p:spPr>
          <a:xfrm>
            <a:off x="548640" y="6437376"/>
            <a:ext cx="548640" cy="274320"/>
          </a:xfrm>
          <a:prstGeom prst="rect">
            <a:avLst/>
          </a:prstGeom>
          <a:noFill/>
          <a:ln/>
        </p:spPr>
        <p:txBody>
          <a:bodyPr wrap="square" lIns="0" tIns="0" rIns="0" bIns="0" rtlCol="0" anchor="ctr"/>
          <a:lstStyle/>
          <a:p>
            <a:pPr marL="0" indent="0">
              <a:buNone/>
            </a:pPr>
            <a:r>
              <a:rPr lang="en-US" sz="1000" dirty="0">
                <a:solidFill>
                  <a:srgbClr val="5F7284"/>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txBody>
          <a:bodyPr/>
          <a:lstStyle/>
          <a:p>
            <a:endParaRPr lang="en-US"/>
          </a:p>
        </p:txBody>
      </p:sp>
      <p:sp>
        <p:nvSpPr>
          <p:cNvPr id="3" name="Text 1"/>
          <p:cNvSpPr/>
          <p:nvPr/>
        </p:nvSpPr>
        <p:spPr>
          <a:xfrm>
            <a:off x="795528" y="402336"/>
            <a:ext cx="10515600" cy="310896"/>
          </a:xfrm>
          <a:prstGeom prst="rect">
            <a:avLst/>
          </a:prstGeom>
          <a:noFill/>
          <a:ln/>
        </p:spPr>
        <p:txBody>
          <a:bodyPr wrap="square" lIns="0" tIns="0" rIns="0" bIns="0" rtlCol="0" anchor="ctr"/>
          <a:lstStyle/>
          <a:p>
            <a:pPr marL="0" indent="0">
              <a:buNone/>
            </a:pPr>
            <a:r>
              <a:rPr lang="en-US" sz="1400" b="1" kern="0" spc="200" dirty="0">
                <a:solidFill>
                  <a:srgbClr val="12908F"/>
                </a:solidFill>
                <a:latin typeface="Calibri" pitchFamily="34" charset="0"/>
                <a:ea typeface="Calibri" pitchFamily="34" charset="-122"/>
                <a:cs typeface="Calibri" pitchFamily="34" charset="-120"/>
              </a:rPr>
              <a:t>CAVEAT 1 — HOW FORMAL?</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marL="0" indent="0">
              <a:buNone/>
            </a:pPr>
            <a:r>
              <a:rPr lang="en-US" sz="3100" b="1" dirty="0">
                <a:solidFill>
                  <a:srgbClr val="1E2A36"/>
                </a:solidFill>
                <a:latin typeface="Cambria" pitchFamily="34" charset="0"/>
                <a:ea typeface="Cambria" pitchFamily="34" charset="-122"/>
                <a:cs typeface="Cambria" pitchFamily="34" charset="-120"/>
              </a:rPr>
              <a:t>"Design docs are informal" is true at Google, not everywhere</a:t>
            </a:r>
            <a:endParaRPr lang="en-US" sz="3100" dirty="0"/>
          </a:p>
        </p:txBody>
      </p:sp>
      <p:sp>
        <p:nvSpPr>
          <p:cNvPr id="5" name="Shape 3"/>
          <p:cNvSpPr/>
          <p:nvPr/>
        </p:nvSpPr>
        <p:spPr>
          <a:xfrm>
            <a:off x="548640" y="1783080"/>
            <a:ext cx="5440680" cy="3291840"/>
          </a:xfrm>
          <a:prstGeom prst="roundRect">
            <a:avLst>
              <a:gd name="adj" fmla="val 2500"/>
            </a:avLst>
          </a:prstGeom>
          <a:solidFill>
            <a:srgbClr val="F2F6F8"/>
          </a:solidFill>
          <a:ln/>
          <a:effectLst>
            <a:outerShdw blurRad="88900" dist="38100" dir="5400000" algn="bl" rotWithShape="0">
              <a:srgbClr val="000000">
                <a:alpha val="13000"/>
              </a:srgbClr>
            </a:outerShdw>
          </a:effectLst>
        </p:spPr>
        <p:txBody>
          <a:bodyPr/>
          <a:lstStyle/>
          <a:p>
            <a:endParaRPr lang="en-US"/>
          </a:p>
        </p:txBody>
      </p:sp>
      <p:sp>
        <p:nvSpPr>
          <p:cNvPr id="6" name="Shape 4"/>
          <p:cNvSpPr/>
          <p:nvPr/>
        </p:nvSpPr>
        <p:spPr>
          <a:xfrm>
            <a:off x="868680" y="2011680"/>
            <a:ext cx="566928" cy="566928"/>
          </a:xfrm>
          <a:prstGeom prst="ellipse">
            <a:avLst/>
          </a:prstGeom>
          <a:solidFill>
            <a:srgbClr val="12908F"/>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1021751" y="2164751"/>
            <a:ext cx="260787" cy="260787"/>
          </a:xfrm>
          <a:prstGeom prst="rect">
            <a:avLst/>
          </a:prstGeom>
        </p:spPr>
      </p:pic>
      <p:sp>
        <p:nvSpPr>
          <p:cNvPr id="8" name="Text 5"/>
          <p:cNvSpPr/>
          <p:nvPr/>
        </p:nvSpPr>
        <p:spPr>
          <a:xfrm>
            <a:off x="1627632" y="2011680"/>
            <a:ext cx="4206240" cy="566928"/>
          </a:xfrm>
          <a:prstGeom prst="rect">
            <a:avLst/>
          </a:prstGeom>
          <a:noFill/>
          <a:ln/>
        </p:spPr>
        <p:txBody>
          <a:bodyPr wrap="square" lIns="0" tIns="0" rIns="0" bIns="0" rtlCol="0" anchor="ctr"/>
          <a:lstStyle/>
          <a:p>
            <a:pPr marL="0" indent="0">
              <a:buNone/>
            </a:pPr>
            <a:r>
              <a:rPr lang="en-US" sz="1900" b="1" dirty="0">
                <a:solidFill>
                  <a:srgbClr val="1E2A36"/>
                </a:solidFill>
                <a:latin typeface="Calibri" pitchFamily="34" charset="0"/>
                <a:ea typeface="Calibri" pitchFamily="34" charset="-122"/>
                <a:cs typeface="Calibri" pitchFamily="34" charset="-120"/>
              </a:rPr>
              <a:t>Informal working doc</a:t>
            </a:r>
            <a:endParaRPr lang="en-US" sz="1900" dirty="0"/>
          </a:p>
        </p:txBody>
      </p:sp>
      <p:sp>
        <p:nvSpPr>
          <p:cNvPr id="9" name="Text 6"/>
          <p:cNvSpPr/>
          <p:nvPr/>
        </p:nvSpPr>
        <p:spPr>
          <a:xfrm>
            <a:off x="914400" y="2788920"/>
            <a:ext cx="4846320" cy="2194560"/>
          </a:xfrm>
          <a:prstGeom prst="rect">
            <a:avLst/>
          </a:prstGeom>
          <a:noFill/>
          <a:ln/>
        </p:spPr>
        <p:txBody>
          <a:bodyPr wrap="square" lIns="0" tIns="0" rIns="0" bIns="0" rtlCol="0" anchor="t"/>
          <a:lstStyle/>
          <a:p>
            <a:pPr marL="203200" indent="-203200">
              <a:spcAft>
                <a:spcPts val="1000"/>
              </a:spcAft>
              <a:buSzPct val="100000"/>
              <a:buChar char="•"/>
            </a:pPr>
            <a:r>
              <a:rPr lang="en-US" sz="1600" dirty="0">
                <a:solidFill>
                  <a:srgbClr val="1E2A36"/>
                </a:solidFill>
                <a:latin typeface="Calibri" pitchFamily="34" charset="0"/>
                <a:ea typeface="Calibri" pitchFamily="34" charset="-122"/>
                <a:cs typeface="Calibri" pitchFamily="34" charset="-120"/>
              </a:rPr>
              <a:t>A few pages, no fixed format</a:t>
            </a:r>
            <a:endParaRPr lang="en-US" sz="1600" dirty="0"/>
          </a:p>
          <a:p>
            <a:pPr marL="203200" indent="-203200">
              <a:spcAft>
                <a:spcPts val="1000"/>
              </a:spcAft>
              <a:buSzPct val="100000"/>
              <a:buChar char="•"/>
            </a:pPr>
            <a:r>
              <a:rPr lang="en-US" sz="1600" dirty="0">
                <a:solidFill>
                  <a:srgbClr val="1E2A36"/>
                </a:solidFill>
                <a:latin typeface="Calibri" pitchFamily="34" charset="0"/>
                <a:ea typeface="Calibri" pitchFamily="34" charset="-122"/>
                <a:cs typeface="Calibri" pitchFamily="34" charset="-120"/>
              </a:rPr>
              <a:t>Reviewed by teammates in a comment thread</a:t>
            </a:r>
            <a:endParaRPr lang="en-US" sz="1600" dirty="0"/>
          </a:p>
          <a:p>
            <a:pPr marL="203200" indent="-203200">
              <a:spcAft>
                <a:spcPts val="1000"/>
              </a:spcAft>
              <a:buSzPct val="100000"/>
              <a:buChar char="•"/>
            </a:pPr>
            <a:r>
              <a:rPr lang="en-US" sz="1600" dirty="0">
                <a:solidFill>
                  <a:srgbClr val="1E2A36"/>
                </a:solidFill>
                <a:latin typeface="Calibri" pitchFamily="34" charset="0"/>
                <a:ea typeface="Calibri" pitchFamily="34" charset="-122"/>
                <a:cs typeface="Calibri" pitchFamily="34" charset="-120"/>
              </a:rPr>
              <a:t>Updated when it stops being true</a:t>
            </a:r>
            <a:endParaRPr lang="en-US" sz="1600" dirty="0"/>
          </a:p>
          <a:p>
            <a:pPr marL="203200" indent="-203200">
              <a:buSzPct val="100000"/>
              <a:buChar char="•"/>
            </a:pPr>
            <a:r>
              <a:rPr lang="en-US" sz="1600" dirty="0">
                <a:solidFill>
                  <a:srgbClr val="1E2A36"/>
                </a:solidFill>
                <a:latin typeface="Calibri" pitchFamily="34" charset="0"/>
                <a:ea typeface="Calibri" pitchFamily="34" charset="-122"/>
                <a:cs typeface="Calibri" pitchFamily="34" charset="-120"/>
              </a:rPr>
              <a:t>Lives as long as the design does</a:t>
            </a:r>
            <a:endParaRPr lang="en-US" sz="1600" dirty="0"/>
          </a:p>
        </p:txBody>
      </p:sp>
      <p:sp>
        <p:nvSpPr>
          <p:cNvPr id="10" name="Shape 7"/>
          <p:cNvSpPr/>
          <p:nvPr/>
        </p:nvSpPr>
        <p:spPr>
          <a:xfrm>
            <a:off x="6172200" y="1783080"/>
            <a:ext cx="5440680" cy="3291840"/>
          </a:xfrm>
          <a:prstGeom prst="roundRect">
            <a:avLst>
              <a:gd name="adj" fmla="val 2500"/>
            </a:avLst>
          </a:prstGeom>
          <a:solidFill>
            <a:srgbClr val="14233A"/>
          </a:solidFill>
          <a:ln/>
          <a:effectLst>
            <a:outerShdw blurRad="88900" dist="38100" dir="5400000" algn="bl" rotWithShape="0">
              <a:srgbClr val="000000">
                <a:alpha val="13000"/>
              </a:srgbClr>
            </a:outerShdw>
          </a:effectLst>
        </p:spPr>
        <p:txBody>
          <a:bodyPr/>
          <a:lstStyle/>
          <a:p>
            <a:endParaRPr lang="en-US"/>
          </a:p>
        </p:txBody>
      </p:sp>
      <p:sp>
        <p:nvSpPr>
          <p:cNvPr id="11" name="Shape 8"/>
          <p:cNvSpPr/>
          <p:nvPr/>
        </p:nvSpPr>
        <p:spPr>
          <a:xfrm>
            <a:off x="6492240" y="2011680"/>
            <a:ext cx="566928" cy="566928"/>
          </a:xfrm>
          <a:prstGeom prst="ellipse">
            <a:avLst/>
          </a:prstGeom>
          <a:solidFill>
            <a:srgbClr val="E8A33D"/>
          </a:solidFill>
          <a:ln/>
        </p:spPr>
        <p:txBody>
          <a:bodyPr/>
          <a:lstStyle/>
          <a:p>
            <a:endParaRPr lang="en-US"/>
          </a:p>
        </p:txBody>
      </p:sp>
      <p:pic>
        <p:nvPicPr>
          <p:cNvPr id="12" name="Image 1" descr="preencoded.png"/>
          <p:cNvPicPr>
            <a:picLocks noChangeAspect="1"/>
          </p:cNvPicPr>
          <p:nvPr/>
        </p:nvPicPr>
        <p:blipFill>
          <a:blip r:embed="rId4"/>
          <a:stretch>
            <a:fillRect/>
          </a:stretch>
        </p:blipFill>
        <p:spPr>
          <a:xfrm>
            <a:off x="6645311" y="2164751"/>
            <a:ext cx="260787" cy="260787"/>
          </a:xfrm>
          <a:prstGeom prst="rect">
            <a:avLst/>
          </a:prstGeom>
        </p:spPr>
      </p:pic>
      <p:sp>
        <p:nvSpPr>
          <p:cNvPr id="13" name="Text 9"/>
          <p:cNvSpPr/>
          <p:nvPr/>
        </p:nvSpPr>
        <p:spPr>
          <a:xfrm>
            <a:off x="7251192" y="2011680"/>
            <a:ext cx="4206240" cy="566928"/>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Formal deliverable</a:t>
            </a:r>
            <a:endParaRPr lang="en-US" sz="1900" dirty="0"/>
          </a:p>
        </p:txBody>
      </p:sp>
      <p:sp>
        <p:nvSpPr>
          <p:cNvPr id="14" name="Text 10"/>
          <p:cNvSpPr/>
          <p:nvPr/>
        </p:nvSpPr>
        <p:spPr>
          <a:xfrm>
            <a:off x="6537960" y="2788920"/>
            <a:ext cx="4846320" cy="2194560"/>
          </a:xfrm>
          <a:prstGeom prst="rect">
            <a:avLst/>
          </a:prstGeom>
          <a:noFill/>
          <a:ln/>
        </p:spPr>
        <p:txBody>
          <a:bodyPr wrap="square" lIns="0" tIns="0" rIns="0" bIns="0" rtlCol="0" anchor="t"/>
          <a:lstStyle/>
          <a:p>
            <a:pPr marL="203200" indent="-203200">
              <a:spcAft>
                <a:spcPts val="1000"/>
              </a:spcAft>
              <a:buSzPct val="100000"/>
              <a:buChar char="•"/>
            </a:pPr>
            <a:r>
              <a:rPr lang="en-US" sz="1600" dirty="0">
                <a:solidFill>
                  <a:srgbClr val="CFE0E9"/>
                </a:solidFill>
                <a:latin typeface="Calibri" pitchFamily="34" charset="0"/>
                <a:ea typeface="Calibri" pitchFamily="34" charset="-122"/>
                <a:cs typeface="Calibri" pitchFamily="34" charset="-120"/>
              </a:rPr>
              <a:t>Carries a document number</a:t>
            </a:r>
            <a:endParaRPr lang="en-US" sz="1600" dirty="0"/>
          </a:p>
          <a:p>
            <a:pPr marL="203200" indent="-203200">
              <a:spcAft>
                <a:spcPts val="1000"/>
              </a:spcAft>
              <a:buSzPct val="100000"/>
              <a:buChar char="•"/>
            </a:pPr>
            <a:r>
              <a:rPr lang="en-US" sz="1600" dirty="0">
                <a:solidFill>
                  <a:srgbClr val="CFE0E9"/>
                </a:solidFill>
                <a:latin typeface="Calibri" pitchFamily="34" charset="0"/>
                <a:ea typeface="Calibri" pitchFamily="34" charset="-122"/>
                <a:cs typeface="Calibri" pitchFamily="34" charset="-120"/>
              </a:rPr>
              <a:t>Signed off by named reviewers</a:t>
            </a:r>
            <a:endParaRPr lang="en-US" sz="1600" dirty="0"/>
          </a:p>
          <a:p>
            <a:pPr marL="203200" indent="-203200">
              <a:spcAft>
                <a:spcPts val="1000"/>
              </a:spcAft>
              <a:buSzPct val="100000"/>
              <a:buChar char="•"/>
            </a:pPr>
            <a:r>
              <a:rPr lang="en-US" sz="1600" dirty="0">
                <a:solidFill>
                  <a:srgbClr val="CFE0E9"/>
                </a:solidFill>
                <a:latin typeface="Calibri" pitchFamily="34" charset="0"/>
                <a:ea typeface="Calibri" pitchFamily="34" charset="-122"/>
                <a:cs typeface="Calibri" pitchFamily="34" charset="-120"/>
              </a:rPr>
              <a:t>Under change control — every revision recorded</a:t>
            </a:r>
            <a:endParaRPr lang="en-US" sz="1600" dirty="0"/>
          </a:p>
          <a:p>
            <a:pPr marL="203200" indent="-203200">
              <a:buSzPct val="100000"/>
              <a:buChar char="•"/>
            </a:pPr>
            <a:r>
              <a:rPr lang="en-US" sz="1600" dirty="0">
                <a:solidFill>
                  <a:srgbClr val="CFE0E9"/>
                </a:solidFill>
                <a:latin typeface="Calibri" pitchFamily="34" charset="0"/>
                <a:ea typeface="Calibri" pitchFamily="34" charset="-122"/>
                <a:cs typeface="Calibri" pitchFamily="34" charset="-120"/>
              </a:rPr>
              <a:t>Outlives the people who wrote it</a:t>
            </a:r>
            <a:endParaRPr lang="en-US" sz="1600" dirty="0"/>
          </a:p>
        </p:txBody>
      </p:sp>
      <p:sp>
        <p:nvSpPr>
          <p:cNvPr id="15" name="Shape 11"/>
          <p:cNvSpPr/>
          <p:nvPr/>
        </p:nvSpPr>
        <p:spPr>
          <a:xfrm>
            <a:off x="548640" y="5257800"/>
            <a:ext cx="11064240" cy="914400"/>
          </a:xfrm>
          <a:prstGeom prst="roundRect">
            <a:avLst>
              <a:gd name="adj" fmla="val 9000"/>
            </a:avLst>
          </a:prstGeom>
          <a:solidFill>
            <a:srgbClr val="E8A33D"/>
          </a:solidFill>
          <a:ln/>
          <a:effectLst>
            <a:outerShdw blurRad="88900" dist="38100" dir="5400000" algn="bl" rotWithShape="0">
              <a:srgbClr val="000000">
                <a:alpha val="13000"/>
              </a:srgbClr>
            </a:outerShdw>
          </a:effectLst>
        </p:spPr>
        <p:txBody>
          <a:bodyPr/>
          <a:lstStyle/>
          <a:p>
            <a:endParaRPr lang="en-US"/>
          </a:p>
        </p:txBody>
      </p:sp>
      <p:sp>
        <p:nvSpPr>
          <p:cNvPr id="16" name="Text 12"/>
          <p:cNvSpPr/>
          <p:nvPr/>
        </p:nvSpPr>
        <p:spPr>
          <a:xfrm>
            <a:off x="822960" y="5257800"/>
            <a:ext cx="10515600" cy="914400"/>
          </a:xfrm>
          <a:prstGeom prst="rect">
            <a:avLst/>
          </a:prstGeom>
          <a:noFill/>
          <a:ln/>
        </p:spPr>
        <p:txBody>
          <a:bodyPr wrap="square" lIns="0" tIns="0" rIns="0" bIns="0" rtlCol="0" anchor="ctr"/>
          <a:lstStyle/>
          <a:p>
            <a:pPr marL="0" indent="0" algn="ctr">
              <a:buNone/>
            </a:pPr>
            <a:r>
              <a:rPr lang="en-US" sz="1650" b="1" dirty="0">
                <a:solidFill>
                  <a:srgbClr val="14233A"/>
                </a:solidFill>
                <a:latin typeface="Calibri" pitchFamily="34" charset="0"/>
                <a:ea typeface="Calibri" pitchFamily="34" charset="-122"/>
                <a:cs typeface="Calibri" pitchFamily="34" charset="-120"/>
              </a:rPr>
              <a:t>Same genre. The process around it grows with the cost of getting the design wrong — and with how long it has to survive.</a:t>
            </a:r>
            <a:endParaRPr lang="en-US" sz="1650" dirty="0"/>
          </a:p>
        </p:txBody>
      </p:sp>
      <p:sp>
        <p:nvSpPr>
          <p:cNvPr id="17" name="Text 13"/>
          <p:cNvSpPr/>
          <p:nvPr/>
        </p:nvSpPr>
        <p:spPr>
          <a:xfrm>
            <a:off x="6675120" y="6437376"/>
            <a:ext cx="4937760" cy="274320"/>
          </a:xfrm>
          <a:prstGeom prst="rect">
            <a:avLst/>
          </a:prstGeom>
          <a:noFill/>
          <a:ln/>
        </p:spPr>
        <p:txBody>
          <a:bodyPr wrap="square" lIns="0" tIns="0" rIns="0" bIns="0" rtlCol="0" anchor="ctr"/>
          <a:lstStyle/>
          <a:p>
            <a:pPr marL="0" indent="0" algn="r">
              <a:buNone/>
            </a:pPr>
            <a:r>
              <a:rPr lang="en-US" sz="1000" dirty="0">
                <a:solidFill>
                  <a:srgbClr val="5F7284"/>
                </a:solidFill>
                <a:latin typeface="Calibri" pitchFamily="34" charset="0"/>
                <a:ea typeface="Calibri" pitchFamily="34" charset="-122"/>
                <a:cs typeface="Calibri" pitchFamily="34" charset="-120"/>
              </a:rPr>
              <a:t>CS 301R · Session 11 · Design Documents</a:t>
            </a:r>
            <a:endParaRPr lang="en-US" sz="1000" dirty="0"/>
          </a:p>
        </p:txBody>
      </p:sp>
      <p:sp>
        <p:nvSpPr>
          <p:cNvPr id="18" name="Text 14"/>
          <p:cNvSpPr/>
          <p:nvPr/>
        </p:nvSpPr>
        <p:spPr>
          <a:xfrm>
            <a:off x="548640" y="6437376"/>
            <a:ext cx="548640" cy="274320"/>
          </a:xfrm>
          <a:prstGeom prst="rect">
            <a:avLst/>
          </a:prstGeom>
          <a:noFill/>
          <a:ln/>
        </p:spPr>
        <p:txBody>
          <a:bodyPr wrap="square" lIns="0" tIns="0" rIns="0" bIns="0" rtlCol="0" anchor="ctr"/>
          <a:lstStyle/>
          <a:p>
            <a:pPr marL="0" indent="0">
              <a:buNone/>
            </a:pPr>
            <a:r>
              <a:rPr lang="en-US" sz="1000" dirty="0">
                <a:solidFill>
                  <a:srgbClr val="5F7284"/>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txBody>
          <a:bodyPr/>
          <a:lstStyle/>
          <a:p>
            <a:endParaRPr lang="en-US"/>
          </a:p>
        </p:txBody>
      </p:sp>
      <p:sp>
        <p:nvSpPr>
          <p:cNvPr id="3" name="Text 1"/>
          <p:cNvSpPr/>
          <p:nvPr/>
        </p:nvSpPr>
        <p:spPr>
          <a:xfrm>
            <a:off x="795528" y="402336"/>
            <a:ext cx="10515600" cy="310896"/>
          </a:xfrm>
          <a:prstGeom prst="rect">
            <a:avLst/>
          </a:prstGeom>
          <a:noFill/>
          <a:ln/>
        </p:spPr>
        <p:txBody>
          <a:bodyPr wrap="square" lIns="0" tIns="0" rIns="0" bIns="0" rtlCol="0" anchor="ctr"/>
          <a:lstStyle/>
          <a:p>
            <a:pPr marL="0" indent="0">
              <a:buNone/>
            </a:pPr>
            <a:r>
              <a:rPr lang="en-US" sz="1400" b="1" kern="0" spc="200" dirty="0">
                <a:solidFill>
                  <a:srgbClr val="12908F"/>
                </a:solidFill>
                <a:latin typeface="Calibri" pitchFamily="34" charset="0"/>
                <a:ea typeface="Calibri" pitchFamily="34" charset="-122"/>
                <a:cs typeface="Calibri" pitchFamily="34" charset="-120"/>
              </a:rPr>
              <a:t>CAVEAT 2 — WHERE THE THINKING SHOWS</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marL="0" indent="0">
              <a:buNone/>
            </a:pPr>
            <a:r>
              <a:rPr lang="en-US" sz="3100" b="1" dirty="0">
                <a:solidFill>
                  <a:srgbClr val="1E2A36"/>
                </a:solidFill>
                <a:latin typeface="Cambria" pitchFamily="34" charset="0"/>
                <a:ea typeface="Cambria" pitchFamily="34" charset="-122"/>
                <a:cs typeface="Cambria" pitchFamily="34" charset="-120"/>
              </a:rPr>
              <a:t>Alternatives considered can rest on real work</a:t>
            </a:r>
            <a:endParaRPr lang="en-US" sz="3100" dirty="0"/>
          </a:p>
        </p:txBody>
      </p:sp>
      <p:sp>
        <p:nvSpPr>
          <p:cNvPr id="5" name="Shape 3"/>
          <p:cNvSpPr/>
          <p:nvPr/>
        </p:nvSpPr>
        <p:spPr>
          <a:xfrm>
            <a:off x="548640" y="1783080"/>
            <a:ext cx="3566160" cy="2514600"/>
          </a:xfrm>
          <a:prstGeom prst="roundRect">
            <a:avLst>
              <a:gd name="adj" fmla="val 3273"/>
            </a:avLst>
          </a:prstGeom>
          <a:solidFill>
            <a:srgbClr val="F2F6F8"/>
          </a:solidFill>
          <a:ln/>
          <a:effectLst>
            <a:outerShdw blurRad="88900" dist="38100" dir="5400000" algn="bl" rotWithShape="0">
              <a:srgbClr val="000000">
                <a:alpha val="13000"/>
              </a:srgbClr>
            </a:outerShdw>
          </a:effectLst>
        </p:spPr>
        <p:txBody>
          <a:bodyPr/>
          <a:lstStyle/>
          <a:p>
            <a:endParaRPr lang="en-US"/>
          </a:p>
        </p:txBody>
      </p:sp>
      <p:sp>
        <p:nvSpPr>
          <p:cNvPr id="6" name="Shape 4"/>
          <p:cNvSpPr/>
          <p:nvPr/>
        </p:nvSpPr>
        <p:spPr>
          <a:xfrm>
            <a:off x="2029968" y="2011680"/>
            <a:ext cx="603504" cy="603504"/>
          </a:xfrm>
          <a:prstGeom prst="ellipse">
            <a:avLst/>
          </a:prstGeom>
          <a:solidFill>
            <a:srgbClr val="12908F"/>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2192914" y="2174626"/>
            <a:ext cx="277612" cy="277612"/>
          </a:xfrm>
          <a:prstGeom prst="rect">
            <a:avLst/>
          </a:prstGeom>
        </p:spPr>
      </p:pic>
      <p:sp>
        <p:nvSpPr>
          <p:cNvPr id="8" name="Text 5"/>
          <p:cNvSpPr/>
          <p:nvPr/>
        </p:nvSpPr>
        <p:spPr>
          <a:xfrm>
            <a:off x="685800" y="2743200"/>
            <a:ext cx="3291840" cy="457200"/>
          </a:xfrm>
          <a:prstGeom prst="rect">
            <a:avLst/>
          </a:prstGeom>
          <a:noFill/>
          <a:ln/>
        </p:spPr>
        <p:txBody>
          <a:bodyPr wrap="square" lIns="0" tIns="0" rIns="0" bIns="0" rtlCol="0" anchor="ctr"/>
          <a:lstStyle/>
          <a:p>
            <a:pPr marL="0" indent="0" algn="ctr">
              <a:buNone/>
            </a:pPr>
            <a:r>
              <a:rPr lang="en-US" sz="1800" b="1" dirty="0">
                <a:solidFill>
                  <a:srgbClr val="1E2A36"/>
                </a:solidFill>
                <a:latin typeface="Calibri" pitchFamily="34" charset="0"/>
                <a:ea typeface="Calibri" pitchFamily="34" charset="-122"/>
                <a:cs typeface="Calibri" pitchFamily="34" charset="-120"/>
              </a:rPr>
              <a:t>A conversation</a:t>
            </a:r>
            <a:endParaRPr lang="en-US" sz="1800" dirty="0"/>
          </a:p>
        </p:txBody>
      </p:sp>
      <p:sp>
        <p:nvSpPr>
          <p:cNvPr id="9" name="Text 6"/>
          <p:cNvSpPr/>
          <p:nvPr/>
        </p:nvSpPr>
        <p:spPr>
          <a:xfrm>
            <a:off x="749808" y="3200400"/>
            <a:ext cx="3163824" cy="960120"/>
          </a:xfrm>
          <a:prstGeom prst="rect">
            <a:avLst/>
          </a:prstGeom>
          <a:noFill/>
          <a:ln/>
        </p:spPr>
        <p:txBody>
          <a:bodyPr wrap="square" lIns="0" tIns="0" rIns="0" bIns="0" rtlCol="0" anchor="t"/>
          <a:lstStyle/>
          <a:p>
            <a:pPr marL="0" indent="0" algn="ctr">
              <a:lnSpc>
                <a:spcPct val="104000"/>
              </a:lnSpc>
              <a:buNone/>
            </a:pPr>
            <a:r>
              <a:rPr lang="en-US" sz="1550" dirty="0">
                <a:solidFill>
                  <a:srgbClr val="5F7284"/>
                </a:solidFill>
                <a:latin typeface="Calibri" pitchFamily="34" charset="0"/>
                <a:ea typeface="Calibri" pitchFamily="34" charset="-122"/>
                <a:cs typeface="Calibri" pitchFamily="34" charset="-120"/>
              </a:rPr>
              <a:t>"We talked about SQLite and ruled it out." Cheap, and often enough.</a:t>
            </a:r>
            <a:endParaRPr lang="en-US" sz="1550" dirty="0"/>
          </a:p>
        </p:txBody>
      </p:sp>
      <p:sp>
        <p:nvSpPr>
          <p:cNvPr id="10" name="Shape 7"/>
          <p:cNvSpPr/>
          <p:nvPr/>
        </p:nvSpPr>
        <p:spPr>
          <a:xfrm>
            <a:off x="4297680" y="1783080"/>
            <a:ext cx="3566160" cy="2514600"/>
          </a:xfrm>
          <a:prstGeom prst="roundRect">
            <a:avLst>
              <a:gd name="adj" fmla="val 3273"/>
            </a:avLst>
          </a:prstGeom>
          <a:solidFill>
            <a:srgbClr val="F2F6F8"/>
          </a:solidFill>
          <a:ln/>
          <a:effectLst>
            <a:outerShdw blurRad="88900" dist="38100" dir="5400000" algn="bl" rotWithShape="0">
              <a:srgbClr val="000000">
                <a:alpha val="13000"/>
              </a:srgbClr>
            </a:outerShdw>
          </a:effectLst>
        </p:spPr>
        <p:txBody>
          <a:bodyPr/>
          <a:lstStyle/>
          <a:p>
            <a:endParaRPr lang="en-US"/>
          </a:p>
        </p:txBody>
      </p:sp>
      <p:sp>
        <p:nvSpPr>
          <p:cNvPr id="11" name="Shape 8"/>
          <p:cNvSpPr/>
          <p:nvPr/>
        </p:nvSpPr>
        <p:spPr>
          <a:xfrm>
            <a:off x="5779008" y="2011680"/>
            <a:ext cx="603504" cy="603504"/>
          </a:xfrm>
          <a:prstGeom prst="ellipse">
            <a:avLst/>
          </a:prstGeom>
          <a:solidFill>
            <a:srgbClr val="12908F"/>
          </a:solidFill>
          <a:ln/>
        </p:spPr>
        <p:txBody>
          <a:bodyPr/>
          <a:lstStyle/>
          <a:p>
            <a:endParaRPr lang="en-US"/>
          </a:p>
        </p:txBody>
      </p:sp>
      <p:pic>
        <p:nvPicPr>
          <p:cNvPr id="12" name="Image 1" descr="preencoded.png"/>
          <p:cNvPicPr>
            <a:picLocks noChangeAspect="1"/>
          </p:cNvPicPr>
          <p:nvPr/>
        </p:nvPicPr>
        <p:blipFill>
          <a:blip r:embed="rId4"/>
          <a:stretch>
            <a:fillRect/>
          </a:stretch>
        </p:blipFill>
        <p:spPr>
          <a:xfrm>
            <a:off x="5941954" y="2174626"/>
            <a:ext cx="277612" cy="277612"/>
          </a:xfrm>
          <a:prstGeom prst="rect">
            <a:avLst/>
          </a:prstGeom>
        </p:spPr>
      </p:pic>
      <p:sp>
        <p:nvSpPr>
          <p:cNvPr id="13" name="Text 9"/>
          <p:cNvSpPr/>
          <p:nvPr/>
        </p:nvSpPr>
        <p:spPr>
          <a:xfrm>
            <a:off x="4434840" y="2743200"/>
            <a:ext cx="3291840" cy="457200"/>
          </a:xfrm>
          <a:prstGeom prst="rect">
            <a:avLst/>
          </a:prstGeom>
          <a:noFill/>
          <a:ln/>
        </p:spPr>
        <p:txBody>
          <a:bodyPr wrap="square" lIns="0" tIns="0" rIns="0" bIns="0" rtlCol="0" anchor="ctr"/>
          <a:lstStyle/>
          <a:p>
            <a:pPr marL="0" indent="0" algn="ctr">
              <a:buNone/>
            </a:pPr>
            <a:r>
              <a:rPr lang="en-US" sz="1800" b="1" dirty="0">
                <a:solidFill>
                  <a:srgbClr val="1E2A36"/>
                </a:solidFill>
                <a:latin typeface="Calibri" pitchFamily="34" charset="0"/>
                <a:ea typeface="Calibri" pitchFamily="34" charset="-122"/>
                <a:cs typeface="Calibri" pitchFamily="34" charset="-120"/>
              </a:rPr>
              <a:t>A spike or benchmark</a:t>
            </a:r>
            <a:endParaRPr lang="en-US" sz="1800" dirty="0"/>
          </a:p>
        </p:txBody>
      </p:sp>
      <p:sp>
        <p:nvSpPr>
          <p:cNvPr id="14" name="Text 10"/>
          <p:cNvSpPr/>
          <p:nvPr/>
        </p:nvSpPr>
        <p:spPr>
          <a:xfrm>
            <a:off x="4498848" y="3200400"/>
            <a:ext cx="3163824" cy="960120"/>
          </a:xfrm>
          <a:prstGeom prst="rect">
            <a:avLst/>
          </a:prstGeom>
          <a:noFill/>
          <a:ln/>
        </p:spPr>
        <p:txBody>
          <a:bodyPr wrap="square" lIns="0" tIns="0" rIns="0" bIns="0" rtlCol="0" anchor="t"/>
          <a:lstStyle/>
          <a:p>
            <a:pPr marL="0" indent="0" algn="ctr">
              <a:lnSpc>
                <a:spcPct val="104000"/>
              </a:lnSpc>
              <a:buNone/>
            </a:pPr>
            <a:r>
              <a:rPr lang="en-US" sz="1550" dirty="0">
                <a:solidFill>
                  <a:srgbClr val="5F7284"/>
                </a:solidFill>
                <a:latin typeface="Calibri" pitchFamily="34" charset="0"/>
                <a:ea typeface="Calibri" pitchFamily="34" charset="-122"/>
                <a:cs typeface="Calibri" pitchFamily="34" charset="-120"/>
              </a:rPr>
              <a:t>You built the risky part and measured it. Your CP3 spike is exactly this.</a:t>
            </a:r>
            <a:endParaRPr lang="en-US" sz="1550" dirty="0"/>
          </a:p>
        </p:txBody>
      </p:sp>
      <p:sp>
        <p:nvSpPr>
          <p:cNvPr id="15" name="Shape 11"/>
          <p:cNvSpPr/>
          <p:nvPr/>
        </p:nvSpPr>
        <p:spPr>
          <a:xfrm>
            <a:off x="8046720" y="1783080"/>
            <a:ext cx="3566160" cy="2514600"/>
          </a:xfrm>
          <a:prstGeom prst="roundRect">
            <a:avLst>
              <a:gd name="adj" fmla="val 3273"/>
            </a:avLst>
          </a:prstGeom>
          <a:solidFill>
            <a:srgbClr val="F2F6F8"/>
          </a:solidFill>
          <a:ln/>
          <a:effectLst>
            <a:outerShdw blurRad="88900" dist="38100" dir="5400000" algn="bl" rotWithShape="0">
              <a:srgbClr val="000000">
                <a:alpha val="13000"/>
              </a:srgbClr>
            </a:outerShdw>
          </a:effectLst>
        </p:spPr>
        <p:txBody>
          <a:bodyPr/>
          <a:lstStyle/>
          <a:p>
            <a:endParaRPr lang="en-US"/>
          </a:p>
        </p:txBody>
      </p:sp>
      <p:sp>
        <p:nvSpPr>
          <p:cNvPr id="16" name="Shape 12"/>
          <p:cNvSpPr/>
          <p:nvPr/>
        </p:nvSpPr>
        <p:spPr>
          <a:xfrm>
            <a:off x="9528048" y="2011680"/>
            <a:ext cx="603504" cy="603504"/>
          </a:xfrm>
          <a:prstGeom prst="ellipse">
            <a:avLst/>
          </a:prstGeom>
          <a:solidFill>
            <a:srgbClr val="12908F"/>
          </a:solidFill>
          <a:ln/>
        </p:spPr>
        <p:txBody>
          <a:bodyPr/>
          <a:lstStyle/>
          <a:p>
            <a:endParaRPr lang="en-US"/>
          </a:p>
        </p:txBody>
      </p:sp>
      <p:pic>
        <p:nvPicPr>
          <p:cNvPr id="17" name="Image 2" descr="preencoded.png"/>
          <p:cNvPicPr>
            <a:picLocks noChangeAspect="1"/>
          </p:cNvPicPr>
          <p:nvPr/>
        </p:nvPicPr>
        <p:blipFill>
          <a:blip r:embed="rId5"/>
          <a:stretch>
            <a:fillRect/>
          </a:stretch>
        </p:blipFill>
        <p:spPr>
          <a:xfrm>
            <a:off x="9690994" y="2174626"/>
            <a:ext cx="277612" cy="277612"/>
          </a:xfrm>
          <a:prstGeom prst="rect">
            <a:avLst/>
          </a:prstGeom>
        </p:spPr>
      </p:pic>
      <p:sp>
        <p:nvSpPr>
          <p:cNvPr id="18" name="Text 13"/>
          <p:cNvSpPr/>
          <p:nvPr/>
        </p:nvSpPr>
        <p:spPr>
          <a:xfrm>
            <a:off x="8183880" y="2743200"/>
            <a:ext cx="3291840" cy="457200"/>
          </a:xfrm>
          <a:prstGeom prst="rect">
            <a:avLst/>
          </a:prstGeom>
          <a:noFill/>
          <a:ln/>
        </p:spPr>
        <p:txBody>
          <a:bodyPr wrap="square" lIns="0" tIns="0" rIns="0" bIns="0" rtlCol="0" anchor="ctr"/>
          <a:lstStyle/>
          <a:p>
            <a:pPr marL="0" indent="0" algn="ctr">
              <a:buNone/>
            </a:pPr>
            <a:r>
              <a:rPr lang="en-US" sz="1800" b="1" dirty="0">
                <a:solidFill>
                  <a:srgbClr val="1E2A36"/>
                </a:solidFill>
                <a:latin typeface="Calibri" pitchFamily="34" charset="0"/>
                <a:ea typeface="Calibri" pitchFamily="34" charset="-122"/>
                <a:cs typeface="Calibri" pitchFamily="34" charset="-120"/>
              </a:rPr>
              <a:t>A trade study</a:t>
            </a:r>
            <a:endParaRPr lang="en-US" sz="1800" dirty="0"/>
          </a:p>
        </p:txBody>
      </p:sp>
      <p:sp>
        <p:nvSpPr>
          <p:cNvPr id="19" name="Text 14"/>
          <p:cNvSpPr/>
          <p:nvPr/>
        </p:nvSpPr>
        <p:spPr>
          <a:xfrm>
            <a:off x="8247888" y="3200400"/>
            <a:ext cx="3163824" cy="960120"/>
          </a:xfrm>
          <a:prstGeom prst="rect">
            <a:avLst/>
          </a:prstGeom>
          <a:noFill/>
          <a:ln/>
        </p:spPr>
        <p:txBody>
          <a:bodyPr wrap="square" lIns="0" tIns="0" rIns="0" bIns="0" rtlCol="0" anchor="t"/>
          <a:lstStyle/>
          <a:p>
            <a:pPr marL="0" indent="0" algn="ctr">
              <a:lnSpc>
                <a:spcPct val="104000"/>
              </a:lnSpc>
              <a:buNone/>
            </a:pPr>
            <a:r>
              <a:rPr lang="en-US" sz="1550" dirty="0">
                <a:solidFill>
                  <a:srgbClr val="5F7284"/>
                </a:solidFill>
                <a:latin typeface="Calibri" pitchFamily="34" charset="0"/>
                <a:ea typeface="Calibri" pitchFamily="34" charset="-122"/>
                <a:cs typeface="Calibri" pitchFamily="34" charset="-120"/>
              </a:rPr>
              <a:t>A document of its own: options, criteria, scoring, and why each was rejected.</a:t>
            </a:r>
            <a:endParaRPr lang="en-US" sz="1550" dirty="0"/>
          </a:p>
        </p:txBody>
      </p:sp>
      <p:sp>
        <p:nvSpPr>
          <p:cNvPr id="20" name="Text 15"/>
          <p:cNvSpPr/>
          <p:nvPr/>
        </p:nvSpPr>
        <p:spPr>
          <a:xfrm>
            <a:off x="548640" y="4370832"/>
            <a:ext cx="11064240" cy="320040"/>
          </a:xfrm>
          <a:prstGeom prst="rect">
            <a:avLst/>
          </a:prstGeom>
          <a:noFill/>
          <a:ln/>
        </p:spPr>
        <p:txBody>
          <a:bodyPr wrap="square" lIns="0" tIns="0" rIns="0" bIns="0" rtlCol="0" anchor="ctr"/>
          <a:lstStyle/>
          <a:p>
            <a:pPr marL="0" indent="0" algn="r">
              <a:buNone/>
            </a:pPr>
            <a:r>
              <a:rPr lang="en-US" sz="1500" b="1" dirty="0">
                <a:solidFill>
                  <a:srgbClr val="0E6E6D"/>
                </a:solidFill>
                <a:latin typeface="Calibri" pitchFamily="34" charset="0"/>
                <a:ea typeface="Calibri" pitchFamily="34" charset="-122"/>
                <a:cs typeface="Calibri" pitchFamily="34" charset="-120"/>
              </a:rPr>
              <a:t>more evidence  →</a:t>
            </a:r>
            <a:endParaRPr lang="en-US" sz="1500" dirty="0"/>
          </a:p>
        </p:txBody>
      </p:sp>
      <p:sp>
        <p:nvSpPr>
          <p:cNvPr id="21" name="Shape 16"/>
          <p:cNvSpPr/>
          <p:nvPr/>
        </p:nvSpPr>
        <p:spPr>
          <a:xfrm>
            <a:off x="548640" y="4800600"/>
            <a:ext cx="11064240" cy="1371600"/>
          </a:xfrm>
          <a:prstGeom prst="roundRect">
            <a:avLst>
              <a:gd name="adj" fmla="val 6000"/>
            </a:avLst>
          </a:prstGeom>
          <a:solidFill>
            <a:srgbClr val="14233A"/>
          </a:solidFill>
          <a:ln/>
          <a:effectLst>
            <a:outerShdw blurRad="88900" dist="38100" dir="5400000" algn="bl" rotWithShape="0">
              <a:srgbClr val="000000">
                <a:alpha val="13000"/>
              </a:srgbClr>
            </a:outerShdw>
          </a:effectLst>
        </p:spPr>
        <p:txBody>
          <a:bodyPr/>
          <a:lstStyle/>
          <a:p>
            <a:endParaRPr lang="en-US"/>
          </a:p>
        </p:txBody>
      </p:sp>
      <p:sp>
        <p:nvSpPr>
          <p:cNvPr id="22" name="Shape 17"/>
          <p:cNvSpPr/>
          <p:nvPr/>
        </p:nvSpPr>
        <p:spPr>
          <a:xfrm>
            <a:off x="868680" y="5120640"/>
            <a:ext cx="548640" cy="548640"/>
          </a:xfrm>
          <a:prstGeom prst="ellipse">
            <a:avLst/>
          </a:prstGeom>
          <a:solidFill>
            <a:srgbClr val="E8A33D"/>
          </a:solidFill>
          <a:ln/>
        </p:spPr>
        <p:txBody>
          <a:bodyPr/>
          <a:lstStyle/>
          <a:p>
            <a:endParaRPr lang="en-US"/>
          </a:p>
        </p:txBody>
      </p:sp>
      <p:pic>
        <p:nvPicPr>
          <p:cNvPr id="23" name="Image 3" descr="preencoded.png"/>
          <p:cNvPicPr>
            <a:picLocks noChangeAspect="1"/>
          </p:cNvPicPr>
          <p:nvPr/>
        </p:nvPicPr>
        <p:blipFill>
          <a:blip r:embed="rId6"/>
          <a:stretch>
            <a:fillRect/>
          </a:stretch>
        </p:blipFill>
        <p:spPr>
          <a:xfrm>
            <a:off x="1016813" y="5268773"/>
            <a:ext cx="252374" cy="252374"/>
          </a:xfrm>
          <a:prstGeom prst="rect">
            <a:avLst/>
          </a:prstGeom>
        </p:spPr>
      </p:pic>
      <p:sp>
        <p:nvSpPr>
          <p:cNvPr id="24" name="Text 18"/>
          <p:cNvSpPr/>
          <p:nvPr/>
        </p:nvSpPr>
        <p:spPr>
          <a:xfrm>
            <a:off x="1691640" y="4800600"/>
            <a:ext cx="9692640" cy="1371600"/>
          </a:xfrm>
          <a:prstGeom prst="rect">
            <a:avLst/>
          </a:prstGeom>
          <a:noFill/>
          <a:ln/>
        </p:spPr>
        <p:txBody>
          <a:bodyPr wrap="square" lIns="0" tIns="0" rIns="0" bIns="0" rtlCol="0" anchor="ctr"/>
          <a:lstStyle/>
          <a:p>
            <a:pPr marL="0" indent="0">
              <a:lnSpc>
                <a:spcPct val="104000"/>
              </a:lnSpc>
              <a:buNone/>
            </a:pPr>
            <a:r>
              <a:rPr lang="en-US" sz="1600" dirty="0">
                <a:solidFill>
                  <a:srgbClr val="FFFFFF"/>
                </a:solidFill>
                <a:latin typeface="Calibri" pitchFamily="34" charset="0"/>
                <a:ea typeface="Calibri" pitchFamily="34" charset="-122"/>
                <a:cs typeface="Calibri" pitchFamily="34" charset="-120"/>
              </a:rPr>
              <a:t>"Some options may quickly drop out of consideration as the analysis is conducted. It is important to document the fact that these options were considered."
</a:t>
            </a:r>
            <a:r>
              <a:rPr lang="en-US" sz="1600" i="1" dirty="0">
                <a:solidFill>
                  <a:srgbClr val="E8A33D"/>
                </a:solidFill>
                <a:latin typeface="Calibri" pitchFamily="34" charset="0"/>
                <a:ea typeface="Calibri" pitchFamily="34" charset="-122"/>
                <a:cs typeface="Calibri" pitchFamily="34" charset="-120"/>
              </a:rPr>
              <a:t>NASA Systems Engineering Handbook, §6.8 Decision Analysis</a:t>
            </a:r>
            <a:endParaRPr lang="en-US" sz="1600" dirty="0"/>
          </a:p>
        </p:txBody>
      </p:sp>
      <p:sp>
        <p:nvSpPr>
          <p:cNvPr id="25" name="Text 19"/>
          <p:cNvSpPr/>
          <p:nvPr/>
        </p:nvSpPr>
        <p:spPr>
          <a:xfrm>
            <a:off x="6675120" y="6437376"/>
            <a:ext cx="4937760" cy="274320"/>
          </a:xfrm>
          <a:prstGeom prst="rect">
            <a:avLst/>
          </a:prstGeom>
          <a:noFill/>
          <a:ln/>
        </p:spPr>
        <p:txBody>
          <a:bodyPr wrap="square" lIns="0" tIns="0" rIns="0" bIns="0" rtlCol="0" anchor="ctr"/>
          <a:lstStyle/>
          <a:p>
            <a:pPr marL="0" indent="0" algn="r">
              <a:buNone/>
            </a:pPr>
            <a:r>
              <a:rPr lang="en-US" sz="1000" dirty="0">
                <a:solidFill>
                  <a:srgbClr val="5F7284"/>
                </a:solidFill>
                <a:latin typeface="Calibri" pitchFamily="34" charset="0"/>
                <a:ea typeface="Calibri" pitchFamily="34" charset="-122"/>
                <a:cs typeface="Calibri" pitchFamily="34" charset="-120"/>
              </a:rPr>
              <a:t>CS 301R · Session 11 · Design Documents</a:t>
            </a:r>
            <a:endParaRPr lang="en-US" sz="1000" dirty="0"/>
          </a:p>
        </p:txBody>
      </p:sp>
      <p:sp>
        <p:nvSpPr>
          <p:cNvPr id="26" name="Text 20"/>
          <p:cNvSpPr/>
          <p:nvPr/>
        </p:nvSpPr>
        <p:spPr>
          <a:xfrm>
            <a:off x="548640" y="6437376"/>
            <a:ext cx="548640" cy="274320"/>
          </a:xfrm>
          <a:prstGeom prst="rect">
            <a:avLst/>
          </a:prstGeom>
          <a:noFill/>
          <a:ln/>
        </p:spPr>
        <p:txBody>
          <a:bodyPr wrap="square" lIns="0" tIns="0" rIns="0" bIns="0" rtlCol="0" anchor="ctr"/>
          <a:lstStyle/>
          <a:p>
            <a:pPr marL="0" indent="0">
              <a:buNone/>
            </a:pPr>
            <a:r>
              <a:rPr lang="en-US" sz="1000" dirty="0">
                <a:solidFill>
                  <a:srgbClr val="5F7284"/>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txBody>
          <a:bodyPr/>
          <a:lstStyle/>
          <a:p>
            <a:endParaRPr lang="en-US"/>
          </a:p>
        </p:txBody>
      </p:sp>
      <p:sp>
        <p:nvSpPr>
          <p:cNvPr id="3" name="Text 1"/>
          <p:cNvSpPr/>
          <p:nvPr/>
        </p:nvSpPr>
        <p:spPr>
          <a:xfrm>
            <a:off x="795528" y="402336"/>
            <a:ext cx="10515600" cy="310896"/>
          </a:xfrm>
          <a:prstGeom prst="rect">
            <a:avLst/>
          </a:prstGeom>
          <a:noFill/>
          <a:ln/>
        </p:spPr>
        <p:txBody>
          <a:bodyPr wrap="square" lIns="0" tIns="0" rIns="0" bIns="0" rtlCol="0" anchor="ctr"/>
          <a:lstStyle/>
          <a:p>
            <a:pPr marL="0" indent="0">
              <a:buNone/>
            </a:pPr>
            <a:r>
              <a:rPr lang="en-US" sz="1400" b="1" kern="0" spc="200" dirty="0">
                <a:solidFill>
                  <a:srgbClr val="12908F"/>
                </a:solidFill>
                <a:latin typeface="Calibri" pitchFamily="34" charset="0"/>
                <a:ea typeface="Calibri" pitchFamily="34" charset="-122"/>
                <a:cs typeface="Calibri" pitchFamily="34" charset="-120"/>
              </a:rPr>
              <a:t>APPROPRIATE DETAIL</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marL="0" indent="0">
              <a:buNone/>
            </a:pPr>
            <a:r>
              <a:rPr lang="en-US" sz="3100" b="1" dirty="0">
                <a:solidFill>
                  <a:srgbClr val="1E2A36"/>
                </a:solidFill>
                <a:latin typeface="Cambria" pitchFamily="34" charset="0"/>
                <a:ea typeface="Cambria" pitchFamily="34" charset="-122"/>
                <a:cs typeface="Cambria" pitchFamily="34" charset="-120"/>
              </a:rPr>
              <a:t>The judgment the rubric actually tests</a:t>
            </a:r>
            <a:endParaRPr lang="en-US" sz="3100" dirty="0"/>
          </a:p>
        </p:txBody>
      </p:sp>
      <p:sp>
        <p:nvSpPr>
          <p:cNvPr id="5" name="Shape 3"/>
          <p:cNvSpPr/>
          <p:nvPr/>
        </p:nvSpPr>
        <p:spPr>
          <a:xfrm>
            <a:off x="548640" y="1783080"/>
            <a:ext cx="11064240" cy="1243584"/>
          </a:xfrm>
          <a:prstGeom prst="roundRect">
            <a:avLst>
              <a:gd name="adj" fmla="val 6618"/>
            </a:avLst>
          </a:prstGeom>
          <a:solidFill>
            <a:srgbClr val="FBECE8"/>
          </a:solidFill>
          <a:ln/>
          <a:effectLst>
            <a:outerShdw blurRad="88900" dist="38100" dir="5400000" algn="bl" rotWithShape="0">
              <a:srgbClr val="000000">
                <a:alpha val="13000"/>
              </a:srgbClr>
            </a:outerShdw>
          </a:effectLst>
        </p:spPr>
        <p:txBody>
          <a:bodyPr/>
          <a:lstStyle/>
          <a:p>
            <a:endParaRPr lang="en-US"/>
          </a:p>
        </p:txBody>
      </p:sp>
      <p:sp>
        <p:nvSpPr>
          <p:cNvPr id="6" name="Shape 4"/>
          <p:cNvSpPr/>
          <p:nvPr/>
        </p:nvSpPr>
        <p:spPr>
          <a:xfrm>
            <a:off x="822960" y="2130552"/>
            <a:ext cx="548640" cy="548640"/>
          </a:xfrm>
          <a:prstGeom prst="ellipse">
            <a:avLst/>
          </a:prstGeom>
          <a:solidFill>
            <a:srgbClr val="D9614C"/>
          </a:solidFill>
          <a:ln/>
        </p:spPr>
        <p:txBody>
          <a:bodyPr/>
          <a:lstStyle/>
          <a:p>
            <a:endParaRPr lang="en-US"/>
          </a:p>
        </p:txBody>
      </p:sp>
      <p:sp>
        <p:nvSpPr>
          <p:cNvPr id="7" name="Text 5"/>
          <p:cNvSpPr/>
          <p:nvPr/>
        </p:nvSpPr>
        <p:spPr>
          <a:xfrm>
            <a:off x="822960" y="2130552"/>
            <a:ext cx="54864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8" name="Text 6"/>
          <p:cNvSpPr/>
          <p:nvPr/>
        </p:nvSpPr>
        <p:spPr>
          <a:xfrm>
            <a:off x="1554480" y="1865376"/>
            <a:ext cx="2011680" cy="1078992"/>
          </a:xfrm>
          <a:prstGeom prst="rect">
            <a:avLst/>
          </a:prstGeom>
          <a:noFill/>
          <a:ln/>
        </p:spPr>
        <p:txBody>
          <a:bodyPr wrap="square" lIns="0" tIns="0" rIns="0" bIns="0" rtlCol="0" anchor="ctr"/>
          <a:lstStyle/>
          <a:p>
            <a:pPr marL="0" indent="0">
              <a:buNone/>
            </a:pPr>
            <a:r>
              <a:rPr lang="en-US" sz="1800" b="1" dirty="0">
                <a:solidFill>
                  <a:srgbClr val="1E2A36"/>
                </a:solidFill>
                <a:latin typeface="Calibri" pitchFamily="34" charset="0"/>
                <a:ea typeface="Calibri" pitchFamily="34" charset="-122"/>
                <a:cs typeface="Calibri" pitchFamily="34" charset="-120"/>
              </a:rPr>
              <a:t>Too little</a:t>
            </a:r>
            <a:endParaRPr lang="en-US" sz="1800" dirty="0"/>
          </a:p>
        </p:txBody>
      </p:sp>
      <p:sp>
        <p:nvSpPr>
          <p:cNvPr id="9" name="Text 7"/>
          <p:cNvSpPr/>
          <p:nvPr/>
        </p:nvSpPr>
        <p:spPr>
          <a:xfrm>
            <a:off x="3566160" y="1865376"/>
            <a:ext cx="4114800" cy="1078992"/>
          </a:xfrm>
          <a:prstGeom prst="rect">
            <a:avLst/>
          </a:prstGeom>
          <a:noFill/>
          <a:ln/>
        </p:spPr>
        <p:txBody>
          <a:bodyPr wrap="square" lIns="0" tIns="0" rIns="0" bIns="0" rtlCol="0" anchor="ctr"/>
          <a:lstStyle/>
          <a:p>
            <a:pPr marL="0" indent="0">
              <a:lnSpc>
                <a:spcPct val="103000"/>
              </a:lnSpc>
              <a:buNone/>
            </a:pPr>
            <a:r>
              <a:rPr lang="en-US" sz="1550" i="1" dirty="0">
                <a:solidFill>
                  <a:srgbClr val="1E2A36"/>
                </a:solidFill>
                <a:latin typeface="Calibri" pitchFamily="34" charset="0"/>
                <a:ea typeface="Calibri" pitchFamily="34" charset="-122"/>
                <a:cs typeface="Calibri" pitchFamily="34" charset="-120"/>
              </a:rPr>
              <a:t>"We'll have a backend."</a:t>
            </a:r>
            <a:endParaRPr lang="en-US" sz="1550" dirty="0"/>
          </a:p>
        </p:txBody>
      </p:sp>
      <p:sp>
        <p:nvSpPr>
          <p:cNvPr id="10" name="Text 8"/>
          <p:cNvSpPr/>
          <p:nvPr/>
        </p:nvSpPr>
        <p:spPr>
          <a:xfrm>
            <a:off x="7863840" y="1865376"/>
            <a:ext cx="3474720" cy="1078992"/>
          </a:xfrm>
          <a:prstGeom prst="rect">
            <a:avLst/>
          </a:prstGeom>
          <a:noFill/>
          <a:ln/>
        </p:spPr>
        <p:txBody>
          <a:bodyPr wrap="square" lIns="0" tIns="0" rIns="0" bIns="0" rtlCol="0" anchor="ctr"/>
          <a:lstStyle/>
          <a:p>
            <a:pPr marL="0" indent="0">
              <a:lnSpc>
                <a:spcPct val="103000"/>
              </a:lnSpc>
              <a:buNone/>
            </a:pPr>
            <a:r>
              <a:rPr lang="en-US" sz="1500" dirty="0">
                <a:solidFill>
                  <a:srgbClr val="5F7284"/>
                </a:solidFill>
                <a:latin typeface="Calibri" pitchFamily="34" charset="0"/>
                <a:ea typeface="Calibri" pitchFamily="34" charset="-122"/>
                <a:cs typeface="Calibri" pitchFamily="34" charset="-120"/>
              </a:rPr>
              <a:t>No components, no data, nothing a builder can act on. A wish, not a design.</a:t>
            </a:r>
            <a:endParaRPr lang="en-US" sz="1500" dirty="0"/>
          </a:p>
        </p:txBody>
      </p:sp>
      <p:sp>
        <p:nvSpPr>
          <p:cNvPr id="11" name="Shape 9"/>
          <p:cNvSpPr/>
          <p:nvPr/>
        </p:nvSpPr>
        <p:spPr>
          <a:xfrm>
            <a:off x="548640" y="3200400"/>
            <a:ext cx="11064240" cy="1243584"/>
          </a:xfrm>
          <a:prstGeom prst="roundRect">
            <a:avLst>
              <a:gd name="adj" fmla="val 6618"/>
            </a:avLst>
          </a:prstGeom>
          <a:solidFill>
            <a:srgbClr val="FBEEDA"/>
          </a:solidFill>
          <a:ln/>
          <a:effectLst>
            <a:outerShdw blurRad="88900" dist="38100" dir="5400000" algn="bl" rotWithShape="0">
              <a:srgbClr val="000000">
                <a:alpha val="13000"/>
              </a:srgbClr>
            </a:outerShdw>
          </a:effectLst>
        </p:spPr>
        <p:txBody>
          <a:bodyPr/>
          <a:lstStyle/>
          <a:p>
            <a:endParaRPr lang="en-US"/>
          </a:p>
        </p:txBody>
      </p:sp>
      <p:sp>
        <p:nvSpPr>
          <p:cNvPr id="12" name="Shape 10"/>
          <p:cNvSpPr/>
          <p:nvPr/>
        </p:nvSpPr>
        <p:spPr>
          <a:xfrm>
            <a:off x="822960" y="3547872"/>
            <a:ext cx="548640" cy="548640"/>
          </a:xfrm>
          <a:prstGeom prst="ellipse">
            <a:avLst/>
          </a:prstGeom>
          <a:solidFill>
            <a:srgbClr val="E8A33D"/>
          </a:solidFill>
          <a:ln/>
        </p:spPr>
        <p:txBody>
          <a:bodyPr/>
          <a:lstStyle/>
          <a:p>
            <a:endParaRPr lang="en-US"/>
          </a:p>
        </p:txBody>
      </p:sp>
      <p:sp>
        <p:nvSpPr>
          <p:cNvPr id="13" name="Text 11"/>
          <p:cNvSpPr/>
          <p:nvPr/>
        </p:nvSpPr>
        <p:spPr>
          <a:xfrm>
            <a:off x="822960" y="3547872"/>
            <a:ext cx="548640" cy="548640"/>
          </a:xfrm>
          <a:prstGeom prst="rect">
            <a:avLst/>
          </a:prstGeom>
          <a:noFill/>
          <a:ln/>
        </p:spPr>
        <p:txBody>
          <a:bodyPr wrap="square" lIns="0" tIns="0" rIns="0" bIns="0" rtlCol="0" anchor="ctr"/>
          <a:lstStyle/>
          <a:p>
            <a:pPr marL="0" indent="0" algn="ctr">
              <a:buNone/>
            </a:pPr>
            <a:r>
              <a:rPr lang="en-US" sz="2200" b="1" dirty="0">
                <a:solidFill>
                  <a:srgbClr val="14233A"/>
                </a:solidFill>
                <a:latin typeface="Cambria" pitchFamily="34" charset="0"/>
                <a:ea typeface="Cambria" pitchFamily="34" charset="-122"/>
                <a:cs typeface="Cambria" pitchFamily="34" charset="-120"/>
              </a:rPr>
              <a:t>2</a:t>
            </a:r>
            <a:endParaRPr lang="en-US" sz="2200" dirty="0"/>
          </a:p>
        </p:txBody>
      </p:sp>
      <p:sp>
        <p:nvSpPr>
          <p:cNvPr id="14" name="Text 12"/>
          <p:cNvSpPr/>
          <p:nvPr/>
        </p:nvSpPr>
        <p:spPr>
          <a:xfrm>
            <a:off x="1554480" y="3282696"/>
            <a:ext cx="2011680" cy="1078992"/>
          </a:xfrm>
          <a:prstGeom prst="rect">
            <a:avLst/>
          </a:prstGeom>
          <a:noFill/>
          <a:ln/>
        </p:spPr>
        <p:txBody>
          <a:bodyPr wrap="square" lIns="0" tIns="0" rIns="0" bIns="0" rtlCol="0" anchor="ctr"/>
          <a:lstStyle/>
          <a:p>
            <a:pPr marL="0" indent="0">
              <a:buNone/>
            </a:pPr>
            <a:r>
              <a:rPr lang="en-US" sz="1800" b="1" dirty="0">
                <a:solidFill>
                  <a:srgbClr val="1E2A36"/>
                </a:solidFill>
                <a:latin typeface="Calibri" pitchFamily="34" charset="0"/>
                <a:ea typeface="Calibri" pitchFamily="34" charset="-122"/>
                <a:cs typeface="Calibri" pitchFamily="34" charset="-120"/>
              </a:rPr>
              <a:t>Too much</a:t>
            </a:r>
            <a:endParaRPr lang="en-US" sz="1800" dirty="0"/>
          </a:p>
        </p:txBody>
      </p:sp>
      <p:sp>
        <p:nvSpPr>
          <p:cNvPr id="15" name="Text 13"/>
          <p:cNvSpPr/>
          <p:nvPr/>
        </p:nvSpPr>
        <p:spPr>
          <a:xfrm>
            <a:off x="3566160" y="3282696"/>
            <a:ext cx="4114800" cy="1078992"/>
          </a:xfrm>
          <a:prstGeom prst="rect">
            <a:avLst/>
          </a:prstGeom>
          <a:noFill/>
          <a:ln/>
        </p:spPr>
        <p:txBody>
          <a:bodyPr wrap="square" lIns="0" tIns="0" rIns="0" bIns="0" rtlCol="0" anchor="ctr"/>
          <a:lstStyle/>
          <a:p>
            <a:pPr marL="0" indent="0">
              <a:lnSpc>
                <a:spcPct val="103000"/>
              </a:lnSpc>
              <a:buNone/>
            </a:pPr>
            <a:r>
              <a:rPr lang="en-US" sz="1550" i="1" dirty="0">
                <a:solidFill>
                  <a:srgbClr val="1E2A36"/>
                </a:solidFill>
                <a:latin typeface="Calibri" pitchFamily="34" charset="0"/>
                <a:ea typeface="Calibri" pitchFamily="34" charset="-122"/>
                <a:cs typeface="Calibri" pitchFamily="34" charset="-120"/>
              </a:rPr>
              <a:t>Copied schemas · pseudo-code for CRUD · pinned versions of every library</a:t>
            </a:r>
            <a:endParaRPr lang="en-US" sz="1550" dirty="0"/>
          </a:p>
        </p:txBody>
      </p:sp>
      <p:sp>
        <p:nvSpPr>
          <p:cNvPr id="16" name="Text 14"/>
          <p:cNvSpPr/>
          <p:nvPr/>
        </p:nvSpPr>
        <p:spPr>
          <a:xfrm>
            <a:off x="7863840" y="3282696"/>
            <a:ext cx="3474720" cy="1078992"/>
          </a:xfrm>
          <a:prstGeom prst="rect">
            <a:avLst/>
          </a:prstGeom>
          <a:noFill/>
          <a:ln/>
        </p:spPr>
        <p:txBody>
          <a:bodyPr wrap="square" lIns="0" tIns="0" rIns="0" bIns="0" rtlCol="0" anchor="ctr"/>
          <a:lstStyle/>
          <a:p>
            <a:pPr marL="0" indent="0">
              <a:lnSpc>
                <a:spcPct val="103000"/>
              </a:lnSpc>
              <a:buNone/>
            </a:pPr>
            <a:r>
              <a:rPr lang="en-US" sz="1500" dirty="0">
                <a:solidFill>
                  <a:srgbClr val="5F7284"/>
                </a:solidFill>
                <a:latin typeface="Calibri" pitchFamily="34" charset="0"/>
                <a:ea typeface="Calibri" pitchFamily="34" charset="-122"/>
                <a:cs typeface="Calibri" pitchFamily="34" charset="-120"/>
              </a:rPr>
              <a:t>Stale in a week, and it buries the decisions under mechanics nobody reads.</a:t>
            </a:r>
            <a:endParaRPr lang="en-US" sz="1500" dirty="0"/>
          </a:p>
        </p:txBody>
      </p:sp>
      <p:sp>
        <p:nvSpPr>
          <p:cNvPr id="17" name="Shape 15"/>
          <p:cNvSpPr/>
          <p:nvPr/>
        </p:nvSpPr>
        <p:spPr>
          <a:xfrm>
            <a:off x="548640" y="4617720"/>
            <a:ext cx="11064240" cy="1243584"/>
          </a:xfrm>
          <a:prstGeom prst="roundRect">
            <a:avLst>
              <a:gd name="adj" fmla="val 6618"/>
            </a:avLst>
          </a:prstGeom>
          <a:solidFill>
            <a:srgbClr val="EAF4EE"/>
          </a:solidFill>
          <a:ln/>
          <a:effectLst>
            <a:outerShdw blurRad="88900" dist="38100" dir="5400000" algn="bl" rotWithShape="0">
              <a:srgbClr val="000000">
                <a:alpha val="13000"/>
              </a:srgbClr>
            </a:outerShdw>
          </a:effectLst>
        </p:spPr>
        <p:txBody>
          <a:bodyPr/>
          <a:lstStyle/>
          <a:p>
            <a:endParaRPr lang="en-US"/>
          </a:p>
        </p:txBody>
      </p:sp>
      <p:sp>
        <p:nvSpPr>
          <p:cNvPr id="18" name="Shape 16"/>
          <p:cNvSpPr/>
          <p:nvPr/>
        </p:nvSpPr>
        <p:spPr>
          <a:xfrm>
            <a:off x="822960" y="4965192"/>
            <a:ext cx="548640" cy="548640"/>
          </a:xfrm>
          <a:prstGeom prst="ellipse">
            <a:avLst/>
          </a:prstGeom>
          <a:solidFill>
            <a:srgbClr val="3E9C6B"/>
          </a:solidFill>
          <a:ln/>
        </p:spPr>
        <p:txBody>
          <a:bodyPr/>
          <a:lstStyle/>
          <a:p>
            <a:endParaRPr lang="en-US"/>
          </a:p>
        </p:txBody>
      </p:sp>
      <p:sp>
        <p:nvSpPr>
          <p:cNvPr id="19" name="Text 17"/>
          <p:cNvSpPr/>
          <p:nvPr/>
        </p:nvSpPr>
        <p:spPr>
          <a:xfrm>
            <a:off x="822960" y="4965192"/>
            <a:ext cx="54864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20" name="Text 18"/>
          <p:cNvSpPr/>
          <p:nvPr/>
        </p:nvSpPr>
        <p:spPr>
          <a:xfrm>
            <a:off x="1554480" y="4700016"/>
            <a:ext cx="2011680" cy="1078992"/>
          </a:xfrm>
          <a:prstGeom prst="rect">
            <a:avLst/>
          </a:prstGeom>
          <a:noFill/>
          <a:ln/>
        </p:spPr>
        <p:txBody>
          <a:bodyPr wrap="square" lIns="0" tIns="0" rIns="0" bIns="0" rtlCol="0" anchor="ctr"/>
          <a:lstStyle/>
          <a:p>
            <a:pPr marL="0" indent="0">
              <a:buNone/>
            </a:pPr>
            <a:r>
              <a:rPr lang="en-US" sz="1800" b="1" dirty="0">
                <a:solidFill>
                  <a:srgbClr val="1E2A36"/>
                </a:solidFill>
                <a:latin typeface="Calibri" pitchFamily="34" charset="0"/>
                <a:ea typeface="Calibri" pitchFamily="34" charset="-122"/>
                <a:cs typeface="Calibri" pitchFamily="34" charset="-120"/>
              </a:rPr>
              <a:t>Just right</a:t>
            </a:r>
            <a:endParaRPr lang="en-US" sz="1800" dirty="0"/>
          </a:p>
        </p:txBody>
      </p:sp>
      <p:sp>
        <p:nvSpPr>
          <p:cNvPr id="21" name="Text 19"/>
          <p:cNvSpPr/>
          <p:nvPr/>
        </p:nvSpPr>
        <p:spPr>
          <a:xfrm>
            <a:off x="3566160" y="4700016"/>
            <a:ext cx="4114800" cy="1078992"/>
          </a:xfrm>
          <a:prstGeom prst="rect">
            <a:avLst/>
          </a:prstGeom>
          <a:noFill/>
          <a:ln/>
        </p:spPr>
        <p:txBody>
          <a:bodyPr wrap="square" lIns="0" tIns="0" rIns="0" bIns="0" rtlCol="0" anchor="ctr"/>
          <a:lstStyle/>
          <a:p>
            <a:pPr marL="0" indent="0">
              <a:lnSpc>
                <a:spcPct val="103000"/>
              </a:lnSpc>
              <a:buNone/>
            </a:pPr>
            <a:r>
              <a:rPr lang="en-US" sz="1550" i="1" dirty="0">
                <a:solidFill>
                  <a:srgbClr val="1E2A36"/>
                </a:solidFill>
                <a:latin typeface="Calibri" pitchFamily="34" charset="0"/>
                <a:ea typeface="Calibri" pitchFamily="34" charset="-122"/>
                <a:cs typeface="Calibri" pitchFamily="34" charset="-120"/>
              </a:rPr>
              <a:t>Each component in a paragraph: its job, its interface, what it talks to — and the decision behind it</a:t>
            </a:r>
            <a:endParaRPr lang="en-US" sz="1550" dirty="0"/>
          </a:p>
        </p:txBody>
      </p:sp>
      <p:sp>
        <p:nvSpPr>
          <p:cNvPr id="22" name="Text 20"/>
          <p:cNvSpPr/>
          <p:nvPr/>
        </p:nvSpPr>
        <p:spPr>
          <a:xfrm>
            <a:off x="7863840" y="4700016"/>
            <a:ext cx="3474720" cy="1078992"/>
          </a:xfrm>
          <a:prstGeom prst="rect">
            <a:avLst/>
          </a:prstGeom>
          <a:noFill/>
          <a:ln/>
        </p:spPr>
        <p:txBody>
          <a:bodyPr wrap="square" lIns="0" tIns="0" rIns="0" bIns="0" rtlCol="0" anchor="ctr"/>
          <a:lstStyle/>
          <a:p>
            <a:pPr marL="0" indent="0">
              <a:lnSpc>
                <a:spcPct val="103000"/>
              </a:lnSpc>
              <a:buNone/>
            </a:pPr>
            <a:r>
              <a:rPr lang="en-US" sz="1500" dirty="0">
                <a:solidFill>
                  <a:srgbClr val="5F7284"/>
                </a:solidFill>
                <a:latin typeface="Calibri" pitchFamily="34" charset="0"/>
                <a:ea typeface="Calibri" pitchFamily="34" charset="-122"/>
                <a:cs typeface="Calibri" pitchFamily="34" charset="-120"/>
              </a:rPr>
              <a:t>A teammate could start Monday. A contributor could follow it in January.</a:t>
            </a:r>
            <a:endParaRPr lang="en-US" sz="1500" dirty="0"/>
          </a:p>
        </p:txBody>
      </p:sp>
      <p:sp>
        <p:nvSpPr>
          <p:cNvPr id="23" name="Text 21"/>
          <p:cNvSpPr/>
          <p:nvPr/>
        </p:nvSpPr>
        <p:spPr>
          <a:xfrm>
            <a:off x="548640" y="6053328"/>
            <a:ext cx="11064240" cy="310896"/>
          </a:xfrm>
          <a:prstGeom prst="rect">
            <a:avLst/>
          </a:prstGeom>
          <a:noFill/>
          <a:ln/>
        </p:spPr>
        <p:txBody>
          <a:bodyPr wrap="square" lIns="0" tIns="0" rIns="0" bIns="0" rtlCol="0" anchor="ctr"/>
          <a:lstStyle/>
          <a:p>
            <a:pPr marL="0" indent="0" algn="ctr">
              <a:buNone/>
            </a:pPr>
            <a:r>
              <a:rPr lang="en-US" sz="1550" b="1" dirty="0">
                <a:solidFill>
                  <a:srgbClr val="0E6E6D"/>
                </a:solidFill>
                <a:latin typeface="Calibri" pitchFamily="34" charset="0"/>
                <a:ea typeface="Calibri" pitchFamily="34" charset="-122"/>
                <a:cs typeface="Calibri" pitchFamily="34" charset="-120"/>
              </a:rPr>
              <a:t>The test: a section that says how you'll implement something, with no trade-off in it, probably belongs in the code.</a:t>
            </a:r>
            <a:endParaRPr lang="en-US" sz="1550" dirty="0"/>
          </a:p>
        </p:txBody>
      </p:sp>
      <p:sp>
        <p:nvSpPr>
          <p:cNvPr id="24" name="Text 22"/>
          <p:cNvSpPr/>
          <p:nvPr/>
        </p:nvSpPr>
        <p:spPr>
          <a:xfrm>
            <a:off x="6675120" y="6437376"/>
            <a:ext cx="4937760" cy="274320"/>
          </a:xfrm>
          <a:prstGeom prst="rect">
            <a:avLst/>
          </a:prstGeom>
          <a:noFill/>
          <a:ln/>
        </p:spPr>
        <p:txBody>
          <a:bodyPr wrap="square" lIns="0" tIns="0" rIns="0" bIns="0" rtlCol="0" anchor="ctr"/>
          <a:lstStyle/>
          <a:p>
            <a:pPr marL="0" indent="0" algn="r">
              <a:buNone/>
            </a:pPr>
            <a:r>
              <a:rPr lang="en-US" sz="1000" dirty="0">
                <a:solidFill>
                  <a:srgbClr val="5F7284"/>
                </a:solidFill>
                <a:latin typeface="Calibri" pitchFamily="34" charset="0"/>
                <a:ea typeface="Calibri" pitchFamily="34" charset="-122"/>
                <a:cs typeface="Calibri" pitchFamily="34" charset="-120"/>
              </a:rPr>
              <a:t>CS 301R · Session 11 · Design Documents</a:t>
            </a:r>
            <a:endParaRPr lang="en-US" sz="1000" dirty="0"/>
          </a:p>
        </p:txBody>
      </p:sp>
      <p:sp>
        <p:nvSpPr>
          <p:cNvPr id="25" name="Text 23"/>
          <p:cNvSpPr/>
          <p:nvPr/>
        </p:nvSpPr>
        <p:spPr>
          <a:xfrm>
            <a:off x="548640" y="6437376"/>
            <a:ext cx="548640" cy="274320"/>
          </a:xfrm>
          <a:prstGeom prst="rect">
            <a:avLst/>
          </a:prstGeom>
          <a:noFill/>
          <a:ln/>
        </p:spPr>
        <p:txBody>
          <a:bodyPr wrap="square" lIns="0" tIns="0" rIns="0" bIns="0" rtlCol="0" anchor="ctr"/>
          <a:lstStyle/>
          <a:p>
            <a:pPr marL="0" indent="0">
              <a:buNone/>
            </a:pPr>
            <a:r>
              <a:rPr lang="en-US" sz="1000" dirty="0">
                <a:solidFill>
                  <a:srgbClr val="5F7284"/>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txBody>
          <a:bodyPr/>
          <a:lstStyle/>
          <a:p>
            <a:endParaRPr lang="en-US"/>
          </a:p>
        </p:txBody>
      </p:sp>
      <p:sp>
        <p:nvSpPr>
          <p:cNvPr id="3" name="Text 1"/>
          <p:cNvSpPr/>
          <p:nvPr/>
        </p:nvSpPr>
        <p:spPr>
          <a:xfrm>
            <a:off x="795528" y="402336"/>
            <a:ext cx="10515600" cy="310896"/>
          </a:xfrm>
          <a:prstGeom prst="rect">
            <a:avLst/>
          </a:prstGeom>
          <a:noFill/>
          <a:ln/>
        </p:spPr>
        <p:txBody>
          <a:bodyPr wrap="square" lIns="0" tIns="0" rIns="0" bIns="0" rtlCol="0" anchor="ctr"/>
          <a:lstStyle/>
          <a:p>
            <a:pPr marL="0" indent="0">
              <a:buNone/>
            </a:pPr>
            <a:r>
              <a:rPr lang="en-US" sz="1400" b="1" kern="0" spc="200" dirty="0">
                <a:solidFill>
                  <a:srgbClr val="12908F"/>
                </a:solidFill>
                <a:latin typeface="Calibri" pitchFamily="34" charset="0"/>
                <a:ea typeface="Calibri" pitchFamily="34" charset="-122"/>
                <a:cs typeface="Calibri" pitchFamily="34" charset="-120"/>
              </a:rPr>
              <a:t>…AND NOW COMPLICATE IT</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marL="0" indent="0">
              <a:buNone/>
            </a:pPr>
            <a:r>
              <a:rPr lang="en-US" sz="3100" b="1" dirty="0">
                <a:solidFill>
                  <a:srgbClr val="1E2A36"/>
                </a:solidFill>
                <a:latin typeface="Cambria" pitchFamily="34" charset="0"/>
                <a:ea typeface="Cambria" pitchFamily="34" charset="-122"/>
                <a:cs typeface="Cambria" pitchFamily="34" charset="-120"/>
              </a:rPr>
              <a:t>Altitude follows the reader and the lifetime</a:t>
            </a:r>
            <a:endParaRPr lang="en-US" sz="3100" dirty="0"/>
          </a:p>
        </p:txBody>
      </p:sp>
      <p:sp>
        <p:nvSpPr>
          <p:cNvPr id="5" name="Shape 3"/>
          <p:cNvSpPr/>
          <p:nvPr/>
        </p:nvSpPr>
        <p:spPr>
          <a:xfrm>
            <a:off x="548640" y="1783080"/>
            <a:ext cx="11064240" cy="1051560"/>
          </a:xfrm>
          <a:prstGeom prst="roundRect">
            <a:avLst>
              <a:gd name="adj" fmla="val 7826"/>
            </a:avLst>
          </a:prstGeom>
          <a:solidFill>
            <a:srgbClr val="14233A"/>
          </a:solidFill>
          <a:ln/>
          <a:effectLst>
            <a:outerShdw blurRad="88900" dist="38100" dir="5400000" algn="bl" rotWithShape="0">
              <a:srgbClr val="000000">
                <a:alpha val="13000"/>
              </a:srgbClr>
            </a:outerShdw>
          </a:effectLst>
        </p:spPr>
        <p:txBody>
          <a:bodyPr/>
          <a:lstStyle/>
          <a:p>
            <a:endParaRPr lang="en-US"/>
          </a:p>
        </p:txBody>
      </p:sp>
      <p:sp>
        <p:nvSpPr>
          <p:cNvPr id="6" name="Shape 4"/>
          <p:cNvSpPr/>
          <p:nvPr/>
        </p:nvSpPr>
        <p:spPr>
          <a:xfrm>
            <a:off x="868680" y="2029968"/>
            <a:ext cx="566928" cy="566928"/>
          </a:xfrm>
          <a:prstGeom prst="ellipse">
            <a:avLst/>
          </a:prstGeom>
          <a:solidFill>
            <a:srgbClr val="E8A33D"/>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1021751" y="2183039"/>
            <a:ext cx="260787" cy="260787"/>
          </a:xfrm>
          <a:prstGeom prst="rect">
            <a:avLst/>
          </a:prstGeom>
        </p:spPr>
      </p:pic>
      <p:sp>
        <p:nvSpPr>
          <p:cNvPr id="8" name="Text 5"/>
          <p:cNvSpPr/>
          <p:nvPr/>
        </p:nvSpPr>
        <p:spPr>
          <a:xfrm>
            <a:off x="1691640" y="1783080"/>
            <a:ext cx="9692640" cy="1051560"/>
          </a:xfrm>
          <a:prstGeom prst="rect">
            <a:avLst/>
          </a:prstGeom>
          <a:noFill/>
          <a:ln/>
        </p:spPr>
        <p:txBody>
          <a:bodyPr wrap="square" lIns="0" tIns="0" rIns="0" bIns="0" rtlCol="0" anchor="ctr"/>
          <a:lstStyle/>
          <a:p>
            <a:pPr marL="0" indent="0">
              <a:lnSpc>
                <a:spcPct val="104000"/>
              </a:lnSpc>
              <a:buNone/>
            </a:pPr>
            <a:r>
              <a:rPr lang="en-US" sz="1650" dirty="0">
                <a:solidFill>
                  <a:srgbClr val="FFFFFF"/>
                </a:solidFill>
                <a:latin typeface="Calibri" pitchFamily="34" charset="0"/>
                <a:ea typeface="Calibri" pitchFamily="34" charset="-122"/>
                <a:cs typeface="Calibri" pitchFamily="34" charset="-120"/>
              </a:rPr>
              <a:t>GSSC-0012 documents every message field, every configuration parameter, and every database table — exactly what our rubric forbids. Why is it right there and wrong here?</a:t>
            </a:r>
            <a:endParaRPr lang="en-US" sz="1650" dirty="0"/>
          </a:p>
        </p:txBody>
      </p:sp>
      <p:sp>
        <p:nvSpPr>
          <p:cNvPr id="9" name="Text 6"/>
          <p:cNvSpPr/>
          <p:nvPr/>
        </p:nvSpPr>
        <p:spPr>
          <a:xfrm>
            <a:off x="4114800" y="2971800"/>
            <a:ext cx="3657600" cy="274320"/>
          </a:xfrm>
          <a:prstGeom prst="rect">
            <a:avLst/>
          </a:prstGeom>
          <a:noFill/>
          <a:ln/>
        </p:spPr>
        <p:txBody>
          <a:bodyPr wrap="square" lIns="0" tIns="0" rIns="0" bIns="0" rtlCol="0" anchor="ctr"/>
          <a:lstStyle/>
          <a:p>
            <a:pPr marL="0" indent="0">
              <a:buNone/>
            </a:pPr>
            <a:r>
              <a:rPr lang="en-US" sz="1350" b="1" kern="0" spc="100" dirty="0">
                <a:solidFill>
                  <a:srgbClr val="0E6E6D"/>
                </a:solidFill>
                <a:latin typeface="Calibri" pitchFamily="34" charset="0"/>
                <a:ea typeface="Calibri" pitchFamily="34" charset="-122"/>
                <a:cs typeface="Calibri" pitchFamily="34" charset="-120"/>
              </a:rPr>
              <a:t>YOUR PROJECT</a:t>
            </a:r>
            <a:endParaRPr lang="en-US" sz="1350" dirty="0"/>
          </a:p>
        </p:txBody>
      </p:sp>
      <p:sp>
        <p:nvSpPr>
          <p:cNvPr id="10" name="Text 7"/>
          <p:cNvSpPr/>
          <p:nvPr/>
        </p:nvSpPr>
        <p:spPr>
          <a:xfrm>
            <a:off x="7955280" y="2971800"/>
            <a:ext cx="3657600" cy="274320"/>
          </a:xfrm>
          <a:prstGeom prst="rect">
            <a:avLst/>
          </a:prstGeom>
          <a:noFill/>
          <a:ln/>
        </p:spPr>
        <p:txBody>
          <a:bodyPr wrap="square" lIns="0" tIns="0" rIns="0" bIns="0" rtlCol="0" anchor="ctr"/>
          <a:lstStyle/>
          <a:p>
            <a:pPr marL="0" indent="0">
              <a:buNone/>
            </a:pPr>
            <a:r>
              <a:rPr lang="en-US" sz="1350" b="1" kern="0" spc="100" dirty="0">
                <a:solidFill>
                  <a:srgbClr val="5F7284"/>
                </a:solidFill>
                <a:latin typeface="Calibri" pitchFamily="34" charset="0"/>
                <a:ea typeface="Calibri" pitchFamily="34" charset="-122"/>
                <a:cs typeface="Calibri" pitchFamily="34" charset="-120"/>
              </a:rPr>
              <a:t>GSSC-0012</a:t>
            </a:r>
            <a:endParaRPr lang="en-US" sz="1350" dirty="0"/>
          </a:p>
        </p:txBody>
      </p:sp>
      <p:sp>
        <p:nvSpPr>
          <p:cNvPr id="11" name="Shape 8"/>
          <p:cNvSpPr/>
          <p:nvPr/>
        </p:nvSpPr>
        <p:spPr>
          <a:xfrm>
            <a:off x="548640" y="3291840"/>
            <a:ext cx="11064240" cy="713232"/>
          </a:xfrm>
          <a:prstGeom prst="rect">
            <a:avLst/>
          </a:prstGeom>
          <a:solidFill>
            <a:srgbClr val="F2F6F8"/>
          </a:solidFill>
          <a:ln/>
        </p:spPr>
        <p:txBody>
          <a:bodyPr/>
          <a:lstStyle/>
          <a:p>
            <a:endParaRPr lang="en-US"/>
          </a:p>
        </p:txBody>
      </p:sp>
      <p:sp>
        <p:nvSpPr>
          <p:cNvPr id="12" name="Text 9"/>
          <p:cNvSpPr/>
          <p:nvPr/>
        </p:nvSpPr>
        <p:spPr>
          <a:xfrm>
            <a:off x="822960" y="3291840"/>
            <a:ext cx="3200400" cy="713232"/>
          </a:xfrm>
          <a:prstGeom prst="rect">
            <a:avLst/>
          </a:prstGeom>
          <a:noFill/>
          <a:ln/>
        </p:spPr>
        <p:txBody>
          <a:bodyPr wrap="square" lIns="0" tIns="0" rIns="0" bIns="0" rtlCol="0" anchor="ctr"/>
          <a:lstStyle/>
          <a:p>
            <a:pPr marL="0" indent="0">
              <a:buNone/>
            </a:pPr>
            <a:r>
              <a:rPr lang="en-US" sz="1550" b="1" dirty="0">
                <a:solidFill>
                  <a:srgbClr val="1E2A36"/>
                </a:solidFill>
                <a:latin typeface="Calibri" pitchFamily="34" charset="0"/>
                <a:ea typeface="Calibri" pitchFamily="34" charset="-122"/>
                <a:cs typeface="Calibri" pitchFamily="34" charset="-120"/>
              </a:rPr>
              <a:t>Who reads it</a:t>
            </a:r>
            <a:endParaRPr lang="en-US" sz="1550" dirty="0"/>
          </a:p>
        </p:txBody>
      </p:sp>
      <p:sp>
        <p:nvSpPr>
          <p:cNvPr id="13" name="Text 10"/>
          <p:cNvSpPr/>
          <p:nvPr/>
        </p:nvSpPr>
        <p:spPr>
          <a:xfrm>
            <a:off x="4114800" y="3291840"/>
            <a:ext cx="3749040" cy="713232"/>
          </a:xfrm>
          <a:prstGeom prst="rect">
            <a:avLst/>
          </a:prstGeom>
          <a:noFill/>
          <a:ln/>
        </p:spPr>
        <p:txBody>
          <a:bodyPr wrap="square" lIns="0" tIns="0" rIns="0" bIns="0" rtlCol="0" anchor="ctr"/>
          <a:lstStyle/>
          <a:p>
            <a:pPr marL="0" indent="0">
              <a:lnSpc>
                <a:spcPct val="102000"/>
              </a:lnSpc>
              <a:buNone/>
            </a:pPr>
            <a:r>
              <a:rPr lang="en-US" sz="1500" dirty="0">
                <a:solidFill>
                  <a:srgbClr val="1E2A36"/>
                </a:solidFill>
                <a:latin typeface="Calibri" pitchFamily="34" charset="0"/>
                <a:ea typeface="Calibri" pitchFamily="34" charset="-122"/>
                <a:cs typeface="Calibri" pitchFamily="34" charset="-120"/>
              </a:rPr>
              <a:t>Your teammates, and a contributor in January</a:t>
            </a:r>
            <a:endParaRPr lang="en-US" sz="1500" dirty="0"/>
          </a:p>
        </p:txBody>
      </p:sp>
      <p:sp>
        <p:nvSpPr>
          <p:cNvPr id="14" name="Text 11"/>
          <p:cNvSpPr/>
          <p:nvPr/>
        </p:nvSpPr>
        <p:spPr>
          <a:xfrm>
            <a:off x="7955280" y="3291840"/>
            <a:ext cx="3657600" cy="713232"/>
          </a:xfrm>
          <a:prstGeom prst="rect">
            <a:avLst/>
          </a:prstGeom>
          <a:noFill/>
          <a:ln/>
        </p:spPr>
        <p:txBody>
          <a:bodyPr wrap="square" lIns="0" tIns="0" rIns="0" bIns="0" rtlCol="0" anchor="ctr"/>
          <a:lstStyle/>
          <a:p>
            <a:pPr marL="0" indent="0">
              <a:lnSpc>
                <a:spcPct val="102000"/>
              </a:lnSpc>
              <a:buNone/>
            </a:pPr>
            <a:r>
              <a:rPr lang="en-US" sz="1500" dirty="0">
                <a:solidFill>
                  <a:srgbClr val="5F7284"/>
                </a:solidFill>
                <a:latin typeface="Calibri" pitchFamily="34" charset="0"/>
                <a:ea typeface="Calibri" pitchFamily="34" charset="-122"/>
                <a:cs typeface="Calibri" pitchFamily="34" charset="-120"/>
              </a:rPr>
              <a:t>Reviewers who must approve; operators arriving years later</a:t>
            </a:r>
            <a:endParaRPr lang="en-US" sz="1500" dirty="0"/>
          </a:p>
        </p:txBody>
      </p:sp>
      <p:sp>
        <p:nvSpPr>
          <p:cNvPr id="15" name="Text 12"/>
          <p:cNvSpPr/>
          <p:nvPr/>
        </p:nvSpPr>
        <p:spPr>
          <a:xfrm>
            <a:off x="822960" y="4005072"/>
            <a:ext cx="3200400" cy="713232"/>
          </a:xfrm>
          <a:prstGeom prst="rect">
            <a:avLst/>
          </a:prstGeom>
          <a:noFill/>
          <a:ln/>
        </p:spPr>
        <p:txBody>
          <a:bodyPr wrap="square" lIns="0" tIns="0" rIns="0" bIns="0" rtlCol="0" anchor="ctr"/>
          <a:lstStyle/>
          <a:p>
            <a:pPr marL="0" indent="0">
              <a:buNone/>
            </a:pPr>
            <a:r>
              <a:rPr lang="en-US" sz="1550" b="1" dirty="0">
                <a:solidFill>
                  <a:srgbClr val="1E2A36"/>
                </a:solidFill>
                <a:latin typeface="Calibri" pitchFamily="34" charset="0"/>
                <a:ea typeface="Calibri" pitchFamily="34" charset="-122"/>
                <a:cs typeface="Calibri" pitchFamily="34" charset="-120"/>
              </a:rPr>
              <a:t>How long it lives</a:t>
            </a:r>
            <a:endParaRPr lang="en-US" sz="1550" dirty="0"/>
          </a:p>
        </p:txBody>
      </p:sp>
      <p:sp>
        <p:nvSpPr>
          <p:cNvPr id="16" name="Text 13"/>
          <p:cNvSpPr/>
          <p:nvPr/>
        </p:nvSpPr>
        <p:spPr>
          <a:xfrm>
            <a:off x="4114800" y="4005072"/>
            <a:ext cx="3749040" cy="713232"/>
          </a:xfrm>
          <a:prstGeom prst="rect">
            <a:avLst/>
          </a:prstGeom>
          <a:noFill/>
          <a:ln/>
        </p:spPr>
        <p:txBody>
          <a:bodyPr wrap="square" lIns="0" tIns="0" rIns="0" bIns="0" rtlCol="0" anchor="ctr"/>
          <a:lstStyle/>
          <a:p>
            <a:pPr marL="0" indent="0">
              <a:lnSpc>
                <a:spcPct val="102000"/>
              </a:lnSpc>
              <a:buNone/>
            </a:pPr>
            <a:r>
              <a:rPr lang="en-US" sz="1500" dirty="0">
                <a:solidFill>
                  <a:srgbClr val="1E2A36"/>
                </a:solidFill>
                <a:latin typeface="Calibri" pitchFamily="34" charset="0"/>
                <a:ea typeface="Calibri" pitchFamily="34" charset="-122"/>
                <a:cs typeface="Calibri" pitchFamily="34" charset="-120"/>
              </a:rPr>
              <a:t>Until the design changes</a:t>
            </a:r>
            <a:endParaRPr lang="en-US" sz="1500" dirty="0"/>
          </a:p>
        </p:txBody>
      </p:sp>
      <p:sp>
        <p:nvSpPr>
          <p:cNvPr id="17" name="Text 14"/>
          <p:cNvSpPr/>
          <p:nvPr/>
        </p:nvSpPr>
        <p:spPr>
          <a:xfrm>
            <a:off x="7955280" y="4005072"/>
            <a:ext cx="3657600" cy="713232"/>
          </a:xfrm>
          <a:prstGeom prst="rect">
            <a:avLst/>
          </a:prstGeom>
          <a:noFill/>
          <a:ln/>
        </p:spPr>
        <p:txBody>
          <a:bodyPr wrap="square" lIns="0" tIns="0" rIns="0" bIns="0" rtlCol="0" anchor="ctr"/>
          <a:lstStyle/>
          <a:p>
            <a:pPr marL="0" indent="0">
              <a:lnSpc>
                <a:spcPct val="102000"/>
              </a:lnSpc>
              <a:buNone/>
            </a:pPr>
            <a:r>
              <a:rPr lang="en-US" sz="1500" dirty="0">
                <a:solidFill>
                  <a:srgbClr val="5F7284"/>
                </a:solidFill>
                <a:latin typeface="Calibri" pitchFamily="34" charset="0"/>
                <a:ea typeface="Calibri" pitchFamily="34" charset="-122"/>
                <a:cs typeface="Calibri" pitchFamily="34" charset="-120"/>
              </a:rPr>
              <a:t>The life of the mission, under change control</a:t>
            </a:r>
            <a:endParaRPr lang="en-US" sz="1500" dirty="0"/>
          </a:p>
        </p:txBody>
      </p:sp>
      <p:sp>
        <p:nvSpPr>
          <p:cNvPr id="18" name="Shape 15"/>
          <p:cNvSpPr/>
          <p:nvPr/>
        </p:nvSpPr>
        <p:spPr>
          <a:xfrm>
            <a:off x="548640" y="4718304"/>
            <a:ext cx="11064240" cy="713232"/>
          </a:xfrm>
          <a:prstGeom prst="rect">
            <a:avLst/>
          </a:prstGeom>
          <a:solidFill>
            <a:srgbClr val="F2F6F8"/>
          </a:solidFill>
          <a:ln/>
        </p:spPr>
        <p:txBody>
          <a:bodyPr/>
          <a:lstStyle/>
          <a:p>
            <a:endParaRPr lang="en-US"/>
          </a:p>
        </p:txBody>
      </p:sp>
      <p:sp>
        <p:nvSpPr>
          <p:cNvPr id="19" name="Text 16"/>
          <p:cNvSpPr/>
          <p:nvPr/>
        </p:nvSpPr>
        <p:spPr>
          <a:xfrm>
            <a:off x="822960" y="4718304"/>
            <a:ext cx="3200400" cy="713232"/>
          </a:xfrm>
          <a:prstGeom prst="rect">
            <a:avLst/>
          </a:prstGeom>
          <a:noFill/>
          <a:ln/>
        </p:spPr>
        <p:txBody>
          <a:bodyPr wrap="square" lIns="0" tIns="0" rIns="0" bIns="0" rtlCol="0" anchor="ctr"/>
          <a:lstStyle/>
          <a:p>
            <a:pPr marL="0" indent="0">
              <a:buNone/>
            </a:pPr>
            <a:r>
              <a:rPr lang="en-US" sz="1550" b="1" dirty="0">
                <a:solidFill>
                  <a:srgbClr val="1E2A36"/>
                </a:solidFill>
                <a:latin typeface="Calibri" pitchFamily="34" charset="0"/>
                <a:ea typeface="Calibri" pitchFamily="34" charset="-122"/>
                <a:cs typeface="Calibri" pitchFamily="34" charset="-120"/>
              </a:rPr>
              <a:t>Cost of being wrong</a:t>
            </a:r>
            <a:endParaRPr lang="en-US" sz="1550" dirty="0"/>
          </a:p>
        </p:txBody>
      </p:sp>
      <p:sp>
        <p:nvSpPr>
          <p:cNvPr id="20" name="Text 17"/>
          <p:cNvSpPr/>
          <p:nvPr/>
        </p:nvSpPr>
        <p:spPr>
          <a:xfrm>
            <a:off x="4114800" y="4718304"/>
            <a:ext cx="3749040" cy="713232"/>
          </a:xfrm>
          <a:prstGeom prst="rect">
            <a:avLst/>
          </a:prstGeom>
          <a:noFill/>
          <a:ln/>
        </p:spPr>
        <p:txBody>
          <a:bodyPr wrap="square" lIns="0" tIns="0" rIns="0" bIns="0" rtlCol="0" anchor="ctr"/>
          <a:lstStyle/>
          <a:p>
            <a:pPr marL="0" indent="0">
              <a:lnSpc>
                <a:spcPct val="102000"/>
              </a:lnSpc>
              <a:buNone/>
            </a:pPr>
            <a:r>
              <a:rPr lang="en-US" sz="1500" dirty="0">
                <a:solidFill>
                  <a:srgbClr val="1E2A36"/>
                </a:solidFill>
                <a:latin typeface="Calibri" pitchFamily="34" charset="0"/>
                <a:ea typeface="Calibri" pitchFamily="34" charset="-122"/>
                <a:cs typeface="Calibri" pitchFamily="34" charset="-120"/>
              </a:rPr>
              <a:t>A rewrite in a five-week build</a:t>
            </a:r>
            <a:endParaRPr lang="en-US" sz="1500" dirty="0"/>
          </a:p>
        </p:txBody>
      </p:sp>
      <p:sp>
        <p:nvSpPr>
          <p:cNvPr id="21" name="Text 18"/>
          <p:cNvSpPr/>
          <p:nvPr/>
        </p:nvSpPr>
        <p:spPr>
          <a:xfrm>
            <a:off x="7955280" y="4718304"/>
            <a:ext cx="3657600" cy="713232"/>
          </a:xfrm>
          <a:prstGeom prst="rect">
            <a:avLst/>
          </a:prstGeom>
          <a:noFill/>
          <a:ln/>
        </p:spPr>
        <p:txBody>
          <a:bodyPr wrap="square" lIns="0" tIns="0" rIns="0" bIns="0" rtlCol="0" anchor="ctr"/>
          <a:lstStyle/>
          <a:p>
            <a:pPr marL="0" indent="0">
              <a:lnSpc>
                <a:spcPct val="102000"/>
              </a:lnSpc>
              <a:buNone/>
            </a:pPr>
            <a:r>
              <a:rPr lang="en-US" sz="1500" dirty="0">
                <a:solidFill>
                  <a:srgbClr val="5F7284"/>
                </a:solidFill>
                <a:latin typeface="Calibri" pitchFamily="34" charset="0"/>
                <a:ea typeface="Calibri" pitchFamily="34" charset="-122"/>
                <a:cs typeface="Calibri" pitchFamily="34" charset="-120"/>
              </a:rPr>
              <a:t>A spacecraft's data system nobody can integrate or operate</a:t>
            </a:r>
            <a:endParaRPr lang="en-US" sz="1500" dirty="0"/>
          </a:p>
        </p:txBody>
      </p:sp>
      <p:sp>
        <p:nvSpPr>
          <p:cNvPr id="22" name="Text 19"/>
          <p:cNvSpPr/>
          <p:nvPr/>
        </p:nvSpPr>
        <p:spPr>
          <a:xfrm>
            <a:off x="822960" y="5431536"/>
            <a:ext cx="3200400" cy="713232"/>
          </a:xfrm>
          <a:prstGeom prst="rect">
            <a:avLst/>
          </a:prstGeom>
          <a:noFill/>
          <a:ln/>
        </p:spPr>
        <p:txBody>
          <a:bodyPr wrap="square" lIns="0" tIns="0" rIns="0" bIns="0" rtlCol="0" anchor="ctr"/>
          <a:lstStyle/>
          <a:p>
            <a:pPr marL="0" indent="0">
              <a:buNone/>
            </a:pPr>
            <a:r>
              <a:rPr lang="en-US" sz="1550" b="1" dirty="0">
                <a:solidFill>
                  <a:srgbClr val="1E2A36"/>
                </a:solidFill>
                <a:latin typeface="Calibri" pitchFamily="34" charset="0"/>
                <a:ea typeface="Calibri" pitchFamily="34" charset="-122"/>
                <a:cs typeface="Calibri" pitchFamily="34" charset="-120"/>
              </a:rPr>
              <a:t>So the doc carries</a:t>
            </a:r>
            <a:endParaRPr lang="en-US" sz="1550" dirty="0"/>
          </a:p>
        </p:txBody>
      </p:sp>
      <p:sp>
        <p:nvSpPr>
          <p:cNvPr id="23" name="Text 20"/>
          <p:cNvSpPr/>
          <p:nvPr/>
        </p:nvSpPr>
        <p:spPr>
          <a:xfrm>
            <a:off x="4114800" y="5431536"/>
            <a:ext cx="3749040" cy="713232"/>
          </a:xfrm>
          <a:prstGeom prst="rect">
            <a:avLst/>
          </a:prstGeom>
          <a:noFill/>
          <a:ln/>
        </p:spPr>
        <p:txBody>
          <a:bodyPr wrap="square" lIns="0" tIns="0" rIns="0" bIns="0" rtlCol="0" anchor="ctr"/>
          <a:lstStyle/>
          <a:p>
            <a:pPr marL="0" indent="0">
              <a:lnSpc>
                <a:spcPct val="102000"/>
              </a:lnSpc>
              <a:buNone/>
            </a:pPr>
            <a:r>
              <a:rPr lang="en-US" sz="1500" dirty="0">
                <a:solidFill>
                  <a:srgbClr val="1E2A36"/>
                </a:solidFill>
                <a:latin typeface="Calibri" pitchFamily="34" charset="0"/>
                <a:ea typeface="Calibri" pitchFamily="34" charset="-122"/>
                <a:cs typeface="Calibri" pitchFamily="34" charset="-120"/>
              </a:rPr>
              <a:t>Decisions and trade-offs; mechanics in the code</a:t>
            </a:r>
            <a:endParaRPr lang="en-US" sz="1500" dirty="0"/>
          </a:p>
        </p:txBody>
      </p:sp>
      <p:sp>
        <p:nvSpPr>
          <p:cNvPr id="24" name="Text 21"/>
          <p:cNvSpPr/>
          <p:nvPr/>
        </p:nvSpPr>
        <p:spPr>
          <a:xfrm>
            <a:off x="7955280" y="5431536"/>
            <a:ext cx="3657600" cy="713232"/>
          </a:xfrm>
          <a:prstGeom prst="rect">
            <a:avLst/>
          </a:prstGeom>
          <a:noFill/>
          <a:ln/>
        </p:spPr>
        <p:txBody>
          <a:bodyPr wrap="square" lIns="0" tIns="0" rIns="0" bIns="0" rtlCol="0" anchor="ctr"/>
          <a:lstStyle/>
          <a:p>
            <a:pPr marL="0" indent="0">
              <a:lnSpc>
                <a:spcPct val="102000"/>
              </a:lnSpc>
              <a:buNone/>
            </a:pPr>
            <a:r>
              <a:rPr lang="en-US" sz="1500" dirty="0">
                <a:solidFill>
                  <a:srgbClr val="5F7284"/>
                </a:solidFill>
                <a:latin typeface="Calibri" pitchFamily="34" charset="0"/>
                <a:ea typeface="Calibri" pitchFamily="34" charset="-122"/>
                <a:cs typeface="Calibri" pitchFamily="34" charset="-120"/>
              </a:rPr>
              <a:t>Decisions and the specifics needed to build, test, integrate, operate</a:t>
            </a:r>
            <a:endParaRPr lang="en-US" sz="1500" dirty="0"/>
          </a:p>
        </p:txBody>
      </p:sp>
      <p:sp>
        <p:nvSpPr>
          <p:cNvPr id="25" name="Text 22"/>
          <p:cNvSpPr/>
          <p:nvPr/>
        </p:nvSpPr>
        <p:spPr>
          <a:xfrm>
            <a:off x="548640" y="6263640"/>
            <a:ext cx="11064240" cy="320040"/>
          </a:xfrm>
          <a:prstGeom prst="rect">
            <a:avLst/>
          </a:prstGeom>
          <a:noFill/>
          <a:ln/>
        </p:spPr>
        <p:txBody>
          <a:bodyPr wrap="square" lIns="0" tIns="0" rIns="0" bIns="0" rtlCol="0" anchor="ctr"/>
          <a:lstStyle/>
          <a:p>
            <a:pPr marL="0" indent="0" algn="ctr">
              <a:buNone/>
            </a:pPr>
            <a:r>
              <a:rPr lang="en-US" sz="1500" b="1" dirty="0">
                <a:solidFill>
                  <a:srgbClr val="0E6E6D"/>
                </a:solidFill>
                <a:latin typeface="Calibri" pitchFamily="34" charset="0"/>
                <a:ea typeface="Calibri" pitchFamily="34" charset="-122"/>
                <a:cs typeface="Calibri" pitchFamily="34" charset="-120"/>
              </a:rPr>
              <a:t>Ours: teammates, one semester, cheap to change — so decisions in, mechanics out.</a:t>
            </a:r>
            <a:endParaRPr lang="en-US" sz="1500" dirty="0"/>
          </a:p>
        </p:txBody>
      </p:sp>
      <p:sp>
        <p:nvSpPr>
          <p:cNvPr id="26" name="Text 23"/>
          <p:cNvSpPr/>
          <p:nvPr/>
        </p:nvSpPr>
        <p:spPr>
          <a:xfrm>
            <a:off x="6675120" y="6437376"/>
            <a:ext cx="4937760" cy="274320"/>
          </a:xfrm>
          <a:prstGeom prst="rect">
            <a:avLst/>
          </a:prstGeom>
          <a:noFill/>
          <a:ln/>
        </p:spPr>
        <p:txBody>
          <a:bodyPr wrap="square" lIns="0" tIns="0" rIns="0" bIns="0" rtlCol="0" anchor="ctr"/>
          <a:lstStyle/>
          <a:p>
            <a:pPr marL="0" indent="0" algn="r">
              <a:buNone/>
            </a:pPr>
            <a:r>
              <a:rPr lang="en-US" sz="1000" dirty="0">
                <a:solidFill>
                  <a:srgbClr val="5F7284"/>
                </a:solidFill>
                <a:latin typeface="Calibri" pitchFamily="34" charset="0"/>
                <a:ea typeface="Calibri" pitchFamily="34" charset="-122"/>
                <a:cs typeface="Calibri" pitchFamily="34" charset="-120"/>
              </a:rPr>
              <a:t>CS 301R · Session 11 · Design Documents</a:t>
            </a:r>
            <a:endParaRPr lang="en-US" sz="1000" dirty="0"/>
          </a:p>
        </p:txBody>
      </p:sp>
      <p:sp>
        <p:nvSpPr>
          <p:cNvPr id="27" name="Text 24"/>
          <p:cNvSpPr/>
          <p:nvPr/>
        </p:nvSpPr>
        <p:spPr>
          <a:xfrm>
            <a:off x="548640" y="6437376"/>
            <a:ext cx="548640" cy="274320"/>
          </a:xfrm>
          <a:prstGeom prst="rect">
            <a:avLst/>
          </a:prstGeom>
          <a:noFill/>
          <a:ln/>
        </p:spPr>
        <p:txBody>
          <a:bodyPr wrap="square" lIns="0" tIns="0" rIns="0" bIns="0" rtlCol="0" anchor="ctr"/>
          <a:lstStyle/>
          <a:p>
            <a:pPr marL="0" indent="0">
              <a:buNone/>
            </a:pPr>
            <a:r>
              <a:rPr lang="en-US" sz="1000" dirty="0">
                <a:solidFill>
                  <a:srgbClr val="5F7284"/>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txBody>
          <a:bodyPr/>
          <a:lstStyle/>
          <a:p>
            <a:endParaRPr lang="en-US"/>
          </a:p>
        </p:txBody>
      </p:sp>
      <p:sp>
        <p:nvSpPr>
          <p:cNvPr id="3" name="Text 1"/>
          <p:cNvSpPr/>
          <p:nvPr/>
        </p:nvSpPr>
        <p:spPr>
          <a:xfrm>
            <a:off x="795528" y="402336"/>
            <a:ext cx="10515600" cy="310896"/>
          </a:xfrm>
          <a:prstGeom prst="rect">
            <a:avLst/>
          </a:prstGeom>
          <a:noFill/>
          <a:ln/>
        </p:spPr>
        <p:txBody>
          <a:bodyPr wrap="square" lIns="0" tIns="0" rIns="0" bIns="0" rtlCol="0" anchor="ctr"/>
          <a:lstStyle/>
          <a:p>
            <a:pPr marL="0" indent="0">
              <a:buNone/>
            </a:pPr>
            <a:r>
              <a:rPr lang="en-US" sz="1400" b="1" kern="0" spc="200" dirty="0">
                <a:solidFill>
                  <a:srgbClr val="12908F"/>
                </a:solidFill>
                <a:latin typeface="Calibri" pitchFamily="34" charset="0"/>
                <a:ea typeface="Calibri" pitchFamily="34" charset="-122"/>
                <a:cs typeface="Calibri" pitchFamily="34" charset="-120"/>
              </a:rPr>
              <a:t>THE TEMPLATE — REQUIRED FOR THE DESIGN DOCUMENT</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marL="0" indent="0">
              <a:buNone/>
            </a:pPr>
            <a:r>
              <a:rPr lang="en-US" sz="3100" b="1" dirty="0">
                <a:solidFill>
                  <a:srgbClr val="1E2A36"/>
                </a:solidFill>
                <a:latin typeface="Cambria" pitchFamily="34" charset="0"/>
                <a:ea typeface="Cambria" pitchFamily="34" charset="-122"/>
                <a:cs typeface="Cambria" pitchFamily="34" charset="-120"/>
              </a:rPr>
              <a:t>Conforming to a standard is part of the job</a:t>
            </a:r>
            <a:endParaRPr lang="en-US" sz="3100" dirty="0"/>
          </a:p>
        </p:txBody>
      </p:sp>
      <p:sp>
        <p:nvSpPr>
          <p:cNvPr id="5" name="Shape 3"/>
          <p:cNvSpPr/>
          <p:nvPr/>
        </p:nvSpPr>
        <p:spPr>
          <a:xfrm>
            <a:off x="548640" y="1783080"/>
            <a:ext cx="5440680" cy="566928"/>
          </a:xfrm>
          <a:prstGeom prst="roundRect">
            <a:avLst>
              <a:gd name="adj" fmla="val 14516"/>
            </a:avLst>
          </a:prstGeom>
          <a:solidFill>
            <a:srgbClr val="F2F6F8"/>
          </a:solidFill>
          <a:ln/>
          <a:effectLst>
            <a:outerShdw blurRad="88900" dist="38100" dir="5400000" algn="bl" rotWithShape="0">
              <a:srgbClr val="000000">
                <a:alpha val="13000"/>
              </a:srgbClr>
            </a:outerShdw>
          </a:effectLst>
        </p:spPr>
        <p:txBody>
          <a:bodyPr/>
          <a:lstStyle/>
          <a:p>
            <a:endParaRPr lang="en-US"/>
          </a:p>
        </p:txBody>
      </p:sp>
      <p:sp>
        <p:nvSpPr>
          <p:cNvPr id="6" name="Shape 4"/>
          <p:cNvSpPr/>
          <p:nvPr/>
        </p:nvSpPr>
        <p:spPr>
          <a:xfrm>
            <a:off x="694944" y="1883664"/>
            <a:ext cx="365760" cy="365760"/>
          </a:xfrm>
          <a:prstGeom prst="ellipse">
            <a:avLst/>
          </a:prstGeom>
          <a:solidFill>
            <a:srgbClr val="12908F"/>
          </a:solidFill>
          <a:ln/>
        </p:spPr>
        <p:txBody>
          <a:bodyPr/>
          <a:lstStyle/>
          <a:p>
            <a:endParaRPr lang="en-US"/>
          </a:p>
        </p:txBody>
      </p:sp>
      <p:sp>
        <p:nvSpPr>
          <p:cNvPr id="7" name="Text 5"/>
          <p:cNvSpPr/>
          <p:nvPr/>
        </p:nvSpPr>
        <p:spPr>
          <a:xfrm>
            <a:off x="694944" y="1883664"/>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8" name="Text 6"/>
          <p:cNvSpPr/>
          <p:nvPr/>
        </p:nvSpPr>
        <p:spPr>
          <a:xfrm>
            <a:off x="1207008" y="1783080"/>
            <a:ext cx="4663440" cy="566928"/>
          </a:xfrm>
          <a:prstGeom prst="rect">
            <a:avLst/>
          </a:prstGeom>
          <a:noFill/>
          <a:ln/>
        </p:spPr>
        <p:txBody>
          <a:bodyPr wrap="square" lIns="0" tIns="0" rIns="0" bIns="0" rtlCol="0" anchor="ctr"/>
          <a:lstStyle/>
          <a:p>
            <a:pPr marL="0" indent="0">
              <a:buNone/>
            </a:pPr>
            <a:r>
              <a:rPr lang="en-US" sz="1650" b="1" dirty="0">
                <a:solidFill>
                  <a:srgbClr val="1E2A36"/>
                </a:solidFill>
                <a:latin typeface="Calibri" pitchFamily="34" charset="0"/>
                <a:ea typeface="Calibri" pitchFamily="34" charset="-122"/>
                <a:cs typeface="Calibri" pitchFamily="34" charset="-120"/>
              </a:rPr>
              <a:t>Context &amp; scope</a:t>
            </a:r>
            <a:endParaRPr lang="en-US" sz="1650" dirty="0"/>
          </a:p>
        </p:txBody>
      </p:sp>
      <p:sp>
        <p:nvSpPr>
          <p:cNvPr id="9" name="Shape 7"/>
          <p:cNvSpPr/>
          <p:nvPr/>
        </p:nvSpPr>
        <p:spPr>
          <a:xfrm>
            <a:off x="6172200" y="1783080"/>
            <a:ext cx="5440680" cy="566928"/>
          </a:xfrm>
          <a:prstGeom prst="roundRect">
            <a:avLst>
              <a:gd name="adj" fmla="val 14516"/>
            </a:avLst>
          </a:prstGeom>
          <a:solidFill>
            <a:srgbClr val="F2F6F8"/>
          </a:solidFill>
          <a:ln/>
          <a:effectLst>
            <a:outerShdw blurRad="88900" dist="38100" dir="5400000" algn="bl" rotWithShape="0">
              <a:srgbClr val="000000">
                <a:alpha val="13000"/>
              </a:srgbClr>
            </a:outerShdw>
          </a:effectLst>
        </p:spPr>
        <p:txBody>
          <a:bodyPr/>
          <a:lstStyle/>
          <a:p>
            <a:endParaRPr lang="en-US"/>
          </a:p>
        </p:txBody>
      </p:sp>
      <p:sp>
        <p:nvSpPr>
          <p:cNvPr id="10" name="Shape 8"/>
          <p:cNvSpPr/>
          <p:nvPr/>
        </p:nvSpPr>
        <p:spPr>
          <a:xfrm>
            <a:off x="6318504" y="1883664"/>
            <a:ext cx="365760" cy="365760"/>
          </a:xfrm>
          <a:prstGeom prst="ellipse">
            <a:avLst/>
          </a:prstGeom>
          <a:solidFill>
            <a:srgbClr val="12908F"/>
          </a:solidFill>
          <a:ln/>
        </p:spPr>
        <p:txBody>
          <a:bodyPr/>
          <a:lstStyle/>
          <a:p>
            <a:endParaRPr lang="en-US"/>
          </a:p>
        </p:txBody>
      </p:sp>
      <p:sp>
        <p:nvSpPr>
          <p:cNvPr id="11" name="Text 9"/>
          <p:cNvSpPr/>
          <p:nvPr/>
        </p:nvSpPr>
        <p:spPr>
          <a:xfrm>
            <a:off x="6318504" y="1883664"/>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2" name="Text 10"/>
          <p:cNvSpPr/>
          <p:nvPr/>
        </p:nvSpPr>
        <p:spPr>
          <a:xfrm>
            <a:off x="6830568" y="1783080"/>
            <a:ext cx="4663440" cy="566928"/>
          </a:xfrm>
          <a:prstGeom prst="rect">
            <a:avLst/>
          </a:prstGeom>
          <a:noFill/>
          <a:ln/>
        </p:spPr>
        <p:txBody>
          <a:bodyPr wrap="square" lIns="0" tIns="0" rIns="0" bIns="0" rtlCol="0" anchor="ctr"/>
          <a:lstStyle/>
          <a:p>
            <a:pPr marL="0" indent="0">
              <a:buNone/>
            </a:pPr>
            <a:r>
              <a:rPr lang="en-US" sz="1650" b="1" dirty="0">
                <a:solidFill>
                  <a:srgbClr val="1E2A36"/>
                </a:solidFill>
                <a:latin typeface="Calibri" pitchFamily="34" charset="0"/>
                <a:ea typeface="Calibri" pitchFamily="34" charset="-122"/>
                <a:cs typeface="Calibri" pitchFamily="34" charset="-120"/>
              </a:rPr>
              <a:t>Goals &amp; non-goals</a:t>
            </a:r>
            <a:endParaRPr lang="en-US" sz="1650" dirty="0"/>
          </a:p>
        </p:txBody>
      </p:sp>
      <p:sp>
        <p:nvSpPr>
          <p:cNvPr id="13" name="Shape 11"/>
          <p:cNvSpPr/>
          <p:nvPr/>
        </p:nvSpPr>
        <p:spPr>
          <a:xfrm>
            <a:off x="548640" y="2441448"/>
            <a:ext cx="5440680" cy="566928"/>
          </a:xfrm>
          <a:prstGeom prst="roundRect">
            <a:avLst>
              <a:gd name="adj" fmla="val 14516"/>
            </a:avLst>
          </a:prstGeom>
          <a:solidFill>
            <a:srgbClr val="F2F6F8"/>
          </a:solidFill>
          <a:ln/>
          <a:effectLst>
            <a:outerShdw blurRad="88900" dist="38100" dir="5400000" algn="bl" rotWithShape="0">
              <a:srgbClr val="000000">
                <a:alpha val="13000"/>
              </a:srgbClr>
            </a:outerShdw>
          </a:effectLst>
        </p:spPr>
        <p:txBody>
          <a:bodyPr/>
          <a:lstStyle/>
          <a:p>
            <a:endParaRPr lang="en-US"/>
          </a:p>
        </p:txBody>
      </p:sp>
      <p:sp>
        <p:nvSpPr>
          <p:cNvPr id="14" name="Shape 12"/>
          <p:cNvSpPr/>
          <p:nvPr/>
        </p:nvSpPr>
        <p:spPr>
          <a:xfrm>
            <a:off x="694944" y="2542032"/>
            <a:ext cx="365760" cy="365760"/>
          </a:xfrm>
          <a:prstGeom prst="ellipse">
            <a:avLst/>
          </a:prstGeom>
          <a:solidFill>
            <a:srgbClr val="12908F"/>
          </a:solidFill>
          <a:ln/>
        </p:spPr>
        <p:txBody>
          <a:bodyPr/>
          <a:lstStyle/>
          <a:p>
            <a:endParaRPr lang="en-US"/>
          </a:p>
        </p:txBody>
      </p:sp>
      <p:sp>
        <p:nvSpPr>
          <p:cNvPr id="15" name="Text 13"/>
          <p:cNvSpPr/>
          <p:nvPr/>
        </p:nvSpPr>
        <p:spPr>
          <a:xfrm>
            <a:off x="694944" y="2542032"/>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6" name="Text 14"/>
          <p:cNvSpPr/>
          <p:nvPr/>
        </p:nvSpPr>
        <p:spPr>
          <a:xfrm>
            <a:off x="1207008" y="2441448"/>
            <a:ext cx="4663440" cy="566928"/>
          </a:xfrm>
          <a:prstGeom prst="rect">
            <a:avLst/>
          </a:prstGeom>
          <a:noFill/>
          <a:ln/>
        </p:spPr>
        <p:txBody>
          <a:bodyPr wrap="square" lIns="0" tIns="0" rIns="0" bIns="0" rtlCol="0" anchor="ctr"/>
          <a:lstStyle/>
          <a:p>
            <a:pPr marL="0" indent="0">
              <a:buNone/>
            </a:pPr>
            <a:r>
              <a:rPr lang="en-US" sz="1650" b="1" dirty="0">
                <a:solidFill>
                  <a:srgbClr val="1E2A36"/>
                </a:solidFill>
                <a:latin typeface="Calibri" pitchFamily="34" charset="0"/>
                <a:ea typeface="Calibri" pitchFamily="34" charset="-122"/>
                <a:cs typeface="Calibri" pitchFamily="34" charset="-120"/>
              </a:rPr>
              <a:t>System-context diagram</a:t>
            </a:r>
            <a:endParaRPr lang="en-US" sz="1650" dirty="0"/>
          </a:p>
        </p:txBody>
      </p:sp>
      <p:sp>
        <p:nvSpPr>
          <p:cNvPr id="17" name="Shape 15"/>
          <p:cNvSpPr/>
          <p:nvPr/>
        </p:nvSpPr>
        <p:spPr>
          <a:xfrm>
            <a:off x="6172200" y="2441448"/>
            <a:ext cx="5440680" cy="566928"/>
          </a:xfrm>
          <a:prstGeom prst="roundRect">
            <a:avLst>
              <a:gd name="adj" fmla="val 14516"/>
            </a:avLst>
          </a:prstGeom>
          <a:solidFill>
            <a:srgbClr val="F2F6F8"/>
          </a:solidFill>
          <a:ln/>
          <a:effectLst>
            <a:outerShdw blurRad="88900" dist="38100" dir="5400000" algn="bl" rotWithShape="0">
              <a:srgbClr val="000000">
                <a:alpha val="13000"/>
              </a:srgbClr>
            </a:outerShdw>
          </a:effectLst>
        </p:spPr>
        <p:txBody>
          <a:bodyPr/>
          <a:lstStyle/>
          <a:p>
            <a:endParaRPr lang="en-US"/>
          </a:p>
        </p:txBody>
      </p:sp>
      <p:sp>
        <p:nvSpPr>
          <p:cNvPr id="18" name="Shape 16"/>
          <p:cNvSpPr/>
          <p:nvPr/>
        </p:nvSpPr>
        <p:spPr>
          <a:xfrm>
            <a:off x="6318504" y="2542032"/>
            <a:ext cx="365760" cy="365760"/>
          </a:xfrm>
          <a:prstGeom prst="ellipse">
            <a:avLst/>
          </a:prstGeom>
          <a:solidFill>
            <a:srgbClr val="12908F"/>
          </a:solidFill>
          <a:ln/>
        </p:spPr>
        <p:txBody>
          <a:bodyPr/>
          <a:lstStyle/>
          <a:p>
            <a:endParaRPr lang="en-US"/>
          </a:p>
        </p:txBody>
      </p:sp>
      <p:sp>
        <p:nvSpPr>
          <p:cNvPr id="19" name="Text 17"/>
          <p:cNvSpPr/>
          <p:nvPr/>
        </p:nvSpPr>
        <p:spPr>
          <a:xfrm>
            <a:off x="6318504" y="2542032"/>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0" name="Text 18"/>
          <p:cNvSpPr/>
          <p:nvPr/>
        </p:nvSpPr>
        <p:spPr>
          <a:xfrm>
            <a:off x="6830568" y="2441448"/>
            <a:ext cx="4663440" cy="566928"/>
          </a:xfrm>
          <a:prstGeom prst="rect">
            <a:avLst/>
          </a:prstGeom>
          <a:noFill/>
          <a:ln/>
        </p:spPr>
        <p:txBody>
          <a:bodyPr wrap="square" lIns="0" tIns="0" rIns="0" bIns="0" rtlCol="0" anchor="ctr"/>
          <a:lstStyle/>
          <a:p>
            <a:pPr marL="0" indent="0">
              <a:buNone/>
            </a:pPr>
            <a:r>
              <a:rPr lang="en-US" sz="1650" b="1" dirty="0">
                <a:solidFill>
                  <a:srgbClr val="1E2A36"/>
                </a:solidFill>
                <a:latin typeface="Calibri" pitchFamily="34" charset="0"/>
                <a:ea typeface="Calibri" pitchFamily="34" charset="-122"/>
                <a:cs typeface="Calibri" pitchFamily="34" charset="-120"/>
              </a:rPr>
              <a:t>Architecture &amp; components</a:t>
            </a:r>
            <a:endParaRPr lang="en-US" sz="1650" dirty="0"/>
          </a:p>
        </p:txBody>
      </p:sp>
      <p:sp>
        <p:nvSpPr>
          <p:cNvPr id="21" name="Shape 19"/>
          <p:cNvSpPr/>
          <p:nvPr/>
        </p:nvSpPr>
        <p:spPr>
          <a:xfrm>
            <a:off x="548640" y="3099816"/>
            <a:ext cx="5440680" cy="566928"/>
          </a:xfrm>
          <a:prstGeom prst="roundRect">
            <a:avLst>
              <a:gd name="adj" fmla="val 14516"/>
            </a:avLst>
          </a:prstGeom>
          <a:solidFill>
            <a:srgbClr val="F2F6F8"/>
          </a:solidFill>
          <a:ln/>
          <a:effectLst>
            <a:outerShdw blurRad="88900" dist="38100" dir="5400000" algn="bl" rotWithShape="0">
              <a:srgbClr val="000000">
                <a:alpha val="13000"/>
              </a:srgbClr>
            </a:outerShdw>
          </a:effectLst>
        </p:spPr>
        <p:txBody>
          <a:bodyPr/>
          <a:lstStyle/>
          <a:p>
            <a:endParaRPr lang="en-US"/>
          </a:p>
        </p:txBody>
      </p:sp>
      <p:sp>
        <p:nvSpPr>
          <p:cNvPr id="22" name="Shape 20"/>
          <p:cNvSpPr/>
          <p:nvPr/>
        </p:nvSpPr>
        <p:spPr>
          <a:xfrm>
            <a:off x="694944" y="3200400"/>
            <a:ext cx="365760" cy="365760"/>
          </a:xfrm>
          <a:prstGeom prst="ellipse">
            <a:avLst/>
          </a:prstGeom>
          <a:solidFill>
            <a:srgbClr val="12908F"/>
          </a:solidFill>
          <a:ln/>
        </p:spPr>
        <p:txBody>
          <a:bodyPr/>
          <a:lstStyle/>
          <a:p>
            <a:endParaRPr lang="en-US"/>
          </a:p>
        </p:txBody>
      </p:sp>
      <p:sp>
        <p:nvSpPr>
          <p:cNvPr id="23" name="Text 21"/>
          <p:cNvSpPr/>
          <p:nvPr/>
        </p:nvSpPr>
        <p:spPr>
          <a:xfrm>
            <a:off x="694944" y="3200400"/>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5</a:t>
            </a:r>
            <a:endParaRPr lang="en-US" sz="1500" dirty="0"/>
          </a:p>
        </p:txBody>
      </p:sp>
      <p:sp>
        <p:nvSpPr>
          <p:cNvPr id="24" name="Text 22"/>
          <p:cNvSpPr/>
          <p:nvPr/>
        </p:nvSpPr>
        <p:spPr>
          <a:xfrm>
            <a:off x="1207008" y="3099816"/>
            <a:ext cx="4663440" cy="566928"/>
          </a:xfrm>
          <a:prstGeom prst="rect">
            <a:avLst/>
          </a:prstGeom>
          <a:noFill/>
          <a:ln/>
        </p:spPr>
        <p:txBody>
          <a:bodyPr wrap="square" lIns="0" tIns="0" rIns="0" bIns="0" rtlCol="0" anchor="ctr"/>
          <a:lstStyle/>
          <a:p>
            <a:pPr marL="0" indent="0">
              <a:buNone/>
            </a:pPr>
            <a:r>
              <a:rPr lang="en-US" sz="1650" b="1" dirty="0">
                <a:solidFill>
                  <a:srgbClr val="1E2A36"/>
                </a:solidFill>
                <a:latin typeface="Calibri" pitchFamily="34" charset="0"/>
                <a:ea typeface="Calibri" pitchFamily="34" charset="-122"/>
                <a:cs typeface="Calibri" pitchFamily="34" charset="-120"/>
              </a:rPr>
              <a:t>Data model</a:t>
            </a:r>
            <a:endParaRPr lang="en-US" sz="1650" dirty="0"/>
          </a:p>
        </p:txBody>
      </p:sp>
      <p:sp>
        <p:nvSpPr>
          <p:cNvPr id="25" name="Shape 23"/>
          <p:cNvSpPr/>
          <p:nvPr/>
        </p:nvSpPr>
        <p:spPr>
          <a:xfrm>
            <a:off x="6172200" y="3099816"/>
            <a:ext cx="5440680" cy="566928"/>
          </a:xfrm>
          <a:prstGeom prst="roundRect">
            <a:avLst>
              <a:gd name="adj" fmla="val 14516"/>
            </a:avLst>
          </a:prstGeom>
          <a:solidFill>
            <a:srgbClr val="F2F6F8"/>
          </a:solidFill>
          <a:ln/>
          <a:effectLst>
            <a:outerShdw blurRad="88900" dist="38100" dir="5400000" algn="bl" rotWithShape="0">
              <a:srgbClr val="000000">
                <a:alpha val="13000"/>
              </a:srgbClr>
            </a:outerShdw>
          </a:effectLst>
        </p:spPr>
        <p:txBody>
          <a:bodyPr/>
          <a:lstStyle/>
          <a:p>
            <a:endParaRPr lang="en-US"/>
          </a:p>
        </p:txBody>
      </p:sp>
      <p:sp>
        <p:nvSpPr>
          <p:cNvPr id="26" name="Shape 24"/>
          <p:cNvSpPr/>
          <p:nvPr/>
        </p:nvSpPr>
        <p:spPr>
          <a:xfrm>
            <a:off x="6318504" y="3200400"/>
            <a:ext cx="365760" cy="365760"/>
          </a:xfrm>
          <a:prstGeom prst="ellipse">
            <a:avLst/>
          </a:prstGeom>
          <a:solidFill>
            <a:srgbClr val="12908F"/>
          </a:solidFill>
          <a:ln/>
        </p:spPr>
        <p:txBody>
          <a:bodyPr/>
          <a:lstStyle/>
          <a:p>
            <a:endParaRPr lang="en-US"/>
          </a:p>
        </p:txBody>
      </p:sp>
      <p:sp>
        <p:nvSpPr>
          <p:cNvPr id="27" name="Text 25"/>
          <p:cNvSpPr/>
          <p:nvPr/>
        </p:nvSpPr>
        <p:spPr>
          <a:xfrm>
            <a:off x="6318504" y="3200400"/>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6</a:t>
            </a:r>
            <a:endParaRPr lang="en-US" sz="1500" dirty="0"/>
          </a:p>
        </p:txBody>
      </p:sp>
      <p:sp>
        <p:nvSpPr>
          <p:cNvPr id="28" name="Text 26"/>
          <p:cNvSpPr/>
          <p:nvPr/>
        </p:nvSpPr>
        <p:spPr>
          <a:xfrm>
            <a:off x="6830568" y="3099816"/>
            <a:ext cx="4663440" cy="566928"/>
          </a:xfrm>
          <a:prstGeom prst="rect">
            <a:avLst/>
          </a:prstGeom>
          <a:noFill/>
          <a:ln/>
        </p:spPr>
        <p:txBody>
          <a:bodyPr wrap="square" lIns="0" tIns="0" rIns="0" bIns="0" rtlCol="0" anchor="ctr"/>
          <a:lstStyle/>
          <a:p>
            <a:pPr marL="0" indent="0">
              <a:buNone/>
            </a:pPr>
            <a:r>
              <a:rPr lang="en-US" sz="1650" b="1" dirty="0">
                <a:solidFill>
                  <a:srgbClr val="1E2A36"/>
                </a:solidFill>
                <a:latin typeface="Calibri" pitchFamily="34" charset="0"/>
                <a:ea typeface="Calibri" pitchFamily="34" charset="-122"/>
                <a:cs typeface="Calibri" pitchFamily="34" charset="-120"/>
              </a:rPr>
              <a:t>Tech choices &amp; alternatives</a:t>
            </a:r>
            <a:endParaRPr lang="en-US" sz="1650" dirty="0"/>
          </a:p>
        </p:txBody>
      </p:sp>
      <p:sp>
        <p:nvSpPr>
          <p:cNvPr id="29" name="Shape 27"/>
          <p:cNvSpPr/>
          <p:nvPr/>
        </p:nvSpPr>
        <p:spPr>
          <a:xfrm>
            <a:off x="548640" y="3758184"/>
            <a:ext cx="5440680" cy="566928"/>
          </a:xfrm>
          <a:prstGeom prst="roundRect">
            <a:avLst>
              <a:gd name="adj" fmla="val 14516"/>
            </a:avLst>
          </a:prstGeom>
          <a:solidFill>
            <a:srgbClr val="F2F6F8"/>
          </a:solidFill>
          <a:ln/>
          <a:effectLst>
            <a:outerShdw blurRad="88900" dist="38100" dir="5400000" algn="bl" rotWithShape="0">
              <a:srgbClr val="000000">
                <a:alpha val="13000"/>
              </a:srgbClr>
            </a:outerShdw>
          </a:effectLst>
        </p:spPr>
        <p:txBody>
          <a:bodyPr/>
          <a:lstStyle/>
          <a:p>
            <a:endParaRPr lang="en-US"/>
          </a:p>
        </p:txBody>
      </p:sp>
      <p:sp>
        <p:nvSpPr>
          <p:cNvPr id="30" name="Shape 28"/>
          <p:cNvSpPr/>
          <p:nvPr/>
        </p:nvSpPr>
        <p:spPr>
          <a:xfrm>
            <a:off x="694944" y="3858768"/>
            <a:ext cx="365760" cy="365760"/>
          </a:xfrm>
          <a:prstGeom prst="ellipse">
            <a:avLst/>
          </a:prstGeom>
          <a:solidFill>
            <a:srgbClr val="12908F"/>
          </a:solidFill>
          <a:ln/>
        </p:spPr>
        <p:txBody>
          <a:bodyPr/>
          <a:lstStyle/>
          <a:p>
            <a:endParaRPr lang="en-US"/>
          </a:p>
        </p:txBody>
      </p:sp>
      <p:sp>
        <p:nvSpPr>
          <p:cNvPr id="31" name="Text 29"/>
          <p:cNvSpPr/>
          <p:nvPr/>
        </p:nvSpPr>
        <p:spPr>
          <a:xfrm>
            <a:off x="694944" y="3858768"/>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7</a:t>
            </a:r>
            <a:endParaRPr lang="en-US" sz="1500" dirty="0"/>
          </a:p>
        </p:txBody>
      </p:sp>
      <p:sp>
        <p:nvSpPr>
          <p:cNvPr id="32" name="Text 30"/>
          <p:cNvSpPr/>
          <p:nvPr/>
        </p:nvSpPr>
        <p:spPr>
          <a:xfrm>
            <a:off x="1207008" y="3758184"/>
            <a:ext cx="4663440" cy="566928"/>
          </a:xfrm>
          <a:prstGeom prst="rect">
            <a:avLst/>
          </a:prstGeom>
          <a:noFill/>
          <a:ln/>
        </p:spPr>
        <p:txBody>
          <a:bodyPr wrap="square" lIns="0" tIns="0" rIns="0" bIns="0" rtlCol="0" anchor="ctr"/>
          <a:lstStyle/>
          <a:p>
            <a:pPr marL="0" indent="0">
              <a:buNone/>
            </a:pPr>
            <a:r>
              <a:rPr lang="en-US" sz="1650" b="1" dirty="0">
                <a:solidFill>
                  <a:srgbClr val="1E2A36"/>
                </a:solidFill>
                <a:latin typeface="Calibri" pitchFamily="34" charset="0"/>
                <a:ea typeface="Calibri" pitchFamily="34" charset="-122"/>
                <a:cs typeface="Calibri" pitchFamily="34" charset="-120"/>
              </a:rPr>
              <a:t>Risks &amp; open questions</a:t>
            </a:r>
            <a:endParaRPr lang="en-US" sz="1650" dirty="0"/>
          </a:p>
        </p:txBody>
      </p:sp>
      <p:sp>
        <p:nvSpPr>
          <p:cNvPr id="33" name="Shape 31"/>
          <p:cNvSpPr/>
          <p:nvPr/>
        </p:nvSpPr>
        <p:spPr>
          <a:xfrm>
            <a:off x="6172200" y="3758184"/>
            <a:ext cx="5440680" cy="566928"/>
          </a:xfrm>
          <a:prstGeom prst="roundRect">
            <a:avLst>
              <a:gd name="adj" fmla="val 14516"/>
            </a:avLst>
          </a:prstGeom>
          <a:solidFill>
            <a:srgbClr val="F2F6F8"/>
          </a:solidFill>
          <a:ln/>
          <a:effectLst>
            <a:outerShdw blurRad="88900" dist="38100" dir="5400000" algn="bl" rotWithShape="0">
              <a:srgbClr val="000000">
                <a:alpha val="13000"/>
              </a:srgbClr>
            </a:outerShdw>
          </a:effectLst>
        </p:spPr>
        <p:txBody>
          <a:bodyPr/>
          <a:lstStyle/>
          <a:p>
            <a:endParaRPr lang="en-US"/>
          </a:p>
        </p:txBody>
      </p:sp>
      <p:sp>
        <p:nvSpPr>
          <p:cNvPr id="34" name="Shape 32"/>
          <p:cNvSpPr/>
          <p:nvPr/>
        </p:nvSpPr>
        <p:spPr>
          <a:xfrm>
            <a:off x="6318504" y="3858768"/>
            <a:ext cx="365760" cy="365760"/>
          </a:xfrm>
          <a:prstGeom prst="ellipse">
            <a:avLst/>
          </a:prstGeom>
          <a:solidFill>
            <a:srgbClr val="12908F"/>
          </a:solidFill>
          <a:ln/>
        </p:spPr>
        <p:txBody>
          <a:bodyPr/>
          <a:lstStyle/>
          <a:p>
            <a:endParaRPr lang="en-US"/>
          </a:p>
        </p:txBody>
      </p:sp>
      <p:sp>
        <p:nvSpPr>
          <p:cNvPr id="35" name="Text 33"/>
          <p:cNvSpPr/>
          <p:nvPr/>
        </p:nvSpPr>
        <p:spPr>
          <a:xfrm>
            <a:off x="6318504" y="3858768"/>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8</a:t>
            </a:r>
            <a:endParaRPr lang="en-US" sz="1500" dirty="0"/>
          </a:p>
        </p:txBody>
      </p:sp>
      <p:sp>
        <p:nvSpPr>
          <p:cNvPr id="36" name="Text 34"/>
          <p:cNvSpPr/>
          <p:nvPr/>
        </p:nvSpPr>
        <p:spPr>
          <a:xfrm>
            <a:off x="6830568" y="3758184"/>
            <a:ext cx="4663440" cy="566928"/>
          </a:xfrm>
          <a:prstGeom prst="rect">
            <a:avLst/>
          </a:prstGeom>
          <a:noFill/>
          <a:ln/>
        </p:spPr>
        <p:txBody>
          <a:bodyPr wrap="square" lIns="0" tIns="0" rIns="0" bIns="0" rtlCol="0" anchor="ctr"/>
          <a:lstStyle/>
          <a:p>
            <a:pPr marL="0" indent="0">
              <a:buNone/>
            </a:pPr>
            <a:r>
              <a:rPr lang="en-US" sz="1650" b="1" dirty="0">
                <a:solidFill>
                  <a:srgbClr val="1E2A36"/>
                </a:solidFill>
                <a:latin typeface="Calibri" pitchFamily="34" charset="0"/>
                <a:ea typeface="Calibri" pitchFamily="34" charset="-122"/>
                <a:cs typeface="Calibri" pitchFamily="34" charset="-120"/>
              </a:rPr>
              <a:t>Implementation plan</a:t>
            </a:r>
            <a:endParaRPr lang="en-US" sz="1650" dirty="0"/>
          </a:p>
        </p:txBody>
      </p:sp>
      <p:sp>
        <p:nvSpPr>
          <p:cNvPr id="37" name="Shape 35"/>
          <p:cNvSpPr/>
          <p:nvPr/>
        </p:nvSpPr>
        <p:spPr>
          <a:xfrm>
            <a:off x="548640" y="4526280"/>
            <a:ext cx="5440680" cy="1005840"/>
          </a:xfrm>
          <a:prstGeom prst="roundRect">
            <a:avLst>
              <a:gd name="adj" fmla="val 8182"/>
            </a:avLst>
          </a:prstGeom>
          <a:solidFill>
            <a:srgbClr val="14233A"/>
          </a:solidFill>
          <a:ln/>
          <a:effectLst>
            <a:outerShdw blurRad="88900" dist="38100" dir="5400000" algn="bl" rotWithShape="0">
              <a:srgbClr val="000000">
                <a:alpha val="13000"/>
              </a:srgbClr>
            </a:outerShdw>
          </a:effectLst>
        </p:spPr>
        <p:txBody>
          <a:bodyPr/>
          <a:lstStyle/>
          <a:p>
            <a:endParaRPr lang="en-US"/>
          </a:p>
        </p:txBody>
      </p:sp>
      <p:sp>
        <p:nvSpPr>
          <p:cNvPr id="38" name="Text 36"/>
          <p:cNvSpPr/>
          <p:nvPr/>
        </p:nvSpPr>
        <p:spPr>
          <a:xfrm>
            <a:off x="868680" y="4526280"/>
            <a:ext cx="4846320" cy="1005840"/>
          </a:xfrm>
          <a:prstGeom prst="rect">
            <a:avLst/>
          </a:prstGeom>
          <a:noFill/>
          <a:ln/>
        </p:spPr>
        <p:txBody>
          <a:bodyPr wrap="square" lIns="0" tIns="0" rIns="0" bIns="0" rtlCol="0" anchor="ctr"/>
          <a:lstStyle/>
          <a:p>
            <a:pPr marL="0" indent="0">
              <a:lnSpc>
                <a:spcPct val="104000"/>
              </a:lnSpc>
              <a:buNone/>
            </a:pPr>
            <a:r>
              <a:rPr lang="en-US" sz="1550" b="1" dirty="0">
                <a:solidFill>
                  <a:srgbClr val="E8A33D"/>
                </a:solidFill>
                <a:latin typeface="Calibri" pitchFamily="34" charset="0"/>
                <a:ea typeface="Calibri" pitchFamily="34" charset="-122"/>
                <a:cs typeface="Calibri" pitchFamily="34" charset="-120"/>
              </a:rPr>
              <a:t>Plus the light formal machinery:  </a:t>
            </a:r>
            <a:r>
              <a:rPr lang="en-US" sz="1550" dirty="0">
                <a:solidFill>
                  <a:srgbClr val="CFE0E9"/>
                </a:solidFill>
                <a:latin typeface="Calibri" pitchFamily="34" charset="0"/>
                <a:ea typeface="Calibri" pitchFamily="34" charset="-122"/>
                <a:cs typeface="Calibri" pitchFamily="34" charset="-120"/>
              </a:rPr>
              <a:t>a status line, a revision history, and a sign-off table.</a:t>
            </a:r>
            <a:endParaRPr lang="en-US" sz="1550" dirty="0"/>
          </a:p>
        </p:txBody>
      </p:sp>
      <p:sp>
        <p:nvSpPr>
          <p:cNvPr id="39" name="Shape 37"/>
          <p:cNvSpPr/>
          <p:nvPr/>
        </p:nvSpPr>
        <p:spPr>
          <a:xfrm>
            <a:off x="6172200" y="4526280"/>
            <a:ext cx="5440680" cy="1005840"/>
          </a:xfrm>
          <a:prstGeom prst="roundRect">
            <a:avLst>
              <a:gd name="adj" fmla="val 8182"/>
            </a:avLst>
          </a:prstGeom>
          <a:solidFill>
            <a:srgbClr val="F2F6F8"/>
          </a:solidFill>
          <a:ln/>
          <a:effectLst>
            <a:outerShdw blurRad="88900" dist="38100" dir="5400000" algn="bl" rotWithShape="0">
              <a:srgbClr val="000000">
                <a:alpha val="13000"/>
              </a:srgbClr>
            </a:outerShdw>
          </a:effectLst>
        </p:spPr>
        <p:txBody>
          <a:bodyPr/>
          <a:lstStyle/>
          <a:p>
            <a:endParaRPr lang="en-US"/>
          </a:p>
        </p:txBody>
      </p:sp>
      <p:sp>
        <p:nvSpPr>
          <p:cNvPr id="40" name="Text 38"/>
          <p:cNvSpPr/>
          <p:nvPr/>
        </p:nvSpPr>
        <p:spPr>
          <a:xfrm>
            <a:off x="6492240" y="4526280"/>
            <a:ext cx="4846320" cy="1005840"/>
          </a:xfrm>
          <a:prstGeom prst="rect">
            <a:avLst/>
          </a:prstGeom>
          <a:noFill/>
          <a:ln/>
        </p:spPr>
        <p:txBody>
          <a:bodyPr wrap="square" lIns="0" tIns="0" rIns="0" bIns="0" rtlCol="0" anchor="ctr"/>
          <a:lstStyle/>
          <a:p>
            <a:pPr marL="0" indent="0">
              <a:lnSpc>
                <a:spcPct val="104000"/>
              </a:lnSpc>
              <a:buNone/>
            </a:pPr>
            <a:r>
              <a:rPr lang="en-US" sz="1550" b="1" dirty="0">
                <a:solidFill>
                  <a:srgbClr val="0E6E6D"/>
                </a:solidFill>
                <a:latin typeface="Calibri" pitchFamily="34" charset="0"/>
                <a:ea typeface="Calibri" pitchFamily="34" charset="-122"/>
                <a:cs typeface="Calibri" pitchFamily="34" charset="-120"/>
              </a:rPr>
              <a:t>Keep every heading.  </a:t>
            </a:r>
            <a:r>
              <a:rPr lang="en-US" sz="1550" dirty="0">
                <a:solidFill>
                  <a:srgbClr val="1E2A36"/>
                </a:solidFill>
                <a:latin typeface="Calibri" pitchFamily="34" charset="0"/>
                <a:ea typeface="Calibri" pitchFamily="34" charset="-122"/>
                <a:cs typeface="Calibri" pitchFamily="34" charset="-120"/>
              </a:rPr>
              <a:t>A section that truly doesn't apply gets one sentence saying why.</a:t>
            </a:r>
            <a:endParaRPr lang="en-US" sz="1550" dirty="0"/>
          </a:p>
        </p:txBody>
      </p:sp>
      <p:sp>
        <p:nvSpPr>
          <p:cNvPr id="41" name="Shape 39"/>
          <p:cNvSpPr/>
          <p:nvPr/>
        </p:nvSpPr>
        <p:spPr>
          <a:xfrm>
            <a:off x="548640" y="5715000"/>
            <a:ext cx="11064240" cy="548640"/>
          </a:xfrm>
          <a:prstGeom prst="roundRect">
            <a:avLst>
              <a:gd name="adj" fmla="val 15000"/>
            </a:avLst>
          </a:prstGeom>
          <a:solidFill>
            <a:srgbClr val="E8A33D"/>
          </a:solidFill>
          <a:ln/>
          <a:effectLst>
            <a:outerShdw blurRad="88900" dist="38100" dir="5400000" algn="bl" rotWithShape="0">
              <a:srgbClr val="000000">
                <a:alpha val="13000"/>
              </a:srgbClr>
            </a:outerShdw>
          </a:effectLst>
        </p:spPr>
        <p:txBody>
          <a:bodyPr/>
          <a:lstStyle/>
          <a:p>
            <a:endParaRPr lang="en-US"/>
          </a:p>
        </p:txBody>
      </p:sp>
      <p:sp>
        <p:nvSpPr>
          <p:cNvPr id="42" name="Text 40"/>
          <p:cNvSpPr/>
          <p:nvPr/>
        </p:nvSpPr>
        <p:spPr>
          <a:xfrm>
            <a:off x="822960" y="5715000"/>
            <a:ext cx="10515600" cy="548640"/>
          </a:xfrm>
          <a:prstGeom prst="rect">
            <a:avLst/>
          </a:prstGeom>
          <a:noFill/>
          <a:ln/>
        </p:spPr>
        <p:txBody>
          <a:bodyPr wrap="square" lIns="0" tIns="0" rIns="0" bIns="0" rtlCol="0" anchor="ctr"/>
          <a:lstStyle/>
          <a:p>
            <a:pPr marL="0" indent="0" algn="ctr">
              <a:buNone/>
            </a:pPr>
            <a:r>
              <a:rPr lang="en-US" sz="1550" b="1" dirty="0">
                <a:solidFill>
                  <a:srgbClr val="14233A"/>
                </a:solidFill>
                <a:latin typeface="Calibri" pitchFamily="34" charset="0"/>
                <a:ea typeface="Calibri" pitchFamily="34" charset="-122"/>
                <a:cs typeface="Calibri" pitchFamily="34" charset="-120"/>
              </a:rPr>
              <a:t>Canvas → Design Document Template. Download the Markdown; it becomes docs/design.md in your repo.</a:t>
            </a:r>
            <a:endParaRPr lang="en-US" sz="1550" dirty="0"/>
          </a:p>
        </p:txBody>
      </p:sp>
      <p:sp>
        <p:nvSpPr>
          <p:cNvPr id="43" name="Text 41"/>
          <p:cNvSpPr/>
          <p:nvPr/>
        </p:nvSpPr>
        <p:spPr>
          <a:xfrm>
            <a:off x="6675120" y="6437376"/>
            <a:ext cx="4937760" cy="274320"/>
          </a:xfrm>
          <a:prstGeom prst="rect">
            <a:avLst/>
          </a:prstGeom>
          <a:noFill/>
          <a:ln/>
        </p:spPr>
        <p:txBody>
          <a:bodyPr wrap="square" lIns="0" tIns="0" rIns="0" bIns="0" rtlCol="0" anchor="ctr"/>
          <a:lstStyle/>
          <a:p>
            <a:pPr marL="0" indent="0" algn="r">
              <a:buNone/>
            </a:pPr>
            <a:r>
              <a:rPr lang="en-US" sz="1000" dirty="0">
                <a:solidFill>
                  <a:srgbClr val="5F7284"/>
                </a:solidFill>
                <a:latin typeface="Calibri" pitchFamily="34" charset="0"/>
                <a:ea typeface="Calibri" pitchFamily="34" charset="-122"/>
                <a:cs typeface="Calibri" pitchFamily="34" charset="-120"/>
              </a:rPr>
              <a:t>CS 301R · Session 11 · Design Documents</a:t>
            </a:r>
            <a:endParaRPr lang="en-US" sz="1000" dirty="0"/>
          </a:p>
        </p:txBody>
      </p:sp>
      <p:sp>
        <p:nvSpPr>
          <p:cNvPr id="44" name="Text 42"/>
          <p:cNvSpPr/>
          <p:nvPr/>
        </p:nvSpPr>
        <p:spPr>
          <a:xfrm>
            <a:off x="548640" y="6437376"/>
            <a:ext cx="548640" cy="274320"/>
          </a:xfrm>
          <a:prstGeom prst="rect">
            <a:avLst/>
          </a:prstGeom>
          <a:noFill/>
          <a:ln/>
        </p:spPr>
        <p:txBody>
          <a:bodyPr wrap="square" lIns="0" tIns="0" rIns="0" bIns="0" rtlCol="0" anchor="ctr"/>
          <a:lstStyle/>
          <a:p>
            <a:pPr marL="0" indent="0">
              <a:buNone/>
            </a:pPr>
            <a:r>
              <a:rPr lang="en-US" sz="1000" dirty="0">
                <a:solidFill>
                  <a:srgbClr val="5F7284"/>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4233A"/>
        </a:solidFill>
        <a:effectLst/>
      </p:bgPr>
    </p:bg>
    <p:spTree>
      <p:nvGrpSpPr>
        <p:cNvPr id="1" name=""/>
        <p:cNvGrpSpPr/>
        <p:nvPr/>
      </p:nvGrpSpPr>
      <p:grpSpPr>
        <a:xfrm>
          <a:off x="0" y="0"/>
          <a:ext cx="0" cy="0"/>
          <a:chOff x="0" y="0"/>
          <a:chExt cx="0" cy="0"/>
        </a:xfrm>
      </p:grpSpPr>
      <p:sp>
        <p:nvSpPr>
          <p:cNvPr id="2" name="Shape 0"/>
          <p:cNvSpPr/>
          <p:nvPr/>
        </p:nvSpPr>
        <p:spPr>
          <a:xfrm>
            <a:off x="10424160" y="-1188720"/>
            <a:ext cx="3291840" cy="3291840"/>
          </a:xfrm>
          <a:prstGeom prst="ellipse">
            <a:avLst/>
          </a:prstGeom>
          <a:solidFill>
            <a:srgbClr val="1C3252"/>
          </a:solidFill>
          <a:ln/>
        </p:spPr>
        <p:txBody>
          <a:bodyPr/>
          <a:lstStyle/>
          <a:p>
            <a:endParaRPr lang="en-US"/>
          </a:p>
        </p:txBody>
      </p:sp>
      <p:sp>
        <p:nvSpPr>
          <p:cNvPr id="3" name="Shape 1"/>
          <p:cNvSpPr/>
          <p:nvPr/>
        </p:nvSpPr>
        <p:spPr>
          <a:xfrm>
            <a:off x="566928" y="548640"/>
            <a:ext cx="137160" cy="137160"/>
          </a:xfrm>
          <a:prstGeom prst="ellipse">
            <a:avLst/>
          </a:prstGeom>
          <a:solidFill>
            <a:srgbClr val="E8A33D"/>
          </a:solidFill>
          <a:ln/>
        </p:spPr>
        <p:txBody>
          <a:bodyPr/>
          <a:lstStyle/>
          <a:p>
            <a:endParaRPr lang="en-US"/>
          </a:p>
        </p:txBody>
      </p:sp>
      <p:sp>
        <p:nvSpPr>
          <p:cNvPr id="4" name="Text 2"/>
          <p:cNvSpPr/>
          <p:nvPr/>
        </p:nvSpPr>
        <p:spPr>
          <a:xfrm>
            <a:off x="795528" y="457200"/>
            <a:ext cx="10515600" cy="310896"/>
          </a:xfrm>
          <a:prstGeom prst="rect">
            <a:avLst/>
          </a:prstGeom>
          <a:noFill/>
          <a:ln/>
        </p:spPr>
        <p:txBody>
          <a:bodyPr wrap="square" lIns="0" tIns="0" rIns="0" bIns="0" rtlCol="0" anchor="ctr"/>
          <a:lstStyle/>
          <a:p>
            <a:pPr marL="0" indent="0">
              <a:buNone/>
            </a:pPr>
            <a:r>
              <a:rPr lang="en-US" sz="1400" b="1" kern="0" spc="200" dirty="0">
                <a:solidFill>
                  <a:srgbClr val="E8A33D"/>
                </a:solidFill>
                <a:latin typeface="Calibri" pitchFamily="34" charset="0"/>
                <a:ea typeface="Calibri" pitchFamily="34" charset="-122"/>
                <a:cs typeface="Calibri" pitchFamily="34" charset="-120"/>
              </a:rPr>
              <a:t>DISSECT THE SAMPLE · 20 MIN · TEAMS</a:t>
            </a:r>
            <a:endParaRPr lang="en-US" sz="1400" dirty="0"/>
          </a:p>
        </p:txBody>
      </p:sp>
      <p:sp>
        <p:nvSpPr>
          <p:cNvPr id="5" name="Text 3"/>
          <p:cNvSpPr/>
          <p:nvPr/>
        </p:nvSpPr>
        <p:spPr>
          <a:xfrm>
            <a:off x="548640" y="822960"/>
            <a:ext cx="11064240" cy="73152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Read it like a reviewer</a:t>
            </a:r>
            <a:endParaRPr lang="en-US" sz="3200" dirty="0"/>
          </a:p>
        </p:txBody>
      </p:sp>
      <p:sp>
        <p:nvSpPr>
          <p:cNvPr id="6" name="Text 4"/>
          <p:cNvSpPr/>
          <p:nvPr/>
        </p:nvSpPr>
        <p:spPr>
          <a:xfrm>
            <a:off x="566928" y="1627632"/>
            <a:ext cx="10972800" cy="365760"/>
          </a:xfrm>
          <a:prstGeom prst="rect">
            <a:avLst/>
          </a:prstGeom>
          <a:noFill/>
          <a:ln/>
        </p:spPr>
        <p:txBody>
          <a:bodyPr wrap="square" lIns="0" tIns="0" rIns="0" bIns="0" rtlCol="0" anchor="ctr"/>
          <a:lstStyle/>
          <a:p>
            <a:pPr marL="0" indent="0">
              <a:buNone/>
            </a:pPr>
            <a:r>
              <a:rPr lang="en-US" sz="1600" i="1" dirty="0">
                <a:solidFill>
                  <a:srgbClr val="CFE0E9"/>
                </a:solidFill>
                <a:latin typeface="Calibri" pitchFamily="34" charset="0"/>
                <a:ea typeface="Calibri" pitchFamily="34" charset="-122"/>
                <a:cs typeface="Calibri" pitchFamily="34" charset="-120"/>
              </a:rPr>
              <a:t>Sample Design Document — Backstage. Same costume catalog from the Session 7 proposals:</a:t>
            </a:r>
            <a:endParaRPr lang="en-US" sz="1600" dirty="0"/>
          </a:p>
        </p:txBody>
      </p:sp>
      <p:sp>
        <p:nvSpPr>
          <p:cNvPr id="7" name="Shape 5"/>
          <p:cNvSpPr/>
          <p:nvPr/>
        </p:nvSpPr>
        <p:spPr>
          <a:xfrm>
            <a:off x="548640" y="2148840"/>
            <a:ext cx="11064240" cy="519379"/>
          </a:xfrm>
          <a:prstGeom prst="roundRect">
            <a:avLst>
              <a:gd name="adj" fmla="val 15845"/>
            </a:avLst>
          </a:prstGeom>
          <a:solidFill>
            <a:srgbClr val="1E3352"/>
          </a:solidFill>
          <a:ln/>
          <a:effectLst>
            <a:outerShdw blurRad="88900" dist="38100" dir="5400000" algn="bl" rotWithShape="0">
              <a:srgbClr val="000000">
                <a:alpha val="13000"/>
              </a:srgbClr>
            </a:outerShdw>
          </a:effectLst>
        </p:spPr>
        <p:txBody>
          <a:bodyPr/>
          <a:lstStyle/>
          <a:p>
            <a:endParaRPr lang="en-US"/>
          </a:p>
        </p:txBody>
      </p:sp>
      <p:sp>
        <p:nvSpPr>
          <p:cNvPr id="8" name="Shape 6"/>
          <p:cNvSpPr/>
          <p:nvPr/>
        </p:nvSpPr>
        <p:spPr>
          <a:xfrm>
            <a:off x="777240" y="2179930"/>
            <a:ext cx="457200" cy="457200"/>
          </a:xfrm>
          <a:prstGeom prst="ellipse">
            <a:avLst/>
          </a:prstGeom>
          <a:solidFill>
            <a:srgbClr val="E8A33D"/>
          </a:solidFill>
          <a:ln/>
        </p:spPr>
        <p:txBody>
          <a:bodyPr/>
          <a:lstStyle/>
          <a:p>
            <a:endParaRPr lang="en-US"/>
          </a:p>
        </p:txBody>
      </p:sp>
      <p:sp>
        <p:nvSpPr>
          <p:cNvPr id="9" name="Text 7"/>
          <p:cNvSpPr/>
          <p:nvPr/>
        </p:nvSpPr>
        <p:spPr>
          <a:xfrm>
            <a:off x="777240" y="2179930"/>
            <a:ext cx="457200" cy="457200"/>
          </a:xfrm>
          <a:prstGeom prst="rect">
            <a:avLst/>
          </a:prstGeom>
          <a:noFill/>
          <a:ln/>
        </p:spPr>
        <p:txBody>
          <a:bodyPr wrap="square" lIns="0" tIns="0" rIns="0" bIns="0" rtlCol="0" anchor="ctr"/>
          <a:lstStyle/>
          <a:p>
            <a:pPr marL="0" indent="0" algn="ctr">
              <a:buNone/>
            </a:pPr>
            <a:r>
              <a:rPr lang="en-US" sz="2000" b="1" dirty="0">
                <a:solidFill>
                  <a:srgbClr val="14233A"/>
                </a:solidFill>
                <a:latin typeface="Cambria" pitchFamily="34" charset="0"/>
                <a:ea typeface="Cambria" pitchFamily="34" charset="-122"/>
                <a:cs typeface="Cambria" pitchFamily="34" charset="-120"/>
              </a:rPr>
              <a:t>1</a:t>
            </a:r>
            <a:endParaRPr lang="en-US" sz="2000" dirty="0"/>
          </a:p>
        </p:txBody>
      </p:sp>
      <p:sp>
        <p:nvSpPr>
          <p:cNvPr id="10" name="Text 8"/>
          <p:cNvSpPr/>
          <p:nvPr/>
        </p:nvSpPr>
        <p:spPr>
          <a:xfrm>
            <a:off x="1417320" y="2148840"/>
            <a:ext cx="8595360" cy="519379"/>
          </a:xfrm>
          <a:prstGeom prst="rect">
            <a:avLst/>
          </a:prstGeom>
          <a:noFill/>
          <a:ln/>
        </p:spPr>
        <p:txBody>
          <a:bodyPr wrap="square" lIns="0" tIns="0" rIns="0" bIns="0" rtlCol="0" anchor="ctr"/>
          <a:lstStyle/>
          <a:p>
            <a:pPr marL="0" indent="0">
              <a:lnSpc>
                <a:spcPct val="103000"/>
              </a:lnSpc>
              <a:buNone/>
            </a:pPr>
            <a:r>
              <a:rPr lang="en-US" sz="1550" dirty="0">
                <a:solidFill>
                  <a:srgbClr val="FFFFFF"/>
                </a:solidFill>
                <a:latin typeface="Calibri" pitchFamily="34" charset="0"/>
                <a:ea typeface="Calibri" pitchFamily="34" charset="-122"/>
                <a:cs typeface="Calibri" pitchFamily="34" charset="-120"/>
              </a:rPr>
              <a:t>Read it together — 8 minutes, pens out, mark as you go.</a:t>
            </a:r>
            <a:endParaRPr lang="en-US" sz="1550" dirty="0"/>
          </a:p>
        </p:txBody>
      </p:sp>
      <p:sp>
        <p:nvSpPr>
          <p:cNvPr id="11" name="Text 9"/>
          <p:cNvSpPr/>
          <p:nvPr/>
        </p:nvSpPr>
        <p:spPr>
          <a:xfrm>
            <a:off x="10149840" y="2148840"/>
            <a:ext cx="1280160" cy="519379"/>
          </a:xfrm>
          <a:prstGeom prst="rect">
            <a:avLst/>
          </a:prstGeom>
          <a:noFill/>
          <a:ln/>
        </p:spPr>
        <p:txBody>
          <a:bodyPr wrap="square" lIns="0" tIns="0" rIns="0" bIns="0" rtlCol="0" anchor="ctr"/>
          <a:lstStyle/>
          <a:p>
            <a:pPr marL="0" indent="0" algn="r">
              <a:buNone/>
            </a:pPr>
            <a:r>
              <a:rPr lang="en-US" sz="1400" b="1" dirty="0">
                <a:solidFill>
                  <a:srgbClr val="E8A33D"/>
                </a:solidFill>
                <a:latin typeface="Calibri" pitchFamily="34" charset="0"/>
                <a:ea typeface="Calibri" pitchFamily="34" charset="-122"/>
                <a:cs typeface="Calibri" pitchFamily="34" charset="-120"/>
              </a:rPr>
              <a:t>8 min</a:t>
            </a:r>
            <a:endParaRPr lang="en-US" sz="1400" dirty="0"/>
          </a:p>
        </p:txBody>
      </p:sp>
      <p:sp>
        <p:nvSpPr>
          <p:cNvPr id="12" name="Shape 10"/>
          <p:cNvSpPr/>
          <p:nvPr/>
        </p:nvSpPr>
        <p:spPr>
          <a:xfrm>
            <a:off x="548640" y="2796235"/>
            <a:ext cx="11064240" cy="519379"/>
          </a:xfrm>
          <a:prstGeom prst="roundRect">
            <a:avLst>
              <a:gd name="adj" fmla="val 15845"/>
            </a:avLst>
          </a:prstGeom>
          <a:solidFill>
            <a:srgbClr val="1E3352"/>
          </a:solidFill>
          <a:ln/>
          <a:effectLst>
            <a:outerShdw blurRad="88900" dist="38100" dir="5400000" algn="bl" rotWithShape="0">
              <a:srgbClr val="000000">
                <a:alpha val="13000"/>
              </a:srgbClr>
            </a:outerShdw>
          </a:effectLst>
        </p:spPr>
        <p:txBody>
          <a:bodyPr/>
          <a:lstStyle/>
          <a:p>
            <a:endParaRPr lang="en-US"/>
          </a:p>
        </p:txBody>
      </p:sp>
      <p:sp>
        <p:nvSpPr>
          <p:cNvPr id="13" name="Shape 11"/>
          <p:cNvSpPr/>
          <p:nvPr/>
        </p:nvSpPr>
        <p:spPr>
          <a:xfrm>
            <a:off x="777240" y="2827325"/>
            <a:ext cx="457200" cy="457200"/>
          </a:xfrm>
          <a:prstGeom prst="ellipse">
            <a:avLst/>
          </a:prstGeom>
          <a:solidFill>
            <a:srgbClr val="E8A33D"/>
          </a:solidFill>
          <a:ln/>
        </p:spPr>
        <p:txBody>
          <a:bodyPr/>
          <a:lstStyle/>
          <a:p>
            <a:endParaRPr lang="en-US"/>
          </a:p>
        </p:txBody>
      </p:sp>
      <p:sp>
        <p:nvSpPr>
          <p:cNvPr id="14" name="Text 12"/>
          <p:cNvSpPr/>
          <p:nvPr/>
        </p:nvSpPr>
        <p:spPr>
          <a:xfrm>
            <a:off x="777240" y="2827325"/>
            <a:ext cx="457200" cy="457200"/>
          </a:xfrm>
          <a:prstGeom prst="rect">
            <a:avLst/>
          </a:prstGeom>
          <a:noFill/>
          <a:ln/>
        </p:spPr>
        <p:txBody>
          <a:bodyPr wrap="square" lIns="0" tIns="0" rIns="0" bIns="0" rtlCol="0" anchor="ctr"/>
          <a:lstStyle/>
          <a:p>
            <a:pPr marL="0" indent="0" algn="ctr">
              <a:buNone/>
            </a:pPr>
            <a:r>
              <a:rPr lang="en-US" sz="2000" b="1" dirty="0">
                <a:solidFill>
                  <a:srgbClr val="14233A"/>
                </a:solidFill>
                <a:latin typeface="Cambria" pitchFamily="34" charset="0"/>
                <a:ea typeface="Cambria" pitchFamily="34" charset="-122"/>
                <a:cs typeface="Cambria" pitchFamily="34" charset="-120"/>
              </a:rPr>
              <a:t>2</a:t>
            </a:r>
            <a:endParaRPr lang="en-US" sz="2000" dirty="0"/>
          </a:p>
        </p:txBody>
      </p:sp>
      <p:sp>
        <p:nvSpPr>
          <p:cNvPr id="15" name="Text 13"/>
          <p:cNvSpPr/>
          <p:nvPr/>
        </p:nvSpPr>
        <p:spPr>
          <a:xfrm>
            <a:off x="1417320" y="2796235"/>
            <a:ext cx="8595360" cy="519379"/>
          </a:xfrm>
          <a:prstGeom prst="rect">
            <a:avLst/>
          </a:prstGeom>
          <a:noFill/>
          <a:ln/>
        </p:spPr>
        <p:txBody>
          <a:bodyPr wrap="square" lIns="0" tIns="0" rIns="0" bIns="0" rtlCol="0" anchor="ctr"/>
          <a:lstStyle/>
          <a:p>
            <a:pPr marL="0" indent="0">
              <a:lnSpc>
                <a:spcPct val="103000"/>
              </a:lnSpc>
              <a:buNone/>
            </a:pPr>
            <a:r>
              <a:rPr lang="en-US" sz="1550" dirty="0">
                <a:solidFill>
                  <a:srgbClr val="FFFFFF"/>
                </a:solidFill>
                <a:latin typeface="Calibri" pitchFamily="34" charset="0"/>
                <a:ea typeface="Calibri" pitchFamily="34" charset="-122"/>
                <a:cs typeface="Calibri" pitchFamily="34" charset="-120"/>
              </a:rPr>
              <a:t>Could you start building from this? What would you have to ask first?</a:t>
            </a:r>
            <a:endParaRPr lang="en-US" sz="1550" dirty="0"/>
          </a:p>
        </p:txBody>
      </p:sp>
      <p:sp>
        <p:nvSpPr>
          <p:cNvPr id="16" name="Text 14"/>
          <p:cNvSpPr/>
          <p:nvPr/>
        </p:nvSpPr>
        <p:spPr>
          <a:xfrm>
            <a:off x="10149840" y="2796235"/>
            <a:ext cx="1280160" cy="519379"/>
          </a:xfrm>
          <a:prstGeom prst="rect">
            <a:avLst/>
          </a:prstGeom>
          <a:noFill/>
          <a:ln/>
        </p:spPr>
        <p:txBody>
          <a:bodyPr wrap="square" lIns="0" tIns="0" rIns="0" bIns="0" rtlCol="0" anchor="ctr"/>
          <a:lstStyle/>
          <a:p>
            <a:pPr marL="0" indent="0" algn="r">
              <a:buNone/>
            </a:pPr>
            <a:r>
              <a:rPr lang="en-US" sz="1400" b="1" dirty="0">
                <a:solidFill>
                  <a:srgbClr val="E8A33D"/>
                </a:solidFill>
                <a:latin typeface="Calibri" pitchFamily="34" charset="0"/>
                <a:ea typeface="Calibri" pitchFamily="34" charset="-122"/>
                <a:cs typeface="Calibri" pitchFamily="34" charset="-120"/>
              </a:rPr>
              <a:t>Q1</a:t>
            </a:r>
            <a:endParaRPr lang="en-US" sz="1400" dirty="0"/>
          </a:p>
        </p:txBody>
      </p:sp>
      <p:sp>
        <p:nvSpPr>
          <p:cNvPr id="17" name="Shape 15"/>
          <p:cNvSpPr/>
          <p:nvPr/>
        </p:nvSpPr>
        <p:spPr>
          <a:xfrm>
            <a:off x="548640" y="3443630"/>
            <a:ext cx="11064240" cy="519379"/>
          </a:xfrm>
          <a:prstGeom prst="roundRect">
            <a:avLst>
              <a:gd name="adj" fmla="val 15845"/>
            </a:avLst>
          </a:prstGeom>
          <a:solidFill>
            <a:srgbClr val="1E3352"/>
          </a:solidFill>
          <a:ln/>
          <a:effectLst>
            <a:outerShdw blurRad="88900" dist="38100" dir="5400000" algn="bl" rotWithShape="0">
              <a:srgbClr val="000000">
                <a:alpha val="13000"/>
              </a:srgbClr>
            </a:outerShdw>
          </a:effectLst>
        </p:spPr>
        <p:txBody>
          <a:bodyPr/>
          <a:lstStyle/>
          <a:p>
            <a:endParaRPr lang="en-US"/>
          </a:p>
        </p:txBody>
      </p:sp>
      <p:sp>
        <p:nvSpPr>
          <p:cNvPr id="18" name="Shape 16"/>
          <p:cNvSpPr/>
          <p:nvPr/>
        </p:nvSpPr>
        <p:spPr>
          <a:xfrm>
            <a:off x="777240" y="3474720"/>
            <a:ext cx="457200" cy="457200"/>
          </a:xfrm>
          <a:prstGeom prst="ellipse">
            <a:avLst/>
          </a:prstGeom>
          <a:solidFill>
            <a:srgbClr val="E8A33D"/>
          </a:solidFill>
          <a:ln/>
        </p:spPr>
        <p:txBody>
          <a:bodyPr/>
          <a:lstStyle/>
          <a:p>
            <a:endParaRPr lang="en-US"/>
          </a:p>
        </p:txBody>
      </p:sp>
      <p:sp>
        <p:nvSpPr>
          <p:cNvPr id="19" name="Text 17"/>
          <p:cNvSpPr/>
          <p:nvPr/>
        </p:nvSpPr>
        <p:spPr>
          <a:xfrm>
            <a:off x="777240" y="3474720"/>
            <a:ext cx="457200" cy="457200"/>
          </a:xfrm>
          <a:prstGeom prst="rect">
            <a:avLst/>
          </a:prstGeom>
          <a:noFill/>
          <a:ln/>
        </p:spPr>
        <p:txBody>
          <a:bodyPr wrap="square" lIns="0" tIns="0" rIns="0" bIns="0" rtlCol="0" anchor="ctr"/>
          <a:lstStyle/>
          <a:p>
            <a:pPr marL="0" indent="0" algn="ctr">
              <a:buNone/>
            </a:pPr>
            <a:r>
              <a:rPr lang="en-US" sz="2000" b="1" dirty="0">
                <a:solidFill>
                  <a:srgbClr val="14233A"/>
                </a:solidFill>
                <a:latin typeface="Cambria" pitchFamily="34" charset="0"/>
                <a:ea typeface="Cambria" pitchFamily="34" charset="-122"/>
                <a:cs typeface="Cambria" pitchFamily="34" charset="-120"/>
              </a:rPr>
              <a:t>3</a:t>
            </a:r>
            <a:endParaRPr lang="en-US" sz="2000" dirty="0"/>
          </a:p>
        </p:txBody>
      </p:sp>
      <p:sp>
        <p:nvSpPr>
          <p:cNvPr id="20" name="Text 18"/>
          <p:cNvSpPr/>
          <p:nvPr/>
        </p:nvSpPr>
        <p:spPr>
          <a:xfrm>
            <a:off x="1417320" y="3443630"/>
            <a:ext cx="8595360" cy="519379"/>
          </a:xfrm>
          <a:prstGeom prst="rect">
            <a:avLst/>
          </a:prstGeom>
          <a:noFill/>
          <a:ln/>
        </p:spPr>
        <p:txBody>
          <a:bodyPr wrap="square" lIns="0" tIns="0" rIns="0" bIns="0" rtlCol="0" anchor="ctr"/>
          <a:lstStyle/>
          <a:p>
            <a:pPr marL="0" indent="0">
              <a:lnSpc>
                <a:spcPct val="103000"/>
              </a:lnSpc>
              <a:buNone/>
            </a:pPr>
            <a:r>
              <a:rPr lang="en-US" sz="1550" dirty="0">
                <a:solidFill>
                  <a:srgbClr val="FFFFFF"/>
                </a:solidFill>
                <a:latin typeface="Calibri" pitchFamily="34" charset="0"/>
                <a:ea typeface="Calibri" pitchFamily="34" charset="-122"/>
                <a:cs typeface="Calibri" pitchFamily="34" charset="-120"/>
              </a:rPr>
              <a:t>Where is the unstated assumption? (There is always one.)</a:t>
            </a:r>
            <a:endParaRPr lang="en-US" sz="1550" dirty="0"/>
          </a:p>
        </p:txBody>
      </p:sp>
      <p:sp>
        <p:nvSpPr>
          <p:cNvPr id="21" name="Text 19"/>
          <p:cNvSpPr/>
          <p:nvPr/>
        </p:nvSpPr>
        <p:spPr>
          <a:xfrm>
            <a:off x="10149840" y="3443630"/>
            <a:ext cx="1280160" cy="519379"/>
          </a:xfrm>
          <a:prstGeom prst="rect">
            <a:avLst/>
          </a:prstGeom>
          <a:noFill/>
          <a:ln/>
        </p:spPr>
        <p:txBody>
          <a:bodyPr wrap="square" lIns="0" tIns="0" rIns="0" bIns="0" rtlCol="0" anchor="ctr"/>
          <a:lstStyle/>
          <a:p>
            <a:pPr marL="0" indent="0" algn="r">
              <a:buNone/>
            </a:pPr>
            <a:r>
              <a:rPr lang="en-US" sz="1400" b="1" dirty="0">
                <a:solidFill>
                  <a:srgbClr val="E8A33D"/>
                </a:solidFill>
                <a:latin typeface="Calibri" pitchFamily="34" charset="0"/>
                <a:ea typeface="Calibri" pitchFamily="34" charset="-122"/>
                <a:cs typeface="Calibri" pitchFamily="34" charset="-120"/>
              </a:rPr>
              <a:t>Q2</a:t>
            </a:r>
            <a:endParaRPr lang="en-US" sz="1400" dirty="0"/>
          </a:p>
        </p:txBody>
      </p:sp>
      <p:sp>
        <p:nvSpPr>
          <p:cNvPr id="22" name="Shape 20"/>
          <p:cNvSpPr/>
          <p:nvPr/>
        </p:nvSpPr>
        <p:spPr>
          <a:xfrm>
            <a:off x="548640" y="4091026"/>
            <a:ext cx="11064240" cy="519379"/>
          </a:xfrm>
          <a:prstGeom prst="roundRect">
            <a:avLst>
              <a:gd name="adj" fmla="val 15845"/>
            </a:avLst>
          </a:prstGeom>
          <a:solidFill>
            <a:srgbClr val="1E3352"/>
          </a:solidFill>
          <a:ln/>
          <a:effectLst>
            <a:outerShdw blurRad="88900" dist="38100" dir="5400000" algn="bl" rotWithShape="0">
              <a:srgbClr val="000000">
                <a:alpha val="13000"/>
              </a:srgbClr>
            </a:outerShdw>
          </a:effectLst>
        </p:spPr>
        <p:txBody>
          <a:bodyPr/>
          <a:lstStyle/>
          <a:p>
            <a:endParaRPr lang="en-US"/>
          </a:p>
        </p:txBody>
      </p:sp>
      <p:sp>
        <p:nvSpPr>
          <p:cNvPr id="23" name="Shape 21"/>
          <p:cNvSpPr/>
          <p:nvPr/>
        </p:nvSpPr>
        <p:spPr>
          <a:xfrm>
            <a:off x="777240" y="4122115"/>
            <a:ext cx="457200" cy="457200"/>
          </a:xfrm>
          <a:prstGeom prst="ellipse">
            <a:avLst/>
          </a:prstGeom>
          <a:solidFill>
            <a:srgbClr val="E8A33D"/>
          </a:solidFill>
          <a:ln/>
        </p:spPr>
        <p:txBody>
          <a:bodyPr/>
          <a:lstStyle/>
          <a:p>
            <a:endParaRPr lang="en-US"/>
          </a:p>
        </p:txBody>
      </p:sp>
      <p:sp>
        <p:nvSpPr>
          <p:cNvPr id="24" name="Text 22"/>
          <p:cNvSpPr/>
          <p:nvPr/>
        </p:nvSpPr>
        <p:spPr>
          <a:xfrm>
            <a:off x="777240" y="4122115"/>
            <a:ext cx="457200" cy="457200"/>
          </a:xfrm>
          <a:prstGeom prst="rect">
            <a:avLst/>
          </a:prstGeom>
          <a:noFill/>
          <a:ln/>
        </p:spPr>
        <p:txBody>
          <a:bodyPr wrap="square" lIns="0" tIns="0" rIns="0" bIns="0" rtlCol="0" anchor="ctr"/>
          <a:lstStyle/>
          <a:p>
            <a:pPr marL="0" indent="0" algn="ctr">
              <a:buNone/>
            </a:pPr>
            <a:r>
              <a:rPr lang="en-US" sz="2000" b="1" dirty="0">
                <a:solidFill>
                  <a:srgbClr val="14233A"/>
                </a:solidFill>
                <a:latin typeface="Cambria" pitchFamily="34" charset="0"/>
                <a:ea typeface="Cambria" pitchFamily="34" charset="-122"/>
                <a:cs typeface="Cambria" pitchFamily="34" charset="-120"/>
              </a:rPr>
              <a:t>4</a:t>
            </a:r>
            <a:endParaRPr lang="en-US" sz="2000" dirty="0"/>
          </a:p>
        </p:txBody>
      </p:sp>
      <p:sp>
        <p:nvSpPr>
          <p:cNvPr id="25" name="Text 23"/>
          <p:cNvSpPr/>
          <p:nvPr/>
        </p:nvSpPr>
        <p:spPr>
          <a:xfrm>
            <a:off x="1417320" y="4091026"/>
            <a:ext cx="8595360" cy="519379"/>
          </a:xfrm>
          <a:prstGeom prst="rect">
            <a:avLst/>
          </a:prstGeom>
          <a:noFill/>
          <a:ln/>
        </p:spPr>
        <p:txBody>
          <a:bodyPr wrap="square" lIns="0" tIns="0" rIns="0" bIns="0" rtlCol="0" anchor="ctr"/>
          <a:lstStyle/>
          <a:p>
            <a:pPr marL="0" indent="0">
              <a:lnSpc>
                <a:spcPct val="103000"/>
              </a:lnSpc>
              <a:buNone/>
            </a:pPr>
            <a:r>
              <a:rPr lang="en-US" sz="1550" dirty="0">
                <a:solidFill>
                  <a:srgbClr val="FFFFFF"/>
                </a:solidFill>
                <a:latin typeface="Calibri" pitchFamily="34" charset="0"/>
                <a:ea typeface="Calibri" pitchFamily="34" charset="-122"/>
                <a:cs typeface="Calibri" pitchFamily="34" charset="-120"/>
              </a:rPr>
              <a:t>Which decision has no alternative considered — and what would the alternative be?</a:t>
            </a:r>
            <a:endParaRPr lang="en-US" sz="1550" dirty="0"/>
          </a:p>
        </p:txBody>
      </p:sp>
      <p:sp>
        <p:nvSpPr>
          <p:cNvPr id="26" name="Text 24"/>
          <p:cNvSpPr/>
          <p:nvPr/>
        </p:nvSpPr>
        <p:spPr>
          <a:xfrm>
            <a:off x="10149840" y="4091026"/>
            <a:ext cx="1280160" cy="519379"/>
          </a:xfrm>
          <a:prstGeom prst="rect">
            <a:avLst/>
          </a:prstGeom>
          <a:noFill/>
          <a:ln/>
        </p:spPr>
        <p:txBody>
          <a:bodyPr wrap="square" lIns="0" tIns="0" rIns="0" bIns="0" rtlCol="0" anchor="ctr"/>
          <a:lstStyle/>
          <a:p>
            <a:pPr marL="0" indent="0" algn="r">
              <a:buNone/>
            </a:pPr>
            <a:r>
              <a:rPr lang="en-US" sz="1400" b="1" dirty="0">
                <a:solidFill>
                  <a:srgbClr val="E8A33D"/>
                </a:solidFill>
                <a:latin typeface="Calibri" pitchFamily="34" charset="0"/>
                <a:ea typeface="Calibri" pitchFamily="34" charset="-122"/>
                <a:cs typeface="Calibri" pitchFamily="34" charset="-120"/>
              </a:rPr>
              <a:t>Q3</a:t>
            </a:r>
            <a:endParaRPr lang="en-US" sz="1400" dirty="0"/>
          </a:p>
        </p:txBody>
      </p:sp>
      <p:sp>
        <p:nvSpPr>
          <p:cNvPr id="27" name="Shape 25"/>
          <p:cNvSpPr/>
          <p:nvPr/>
        </p:nvSpPr>
        <p:spPr>
          <a:xfrm>
            <a:off x="548640" y="4738421"/>
            <a:ext cx="11064240" cy="519379"/>
          </a:xfrm>
          <a:prstGeom prst="roundRect">
            <a:avLst>
              <a:gd name="adj" fmla="val 15845"/>
            </a:avLst>
          </a:prstGeom>
          <a:solidFill>
            <a:srgbClr val="1E3352"/>
          </a:solidFill>
          <a:ln/>
          <a:effectLst>
            <a:outerShdw blurRad="88900" dist="38100" dir="5400000" algn="bl" rotWithShape="0">
              <a:srgbClr val="000000">
                <a:alpha val="13000"/>
              </a:srgbClr>
            </a:outerShdw>
          </a:effectLst>
        </p:spPr>
        <p:txBody>
          <a:bodyPr/>
          <a:lstStyle/>
          <a:p>
            <a:endParaRPr lang="en-US"/>
          </a:p>
        </p:txBody>
      </p:sp>
      <p:sp>
        <p:nvSpPr>
          <p:cNvPr id="28" name="Shape 26"/>
          <p:cNvSpPr/>
          <p:nvPr/>
        </p:nvSpPr>
        <p:spPr>
          <a:xfrm>
            <a:off x="777240" y="4769510"/>
            <a:ext cx="457200" cy="457200"/>
          </a:xfrm>
          <a:prstGeom prst="ellipse">
            <a:avLst/>
          </a:prstGeom>
          <a:solidFill>
            <a:srgbClr val="E8A33D"/>
          </a:solidFill>
          <a:ln/>
        </p:spPr>
        <p:txBody>
          <a:bodyPr/>
          <a:lstStyle/>
          <a:p>
            <a:endParaRPr lang="en-US"/>
          </a:p>
        </p:txBody>
      </p:sp>
      <p:sp>
        <p:nvSpPr>
          <p:cNvPr id="29" name="Text 27"/>
          <p:cNvSpPr/>
          <p:nvPr/>
        </p:nvSpPr>
        <p:spPr>
          <a:xfrm>
            <a:off x="777240" y="4769510"/>
            <a:ext cx="457200" cy="457200"/>
          </a:xfrm>
          <a:prstGeom prst="rect">
            <a:avLst/>
          </a:prstGeom>
          <a:noFill/>
          <a:ln/>
        </p:spPr>
        <p:txBody>
          <a:bodyPr wrap="square" lIns="0" tIns="0" rIns="0" bIns="0" rtlCol="0" anchor="ctr"/>
          <a:lstStyle/>
          <a:p>
            <a:pPr marL="0" indent="0" algn="ctr">
              <a:buNone/>
            </a:pPr>
            <a:r>
              <a:rPr lang="en-US" sz="2000" b="1" dirty="0">
                <a:solidFill>
                  <a:srgbClr val="14233A"/>
                </a:solidFill>
                <a:latin typeface="Cambria" pitchFamily="34" charset="0"/>
                <a:ea typeface="Cambria" pitchFamily="34" charset="-122"/>
                <a:cs typeface="Cambria" pitchFamily="34" charset="-120"/>
              </a:rPr>
              <a:t>5</a:t>
            </a:r>
            <a:endParaRPr lang="en-US" sz="2000" dirty="0"/>
          </a:p>
        </p:txBody>
      </p:sp>
      <p:sp>
        <p:nvSpPr>
          <p:cNvPr id="30" name="Text 28"/>
          <p:cNvSpPr/>
          <p:nvPr/>
        </p:nvSpPr>
        <p:spPr>
          <a:xfrm>
            <a:off x="1417320" y="4738421"/>
            <a:ext cx="8595360" cy="519379"/>
          </a:xfrm>
          <a:prstGeom prst="rect">
            <a:avLst/>
          </a:prstGeom>
          <a:noFill/>
          <a:ln/>
        </p:spPr>
        <p:txBody>
          <a:bodyPr wrap="square" lIns="0" tIns="0" rIns="0" bIns="0" rtlCol="0" anchor="ctr"/>
          <a:lstStyle/>
          <a:p>
            <a:pPr marL="0" indent="0">
              <a:lnSpc>
                <a:spcPct val="103000"/>
              </a:lnSpc>
              <a:buNone/>
            </a:pPr>
            <a:r>
              <a:rPr lang="en-US" sz="1550" dirty="0">
                <a:solidFill>
                  <a:srgbClr val="FFFFFF"/>
                </a:solidFill>
                <a:latin typeface="Calibri" pitchFamily="34" charset="0"/>
                <a:ea typeface="Calibri" pitchFamily="34" charset="-122"/>
                <a:cs typeface="Calibri" pitchFamily="34" charset="-120"/>
              </a:rPr>
              <a:t>Where is it over-specified — what could be cut with no loss?</a:t>
            </a:r>
            <a:endParaRPr lang="en-US" sz="1550" dirty="0"/>
          </a:p>
        </p:txBody>
      </p:sp>
      <p:sp>
        <p:nvSpPr>
          <p:cNvPr id="31" name="Text 29"/>
          <p:cNvSpPr/>
          <p:nvPr/>
        </p:nvSpPr>
        <p:spPr>
          <a:xfrm>
            <a:off x="10149840" y="4738421"/>
            <a:ext cx="1280160" cy="519379"/>
          </a:xfrm>
          <a:prstGeom prst="rect">
            <a:avLst/>
          </a:prstGeom>
          <a:noFill/>
          <a:ln/>
        </p:spPr>
        <p:txBody>
          <a:bodyPr wrap="square" lIns="0" tIns="0" rIns="0" bIns="0" rtlCol="0" anchor="ctr"/>
          <a:lstStyle/>
          <a:p>
            <a:pPr marL="0" indent="0" algn="r">
              <a:buNone/>
            </a:pPr>
            <a:r>
              <a:rPr lang="en-US" sz="1400" b="1" dirty="0">
                <a:solidFill>
                  <a:srgbClr val="E8A33D"/>
                </a:solidFill>
                <a:latin typeface="Calibri" pitchFamily="34" charset="0"/>
                <a:ea typeface="Calibri" pitchFamily="34" charset="-122"/>
                <a:cs typeface="Calibri" pitchFamily="34" charset="-120"/>
              </a:rPr>
              <a:t>Q4</a:t>
            </a:r>
            <a:endParaRPr lang="en-US" sz="1400" dirty="0"/>
          </a:p>
        </p:txBody>
      </p:sp>
      <p:sp>
        <p:nvSpPr>
          <p:cNvPr id="32" name="Shape 30"/>
          <p:cNvSpPr/>
          <p:nvPr/>
        </p:nvSpPr>
        <p:spPr>
          <a:xfrm>
            <a:off x="548640" y="5440680"/>
            <a:ext cx="11064240" cy="731520"/>
          </a:xfrm>
          <a:prstGeom prst="roundRect">
            <a:avLst>
              <a:gd name="adj" fmla="val 11250"/>
            </a:avLst>
          </a:prstGeom>
          <a:solidFill>
            <a:srgbClr val="E8A33D"/>
          </a:solidFill>
          <a:ln/>
          <a:effectLst>
            <a:outerShdw blurRad="88900" dist="38100" dir="5400000" algn="bl" rotWithShape="0">
              <a:srgbClr val="000000">
                <a:alpha val="13000"/>
              </a:srgbClr>
            </a:outerShdw>
          </a:effectLst>
        </p:spPr>
        <p:txBody>
          <a:bodyPr/>
          <a:lstStyle/>
          <a:p>
            <a:endParaRPr lang="en-US"/>
          </a:p>
        </p:txBody>
      </p:sp>
      <p:sp>
        <p:nvSpPr>
          <p:cNvPr id="33" name="Text 31"/>
          <p:cNvSpPr/>
          <p:nvPr/>
        </p:nvSpPr>
        <p:spPr>
          <a:xfrm>
            <a:off x="914400" y="5440680"/>
            <a:ext cx="10332720" cy="731520"/>
          </a:xfrm>
          <a:prstGeom prst="rect">
            <a:avLst/>
          </a:prstGeom>
          <a:noFill/>
          <a:ln/>
        </p:spPr>
        <p:txBody>
          <a:bodyPr wrap="square" lIns="0" tIns="0" rIns="0" bIns="0" rtlCol="0" anchor="ctr"/>
          <a:lstStyle/>
          <a:p>
            <a:pPr marL="0" indent="0">
              <a:buNone/>
            </a:pPr>
            <a:r>
              <a:rPr lang="en-US" sz="1500" b="1" dirty="0">
                <a:solidFill>
                  <a:srgbClr val="14233A"/>
                </a:solidFill>
                <a:latin typeface="Calibri" pitchFamily="34" charset="0"/>
                <a:ea typeface="Calibri" pitchFamily="34" charset="-122"/>
                <a:cs typeface="Calibri" pitchFamily="34" charset="-120"/>
              </a:rPr>
              <a:t>It follows the template and parts of it are genuinely good. Find what isn't.</a:t>
            </a:r>
            <a:endParaRPr lang="en-US" sz="1500" dirty="0"/>
          </a:p>
        </p:txBody>
      </p:sp>
      <p:sp>
        <p:nvSpPr>
          <p:cNvPr id="34" name="Text 32"/>
          <p:cNvSpPr/>
          <p:nvPr/>
        </p:nvSpPr>
        <p:spPr>
          <a:xfrm>
            <a:off x="6675120" y="6437376"/>
            <a:ext cx="4937760" cy="274320"/>
          </a:xfrm>
          <a:prstGeom prst="rect">
            <a:avLst/>
          </a:prstGeom>
          <a:noFill/>
          <a:ln/>
        </p:spPr>
        <p:txBody>
          <a:bodyPr wrap="square" lIns="0" tIns="0" rIns="0" bIns="0" rtlCol="0" anchor="ctr"/>
          <a:lstStyle/>
          <a:p>
            <a:pPr marL="0" indent="0" algn="r">
              <a:buNone/>
            </a:pPr>
            <a:r>
              <a:rPr lang="en-US" sz="1000" dirty="0">
                <a:solidFill>
                  <a:srgbClr val="7E92A8"/>
                </a:solidFill>
                <a:latin typeface="Calibri" pitchFamily="34" charset="0"/>
                <a:ea typeface="Calibri" pitchFamily="34" charset="-122"/>
                <a:cs typeface="Calibri" pitchFamily="34" charset="-120"/>
              </a:rPr>
              <a:t>CS 301R · Session 11 · Design Documents</a:t>
            </a:r>
            <a:endParaRPr lang="en-US" sz="1000" dirty="0"/>
          </a:p>
        </p:txBody>
      </p:sp>
      <p:sp>
        <p:nvSpPr>
          <p:cNvPr id="35" name="Text 33"/>
          <p:cNvSpPr/>
          <p:nvPr/>
        </p:nvSpPr>
        <p:spPr>
          <a:xfrm>
            <a:off x="548640" y="6437376"/>
            <a:ext cx="548640" cy="274320"/>
          </a:xfrm>
          <a:prstGeom prst="rect">
            <a:avLst/>
          </a:prstGeom>
          <a:noFill/>
          <a:ln/>
        </p:spPr>
        <p:txBody>
          <a:bodyPr wrap="square" lIns="0" tIns="0" rIns="0" bIns="0" rtlCol="0" anchor="ctr"/>
          <a:lstStyle/>
          <a:p>
            <a:pPr marL="0" indent="0">
              <a:buNone/>
            </a:pPr>
            <a:r>
              <a:rPr lang="en-US" sz="1000" dirty="0">
                <a:solidFill>
                  <a:srgbClr val="7E92A8"/>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txBody>
          <a:bodyPr/>
          <a:lstStyle/>
          <a:p>
            <a:endParaRPr lang="en-US"/>
          </a:p>
        </p:txBody>
      </p:sp>
      <p:sp>
        <p:nvSpPr>
          <p:cNvPr id="3" name="Text 1"/>
          <p:cNvSpPr/>
          <p:nvPr/>
        </p:nvSpPr>
        <p:spPr>
          <a:xfrm>
            <a:off x="795528" y="402336"/>
            <a:ext cx="10515600" cy="310896"/>
          </a:xfrm>
          <a:prstGeom prst="rect">
            <a:avLst/>
          </a:prstGeom>
          <a:noFill/>
          <a:ln/>
        </p:spPr>
        <p:txBody>
          <a:bodyPr wrap="square" lIns="0" tIns="0" rIns="0" bIns="0" rtlCol="0" anchor="ctr"/>
          <a:lstStyle/>
          <a:p>
            <a:pPr marL="0" indent="0">
              <a:buNone/>
            </a:pPr>
            <a:r>
              <a:rPr lang="en-US" sz="1400" b="1" kern="0" spc="200" dirty="0">
                <a:solidFill>
                  <a:srgbClr val="12908F"/>
                </a:solidFill>
                <a:latin typeface="Calibri" pitchFamily="34" charset="0"/>
                <a:ea typeface="Calibri" pitchFamily="34" charset="-122"/>
                <a:cs typeface="Calibri" pitchFamily="34" charset="-120"/>
              </a:rPr>
              <a:t>WHAT DID YOU FIND?</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marL="0" indent="0">
              <a:buNone/>
            </a:pPr>
            <a:r>
              <a:rPr lang="en-US" sz="3100" b="1" dirty="0">
                <a:solidFill>
                  <a:srgbClr val="1E2A36"/>
                </a:solidFill>
                <a:latin typeface="Cambria" pitchFamily="34" charset="0"/>
                <a:ea typeface="Cambria" pitchFamily="34" charset="-122"/>
                <a:cs typeface="Cambria" pitchFamily="34" charset="-120"/>
              </a:rPr>
              <a:t>The genre's quality bar, in your own words</a:t>
            </a:r>
            <a:endParaRPr lang="en-US" sz="3100" dirty="0"/>
          </a:p>
        </p:txBody>
      </p:sp>
      <p:sp>
        <p:nvSpPr>
          <p:cNvPr id="5" name="Shape 3"/>
          <p:cNvSpPr/>
          <p:nvPr/>
        </p:nvSpPr>
        <p:spPr>
          <a:xfrm>
            <a:off x="548640" y="1828800"/>
            <a:ext cx="5440680" cy="1828800"/>
          </a:xfrm>
          <a:prstGeom prst="roundRect">
            <a:avLst>
              <a:gd name="adj" fmla="val 4500"/>
            </a:avLst>
          </a:prstGeom>
          <a:solidFill>
            <a:srgbClr val="F2F6F8"/>
          </a:solidFill>
          <a:ln/>
          <a:effectLst>
            <a:outerShdw blurRad="88900" dist="38100" dir="5400000" algn="bl" rotWithShape="0">
              <a:srgbClr val="000000">
                <a:alpha val="13000"/>
              </a:srgbClr>
            </a:outerShdw>
          </a:effectLst>
        </p:spPr>
        <p:txBody>
          <a:bodyPr/>
          <a:lstStyle/>
          <a:p>
            <a:endParaRPr lang="en-US"/>
          </a:p>
        </p:txBody>
      </p:sp>
      <p:sp>
        <p:nvSpPr>
          <p:cNvPr id="6" name="Shape 4"/>
          <p:cNvSpPr/>
          <p:nvPr/>
        </p:nvSpPr>
        <p:spPr>
          <a:xfrm>
            <a:off x="822960" y="2103120"/>
            <a:ext cx="585216" cy="585216"/>
          </a:xfrm>
          <a:prstGeom prst="ellipse">
            <a:avLst/>
          </a:prstGeom>
          <a:solidFill>
            <a:srgbClr val="12908F"/>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980968" y="2261128"/>
            <a:ext cx="269199" cy="269199"/>
          </a:xfrm>
          <a:prstGeom prst="rect">
            <a:avLst/>
          </a:prstGeom>
        </p:spPr>
      </p:pic>
      <p:sp>
        <p:nvSpPr>
          <p:cNvPr id="8" name="Text 5"/>
          <p:cNvSpPr/>
          <p:nvPr/>
        </p:nvSpPr>
        <p:spPr>
          <a:xfrm>
            <a:off x="1600200" y="2103120"/>
            <a:ext cx="4206240" cy="585216"/>
          </a:xfrm>
          <a:prstGeom prst="rect">
            <a:avLst/>
          </a:prstGeom>
          <a:noFill/>
          <a:ln/>
        </p:spPr>
        <p:txBody>
          <a:bodyPr wrap="square" lIns="0" tIns="0" rIns="0" bIns="0" rtlCol="0" anchor="ctr"/>
          <a:lstStyle/>
          <a:p>
            <a:pPr marL="0" indent="0">
              <a:buNone/>
            </a:pPr>
            <a:r>
              <a:rPr lang="en-US" sz="1800" b="1" dirty="0">
                <a:solidFill>
                  <a:srgbClr val="1E2A36"/>
                </a:solidFill>
                <a:latin typeface="Calibri" pitchFamily="34" charset="0"/>
                <a:ea typeface="Calibri" pitchFamily="34" charset="-122"/>
                <a:cs typeface="Calibri" pitchFamily="34" charset="-120"/>
              </a:rPr>
              <a:t>Q1 · Could you build it?</a:t>
            </a:r>
            <a:endParaRPr lang="en-US" sz="1800" dirty="0"/>
          </a:p>
        </p:txBody>
      </p:sp>
      <p:sp>
        <p:nvSpPr>
          <p:cNvPr id="9" name="Text 6"/>
          <p:cNvSpPr/>
          <p:nvPr/>
        </p:nvSpPr>
        <p:spPr>
          <a:xfrm>
            <a:off x="1600200" y="2743200"/>
            <a:ext cx="4206240" cy="777240"/>
          </a:xfrm>
          <a:prstGeom prst="rect">
            <a:avLst/>
          </a:prstGeom>
          <a:noFill/>
          <a:ln/>
        </p:spPr>
        <p:txBody>
          <a:bodyPr wrap="square" lIns="0" tIns="0" rIns="0" bIns="0" rtlCol="0" anchor="t"/>
          <a:lstStyle/>
          <a:p>
            <a:pPr marL="0" indent="0">
              <a:lnSpc>
                <a:spcPct val="104000"/>
              </a:lnSpc>
              <a:buNone/>
            </a:pPr>
            <a:r>
              <a:rPr lang="en-US" sz="1550" dirty="0">
                <a:solidFill>
                  <a:srgbClr val="5F7284"/>
                </a:solidFill>
                <a:latin typeface="Calibri" pitchFamily="34" charset="0"/>
                <a:ea typeface="Calibri" pitchFamily="34" charset="-122"/>
                <a:cs typeface="Calibri" pitchFamily="34" charset="-120"/>
              </a:rPr>
              <a:t>Name the section you'd have to ask about before writing any code.</a:t>
            </a:r>
            <a:endParaRPr lang="en-US" sz="1550" dirty="0"/>
          </a:p>
        </p:txBody>
      </p:sp>
      <p:sp>
        <p:nvSpPr>
          <p:cNvPr id="10" name="Shape 7"/>
          <p:cNvSpPr/>
          <p:nvPr/>
        </p:nvSpPr>
        <p:spPr>
          <a:xfrm>
            <a:off x="6172200" y="1828800"/>
            <a:ext cx="5440680" cy="1828800"/>
          </a:xfrm>
          <a:prstGeom prst="roundRect">
            <a:avLst>
              <a:gd name="adj" fmla="val 4500"/>
            </a:avLst>
          </a:prstGeom>
          <a:solidFill>
            <a:srgbClr val="F2F6F8"/>
          </a:solidFill>
          <a:ln/>
          <a:effectLst>
            <a:outerShdw blurRad="88900" dist="38100" dir="5400000" algn="bl" rotWithShape="0">
              <a:srgbClr val="000000">
                <a:alpha val="13000"/>
              </a:srgbClr>
            </a:outerShdw>
          </a:effectLst>
        </p:spPr>
        <p:txBody>
          <a:bodyPr/>
          <a:lstStyle/>
          <a:p>
            <a:endParaRPr lang="en-US"/>
          </a:p>
        </p:txBody>
      </p:sp>
      <p:sp>
        <p:nvSpPr>
          <p:cNvPr id="11" name="Shape 8"/>
          <p:cNvSpPr/>
          <p:nvPr/>
        </p:nvSpPr>
        <p:spPr>
          <a:xfrm>
            <a:off x="6446520" y="2103120"/>
            <a:ext cx="585216" cy="585216"/>
          </a:xfrm>
          <a:prstGeom prst="ellipse">
            <a:avLst/>
          </a:prstGeom>
          <a:solidFill>
            <a:srgbClr val="12908F"/>
          </a:solidFill>
          <a:ln/>
        </p:spPr>
        <p:txBody>
          <a:bodyPr/>
          <a:lstStyle/>
          <a:p>
            <a:endParaRPr lang="en-US"/>
          </a:p>
        </p:txBody>
      </p:sp>
      <p:pic>
        <p:nvPicPr>
          <p:cNvPr id="12" name="Image 1" descr="preencoded.png"/>
          <p:cNvPicPr>
            <a:picLocks noChangeAspect="1"/>
          </p:cNvPicPr>
          <p:nvPr/>
        </p:nvPicPr>
        <p:blipFill>
          <a:blip r:embed="rId4"/>
          <a:stretch>
            <a:fillRect/>
          </a:stretch>
        </p:blipFill>
        <p:spPr>
          <a:xfrm>
            <a:off x="6604528" y="2261128"/>
            <a:ext cx="269199" cy="269199"/>
          </a:xfrm>
          <a:prstGeom prst="rect">
            <a:avLst/>
          </a:prstGeom>
        </p:spPr>
      </p:pic>
      <p:sp>
        <p:nvSpPr>
          <p:cNvPr id="13" name="Text 9"/>
          <p:cNvSpPr/>
          <p:nvPr/>
        </p:nvSpPr>
        <p:spPr>
          <a:xfrm>
            <a:off x="7223760" y="2103120"/>
            <a:ext cx="4206240" cy="585216"/>
          </a:xfrm>
          <a:prstGeom prst="rect">
            <a:avLst/>
          </a:prstGeom>
          <a:noFill/>
          <a:ln/>
        </p:spPr>
        <p:txBody>
          <a:bodyPr wrap="square" lIns="0" tIns="0" rIns="0" bIns="0" rtlCol="0" anchor="ctr"/>
          <a:lstStyle/>
          <a:p>
            <a:pPr marL="0" indent="0">
              <a:buNone/>
            </a:pPr>
            <a:r>
              <a:rPr lang="en-US" sz="1800" b="1" dirty="0">
                <a:solidFill>
                  <a:srgbClr val="1E2A36"/>
                </a:solidFill>
                <a:latin typeface="Calibri" pitchFamily="34" charset="0"/>
                <a:ea typeface="Calibri" pitchFamily="34" charset="-122"/>
                <a:cs typeface="Calibri" pitchFamily="34" charset="-120"/>
              </a:rPr>
              <a:t>Q2 · The unstated assumption</a:t>
            </a:r>
            <a:endParaRPr lang="en-US" sz="1800" dirty="0"/>
          </a:p>
        </p:txBody>
      </p:sp>
      <p:sp>
        <p:nvSpPr>
          <p:cNvPr id="14" name="Text 10"/>
          <p:cNvSpPr/>
          <p:nvPr/>
        </p:nvSpPr>
        <p:spPr>
          <a:xfrm>
            <a:off x="7223760" y="2743200"/>
            <a:ext cx="4206240" cy="777240"/>
          </a:xfrm>
          <a:prstGeom prst="rect">
            <a:avLst/>
          </a:prstGeom>
          <a:noFill/>
          <a:ln/>
        </p:spPr>
        <p:txBody>
          <a:bodyPr wrap="square" lIns="0" tIns="0" rIns="0" bIns="0" rtlCol="0" anchor="t"/>
          <a:lstStyle/>
          <a:p>
            <a:pPr marL="0" indent="0">
              <a:lnSpc>
                <a:spcPct val="104000"/>
              </a:lnSpc>
              <a:buNone/>
            </a:pPr>
            <a:r>
              <a:rPr lang="en-US" sz="1550" dirty="0">
                <a:solidFill>
                  <a:srgbClr val="5F7284"/>
                </a:solidFill>
                <a:latin typeface="Calibri" pitchFamily="34" charset="0"/>
                <a:ea typeface="Calibri" pitchFamily="34" charset="-122"/>
                <a:cs typeface="Calibri" pitchFamily="34" charset="-120"/>
              </a:rPr>
              <a:t>What does this doc quietly assume is always true?</a:t>
            </a:r>
            <a:endParaRPr lang="en-US" sz="1550" dirty="0"/>
          </a:p>
        </p:txBody>
      </p:sp>
      <p:sp>
        <p:nvSpPr>
          <p:cNvPr id="15" name="Shape 11"/>
          <p:cNvSpPr/>
          <p:nvPr/>
        </p:nvSpPr>
        <p:spPr>
          <a:xfrm>
            <a:off x="548640" y="3840480"/>
            <a:ext cx="5440680" cy="1828800"/>
          </a:xfrm>
          <a:prstGeom prst="roundRect">
            <a:avLst>
              <a:gd name="adj" fmla="val 4500"/>
            </a:avLst>
          </a:prstGeom>
          <a:solidFill>
            <a:srgbClr val="F2F6F8"/>
          </a:solidFill>
          <a:ln/>
          <a:effectLst>
            <a:outerShdw blurRad="88900" dist="38100" dir="5400000" algn="bl" rotWithShape="0">
              <a:srgbClr val="000000">
                <a:alpha val="13000"/>
              </a:srgbClr>
            </a:outerShdw>
          </a:effectLst>
        </p:spPr>
        <p:txBody>
          <a:bodyPr/>
          <a:lstStyle/>
          <a:p>
            <a:endParaRPr lang="en-US"/>
          </a:p>
        </p:txBody>
      </p:sp>
      <p:sp>
        <p:nvSpPr>
          <p:cNvPr id="16" name="Shape 12"/>
          <p:cNvSpPr/>
          <p:nvPr/>
        </p:nvSpPr>
        <p:spPr>
          <a:xfrm>
            <a:off x="822960" y="4114800"/>
            <a:ext cx="585216" cy="585216"/>
          </a:xfrm>
          <a:prstGeom prst="ellipse">
            <a:avLst/>
          </a:prstGeom>
          <a:solidFill>
            <a:srgbClr val="12908F"/>
          </a:solidFill>
          <a:ln/>
        </p:spPr>
        <p:txBody>
          <a:bodyPr/>
          <a:lstStyle/>
          <a:p>
            <a:endParaRPr lang="en-US"/>
          </a:p>
        </p:txBody>
      </p:sp>
      <p:pic>
        <p:nvPicPr>
          <p:cNvPr id="17" name="Image 2" descr="preencoded.png"/>
          <p:cNvPicPr>
            <a:picLocks noChangeAspect="1"/>
          </p:cNvPicPr>
          <p:nvPr/>
        </p:nvPicPr>
        <p:blipFill>
          <a:blip r:embed="rId5"/>
          <a:stretch>
            <a:fillRect/>
          </a:stretch>
        </p:blipFill>
        <p:spPr>
          <a:xfrm>
            <a:off x="980968" y="4272808"/>
            <a:ext cx="269199" cy="269199"/>
          </a:xfrm>
          <a:prstGeom prst="rect">
            <a:avLst/>
          </a:prstGeom>
        </p:spPr>
      </p:pic>
      <p:sp>
        <p:nvSpPr>
          <p:cNvPr id="18" name="Text 13"/>
          <p:cNvSpPr/>
          <p:nvPr/>
        </p:nvSpPr>
        <p:spPr>
          <a:xfrm>
            <a:off x="1600200" y="4114800"/>
            <a:ext cx="4206240" cy="585216"/>
          </a:xfrm>
          <a:prstGeom prst="rect">
            <a:avLst/>
          </a:prstGeom>
          <a:noFill/>
          <a:ln/>
        </p:spPr>
        <p:txBody>
          <a:bodyPr wrap="square" lIns="0" tIns="0" rIns="0" bIns="0" rtlCol="0" anchor="ctr"/>
          <a:lstStyle/>
          <a:p>
            <a:pPr marL="0" indent="0">
              <a:buNone/>
            </a:pPr>
            <a:r>
              <a:rPr lang="en-US" sz="1800" b="1" dirty="0">
                <a:solidFill>
                  <a:srgbClr val="1E2A36"/>
                </a:solidFill>
                <a:latin typeface="Calibri" pitchFamily="34" charset="0"/>
                <a:ea typeface="Calibri" pitchFamily="34" charset="-122"/>
                <a:cs typeface="Calibri" pitchFamily="34" charset="-120"/>
              </a:rPr>
              <a:t>Q3 · The missing alternative</a:t>
            </a:r>
            <a:endParaRPr lang="en-US" sz="1800" dirty="0"/>
          </a:p>
        </p:txBody>
      </p:sp>
      <p:sp>
        <p:nvSpPr>
          <p:cNvPr id="19" name="Text 14"/>
          <p:cNvSpPr/>
          <p:nvPr/>
        </p:nvSpPr>
        <p:spPr>
          <a:xfrm>
            <a:off x="1600200" y="4754880"/>
            <a:ext cx="4206240" cy="777240"/>
          </a:xfrm>
          <a:prstGeom prst="rect">
            <a:avLst/>
          </a:prstGeom>
          <a:noFill/>
          <a:ln/>
        </p:spPr>
        <p:txBody>
          <a:bodyPr wrap="square" lIns="0" tIns="0" rIns="0" bIns="0" rtlCol="0" anchor="t"/>
          <a:lstStyle/>
          <a:p>
            <a:pPr marL="0" indent="0">
              <a:lnSpc>
                <a:spcPct val="104000"/>
              </a:lnSpc>
              <a:buNone/>
            </a:pPr>
            <a:r>
              <a:rPr lang="en-US" sz="1550" dirty="0">
                <a:solidFill>
                  <a:srgbClr val="5F7284"/>
                </a:solidFill>
                <a:latin typeface="Calibri" pitchFamily="34" charset="0"/>
                <a:ea typeface="Calibri" pitchFamily="34" charset="-122"/>
                <a:cs typeface="Calibri" pitchFamily="34" charset="-120"/>
              </a:rPr>
              <a:t>Which decision was asserted rather than argued?</a:t>
            </a:r>
            <a:endParaRPr lang="en-US" sz="1550" dirty="0"/>
          </a:p>
        </p:txBody>
      </p:sp>
      <p:sp>
        <p:nvSpPr>
          <p:cNvPr id="20" name="Shape 15"/>
          <p:cNvSpPr/>
          <p:nvPr/>
        </p:nvSpPr>
        <p:spPr>
          <a:xfrm>
            <a:off x="6172200" y="3840480"/>
            <a:ext cx="5440680" cy="1828800"/>
          </a:xfrm>
          <a:prstGeom prst="roundRect">
            <a:avLst>
              <a:gd name="adj" fmla="val 4500"/>
            </a:avLst>
          </a:prstGeom>
          <a:solidFill>
            <a:srgbClr val="F2F6F8"/>
          </a:solidFill>
          <a:ln/>
          <a:effectLst>
            <a:outerShdw blurRad="88900" dist="38100" dir="5400000" algn="bl" rotWithShape="0">
              <a:srgbClr val="000000">
                <a:alpha val="13000"/>
              </a:srgbClr>
            </a:outerShdw>
          </a:effectLst>
        </p:spPr>
        <p:txBody>
          <a:bodyPr/>
          <a:lstStyle/>
          <a:p>
            <a:endParaRPr lang="en-US"/>
          </a:p>
        </p:txBody>
      </p:sp>
      <p:sp>
        <p:nvSpPr>
          <p:cNvPr id="21" name="Shape 16"/>
          <p:cNvSpPr/>
          <p:nvPr/>
        </p:nvSpPr>
        <p:spPr>
          <a:xfrm>
            <a:off x="6446520" y="4114800"/>
            <a:ext cx="585216" cy="585216"/>
          </a:xfrm>
          <a:prstGeom prst="ellipse">
            <a:avLst/>
          </a:prstGeom>
          <a:solidFill>
            <a:srgbClr val="12908F"/>
          </a:solidFill>
          <a:ln/>
        </p:spPr>
        <p:txBody>
          <a:bodyPr/>
          <a:lstStyle/>
          <a:p>
            <a:endParaRPr lang="en-US"/>
          </a:p>
        </p:txBody>
      </p:sp>
      <p:pic>
        <p:nvPicPr>
          <p:cNvPr id="22" name="Image 3" descr="preencoded.png"/>
          <p:cNvPicPr>
            <a:picLocks noChangeAspect="1"/>
          </p:cNvPicPr>
          <p:nvPr/>
        </p:nvPicPr>
        <p:blipFill>
          <a:blip r:embed="rId6"/>
          <a:stretch>
            <a:fillRect/>
          </a:stretch>
        </p:blipFill>
        <p:spPr>
          <a:xfrm>
            <a:off x="6604528" y="4272808"/>
            <a:ext cx="269199" cy="269199"/>
          </a:xfrm>
          <a:prstGeom prst="rect">
            <a:avLst/>
          </a:prstGeom>
        </p:spPr>
      </p:pic>
      <p:sp>
        <p:nvSpPr>
          <p:cNvPr id="23" name="Text 17"/>
          <p:cNvSpPr/>
          <p:nvPr/>
        </p:nvSpPr>
        <p:spPr>
          <a:xfrm>
            <a:off x="7223760" y="4114800"/>
            <a:ext cx="4206240" cy="585216"/>
          </a:xfrm>
          <a:prstGeom prst="rect">
            <a:avLst/>
          </a:prstGeom>
          <a:noFill/>
          <a:ln/>
        </p:spPr>
        <p:txBody>
          <a:bodyPr wrap="square" lIns="0" tIns="0" rIns="0" bIns="0" rtlCol="0" anchor="ctr"/>
          <a:lstStyle/>
          <a:p>
            <a:pPr marL="0" indent="0">
              <a:buNone/>
            </a:pPr>
            <a:r>
              <a:rPr lang="en-US" sz="1800" b="1" dirty="0">
                <a:solidFill>
                  <a:srgbClr val="1E2A36"/>
                </a:solidFill>
                <a:latin typeface="Calibri" pitchFamily="34" charset="0"/>
                <a:ea typeface="Calibri" pitchFamily="34" charset="-122"/>
                <a:cs typeface="Calibri" pitchFamily="34" charset="-120"/>
              </a:rPr>
              <a:t>Q4 · Over-specified</a:t>
            </a:r>
            <a:endParaRPr lang="en-US" sz="1800" dirty="0"/>
          </a:p>
        </p:txBody>
      </p:sp>
      <p:sp>
        <p:nvSpPr>
          <p:cNvPr id="24" name="Text 18"/>
          <p:cNvSpPr/>
          <p:nvPr/>
        </p:nvSpPr>
        <p:spPr>
          <a:xfrm>
            <a:off x="7223760" y="4754880"/>
            <a:ext cx="4206240" cy="777240"/>
          </a:xfrm>
          <a:prstGeom prst="rect">
            <a:avLst/>
          </a:prstGeom>
          <a:noFill/>
          <a:ln/>
        </p:spPr>
        <p:txBody>
          <a:bodyPr wrap="square" lIns="0" tIns="0" rIns="0" bIns="0" rtlCol="0" anchor="t"/>
          <a:lstStyle/>
          <a:p>
            <a:pPr marL="0" indent="0">
              <a:lnSpc>
                <a:spcPct val="104000"/>
              </a:lnSpc>
              <a:buNone/>
            </a:pPr>
            <a:r>
              <a:rPr lang="en-US" sz="1550" dirty="0">
                <a:solidFill>
                  <a:srgbClr val="5F7284"/>
                </a:solidFill>
                <a:latin typeface="Calibri" pitchFamily="34" charset="0"/>
                <a:ea typeface="Calibri" pitchFamily="34" charset="-122"/>
                <a:cs typeface="Calibri" pitchFamily="34" charset="-120"/>
              </a:rPr>
              <a:t>What could you delete today and lose nothing?</a:t>
            </a:r>
            <a:endParaRPr lang="en-US" sz="1550" dirty="0"/>
          </a:p>
        </p:txBody>
      </p:sp>
      <p:sp>
        <p:nvSpPr>
          <p:cNvPr id="25" name="Shape 19"/>
          <p:cNvSpPr/>
          <p:nvPr/>
        </p:nvSpPr>
        <p:spPr>
          <a:xfrm>
            <a:off x="548640" y="5897880"/>
            <a:ext cx="11064240" cy="502920"/>
          </a:xfrm>
          <a:prstGeom prst="roundRect">
            <a:avLst>
              <a:gd name="adj" fmla="val 16364"/>
            </a:avLst>
          </a:prstGeom>
          <a:solidFill>
            <a:srgbClr val="EAF4EE"/>
          </a:solidFill>
          <a:ln/>
          <a:effectLst>
            <a:outerShdw blurRad="88900" dist="38100" dir="5400000" algn="bl" rotWithShape="0">
              <a:srgbClr val="000000">
                <a:alpha val="13000"/>
              </a:srgbClr>
            </a:outerShdw>
          </a:effectLst>
        </p:spPr>
        <p:txBody>
          <a:bodyPr/>
          <a:lstStyle/>
          <a:p>
            <a:endParaRPr lang="en-US"/>
          </a:p>
        </p:txBody>
      </p:sp>
      <p:sp>
        <p:nvSpPr>
          <p:cNvPr id="26" name="Text 20"/>
          <p:cNvSpPr/>
          <p:nvPr/>
        </p:nvSpPr>
        <p:spPr>
          <a:xfrm>
            <a:off x="822960" y="5897880"/>
            <a:ext cx="10515600" cy="502920"/>
          </a:xfrm>
          <a:prstGeom prst="rect">
            <a:avLst/>
          </a:prstGeom>
          <a:noFill/>
          <a:ln/>
        </p:spPr>
        <p:txBody>
          <a:bodyPr wrap="square" lIns="0" tIns="0" rIns="0" bIns="0" rtlCol="0" anchor="ctr"/>
          <a:lstStyle/>
          <a:p>
            <a:pPr marL="0" indent="0" algn="ctr">
              <a:buNone/>
            </a:pPr>
            <a:r>
              <a:rPr lang="en-US" sz="1550" b="1" dirty="0">
                <a:solidFill>
                  <a:srgbClr val="0E6E6D"/>
                </a:solidFill>
                <a:latin typeface="Calibri" pitchFamily="34" charset="0"/>
                <a:ea typeface="Calibri" pitchFamily="34" charset="-122"/>
                <a:cs typeface="Calibri" pitchFamily="34" charset="-120"/>
              </a:rPr>
              <a:t>You can now see the bar. Wednesday you write to it.</a:t>
            </a:r>
            <a:endParaRPr lang="en-US" sz="1550" dirty="0"/>
          </a:p>
        </p:txBody>
      </p:sp>
      <p:sp>
        <p:nvSpPr>
          <p:cNvPr id="27" name="Text 21"/>
          <p:cNvSpPr/>
          <p:nvPr/>
        </p:nvSpPr>
        <p:spPr>
          <a:xfrm>
            <a:off x="6675120" y="6437376"/>
            <a:ext cx="4937760" cy="274320"/>
          </a:xfrm>
          <a:prstGeom prst="rect">
            <a:avLst/>
          </a:prstGeom>
          <a:noFill/>
          <a:ln/>
        </p:spPr>
        <p:txBody>
          <a:bodyPr wrap="square" lIns="0" tIns="0" rIns="0" bIns="0" rtlCol="0" anchor="ctr"/>
          <a:lstStyle/>
          <a:p>
            <a:pPr marL="0" indent="0" algn="r">
              <a:buNone/>
            </a:pPr>
            <a:r>
              <a:rPr lang="en-US" sz="1000" dirty="0">
                <a:solidFill>
                  <a:srgbClr val="5F7284"/>
                </a:solidFill>
                <a:latin typeface="Calibri" pitchFamily="34" charset="0"/>
                <a:ea typeface="Calibri" pitchFamily="34" charset="-122"/>
                <a:cs typeface="Calibri" pitchFamily="34" charset="-120"/>
              </a:rPr>
              <a:t>CS 301R · Session 11 · Design Documents</a:t>
            </a:r>
            <a:endParaRPr lang="en-US" sz="1000" dirty="0"/>
          </a:p>
        </p:txBody>
      </p:sp>
      <p:sp>
        <p:nvSpPr>
          <p:cNvPr id="28" name="Text 22"/>
          <p:cNvSpPr/>
          <p:nvPr/>
        </p:nvSpPr>
        <p:spPr>
          <a:xfrm>
            <a:off x="548640" y="6437376"/>
            <a:ext cx="548640" cy="274320"/>
          </a:xfrm>
          <a:prstGeom prst="rect">
            <a:avLst/>
          </a:prstGeom>
          <a:noFill/>
          <a:ln/>
        </p:spPr>
        <p:txBody>
          <a:bodyPr wrap="square" lIns="0" tIns="0" rIns="0" bIns="0" rtlCol="0" anchor="ctr"/>
          <a:lstStyle/>
          <a:p>
            <a:pPr marL="0" indent="0">
              <a:buNone/>
            </a:pPr>
            <a:r>
              <a:rPr lang="en-US" sz="1000" dirty="0">
                <a:solidFill>
                  <a:srgbClr val="5F7284"/>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4233A"/>
        </a:solidFill>
        <a:effectLst/>
      </p:bgPr>
    </p:bg>
    <p:spTree>
      <p:nvGrpSpPr>
        <p:cNvPr id="1" name=""/>
        <p:cNvGrpSpPr/>
        <p:nvPr/>
      </p:nvGrpSpPr>
      <p:grpSpPr>
        <a:xfrm>
          <a:off x="0" y="0"/>
          <a:ext cx="0" cy="0"/>
          <a:chOff x="0" y="0"/>
          <a:chExt cx="0" cy="0"/>
        </a:xfrm>
      </p:grpSpPr>
      <p:sp>
        <p:nvSpPr>
          <p:cNvPr id="2" name="Shape 0"/>
          <p:cNvSpPr/>
          <p:nvPr/>
        </p:nvSpPr>
        <p:spPr>
          <a:xfrm>
            <a:off x="10424160" y="-1188720"/>
            <a:ext cx="3291840" cy="3291840"/>
          </a:xfrm>
          <a:prstGeom prst="ellipse">
            <a:avLst/>
          </a:prstGeom>
          <a:solidFill>
            <a:srgbClr val="1C3252"/>
          </a:solidFill>
          <a:ln/>
        </p:spPr>
        <p:txBody>
          <a:bodyPr/>
          <a:lstStyle/>
          <a:p>
            <a:endParaRPr lang="en-US"/>
          </a:p>
        </p:txBody>
      </p:sp>
      <p:sp>
        <p:nvSpPr>
          <p:cNvPr id="3" name="Shape 1"/>
          <p:cNvSpPr/>
          <p:nvPr/>
        </p:nvSpPr>
        <p:spPr>
          <a:xfrm>
            <a:off x="566928" y="548640"/>
            <a:ext cx="137160" cy="137160"/>
          </a:xfrm>
          <a:prstGeom prst="ellipse">
            <a:avLst/>
          </a:prstGeom>
          <a:solidFill>
            <a:srgbClr val="E8A33D"/>
          </a:solidFill>
          <a:ln/>
        </p:spPr>
        <p:txBody>
          <a:bodyPr/>
          <a:lstStyle/>
          <a:p>
            <a:endParaRPr lang="en-US"/>
          </a:p>
        </p:txBody>
      </p:sp>
      <p:sp>
        <p:nvSpPr>
          <p:cNvPr id="4" name="Text 2"/>
          <p:cNvSpPr/>
          <p:nvPr/>
        </p:nvSpPr>
        <p:spPr>
          <a:xfrm>
            <a:off x="795528" y="457200"/>
            <a:ext cx="10515600" cy="310896"/>
          </a:xfrm>
          <a:prstGeom prst="rect">
            <a:avLst/>
          </a:prstGeom>
          <a:noFill/>
          <a:ln/>
        </p:spPr>
        <p:txBody>
          <a:bodyPr wrap="square" lIns="0" tIns="0" rIns="0" bIns="0" rtlCol="0" anchor="ctr"/>
          <a:lstStyle/>
          <a:p>
            <a:pPr marL="0" indent="0">
              <a:buNone/>
            </a:pPr>
            <a:r>
              <a:rPr lang="en-US" sz="1400" b="1" kern="0" spc="200" dirty="0">
                <a:solidFill>
                  <a:srgbClr val="E8A33D"/>
                </a:solidFill>
                <a:latin typeface="Calibri" pitchFamily="34" charset="0"/>
                <a:ea typeface="Calibri" pitchFamily="34" charset="-122"/>
                <a:cs typeface="Calibri" pitchFamily="34" charset="-120"/>
              </a:rPr>
              <a:t>YOUR TURN · 10 MIN · TEAMS</a:t>
            </a:r>
            <a:endParaRPr lang="en-US" sz="1400" dirty="0"/>
          </a:p>
        </p:txBody>
      </p:sp>
      <p:sp>
        <p:nvSpPr>
          <p:cNvPr id="5" name="Text 3"/>
          <p:cNvSpPr/>
          <p:nvPr/>
        </p:nvSpPr>
        <p:spPr>
          <a:xfrm>
            <a:off x="548640" y="822960"/>
            <a:ext cx="11064240" cy="73152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Sketch your own doc's skeleton</a:t>
            </a:r>
            <a:endParaRPr lang="en-US" sz="3200" dirty="0"/>
          </a:p>
        </p:txBody>
      </p:sp>
      <p:sp>
        <p:nvSpPr>
          <p:cNvPr id="6" name="Text 4"/>
          <p:cNvSpPr/>
          <p:nvPr/>
        </p:nvSpPr>
        <p:spPr>
          <a:xfrm>
            <a:off x="566928" y="1627632"/>
            <a:ext cx="10972800" cy="365760"/>
          </a:xfrm>
          <a:prstGeom prst="rect">
            <a:avLst/>
          </a:prstGeom>
          <a:noFill/>
          <a:ln/>
        </p:spPr>
        <p:txBody>
          <a:bodyPr wrap="square" lIns="0" tIns="0" rIns="0" bIns="0" rtlCol="0" anchor="ctr"/>
          <a:lstStyle/>
          <a:p>
            <a:pPr marL="0" indent="0">
              <a:buNone/>
            </a:pPr>
            <a:r>
              <a:rPr lang="en-US" sz="1600" i="1" dirty="0">
                <a:solidFill>
                  <a:srgbClr val="CFE0E9"/>
                </a:solidFill>
                <a:latin typeface="Calibri" pitchFamily="34" charset="0"/>
                <a:ea typeface="Calibri" pitchFamily="34" charset="-122"/>
                <a:cs typeface="Calibri" pitchFamily="34" charset="-120"/>
              </a:rPr>
              <a:t>Rough is fine — this is Wednesday's starting point, not Wednesday's output:</a:t>
            </a:r>
            <a:endParaRPr lang="en-US" sz="1600" dirty="0"/>
          </a:p>
        </p:txBody>
      </p:sp>
      <p:sp>
        <p:nvSpPr>
          <p:cNvPr id="7" name="Shape 5"/>
          <p:cNvSpPr/>
          <p:nvPr/>
        </p:nvSpPr>
        <p:spPr>
          <a:xfrm>
            <a:off x="548640" y="2148840"/>
            <a:ext cx="11064240" cy="681228"/>
          </a:xfrm>
          <a:prstGeom prst="roundRect">
            <a:avLst>
              <a:gd name="adj" fmla="val 12081"/>
            </a:avLst>
          </a:prstGeom>
          <a:solidFill>
            <a:srgbClr val="1E3352"/>
          </a:solidFill>
          <a:ln/>
          <a:effectLst>
            <a:outerShdw blurRad="88900" dist="38100" dir="5400000" algn="bl" rotWithShape="0">
              <a:srgbClr val="000000">
                <a:alpha val="13000"/>
              </a:srgbClr>
            </a:outerShdw>
          </a:effectLst>
        </p:spPr>
        <p:txBody>
          <a:bodyPr/>
          <a:lstStyle/>
          <a:p>
            <a:endParaRPr lang="en-US"/>
          </a:p>
        </p:txBody>
      </p:sp>
      <p:sp>
        <p:nvSpPr>
          <p:cNvPr id="8" name="Shape 6"/>
          <p:cNvSpPr/>
          <p:nvPr/>
        </p:nvSpPr>
        <p:spPr>
          <a:xfrm>
            <a:off x="777240" y="2260854"/>
            <a:ext cx="457200" cy="457200"/>
          </a:xfrm>
          <a:prstGeom prst="ellipse">
            <a:avLst/>
          </a:prstGeom>
          <a:solidFill>
            <a:srgbClr val="E8A33D"/>
          </a:solidFill>
          <a:ln/>
        </p:spPr>
        <p:txBody>
          <a:bodyPr/>
          <a:lstStyle/>
          <a:p>
            <a:endParaRPr lang="en-US"/>
          </a:p>
        </p:txBody>
      </p:sp>
      <p:sp>
        <p:nvSpPr>
          <p:cNvPr id="9" name="Text 7"/>
          <p:cNvSpPr/>
          <p:nvPr/>
        </p:nvSpPr>
        <p:spPr>
          <a:xfrm>
            <a:off x="777240" y="2260854"/>
            <a:ext cx="457200" cy="457200"/>
          </a:xfrm>
          <a:prstGeom prst="rect">
            <a:avLst/>
          </a:prstGeom>
          <a:noFill/>
          <a:ln/>
        </p:spPr>
        <p:txBody>
          <a:bodyPr wrap="square" lIns="0" tIns="0" rIns="0" bIns="0" rtlCol="0" anchor="ctr"/>
          <a:lstStyle/>
          <a:p>
            <a:pPr marL="0" indent="0" algn="ctr">
              <a:buNone/>
            </a:pPr>
            <a:r>
              <a:rPr lang="en-US" sz="2000" b="1" dirty="0">
                <a:solidFill>
                  <a:srgbClr val="14233A"/>
                </a:solidFill>
                <a:latin typeface="Cambria" pitchFamily="34" charset="0"/>
                <a:ea typeface="Cambria" pitchFamily="34" charset="-122"/>
                <a:cs typeface="Cambria" pitchFamily="34" charset="-120"/>
              </a:rPr>
              <a:t>1</a:t>
            </a:r>
            <a:endParaRPr lang="en-US" sz="2000" dirty="0"/>
          </a:p>
        </p:txBody>
      </p:sp>
      <p:sp>
        <p:nvSpPr>
          <p:cNvPr id="10" name="Text 8"/>
          <p:cNvSpPr/>
          <p:nvPr/>
        </p:nvSpPr>
        <p:spPr>
          <a:xfrm>
            <a:off x="1417320" y="2148840"/>
            <a:ext cx="8595360" cy="681228"/>
          </a:xfrm>
          <a:prstGeom prst="rect">
            <a:avLst/>
          </a:prstGeom>
          <a:noFill/>
          <a:ln/>
        </p:spPr>
        <p:txBody>
          <a:bodyPr wrap="square" lIns="0" tIns="0" rIns="0" bIns="0" rtlCol="0" anchor="ctr"/>
          <a:lstStyle/>
          <a:p>
            <a:pPr marL="0" indent="0">
              <a:lnSpc>
                <a:spcPct val="103000"/>
              </a:lnSpc>
              <a:buNone/>
            </a:pPr>
            <a:r>
              <a:rPr lang="en-US" sz="1550" dirty="0">
                <a:solidFill>
                  <a:srgbClr val="FFFFFF"/>
                </a:solidFill>
                <a:latin typeface="Calibri" pitchFamily="34" charset="0"/>
                <a:ea typeface="Calibri" pitchFamily="34" charset="-122"/>
                <a:cs typeface="Calibri" pitchFamily="34" charset="-120"/>
              </a:rPr>
              <a:t>A system-context sketch: your system as one box, users and external services around it.</a:t>
            </a:r>
            <a:endParaRPr lang="en-US" sz="1550" dirty="0"/>
          </a:p>
        </p:txBody>
      </p:sp>
      <p:sp>
        <p:nvSpPr>
          <p:cNvPr id="11" name="Text 9"/>
          <p:cNvSpPr/>
          <p:nvPr/>
        </p:nvSpPr>
        <p:spPr>
          <a:xfrm>
            <a:off x="10149840" y="2148840"/>
            <a:ext cx="1280160" cy="681228"/>
          </a:xfrm>
          <a:prstGeom prst="rect">
            <a:avLst/>
          </a:prstGeom>
          <a:noFill/>
          <a:ln/>
        </p:spPr>
        <p:txBody>
          <a:bodyPr wrap="square" lIns="0" tIns="0" rIns="0" bIns="0" rtlCol="0" anchor="ctr"/>
          <a:lstStyle/>
          <a:p>
            <a:pPr marL="0" indent="0" algn="r">
              <a:buNone/>
            </a:pPr>
            <a:r>
              <a:rPr lang="en-US" sz="1400" b="1" dirty="0">
                <a:solidFill>
                  <a:srgbClr val="E8A33D"/>
                </a:solidFill>
                <a:latin typeface="Calibri" pitchFamily="34" charset="0"/>
                <a:ea typeface="Calibri" pitchFamily="34" charset="-122"/>
                <a:cs typeface="Calibri" pitchFamily="34" charset="-120"/>
              </a:rPr>
              <a:t>boxes</a:t>
            </a:r>
            <a:endParaRPr lang="en-US" sz="1400" dirty="0"/>
          </a:p>
        </p:txBody>
      </p:sp>
      <p:sp>
        <p:nvSpPr>
          <p:cNvPr id="12" name="Shape 10"/>
          <p:cNvSpPr/>
          <p:nvPr/>
        </p:nvSpPr>
        <p:spPr>
          <a:xfrm>
            <a:off x="548640" y="2958084"/>
            <a:ext cx="11064240" cy="681228"/>
          </a:xfrm>
          <a:prstGeom prst="roundRect">
            <a:avLst>
              <a:gd name="adj" fmla="val 12081"/>
            </a:avLst>
          </a:prstGeom>
          <a:solidFill>
            <a:srgbClr val="1E3352"/>
          </a:solidFill>
          <a:ln/>
          <a:effectLst>
            <a:outerShdw blurRad="88900" dist="38100" dir="5400000" algn="bl" rotWithShape="0">
              <a:srgbClr val="000000">
                <a:alpha val="13000"/>
              </a:srgbClr>
            </a:outerShdw>
          </a:effectLst>
        </p:spPr>
        <p:txBody>
          <a:bodyPr/>
          <a:lstStyle/>
          <a:p>
            <a:endParaRPr lang="en-US"/>
          </a:p>
        </p:txBody>
      </p:sp>
      <p:sp>
        <p:nvSpPr>
          <p:cNvPr id="13" name="Shape 11"/>
          <p:cNvSpPr/>
          <p:nvPr/>
        </p:nvSpPr>
        <p:spPr>
          <a:xfrm>
            <a:off x="777240" y="3070098"/>
            <a:ext cx="457200" cy="457200"/>
          </a:xfrm>
          <a:prstGeom prst="ellipse">
            <a:avLst/>
          </a:prstGeom>
          <a:solidFill>
            <a:srgbClr val="E8A33D"/>
          </a:solidFill>
          <a:ln/>
        </p:spPr>
        <p:txBody>
          <a:bodyPr/>
          <a:lstStyle/>
          <a:p>
            <a:endParaRPr lang="en-US"/>
          </a:p>
        </p:txBody>
      </p:sp>
      <p:sp>
        <p:nvSpPr>
          <p:cNvPr id="14" name="Text 12"/>
          <p:cNvSpPr/>
          <p:nvPr/>
        </p:nvSpPr>
        <p:spPr>
          <a:xfrm>
            <a:off x="777240" y="3070098"/>
            <a:ext cx="457200" cy="457200"/>
          </a:xfrm>
          <a:prstGeom prst="rect">
            <a:avLst/>
          </a:prstGeom>
          <a:noFill/>
          <a:ln/>
        </p:spPr>
        <p:txBody>
          <a:bodyPr wrap="square" lIns="0" tIns="0" rIns="0" bIns="0" rtlCol="0" anchor="ctr"/>
          <a:lstStyle/>
          <a:p>
            <a:pPr marL="0" indent="0" algn="ctr">
              <a:buNone/>
            </a:pPr>
            <a:r>
              <a:rPr lang="en-US" sz="2000" b="1" dirty="0">
                <a:solidFill>
                  <a:srgbClr val="14233A"/>
                </a:solidFill>
                <a:latin typeface="Cambria" pitchFamily="34" charset="0"/>
                <a:ea typeface="Cambria" pitchFamily="34" charset="-122"/>
                <a:cs typeface="Cambria" pitchFamily="34" charset="-120"/>
              </a:rPr>
              <a:t>2</a:t>
            </a:r>
            <a:endParaRPr lang="en-US" sz="2000" dirty="0"/>
          </a:p>
        </p:txBody>
      </p:sp>
      <p:sp>
        <p:nvSpPr>
          <p:cNvPr id="15" name="Text 13"/>
          <p:cNvSpPr/>
          <p:nvPr/>
        </p:nvSpPr>
        <p:spPr>
          <a:xfrm>
            <a:off x="1417320" y="2958084"/>
            <a:ext cx="8595360" cy="681228"/>
          </a:xfrm>
          <a:prstGeom prst="rect">
            <a:avLst/>
          </a:prstGeom>
          <a:noFill/>
          <a:ln/>
        </p:spPr>
        <p:txBody>
          <a:bodyPr wrap="square" lIns="0" tIns="0" rIns="0" bIns="0" rtlCol="0" anchor="ctr"/>
          <a:lstStyle/>
          <a:p>
            <a:pPr marL="0" indent="0">
              <a:lnSpc>
                <a:spcPct val="103000"/>
              </a:lnSpc>
              <a:buNone/>
            </a:pPr>
            <a:r>
              <a:rPr lang="en-US" sz="1550" dirty="0">
                <a:solidFill>
                  <a:srgbClr val="FFFFFF"/>
                </a:solidFill>
                <a:latin typeface="Calibri" pitchFamily="34" charset="0"/>
                <a:ea typeface="Calibri" pitchFamily="34" charset="-122"/>
                <a:cs typeface="Calibri" pitchFamily="34" charset="-120"/>
              </a:rPr>
              <a:t>Three to five components, each with a one-line job.</a:t>
            </a:r>
            <a:endParaRPr lang="en-US" sz="1550" dirty="0"/>
          </a:p>
        </p:txBody>
      </p:sp>
      <p:sp>
        <p:nvSpPr>
          <p:cNvPr id="16" name="Text 14"/>
          <p:cNvSpPr/>
          <p:nvPr/>
        </p:nvSpPr>
        <p:spPr>
          <a:xfrm>
            <a:off x="10149840" y="2958084"/>
            <a:ext cx="1280160" cy="681228"/>
          </a:xfrm>
          <a:prstGeom prst="rect">
            <a:avLst/>
          </a:prstGeom>
          <a:noFill/>
          <a:ln/>
        </p:spPr>
        <p:txBody>
          <a:bodyPr wrap="square" lIns="0" tIns="0" rIns="0" bIns="0" rtlCol="0" anchor="ctr"/>
          <a:lstStyle/>
          <a:p>
            <a:pPr marL="0" indent="0" algn="r">
              <a:buNone/>
            </a:pPr>
            <a:r>
              <a:rPr lang="en-US" sz="1400" b="1" dirty="0">
                <a:solidFill>
                  <a:srgbClr val="E8A33D"/>
                </a:solidFill>
                <a:latin typeface="Calibri" pitchFamily="34" charset="0"/>
                <a:ea typeface="Calibri" pitchFamily="34" charset="-122"/>
                <a:cs typeface="Calibri" pitchFamily="34" charset="-120"/>
              </a:rPr>
              <a:t>3–5</a:t>
            </a:r>
            <a:endParaRPr lang="en-US" sz="1400" dirty="0"/>
          </a:p>
        </p:txBody>
      </p:sp>
      <p:sp>
        <p:nvSpPr>
          <p:cNvPr id="17" name="Shape 15"/>
          <p:cNvSpPr/>
          <p:nvPr/>
        </p:nvSpPr>
        <p:spPr>
          <a:xfrm>
            <a:off x="548640" y="3767328"/>
            <a:ext cx="11064240" cy="681228"/>
          </a:xfrm>
          <a:prstGeom prst="roundRect">
            <a:avLst>
              <a:gd name="adj" fmla="val 12081"/>
            </a:avLst>
          </a:prstGeom>
          <a:solidFill>
            <a:srgbClr val="1E3352"/>
          </a:solidFill>
          <a:ln/>
          <a:effectLst>
            <a:outerShdw blurRad="88900" dist="38100" dir="5400000" algn="bl" rotWithShape="0">
              <a:srgbClr val="000000">
                <a:alpha val="13000"/>
              </a:srgbClr>
            </a:outerShdw>
          </a:effectLst>
        </p:spPr>
        <p:txBody>
          <a:bodyPr/>
          <a:lstStyle/>
          <a:p>
            <a:endParaRPr lang="en-US"/>
          </a:p>
        </p:txBody>
      </p:sp>
      <p:sp>
        <p:nvSpPr>
          <p:cNvPr id="18" name="Shape 16"/>
          <p:cNvSpPr/>
          <p:nvPr/>
        </p:nvSpPr>
        <p:spPr>
          <a:xfrm>
            <a:off x="777240" y="3879342"/>
            <a:ext cx="457200" cy="457200"/>
          </a:xfrm>
          <a:prstGeom prst="ellipse">
            <a:avLst/>
          </a:prstGeom>
          <a:solidFill>
            <a:srgbClr val="E8A33D"/>
          </a:solidFill>
          <a:ln/>
        </p:spPr>
        <p:txBody>
          <a:bodyPr/>
          <a:lstStyle/>
          <a:p>
            <a:endParaRPr lang="en-US"/>
          </a:p>
        </p:txBody>
      </p:sp>
      <p:sp>
        <p:nvSpPr>
          <p:cNvPr id="19" name="Text 17"/>
          <p:cNvSpPr/>
          <p:nvPr/>
        </p:nvSpPr>
        <p:spPr>
          <a:xfrm>
            <a:off x="777240" y="3879342"/>
            <a:ext cx="457200" cy="457200"/>
          </a:xfrm>
          <a:prstGeom prst="rect">
            <a:avLst/>
          </a:prstGeom>
          <a:noFill/>
          <a:ln/>
        </p:spPr>
        <p:txBody>
          <a:bodyPr wrap="square" lIns="0" tIns="0" rIns="0" bIns="0" rtlCol="0" anchor="ctr"/>
          <a:lstStyle/>
          <a:p>
            <a:pPr marL="0" indent="0" algn="ctr">
              <a:buNone/>
            </a:pPr>
            <a:r>
              <a:rPr lang="en-US" sz="2000" b="1" dirty="0">
                <a:solidFill>
                  <a:srgbClr val="14233A"/>
                </a:solidFill>
                <a:latin typeface="Cambria" pitchFamily="34" charset="0"/>
                <a:ea typeface="Cambria" pitchFamily="34" charset="-122"/>
                <a:cs typeface="Cambria" pitchFamily="34" charset="-120"/>
              </a:rPr>
              <a:t>3</a:t>
            </a:r>
            <a:endParaRPr lang="en-US" sz="2000" dirty="0"/>
          </a:p>
        </p:txBody>
      </p:sp>
      <p:sp>
        <p:nvSpPr>
          <p:cNvPr id="20" name="Text 18"/>
          <p:cNvSpPr/>
          <p:nvPr/>
        </p:nvSpPr>
        <p:spPr>
          <a:xfrm>
            <a:off x="1417320" y="3767328"/>
            <a:ext cx="8595360" cy="681228"/>
          </a:xfrm>
          <a:prstGeom prst="rect">
            <a:avLst/>
          </a:prstGeom>
          <a:noFill/>
          <a:ln/>
        </p:spPr>
        <p:txBody>
          <a:bodyPr wrap="square" lIns="0" tIns="0" rIns="0" bIns="0" rtlCol="0" anchor="ctr"/>
          <a:lstStyle/>
          <a:p>
            <a:pPr marL="0" indent="0">
              <a:lnSpc>
                <a:spcPct val="103000"/>
              </a:lnSpc>
              <a:buNone/>
            </a:pPr>
            <a:r>
              <a:rPr lang="en-US" sz="1550" dirty="0">
                <a:solidFill>
                  <a:srgbClr val="FFFFFF"/>
                </a:solidFill>
                <a:latin typeface="Calibri" pitchFamily="34" charset="0"/>
                <a:ea typeface="Calibri" pitchFamily="34" charset="-122"/>
                <a:cs typeface="Calibri" pitchFamily="34" charset="-120"/>
              </a:rPr>
              <a:t>The data entities the core flow touches.</a:t>
            </a:r>
            <a:endParaRPr lang="en-US" sz="1550" dirty="0"/>
          </a:p>
        </p:txBody>
      </p:sp>
      <p:sp>
        <p:nvSpPr>
          <p:cNvPr id="21" name="Text 19"/>
          <p:cNvSpPr/>
          <p:nvPr/>
        </p:nvSpPr>
        <p:spPr>
          <a:xfrm>
            <a:off x="10149840" y="3767328"/>
            <a:ext cx="1280160" cy="681228"/>
          </a:xfrm>
          <a:prstGeom prst="rect">
            <a:avLst/>
          </a:prstGeom>
          <a:noFill/>
          <a:ln/>
        </p:spPr>
        <p:txBody>
          <a:bodyPr wrap="square" lIns="0" tIns="0" rIns="0" bIns="0" rtlCol="0" anchor="ctr"/>
          <a:lstStyle/>
          <a:p>
            <a:pPr marL="0" indent="0" algn="r">
              <a:buNone/>
            </a:pPr>
            <a:r>
              <a:rPr lang="en-US" sz="1400" b="1" dirty="0">
                <a:solidFill>
                  <a:srgbClr val="E8A33D"/>
                </a:solidFill>
                <a:latin typeface="Calibri" pitchFamily="34" charset="0"/>
                <a:ea typeface="Calibri" pitchFamily="34" charset="-122"/>
                <a:cs typeface="Calibri" pitchFamily="34" charset="-120"/>
              </a:rPr>
              <a:t>entities</a:t>
            </a:r>
            <a:endParaRPr lang="en-US" sz="1400" dirty="0"/>
          </a:p>
        </p:txBody>
      </p:sp>
      <p:sp>
        <p:nvSpPr>
          <p:cNvPr id="22" name="Shape 20"/>
          <p:cNvSpPr/>
          <p:nvPr/>
        </p:nvSpPr>
        <p:spPr>
          <a:xfrm>
            <a:off x="548640" y="4576572"/>
            <a:ext cx="11064240" cy="681228"/>
          </a:xfrm>
          <a:prstGeom prst="roundRect">
            <a:avLst>
              <a:gd name="adj" fmla="val 12081"/>
            </a:avLst>
          </a:prstGeom>
          <a:solidFill>
            <a:srgbClr val="1E3352"/>
          </a:solidFill>
          <a:ln/>
          <a:effectLst>
            <a:outerShdw blurRad="88900" dist="38100" dir="5400000" algn="bl" rotWithShape="0">
              <a:srgbClr val="000000">
                <a:alpha val="13000"/>
              </a:srgbClr>
            </a:outerShdw>
          </a:effectLst>
        </p:spPr>
        <p:txBody>
          <a:bodyPr/>
          <a:lstStyle/>
          <a:p>
            <a:endParaRPr lang="en-US"/>
          </a:p>
        </p:txBody>
      </p:sp>
      <p:sp>
        <p:nvSpPr>
          <p:cNvPr id="23" name="Shape 21"/>
          <p:cNvSpPr/>
          <p:nvPr/>
        </p:nvSpPr>
        <p:spPr>
          <a:xfrm>
            <a:off x="777240" y="4688586"/>
            <a:ext cx="457200" cy="457200"/>
          </a:xfrm>
          <a:prstGeom prst="ellipse">
            <a:avLst/>
          </a:prstGeom>
          <a:solidFill>
            <a:srgbClr val="E8A33D"/>
          </a:solidFill>
          <a:ln/>
        </p:spPr>
        <p:txBody>
          <a:bodyPr/>
          <a:lstStyle/>
          <a:p>
            <a:endParaRPr lang="en-US"/>
          </a:p>
        </p:txBody>
      </p:sp>
      <p:sp>
        <p:nvSpPr>
          <p:cNvPr id="24" name="Text 22"/>
          <p:cNvSpPr/>
          <p:nvPr/>
        </p:nvSpPr>
        <p:spPr>
          <a:xfrm>
            <a:off x="777240" y="4688586"/>
            <a:ext cx="457200" cy="457200"/>
          </a:xfrm>
          <a:prstGeom prst="rect">
            <a:avLst/>
          </a:prstGeom>
          <a:noFill/>
          <a:ln/>
        </p:spPr>
        <p:txBody>
          <a:bodyPr wrap="square" lIns="0" tIns="0" rIns="0" bIns="0" rtlCol="0" anchor="ctr"/>
          <a:lstStyle/>
          <a:p>
            <a:pPr marL="0" indent="0" algn="ctr">
              <a:buNone/>
            </a:pPr>
            <a:r>
              <a:rPr lang="en-US" sz="2000" b="1" dirty="0">
                <a:solidFill>
                  <a:srgbClr val="14233A"/>
                </a:solidFill>
                <a:latin typeface="Cambria" pitchFamily="34" charset="0"/>
                <a:ea typeface="Cambria" pitchFamily="34" charset="-122"/>
                <a:cs typeface="Cambria" pitchFamily="34" charset="-120"/>
              </a:rPr>
              <a:t>4</a:t>
            </a:r>
            <a:endParaRPr lang="en-US" sz="2000" dirty="0"/>
          </a:p>
        </p:txBody>
      </p:sp>
      <p:sp>
        <p:nvSpPr>
          <p:cNvPr id="25" name="Text 23"/>
          <p:cNvSpPr/>
          <p:nvPr/>
        </p:nvSpPr>
        <p:spPr>
          <a:xfrm>
            <a:off x="1417320" y="4576572"/>
            <a:ext cx="8595360" cy="681228"/>
          </a:xfrm>
          <a:prstGeom prst="rect">
            <a:avLst/>
          </a:prstGeom>
          <a:noFill/>
          <a:ln/>
        </p:spPr>
        <p:txBody>
          <a:bodyPr wrap="square" lIns="0" tIns="0" rIns="0" bIns="0" rtlCol="0" anchor="ctr"/>
          <a:lstStyle/>
          <a:p>
            <a:pPr marL="0" indent="0">
              <a:lnSpc>
                <a:spcPct val="103000"/>
              </a:lnSpc>
              <a:buNone/>
            </a:pPr>
            <a:r>
              <a:rPr lang="en-US" sz="1550" dirty="0">
                <a:solidFill>
                  <a:srgbClr val="FFFFFF"/>
                </a:solidFill>
                <a:latin typeface="Calibri" pitchFamily="34" charset="0"/>
                <a:ea typeface="Calibri" pitchFamily="34" charset="-122"/>
                <a:cs typeface="Calibri" pitchFamily="34" charset="-120"/>
              </a:rPr>
              <a:t>The two biggest decisions you'll have to argue with alternatives.</a:t>
            </a:r>
            <a:endParaRPr lang="en-US" sz="1550" dirty="0"/>
          </a:p>
        </p:txBody>
      </p:sp>
      <p:sp>
        <p:nvSpPr>
          <p:cNvPr id="26" name="Text 24"/>
          <p:cNvSpPr/>
          <p:nvPr/>
        </p:nvSpPr>
        <p:spPr>
          <a:xfrm>
            <a:off x="10149840" y="4576572"/>
            <a:ext cx="1280160" cy="681228"/>
          </a:xfrm>
          <a:prstGeom prst="rect">
            <a:avLst/>
          </a:prstGeom>
          <a:noFill/>
          <a:ln/>
        </p:spPr>
        <p:txBody>
          <a:bodyPr wrap="square" lIns="0" tIns="0" rIns="0" bIns="0" rtlCol="0" anchor="ctr"/>
          <a:lstStyle/>
          <a:p>
            <a:pPr marL="0" indent="0" algn="r">
              <a:buNone/>
            </a:pPr>
            <a:r>
              <a:rPr lang="en-US" sz="1400" b="1" dirty="0">
                <a:solidFill>
                  <a:srgbClr val="E8A33D"/>
                </a:solidFill>
                <a:latin typeface="Calibri" pitchFamily="34" charset="0"/>
                <a:ea typeface="Calibri" pitchFamily="34" charset="-122"/>
                <a:cs typeface="Calibri" pitchFamily="34" charset="-120"/>
              </a:rPr>
              <a:t>2 decisions</a:t>
            </a:r>
            <a:endParaRPr lang="en-US" sz="1400" dirty="0"/>
          </a:p>
        </p:txBody>
      </p:sp>
      <p:sp>
        <p:nvSpPr>
          <p:cNvPr id="27" name="Shape 25"/>
          <p:cNvSpPr/>
          <p:nvPr/>
        </p:nvSpPr>
        <p:spPr>
          <a:xfrm>
            <a:off x="548640" y="5440680"/>
            <a:ext cx="11064240" cy="731520"/>
          </a:xfrm>
          <a:prstGeom prst="roundRect">
            <a:avLst>
              <a:gd name="adj" fmla="val 11250"/>
            </a:avLst>
          </a:prstGeom>
          <a:solidFill>
            <a:srgbClr val="E8A33D"/>
          </a:solidFill>
          <a:ln/>
          <a:effectLst>
            <a:outerShdw blurRad="88900" dist="38100" dir="5400000" algn="bl" rotWithShape="0">
              <a:srgbClr val="000000">
                <a:alpha val="13000"/>
              </a:srgbClr>
            </a:outerShdw>
          </a:effectLst>
        </p:spPr>
        <p:txBody>
          <a:bodyPr/>
          <a:lstStyle/>
          <a:p>
            <a:endParaRPr lang="en-US"/>
          </a:p>
        </p:txBody>
      </p:sp>
      <p:sp>
        <p:nvSpPr>
          <p:cNvPr id="28" name="Text 26"/>
          <p:cNvSpPr/>
          <p:nvPr/>
        </p:nvSpPr>
        <p:spPr>
          <a:xfrm>
            <a:off x="914400" y="5440680"/>
            <a:ext cx="10332720" cy="731520"/>
          </a:xfrm>
          <a:prstGeom prst="rect">
            <a:avLst/>
          </a:prstGeom>
          <a:noFill/>
          <a:ln/>
        </p:spPr>
        <p:txBody>
          <a:bodyPr wrap="square" lIns="0" tIns="0" rIns="0" bIns="0" rtlCol="0" anchor="ctr"/>
          <a:lstStyle/>
          <a:p>
            <a:pPr marL="0" indent="0">
              <a:buNone/>
            </a:pPr>
            <a:r>
              <a:rPr lang="en-US" sz="1500" b="1" dirty="0">
                <a:solidFill>
                  <a:srgbClr val="14233A"/>
                </a:solidFill>
                <a:latin typeface="Calibri" pitchFamily="34" charset="0"/>
                <a:ea typeface="Calibri" pitchFamily="34" charset="-122"/>
                <a:cs typeface="Calibri" pitchFamily="34" charset="-120"/>
              </a:rPr>
              <a:t>On the Design Doc Skeleton sheet — bring it Wednesday. The workshop turns it into the draft, due end of day Thursday, Oct 15.</a:t>
            </a:r>
            <a:endParaRPr lang="en-US" sz="1500" dirty="0"/>
          </a:p>
        </p:txBody>
      </p:sp>
      <p:sp>
        <p:nvSpPr>
          <p:cNvPr id="29" name="Text 27"/>
          <p:cNvSpPr/>
          <p:nvPr/>
        </p:nvSpPr>
        <p:spPr>
          <a:xfrm>
            <a:off x="6675120" y="6437376"/>
            <a:ext cx="4937760" cy="274320"/>
          </a:xfrm>
          <a:prstGeom prst="rect">
            <a:avLst/>
          </a:prstGeom>
          <a:noFill/>
          <a:ln/>
        </p:spPr>
        <p:txBody>
          <a:bodyPr wrap="square" lIns="0" tIns="0" rIns="0" bIns="0" rtlCol="0" anchor="ctr"/>
          <a:lstStyle/>
          <a:p>
            <a:pPr marL="0" indent="0" algn="r">
              <a:buNone/>
            </a:pPr>
            <a:r>
              <a:rPr lang="en-US" sz="1000" dirty="0">
                <a:solidFill>
                  <a:srgbClr val="7E92A8"/>
                </a:solidFill>
                <a:latin typeface="Calibri" pitchFamily="34" charset="0"/>
                <a:ea typeface="Calibri" pitchFamily="34" charset="-122"/>
                <a:cs typeface="Calibri" pitchFamily="34" charset="-120"/>
              </a:rPr>
              <a:t>CS 301R · Session 11 · Design Documents</a:t>
            </a:r>
            <a:endParaRPr lang="en-US" sz="1000" dirty="0"/>
          </a:p>
        </p:txBody>
      </p:sp>
      <p:sp>
        <p:nvSpPr>
          <p:cNvPr id="30" name="Text 28"/>
          <p:cNvSpPr/>
          <p:nvPr/>
        </p:nvSpPr>
        <p:spPr>
          <a:xfrm>
            <a:off x="548640" y="6437376"/>
            <a:ext cx="548640" cy="274320"/>
          </a:xfrm>
          <a:prstGeom prst="rect">
            <a:avLst/>
          </a:prstGeom>
          <a:noFill/>
          <a:ln/>
        </p:spPr>
        <p:txBody>
          <a:bodyPr wrap="square" lIns="0" tIns="0" rIns="0" bIns="0" rtlCol="0" anchor="ctr"/>
          <a:lstStyle/>
          <a:p>
            <a:pPr marL="0" indent="0">
              <a:buNone/>
            </a:pPr>
            <a:r>
              <a:rPr lang="en-US" sz="1000" dirty="0">
                <a:solidFill>
                  <a:srgbClr val="7E92A8"/>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txBody>
          <a:bodyPr/>
          <a:lstStyle/>
          <a:p>
            <a:endParaRPr lang="en-US"/>
          </a:p>
        </p:txBody>
      </p:sp>
      <p:sp>
        <p:nvSpPr>
          <p:cNvPr id="3" name="Text 1"/>
          <p:cNvSpPr/>
          <p:nvPr/>
        </p:nvSpPr>
        <p:spPr>
          <a:xfrm>
            <a:off x="795528" y="402336"/>
            <a:ext cx="10515600" cy="310896"/>
          </a:xfrm>
          <a:prstGeom prst="rect">
            <a:avLst/>
          </a:prstGeom>
          <a:noFill/>
          <a:ln/>
        </p:spPr>
        <p:txBody>
          <a:bodyPr wrap="square" lIns="0" tIns="0" rIns="0" bIns="0" rtlCol="0" anchor="ctr"/>
          <a:lstStyle/>
          <a:p>
            <a:pPr marL="0" indent="0">
              <a:buNone/>
            </a:pPr>
            <a:r>
              <a:rPr lang="en-US" sz="1400" b="1" kern="0" spc="200" dirty="0">
                <a:solidFill>
                  <a:srgbClr val="12908F"/>
                </a:solidFill>
                <a:latin typeface="Calibri" pitchFamily="34" charset="0"/>
                <a:ea typeface="Calibri" pitchFamily="34" charset="-122"/>
                <a:cs typeface="Calibri" pitchFamily="34" charset="-120"/>
              </a:rPr>
              <a:t>WORKING AGREEMENTS — 8 MIN</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marL="0" indent="0">
              <a:buNone/>
            </a:pPr>
            <a:r>
              <a:rPr lang="en-US" sz="3100" b="1" dirty="0">
                <a:solidFill>
                  <a:srgbClr val="1E2A36"/>
                </a:solidFill>
                <a:latin typeface="Cambria" pitchFamily="34" charset="0"/>
                <a:ea typeface="Cambria" pitchFamily="34" charset="-122"/>
                <a:cs typeface="Cambria" pitchFamily="34" charset="-120"/>
              </a:rPr>
              <a:t>Decide the rules before you need them</a:t>
            </a:r>
            <a:endParaRPr lang="en-US" sz="3100" dirty="0"/>
          </a:p>
        </p:txBody>
      </p:sp>
      <p:sp>
        <p:nvSpPr>
          <p:cNvPr id="5" name="Shape 3"/>
          <p:cNvSpPr/>
          <p:nvPr/>
        </p:nvSpPr>
        <p:spPr>
          <a:xfrm>
            <a:off x="548640" y="1783080"/>
            <a:ext cx="11064240" cy="1051560"/>
          </a:xfrm>
          <a:prstGeom prst="roundRect">
            <a:avLst>
              <a:gd name="adj" fmla="val 7826"/>
            </a:avLst>
          </a:prstGeom>
          <a:solidFill>
            <a:srgbClr val="14233A"/>
          </a:solidFill>
          <a:ln/>
          <a:effectLst>
            <a:outerShdw blurRad="88900" dist="38100" dir="5400000" algn="bl" rotWithShape="0">
              <a:srgbClr val="000000">
                <a:alpha val="13000"/>
              </a:srgbClr>
            </a:outerShdw>
          </a:effectLst>
        </p:spPr>
        <p:txBody>
          <a:bodyPr/>
          <a:lstStyle/>
          <a:p>
            <a:endParaRPr lang="en-US"/>
          </a:p>
        </p:txBody>
      </p:sp>
      <p:sp>
        <p:nvSpPr>
          <p:cNvPr id="6" name="Shape 4"/>
          <p:cNvSpPr/>
          <p:nvPr/>
        </p:nvSpPr>
        <p:spPr>
          <a:xfrm>
            <a:off x="868680" y="2029968"/>
            <a:ext cx="566928" cy="566928"/>
          </a:xfrm>
          <a:prstGeom prst="ellipse">
            <a:avLst/>
          </a:prstGeom>
          <a:solidFill>
            <a:srgbClr val="E8A33D"/>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1021751" y="2183039"/>
            <a:ext cx="260787" cy="260787"/>
          </a:xfrm>
          <a:prstGeom prst="rect">
            <a:avLst/>
          </a:prstGeom>
        </p:spPr>
      </p:pic>
      <p:sp>
        <p:nvSpPr>
          <p:cNvPr id="8" name="Text 5"/>
          <p:cNvSpPr/>
          <p:nvPr/>
        </p:nvSpPr>
        <p:spPr>
          <a:xfrm>
            <a:off x="1691640" y="1783080"/>
            <a:ext cx="9692640" cy="1051560"/>
          </a:xfrm>
          <a:prstGeom prst="rect">
            <a:avLst/>
          </a:prstGeom>
          <a:noFill/>
          <a:ln/>
        </p:spPr>
        <p:txBody>
          <a:bodyPr wrap="square" lIns="0" tIns="0" rIns="0" bIns="0" rtlCol="0" anchor="ctr"/>
          <a:lstStyle/>
          <a:p>
            <a:pPr marL="0" indent="0">
              <a:lnSpc>
                <a:spcPct val="104000"/>
              </a:lnSpc>
              <a:buNone/>
            </a:pPr>
            <a:r>
              <a:rPr lang="en-US" sz="1650" dirty="0">
                <a:solidFill>
                  <a:srgbClr val="FFFFFF"/>
                </a:solidFill>
                <a:latin typeface="Calibri" pitchFamily="34" charset="0"/>
                <a:ea typeface="Calibri" pitchFamily="34" charset="-122"/>
                <a:cs typeface="Calibri" pitchFamily="34" charset="-120"/>
              </a:rPr>
              <a:t>Groups that intend to last write down how they'll work together — while everyone still likes each other. That is the cheapest moment to negotiate it.</a:t>
            </a:r>
            <a:endParaRPr lang="en-US" sz="1650" dirty="0"/>
          </a:p>
        </p:txBody>
      </p:sp>
      <p:sp>
        <p:nvSpPr>
          <p:cNvPr id="9" name="Shape 6"/>
          <p:cNvSpPr/>
          <p:nvPr/>
        </p:nvSpPr>
        <p:spPr>
          <a:xfrm>
            <a:off x="548640" y="3017520"/>
            <a:ext cx="5440680" cy="1234440"/>
          </a:xfrm>
          <a:prstGeom prst="roundRect">
            <a:avLst>
              <a:gd name="adj" fmla="val 6667"/>
            </a:avLst>
          </a:prstGeom>
          <a:solidFill>
            <a:srgbClr val="FBECE8"/>
          </a:solidFill>
          <a:ln/>
          <a:effectLst>
            <a:outerShdw blurRad="88900" dist="38100" dir="5400000" algn="bl" rotWithShape="0">
              <a:srgbClr val="000000">
                <a:alpha val="13000"/>
              </a:srgbClr>
            </a:outerShdw>
          </a:effectLst>
        </p:spPr>
        <p:txBody>
          <a:bodyPr/>
          <a:lstStyle/>
          <a:p>
            <a:endParaRPr lang="en-US"/>
          </a:p>
        </p:txBody>
      </p:sp>
      <p:sp>
        <p:nvSpPr>
          <p:cNvPr id="10" name="Text 7"/>
          <p:cNvSpPr/>
          <p:nvPr/>
        </p:nvSpPr>
        <p:spPr>
          <a:xfrm>
            <a:off x="868680" y="3017520"/>
            <a:ext cx="4846320" cy="1234440"/>
          </a:xfrm>
          <a:prstGeom prst="rect">
            <a:avLst/>
          </a:prstGeom>
          <a:noFill/>
          <a:ln/>
        </p:spPr>
        <p:txBody>
          <a:bodyPr wrap="square" lIns="0" tIns="0" rIns="0" bIns="0" rtlCol="0" anchor="ctr"/>
          <a:lstStyle/>
          <a:p>
            <a:pPr marL="0" indent="0">
              <a:lnSpc>
                <a:spcPct val="104000"/>
              </a:lnSpc>
              <a:buNone/>
            </a:pPr>
            <a:r>
              <a:rPr lang="en-US" sz="1600" b="1" dirty="0">
                <a:solidFill>
                  <a:srgbClr val="D9614C"/>
                </a:solidFill>
                <a:latin typeface="Calibri" pitchFamily="34" charset="0"/>
                <a:ea typeface="Calibri" pitchFamily="34" charset="-122"/>
                <a:cs typeface="Calibri" pitchFamily="34" charset="-120"/>
              </a:rPr>
              <a:t>Fails the test
</a:t>
            </a:r>
            <a:r>
              <a:rPr lang="en-US" sz="1550" dirty="0">
                <a:solidFill>
                  <a:srgbClr val="1E2A36"/>
                </a:solidFill>
                <a:latin typeface="Calibri" pitchFamily="34" charset="0"/>
                <a:ea typeface="Calibri" pitchFamily="34" charset="-122"/>
                <a:cs typeface="Calibri" pitchFamily="34" charset="-120"/>
              </a:rPr>
              <a:t>"We'll communicate well."  "Everyone pulls their weight."</a:t>
            </a:r>
            <a:endParaRPr lang="en-US" sz="1550" dirty="0"/>
          </a:p>
        </p:txBody>
      </p:sp>
      <p:sp>
        <p:nvSpPr>
          <p:cNvPr id="11" name="Shape 8"/>
          <p:cNvSpPr/>
          <p:nvPr/>
        </p:nvSpPr>
        <p:spPr>
          <a:xfrm>
            <a:off x="6172200" y="3017520"/>
            <a:ext cx="5440680" cy="1234440"/>
          </a:xfrm>
          <a:prstGeom prst="roundRect">
            <a:avLst>
              <a:gd name="adj" fmla="val 6667"/>
            </a:avLst>
          </a:prstGeom>
          <a:solidFill>
            <a:srgbClr val="EAF4EE"/>
          </a:solidFill>
          <a:ln/>
          <a:effectLst>
            <a:outerShdw blurRad="88900" dist="38100" dir="5400000" algn="bl" rotWithShape="0">
              <a:srgbClr val="000000">
                <a:alpha val="13000"/>
              </a:srgbClr>
            </a:outerShdw>
          </a:effectLst>
        </p:spPr>
        <p:txBody>
          <a:bodyPr/>
          <a:lstStyle/>
          <a:p>
            <a:endParaRPr lang="en-US"/>
          </a:p>
        </p:txBody>
      </p:sp>
      <p:sp>
        <p:nvSpPr>
          <p:cNvPr id="12" name="Text 9"/>
          <p:cNvSpPr/>
          <p:nvPr/>
        </p:nvSpPr>
        <p:spPr>
          <a:xfrm>
            <a:off x="6492240" y="3017520"/>
            <a:ext cx="4846320" cy="1234440"/>
          </a:xfrm>
          <a:prstGeom prst="rect">
            <a:avLst/>
          </a:prstGeom>
          <a:noFill/>
          <a:ln/>
        </p:spPr>
        <p:txBody>
          <a:bodyPr wrap="square" lIns="0" tIns="0" rIns="0" bIns="0" rtlCol="0" anchor="ctr"/>
          <a:lstStyle/>
          <a:p>
            <a:pPr marL="0" indent="0">
              <a:lnSpc>
                <a:spcPct val="104000"/>
              </a:lnSpc>
              <a:buNone/>
            </a:pPr>
            <a:r>
              <a:rPr lang="en-US" sz="1600" b="1" dirty="0">
                <a:solidFill>
                  <a:srgbClr val="0E6E6D"/>
                </a:solidFill>
                <a:latin typeface="Calibri" pitchFamily="34" charset="0"/>
                <a:ea typeface="Calibri" pitchFamily="34" charset="-122"/>
                <a:cs typeface="Calibri" pitchFamily="34" charset="-120"/>
              </a:rPr>
              <a:t>Passes it
</a:t>
            </a:r>
            <a:r>
              <a:rPr lang="en-US" sz="1550" dirty="0">
                <a:solidFill>
                  <a:srgbClr val="1E2A36"/>
                </a:solidFill>
                <a:latin typeface="Calibri" pitchFamily="34" charset="0"/>
                <a:ea typeface="Calibri" pitchFamily="34" charset="-122"/>
                <a:cs typeface="Calibri" pitchFamily="34" charset="-120"/>
              </a:rPr>
              <a:t>"A reply within 24 hours on weekdays."  "Two issues closed a week."</a:t>
            </a:r>
            <a:endParaRPr lang="en-US" sz="1550" dirty="0"/>
          </a:p>
        </p:txBody>
      </p:sp>
      <p:sp>
        <p:nvSpPr>
          <p:cNvPr id="13" name="Text 10"/>
          <p:cNvSpPr/>
          <p:nvPr/>
        </p:nvSpPr>
        <p:spPr>
          <a:xfrm>
            <a:off x="548640" y="4370832"/>
            <a:ext cx="11064240" cy="320040"/>
          </a:xfrm>
          <a:prstGeom prst="rect">
            <a:avLst/>
          </a:prstGeom>
          <a:noFill/>
          <a:ln/>
        </p:spPr>
        <p:txBody>
          <a:bodyPr wrap="square" lIns="0" tIns="0" rIns="0" bIns="0" rtlCol="0" anchor="ctr"/>
          <a:lstStyle/>
          <a:p>
            <a:pPr marL="0" indent="0" algn="ctr">
              <a:buNone/>
            </a:pPr>
            <a:r>
              <a:rPr lang="en-US" sz="1500" i="1" dirty="0">
                <a:solidFill>
                  <a:srgbClr val="5F7284"/>
                </a:solidFill>
                <a:latin typeface="Calibri" pitchFamily="34" charset="0"/>
                <a:ea typeface="Calibri" pitchFamily="34" charset="-122"/>
                <a:cs typeface="Calibri" pitchFamily="34" charset="-120"/>
              </a:rPr>
              <a:t>Checkable — and it survives a bad week.</a:t>
            </a:r>
            <a:endParaRPr lang="en-US" sz="1500" dirty="0"/>
          </a:p>
        </p:txBody>
      </p:sp>
      <p:sp>
        <p:nvSpPr>
          <p:cNvPr id="14" name="Shape 11"/>
          <p:cNvSpPr/>
          <p:nvPr/>
        </p:nvSpPr>
        <p:spPr>
          <a:xfrm>
            <a:off x="548640" y="4800600"/>
            <a:ext cx="11064240" cy="1371600"/>
          </a:xfrm>
          <a:prstGeom prst="roundRect">
            <a:avLst>
              <a:gd name="adj" fmla="val 6000"/>
            </a:avLst>
          </a:prstGeom>
          <a:solidFill>
            <a:srgbClr val="F2F6F8"/>
          </a:solidFill>
          <a:ln/>
          <a:effectLst>
            <a:outerShdw blurRad="88900" dist="38100" dir="5400000" algn="bl" rotWithShape="0">
              <a:srgbClr val="000000">
                <a:alpha val="13000"/>
              </a:srgbClr>
            </a:outerShdw>
          </a:effectLst>
        </p:spPr>
        <p:txBody>
          <a:bodyPr/>
          <a:lstStyle/>
          <a:p>
            <a:endParaRPr lang="en-US"/>
          </a:p>
        </p:txBody>
      </p:sp>
      <p:sp>
        <p:nvSpPr>
          <p:cNvPr id="15" name="Shape 12"/>
          <p:cNvSpPr/>
          <p:nvPr/>
        </p:nvSpPr>
        <p:spPr>
          <a:xfrm>
            <a:off x="868680" y="5120640"/>
            <a:ext cx="548640" cy="548640"/>
          </a:xfrm>
          <a:prstGeom prst="ellipse">
            <a:avLst/>
          </a:prstGeom>
          <a:solidFill>
            <a:srgbClr val="12908F"/>
          </a:solidFill>
          <a:ln/>
        </p:spPr>
        <p:txBody>
          <a:bodyPr/>
          <a:lstStyle/>
          <a:p>
            <a:endParaRPr lang="en-US"/>
          </a:p>
        </p:txBody>
      </p:sp>
      <p:pic>
        <p:nvPicPr>
          <p:cNvPr id="16" name="Image 1" descr="preencoded.png"/>
          <p:cNvPicPr>
            <a:picLocks noChangeAspect="1"/>
          </p:cNvPicPr>
          <p:nvPr/>
        </p:nvPicPr>
        <p:blipFill>
          <a:blip r:embed="rId4"/>
          <a:stretch>
            <a:fillRect/>
          </a:stretch>
        </p:blipFill>
        <p:spPr>
          <a:xfrm>
            <a:off x="1016813" y="5268773"/>
            <a:ext cx="252374" cy="252374"/>
          </a:xfrm>
          <a:prstGeom prst="rect">
            <a:avLst/>
          </a:prstGeom>
        </p:spPr>
      </p:pic>
      <p:sp>
        <p:nvSpPr>
          <p:cNvPr id="17" name="Text 13"/>
          <p:cNvSpPr/>
          <p:nvPr/>
        </p:nvSpPr>
        <p:spPr>
          <a:xfrm>
            <a:off x="1691640" y="4800600"/>
            <a:ext cx="9692640" cy="1371600"/>
          </a:xfrm>
          <a:prstGeom prst="rect">
            <a:avLst/>
          </a:prstGeom>
          <a:noFill/>
          <a:ln/>
        </p:spPr>
        <p:txBody>
          <a:bodyPr wrap="square" lIns="0" tIns="0" rIns="0" bIns="0" rtlCol="0" anchor="ctr"/>
          <a:lstStyle/>
          <a:p>
            <a:pPr marL="0" indent="0">
              <a:lnSpc>
                <a:spcPct val="104000"/>
              </a:lnSpc>
              <a:buNone/>
            </a:pPr>
            <a:r>
              <a:rPr lang="en-US" sz="1600" dirty="0">
                <a:solidFill>
                  <a:srgbClr val="1E2A36"/>
                </a:solidFill>
                <a:latin typeface="Calibri" pitchFamily="34" charset="0"/>
                <a:ea typeface="Calibri" pitchFamily="34" charset="-122"/>
                <a:cs typeface="Calibri" pitchFamily="34" charset="-120"/>
              </a:rPr>
              <a:t>Seven short sections on the worksheet — roles, channel, cadence, decisions, weight, amendments.  </a:t>
            </a:r>
            <a:r>
              <a:rPr lang="en-US" sz="1600" b="1" dirty="0">
                <a:solidFill>
                  <a:srgbClr val="0E6E6D"/>
                </a:solidFill>
                <a:latin typeface="Calibri" pitchFamily="34" charset="0"/>
                <a:ea typeface="Calibri" pitchFamily="34" charset="-122"/>
                <a:cs typeface="Calibri" pitchFamily="34" charset="-120"/>
              </a:rPr>
              <a:t>In November, your confidential peer evaluations are scored against what you write here.</a:t>
            </a:r>
            <a:endParaRPr lang="en-US" sz="1600" dirty="0"/>
          </a:p>
        </p:txBody>
      </p:sp>
      <p:sp>
        <p:nvSpPr>
          <p:cNvPr id="18" name="Text 14"/>
          <p:cNvSpPr/>
          <p:nvPr/>
        </p:nvSpPr>
        <p:spPr>
          <a:xfrm>
            <a:off x="6675120" y="6437376"/>
            <a:ext cx="4937760" cy="274320"/>
          </a:xfrm>
          <a:prstGeom prst="rect">
            <a:avLst/>
          </a:prstGeom>
          <a:noFill/>
          <a:ln/>
        </p:spPr>
        <p:txBody>
          <a:bodyPr wrap="square" lIns="0" tIns="0" rIns="0" bIns="0" rtlCol="0" anchor="ctr"/>
          <a:lstStyle/>
          <a:p>
            <a:pPr marL="0" indent="0" algn="r">
              <a:buNone/>
            </a:pPr>
            <a:r>
              <a:rPr lang="en-US" sz="1000" dirty="0">
                <a:solidFill>
                  <a:srgbClr val="5F7284"/>
                </a:solidFill>
                <a:latin typeface="Calibri" pitchFamily="34" charset="0"/>
                <a:ea typeface="Calibri" pitchFamily="34" charset="-122"/>
                <a:cs typeface="Calibri" pitchFamily="34" charset="-120"/>
              </a:rPr>
              <a:t>CS 301R · Session 11 · Design Documents</a:t>
            </a:r>
            <a:endParaRPr lang="en-US" sz="1000" dirty="0"/>
          </a:p>
        </p:txBody>
      </p:sp>
      <p:sp>
        <p:nvSpPr>
          <p:cNvPr id="19" name="Text 15"/>
          <p:cNvSpPr/>
          <p:nvPr/>
        </p:nvSpPr>
        <p:spPr>
          <a:xfrm>
            <a:off x="548640" y="6437376"/>
            <a:ext cx="548640" cy="274320"/>
          </a:xfrm>
          <a:prstGeom prst="rect">
            <a:avLst/>
          </a:prstGeom>
          <a:noFill/>
          <a:ln/>
        </p:spPr>
        <p:txBody>
          <a:bodyPr wrap="square" lIns="0" tIns="0" rIns="0" bIns="0" rtlCol="0" anchor="ctr"/>
          <a:lstStyle/>
          <a:p>
            <a:pPr marL="0" indent="0">
              <a:buNone/>
            </a:pPr>
            <a:r>
              <a:rPr lang="en-US" sz="1000" dirty="0">
                <a:solidFill>
                  <a:srgbClr val="5F7284"/>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4233A"/>
        </a:solidFill>
        <a:effectLst/>
      </p:bgPr>
    </p:bg>
    <p:spTree>
      <p:nvGrpSpPr>
        <p:cNvPr id="1" name=""/>
        <p:cNvGrpSpPr/>
        <p:nvPr/>
      </p:nvGrpSpPr>
      <p:grpSpPr>
        <a:xfrm>
          <a:off x="0" y="0"/>
          <a:ext cx="0" cy="0"/>
          <a:chOff x="0" y="0"/>
          <a:chExt cx="0" cy="0"/>
        </a:xfrm>
      </p:grpSpPr>
      <p:sp>
        <p:nvSpPr>
          <p:cNvPr id="2" name="Shape 0"/>
          <p:cNvSpPr/>
          <p:nvPr/>
        </p:nvSpPr>
        <p:spPr>
          <a:xfrm>
            <a:off x="10424160" y="-1188720"/>
            <a:ext cx="3291840" cy="3291840"/>
          </a:xfrm>
          <a:prstGeom prst="ellipse">
            <a:avLst/>
          </a:prstGeom>
          <a:solidFill>
            <a:srgbClr val="1C3252"/>
          </a:solidFill>
          <a:ln/>
        </p:spPr>
        <p:txBody>
          <a:bodyPr/>
          <a:lstStyle/>
          <a:p>
            <a:endParaRPr lang="en-US"/>
          </a:p>
        </p:txBody>
      </p:sp>
      <p:sp>
        <p:nvSpPr>
          <p:cNvPr id="3" name="Shape 1"/>
          <p:cNvSpPr/>
          <p:nvPr/>
        </p:nvSpPr>
        <p:spPr>
          <a:xfrm>
            <a:off x="566928" y="548640"/>
            <a:ext cx="137160" cy="137160"/>
          </a:xfrm>
          <a:prstGeom prst="ellipse">
            <a:avLst/>
          </a:prstGeom>
          <a:solidFill>
            <a:srgbClr val="E8A33D"/>
          </a:solidFill>
          <a:ln/>
        </p:spPr>
        <p:txBody>
          <a:bodyPr/>
          <a:lstStyle/>
          <a:p>
            <a:endParaRPr lang="en-US"/>
          </a:p>
        </p:txBody>
      </p:sp>
      <p:sp>
        <p:nvSpPr>
          <p:cNvPr id="4" name="Text 2"/>
          <p:cNvSpPr/>
          <p:nvPr/>
        </p:nvSpPr>
        <p:spPr>
          <a:xfrm>
            <a:off x="795528" y="457200"/>
            <a:ext cx="10515600" cy="310896"/>
          </a:xfrm>
          <a:prstGeom prst="rect">
            <a:avLst/>
          </a:prstGeom>
          <a:noFill/>
          <a:ln/>
        </p:spPr>
        <p:txBody>
          <a:bodyPr wrap="square" lIns="0" tIns="0" rIns="0" bIns="0" rtlCol="0" anchor="ctr"/>
          <a:lstStyle/>
          <a:p>
            <a:pPr marL="0" indent="0">
              <a:buNone/>
            </a:pPr>
            <a:r>
              <a:rPr lang="en-US" sz="1400" b="1" kern="0" spc="200" dirty="0">
                <a:solidFill>
                  <a:srgbClr val="E8A33D"/>
                </a:solidFill>
                <a:latin typeface="Calibri" pitchFamily="34" charset="0"/>
                <a:ea typeface="Calibri" pitchFamily="34" charset="-122"/>
                <a:cs typeface="Calibri" pitchFamily="34" charset="-120"/>
              </a:rPr>
              <a:t>NOW, THE TWO HARD ONES · 5 MIN</a:t>
            </a:r>
            <a:endParaRPr lang="en-US" sz="1400" dirty="0"/>
          </a:p>
        </p:txBody>
      </p:sp>
      <p:sp>
        <p:nvSpPr>
          <p:cNvPr id="5" name="Text 3"/>
          <p:cNvSpPr/>
          <p:nvPr/>
        </p:nvSpPr>
        <p:spPr>
          <a:xfrm>
            <a:off x="548640" y="822960"/>
            <a:ext cx="11064240" cy="73152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The questions teams skip</a:t>
            </a:r>
            <a:endParaRPr lang="en-US" sz="3200" dirty="0"/>
          </a:p>
        </p:txBody>
      </p:sp>
      <p:sp>
        <p:nvSpPr>
          <p:cNvPr id="6" name="Text 4"/>
          <p:cNvSpPr/>
          <p:nvPr/>
        </p:nvSpPr>
        <p:spPr>
          <a:xfrm>
            <a:off x="566928" y="1627632"/>
            <a:ext cx="10972800" cy="365760"/>
          </a:xfrm>
          <a:prstGeom prst="rect">
            <a:avLst/>
          </a:prstGeom>
          <a:noFill/>
          <a:ln/>
        </p:spPr>
        <p:txBody>
          <a:bodyPr wrap="square" lIns="0" tIns="0" rIns="0" bIns="0" rtlCol="0" anchor="ctr"/>
          <a:lstStyle/>
          <a:p>
            <a:pPr marL="0" indent="0">
              <a:buNone/>
            </a:pPr>
            <a:r>
              <a:rPr lang="en-US" sz="1600" i="1" dirty="0">
                <a:solidFill>
                  <a:srgbClr val="CFE0E9"/>
                </a:solidFill>
                <a:latin typeface="Calibri" pitchFamily="34" charset="0"/>
                <a:ea typeface="Calibri" pitchFamily="34" charset="-122"/>
                <a:cs typeface="Calibri" pitchFamily="34" charset="-120"/>
              </a:rPr>
              <a:t>Answer only these two on the worksheet, out loud, together — the rest is your first meeting's agenda:</a:t>
            </a:r>
            <a:endParaRPr lang="en-US" sz="1600" dirty="0"/>
          </a:p>
        </p:txBody>
      </p:sp>
      <p:sp>
        <p:nvSpPr>
          <p:cNvPr id="7" name="Shape 5"/>
          <p:cNvSpPr/>
          <p:nvPr/>
        </p:nvSpPr>
        <p:spPr>
          <a:xfrm>
            <a:off x="548640" y="2148840"/>
            <a:ext cx="11064240" cy="1490472"/>
          </a:xfrm>
          <a:prstGeom prst="roundRect">
            <a:avLst>
              <a:gd name="adj" fmla="val 5521"/>
            </a:avLst>
          </a:prstGeom>
          <a:solidFill>
            <a:srgbClr val="1E3352"/>
          </a:solidFill>
          <a:ln/>
          <a:effectLst>
            <a:outerShdw blurRad="88900" dist="38100" dir="5400000" algn="bl" rotWithShape="0">
              <a:srgbClr val="000000">
                <a:alpha val="13000"/>
              </a:srgbClr>
            </a:outerShdw>
          </a:effectLst>
        </p:spPr>
        <p:txBody>
          <a:bodyPr/>
          <a:lstStyle/>
          <a:p>
            <a:endParaRPr lang="en-US"/>
          </a:p>
        </p:txBody>
      </p:sp>
      <p:sp>
        <p:nvSpPr>
          <p:cNvPr id="8" name="Shape 6"/>
          <p:cNvSpPr/>
          <p:nvPr/>
        </p:nvSpPr>
        <p:spPr>
          <a:xfrm>
            <a:off x="777240" y="2665476"/>
            <a:ext cx="457200" cy="457200"/>
          </a:xfrm>
          <a:prstGeom prst="ellipse">
            <a:avLst/>
          </a:prstGeom>
          <a:solidFill>
            <a:srgbClr val="E8A33D"/>
          </a:solidFill>
          <a:ln/>
        </p:spPr>
        <p:txBody>
          <a:bodyPr/>
          <a:lstStyle/>
          <a:p>
            <a:endParaRPr lang="en-US"/>
          </a:p>
        </p:txBody>
      </p:sp>
      <p:sp>
        <p:nvSpPr>
          <p:cNvPr id="9" name="Text 7"/>
          <p:cNvSpPr/>
          <p:nvPr/>
        </p:nvSpPr>
        <p:spPr>
          <a:xfrm>
            <a:off x="777240" y="2665476"/>
            <a:ext cx="457200" cy="457200"/>
          </a:xfrm>
          <a:prstGeom prst="rect">
            <a:avLst/>
          </a:prstGeom>
          <a:noFill/>
          <a:ln/>
        </p:spPr>
        <p:txBody>
          <a:bodyPr wrap="square" lIns="0" tIns="0" rIns="0" bIns="0" rtlCol="0" anchor="ctr"/>
          <a:lstStyle/>
          <a:p>
            <a:pPr marL="0" indent="0" algn="ctr">
              <a:buNone/>
            </a:pPr>
            <a:r>
              <a:rPr lang="en-US" sz="2000" b="1" dirty="0">
                <a:solidFill>
                  <a:srgbClr val="14233A"/>
                </a:solidFill>
                <a:latin typeface="Cambria" pitchFamily="34" charset="0"/>
                <a:ea typeface="Cambria" pitchFamily="34" charset="-122"/>
                <a:cs typeface="Cambria" pitchFamily="34" charset="-120"/>
              </a:rPr>
              <a:t>1</a:t>
            </a:r>
            <a:endParaRPr lang="en-US" sz="2000" dirty="0"/>
          </a:p>
        </p:txBody>
      </p:sp>
      <p:sp>
        <p:nvSpPr>
          <p:cNvPr id="10" name="Text 8"/>
          <p:cNvSpPr/>
          <p:nvPr/>
        </p:nvSpPr>
        <p:spPr>
          <a:xfrm>
            <a:off x="1417320" y="2148840"/>
            <a:ext cx="8595360" cy="1490472"/>
          </a:xfrm>
          <a:prstGeom prst="rect">
            <a:avLst/>
          </a:prstGeom>
          <a:noFill/>
          <a:ln/>
        </p:spPr>
        <p:txBody>
          <a:bodyPr wrap="square" lIns="0" tIns="0" rIns="0" bIns="0" rtlCol="0" anchor="ctr"/>
          <a:lstStyle/>
          <a:p>
            <a:pPr marL="0" indent="0">
              <a:lnSpc>
                <a:spcPct val="103000"/>
              </a:lnSpc>
              <a:buNone/>
            </a:pPr>
            <a:r>
              <a:rPr lang="en-US" sz="1550" dirty="0">
                <a:solidFill>
                  <a:srgbClr val="FFFFFF"/>
                </a:solidFill>
                <a:latin typeface="Calibri" pitchFamily="34" charset="0"/>
                <a:ea typeface="Calibri" pitchFamily="34" charset="-122"/>
                <a:cs typeface="Calibri" pitchFamily="34" charset="-120"/>
              </a:rPr>
              <a:t>Who breaks a deadlock, and by what rule? A named tiebreaker beats a stalemate.</a:t>
            </a:r>
            <a:endParaRPr lang="en-US" sz="1550" dirty="0"/>
          </a:p>
        </p:txBody>
      </p:sp>
      <p:sp>
        <p:nvSpPr>
          <p:cNvPr id="11" name="Text 9"/>
          <p:cNvSpPr/>
          <p:nvPr/>
        </p:nvSpPr>
        <p:spPr>
          <a:xfrm>
            <a:off x="10149840" y="2148840"/>
            <a:ext cx="1280160" cy="1490472"/>
          </a:xfrm>
          <a:prstGeom prst="rect">
            <a:avLst/>
          </a:prstGeom>
          <a:noFill/>
          <a:ln/>
        </p:spPr>
        <p:txBody>
          <a:bodyPr wrap="square" lIns="0" tIns="0" rIns="0" bIns="0" rtlCol="0" anchor="ctr"/>
          <a:lstStyle/>
          <a:p>
            <a:pPr marL="0" indent="0" algn="r">
              <a:buNone/>
            </a:pPr>
            <a:r>
              <a:rPr lang="en-US" sz="1400" b="1" dirty="0">
                <a:solidFill>
                  <a:srgbClr val="E8A33D"/>
                </a:solidFill>
                <a:latin typeface="Calibri" pitchFamily="34" charset="0"/>
                <a:ea typeface="Calibri" pitchFamily="34" charset="-122"/>
                <a:cs typeface="Calibri" pitchFamily="34" charset="-120"/>
              </a:rPr>
              <a:t>§5</a:t>
            </a:r>
            <a:endParaRPr lang="en-US" sz="1400" dirty="0"/>
          </a:p>
        </p:txBody>
      </p:sp>
      <p:sp>
        <p:nvSpPr>
          <p:cNvPr id="12" name="Shape 10"/>
          <p:cNvSpPr/>
          <p:nvPr/>
        </p:nvSpPr>
        <p:spPr>
          <a:xfrm>
            <a:off x="548640" y="3767328"/>
            <a:ext cx="11064240" cy="1490472"/>
          </a:xfrm>
          <a:prstGeom prst="roundRect">
            <a:avLst>
              <a:gd name="adj" fmla="val 5521"/>
            </a:avLst>
          </a:prstGeom>
          <a:solidFill>
            <a:srgbClr val="1E3352"/>
          </a:solidFill>
          <a:ln/>
          <a:effectLst>
            <a:outerShdw blurRad="88900" dist="38100" dir="5400000" algn="bl" rotWithShape="0">
              <a:srgbClr val="000000">
                <a:alpha val="13000"/>
              </a:srgbClr>
            </a:outerShdw>
          </a:effectLst>
        </p:spPr>
        <p:txBody>
          <a:bodyPr/>
          <a:lstStyle/>
          <a:p>
            <a:endParaRPr lang="en-US"/>
          </a:p>
        </p:txBody>
      </p:sp>
      <p:sp>
        <p:nvSpPr>
          <p:cNvPr id="13" name="Shape 11"/>
          <p:cNvSpPr/>
          <p:nvPr/>
        </p:nvSpPr>
        <p:spPr>
          <a:xfrm>
            <a:off x="777240" y="4283964"/>
            <a:ext cx="457200" cy="457200"/>
          </a:xfrm>
          <a:prstGeom prst="ellipse">
            <a:avLst/>
          </a:prstGeom>
          <a:solidFill>
            <a:srgbClr val="E8A33D"/>
          </a:solidFill>
          <a:ln/>
        </p:spPr>
        <p:txBody>
          <a:bodyPr/>
          <a:lstStyle/>
          <a:p>
            <a:endParaRPr lang="en-US"/>
          </a:p>
        </p:txBody>
      </p:sp>
      <p:sp>
        <p:nvSpPr>
          <p:cNvPr id="14" name="Text 12"/>
          <p:cNvSpPr/>
          <p:nvPr/>
        </p:nvSpPr>
        <p:spPr>
          <a:xfrm>
            <a:off x="777240" y="4283964"/>
            <a:ext cx="457200" cy="457200"/>
          </a:xfrm>
          <a:prstGeom prst="rect">
            <a:avLst/>
          </a:prstGeom>
          <a:noFill/>
          <a:ln/>
        </p:spPr>
        <p:txBody>
          <a:bodyPr wrap="square" lIns="0" tIns="0" rIns="0" bIns="0" rtlCol="0" anchor="ctr"/>
          <a:lstStyle/>
          <a:p>
            <a:pPr marL="0" indent="0" algn="ctr">
              <a:buNone/>
            </a:pPr>
            <a:r>
              <a:rPr lang="en-US" sz="2000" b="1" dirty="0">
                <a:solidFill>
                  <a:srgbClr val="14233A"/>
                </a:solidFill>
                <a:latin typeface="Cambria" pitchFamily="34" charset="0"/>
                <a:ea typeface="Cambria" pitchFamily="34" charset="-122"/>
                <a:cs typeface="Cambria" pitchFamily="34" charset="-120"/>
              </a:rPr>
              <a:t>2</a:t>
            </a:r>
            <a:endParaRPr lang="en-US" sz="2000" dirty="0"/>
          </a:p>
        </p:txBody>
      </p:sp>
      <p:sp>
        <p:nvSpPr>
          <p:cNvPr id="15" name="Text 13"/>
          <p:cNvSpPr/>
          <p:nvPr/>
        </p:nvSpPr>
        <p:spPr>
          <a:xfrm>
            <a:off x="1417320" y="3767328"/>
            <a:ext cx="8595360" cy="1490472"/>
          </a:xfrm>
          <a:prstGeom prst="rect">
            <a:avLst/>
          </a:prstGeom>
          <a:noFill/>
          <a:ln/>
        </p:spPr>
        <p:txBody>
          <a:bodyPr wrap="square" lIns="0" tIns="0" rIns="0" bIns="0" rtlCol="0" anchor="ctr"/>
          <a:lstStyle/>
          <a:p>
            <a:pPr marL="0" indent="0">
              <a:lnSpc>
                <a:spcPct val="103000"/>
              </a:lnSpc>
              <a:buNone/>
            </a:pPr>
            <a:r>
              <a:rPr lang="en-US" sz="1550" dirty="0">
                <a:solidFill>
                  <a:srgbClr val="FFFFFF"/>
                </a:solidFill>
                <a:latin typeface="Calibri" pitchFamily="34" charset="0"/>
                <a:ea typeface="Calibri" pitchFamily="34" charset="-122"/>
                <a:cs typeface="Calibri" pitchFamily="34" charset="-120"/>
              </a:rPr>
              <a:t>What happens the first time someone misses a commitment? Who says something, how soon, what then.</a:t>
            </a:r>
            <a:endParaRPr lang="en-US" sz="1550" dirty="0"/>
          </a:p>
        </p:txBody>
      </p:sp>
      <p:sp>
        <p:nvSpPr>
          <p:cNvPr id="16" name="Text 14"/>
          <p:cNvSpPr/>
          <p:nvPr/>
        </p:nvSpPr>
        <p:spPr>
          <a:xfrm>
            <a:off x="10149840" y="3767328"/>
            <a:ext cx="1280160" cy="1490472"/>
          </a:xfrm>
          <a:prstGeom prst="rect">
            <a:avLst/>
          </a:prstGeom>
          <a:noFill/>
          <a:ln/>
        </p:spPr>
        <p:txBody>
          <a:bodyPr wrap="square" lIns="0" tIns="0" rIns="0" bIns="0" rtlCol="0" anchor="ctr"/>
          <a:lstStyle/>
          <a:p>
            <a:pPr marL="0" indent="0" algn="r">
              <a:buNone/>
            </a:pPr>
            <a:r>
              <a:rPr lang="en-US" sz="1400" b="1" dirty="0">
                <a:solidFill>
                  <a:srgbClr val="E8A33D"/>
                </a:solidFill>
                <a:latin typeface="Calibri" pitchFamily="34" charset="0"/>
                <a:ea typeface="Calibri" pitchFamily="34" charset="-122"/>
                <a:cs typeface="Calibri" pitchFamily="34" charset="-120"/>
              </a:rPr>
              <a:t>§6</a:t>
            </a:r>
            <a:endParaRPr lang="en-US" sz="1400" dirty="0"/>
          </a:p>
        </p:txBody>
      </p:sp>
      <p:sp>
        <p:nvSpPr>
          <p:cNvPr id="17" name="Shape 15"/>
          <p:cNvSpPr/>
          <p:nvPr/>
        </p:nvSpPr>
        <p:spPr>
          <a:xfrm>
            <a:off x="548640" y="5440680"/>
            <a:ext cx="11064240" cy="731520"/>
          </a:xfrm>
          <a:prstGeom prst="roundRect">
            <a:avLst>
              <a:gd name="adj" fmla="val 11250"/>
            </a:avLst>
          </a:prstGeom>
          <a:solidFill>
            <a:srgbClr val="E8A33D"/>
          </a:solidFill>
          <a:ln/>
          <a:effectLst>
            <a:outerShdw blurRad="88900" dist="38100" dir="5400000" algn="bl" rotWithShape="0">
              <a:srgbClr val="000000">
                <a:alpha val="13000"/>
              </a:srgbClr>
            </a:outerShdw>
          </a:effectLst>
        </p:spPr>
        <p:txBody>
          <a:bodyPr/>
          <a:lstStyle/>
          <a:p>
            <a:endParaRPr lang="en-US"/>
          </a:p>
        </p:txBody>
      </p:sp>
      <p:sp>
        <p:nvSpPr>
          <p:cNvPr id="18" name="Text 16"/>
          <p:cNvSpPr/>
          <p:nvPr/>
        </p:nvSpPr>
        <p:spPr>
          <a:xfrm>
            <a:off x="914400" y="5440680"/>
            <a:ext cx="10332720" cy="731520"/>
          </a:xfrm>
          <a:prstGeom prst="rect">
            <a:avLst/>
          </a:prstGeom>
          <a:noFill/>
          <a:ln/>
        </p:spPr>
        <p:txBody>
          <a:bodyPr wrap="square" lIns="0" tIns="0" rIns="0" bIns="0" rtlCol="0" anchor="ctr"/>
          <a:lstStyle/>
          <a:p>
            <a:pPr marL="0" indent="0">
              <a:buNone/>
            </a:pPr>
            <a:r>
              <a:rPr lang="en-US" sz="1500" b="1" dirty="0">
                <a:solidFill>
                  <a:srgbClr val="14233A"/>
                </a:solidFill>
                <a:latin typeface="Calibri" pitchFamily="34" charset="0"/>
                <a:ea typeface="Calibri" pitchFamily="34" charset="-122"/>
                <a:cs typeface="Calibri" pitchFamily="34" charset="-120"/>
              </a:rPr>
              <a:t>First team meeting: create the project's repo, then finish the charter. Submit it, with the repo URL, by Wednesday.</a:t>
            </a:r>
            <a:endParaRPr lang="en-US" sz="1500" dirty="0"/>
          </a:p>
        </p:txBody>
      </p:sp>
      <p:sp>
        <p:nvSpPr>
          <p:cNvPr id="19" name="Text 17"/>
          <p:cNvSpPr/>
          <p:nvPr/>
        </p:nvSpPr>
        <p:spPr>
          <a:xfrm>
            <a:off x="6675120" y="6437376"/>
            <a:ext cx="4937760" cy="274320"/>
          </a:xfrm>
          <a:prstGeom prst="rect">
            <a:avLst/>
          </a:prstGeom>
          <a:noFill/>
          <a:ln/>
        </p:spPr>
        <p:txBody>
          <a:bodyPr wrap="square" lIns="0" tIns="0" rIns="0" bIns="0" rtlCol="0" anchor="ctr"/>
          <a:lstStyle/>
          <a:p>
            <a:pPr marL="0" indent="0" algn="r">
              <a:buNone/>
            </a:pPr>
            <a:r>
              <a:rPr lang="en-US" sz="1000" dirty="0">
                <a:solidFill>
                  <a:srgbClr val="7E92A8"/>
                </a:solidFill>
                <a:latin typeface="Calibri" pitchFamily="34" charset="0"/>
                <a:ea typeface="Calibri" pitchFamily="34" charset="-122"/>
                <a:cs typeface="Calibri" pitchFamily="34" charset="-120"/>
              </a:rPr>
              <a:t>CS 301R · Session 11 · Design Documents</a:t>
            </a:r>
            <a:endParaRPr lang="en-US" sz="1000" dirty="0"/>
          </a:p>
        </p:txBody>
      </p:sp>
      <p:sp>
        <p:nvSpPr>
          <p:cNvPr id="20" name="Text 18"/>
          <p:cNvSpPr/>
          <p:nvPr/>
        </p:nvSpPr>
        <p:spPr>
          <a:xfrm>
            <a:off x="548640" y="6437376"/>
            <a:ext cx="548640" cy="274320"/>
          </a:xfrm>
          <a:prstGeom prst="rect">
            <a:avLst/>
          </a:prstGeom>
          <a:noFill/>
          <a:ln/>
        </p:spPr>
        <p:txBody>
          <a:bodyPr wrap="square" lIns="0" tIns="0" rIns="0" bIns="0" rtlCol="0" anchor="ctr"/>
          <a:lstStyle/>
          <a:p>
            <a:pPr marL="0" indent="0">
              <a:buNone/>
            </a:pPr>
            <a:r>
              <a:rPr lang="en-US" sz="1000" dirty="0">
                <a:solidFill>
                  <a:srgbClr val="7E92A8"/>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4233A"/>
        </a:solidFill>
        <a:effectLst/>
      </p:bgPr>
    </p:bg>
    <p:spTree>
      <p:nvGrpSpPr>
        <p:cNvPr id="1" name=""/>
        <p:cNvGrpSpPr/>
        <p:nvPr/>
      </p:nvGrpSpPr>
      <p:grpSpPr>
        <a:xfrm>
          <a:off x="0" y="0"/>
          <a:ext cx="0" cy="0"/>
          <a:chOff x="0" y="0"/>
          <a:chExt cx="0" cy="0"/>
        </a:xfrm>
      </p:grpSpPr>
      <p:sp>
        <p:nvSpPr>
          <p:cNvPr id="2" name="Shape 0"/>
          <p:cNvSpPr/>
          <p:nvPr/>
        </p:nvSpPr>
        <p:spPr>
          <a:xfrm>
            <a:off x="10424160" y="-1188720"/>
            <a:ext cx="3291840" cy="3291840"/>
          </a:xfrm>
          <a:prstGeom prst="ellipse">
            <a:avLst/>
          </a:prstGeom>
          <a:solidFill>
            <a:srgbClr val="1C3252"/>
          </a:solidFill>
          <a:ln/>
        </p:spPr>
        <p:txBody>
          <a:bodyPr/>
          <a:lstStyle/>
          <a:p>
            <a:endParaRPr lang="en-US"/>
          </a:p>
        </p:txBody>
      </p:sp>
      <p:sp>
        <p:nvSpPr>
          <p:cNvPr id="3" name="Shape 1"/>
          <p:cNvSpPr/>
          <p:nvPr/>
        </p:nvSpPr>
        <p:spPr>
          <a:xfrm>
            <a:off x="566928" y="548640"/>
            <a:ext cx="137160" cy="137160"/>
          </a:xfrm>
          <a:prstGeom prst="ellipse">
            <a:avLst/>
          </a:prstGeom>
          <a:solidFill>
            <a:srgbClr val="E8A33D"/>
          </a:solidFill>
          <a:ln/>
        </p:spPr>
        <p:txBody>
          <a:bodyPr/>
          <a:lstStyle/>
          <a:p>
            <a:endParaRPr lang="en-US"/>
          </a:p>
        </p:txBody>
      </p:sp>
      <p:sp>
        <p:nvSpPr>
          <p:cNvPr id="4" name="Text 2"/>
          <p:cNvSpPr/>
          <p:nvPr/>
        </p:nvSpPr>
        <p:spPr>
          <a:xfrm>
            <a:off x="795528" y="457200"/>
            <a:ext cx="10515600" cy="310896"/>
          </a:xfrm>
          <a:prstGeom prst="rect">
            <a:avLst/>
          </a:prstGeom>
          <a:noFill/>
          <a:ln/>
        </p:spPr>
        <p:txBody>
          <a:bodyPr wrap="square" lIns="0" tIns="0" rIns="0" bIns="0" rtlCol="0" anchor="ctr"/>
          <a:lstStyle/>
          <a:p>
            <a:pPr marL="0" indent="0">
              <a:buNone/>
            </a:pPr>
            <a:r>
              <a:rPr lang="en-US" sz="1400" b="1" kern="0" spc="200" dirty="0">
                <a:solidFill>
                  <a:srgbClr val="E8A33D"/>
                </a:solidFill>
                <a:latin typeface="Calibri" pitchFamily="34" charset="0"/>
                <a:ea typeface="Calibri" pitchFamily="34" charset="-122"/>
                <a:cs typeface="Calibri" pitchFamily="34" charset="-120"/>
              </a:rPr>
              <a:t>THIS SEMESTER · FOUNDING SOLO · 5 MIN</a:t>
            </a:r>
            <a:endParaRPr lang="en-US" sz="1400" dirty="0"/>
          </a:p>
        </p:txBody>
      </p:sp>
      <p:sp>
        <p:nvSpPr>
          <p:cNvPr id="5" name="Text 3"/>
          <p:cNvSpPr/>
          <p:nvPr/>
        </p:nvSpPr>
        <p:spPr>
          <a:xfrm>
            <a:off x="548640" y="822960"/>
            <a:ext cx="11064240" cy="73152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Your charter is a contract with yourself</a:t>
            </a:r>
            <a:endParaRPr lang="en-US" sz="3200" dirty="0"/>
          </a:p>
        </p:txBody>
      </p:sp>
      <p:sp>
        <p:nvSpPr>
          <p:cNvPr id="6" name="Text 4"/>
          <p:cNvSpPr/>
          <p:nvPr/>
        </p:nvSpPr>
        <p:spPr>
          <a:xfrm>
            <a:off x="566928" y="1627632"/>
            <a:ext cx="10972800" cy="365760"/>
          </a:xfrm>
          <a:prstGeom prst="rect">
            <a:avLst/>
          </a:prstGeom>
          <a:noFill/>
          <a:ln/>
        </p:spPr>
        <p:txBody>
          <a:bodyPr wrap="square" lIns="0" tIns="0" rIns="0" bIns="0" rtlCol="0" anchor="ctr"/>
          <a:lstStyle/>
          <a:p>
            <a:pPr marL="0" indent="0">
              <a:buNone/>
            </a:pPr>
            <a:r>
              <a:rPr lang="en-US" sz="1600" i="1" dirty="0">
                <a:solidFill>
                  <a:srgbClr val="CFE0E9"/>
                </a:solidFill>
                <a:latin typeface="Calibri" pitchFamily="34" charset="0"/>
                <a:ea typeface="Calibri" pitchFamily="34" charset="-122"/>
                <a:cs typeface="Calibri" pitchFamily="34" charset="-120"/>
              </a:rPr>
              <a:t>No teammate will hold you to it, so every line has to be one a stranger could check:</a:t>
            </a:r>
            <a:endParaRPr lang="en-US" sz="1600" dirty="0"/>
          </a:p>
        </p:txBody>
      </p:sp>
      <p:sp>
        <p:nvSpPr>
          <p:cNvPr id="7" name="Shape 5"/>
          <p:cNvSpPr/>
          <p:nvPr/>
        </p:nvSpPr>
        <p:spPr>
          <a:xfrm>
            <a:off x="548640" y="2148840"/>
            <a:ext cx="11064240" cy="950976"/>
          </a:xfrm>
          <a:prstGeom prst="roundRect">
            <a:avLst>
              <a:gd name="adj" fmla="val 8654"/>
            </a:avLst>
          </a:prstGeom>
          <a:solidFill>
            <a:srgbClr val="1E3352"/>
          </a:solidFill>
          <a:ln/>
          <a:effectLst>
            <a:outerShdw blurRad="88900" dist="38100" dir="5400000" algn="bl" rotWithShape="0">
              <a:srgbClr val="000000">
                <a:alpha val="13000"/>
              </a:srgbClr>
            </a:outerShdw>
          </a:effectLst>
        </p:spPr>
        <p:txBody>
          <a:bodyPr/>
          <a:lstStyle/>
          <a:p>
            <a:endParaRPr lang="en-US"/>
          </a:p>
        </p:txBody>
      </p:sp>
      <p:sp>
        <p:nvSpPr>
          <p:cNvPr id="8" name="Shape 6"/>
          <p:cNvSpPr/>
          <p:nvPr/>
        </p:nvSpPr>
        <p:spPr>
          <a:xfrm>
            <a:off x="777240" y="2395728"/>
            <a:ext cx="457200" cy="457200"/>
          </a:xfrm>
          <a:prstGeom prst="ellipse">
            <a:avLst/>
          </a:prstGeom>
          <a:solidFill>
            <a:srgbClr val="E8A33D"/>
          </a:solidFill>
          <a:ln/>
        </p:spPr>
        <p:txBody>
          <a:bodyPr/>
          <a:lstStyle/>
          <a:p>
            <a:endParaRPr lang="en-US"/>
          </a:p>
        </p:txBody>
      </p:sp>
      <p:sp>
        <p:nvSpPr>
          <p:cNvPr id="9" name="Text 7"/>
          <p:cNvSpPr/>
          <p:nvPr/>
        </p:nvSpPr>
        <p:spPr>
          <a:xfrm>
            <a:off x="777240" y="2395728"/>
            <a:ext cx="457200" cy="457200"/>
          </a:xfrm>
          <a:prstGeom prst="rect">
            <a:avLst/>
          </a:prstGeom>
          <a:noFill/>
          <a:ln/>
        </p:spPr>
        <p:txBody>
          <a:bodyPr wrap="square" lIns="0" tIns="0" rIns="0" bIns="0" rtlCol="0" anchor="ctr"/>
          <a:lstStyle/>
          <a:p>
            <a:pPr marL="0" indent="0" algn="ctr">
              <a:buNone/>
            </a:pPr>
            <a:r>
              <a:rPr lang="en-US" sz="2000" b="1" dirty="0">
                <a:solidFill>
                  <a:srgbClr val="14233A"/>
                </a:solidFill>
                <a:latin typeface="Cambria" pitchFamily="34" charset="0"/>
                <a:ea typeface="Cambria" pitchFamily="34" charset="-122"/>
                <a:cs typeface="Cambria" pitchFamily="34" charset="-120"/>
              </a:rPr>
              <a:t>1</a:t>
            </a:r>
            <a:endParaRPr lang="en-US" sz="2000" dirty="0"/>
          </a:p>
        </p:txBody>
      </p:sp>
      <p:sp>
        <p:nvSpPr>
          <p:cNvPr id="10" name="Text 8"/>
          <p:cNvSpPr/>
          <p:nvPr/>
        </p:nvSpPr>
        <p:spPr>
          <a:xfrm>
            <a:off x="1417320" y="2148840"/>
            <a:ext cx="8595360" cy="950976"/>
          </a:xfrm>
          <a:prstGeom prst="rect">
            <a:avLst/>
          </a:prstGeom>
          <a:noFill/>
          <a:ln/>
        </p:spPr>
        <p:txBody>
          <a:bodyPr wrap="square" lIns="0" tIns="0" rIns="0" bIns="0" rtlCol="0" anchor="ctr"/>
          <a:lstStyle/>
          <a:p>
            <a:pPr marL="0" indent="0">
              <a:lnSpc>
                <a:spcPct val="103000"/>
              </a:lnSpc>
              <a:buNone/>
            </a:pPr>
            <a:r>
              <a:rPr lang="en-US" sz="1550" dirty="0">
                <a:solidFill>
                  <a:srgbClr val="FFFFFF"/>
                </a:solidFill>
                <a:latin typeface="Calibri" pitchFamily="34" charset="0"/>
                <a:ea typeface="Calibri" pitchFamily="34" charset="-122"/>
                <a:cs typeface="Calibri" pitchFamily="34" charset="-120"/>
              </a:rPr>
              <a:t>Cadence: when you work, and what every session must produce — a push, an issue moved, a line in the log.</a:t>
            </a:r>
            <a:endParaRPr lang="en-US" sz="1550" dirty="0"/>
          </a:p>
        </p:txBody>
      </p:sp>
      <p:sp>
        <p:nvSpPr>
          <p:cNvPr id="11" name="Text 9"/>
          <p:cNvSpPr/>
          <p:nvPr/>
        </p:nvSpPr>
        <p:spPr>
          <a:xfrm>
            <a:off x="10149840" y="2148840"/>
            <a:ext cx="1280160" cy="950976"/>
          </a:xfrm>
          <a:prstGeom prst="rect">
            <a:avLst/>
          </a:prstGeom>
          <a:noFill/>
          <a:ln/>
        </p:spPr>
        <p:txBody>
          <a:bodyPr wrap="square" lIns="0" tIns="0" rIns="0" bIns="0" rtlCol="0" anchor="ctr"/>
          <a:lstStyle/>
          <a:p>
            <a:pPr marL="0" indent="0" algn="r">
              <a:buNone/>
            </a:pPr>
            <a:r>
              <a:rPr lang="en-US" sz="1400" b="1" dirty="0">
                <a:solidFill>
                  <a:srgbClr val="E8A33D"/>
                </a:solidFill>
                <a:latin typeface="Calibri" pitchFamily="34" charset="0"/>
                <a:ea typeface="Calibri" pitchFamily="34" charset="-122"/>
                <a:cs typeface="Calibri" pitchFamily="34" charset="-120"/>
              </a:rPr>
              <a:t>§4</a:t>
            </a:r>
            <a:endParaRPr lang="en-US" sz="1400" dirty="0"/>
          </a:p>
        </p:txBody>
      </p:sp>
      <p:sp>
        <p:nvSpPr>
          <p:cNvPr id="12" name="Shape 10"/>
          <p:cNvSpPr/>
          <p:nvPr/>
        </p:nvSpPr>
        <p:spPr>
          <a:xfrm>
            <a:off x="548640" y="3227832"/>
            <a:ext cx="11064240" cy="950976"/>
          </a:xfrm>
          <a:prstGeom prst="roundRect">
            <a:avLst>
              <a:gd name="adj" fmla="val 8654"/>
            </a:avLst>
          </a:prstGeom>
          <a:solidFill>
            <a:srgbClr val="1E3352"/>
          </a:solidFill>
          <a:ln/>
          <a:effectLst>
            <a:outerShdw blurRad="88900" dist="38100" dir="5400000" algn="bl" rotWithShape="0">
              <a:srgbClr val="000000">
                <a:alpha val="13000"/>
              </a:srgbClr>
            </a:outerShdw>
          </a:effectLst>
        </p:spPr>
        <p:txBody>
          <a:bodyPr/>
          <a:lstStyle/>
          <a:p>
            <a:endParaRPr lang="en-US"/>
          </a:p>
        </p:txBody>
      </p:sp>
      <p:sp>
        <p:nvSpPr>
          <p:cNvPr id="13" name="Shape 11"/>
          <p:cNvSpPr/>
          <p:nvPr/>
        </p:nvSpPr>
        <p:spPr>
          <a:xfrm>
            <a:off x="777240" y="3474720"/>
            <a:ext cx="457200" cy="457200"/>
          </a:xfrm>
          <a:prstGeom prst="ellipse">
            <a:avLst/>
          </a:prstGeom>
          <a:solidFill>
            <a:srgbClr val="E8A33D"/>
          </a:solidFill>
          <a:ln/>
        </p:spPr>
        <p:txBody>
          <a:bodyPr/>
          <a:lstStyle/>
          <a:p>
            <a:endParaRPr lang="en-US"/>
          </a:p>
        </p:txBody>
      </p:sp>
      <p:sp>
        <p:nvSpPr>
          <p:cNvPr id="14" name="Text 12"/>
          <p:cNvSpPr/>
          <p:nvPr/>
        </p:nvSpPr>
        <p:spPr>
          <a:xfrm>
            <a:off x="777240" y="3474720"/>
            <a:ext cx="457200" cy="457200"/>
          </a:xfrm>
          <a:prstGeom prst="rect">
            <a:avLst/>
          </a:prstGeom>
          <a:noFill/>
          <a:ln/>
        </p:spPr>
        <p:txBody>
          <a:bodyPr wrap="square" lIns="0" tIns="0" rIns="0" bIns="0" rtlCol="0" anchor="ctr"/>
          <a:lstStyle/>
          <a:p>
            <a:pPr marL="0" indent="0" algn="ctr">
              <a:buNone/>
            </a:pPr>
            <a:r>
              <a:rPr lang="en-US" sz="2000" b="1" dirty="0">
                <a:solidFill>
                  <a:srgbClr val="14233A"/>
                </a:solidFill>
                <a:latin typeface="Cambria" pitchFamily="34" charset="0"/>
                <a:ea typeface="Cambria" pitchFamily="34" charset="-122"/>
                <a:cs typeface="Cambria" pitchFamily="34" charset="-120"/>
              </a:rPr>
              <a:t>2</a:t>
            </a:r>
            <a:endParaRPr lang="en-US" sz="2000" dirty="0"/>
          </a:p>
        </p:txBody>
      </p:sp>
      <p:sp>
        <p:nvSpPr>
          <p:cNvPr id="15" name="Text 13"/>
          <p:cNvSpPr/>
          <p:nvPr/>
        </p:nvSpPr>
        <p:spPr>
          <a:xfrm>
            <a:off x="1417320" y="3227832"/>
            <a:ext cx="8595360" cy="950976"/>
          </a:xfrm>
          <a:prstGeom prst="rect">
            <a:avLst/>
          </a:prstGeom>
          <a:noFill/>
          <a:ln/>
        </p:spPr>
        <p:txBody>
          <a:bodyPr wrap="square" lIns="0" tIns="0" rIns="0" bIns="0" rtlCol="0" anchor="ctr"/>
          <a:lstStyle/>
          <a:p>
            <a:pPr marL="0" indent="0">
              <a:lnSpc>
                <a:spcPct val="103000"/>
              </a:lnSpc>
              <a:buNone/>
            </a:pPr>
            <a:r>
              <a:rPr lang="en-US" sz="1550" dirty="0">
                <a:solidFill>
                  <a:srgbClr val="FFFFFF"/>
                </a:solidFill>
                <a:latin typeface="Calibri" pitchFamily="34" charset="0"/>
                <a:ea typeface="Calibri" pitchFamily="34" charset="-122"/>
                <a:cs typeface="Calibri" pitchFamily="34" charset="-120"/>
              </a:rPr>
              <a:t>Decisions: where you record each call and why. A one-line log entry beats a memory you argue with in November.</a:t>
            </a:r>
            <a:endParaRPr lang="en-US" sz="1550" dirty="0"/>
          </a:p>
        </p:txBody>
      </p:sp>
      <p:sp>
        <p:nvSpPr>
          <p:cNvPr id="16" name="Text 14"/>
          <p:cNvSpPr/>
          <p:nvPr/>
        </p:nvSpPr>
        <p:spPr>
          <a:xfrm>
            <a:off x="10149840" y="3227832"/>
            <a:ext cx="1280160" cy="950976"/>
          </a:xfrm>
          <a:prstGeom prst="rect">
            <a:avLst/>
          </a:prstGeom>
          <a:noFill/>
          <a:ln/>
        </p:spPr>
        <p:txBody>
          <a:bodyPr wrap="square" lIns="0" tIns="0" rIns="0" bIns="0" rtlCol="0" anchor="ctr"/>
          <a:lstStyle/>
          <a:p>
            <a:pPr marL="0" indent="0" algn="r">
              <a:buNone/>
            </a:pPr>
            <a:r>
              <a:rPr lang="en-US" sz="1400" b="1" dirty="0">
                <a:solidFill>
                  <a:srgbClr val="E8A33D"/>
                </a:solidFill>
                <a:latin typeface="Calibri" pitchFamily="34" charset="0"/>
                <a:ea typeface="Calibri" pitchFamily="34" charset="-122"/>
                <a:cs typeface="Calibri" pitchFamily="34" charset="-120"/>
              </a:rPr>
              <a:t>§5</a:t>
            </a:r>
            <a:endParaRPr lang="en-US" sz="1400" dirty="0"/>
          </a:p>
        </p:txBody>
      </p:sp>
      <p:sp>
        <p:nvSpPr>
          <p:cNvPr id="17" name="Shape 15"/>
          <p:cNvSpPr/>
          <p:nvPr/>
        </p:nvSpPr>
        <p:spPr>
          <a:xfrm>
            <a:off x="548640" y="4306824"/>
            <a:ext cx="11064240" cy="950976"/>
          </a:xfrm>
          <a:prstGeom prst="roundRect">
            <a:avLst>
              <a:gd name="adj" fmla="val 8654"/>
            </a:avLst>
          </a:prstGeom>
          <a:solidFill>
            <a:srgbClr val="1E3352"/>
          </a:solidFill>
          <a:ln/>
          <a:effectLst>
            <a:outerShdw blurRad="88900" dist="38100" dir="5400000" algn="bl" rotWithShape="0">
              <a:srgbClr val="000000">
                <a:alpha val="13000"/>
              </a:srgbClr>
            </a:outerShdw>
          </a:effectLst>
        </p:spPr>
        <p:txBody>
          <a:bodyPr/>
          <a:lstStyle/>
          <a:p>
            <a:endParaRPr lang="en-US"/>
          </a:p>
        </p:txBody>
      </p:sp>
      <p:sp>
        <p:nvSpPr>
          <p:cNvPr id="18" name="Shape 16"/>
          <p:cNvSpPr/>
          <p:nvPr/>
        </p:nvSpPr>
        <p:spPr>
          <a:xfrm>
            <a:off x="777240" y="4553712"/>
            <a:ext cx="457200" cy="457200"/>
          </a:xfrm>
          <a:prstGeom prst="ellipse">
            <a:avLst/>
          </a:prstGeom>
          <a:solidFill>
            <a:srgbClr val="E8A33D"/>
          </a:solidFill>
          <a:ln/>
        </p:spPr>
        <p:txBody>
          <a:bodyPr/>
          <a:lstStyle/>
          <a:p>
            <a:endParaRPr lang="en-US"/>
          </a:p>
        </p:txBody>
      </p:sp>
      <p:sp>
        <p:nvSpPr>
          <p:cNvPr id="19" name="Text 17"/>
          <p:cNvSpPr/>
          <p:nvPr/>
        </p:nvSpPr>
        <p:spPr>
          <a:xfrm>
            <a:off x="777240" y="4553712"/>
            <a:ext cx="457200" cy="457200"/>
          </a:xfrm>
          <a:prstGeom prst="rect">
            <a:avLst/>
          </a:prstGeom>
          <a:noFill/>
          <a:ln/>
        </p:spPr>
        <p:txBody>
          <a:bodyPr wrap="square" lIns="0" tIns="0" rIns="0" bIns="0" rtlCol="0" anchor="ctr"/>
          <a:lstStyle/>
          <a:p>
            <a:pPr marL="0" indent="0" algn="ctr">
              <a:buNone/>
            </a:pPr>
            <a:r>
              <a:rPr lang="en-US" sz="2000" b="1" dirty="0">
                <a:solidFill>
                  <a:srgbClr val="14233A"/>
                </a:solidFill>
                <a:latin typeface="Cambria" pitchFamily="34" charset="0"/>
                <a:ea typeface="Cambria" pitchFamily="34" charset="-122"/>
                <a:cs typeface="Cambria" pitchFamily="34" charset="-120"/>
              </a:rPr>
              <a:t>3</a:t>
            </a:r>
            <a:endParaRPr lang="en-US" sz="2000" dirty="0"/>
          </a:p>
        </p:txBody>
      </p:sp>
      <p:sp>
        <p:nvSpPr>
          <p:cNvPr id="20" name="Text 18"/>
          <p:cNvSpPr/>
          <p:nvPr/>
        </p:nvSpPr>
        <p:spPr>
          <a:xfrm>
            <a:off x="1417320" y="4306824"/>
            <a:ext cx="8595360" cy="950976"/>
          </a:xfrm>
          <a:prstGeom prst="rect">
            <a:avLst/>
          </a:prstGeom>
          <a:noFill/>
          <a:ln/>
        </p:spPr>
        <p:txBody>
          <a:bodyPr wrap="square" lIns="0" tIns="0" rIns="0" bIns="0" rtlCol="0" anchor="ctr"/>
          <a:lstStyle/>
          <a:p>
            <a:pPr marL="0" indent="0">
              <a:lnSpc>
                <a:spcPct val="103000"/>
              </a:lnSpc>
              <a:buNone/>
            </a:pPr>
            <a:r>
              <a:rPr lang="en-US" sz="1550" dirty="0">
                <a:solidFill>
                  <a:srgbClr val="FFFFFF"/>
                </a:solidFill>
                <a:latin typeface="Calibri" pitchFamily="34" charset="0"/>
                <a:ea typeface="Calibri" pitchFamily="34" charset="-122"/>
                <a:cs typeface="Calibri" pitchFamily="34" charset="-120"/>
              </a:rPr>
              <a:t>On track: what a good week looks like, checkably — and what you cut the first time you miss it.</a:t>
            </a:r>
            <a:endParaRPr lang="en-US" sz="1550" dirty="0"/>
          </a:p>
        </p:txBody>
      </p:sp>
      <p:sp>
        <p:nvSpPr>
          <p:cNvPr id="21" name="Text 19"/>
          <p:cNvSpPr/>
          <p:nvPr/>
        </p:nvSpPr>
        <p:spPr>
          <a:xfrm>
            <a:off x="10149840" y="4306824"/>
            <a:ext cx="1280160" cy="950976"/>
          </a:xfrm>
          <a:prstGeom prst="rect">
            <a:avLst/>
          </a:prstGeom>
          <a:noFill/>
          <a:ln/>
        </p:spPr>
        <p:txBody>
          <a:bodyPr wrap="square" lIns="0" tIns="0" rIns="0" bIns="0" rtlCol="0" anchor="ctr"/>
          <a:lstStyle/>
          <a:p>
            <a:pPr marL="0" indent="0" algn="r">
              <a:buNone/>
            </a:pPr>
            <a:r>
              <a:rPr lang="en-US" sz="1400" b="1" dirty="0">
                <a:solidFill>
                  <a:srgbClr val="E8A33D"/>
                </a:solidFill>
                <a:latin typeface="Calibri" pitchFamily="34" charset="0"/>
                <a:ea typeface="Calibri" pitchFamily="34" charset="-122"/>
                <a:cs typeface="Calibri" pitchFamily="34" charset="-120"/>
              </a:rPr>
              <a:t>§6</a:t>
            </a:r>
            <a:endParaRPr lang="en-US" sz="1400" dirty="0"/>
          </a:p>
        </p:txBody>
      </p:sp>
      <p:sp>
        <p:nvSpPr>
          <p:cNvPr id="22" name="Shape 20"/>
          <p:cNvSpPr/>
          <p:nvPr/>
        </p:nvSpPr>
        <p:spPr>
          <a:xfrm>
            <a:off x="548640" y="5440680"/>
            <a:ext cx="11064240" cy="731520"/>
          </a:xfrm>
          <a:prstGeom prst="roundRect">
            <a:avLst>
              <a:gd name="adj" fmla="val 11250"/>
            </a:avLst>
          </a:prstGeom>
          <a:solidFill>
            <a:srgbClr val="E8A33D"/>
          </a:solidFill>
          <a:ln/>
          <a:effectLst>
            <a:outerShdw blurRad="88900" dist="38100" dir="5400000" algn="bl" rotWithShape="0">
              <a:srgbClr val="000000">
                <a:alpha val="13000"/>
              </a:srgbClr>
            </a:outerShdw>
          </a:effectLst>
        </p:spPr>
        <p:txBody>
          <a:bodyPr/>
          <a:lstStyle/>
          <a:p>
            <a:endParaRPr lang="en-US"/>
          </a:p>
        </p:txBody>
      </p:sp>
      <p:sp>
        <p:nvSpPr>
          <p:cNvPr id="23" name="Text 21"/>
          <p:cNvSpPr/>
          <p:nvPr/>
        </p:nvSpPr>
        <p:spPr>
          <a:xfrm>
            <a:off x="914400" y="5440680"/>
            <a:ext cx="10332720" cy="731520"/>
          </a:xfrm>
          <a:prstGeom prst="rect">
            <a:avLst/>
          </a:prstGeom>
          <a:noFill/>
          <a:ln/>
        </p:spPr>
        <p:txBody>
          <a:bodyPr wrap="square" lIns="0" tIns="0" rIns="0" bIns="0" rtlCol="0" anchor="ctr"/>
          <a:lstStyle/>
          <a:p>
            <a:pPr marL="0" indent="0">
              <a:buNone/>
            </a:pPr>
            <a:r>
              <a:rPr lang="en-US" sz="1500" b="1" dirty="0">
                <a:solidFill>
                  <a:srgbClr val="14233A"/>
                </a:solidFill>
                <a:latin typeface="Calibri" pitchFamily="34" charset="0"/>
                <a:ea typeface="Calibri" pitchFamily="34" charset="-122"/>
                <a:cs typeface="Calibri" pitchFamily="34" charset="-120"/>
              </a:rPr>
              <a:t>These become your project's norms; your first contributor meets them. Before Wednesday: create your repo, then finish and submit the charter.</a:t>
            </a:r>
            <a:endParaRPr lang="en-US" sz="1500" dirty="0"/>
          </a:p>
        </p:txBody>
      </p:sp>
      <p:sp>
        <p:nvSpPr>
          <p:cNvPr id="24" name="Text 22"/>
          <p:cNvSpPr/>
          <p:nvPr/>
        </p:nvSpPr>
        <p:spPr>
          <a:xfrm>
            <a:off x="6675120" y="6437376"/>
            <a:ext cx="4937760" cy="274320"/>
          </a:xfrm>
          <a:prstGeom prst="rect">
            <a:avLst/>
          </a:prstGeom>
          <a:noFill/>
          <a:ln/>
        </p:spPr>
        <p:txBody>
          <a:bodyPr wrap="square" lIns="0" tIns="0" rIns="0" bIns="0" rtlCol="0" anchor="ctr"/>
          <a:lstStyle/>
          <a:p>
            <a:pPr marL="0" indent="0" algn="r">
              <a:buNone/>
            </a:pPr>
            <a:r>
              <a:rPr lang="en-US" sz="1000" dirty="0">
                <a:solidFill>
                  <a:srgbClr val="7E92A8"/>
                </a:solidFill>
                <a:latin typeface="Calibri" pitchFamily="34" charset="0"/>
                <a:ea typeface="Calibri" pitchFamily="34" charset="-122"/>
                <a:cs typeface="Calibri" pitchFamily="34" charset="-120"/>
              </a:rPr>
              <a:t>CS 301R · Session 11 · Design Documents</a:t>
            </a:r>
            <a:endParaRPr lang="en-US" sz="1000" dirty="0"/>
          </a:p>
        </p:txBody>
      </p:sp>
      <p:sp>
        <p:nvSpPr>
          <p:cNvPr id="25" name="Text 23"/>
          <p:cNvSpPr/>
          <p:nvPr/>
        </p:nvSpPr>
        <p:spPr>
          <a:xfrm>
            <a:off x="548640" y="6437376"/>
            <a:ext cx="548640" cy="274320"/>
          </a:xfrm>
          <a:prstGeom prst="rect">
            <a:avLst/>
          </a:prstGeom>
          <a:noFill/>
          <a:ln/>
        </p:spPr>
        <p:txBody>
          <a:bodyPr wrap="square" lIns="0" tIns="0" rIns="0" bIns="0" rtlCol="0" anchor="ctr"/>
          <a:lstStyle/>
          <a:p>
            <a:pPr marL="0" indent="0">
              <a:buNone/>
            </a:pPr>
            <a:r>
              <a:rPr lang="en-US" sz="1000" dirty="0">
                <a:solidFill>
                  <a:srgbClr val="7E92A8"/>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4233A"/>
        </a:solidFill>
        <a:effectLst/>
      </p:bgPr>
    </p:bg>
    <p:spTree>
      <p:nvGrpSpPr>
        <p:cNvPr id="1" name=""/>
        <p:cNvGrpSpPr/>
        <p:nvPr/>
      </p:nvGrpSpPr>
      <p:grpSpPr>
        <a:xfrm>
          <a:off x="0" y="0"/>
          <a:ext cx="0" cy="0"/>
          <a:chOff x="0" y="0"/>
          <a:chExt cx="0" cy="0"/>
        </a:xfrm>
      </p:grpSpPr>
      <p:sp>
        <p:nvSpPr>
          <p:cNvPr id="2" name="Shape 0"/>
          <p:cNvSpPr/>
          <p:nvPr/>
        </p:nvSpPr>
        <p:spPr>
          <a:xfrm>
            <a:off x="-1188720" y="4754880"/>
            <a:ext cx="3291840" cy="3291840"/>
          </a:xfrm>
          <a:prstGeom prst="ellipse">
            <a:avLst/>
          </a:prstGeom>
          <a:solidFill>
            <a:srgbClr val="1C3252"/>
          </a:solidFill>
          <a:ln/>
        </p:spPr>
        <p:txBody>
          <a:bodyPr/>
          <a:lstStyle/>
          <a:p>
            <a:endParaRPr lang="en-US"/>
          </a:p>
        </p:txBody>
      </p:sp>
      <p:sp>
        <p:nvSpPr>
          <p:cNvPr id="3" name="Shape 1"/>
          <p:cNvSpPr/>
          <p:nvPr/>
        </p:nvSpPr>
        <p:spPr>
          <a:xfrm>
            <a:off x="822960" y="1051560"/>
            <a:ext cx="777240" cy="777240"/>
          </a:xfrm>
          <a:prstGeom prst="ellipse">
            <a:avLst/>
          </a:prstGeom>
          <a:solidFill>
            <a:srgbClr val="E8A33D"/>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1032815" y="1261415"/>
            <a:ext cx="357530" cy="357530"/>
          </a:xfrm>
          <a:prstGeom prst="rect">
            <a:avLst/>
          </a:prstGeom>
        </p:spPr>
      </p:pic>
      <p:sp>
        <p:nvSpPr>
          <p:cNvPr id="5" name="Text 2"/>
          <p:cNvSpPr/>
          <p:nvPr/>
        </p:nvSpPr>
        <p:spPr>
          <a:xfrm>
            <a:off x="822960" y="1965960"/>
            <a:ext cx="10881360" cy="960120"/>
          </a:xfrm>
          <a:prstGeom prst="rect">
            <a:avLst/>
          </a:prstGeom>
          <a:noFill/>
          <a:ln/>
        </p:spPr>
        <p:txBody>
          <a:bodyPr wrap="square" lIns="0" tIns="0" rIns="0" bIns="0" rtlCol="0" anchor="ctr"/>
          <a:lstStyle/>
          <a:p>
            <a:pPr marL="0" indent="0">
              <a:lnSpc>
                <a:spcPct val="106000"/>
              </a:lnSpc>
              <a:buNone/>
            </a:pPr>
            <a:r>
              <a:rPr lang="en-US" sz="2700" b="1" i="1" dirty="0">
                <a:solidFill>
                  <a:srgbClr val="FFFFFF"/>
                </a:solidFill>
                <a:latin typeface="Cambria" pitchFamily="34" charset="0"/>
                <a:ea typeface="Cambria" pitchFamily="34" charset="-122"/>
                <a:cs typeface="Cambria" pitchFamily="34" charset="-120"/>
              </a:rPr>
              <a:t>Design docs earn their cost by making trade-offs visible while they're still cheap.</a:t>
            </a:r>
            <a:endParaRPr lang="en-US" sz="2700" dirty="0"/>
          </a:p>
        </p:txBody>
      </p:sp>
      <p:sp>
        <p:nvSpPr>
          <p:cNvPr id="6" name="Text 3"/>
          <p:cNvSpPr/>
          <p:nvPr/>
        </p:nvSpPr>
        <p:spPr>
          <a:xfrm>
            <a:off x="841248" y="3108960"/>
            <a:ext cx="10058400" cy="320040"/>
          </a:xfrm>
          <a:prstGeom prst="rect">
            <a:avLst/>
          </a:prstGeom>
          <a:noFill/>
          <a:ln/>
        </p:spPr>
        <p:txBody>
          <a:bodyPr wrap="square" lIns="0" tIns="0" rIns="0" bIns="0" rtlCol="0" anchor="ctr"/>
          <a:lstStyle/>
          <a:p>
            <a:pPr marL="0" indent="0">
              <a:buNone/>
            </a:pPr>
            <a:r>
              <a:rPr lang="en-US" sz="1400" b="1" kern="0" spc="200" dirty="0">
                <a:solidFill>
                  <a:srgbClr val="E8A33D"/>
                </a:solidFill>
                <a:latin typeface="Calibri" pitchFamily="34" charset="0"/>
                <a:ea typeface="Calibri" pitchFamily="34" charset="-122"/>
                <a:cs typeface="Calibri" pitchFamily="34" charset="-120"/>
              </a:rPr>
              <a:t>BEFORE WEDNESDAY, OCT 14</a:t>
            </a:r>
            <a:endParaRPr lang="en-US" sz="1400" dirty="0"/>
          </a:p>
        </p:txBody>
      </p:sp>
      <p:sp>
        <p:nvSpPr>
          <p:cNvPr id="7" name="Text 4"/>
          <p:cNvSpPr/>
          <p:nvPr/>
        </p:nvSpPr>
        <p:spPr>
          <a:xfrm>
            <a:off x="868680" y="3520440"/>
            <a:ext cx="10698480" cy="1783080"/>
          </a:xfrm>
          <a:prstGeom prst="rect">
            <a:avLst/>
          </a:prstGeom>
          <a:noFill/>
          <a:ln/>
        </p:spPr>
        <p:txBody>
          <a:bodyPr wrap="square" lIns="0" tIns="0" rIns="0" bIns="0" rtlCol="0" anchor="t"/>
          <a:lstStyle/>
          <a:p>
            <a:pPr marL="203200" indent="-203200">
              <a:spcAft>
                <a:spcPts val="700"/>
              </a:spcAft>
              <a:buSzPct val="100000"/>
              <a:buChar char="•"/>
            </a:pPr>
            <a:r>
              <a:rPr lang="en-US" sz="1600" dirty="0">
                <a:solidFill>
                  <a:srgbClr val="CBD8E6"/>
                </a:solidFill>
                <a:latin typeface="Calibri" pitchFamily="34" charset="0"/>
                <a:ea typeface="Calibri" pitchFamily="34" charset="-122"/>
                <a:cs typeface="Calibri" pitchFamily="34" charset="-120"/>
              </a:rPr>
              <a:t>First team meeting: create the project's GitHub organization and public repo (Canvas → Starting Your Project Repository)</a:t>
            </a:r>
            <a:endParaRPr lang="en-US" sz="1600" dirty="0"/>
          </a:p>
          <a:p>
            <a:pPr marL="203200" indent="-203200">
              <a:spcAft>
                <a:spcPts val="700"/>
              </a:spcAft>
              <a:buSzPct val="100000"/>
              <a:buChar char="•"/>
            </a:pPr>
            <a:r>
              <a:rPr lang="en-US" sz="1600" dirty="0">
                <a:solidFill>
                  <a:srgbClr val="CBD8E6"/>
                </a:solidFill>
                <a:latin typeface="Calibri" pitchFamily="34" charset="0"/>
                <a:ea typeface="Calibri" pitchFamily="34" charset="-122"/>
                <a:cs typeface="Calibri" pitchFamily="34" charset="-120"/>
              </a:rPr>
              <a:t>Finish the charter there, with the repo URL in it — submit it by end of day Wednesday</a:t>
            </a:r>
            <a:endParaRPr lang="en-US" sz="1600" dirty="0"/>
          </a:p>
          <a:p>
            <a:pPr marL="203200" indent="-203200">
              <a:spcAft>
                <a:spcPts val="700"/>
              </a:spcAft>
              <a:buSzPct val="100000"/>
              <a:buChar char="•"/>
            </a:pPr>
            <a:r>
              <a:rPr lang="en-US" sz="1600" dirty="0">
                <a:solidFill>
                  <a:srgbClr val="CBD8E6"/>
                </a:solidFill>
                <a:latin typeface="Calibri" pitchFamily="34" charset="0"/>
                <a:ea typeface="Calibri" pitchFamily="34" charset="-122"/>
                <a:cs typeface="Calibri" pitchFamily="34" charset="-120"/>
              </a:rPr>
              <a:t>Bring your skeleton sketch — context, components, entities, two decisions</a:t>
            </a:r>
            <a:endParaRPr lang="en-US" sz="1600" dirty="0"/>
          </a:p>
          <a:p>
            <a:pPr marL="203200" indent="-203200">
              <a:spcAft>
                <a:spcPts val="700"/>
              </a:spcAft>
              <a:buSzPct val="100000"/>
              <a:buChar char="•"/>
            </a:pPr>
            <a:r>
              <a:rPr lang="en-US" sz="1600" dirty="0">
                <a:solidFill>
                  <a:srgbClr val="CBD8E6"/>
                </a:solidFill>
                <a:latin typeface="Calibri" pitchFamily="34" charset="0"/>
                <a:ea typeface="Calibri" pitchFamily="34" charset="-122"/>
                <a:cs typeface="Calibri" pitchFamily="34" charset="-120"/>
              </a:rPr>
              <a:t>Re-skim the anatomy and system-context sections of the reading</a:t>
            </a:r>
            <a:endParaRPr lang="en-US" sz="1600" dirty="0"/>
          </a:p>
          <a:p>
            <a:pPr marL="203200" indent="-203200">
              <a:buSzPct val="100000"/>
              <a:buChar char="•"/>
            </a:pPr>
            <a:r>
              <a:rPr lang="en-US" sz="1600" dirty="0">
                <a:solidFill>
                  <a:srgbClr val="CBD8E6"/>
                </a:solidFill>
                <a:latin typeface="Calibri" pitchFamily="34" charset="0"/>
                <a:ea typeface="Calibri" pitchFamily="34" charset="-122"/>
                <a:cs typeface="Calibri" pitchFamily="34" charset="-120"/>
              </a:rPr>
              <a:t>Wednesday is a whiteboard workshop — the design doc draft is due end of day Thursday, Oct 15</a:t>
            </a:r>
            <a:endParaRPr lang="en-US" sz="1600" dirty="0"/>
          </a:p>
        </p:txBody>
      </p:sp>
      <p:sp>
        <p:nvSpPr>
          <p:cNvPr id="8" name="Shape 5"/>
          <p:cNvSpPr/>
          <p:nvPr/>
        </p:nvSpPr>
        <p:spPr>
          <a:xfrm>
            <a:off x="548640" y="5440680"/>
            <a:ext cx="11064240" cy="731520"/>
          </a:xfrm>
          <a:prstGeom prst="roundRect">
            <a:avLst>
              <a:gd name="adj" fmla="val 11250"/>
            </a:avLst>
          </a:prstGeom>
          <a:solidFill>
            <a:srgbClr val="E8A33D"/>
          </a:solidFill>
          <a:ln/>
          <a:effectLst>
            <a:outerShdw blurRad="88900" dist="38100" dir="5400000" algn="bl" rotWithShape="0">
              <a:srgbClr val="000000">
                <a:alpha val="13000"/>
              </a:srgbClr>
            </a:outerShdw>
          </a:effectLst>
        </p:spPr>
        <p:txBody>
          <a:bodyPr/>
          <a:lstStyle/>
          <a:p>
            <a:endParaRPr lang="en-US"/>
          </a:p>
        </p:txBody>
      </p:sp>
      <p:sp>
        <p:nvSpPr>
          <p:cNvPr id="9" name="Text 6"/>
          <p:cNvSpPr/>
          <p:nvPr/>
        </p:nvSpPr>
        <p:spPr>
          <a:xfrm>
            <a:off x="822960" y="5440680"/>
            <a:ext cx="10515600" cy="731520"/>
          </a:xfrm>
          <a:prstGeom prst="rect">
            <a:avLst/>
          </a:prstGeom>
          <a:noFill/>
          <a:ln/>
        </p:spPr>
        <p:txBody>
          <a:bodyPr wrap="square" lIns="0" tIns="0" rIns="0" bIns="0" rtlCol="0" anchor="ctr"/>
          <a:lstStyle/>
          <a:p>
            <a:pPr marL="0" indent="0" algn="ctr">
              <a:buNone/>
            </a:pPr>
            <a:r>
              <a:rPr lang="en-US" sz="1550" b="1" dirty="0">
                <a:solidFill>
                  <a:srgbClr val="14233A"/>
                </a:solidFill>
                <a:latin typeface="Calibri" pitchFamily="34" charset="0"/>
                <a:ea typeface="Calibri" pitchFamily="34" charset="-122"/>
                <a:cs typeface="Calibri" pitchFamily="34" charset="-120"/>
              </a:rPr>
              <a:t>CP5 — Design Document (revised) — is due Wed, Oct 21. Draft, review, revise: the same loop as the proposal.</a:t>
            </a:r>
            <a:endParaRPr lang="en-US" sz="1550" dirty="0"/>
          </a:p>
        </p:txBody>
      </p:sp>
      <p:sp>
        <p:nvSpPr>
          <p:cNvPr id="10" name="Text 7"/>
          <p:cNvSpPr/>
          <p:nvPr/>
        </p:nvSpPr>
        <p:spPr>
          <a:xfrm>
            <a:off x="6675120" y="6437376"/>
            <a:ext cx="4937760" cy="274320"/>
          </a:xfrm>
          <a:prstGeom prst="rect">
            <a:avLst/>
          </a:prstGeom>
          <a:noFill/>
          <a:ln/>
        </p:spPr>
        <p:txBody>
          <a:bodyPr wrap="square" lIns="0" tIns="0" rIns="0" bIns="0" rtlCol="0" anchor="ctr"/>
          <a:lstStyle/>
          <a:p>
            <a:pPr marL="0" indent="0" algn="r">
              <a:buNone/>
            </a:pPr>
            <a:r>
              <a:rPr lang="en-US" sz="1000" dirty="0">
                <a:solidFill>
                  <a:srgbClr val="7E92A8"/>
                </a:solidFill>
                <a:latin typeface="Calibri" pitchFamily="34" charset="0"/>
                <a:ea typeface="Calibri" pitchFamily="34" charset="-122"/>
                <a:cs typeface="Calibri" pitchFamily="34" charset="-120"/>
              </a:rPr>
              <a:t>CS 301R · Session 11 · Design Documents</a:t>
            </a:r>
            <a:endParaRPr lang="en-US" sz="1000" dirty="0"/>
          </a:p>
        </p:txBody>
      </p:sp>
      <p:sp>
        <p:nvSpPr>
          <p:cNvPr id="11" name="Text 8"/>
          <p:cNvSpPr/>
          <p:nvPr/>
        </p:nvSpPr>
        <p:spPr>
          <a:xfrm>
            <a:off x="548640" y="6437376"/>
            <a:ext cx="548640" cy="274320"/>
          </a:xfrm>
          <a:prstGeom prst="rect">
            <a:avLst/>
          </a:prstGeom>
          <a:noFill/>
          <a:ln/>
        </p:spPr>
        <p:txBody>
          <a:bodyPr wrap="square" lIns="0" tIns="0" rIns="0" bIns="0" rtlCol="0" anchor="ctr"/>
          <a:lstStyle/>
          <a:p>
            <a:pPr marL="0" indent="0">
              <a:buNone/>
            </a:pPr>
            <a:r>
              <a:rPr lang="en-US" sz="1000" dirty="0">
                <a:solidFill>
                  <a:srgbClr val="7E92A8"/>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3999</Words>
  <Application>Microsoft Office PowerPoint</Application>
  <PresentationFormat>Custom</PresentationFormat>
  <Paragraphs>262</Paragraphs>
  <Slides>17</Slides>
  <Notes>17</Notes>
  <HiddenSlides>1</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301R — Session 11 — Design Documents</dc:title>
  <dc:subject>PptxGenJS Presentation</dc:subject>
  <dc:creator>CS 301R</dc:creator>
  <cp:lastModifiedBy>Tom Stephens</cp:lastModifiedBy>
  <cp:revision>2</cp:revision>
  <dcterms:created xsi:type="dcterms:W3CDTF">2026-10-12T02:19:12Z</dcterms:created>
  <dcterms:modified xsi:type="dcterms:W3CDTF">2026-10-12T02:22:34Z</dcterms:modified>
</cp:coreProperties>
</file>