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CP8 is due tonight, and today finishes it. Before class, from the outline's run sheet: the PR branch replayed onto Prop Loft's main (not pushed), the Plan table view added, and tabs open for the board, the Plan view, the M1 issue list, M1's milestone page, and design §6 on main. Print the Fit Check Sheet, one per student. Laptops required. Don't pre-size the board: sizing it is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Every teaching block is shown on Prop Loft first, then you do the same thing to your own tracker. The two highlighted rows are your time: sizing your first milestone, then ordering it and writing the slice statement. Hand out the Fit Check Sheet now; it follows the day from top to bottom. CP8 is due tonight, and a board that leaves here sized, ordered, and with a slice statement is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Two reasons to estimate at our scale, one click each. First: to learn whether the first milestone fits before the progress demo tells you. Second, the bigger one: sizing forces two people to compare what they pictured. Third click: the number fades; the surfaced assumption is what lasts. Fourth: estimates are internal planning tools. Nobody grades the number; the grade is on whether you did the arithmetic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hours are tied to this course's week: an L is a whole week of one person's outside hours, so an L in a two-week milestone is half a solo founder's time. That's why an L gets a question and an XL gets split. Click: sizes are relative. Pick something finished that everyone knows and call it an S. Students should write their own anchor on the sheet's first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Vote with fingers, revealed together, so nobody anchors on a neighbor. Click: however the vote comes out, the move is the same, and you can't predict which you'll get. A split, ask the extremes. Agreement, ask one person anyway, because the same number can hide different work. If the room disagrees with the maintainer, that's the split. If nobody can size it, the issue needs another acceptance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Read the issue aloud, give fifteen seconds, then 3, 2, 1. Whatever the vote, ask the move from the last slide. First click: the maintainer's size. Second click: this one is the calibration. Its Where to start names the file, the view to imitate, and the test to copy, so most rooms land near S. If they don't, ask what made it look bigger. That's useful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and the one most likely to run long. Let it. Ask what people pictured before you click. First click: the maintainer's M. Second: the hidden work is the second criterion. A form check is a few lines; a database constraint is a conditional unique constraint, a migration, and tests that expect the database to refuse, on SQLite and Postgres. Same title, different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Whatever the room says, this one is a risk, not a size: the number depends on whether you count learning HTMX. First click: the maintainer's L, or M without HTMX. Second: point at design §7's risk row, which already names the fallback. Don't resolve it here. Park it; it decides whether Prop Loft's milestone fits,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land the lesson. Use whatever happened in the room: name the moment someone said what they pictured. One click per line. The third is the habit: when a conversation changes the picture, edit the acceptance criteria so the next reader can't picture it wrong. Fourth click for solo founders: a partner reading your issues cold is the same check, and an issue they can't size is missing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Session 8 arithmetic, with real numbers. One click per case. Solo is most of you: fourteen hours to the progress demo, before review. On a team, multiply, but review grows too. Third click: Prop Loft's maintainer has about ten hours a week, and the roadmap says so. The rule underneath is the same everywhere: count the hours that actually exist, not the ones you wish you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These are the maintainer's sizes, not the room's vote: the plan runs on the maintainer's numbers whatever the room said. Read down the column. The checkout form is the L, from the HTMX question. The setup guide isn't on the demo's path, but it stays in the first milestone; if someone asks why it isn't simply cut, say the next slide answers it. Click: twenty-one against twenty. Ask the room: does it fit? Take a show of hands before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Twenty-one against twenty only looks like it fits; review time isn't in it. The first move is off the slice, and the setup guide is the obvious candidate, so answer that before anyone asks: it keeps its place because its cold reader has a calendar and contributors need it before the demo. So the cut has to come from how things get built. First click: the cut is the design's own fallback, named in its risk table, so it's a decision the design already half-made. Second: name the next cut now, so that if the midpoint check shows you behind, the decision is already made and nobody argues about it under pressure. Third: the slice survived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three minutes, live; the outline's run sheet, part A, has every command. Push the prepared branch, open the PR in the browser so they see the template fill, and keep the title exactly as the commit subject. In Files changed, point at the decision's shape: chosen, alternative, why, evidence, what would change our mind. Post the self-review, squash-merge, then comment on the checkout-form issue that its size changed because the design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M2 only needs coarse sizes today, but the check still matters: nineteen of twenty means no slack for anything M1 doesn't finish. First click: so the next cut is named here too. Second click: the dependencies on people. A co-design session and a borrowed phone have calendars that aren't yours. The italic line: don't count on a contributor to do your good first issues; plan as if nobody 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minutes; keep time out loud. Most of you are solo, so pair up with your review partner now: size your own milestone, then size theirs from the text alone, and compare. Where a partner can't size an issue, fix its acceptance criteria. Circulate to every pair. Push anyone whose milestone obviously doesn't fit to cut before they leave the table, starting with what's off the slice.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one click per rule. Slice first: the path from Session 12's traced flow, user interface to logic to data and back. Dependencies: draw only the edges that really block; most issues don't block each other. Risk early: a spike may already have de-risked it. People: their calendars aren't yours. Reviews: solo, your review partner is your only outside reviewer, so stagger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Ready means nothing it depends on is unfinished, so issues 4 and 5 wait at the top of Backlog until the model merges; the order spans both columns. The setup guide runs alongside, and its cold reader gets asked today. First click: after step 4, the slice already walks, using the admin. Second: the model goes second because it's both the risk and the root of two edges. The form PR opens only after it merges.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tied to the Kniberg reading. Left is the trap: every screen built, nothing wired, so the demo is a slideshow. Click: the slice has fewer pieces, all connected, and it demos itself. Second click: the caveat people miss in the skateboard picture. It isn't permission to do sloppy work; it's about delivering something usable at every stage so you learn something real from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format first; then click for Prop Loft's. Notice how specific it is: you could rehearse it tonight, and on demo day it's literally the script. It also defines the end of M1: when that sentence is true on main, the milestone's job is done. Second click. It goes in the first milestone's description, and the issues on its path get the slice label. That's in a minute,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four minutes, live on Prop Loft; the run sheet, part B, has the sizes table and the exact statement. Use the Plan table view for sizes. Leave the setup guide off the slice label: it's in M1 but not on the demo's path, and that distinction is the point. When you reorder, say out loud why the blocked issues wait in Backlog. Leave this slide up while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Thirteen minutes. Circulate with the one question. For Prop Loft the honest answer is that the checkout form doesn't exist yet, and the order's answer is that the admin carries the slice until it does; look for the same reasoning in theirs. Read each slice statement back to its author: could you rehearse it? Anyone with a person dependency should send the ask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Read the list and have students tick it against their own board, with Prop Loft's board open beside it as the model; it now shows sizes, the slice label, the order, and the statement, all made live today. The bottom line is the most common way to lose CP8 points: the board is still private. Have everyone open their board URL in a private window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minute or two. Say the one-liner. The slice statement is now the progress-demo script, and the next cut is already decided, so the midpoint check next Wednesday is a yes-or-no question: is the skateboard walking? Monday is MVP thinking and debugging, right before the heaviest build fortnight. Keep the Fit Check Sheet; it's a working copy, not a turn-in.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Size It, Fit It, Order It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18 — estimation, sequencing, and the vertical slice</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November 4,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Turn the backlog into a plan you can keep</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Estimates are conversations, not promises</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T-shirt sizes, demonstrated on Prop Loft</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E8A33D"/>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fit check and the cut, then size your own</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18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Sequencing and the vertical slice</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Order your M1 and commit the slice</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17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CP8 check and wrap</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11 min</a:t>
            </a:r>
            <a:endParaRPr lang="en-US" sz="1600" dirty="0"/>
          </a:p>
        </p:txBody>
      </p:sp>
      <p:sp>
        <p:nvSpPr>
          <p:cNvPr id="35" name="Text 27"/>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ESTIMATE AT ALL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Estimates are conversations, not promises</a:t>
            </a:r>
            <a:endParaRPr lang="en-US" sz="3100" dirty="0"/>
          </a:p>
        </p:txBody>
      </p:sp>
      <p:sp>
        <p:nvSpPr>
          <p:cNvPr id="5" name="click-1"/>
          <p:cNvSpPr/>
          <p:nvPr/>
        </p:nvSpPr>
        <p:spPr>
          <a:xfrm>
            <a:off x="548640" y="1783080"/>
            <a:ext cx="544068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822960" y="1965960"/>
            <a:ext cx="603504" cy="603504"/>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985906" y="2128906"/>
            <a:ext cx="277612" cy="277612"/>
          </a:xfrm>
          <a:prstGeom prst="rect">
            <a:avLst/>
          </a:prstGeom>
        </p:spPr>
      </p:pic>
      <p:sp>
        <p:nvSpPr>
          <p:cNvPr id="8" name="click-1"/>
          <p:cNvSpPr/>
          <p:nvPr/>
        </p:nvSpPr>
        <p:spPr>
          <a:xfrm>
            <a:off x="1600200" y="1965960"/>
            <a:ext cx="4206240" cy="603504"/>
          </a:xfrm>
          <a:prstGeom prst="rect">
            <a:avLst/>
          </a:prstGeom>
          <a:noFill/>
          <a:ln/>
        </p:spPr>
        <p:txBody>
          <a:bodyPr wrap="square" lIns="0" tIns="0" rIns="0" bIns="0" rtlCol="0" anchor="ctr"/>
          <a:lstStyle/>
          <a:p>
            <a:pPr indent="0" marL="0">
              <a:buNone/>
            </a:pPr>
            <a:r>
              <a:rPr lang="en-US" sz="2100" b="1" dirty="0">
                <a:solidFill>
                  <a:srgbClr val="1E2A36"/>
                </a:solidFill>
                <a:latin typeface="Calibri" pitchFamily="34" charset="0"/>
                <a:ea typeface="Calibri" pitchFamily="34" charset="-122"/>
                <a:cs typeface="Calibri" pitchFamily="34" charset="-120"/>
              </a:rPr>
              <a:t>Does it fit?</a:t>
            </a:r>
            <a:endParaRPr lang="en-US" sz="2100" dirty="0"/>
          </a:p>
        </p:txBody>
      </p:sp>
      <p:sp>
        <p:nvSpPr>
          <p:cNvPr id="9" name="click-1"/>
          <p:cNvSpPr/>
          <p:nvPr/>
        </p:nvSpPr>
        <p:spPr>
          <a:xfrm>
            <a:off x="822960" y="2743200"/>
            <a:ext cx="4892040" cy="10058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Find out now, while cutting is cheap, instead of the night before the demo.</a:t>
            </a:r>
            <a:endParaRPr lang="en-US" sz="1700" dirty="0"/>
          </a:p>
        </p:txBody>
      </p:sp>
      <p:sp>
        <p:nvSpPr>
          <p:cNvPr id="10" name="click-2"/>
          <p:cNvSpPr/>
          <p:nvPr/>
        </p:nvSpPr>
        <p:spPr>
          <a:xfrm>
            <a:off x="6172200" y="1783080"/>
            <a:ext cx="544068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6446520" y="1965960"/>
            <a:ext cx="603504" cy="603504"/>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6609466" y="2128906"/>
            <a:ext cx="277612" cy="277612"/>
          </a:xfrm>
          <a:prstGeom prst="rect">
            <a:avLst/>
          </a:prstGeom>
        </p:spPr>
      </p:pic>
      <p:sp>
        <p:nvSpPr>
          <p:cNvPr id="13" name="click-2"/>
          <p:cNvSpPr/>
          <p:nvPr/>
        </p:nvSpPr>
        <p:spPr>
          <a:xfrm>
            <a:off x="7223760" y="1965960"/>
            <a:ext cx="4206240" cy="603504"/>
          </a:xfrm>
          <a:prstGeom prst="rect">
            <a:avLst/>
          </a:prstGeom>
          <a:noFill/>
          <a:ln/>
        </p:spPr>
        <p:txBody>
          <a:bodyPr wrap="square" lIns="0" tIns="0" rIns="0" bIns="0" rtlCol="0" anchor="ctr"/>
          <a:lstStyle/>
          <a:p>
            <a:pPr indent="0" marL="0">
              <a:buNone/>
            </a:pPr>
            <a:r>
              <a:rPr lang="en-US" sz="2100" b="1" dirty="0">
                <a:solidFill>
                  <a:srgbClr val="1E2A36"/>
                </a:solidFill>
                <a:latin typeface="Calibri" pitchFamily="34" charset="0"/>
                <a:ea typeface="Calibri" pitchFamily="34" charset="-122"/>
                <a:cs typeface="Calibri" pitchFamily="34" charset="-120"/>
              </a:rPr>
              <a:t>What are you assuming?</a:t>
            </a:r>
            <a:endParaRPr lang="en-US" sz="2100" dirty="0"/>
          </a:p>
        </p:txBody>
      </p:sp>
      <p:sp>
        <p:nvSpPr>
          <p:cNvPr id="14" name="click-2"/>
          <p:cNvSpPr/>
          <p:nvPr/>
        </p:nvSpPr>
        <p:spPr>
          <a:xfrm>
            <a:off x="6446520" y="2743200"/>
            <a:ext cx="4892040" cy="10058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Two people sizing the same issue differently pictured different work. That's the find.</a:t>
            </a:r>
            <a:endParaRPr lang="en-US" sz="1700" dirty="0"/>
          </a:p>
        </p:txBody>
      </p:sp>
      <p:sp>
        <p:nvSpPr>
          <p:cNvPr id="15" name="click-3"/>
          <p:cNvSpPr/>
          <p:nvPr/>
        </p:nvSpPr>
        <p:spPr>
          <a:xfrm>
            <a:off x="548640" y="4114800"/>
            <a:ext cx="11064240" cy="1005840"/>
          </a:xfrm>
          <a:prstGeom prst="roundRect">
            <a:avLst>
              <a:gd name="adj" fmla="val 8182"/>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868680" y="4114800"/>
            <a:ext cx="10424160" cy="1005840"/>
          </a:xfrm>
          <a:prstGeom prst="rect">
            <a:avLst/>
          </a:prstGeom>
          <a:noFill/>
          <a:ln/>
        </p:spPr>
        <p:txBody>
          <a:bodyPr wrap="square" lIns="0" tIns="0" rIns="0" bIns="0" rtlCol="0" anchor="ctr"/>
          <a:lstStyle/>
          <a:p>
            <a:pPr indent="0" marL="0">
              <a:buNone/>
            </a:pPr>
            <a:r>
              <a:rPr lang="en-US" sz="1700" i="1" dirty="0">
                <a:solidFill>
                  <a:srgbClr val="5F7284"/>
                </a:solidFill>
                <a:latin typeface="Calibri" pitchFamily="34" charset="0"/>
                <a:ea typeface="Calibri" pitchFamily="34" charset="-122"/>
                <a:cs typeface="Calibri" pitchFamily="34" charset="-120"/>
              </a:rPr>
              <a:t>On any team, the number gets forgotten within a week. "Wait, you thought it did what?" doesn't.</a:t>
            </a:r>
            <a:endParaRPr lang="en-US" sz="1700" dirty="0"/>
          </a:p>
        </p:txBody>
      </p:sp>
      <p:sp>
        <p:nvSpPr>
          <p:cNvPr id="17" name="click-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18" name="click-4"/>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Honesty rule: padding an estimate for looks and trimming it for optimism both defeat the point.</a:t>
            </a:r>
            <a:endParaRPr lang="en-US" sz="1700" dirty="0"/>
          </a:p>
        </p:txBody>
      </p:sp>
      <p:sp>
        <p:nvSpPr>
          <p:cNvPr id="19"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0"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6" presetID="1" presetClass="entr" presetSubtype="0"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7"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T-SHIRT SIZES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Relative first, tied to the hours you have</a:t>
            </a:r>
            <a:endParaRPr lang="en-US" sz="3100" dirty="0"/>
          </a:p>
        </p:txBody>
      </p:sp>
      <p:sp>
        <p:nvSpPr>
          <p:cNvPr id="5" name="Shape 3"/>
          <p:cNvSpPr/>
          <p:nvPr/>
        </p:nvSpPr>
        <p:spPr>
          <a:xfrm>
            <a:off x="54864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097280" y="1965960"/>
            <a:ext cx="1005840" cy="777240"/>
          </a:xfrm>
          <a:prstGeom prst="roundRect">
            <a:avLst>
              <a:gd name="adj" fmla="val 9412"/>
            </a:avLst>
          </a:prstGeom>
          <a:solidFill>
            <a:srgbClr val="5F7284"/>
          </a:solidFill>
          <a:ln/>
        </p:spPr>
      </p:sp>
      <p:sp>
        <p:nvSpPr>
          <p:cNvPr id="7" name="Text 5"/>
          <p:cNvSpPr/>
          <p:nvPr/>
        </p:nvSpPr>
        <p:spPr>
          <a:xfrm>
            <a:off x="109728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XS</a:t>
            </a:r>
            <a:endParaRPr lang="en-US" sz="2600" dirty="0"/>
          </a:p>
        </p:txBody>
      </p:sp>
      <p:sp>
        <p:nvSpPr>
          <p:cNvPr id="8" name="Text 6"/>
          <p:cNvSpPr/>
          <p:nvPr/>
        </p:nvSpPr>
        <p:spPr>
          <a:xfrm>
            <a:off x="54864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&lt; 1 hour</a:t>
            </a:r>
            <a:endParaRPr lang="en-US" sz="1800" dirty="0"/>
          </a:p>
        </p:txBody>
      </p:sp>
      <p:sp>
        <p:nvSpPr>
          <p:cNvPr id="9" name="Text 7"/>
          <p:cNvSpPr/>
          <p:nvPr/>
        </p:nvSpPr>
        <p:spPr>
          <a:xfrm>
            <a:off x="68580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 label, a typo, a config line</a:t>
            </a:r>
            <a:endParaRPr lang="en-US" sz="1500" dirty="0"/>
          </a:p>
        </p:txBody>
      </p:sp>
      <p:sp>
        <p:nvSpPr>
          <p:cNvPr id="10" name="Shape 8"/>
          <p:cNvSpPr/>
          <p:nvPr/>
        </p:nvSpPr>
        <p:spPr>
          <a:xfrm>
            <a:off x="278892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3337560" y="1965960"/>
            <a:ext cx="1005840" cy="777240"/>
          </a:xfrm>
          <a:prstGeom prst="roundRect">
            <a:avLst>
              <a:gd name="adj" fmla="val 9412"/>
            </a:avLst>
          </a:prstGeom>
          <a:solidFill>
            <a:srgbClr val="12908F"/>
          </a:solidFill>
          <a:ln/>
        </p:spPr>
      </p:sp>
      <p:sp>
        <p:nvSpPr>
          <p:cNvPr id="12" name="Text 10"/>
          <p:cNvSpPr/>
          <p:nvPr/>
        </p:nvSpPr>
        <p:spPr>
          <a:xfrm>
            <a:off x="333756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S</a:t>
            </a:r>
            <a:endParaRPr lang="en-US" sz="2600" dirty="0"/>
          </a:p>
        </p:txBody>
      </p:sp>
      <p:sp>
        <p:nvSpPr>
          <p:cNvPr id="13" name="Text 11"/>
          <p:cNvSpPr/>
          <p:nvPr/>
        </p:nvSpPr>
        <p:spPr>
          <a:xfrm>
            <a:off x="278892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 2 hours</a:t>
            </a:r>
            <a:endParaRPr lang="en-US" sz="1800" dirty="0"/>
          </a:p>
        </p:txBody>
      </p:sp>
      <p:sp>
        <p:nvSpPr>
          <p:cNvPr id="14" name="Text 12"/>
          <p:cNvSpPr/>
          <p:nvPr/>
        </p:nvSpPr>
        <p:spPr>
          <a:xfrm>
            <a:off x="292608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One focused sitting</a:t>
            </a:r>
            <a:endParaRPr lang="en-US" sz="1500" dirty="0"/>
          </a:p>
        </p:txBody>
      </p:sp>
      <p:sp>
        <p:nvSpPr>
          <p:cNvPr id="15" name="Shape 13"/>
          <p:cNvSpPr/>
          <p:nvPr/>
        </p:nvSpPr>
        <p:spPr>
          <a:xfrm>
            <a:off x="502920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5577840" y="1965960"/>
            <a:ext cx="1005840" cy="777240"/>
          </a:xfrm>
          <a:prstGeom prst="roundRect">
            <a:avLst>
              <a:gd name="adj" fmla="val 9412"/>
            </a:avLst>
          </a:prstGeom>
          <a:solidFill>
            <a:srgbClr val="0E6E6D"/>
          </a:solidFill>
          <a:ln/>
        </p:spPr>
      </p:sp>
      <p:sp>
        <p:nvSpPr>
          <p:cNvPr id="17" name="Text 15"/>
          <p:cNvSpPr/>
          <p:nvPr/>
        </p:nvSpPr>
        <p:spPr>
          <a:xfrm>
            <a:off x="557784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M</a:t>
            </a:r>
            <a:endParaRPr lang="en-US" sz="2600" dirty="0"/>
          </a:p>
        </p:txBody>
      </p:sp>
      <p:sp>
        <p:nvSpPr>
          <p:cNvPr id="18" name="Text 16"/>
          <p:cNvSpPr/>
          <p:nvPr/>
        </p:nvSpPr>
        <p:spPr>
          <a:xfrm>
            <a:off x="502920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 4 hours</a:t>
            </a:r>
            <a:endParaRPr lang="en-US" sz="1800" dirty="0"/>
          </a:p>
        </p:txBody>
      </p:sp>
      <p:sp>
        <p:nvSpPr>
          <p:cNvPr id="19" name="Text 17"/>
          <p:cNvSpPr/>
          <p:nvPr/>
        </p:nvSpPr>
        <p:spPr>
          <a:xfrm>
            <a:off x="516636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Two or three sittings: half a week of one person</a:t>
            </a:r>
            <a:endParaRPr lang="en-US" sz="1500" dirty="0"/>
          </a:p>
        </p:txBody>
      </p:sp>
      <p:sp>
        <p:nvSpPr>
          <p:cNvPr id="20" name="Shape 18"/>
          <p:cNvSpPr/>
          <p:nvPr/>
        </p:nvSpPr>
        <p:spPr>
          <a:xfrm>
            <a:off x="726948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818120" y="1965960"/>
            <a:ext cx="1005840" cy="777240"/>
          </a:xfrm>
          <a:prstGeom prst="roundRect">
            <a:avLst>
              <a:gd name="adj" fmla="val 9412"/>
            </a:avLst>
          </a:prstGeom>
          <a:solidFill>
            <a:srgbClr val="E8A33D"/>
          </a:solidFill>
          <a:ln/>
        </p:spPr>
      </p:sp>
      <p:sp>
        <p:nvSpPr>
          <p:cNvPr id="22" name="Text 20"/>
          <p:cNvSpPr/>
          <p:nvPr/>
        </p:nvSpPr>
        <p:spPr>
          <a:xfrm>
            <a:off x="7818120" y="1965960"/>
            <a:ext cx="1005840" cy="777240"/>
          </a:xfrm>
          <a:prstGeom prst="rect">
            <a:avLst/>
          </a:prstGeom>
          <a:noFill/>
          <a:ln/>
        </p:spPr>
        <p:txBody>
          <a:bodyPr wrap="square" lIns="0" tIns="0" rIns="0" bIns="0" rtlCol="0" anchor="ctr"/>
          <a:lstStyle/>
          <a:p>
            <a:pPr algn="ctr" indent="0" marL="0">
              <a:buNone/>
            </a:pPr>
            <a:r>
              <a:rPr lang="en-US" sz="2600" b="1" dirty="0">
                <a:solidFill>
                  <a:srgbClr val="14233A"/>
                </a:solidFill>
                <a:latin typeface="Cambria" pitchFamily="34" charset="0"/>
                <a:ea typeface="Cambria" pitchFamily="34" charset="-122"/>
                <a:cs typeface="Cambria" pitchFamily="34" charset="-120"/>
              </a:rPr>
              <a:t>L</a:t>
            </a:r>
            <a:endParaRPr lang="en-US" sz="2600" dirty="0"/>
          </a:p>
        </p:txBody>
      </p:sp>
      <p:sp>
        <p:nvSpPr>
          <p:cNvPr id="23" name="Text 21"/>
          <p:cNvSpPr/>
          <p:nvPr/>
        </p:nvSpPr>
        <p:spPr>
          <a:xfrm>
            <a:off x="726948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 7 hours</a:t>
            </a:r>
            <a:endParaRPr lang="en-US" sz="1800" dirty="0"/>
          </a:p>
        </p:txBody>
      </p:sp>
      <p:sp>
        <p:nvSpPr>
          <p:cNvPr id="24" name="Text 22"/>
          <p:cNvSpPr/>
          <p:nvPr/>
        </p:nvSpPr>
        <p:spPr>
          <a:xfrm>
            <a:off x="740664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 whole week of one person. Split it, or schedule it first.</a:t>
            </a:r>
            <a:endParaRPr lang="en-US" sz="1500" dirty="0"/>
          </a:p>
        </p:txBody>
      </p:sp>
      <p:sp>
        <p:nvSpPr>
          <p:cNvPr id="25" name="Shape 23"/>
          <p:cNvSpPr/>
          <p:nvPr/>
        </p:nvSpPr>
        <p:spPr>
          <a:xfrm>
            <a:off x="950976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10058400" y="1965960"/>
            <a:ext cx="1005840" cy="777240"/>
          </a:xfrm>
          <a:prstGeom prst="roundRect">
            <a:avLst>
              <a:gd name="adj" fmla="val 9412"/>
            </a:avLst>
          </a:prstGeom>
          <a:solidFill>
            <a:srgbClr val="D9614C"/>
          </a:solidFill>
          <a:ln/>
        </p:spPr>
      </p:sp>
      <p:sp>
        <p:nvSpPr>
          <p:cNvPr id="27" name="Text 25"/>
          <p:cNvSpPr/>
          <p:nvPr/>
        </p:nvSpPr>
        <p:spPr>
          <a:xfrm>
            <a:off x="1005840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XL</a:t>
            </a:r>
            <a:endParaRPr lang="en-US" sz="2600" dirty="0"/>
          </a:p>
        </p:txBody>
      </p:sp>
      <p:sp>
        <p:nvSpPr>
          <p:cNvPr id="28" name="Text 26"/>
          <p:cNvSpPr/>
          <p:nvPr/>
        </p:nvSpPr>
        <p:spPr>
          <a:xfrm>
            <a:off x="950976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&gt; a week</a:t>
            </a:r>
            <a:endParaRPr lang="en-US" sz="1800" dirty="0"/>
          </a:p>
        </p:txBody>
      </p:sp>
      <p:sp>
        <p:nvSpPr>
          <p:cNvPr id="29" name="Text 27"/>
          <p:cNvSpPr/>
          <p:nvPr/>
        </p:nvSpPr>
        <p:spPr>
          <a:xfrm>
            <a:off x="964692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An epic. Split it now.</a:t>
            </a:r>
            <a:endParaRPr lang="en-US" sz="1500" dirty="0"/>
          </a:p>
        </p:txBody>
      </p:sp>
      <p:sp>
        <p:nvSpPr>
          <p:cNvPr id="30" name="click-1"/>
          <p:cNvSpPr/>
          <p:nvPr/>
        </p:nvSpPr>
        <p:spPr>
          <a:xfrm>
            <a:off x="548640" y="4937760"/>
            <a:ext cx="11064240" cy="1234440"/>
          </a:xfrm>
          <a:prstGeom prst="roundRect">
            <a:avLst>
              <a:gd name="adj" fmla="val 6667"/>
            </a:avLst>
          </a:prstGeom>
          <a:solidFill>
            <a:srgbClr val="14233A"/>
          </a:solidFill>
          <a:ln/>
          <a:effectLst>
            <a:outerShdw sx="100000" sy="100000" kx="0" ky="0" algn="bl" rotWithShape="0" blurRad="88900" dist="38100" dir="5400000">
              <a:srgbClr val="000000">
                <a:alpha val="13000"/>
              </a:srgbClr>
            </a:outerShdw>
          </a:effectLst>
        </p:spPr>
      </p:sp>
      <p:sp>
        <p:nvSpPr>
          <p:cNvPr id="31" name="click-1"/>
          <p:cNvSpPr/>
          <p:nvPr/>
        </p:nvSpPr>
        <p:spPr>
          <a:xfrm>
            <a:off x="868680" y="4937760"/>
            <a:ext cx="10424160" cy="123444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Start from an anchor.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Prop Loft's item list is finished, and it was an S. "Bigger or smaller than that was?" is an easier question than "how many hours?"</a:t>
            </a:r>
            <a:endParaRPr lang="en-US" sz="1700" dirty="0"/>
          </a:p>
        </p:txBody>
      </p:sp>
      <p:sp>
        <p:nvSpPr>
          <p:cNvPr id="32" name="Text 30"/>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3" name="Text 3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3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WE'LL VOTE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Silently, together, then compare pictures</a:t>
            </a:r>
            <a:endParaRPr lang="en-US" sz="3100" dirty="0"/>
          </a:p>
        </p:txBody>
      </p:sp>
      <p:sp>
        <p:nvSpPr>
          <p:cNvPr id="5" name="Shape 3"/>
          <p:cNvSpPr/>
          <p:nvPr/>
        </p:nvSpPr>
        <p:spPr>
          <a:xfrm>
            <a:off x="548640" y="1783080"/>
            <a:ext cx="347472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38528"/>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086661"/>
            <a:ext cx="252374" cy="252374"/>
          </a:xfrm>
          <a:prstGeom prst="rect">
            <a:avLst/>
          </a:prstGeom>
        </p:spPr>
      </p:pic>
      <p:sp>
        <p:nvSpPr>
          <p:cNvPr id="8" name="Text 5"/>
          <p:cNvSpPr/>
          <p:nvPr/>
        </p:nvSpPr>
        <p:spPr>
          <a:xfrm>
            <a:off x="1463040" y="1938528"/>
            <a:ext cx="2423160" cy="5486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Read the issue</a:t>
            </a:r>
            <a:endParaRPr lang="en-US" sz="1900" dirty="0"/>
          </a:p>
        </p:txBody>
      </p:sp>
      <p:sp>
        <p:nvSpPr>
          <p:cNvPr id="9" name="Text 6"/>
          <p:cNvSpPr/>
          <p:nvPr/>
        </p:nvSpPr>
        <p:spPr>
          <a:xfrm>
            <a:off x="777240" y="2651760"/>
            <a:ext cx="3017520" cy="114300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Size it from its text alone. One finger is XS, five is XL.</a:t>
            </a:r>
            <a:endParaRPr lang="en-US" sz="1600" dirty="0"/>
          </a:p>
        </p:txBody>
      </p:sp>
      <p:sp>
        <p:nvSpPr>
          <p:cNvPr id="10" name="Shape 7"/>
          <p:cNvSpPr/>
          <p:nvPr/>
        </p:nvSpPr>
        <p:spPr>
          <a:xfrm>
            <a:off x="4343400" y="1783080"/>
            <a:ext cx="347472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1938528"/>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20133" y="2086661"/>
            <a:ext cx="252374" cy="252374"/>
          </a:xfrm>
          <a:prstGeom prst="rect">
            <a:avLst/>
          </a:prstGeom>
        </p:spPr>
      </p:pic>
      <p:sp>
        <p:nvSpPr>
          <p:cNvPr id="13" name="Text 9"/>
          <p:cNvSpPr/>
          <p:nvPr/>
        </p:nvSpPr>
        <p:spPr>
          <a:xfrm>
            <a:off x="5257800" y="1938528"/>
            <a:ext cx="2423160" cy="5486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Reveal together</a:t>
            </a:r>
            <a:endParaRPr lang="en-US" sz="1900" dirty="0"/>
          </a:p>
        </p:txBody>
      </p:sp>
      <p:sp>
        <p:nvSpPr>
          <p:cNvPr id="14" name="Text 10"/>
          <p:cNvSpPr/>
          <p:nvPr/>
        </p:nvSpPr>
        <p:spPr>
          <a:xfrm>
            <a:off x="4572000" y="2651760"/>
            <a:ext cx="3017520" cy="114300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On "3, 2, 1." Nobody adjusts to the person next to them.</a:t>
            </a:r>
            <a:endParaRPr lang="en-US" sz="1600" dirty="0"/>
          </a:p>
        </p:txBody>
      </p:sp>
      <p:sp>
        <p:nvSpPr>
          <p:cNvPr id="15" name="Shape 11"/>
          <p:cNvSpPr/>
          <p:nvPr/>
        </p:nvSpPr>
        <p:spPr>
          <a:xfrm>
            <a:off x="8138160" y="1783080"/>
            <a:ext cx="347472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66760" y="193852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514893" y="2086661"/>
            <a:ext cx="252374" cy="252374"/>
          </a:xfrm>
          <a:prstGeom prst="rect">
            <a:avLst/>
          </a:prstGeom>
        </p:spPr>
      </p:pic>
      <p:sp>
        <p:nvSpPr>
          <p:cNvPr id="18" name="Text 13"/>
          <p:cNvSpPr/>
          <p:nvPr/>
        </p:nvSpPr>
        <p:spPr>
          <a:xfrm>
            <a:off x="9052560" y="1938528"/>
            <a:ext cx="2423160" cy="5486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Compare pictures</a:t>
            </a:r>
            <a:endParaRPr lang="en-US" sz="1900" dirty="0"/>
          </a:p>
        </p:txBody>
      </p:sp>
      <p:sp>
        <p:nvSpPr>
          <p:cNvPr id="19" name="Text 14"/>
          <p:cNvSpPr/>
          <p:nvPr/>
        </p:nvSpPr>
        <p:spPr>
          <a:xfrm>
            <a:off x="8366760" y="2651760"/>
            <a:ext cx="3017520" cy="114300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Whatever the numbers, someone says what they pictured.</a:t>
            </a:r>
            <a:endParaRPr lang="en-US" sz="1600" dirty="0"/>
          </a:p>
        </p:txBody>
      </p:sp>
      <p:sp>
        <p:nvSpPr>
          <p:cNvPr id="20" name="click-1"/>
          <p:cNvSpPr/>
          <p:nvPr/>
        </p:nvSpPr>
        <p:spPr>
          <a:xfrm>
            <a:off x="548640" y="4069080"/>
            <a:ext cx="5440680" cy="914400"/>
          </a:xfrm>
          <a:prstGeom prst="roundRect">
            <a:avLst>
              <a:gd name="adj" fmla="val 9000"/>
            </a:avLst>
          </a:prstGeom>
          <a:solidFill>
            <a:srgbClr val="FFFFFF"/>
          </a:solidFill>
          <a:ln/>
          <a:effectLst>
            <a:outerShdw sx="100000" sy="100000" kx="0" ky="0" algn="bl" rotWithShape="0" blurRad="88900" dist="38100" dir="5400000">
              <a:srgbClr val="000000">
                <a:alpha val="13000"/>
              </a:srgbClr>
            </a:outerShdw>
          </a:effectLst>
        </p:spPr>
      </p:sp>
      <p:sp>
        <p:nvSpPr>
          <p:cNvPr id="21" name="click-1"/>
          <p:cNvSpPr/>
          <p:nvPr/>
        </p:nvSpPr>
        <p:spPr>
          <a:xfrm>
            <a:off x="777240" y="406908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The room splits  </a:t>
            </a:r>
            <a:pPr indent="0" marL="0">
              <a:buNone/>
            </a:pPr>
            <a:r>
              <a:rPr lang="en-US" sz="1550" dirty="0">
                <a:solidFill>
                  <a:srgbClr val="1E2A36"/>
                </a:solidFill>
                <a:latin typeface="Calibri" pitchFamily="34" charset="0"/>
                <a:ea typeface="Calibri" pitchFamily="34" charset="-122"/>
                <a:cs typeface="Calibri" pitchFamily="34" charset="-120"/>
              </a:rPr>
              <a:t>Lowest and highest: what did you picture?</a:t>
            </a:r>
            <a:endParaRPr lang="en-US" sz="1550" dirty="0"/>
          </a:p>
        </p:txBody>
      </p:sp>
      <p:sp>
        <p:nvSpPr>
          <p:cNvPr id="22" name="click-1"/>
          <p:cNvSpPr/>
          <p:nvPr/>
        </p:nvSpPr>
        <p:spPr>
          <a:xfrm>
            <a:off x="6172200" y="4069080"/>
            <a:ext cx="5440680" cy="914400"/>
          </a:xfrm>
          <a:prstGeom prst="roundRect">
            <a:avLst>
              <a:gd name="adj" fmla="val 9000"/>
            </a:avLst>
          </a:prstGeom>
          <a:solidFill>
            <a:srgbClr val="FFFFFF"/>
          </a:solidFill>
          <a:ln/>
          <a:effectLst>
            <a:outerShdw sx="100000" sy="100000" kx="0" ky="0" algn="bl" rotWithShape="0" blurRad="88900" dist="38100" dir="5400000">
              <a:srgbClr val="000000">
                <a:alpha val="13000"/>
              </a:srgbClr>
            </a:outerShdw>
          </a:effectLst>
        </p:spPr>
      </p:sp>
      <p:sp>
        <p:nvSpPr>
          <p:cNvPr id="23" name="click-1"/>
          <p:cNvSpPr/>
          <p:nvPr/>
        </p:nvSpPr>
        <p:spPr>
          <a:xfrm>
            <a:off x="6400800" y="406908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Everyone agrees  </a:t>
            </a:r>
            <a:pPr indent="0" marL="0">
              <a:buNone/>
            </a:pPr>
            <a:r>
              <a:rPr lang="en-US" sz="1550" dirty="0">
                <a:solidFill>
                  <a:srgbClr val="1E2A36"/>
                </a:solidFill>
                <a:latin typeface="Calibri" pitchFamily="34" charset="0"/>
                <a:ea typeface="Calibri" pitchFamily="34" charset="-122"/>
                <a:cs typeface="Calibri" pitchFamily="34" charset="-120"/>
              </a:rPr>
              <a:t>One of you: what did you picture? Same number, different work is still unclear.</a:t>
            </a:r>
            <a:endParaRPr lang="en-US" sz="1550" dirty="0"/>
          </a:p>
        </p:txBody>
      </p:sp>
      <p:sp>
        <p:nvSpPr>
          <p:cNvPr id="24" name="click-1"/>
          <p:cNvSpPr/>
          <p:nvPr/>
        </p:nvSpPr>
        <p:spPr>
          <a:xfrm>
            <a:off x="548640" y="5120640"/>
            <a:ext cx="5440680" cy="914400"/>
          </a:xfrm>
          <a:prstGeom prst="roundRect">
            <a:avLst>
              <a:gd name="adj" fmla="val 9000"/>
            </a:avLst>
          </a:prstGeom>
          <a:solidFill>
            <a:srgbClr val="FBEEDA"/>
          </a:solidFill>
          <a:ln/>
          <a:effectLst>
            <a:outerShdw sx="100000" sy="100000" kx="0" ky="0" algn="bl" rotWithShape="0" blurRad="88900" dist="38100" dir="5400000">
              <a:srgbClr val="000000">
                <a:alpha val="13000"/>
              </a:srgbClr>
            </a:outerShdw>
          </a:effectLst>
        </p:spPr>
      </p:sp>
      <p:sp>
        <p:nvSpPr>
          <p:cNvPr id="25" name="click-1"/>
          <p:cNvSpPr/>
          <p:nvPr/>
        </p:nvSpPr>
        <p:spPr>
          <a:xfrm>
            <a:off x="777240" y="512064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Room ≠ maintainer  </a:t>
            </a:r>
            <a:pPr indent="0" marL="0">
              <a:buNone/>
            </a:pPr>
            <a:r>
              <a:rPr lang="en-US" sz="1550" dirty="0">
                <a:solidFill>
                  <a:srgbClr val="1E2A36"/>
                </a:solidFill>
                <a:latin typeface="Calibri" pitchFamily="34" charset="0"/>
                <a:ea typeface="Calibri" pitchFamily="34" charset="-122"/>
                <a:cs typeface="Calibri" pitchFamily="34" charset="-120"/>
              </a:rPr>
              <a:t>What must the maintainer have been assuming?</a:t>
            </a:r>
            <a:endParaRPr lang="en-US" sz="1550" dirty="0"/>
          </a:p>
        </p:txBody>
      </p:sp>
      <p:sp>
        <p:nvSpPr>
          <p:cNvPr id="26" name="click-1"/>
          <p:cNvSpPr/>
          <p:nvPr/>
        </p:nvSpPr>
        <p:spPr>
          <a:xfrm>
            <a:off x="6172200" y="5120640"/>
            <a:ext cx="5440680" cy="914400"/>
          </a:xfrm>
          <a:prstGeom prst="roundRect">
            <a:avLst>
              <a:gd name="adj" fmla="val 9000"/>
            </a:avLst>
          </a:prstGeom>
          <a:solidFill>
            <a:srgbClr val="FFFFFF"/>
          </a:solidFill>
          <a:ln/>
          <a:effectLst>
            <a:outerShdw sx="100000" sy="100000" kx="0" ky="0" algn="bl" rotWithShape="0" blurRad="88900" dist="38100" dir="5400000">
              <a:srgbClr val="000000">
                <a:alpha val="13000"/>
              </a:srgbClr>
            </a:outerShdw>
          </a:effectLst>
        </p:spPr>
      </p:sp>
      <p:sp>
        <p:nvSpPr>
          <p:cNvPr id="27" name="click-1"/>
          <p:cNvSpPr/>
          <p:nvPr/>
        </p:nvSpPr>
        <p:spPr>
          <a:xfrm>
            <a:off x="6400800" y="512064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Nobody can size it  </a:t>
            </a:r>
            <a:pPr indent="0" marL="0">
              <a:buNone/>
            </a:pPr>
            <a:r>
              <a:rPr lang="en-US" sz="1550" dirty="0">
                <a:solidFill>
                  <a:srgbClr val="1E2A36"/>
                </a:solidFill>
                <a:latin typeface="Calibri" pitchFamily="34" charset="0"/>
                <a:ea typeface="Calibri" pitchFamily="34" charset="-122"/>
                <a:cs typeface="Calibri" pitchFamily="34" charset="-120"/>
              </a:rPr>
              <a:t>The text is missing something. What would you need?</a:t>
            </a:r>
            <a:endParaRPr lang="en-US" sz="1550" dirty="0"/>
          </a:p>
        </p:txBody>
      </p:sp>
      <p:sp>
        <p:nvSpPr>
          <p:cNvPr id="28" name="Text 23"/>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9"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DEMO ROUND · ISSUE 1 OF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Size it from the text. Fingers up on 3.</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Show an item's detail page</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good first issue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Acceptance criteria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/items/&lt;id&gt;/ shows name, category,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size, condition, and bin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Each row of the item list links to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missing item returns 404</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Tests cover both</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Where to start: a view beside item_list,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 template beside the list's, a test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modeled on ItemListTests</a:t>
            </a:r>
            <a:endParaRPr lang="en-US" sz="1450" dirty="0"/>
          </a:p>
        </p:txBody>
      </p:sp>
      <p:sp>
        <p:nvSpPr>
          <p:cNvPr id="8" name="click-1"/>
          <p:cNvSpPr/>
          <p:nvPr/>
        </p:nvSpPr>
        <p:spPr>
          <a:xfrm>
            <a:off x="7086600" y="1783080"/>
            <a:ext cx="45262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7360920" y="1874520"/>
            <a:ext cx="2743200" cy="320040"/>
          </a:xfrm>
          <a:prstGeom prst="rect">
            <a:avLst/>
          </a:prstGeom>
          <a:noFill/>
          <a:ln/>
        </p:spPr>
        <p:txBody>
          <a:bodyPr wrap="square" lIns="0" tIns="0" rIns="0" bIns="0" rtlCol="0" anchor="ctr"/>
          <a:lstStyle/>
          <a:p>
            <a:pPr indent="0" marL="0">
              <a:buNone/>
            </a:pPr>
            <a:r>
              <a:rPr lang="en-US" sz="1400" b="1" spc="100" kern="0" dirty="0">
                <a:solidFill>
                  <a:srgbClr val="E8A33D"/>
                </a:solidFill>
                <a:latin typeface="Calibri" pitchFamily="34" charset="0"/>
                <a:ea typeface="Calibri" pitchFamily="34" charset="-122"/>
                <a:cs typeface="Calibri" pitchFamily="34" charset="-120"/>
              </a:rPr>
              <a:t>THE MAINTAINER'S SIZE</a:t>
            </a:r>
            <a:endParaRPr lang="en-US" sz="1400" dirty="0"/>
          </a:p>
        </p:txBody>
      </p:sp>
      <p:sp>
        <p:nvSpPr>
          <p:cNvPr id="10" name="click-1"/>
          <p:cNvSpPr/>
          <p:nvPr/>
        </p:nvSpPr>
        <p:spPr>
          <a:xfrm>
            <a:off x="7360920" y="2240280"/>
            <a:ext cx="2651760" cy="86868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About the size of the item list it sits next to.</a:t>
            </a:r>
            <a:endParaRPr lang="en-US" sz="1500" dirty="0"/>
          </a:p>
        </p:txBody>
      </p:sp>
      <p:sp>
        <p:nvSpPr>
          <p:cNvPr id="11" name="click-1"/>
          <p:cNvSpPr/>
          <p:nvPr/>
        </p:nvSpPr>
        <p:spPr>
          <a:xfrm>
            <a:off x="10104120" y="2011680"/>
            <a:ext cx="1280160" cy="960120"/>
          </a:xfrm>
          <a:prstGeom prst="roundRect">
            <a:avLst>
              <a:gd name="adj" fmla="val 7619"/>
            </a:avLst>
          </a:prstGeom>
          <a:solidFill>
            <a:srgbClr val="E8A33D"/>
          </a:solidFill>
          <a:ln/>
        </p:spPr>
      </p:sp>
      <p:sp>
        <p:nvSpPr>
          <p:cNvPr id="12" name="click-1"/>
          <p:cNvSpPr/>
          <p:nvPr/>
        </p:nvSpPr>
        <p:spPr>
          <a:xfrm>
            <a:off x="10104120" y="2011680"/>
            <a:ext cx="1280160" cy="960120"/>
          </a:xfrm>
          <a:prstGeom prst="rect">
            <a:avLst/>
          </a:prstGeom>
          <a:noFill/>
          <a:ln/>
        </p:spPr>
        <p:txBody>
          <a:bodyPr wrap="square" lIns="0" tIns="0" rIns="0" bIns="0" rtlCol="0" anchor="ctr"/>
          <a:lstStyle/>
          <a:p>
            <a:pPr algn="ctr" indent="0" marL="0">
              <a:buNone/>
            </a:pPr>
            <a:r>
              <a:rPr lang="en-US" sz="2800" b="1" dirty="0">
                <a:solidFill>
                  <a:srgbClr val="14233A"/>
                </a:solidFill>
                <a:latin typeface="Cambria" pitchFamily="34" charset="0"/>
                <a:ea typeface="Cambria" pitchFamily="34" charset="-122"/>
                <a:cs typeface="Cambria" pitchFamily="34" charset="-120"/>
              </a:rPr>
              <a:t>S</a:t>
            </a:r>
            <a:endParaRPr lang="en-US" sz="2800" dirty="0"/>
          </a:p>
        </p:txBody>
      </p:sp>
      <p:sp>
        <p:nvSpPr>
          <p:cNvPr id="13" name="click-2"/>
          <p:cNvSpPr/>
          <p:nvPr/>
        </p:nvSpPr>
        <p:spPr>
          <a:xfrm>
            <a:off x="7086600" y="3383280"/>
            <a:ext cx="452628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7360920" y="3383280"/>
            <a:ext cx="4023360" cy="1600200"/>
          </a:xfrm>
          <a:prstGeom prst="rect">
            <a:avLst/>
          </a:prstGeom>
          <a:noFill/>
          <a:ln/>
        </p:spPr>
        <p:txBody>
          <a:bodyPr wrap="square" lIns="0" tIns="0" rIns="0" bIns="0" rtlCol="0" anchor="ctr"/>
          <a:lstStyle/>
          <a:p>
            <a:pPr indent="0" marL="0">
              <a:lnSpc>
                <a:spcPct val="102000"/>
              </a:lnSpc>
              <a:buNone/>
            </a:pPr>
            <a:r>
              <a:rPr lang="en-US" sz="1600" b="1" dirty="0">
                <a:solidFill>
                  <a:srgbClr val="0E6E6D"/>
                </a:solidFill>
                <a:latin typeface="Calibri" pitchFamily="34" charset="0"/>
                <a:ea typeface="Calibri" pitchFamily="34" charset="-122"/>
                <a:cs typeface="Calibri" pitchFamily="34" charset="-120"/>
              </a:rPr>
              <a:t>What's in the text</a:t>
            </a:r>
            <a:endParaRPr lang="en-US" sz="16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Little. A good first issue with a Where to start can be sized from its own text, by a stranger.</a:t>
            </a:r>
            <a:endParaRPr lang="en-US" sz="1600" dirty="0"/>
          </a:p>
        </p:txBody>
      </p:sp>
      <p:sp>
        <p:nvSpPr>
          <p:cNvPr id="15" name="click-2"/>
          <p:cNvSpPr/>
          <p:nvPr/>
        </p:nvSpPr>
        <p:spPr>
          <a:xfrm>
            <a:off x="7086600" y="5166360"/>
            <a:ext cx="452628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6" name="click-2"/>
          <p:cNvSpPr/>
          <p:nvPr/>
        </p:nvSpPr>
        <p:spPr>
          <a:xfrm>
            <a:off x="7360920" y="5166360"/>
            <a:ext cx="4023360" cy="96012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Ask:  </a:t>
            </a:r>
            <a:pPr indent="0" marL="0">
              <a:buNone/>
            </a:pPr>
            <a:r>
              <a:rPr lang="en-US" sz="1600" i="1" dirty="0">
                <a:solidFill>
                  <a:srgbClr val="1E2A36"/>
                </a:solidFill>
                <a:latin typeface="Calibri" pitchFamily="34" charset="0"/>
                <a:ea typeface="Calibri" pitchFamily="34" charset="-122"/>
                <a:cs typeface="Calibri" pitchFamily="34" charset="-120"/>
              </a:rPr>
              <a:t>Bigger or smaller than the item list was?</a:t>
            </a:r>
            <a:endParaRPr lang="en-US" sz="1600" dirty="0"/>
          </a:p>
        </p:txBody>
      </p:sp>
      <p:sp>
        <p:nvSpPr>
          <p:cNvPr id="17"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DEMO ROUND · ISSUE 2 OF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Size it from the text. Fingers up on 3.</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Record checkouts, at most one open per item</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Goal</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Prop Loft records who has an item, for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which show, and when it's due back.</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Acceptance criteria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Checkout model: item, actor, show,</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due date, optional returned date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The database refuses a second open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checkout (a constraint, not just 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form check)</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Tests: first, refused second, second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after a return</a:t>
            </a:r>
            <a:endParaRPr lang="en-US" sz="1450" dirty="0"/>
          </a:p>
        </p:txBody>
      </p:sp>
      <p:sp>
        <p:nvSpPr>
          <p:cNvPr id="8" name="click-1"/>
          <p:cNvSpPr/>
          <p:nvPr/>
        </p:nvSpPr>
        <p:spPr>
          <a:xfrm>
            <a:off x="7086600" y="1783080"/>
            <a:ext cx="45262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7360920" y="1874520"/>
            <a:ext cx="2743200" cy="320040"/>
          </a:xfrm>
          <a:prstGeom prst="rect">
            <a:avLst/>
          </a:prstGeom>
          <a:noFill/>
          <a:ln/>
        </p:spPr>
        <p:txBody>
          <a:bodyPr wrap="square" lIns="0" tIns="0" rIns="0" bIns="0" rtlCol="0" anchor="ctr"/>
          <a:lstStyle/>
          <a:p>
            <a:pPr indent="0" marL="0">
              <a:buNone/>
            </a:pPr>
            <a:r>
              <a:rPr lang="en-US" sz="1400" b="1" spc="100" kern="0" dirty="0">
                <a:solidFill>
                  <a:srgbClr val="E8A33D"/>
                </a:solidFill>
                <a:latin typeface="Calibri" pitchFamily="34" charset="0"/>
                <a:ea typeface="Calibri" pitchFamily="34" charset="-122"/>
                <a:cs typeface="Calibri" pitchFamily="34" charset="-120"/>
              </a:rPr>
              <a:t>THE MAINTAINER'S SIZE</a:t>
            </a:r>
            <a:endParaRPr lang="en-US" sz="1400" dirty="0"/>
          </a:p>
        </p:txBody>
      </p:sp>
      <p:sp>
        <p:nvSpPr>
          <p:cNvPr id="10" name="click-1"/>
          <p:cNvSpPr/>
          <p:nvPr/>
        </p:nvSpPr>
        <p:spPr>
          <a:xfrm>
            <a:off x="7360920" y="2240280"/>
            <a:ext cx="2651760" cy="86868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Two or three sittings, once the constraint is counted.</a:t>
            </a:r>
            <a:endParaRPr lang="en-US" sz="1500" dirty="0"/>
          </a:p>
        </p:txBody>
      </p:sp>
      <p:sp>
        <p:nvSpPr>
          <p:cNvPr id="11" name="click-1"/>
          <p:cNvSpPr/>
          <p:nvPr/>
        </p:nvSpPr>
        <p:spPr>
          <a:xfrm>
            <a:off x="10104120" y="2011680"/>
            <a:ext cx="1280160" cy="960120"/>
          </a:xfrm>
          <a:prstGeom prst="roundRect">
            <a:avLst>
              <a:gd name="adj" fmla="val 7619"/>
            </a:avLst>
          </a:prstGeom>
          <a:solidFill>
            <a:srgbClr val="E8A33D"/>
          </a:solidFill>
          <a:ln/>
        </p:spPr>
      </p:sp>
      <p:sp>
        <p:nvSpPr>
          <p:cNvPr id="12" name="click-1"/>
          <p:cNvSpPr/>
          <p:nvPr/>
        </p:nvSpPr>
        <p:spPr>
          <a:xfrm>
            <a:off x="10104120" y="2011680"/>
            <a:ext cx="1280160" cy="960120"/>
          </a:xfrm>
          <a:prstGeom prst="rect">
            <a:avLst/>
          </a:prstGeom>
          <a:noFill/>
          <a:ln/>
        </p:spPr>
        <p:txBody>
          <a:bodyPr wrap="square" lIns="0" tIns="0" rIns="0" bIns="0" rtlCol="0" anchor="ctr"/>
          <a:lstStyle/>
          <a:p>
            <a:pPr algn="ctr" indent="0" marL="0">
              <a:buNone/>
            </a:pPr>
            <a:r>
              <a:rPr lang="en-US" sz="2800" b="1" dirty="0">
                <a:solidFill>
                  <a:srgbClr val="14233A"/>
                </a:solidFill>
                <a:latin typeface="Cambria" pitchFamily="34" charset="0"/>
                <a:ea typeface="Cambria" pitchFamily="34" charset="-122"/>
                <a:cs typeface="Cambria" pitchFamily="34" charset="-120"/>
              </a:rPr>
              <a:t>M</a:t>
            </a:r>
            <a:endParaRPr lang="en-US" sz="2800" dirty="0"/>
          </a:p>
        </p:txBody>
      </p:sp>
      <p:sp>
        <p:nvSpPr>
          <p:cNvPr id="13" name="click-2"/>
          <p:cNvSpPr/>
          <p:nvPr/>
        </p:nvSpPr>
        <p:spPr>
          <a:xfrm>
            <a:off x="7086600" y="3383280"/>
            <a:ext cx="452628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7360920" y="3383280"/>
            <a:ext cx="4023360" cy="1600200"/>
          </a:xfrm>
          <a:prstGeom prst="rect">
            <a:avLst/>
          </a:prstGeom>
          <a:noFill/>
          <a:ln/>
        </p:spPr>
        <p:txBody>
          <a:bodyPr wrap="square" lIns="0" tIns="0" rIns="0" bIns="0" rtlCol="0" anchor="ctr"/>
          <a:lstStyle/>
          <a:p>
            <a:pPr indent="0" marL="0">
              <a:lnSpc>
                <a:spcPct val="102000"/>
              </a:lnSpc>
              <a:buNone/>
            </a:pPr>
            <a:r>
              <a:rPr lang="en-US" sz="1600" b="1" dirty="0">
                <a:solidFill>
                  <a:srgbClr val="0E6E6D"/>
                </a:solidFill>
                <a:latin typeface="Calibri" pitchFamily="34" charset="0"/>
                <a:ea typeface="Calibri" pitchFamily="34" charset="-122"/>
                <a:cs typeface="Calibri" pitchFamily="34" charset="-120"/>
              </a:rPr>
              <a:t>What's in the text</a:t>
            </a:r>
            <a:endParaRPr lang="en-US" sz="16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It reads like one model with five fields. The second criterion asks the database to refuse, because three volunteers return items at once on strike night (design §6).</a:t>
            </a:r>
            <a:endParaRPr lang="en-US" sz="1600" dirty="0"/>
          </a:p>
        </p:txBody>
      </p:sp>
      <p:sp>
        <p:nvSpPr>
          <p:cNvPr id="15" name="click-2"/>
          <p:cNvSpPr/>
          <p:nvPr/>
        </p:nvSpPr>
        <p:spPr>
          <a:xfrm>
            <a:off x="7086600" y="5166360"/>
            <a:ext cx="452628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6" name="click-2"/>
          <p:cNvSpPr/>
          <p:nvPr/>
        </p:nvSpPr>
        <p:spPr>
          <a:xfrm>
            <a:off x="7360920" y="5166360"/>
            <a:ext cx="4023360" cy="96012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Ask:  </a:t>
            </a:r>
            <a:pPr indent="0" marL="0">
              <a:buNone/>
            </a:pPr>
            <a:r>
              <a:rPr lang="en-US" sz="1600" i="1" dirty="0">
                <a:solidFill>
                  <a:srgbClr val="1E2A36"/>
                </a:solidFill>
                <a:latin typeface="Calibri" pitchFamily="34" charset="0"/>
                <a:ea typeface="Calibri" pitchFamily="34" charset="-122"/>
                <a:cs typeface="Calibri" pitchFamily="34" charset="-120"/>
              </a:rPr>
              <a:t>What stops a second checkout of the same item?</a:t>
            </a:r>
            <a:endParaRPr lang="en-US" sz="1600" dirty="0"/>
          </a:p>
        </p:txBody>
      </p:sp>
      <p:sp>
        <p:nvSpPr>
          <p:cNvPr id="17"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DEMO ROUND · ISSUE 3 OF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Size it from the text. Fingers up on 3.</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Check an item out from its page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Goal</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 volunteer checks an item out to an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actor for a show, from its page.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Context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Design §4, Web UI and Checkout.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Needs the checkout model and the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detail page.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Acceptance criteria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form: actor, show, due date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Already out: show who has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failed save keeps what was typed</a:t>
            </a:r>
            <a:endParaRPr lang="en-US" sz="1450" dirty="0"/>
          </a:p>
        </p:txBody>
      </p:sp>
      <p:sp>
        <p:nvSpPr>
          <p:cNvPr id="8" name="click-1"/>
          <p:cNvSpPr/>
          <p:nvPr/>
        </p:nvSpPr>
        <p:spPr>
          <a:xfrm>
            <a:off x="7086600" y="1783080"/>
            <a:ext cx="45262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7360920" y="1874520"/>
            <a:ext cx="2743200" cy="320040"/>
          </a:xfrm>
          <a:prstGeom prst="rect">
            <a:avLst/>
          </a:prstGeom>
          <a:noFill/>
          <a:ln/>
        </p:spPr>
        <p:txBody>
          <a:bodyPr wrap="square" lIns="0" tIns="0" rIns="0" bIns="0" rtlCol="0" anchor="ctr"/>
          <a:lstStyle/>
          <a:p>
            <a:pPr indent="0" marL="0">
              <a:buNone/>
            </a:pPr>
            <a:r>
              <a:rPr lang="en-US" sz="1400" b="1" spc="100" kern="0" dirty="0">
                <a:solidFill>
                  <a:srgbClr val="E8A33D"/>
                </a:solidFill>
                <a:latin typeface="Calibri" pitchFamily="34" charset="0"/>
                <a:ea typeface="Calibri" pitchFamily="34" charset="-122"/>
                <a:cs typeface="Calibri" pitchFamily="34" charset="-120"/>
              </a:rPr>
              <a:t>THE MAINTAINER'S SIZE</a:t>
            </a:r>
            <a:endParaRPr lang="en-US" sz="1400" dirty="0"/>
          </a:p>
        </p:txBody>
      </p:sp>
      <p:sp>
        <p:nvSpPr>
          <p:cNvPr id="10" name="click-1"/>
          <p:cNvSpPr/>
          <p:nvPr/>
        </p:nvSpPr>
        <p:spPr>
          <a:xfrm>
            <a:off x="7360920" y="2240280"/>
            <a:ext cx="2651760" cy="86868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L as the design reads, with HTMX. M with plain forms.</a:t>
            </a:r>
            <a:endParaRPr lang="en-US" sz="1500" dirty="0"/>
          </a:p>
        </p:txBody>
      </p:sp>
      <p:sp>
        <p:nvSpPr>
          <p:cNvPr id="11" name="click-1"/>
          <p:cNvSpPr/>
          <p:nvPr/>
        </p:nvSpPr>
        <p:spPr>
          <a:xfrm>
            <a:off x="10104120" y="2011680"/>
            <a:ext cx="1280160" cy="960120"/>
          </a:xfrm>
          <a:prstGeom prst="roundRect">
            <a:avLst>
              <a:gd name="adj" fmla="val 7619"/>
            </a:avLst>
          </a:prstGeom>
          <a:solidFill>
            <a:srgbClr val="E8A33D"/>
          </a:solidFill>
          <a:ln/>
        </p:spPr>
      </p:sp>
      <p:sp>
        <p:nvSpPr>
          <p:cNvPr id="12" name="click-1"/>
          <p:cNvSpPr/>
          <p:nvPr/>
        </p:nvSpPr>
        <p:spPr>
          <a:xfrm>
            <a:off x="10104120" y="2011680"/>
            <a:ext cx="1280160" cy="960120"/>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L / M</a:t>
            </a:r>
            <a:endParaRPr lang="en-US" sz="1800" dirty="0"/>
          </a:p>
        </p:txBody>
      </p:sp>
      <p:sp>
        <p:nvSpPr>
          <p:cNvPr id="13" name="click-2"/>
          <p:cNvSpPr/>
          <p:nvPr/>
        </p:nvSpPr>
        <p:spPr>
          <a:xfrm>
            <a:off x="7086600" y="3383280"/>
            <a:ext cx="452628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7360920" y="3383280"/>
            <a:ext cx="4023360" cy="1600200"/>
          </a:xfrm>
          <a:prstGeom prst="rect">
            <a:avLst/>
          </a:prstGeom>
          <a:noFill/>
          <a:ln/>
        </p:spPr>
        <p:txBody>
          <a:bodyPr wrap="square" lIns="0" tIns="0" rIns="0" bIns="0" rtlCol="0" anchor="ctr"/>
          <a:lstStyle/>
          <a:p>
            <a:pPr indent="0" marL="0">
              <a:lnSpc>
                <a:spcPct val="102000"/>
              </a:lnSpc>
              <a:buNone/>
            </a:pPr>
            <a:r>
              <a:rPr lang="en-US" sz="1600" b="1" dirty="0">
                <a:solidFill>
                  <a:srgbClr val="0E6E6D"/>
                </a:solidFill>
                <a:latin typeface="Calibri" pitchFamily="34" charset="0"/>
                <a:ea typeface="Calibri" pitchFamily="34" charset="-122"/>
                <a:cs typeface="Calibri" pitchFamily="34" charset="-120"/>
              </a:rPr>
              <a:t>What's in the text</a:t>
            </a:r>
            <a:endParaRPr lang="en-US" sz="16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Design §6 picks HTMX for the web UI; §7 says it's new to both authors, with a four-hour learning box and plain forms as the fallback.</a:t>
            </a:r>
            <a:endParaRPr lang="en-US" sz="1600" dirty="0"/>
          </a:p>
        </p:txBody>
      </p:sp>
      <p:sp>
        <p:nvSpPr>
          <p:cNvPr id="15" name="click-2"/>
          <p:cNvSpPr/>
          <p:nvPr/>
        </p:nvSpPr>
        <p:spPr>
          <a:xfrm>
            <a:off x="7086600" y="5166360"/>
            <a:ext cx="452628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6" name="click-2"/>
          <p:cNvSpPr/>
          <p:nvPr/>
        </p:nvSpPr>
        <p:spPr>
          <a:xfrm>
            <a:off x="7360920" y="5166360"/>
            <a:ext cx="4023360" cy="96012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Ask:  </a:t>
            </a:r>
            <a:pPr indent="0" marL="0">
              <a:buNone/>
            </a:pPr>
            <a:r>
              <a:rPr lang="en-US" sz="1600" i="1" dirty="0">
                <a:solidFill>
                  <a:srgbClr val="1E2A36"/>
                </a:solidFill>
                <a:latin typeface="Calibri" pitchFamily="34" charset="0"/>
                <a:ea typeface="Calibri" pitchFamily="34" charset="-122"/>
                <a:cs typeface="Calibri" pitchFamily="34" charset="-120"/>
              </a:rPr>
              <a:t>Did you picture HTMX or a plain form? Have you used HTMX?</a:t>
            </a:r>
            <a:endParaRPr lang="en-US" sz="1600" dirty="0"/>
          </a:p>
        </p:txBody>
      </p:sp>
      <p:sp>
        <p:nvSpPr>
          <p:cNvPr id="17"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WHAT THE VOTE WAS FOR</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 size disagreement is a picture disagreement</a:t>
            </a:r>
            <a:endParaRPr lang="en-US" sz="3200" dirty="0"/>
          </a:p>
        </p:txBody>
      </p:sp>
      <p:sp>
        <p:nvSpPr>
          <p:cNvPr id="6" name="click-1"/>
          <p:cNvSpPr/>
          <p:nvPr/>
        </p:nvSpPr>
        <p:spPr>
          <a:xfrm>
            <a:off x="548640" y="178308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7" name="click-1"/>
          <p:cNvSpPr/>
          <p:nvPr/>
        </p:nvSpPr>
        <p:spPr>
          <a:xfrm>
            <a:off x="868680" y="1783080"/>
            <a:ext cx="10424160" cy="10241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Nobody was bad at estimating.  </a:t>
            </a:r>
            <a:pPr indent="0" marL="0">
              <a:buNone/>
            </a:pPr>
            <a:r>
              <a:rPr lang="en-US" sz="1900" dirty="0">
                <a:solidFill>
                  <a:srgbClr val="CFE0E9"/>
                </a:solidFill>
                <a:latin typeface="Calibri" pitchFamily="34" charset="0"/>
                <a:ea typeface="Calibri" pitchFamily="34" charset="-122"/>
                <a:cs typeface="Calibri" pitchFamily="34" charset="-120"/>
              </a:rPr>
              <a:t>They were estimating different work.</a:t>
            </a:r>
            <a:endParaRPr lang="en-US" sz="1900" dirty="0"/>
          </a:p>
        </p:txBody>
      </p:sp>
      <p:sp>
        <p:nvSpPr>
          <p:cNvPr id="8" name="click-2"/>
          <p:cNvSpPr/>
          <p:nvPr/>
        </p:nvSpPr>
        <p:spPr>
          <a:xfrm>
            <a:off x="548640" y="297180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9" name="click-2"/>
          <p:cNvSpPr/>
          <p:nvPr/>
        </p:nvSpPr>
        <p:spPr>
          <a:xfrm>
            <a:off x="868680" y="2971800"/>
            <a:ext cx="10424160" cy="10241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issue's text decides which work it is.  </a:t>
            </a:r>
            <a:pPr indent="0" marL="0">
              <a:buNone/>
            </a:pPr>
            <a:r>
              <a:rPr lang="en-US" sz="1900" dirty="0">
                <a:solidFill>
                  <a:srgbClr val="CFE0E9"/>
                </a:solidFill>
                <a:latin typeface="Calibri" pitchFamily="34" charset="0"/>
                <a:ea typeface="Calibri" pitchFamily="34" charset="-122"/>
                <a:cs typeface="Calibri" pitchFamily="34" charset="-120"/>
              </a:rPr>
              <a:t>If it can't, it needs another acceptance criterion.</a:t>
            </a:r>
            <a:endParaRPr lang="en-US" sz="1900" dirty="0"/>
          </a:p>
        </p:txBody>
      </p:sp>
      <p:sp>
        <p:nvSpPr>
          <p:cNvPr id="10" name="click-3"/>
          <p:cNvSpPr/>
          <p:nvPr/>
        </p:nvSpPr>
        <p:spPr>
          <a:xfrm>
            <a:off x="548640" y="416052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11" name="click-3"/>
          <p:cNvSpPr/>
          <p:nvPr/>
        </p:nvSpPr>
        <p:spPr>
          <a:xfrm>
            <a:off x="868680" y="4160520"/>
            <a:ext cx="10424160" cy="10241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number matters less than the picture.  </a:t>
            </a:r>
            <a:pPr indent="0" marL="0">
              <a:buNone/>
            </a:pPr>
            <a:r>
              <a:rPr lang="en-US" sz="1900" dirty="0">
                <a:solidFill>
                  <a:srgbClr val="CFE0E9"/>
                </a:solidFill>
                <a:latin typeface="Calibri" pitchFamily="34" charset="0"/>
                <a:ea typeface="Calibri" pitchFamily="34" charset="-122"/>
                <a:cs typeface="Calibri" pitchFamily="34" charset="-120"/>
              </a:rPr>
              <a:t>Write the agreed picture down, where the next reader will see it.</a:t>
            </a:r>
            <a:endParaRPr lang="en-US" sz="1900" dirty="0"/>
          </a:p>
        </p:txBody>
      </p:sp>
      <p:sp>
        <p:nvSpPr>
          <p:cNvPr id="12" name="click-4"/>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3" name="click-4"/>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Working solo? Trade with your review partner: each sizes the other's milestone cold.</a:t>
            </a:r>
            <a:endParaRPr lang="en-US" sz="1700" dirty="0"/>
          </a:p>
        </p:txBody>
      </p:sp>
      <p:sp>
        <p:nvSpPr>
          <p:cNvPr id="14" name="Text 12"/>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BUDGET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Count the hours that actually exist</a:t>
            </a:r>
            <a:endParaRPr lang="en-US" sz="3100" dirty="0"/>
          </a:p>
        </p:txBody>
      </p:sp>
      <p:sp>
        <p:nvSpPr>
          <p:cNvPr id="5" name="Shape 3"/>
          <p:cNvSpPr/>
          <p:nvPr/>
        </p:nvSpPr>
        <p:spPr>
          <a:xfrm>
            <a:off x="548640" y="1783080"/>
            <a:ext cx="11064240" cy="1188720"/>
          </a:xfrm>
          <a:prstGeom prst="roundRect">
            <a:avLst>
              <a:gd name="adj" fmla="val 6923"/>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1188720"/>
          </a:xfrm>
          <a:prstGeom prst="rect">
            <a:avLst/>
          </a:prstGeom>
          <a:noFill/>
          <a:ln/>
        </p:spPr>
        <p:txBody>
          <a:bodyPr wrap="square" lIns="0" tIns="0" rIns="0" bIns="0" rtlCol="0" anchor="ctr"/>
          <a:lstStyle/>
          <a:p>
            <a:pPr indent="0" marL="0">
              <a:lnSpc>
                <a:spcPct val="110000"/>
              </a:lnSpc>
              <a:buNone/>
            </a:pPr>
            <a:r>
              <a:rPr lang="en-US" sz="2200" b="1" dirty="0">
                <a:solidFill>
                  <a:srgbClr val="FFFFFF"/>
                </a:solidFill>
                <a:latin typeface="Calibri" pitchFamily="34" charset="0"/>
                <a:ea typeface="Calibri" pitchFamily="34" charset="-122"/>
                <a:cs typeface="Calibri" pitchFamily="34" charset="-120"/>
              </a:rPr>
              <a:t>people  ×  hours a week  ×  weeks  −  review</a:t>
            </a:r>
            <a:endParaRPr lang="en-US" sz="2200" dirty="0"/>
          </a:p>
          <a:p>
            <a:pPr indent="0" marL="0">
              <a:lnSpc>
                <a:spcPct val="110000"/>
              </a:lnSpc>
              <a:buNone/>
            </a:pPr>
            <a:r>
              <a:rPr lang="en-US" sz="1600" dirty="0">
                <a:solidFill>
                  <a:srgbClr val="CFE0E9"/>
                </a:solidFill>
                <a:latin typeface="Calibri" pitchFamily="34" charset="0"/>
                <a:ea typeface="Calibri" pitchFamily="34" charset="-122"/>
                <a:cs typeface="Calibri" pitchFamily="34" charset="-120"/>
              </a:rPr>
              <a:t>Every change goes through a pull request, so review is real time. Count it.</a:t>
            </a:r>
            <a:endParaRPr lang="en-US" sz="2200" dirty="0"/>
          </a:p>
        </p:txBody>
      </p:sp>
      <p:sp>
        <p:nvSpPr>
          <p:cNvPr id="7" name="click-1"/>
          <p:cNvSpPr/>
          <p:nvPr/>
        </p:nvSpPr>
        <p:spPr>
          <a:xfrm>
            <a:off x="548640" y="3200400"/>
            <a:ext cx="3474720" cy="2240280"/>
          </a:xfrm>
          <a:prstGeom prst="roundRect">
            <a:avLst>
              <a:gd name="adj" fmla="val 3673"/>
            </a:avLst>
          </a:prstGeom>
          <a:solidFill>
            <a:srgbClr val="F2F6F8"/>
          </a:solidFill>
          <a:ln/>
          <a:effectLst>
            <a:outerShdw sx="100000" sy="100000" kx="0" ky="0" algn="bl" rotWithShape="0" blurRad="88900" dist="38100" dir="5400000">
              <a:srgbClr val="000000">
                <a:alpha val="13000"/>
              </a:srgbClr>
            </a:outerShdw>
          </a:effectLst>
        </p:spPr>
      </p:sp>
      <p:sp>
        <p:nvSpPr>
          <p:cNvPr id="8" name="click-1"/>
          <p:cNvSpPr/>
          <p:nvPr/>
        </p:nvSpPr>
        <p:spPr>
          <a:xfrm>
            <a:off x="777240" y="3291840"/>
            <a:ext cx="30175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Solo founder</a:t>
            </a:r>
            <a:endParaRPr lang="en-US" sz="1800" dirty="0"/>
          </a:p>
        </p:txBody>
      </p:sp>
      <p:sp>
        <p:nvSpPr>
          <p:cNvPr id="9" name="click-1"/>
          <p:cNvSpPr/>
          <p:nvPr/>
        </p:nvSpPr>
        <p:spPr>
          <a:xfrm>
            <a:off x="777240" y="3749040"/>
            <a:ext cx="3017520" cy="411480"/>
          </a:xfrm>
          <a:prstGeom prst="rect">
            <a:avLst/>
          </a:prstGeom>
          <a:noFill/>
          <a:ln/>
        </p:spPr>
        <p:txBody>
          <a:bodyPr wrap="square" lIns="0" tIns="0" rIns="0" bIns="0" rtlCol="0" anchor="ctr"/>
          <a:lstStyle/>
          <a:p>
            <a:pPr indent="0" marL="0">
              <a:buNone/>
            </a:pPr>
            <a:r>
              <a:rPr lang="en-US" sz="1700" dirty="0">
                <a:solidFill>
                  <a:srgbClr val="5F7284"/>
                </a:solidFill>
                <a:latin typeface="Calibri" pitchFamily="34" charset="0"/>
                <a:ea typeface="Calibri" pitchFamily="34" charset="-122"/>
                <a:cs typeface="Calibri" pitchFamily="34" charset="-120"/>
              </a:rPr>
              <a:t>1 × 7 × 2</a:t>
            </a:r>
            <a:endParaRPr lang="en-US" sz="1700" dirty="0"/>
          </a:p>
        </p:txBody>
      </p:sp>
      <p:sp>
        <p:nvSpPr>
          <p:cNvPr id="10" name="click-1"/>
          <p:cNvSpPr/>
          <p:nvPr/>
        </p:nvSpPr>
        <p:spPr>
          <a:xfrm>
            <a:off x="777240" y="4160520"/>
            <a:ext cx="3017520"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14 hours</a:t>
            </a:r>
            <a:endParaRPr lang="en-US" sz="2600" dirty="0"/>
          </a:p>
        </p:txBody>
      </p:sp>
      <p:sp>
        <p:nvSpPr>
          <p:cNvPr id="11" name="click-1"/>
          <p:cNvSpPr/>
          <p:nvPr/>
        </p:nvSpPr>
        <p:spPr>
          <a:xfrm>
            <a:off x="777240" y="4709160"/>
            <a:ext cx="3017520" cy="68580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About 12 after review</a:t>
            </a:r>
            <a:endParaRPr lang="en-US" sz="1500" dirty="0"/>
          </a:p>
        </p:txBody>
      </p:sp>
      <p:sp>
        <p:nvSpPr>
          <p:cNvPr id="12" name="click-2"/>
          <p:cNvSpPr/>
          <p:nvPr/>
        </p:nvSpPr>
        <p:spPr>
          <a:xfrm>
            <a:off x="4343400" y="3200400"/>
            <a:ext cx="3474720" cy="2240280"/>
          </a:xfrm>
          <a:prstGeom prst="roundRect">
            <a:avLst>
              <a:gd name="adj" fmla="val 3673"/>
            </a:avLst>
          </a:prstGeom>
          <a:solidFill>
            <a:srgbClr val="F2F6F8"/>
          </a:solidFill>
          <a:ln/>
          <a:effectLst>
            <a:outerShdw sx="100000" sy="100000" kx="0" ky="0" algn="bl" rotWithShape="0" blurRad="88900" dist="38100" dir="5400000">
              <a:srgbClr val="000000">
                <a:alpha val="13000"/>
              </a:srgbClr>
            </a:outerShdw>
          </a:effectLst>
        </p:spPr>
      </p:sp>
      <p:sp>
        <p:nvSpPr>
          <p:cNvPr id="13" name="click-2"/>
          <p:cNvSpPr/>
          <p:nvPr/>
        </p:nvSpPr>
        <p:spPr>
          <a:xfrm>
            <a:off x="4572000" y="3291840"/>
            <a:ext cx="30175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 team of three</a:t>
            </a:r>
            <a:endParaRPr lang="en-US" sz="1800" dirty="0"/>
          </a:p>
        </p:txBody>
      </p:sp>
      <p:sp>
        <p:nvSpPr>
          <p:cNvPr id="14" name="click-2"/>
          <p:cNvSpPr/>
          <p:nvPr/>
        </p:nvSpPr>
        <p:spPr>
          <a:xfrm>
            <a:off x="4572000" y="3749040"/>
            <a:ext cx="3017520" cy="411480"/>
          </a:xfrm>
          <a:prstGeom prst="rect">
            <a:avLst/>
          </a:prstGeom>
          <a:noFill/>
          <a:ln/>
        </p:spPr>
        <p:txBody>
          <a:bodyPr wrap="square" lIns="0" tIns="0" rIns="0" bIns="0" rtlCol="0" anchor="ctr"/>
          <a:lstStyle/>
          <a:p>
            <a:pPr indent="0" marL="0">
              <a:buNone/>
            </a:pPr>
            <a:r>
              <a:rPr lang="en-US" sz="1700" dirty="0">
                <a:solidFill>
                  <a:srgbClr val="5F7284"/>
                </a:solidFill>
                <a:latin typeface="Calibri" pitchFamily="34" charset="0"/>
                <a:ea typeface="Calibri" pitchFamily="34" charset="-122"/>
                <a:cs typeface="Calibri" pitchFamily="34" charset="-120"/>
              </a:rPr>
              <a:t>3 × 7 × 2</a:t>
            </a:r>
            <a:endParaRPr lang="en-US" sz="1700" dirty="0"/>
          </a:p>
        </p:txBody>
      </p:sp>
      <p:sp>
        <p:nvSpPr>
          <p:cNvPr id="15" name="click-2"/>
          <p:cNvSpPr/>
          <p:nvPr/>
        </p:nvSpPr>
        <p:spPr>
          <a:xfrm>
            <a:off x="4572000" y="4160520"/>
            <a:ext cx="3017520"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42 hours</a:t>
            </a:r>
            <a:endParaRPr lang="en-US" sz="2600" dirty="0"/>
          </a:p>
        </p:txBody>
      </p:sp>
      <p:sp>
        <p:nvSpPr>
          <p:cNvPr id="16" name="click-2"/>
          <p:cNvSpPr/>
          <p:nvPr/>
        </p:nvSpPr>
        <p:spPr>
          <a:xfrm>
            <a:off x="4572000" y="4709160"/>
            <a:ext cx="3017520" cy="68580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Review is a bigger slice: someone reads every PR</a:t>
            </a:r>
            <a:endParaRPr lang="en-US" sz="1500" dirty="0"/>
          </a:p>
        </p:txBody>
      </p:sp>
      <p:sp>
        <p:nvSpPr>
          <p:cNvPr id="17" name="click-3"/>
          <p:cNvSpPr/>
          <p:nvPr/>
        </p:nvSpPr>
        <p:spPr>
          <a:xfrm>
            <a:off x="8138160" y="3200400"/>
            <a:ext cx="3474720" cy="2240280"/>
          </a:xfrm>
          <a:prstGeom prst="roundRect">
            <a:avLst>
              <a:gd name="adj" fmla="val 3673"/>
            </a:avLst>
          </a:prstGeom>
          <a:solidFill>
            <a:srgbClr val="FBEEDA"/>
          </a:solidFill>
          <a:ln/>
          <a:effectLst>
            <a:outerShdw sx="100000" sy="100000" kx="0" ky="0" algn="bl" rotWithShape="0" blurRad="88900" dist="38100" dir="5400000">
              <a:srgbClr val="000000">
                <a:alpha val="13000"/>
              </a:srgbClr>
            </a:outerShdw>
          </a:effectLst>
        </p:spPr>
      </p:sp>
      <p:sp>
        <p:nvSpPr>
          <p:cNvPr id="18" name="click-3"/>
          <p:cNvSpPr/>
          <p:nvPr/>
        </p:nvSpPr>
        <p:spPr>
          <a:xfrm>
            <a:off x="8366760" y="3291840"/>
            <a:ext cx="30175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Prop Loft</a:t>
            </a:r>
            <a:endParaRPr lang="en-US" sz="1800" dirty="0"/>
          </a:p>
        </p:txBody>
      </p:sp>
      <p:sp>
        <p:nvSpPr>
          <p:cNvPr id="19" name="click-3"/>
          <p:cNvSpPr/>
          <p:nvPr/>
        </p:nvSpPr>
        <p:spPr>
          <a:xfrm>
            <a:off x="8366760" y="3749040"/>
            <a:ext cx="3017520" cy="411480"/>
          </a:xfrm>
          <a:prstGeom prst="rect">
            <a:avLst/>
          </a:prstGeom>
          <a:noFill/>
          <a:ln/>
        </p:spPr>
        <p:txBody>
          <a:bodyPr wrap="square" lIns="0" tIns="0" rIns="0" bIns="0" rtlCol="0" anchor="ctr"/>
          <a:lstStyle/>
          <a:p>
            <a:pPr indent="0" marL="0">
              <a:buNone/>
            </a:pPr>
            <a:r>
              <a:rPr lang="en-US" sz="1700" dirty="0">
                <a:solidFill>
                  <a:srgbClr val="5F7284"/>
                </a:solidFill>
                <a:latin typeface="Calibri" pitchFamily="34" charset="0"/>
                <a:ea typeface="Calibri" pitchFamily="34" charset="-122"/>
                <a:cs typeface="Calibri" pitchFamily="34" charset="-120"/>
              </a:rPr>
              <a:t>1 × 10 × 2</a:t>
            </a:r>
            <a:endParaRPr lang="en-US" sz="1700" dirty="0"/>
          </a:p>
        </p:txBody>
      </p:sp>
      <p:sp>
        <p:nvSpPr>
          <p:cNvPr id="20" name="click-3"/>
          <p:cNvSpPr/>
          <p:nvPr/>
        </p:nvSpPr>
        <p:spPr>
          <a:xfrm>
            <a:off x="8366760" y="4160520"/>
            <a:ext cx="3017520"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20 hours</a:t>
            </a:r>
            <a:endParaRPr lang="en-US" sz="2600" dirty="0"/>
          </a:p>
        </p:txBody>
      </p:sp>
      <p:sp>
        <p:nvSpPr>
          <p:cNvPr id="21" name="click-3"/>
          <p:cNvSpPr/>
          <p:nvPr/>
        </p:nvSpPr>
        <p:spPr>
          <a:xfrm>
            <a:off x="8366760" y="4709160"/>
            <a:ext cx="3017520" cy="68580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The maintainer isn't taking a class: count their real hours</a:t>
            </a:r>
            <a:endParaRPr lang="en-US" sz="1500" dirty="0"/>
          </a:p>
        </p:txBody>
      </p:sp>
      <p:sp>
        <p:nvSpPr>
          <p:cNvPr id="22" name="Text 20"/>
          <p:cNvSpPr/>
          <p:nvPr/>
        </p:nvSpPr>
        <p:spPr>
          <a:xfrm>
            <a:off x="548640" y="5669280"/>
            <a:ext cx="11064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Seven is the outside hours a week the course's ten-hour load leaves after class. Two weeks is today to the progress demo.</a:t>
            </a:r>
            <a:endParaRPr lang="en-US" sz="1500" dirty="0"/>
          </a:p>
        </p:txBody>
      </p:sp>
      <p:sp>
        <p:nvSpPr>
          <p:cNvPr id="23" name="Text 21"/>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8"/>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FIRST MILESTONE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maintainer's sizes, against 20 hours</a:t>
            </a:r>
            <a:endParaRPr lang="en-US" sz="3100" dirty="0"/>
          </a:p>
        </p:txBody>
      </p:sp>
      <p:sp>
        <p:nvSpPr>
          <p:cNvPr id="5" name="Text 3"/>
          <p:cNvSpPr/>
          <p:nvPr/>
        </p:nvSpPr>
        <p:spPr>
          <a:xfrm>
            <a:off x="777240" y="1691640"/>
            <a:ext cx="5486400" cy="27432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ISSUE</a:t>
            </a:r>
            <a:endParaRPr lang="en-US" sz="1400" dirty="0"/>
          </a:p>
        </p:txBody>
      </p:sp>
      <p:sp>
        <p:nvSpPr>
          <p:cNvPr id="6" name="Text 4"/>
          <p:cNvSpPr/>
          <p:nvPr/>
        </p:nvSpPr>
        <p:spPr>
          <a:xfrm>
            <a:off x="7315200" y="1691640"/>
            <a:ext cx="1005840" cy="274320"/>
          </a:xfrm>
          <a:prstGeom prst="rect">
            <a:avLst/>
          </a:prstGeom>
          <a:noFill/>
          <a:ln/>
        </p:spPr>
        <p:txBody>
          <a:bodyPr wrap="square" lIns="0" tIns="0" rIns="0" bIns="0" rtlCol="0" anchor="ctr"/>
          <a:lstStyle/>
          <a:p>
            <a:pPr algn="ctr" indent="0" marL="0">
              <a:buNone/>
            </a:pPr>
            <a:r>
              <a:rPr lang="en-US" sz="1400" b="1" spc="200" kern="0" dirty="0">
                <a:solidFill>
                  <a:srgbClr val="5F7284"/>
                </a:solidFill>
                <a:latin typeface="Calibri" pitchFamily="34" charset="0"/>
                <a:ea typeface="Calibri" pitchFamily="34" charset="-122"/>
                <a:cs typeface="Calibri" pitchFamily="34" charset="-120"/>
              </a:rPr>
              <a:t>SIZE</a:t>
            </a:r>
            <a:endParaRPr lang="en-US" sz="1400" dirty="0"/>
          </a:p>
        </p:txBody>
      </p:sp>
      <p:sp>
        <p:nvSpPr>
          <p:cNvPr id="7" name="Text 5"/>
          <p:cNvSpPr/>
          <p:nvPr/>
        </p:nvSpPr>
        <p:spPr>
          <a:xfrm>
            <a:off x="8412480" y="1691640"/>
            <a:ext cx="1097280" cy="274320"/>
          </a:xfrm>
          <a:prstGeom prst="rect">
            <a:avLst/>
          </a:prstGeom>
          <a:noFill/>
          <a:ln/>
        </p:spPr>
        <p:txBody>
          <a:bodyPr wrap="square" lIns="0" tIns="0" rIns="0" bIns="0" rtlCol="0" anchor="ctr"/>
          <a:lstStyle/>
          <a:p>
            <a:pPr algn="ctr" indent="0" marL="0">
              <a:buNone/>
            </a:pPr>
            <a:r>
              <a:rPr lang="en-US" sz="1400" b="1" spc="200" kern="0" dirty="0">
                <a:solidFill>
                  <a:srgbClr val="5F7284"/>
                </a:solidFill>
                <a:latin typeface="Calibri" pitchFamily="34" charset="0"/>
                <a:ea typeface="Calibri" pitchFamily="34" charset="-122"/>
                <a:cs typeface="Calibri" pitchFamily="34" charset="-120"/>
              </a:rPr>
              <a:t>HOURS</a:t>
            </a:r>
            <a:endParaRPr lang="en-US" sz="1400" dirty="0"/>
          </a:p>
        </p:txBody>
      </p:sp>
      <p:sp>
        <p:nvSpPr>
          <p:cNvPr id="8" name="Text 6"/>
          <p:cNvSpPr/>
          <p:nvPr/>
        </p:nvSpPr>
        <p:spPr>
          <a:xfrm>
            <a:off x="9692640" y="1691640"/>
            <a:ext cx="1645920" cy="274320"/>
          </a:xfrm>
          <a:prstGeom prst="rect">
            <a:avLst/>
          </a:prstGeom>
          <a:noFill/>
          <a:ln/>
        </p:spPr>
        <p:txBody>
          <a:bodyPr wrap="square" lIns="0" tIns="0" rIns="0" bIns="0" rtlCol="0" anchor="ctr"/>
          <a:lstStyle/>
          <a:p>
            <a:pPr algn="ctr" indent="0" marL="0">
              <a:buNone/>
            </a:pPr>
            <a:r>
              <a:rPr lang="en-US" sz="1400" b="1" spc="200" kern="0" dirty="0">
                <a:solidFill>
                  <a:srgbClr val="5F7284"/>
                </a:solidFill>
                <a:latin typeface="Calibri" pitchFamily="34" charset="0"/>
                <a:ea typeface="Calibri" pitchFamily="34" charset="-122"/>
                <a:cs typeface="Calibri" pitchFamily="34" charset="-120"/>
              </a:rPr>
              <a:t>SLICE?</a:t>
            </a:r>
            <a:endParaRPr lang="en-US" sz="1400" dirty="0"/>
          </a:p>
        </p:txBody>
      </p:sp>
      <p:sp>
        <p:nvSpPr>
          <p:cNvPr id="9" name="Shape 7"/>
          <p:cNvSpPr/>
          <p:nvPr/>
        </p:nvSpPr>
        <p:spPr>
          <a:xfrm>
            <a:off x="548640" y="202996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777240" y="202996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Search items by name</a:t>
            </a:r>
            <a:endParaRPr lang="en-US" sz="1600" dirty="0"/>
          </a:p>
        </p:txBody>
      </p:sp>
      <p:sp>
        <p:nvSpPr>
          <p:cNvPr id="11" name="Text 9"/>
          <p:cNvSpPr/>
          <p:nvPr/>
        </p:nvSpPr>
        <p:spPr>
          <a:xfrm>
            <a:off x="7315200" y="202996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S</a:t>
            </a:r>
            <a:endParaRPr lang="en-US" sz="1800" dirty="0"/>
          </a:p>
        </p:txBody>
      </p:sp>
      <p:sp>
        <p:nvSpPr>
          <p:cNvPr id="12" name="Text 10"/>
          <p:cNvSpPr/>
          <p:nvPr/>
        </p:nvSpPr>
        <p:spPr>
          <a:xfrm>
            <a:off x="8412480" y="202996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2</a:t>
            </a:r>
            <a:endParaRPr lang="en-US" sz="1700" dirty="0"/>
          </a:p>
        </p:txBody>
      </p:sp>
      <p:sp>
        <p:nvSpPr>
          <p:cNvPr id="13" name="Text 11"/>
          <p:cNvSpPr/>
          <p:nvPr/>
        </p:nvSpPr>
        <p:spPr>
          <a:xfrm>
            <a:off x="9509760" y="202996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14" name="Shape 12"/>
          <p:cNvSpPr/>
          <p:nvPr/>
        </p:nvSpPr>
        <p:spPr>
          <a:xfrm>
            <a:off x="548640" y="257860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257860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Show an item's detail page</a:t>
            </a:r>
            <a:endParaRPr lang="en-US" sz="1600" dirty="0"/>
          </a:p>
        </p:txBody>
      </p:sp>
      <p:sp>
        <p:nvSpPr>
          <p:cNvPr id="16" name="Text 14"/>
          <p:cNvSpPr/>
          <p:nvPr/>
        </p:nvSpPr>
        <p:spPr>
          <a:xfrm>
            <a:off x="7315200" y="257860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S</a:t>
            </a:r>
            <a:endParaRPr lang="en-US" sz="1800" dirty="0"/>
          </a:p>
        </p:txBody>
      </p:sp>
      <p:sp>
        <p:nvSpPr>
          <p:cNvPr id="17" name="Text 15"/>
          <p:cNvSpPr/>
          <p:nvPr/>
        </p:nvSpPr>
        <p:spPr>
          <a:xfrm>
            <a:off x="8412480" y="257860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2</a:t>
            </a:r>
            <a:endParaRPr lang="en-US" sz="1700" dirty="0"/>
          </a:p>
        </p:txBody>
      </p:sp>
      <p:sp>
        <p:nvSpPr>
          <p:cNvPr id="18" name="Text 16"/>
          <p:cNvSpPr/>
          <p:nvPr/>
        </p:nvSpPr>
        <p:spPr>
          <a:xfrm>
            <a:off x="9509760" y="257860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19" name="Shape 17"/>
          <p:cNvSpPr/>
          <p:nvPr/>
        </p:nvSpPr>
        <p:spPr>
          <a:xfrm>
            <a:off x="548640" y="312724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20" name="Text 18"/>
          <p:cNvSpPr/>
          <p:nvPr/>
        </p:nvSpPr>
        <p:spPr>
          <a:xfrm>
            <a:off x="777240" y="312724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Record checkouts, at most one open per item</a:t>
            </a:r>
            <a:endParaRPr lang="en-US" sz="1600" dirty="0"/>
          </a:p>
        </p:txBody>
      </p:sp>
      <p:sp>
        <p:nvSpPr>
          <p:cNvPr id="21" name="Text 19"/>
          <p:cNvSpPr/>
          <p:nvPr/>
        </p:nvSpPr>
        <p:spPr>
          <a:xfrm>
            <a:off x="7315200" y="312724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M</a:t>
            </a:r>
            <a:endParaRPr lang="en-US" sz="1800" dirty="0"/>
          </a:p>
        </p:txBody>
      </p:sp>
      <p:sp>
        <p:nvSpPr>
          <p:cNvPr id="22" name="Text 20"/>
          <p:cNvSpPr/>
          <p:nvPr/>
        </p:nvSpPr>
        <p:spPr>
          <a:xfrm>
            <a:off x="8412480" y="312724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4</a:t>
            </a:r>
            <a:endParaRPr lang="en-US" sz="1700" dirty="0"/>
          </a:p>
        </p:txBody>
      </p:sp>
      <p:sp>
        <p:nvSpPr>
          <p:cNvPr id="23" name="Text 21"/>
          <p:cNvSpPr/>
          <p:nvPr/>
        </p:nvSpPr>
        <p:spPr>
          <a:xfrm>
            <a:off x="9509760" y="312724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24" name="Shape 22"/>
          <p:cNvSpPr/>
          <p:nvPr/>
        </p:nvSpPr>
        <p:spPr>
          <a:xfrm>
            <a:off x="548640" y="367588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25" name="Text 23"/>
          <p:cNvSpPr/>
          <p:nvPr/>
        </p:nvSpPr>
        <p:spPr>
          <a:xfrm>
            <a:off x="777240" y="367588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Show who has an item and when it's due back</a:t>
            </a:r>
            <a:endParaRPr lang="en-US" sz="1600" dirty="0"/>
          </a:p>
        </p:txBody>
      </p:sp>
      <p:sp>
        <p:nvSpPr>
          <p:cNvPr id="26" name="Text 24"/>
          <p:cNvSpPr/>
          <p:nvPr/>
        </p:nvSpPr>
        <p:spPr>
          <a:xfrm>
            <a:off x="7315200" y="367588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S</a:t>
            </a:r>
            <a:endParaRPr lang="en-US" sz="1800" dirty="0"/>
          </a:p>
        </p:txBody>
      </p:sp>
      <p:sp>
        <p:nvSpPr>
          <p:cNvPr id="27" name="Text 25"/>
          <p:cNvSpPr/>
          <p:nvPr/>
        </p:nvSpPr>
        <p:spPr>
          <a:xfrm>
            <a:off x="8412480" y="367588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2</a:t>
            </a:r>
            <a:endParaRPr lang="en-US" sz="1700" dirty="0"/>
          </a:p>
        </p:txBody>
      </p:sp>
      <p:sp>
        <p:nvSpPr>
          <p:cNvPr id="28" name="Text 26"/>
          <p:cNvSpPr/>
          <p:nvPr/>
        </p:nvSpPr>
        <p:spPr>
          <a:xfrm>
            <a:off x="9509760" y="367588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29" name="Shape 27"/>
          <p:cNvSpPr/>
          <p:nvPr/>
        </p:nvSpPr>
        <p:spPr>
          <a:xfrm>
            <a:off x="548640" y="422452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30" name="Text 28"/>
          <p:cNvSpPr/>
          <p:nvPr/>
        </p:nvSpPr>
        <p:spPr>
          <a:xfrm>
            <a:off x="777240" y="422452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Check an item out from its page (HTMX)</a:t>
            </a:r>
            <a:endParaRPr lang="en-US" sz="1600" dirty="0"/>
          </a:p>
        </p:txBody>
      </p:sp>
      <p:sp>
        <p:nvSpPr>
          <p:cNvPr id="31" name="Text 29"/>
          <p:cNvSpPr/>
          <p:nvPr/>
        </p:nvSpPr>
        <p:spPr>
          <a:xfrm>
            <a:off x="7315200" y="4224528"/>
            <a:ext cx="1005840" cy="475488"/>
          </a:xfrm>
          <a:prstGeom prst="rect">
            <a:avLst/>
          </a:prstGeom>
          <a:noFill/>
          <a:ln/>
        </p:spPr>
        <p:txBody>
          <a:bodyPr wrap="square" lIns="0" tIns="0" rIns="0" bIns="0" rtlCol="0" anchor="ctr"/>
          <a:lstStyle/>
          <a:p>
            <a:pPr algn="ctr" indent="0" marL="0">
              <a:buNone/>
            </a:pPr>
            <a:r>
              <a:rPr lang="en-US" sz="1800" b="1" dirty="0">
                <a:solidFill>
                  <a:srgbClr val="D9614C"/>
                </a:solidFill>
                <a:latin typeface="Cambria" pitchFamily="34" charset="0"/>
                <a:ea typeface="Cambria" pitchFamily="34" charset="-122"/>
                <a:cs typeface="Cambria" pitchFamily="34" charset="-120"/>
              </a:rPr>
              <a:t>L</a:t>
            </a:r>
            <a:endParaRPr lang="en-US" sz="1800" dirty="0"/>
          </a:p>
        </p:txBody>
      </p:sp>
      <p:sp>
        <p:nvSpPr>
          <p:cNvPr id="32" name="Text 30"/>
          <p:cNvSpPr/>
          <p:nvPr/>
        </p:nvSpPr>
        <p:spPr>
          <a:xfrm>
            <a:off x="8412480" y="422452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7</a:t>
            </a:r>
            <a:endParaRPr lang="en-US" sz="1700" dirty="0"/>
          </a:p>
        </p:txBody>
      </p:sp>
      <p:sp>
        <p:nvSpPr>
          <p:cNvPr id="33" name="Text 31"/>
          <p:cNvSpPr/>
          <p:nvPr/>
        </p:nvSpPr>
        <p:spPr>
          <a:xfrm>
            <a:off x="9509760" y="422452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34" name="Shape 32"/>
          <p:cNvSpPr/>
          <p:nvPr/>
        </p:nvSpPr>
        <p:spPr>
          <a:xfrm>
            <a:off x="548640" y="477316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35" name="Text 33"/>
          <p:cNvSpPr/>
          <p:nvPr/>
        </p:nvSpPr>
        <p:spPr>
          <a:xfrm>
            <a:off x="777240" y="477316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Write a setup guide a newcomer can follow cold</a:t>
            </a:r>
            <a:endParaRPr lang="en-US" sz="1600" dirty="0"/>
          </a:p>
        </p:txBody>
      </p:sp>
      <p:sp>
        <p:nvSpPr>
          <p:cNvPr id="36" name="Text 34"/>
          <p:cNvSpPr/>
          <p:nvPr/>
        </p:nvSpPr>
        <p:spPr>
          <a:xfrm>
            <a:off x="7315200" y="477316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M</a:t>
            </a:r>
            <a:endParaRPr lang="en-US" sz="1800" dirty="0"/>
          </a:p>
        </p:txBody>
      </p:sp>
      <p:sp>
        <p:nvSpPr>
          <p:cNvPr id="37" name="Text 35"/>
          <p:cNvSpPr/>
          <p:nvPr/>
        </p:nvSpPr>
        <p:spPr>
          <a:xfrm>
            <a:off x="8412480" y="477316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4</a:t>
            </a:r>
            <a:endParaRPr lang="en-US" sz="1700" dirty="0"/>
          </a:p>
        </p:txBody>
      </p:sp>
      <p:sp>
        <p:nvSpPr>
          <p:cNvPr id="38" name="Text 36"/>
          <p:cNvSpPr/>
          <p:nvPr/>
        </p:nvSpPr>
        <p:spPr>
          <a:xfrm>
            <a:off x="9509760" y="4773168"/>
            <a:ext cx="2011680" cy="475488"/>
          </a:xfrm>
          <a:prstGeom prst="rect">
            <a:avLst/>
          </a:prstGeom>
          <a:noFill/>
          <a:ln/>
        </p:spPr>
        <p:txBody>
          <a:bodyPr wrap="square" lIns="0" tIns="0" rIns="0" bIns="0" rtlCol="0" anchor="ctr"/>
          <a:lstStyle/>
          <a:p>
            <a:pPr algn="ctr" indent="0" marL="0">
              <a:buNone/>
            </a:pPr>
            <a:r>
              <a:rPr lang="en-US" sz="1500" dirty="0">
                <a:solidFill>
                  <a:srgbClr val="5F7284"/>
                </a:solidFill>
                <a:latin typeface="Calibri" pitchFamily="34" charset="0"/>
                <a:ea typeface="Calibri" pitchFamily="34" charset="-122"/>
                <a:cs typeface="Calibri" pitchFamily="34" charset="-120"/>
              </a:rPr>
              <a:t>no, but kept</a:t>
            </a:r>
            <a:endParaRPr lang="en-US" sz="1500" dirty="0"/>
          </a:p>
        </p:txBody>
      </p:sp>
      <p:sp>
        <p:nvSpPr>
          <p:cNvPr id="39" name="click-1"/>
          <p:cNvSpPr/>
          <p:nvPr/>
        </p:nvSpPr>
        <p:spPr>
          <a:xfrm>
            <a:off x="548640" y="544068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40" name="click-1"/>
          <p:cNvSpPr/>
          <p:nvPr/>
        </p:nvSpPr>
        <p:spPr>
          <a:xfrm>
            <a:off x="868680" y="5440680"/>
            <a:ext cx="10424160" cy="777240"/>
          </a:xfrm>
          <a:prstGeom prst="rect">
            <a:avLst/>
          </a:prstGeom>
          <a:noFill/>
          <a:ln/>
        </p:spPr>
        <p:txBody>
          <a:bodyPr wrap="square" lIns="0" tIns="0" rIns="0" bIns="0" rtlCol="0" anchor="ctr"/>
          <a:lstStyle/>
          <a:p>
            <a:pPr indent="0" marL="0">
              <a:buNone/>
            </a:pPr>
            <a:r>
              <a:rPr lang="en-US" sz="2100" b="1" dirty="0">
                <a:solidFill>
                  <a:srgbClr val="E8A33D"/>
                </a:solidFill>
                <a:latin typeface="Calibri" pitchFamily="34" charset="0"/>
                <a:ea typeface="Calibri" pitchFamily="34" charset="-122"/>
                <a:cs typeface="Calibri" pitchFamily="34" charset="-120"/>
              </a:rPr>
              <a:t>21 hours against 20.  </a:t>
            </a:r>
            <a:pPr indent="0" marL="0">
              <a:buNone/>
            </a:pPr>
            <a:r>
              <a:rPr lang="en-US" sz="2100" dirty="0">
                <a:solidFill>
                  <a:srgbClr val="FFFFFF"/>
                </a:solidFill>
                <a:latin typeface="Calibri" pitchFamily="34" charset="0"/>
                <a:ea typeface="Calibri" pitchFamily="34" charset="-122"/>
                <a:cs typeface="Calibri" pitchFamily="34" charset="-120"/>
              </a:rPr>
              <a:t>Does it fit?</a:t>
            </a:r>
            <a:endParaRPr lang="en-US" sz="2100" dirty="0"/>
          </a:p>
        </p:txBody>
      </p:sp>
      <p:sp>
        <p:nvSpPr>
          <p:cNvPr id="41" name="Text 3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42" name="Text 4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3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FITS ON PAPER MEANS IT DOESN'T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Prop Loft's cut, and its next one</a:t>
            </a:r>
            <a:endParaRPr lang="en-US" sz="3100" dirty="0"/>
          </a:p>
        </p:txBody>
      </p:sp>
      <p:sp>
        <p:nvSpPr>
          <p:cNvPr id="5" name="Shape 3"/>
          <p:cNvSpPr/>
          <p:nvPr/>
        </p:nvSpPr>
        <p:spPr>
          <a:xfrm>
            <a:off x="548640" y="1783080"/>
            <a:ext cx="3474720" cy="2926080"/>
          </a:xfrm>
          <a:prstGeom prst="roundRect">
            <a:avLst>
              <a:gd name="adj" fmla="val 2813"/>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83080"/>
            <a:ext cx="2926080" cy="2926080"/>
          </a:xfrm>
          <a:prstGeom prst="rect">
            <a:avLst/>
          </a:prstGeom>
          <a:noFill/>
          <a:ln/>
        </p:spPr>
        <p:txBody>
          <a:bodyPr wrap="square" lIns="0" tIns="0" rIns="0" bIns="0" rtlCol="0" anchor="ctr"/>
          <a:lstStyle/>
          <a:p>
            <a:pPr indent="0" marL="0">
              <a:lnSpc>
                <a:spcPct val="105000"/>
              </a:lnSpc>
              <a:buNone/>
            </a:pPr>
            <a:r>
              <a:rPr lang="en-US" sz="3200" b="1" dirty="0">
                <a:solidFill>
                  <a:srgbClr val="D9614C"/>
                </a:solidFill>
                <a:latin typeface="Cambria" pitchFamily="34" charset="0"/>
                <a:ea typeface="Cambria" pitchFamily="34" charset="-122"/>
                <a:cs typeface="Cambria" pitchFamily="34" charset="-120"/>
              </a:rPr>
              <a:t>21 of 20</a:t>
            </a:r>
            <a:endParaRPr lang="en-US" sz="3200" dirty="0"/>
          </a:p>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And the written self-review every pull request gets isn't counted yet.</a:t>
            </a:r>
            <a:endParaRPr lang="en-US" sz="3200" dirty="0"/>
          </a:p>
          <a:p>
            <a:pPr indent="0" marL="0">
              <a:lnSpc>
                <a:spcPct val="105000"/>
              </a:lnSpc>
              <a:buNone/>
            </a:pPr>
            <a:r>
              <a:rPr lang="en-US" sz="800" dirty="0">
                <a:solidFill>
                  <a:srgbClr val="000000"/>
                </a:solidFill>
                <a:latin typeface="Calibri" pitchFamily="34" charset="0"/>
                <a:ea typeface="Calibri" pitchFamily="34" charset="-122"/>
                <a:cs typeface="Calibri" pitchFamily="34" charset="-120"/>
              </a:rPr>
              <a:t> </a:t>
            </a:r>
            <a:endParaRPr lang="en-US" sz="3200" dirty="0"/>
          </a:p>
          <a:p>
            <a:pPr indent="0" marL="0">
              <a:lnSpc>
                <a:spcPct val="105000"/>
              </a:lnSpc>
              <a:buNone/>
            </a:pPr>
            <a:r>
              <a:rPr lang="en-US" sz="1600" b="1" dirty="0">
                <a:solidFill>
                  <a:srgbClr val="1E2A36"/>
                </a:solidFill>
                <a:latin typeface="Calibri" pitchFamily="34" charset="0"/>
                <a:ea typeface="Calibri" pitchFamily="34" charset="-122"/>
                <a:cs typeface="Calibri" pitchFamily="34" charset="-120"/>
              </a:rPr>
              <a:t>Why not cut the setup guide? </a:t>
            </a:r>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Its cold reader has a calendar, and contributors need it before the demo.</a:t>
            </a:r>
            <a:endParaRPr lang="en-US" sz="3200" dirty="0"/>
          </a:p>
        </p:txBody>
      </p:sp>
      <p:sp>
        <p:nvSpPr>
          <p:cNvPr id="7" name="click-1"/>
          <p:cNvSpPr/>
          <p:nvPr/>
        </p:nvSpPr>
        <p:spPr>
          <a:xfrm>
            <a:off x="4251960" y="1783080"/>
            <a:ext cx="3657600" cy="2926080"/>
          </a:xfrm>
          <a:prstGeom prst="roundRect">
            <a:avLst>
              <a:gd name="adj" fmla="val 2813"/>
            </a:avLst>
          </a:prstGeom>
          <a:solidFill>
            <a:srgbClr val="EAF4EE"/>
          </a:solidFill>
          <a:ln/>
          <a:effectLst>
            <a:outerShdw sx="100000" sy="100000" kx="0" ky="0" algn="bl" rotWithShape="0" blurRad="88900" dist="38100" dir="5400000">
              <a:srgbClr val="000000">
                <a:alpha val="13000"/>
              </a:srgbClr>
            </a:outerShdw>
          </a:effectLst>
        </p:spPr>
      </p:sp>
      <p:sp>
        <p:nvSpPr>
          <p:cNvPr id="8" name="click-1"/>
          <p:cNvSpPr/>
          <p:nvPr/>
        </p:nvSpPr>
        <p:spPr>
          <a:xfrm>
            <a:off x="4526280" y="1783080"/>
            <a:ext cx="3154680" cy="2926080"/>
          </a:xfrm>
          <a:prstGeom prst="rect">
            <a:avLst/>
          </a:prstGeom>
          <a:noFill/>
          <a:ln/>
        </p:spPr>
        <p:txBody>
          <a:bodyPr wrap="square" lIns="0" tIns="0" rIns="0" bIns="0" rtlCol="0" anchor="ctr"/>
          <a:lstStyle/>
          <a:p>
            <a:pPr indent="0" marL="0">
              <a:lnSpc>
                <a:spcPct val="105000"/>
              </a:lnSpc>
              <a:buNone/>
            </a:pPr>
            <a:r>
              <a:rPr lang="en-US" sz="1800" b="1" dirty="0">
                <a:solidFill>
                  <a:srgbClr val="3E9C6B"/>
                </a:solidFill>
                <a:latin typeface="Calibri" pitchFamily="34" charset="0"/>
                <a:ea typeface="Calibri" pitchFamily="34" charset="-122"/>
                <a:cs typeface="Calibri" pitchFamily="34" charset="-120"/>
              </a:rPr>
              <a:t>The cut: take the fallback</a:t>
            </a:r>
            <a:endParaRPr lang="en-US" sz="1800" dirty="0"/>
          </a:p>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Plain forms for the MVP; HTMX after it. Design §7 named this fallback already. The checkout form drops from L to M.</a:t>
            </a:r>
            <a:endParaRPr lang="en-US" sz="1800" dirty="0"/>
          </a:p>
          <a:p>
            <a:pPr indent="0" marL="0">
              <a:lnSpc>
                <a:spcPct val="105000"/>
              </a:lnSpc>
              <a:buNone/>
            </a:pPr>
            <a:r>
              <a:rPr lang="en-US" sz="2800" b="1" dirty="0">
                <a:solidFill>
                  <a:srgbClr val="3E9C6B"/>
                </a:solidFill>
                <a:latin typeface="Cambria" pitchFamily="34" charset="0"/>
                <a:ea typeface="Cambria" pitchFamily="34" charset="-122"/>
                <a:cs typeface="Cambria" pitchFamily="34" charset="-120"/>
              </a:rPr>
              <a:t>18 of 20</a:t>
            </a:r>
            <a:endParaRPr lang="en-US" sz="1800" dirty="0"/>
          </a:p>
        </p:txBody>
      </p:sp>
      <p:sp>
        <p:nvSpPr>
          <p:cNvPr id="9" name="click-2"/>
          <p:cNvSpPr/>
          <p:nvPr/>
        </p:nvSpPr>
        <p:spPr>
          <a:xfrm>
            <a:off x="8138160" y="1783080"/>
            <a:ext cx="3474720" cy="2926080"/>
          </a:xfrm>
          <a:prstGeom prst="roundRect">
            <a:avLst>
              <a:gd name="adj" fmla="val 2813"/>
            </a:avLst>
          </a:prstGeom>
          <a:solidFill>
            <a:srgbClr val="FBEEDA"/>
          </a:solidFill>
          <a:ln/>
          <a:effectLst>
            <a:outerShdw sx="100000" sy="100000" kx="0" ky="0" algn="bl" rotWithShape="0" blurRad="88900" dist="38100" dir="5400000">
              <a:srgbClr val="000000">
                <a:alpha val="13000"/>
              </a:srgbClr>
            </a:outerShdw>
          </a:effectLst>
        </p:spPr>
      </p:sp>
      <p:sp>
        <p:nvSpPr>
          <p:cNvPr id="10" name="click-2"/>
          <p:cNvSpPr/>
          <p:nvPr/>
        </p:nvSpPr>
        <p:spPr>
          <a:xfrm>
            <a:off x="8412480" y="1783080"/>
            <a:ext cx="2971800" cy="2926080"/>
          </a:xfrm>
          <a:prstGeom prst="rect">
            <a:avLst/>
          </a:prstGeom>
          <a:noFill/>
          <a:ln/>
        </p:spPr>
        <p:txBody>
          <a:bodyPr wrap="square" lIns="0" tIns="0" rIns="0" bIns="0" rtlCol="0" anchor="ctr"/>
          <a:lstStyle/>
          <a:p>
            <a:pPr indent="0" marL="0">
              <a:lnSpc>
                <a:spcPct val="105000"/>
              </a:lnSpc>
              <a:buNone/>
            </a:pPr>
            <a:r>
              <a:rPr lang="en-US" sz="1800" b="1" dirty="0">
                <a:solidFill>
                  <a:srgbClr val="0E6E6D"/>
                </a:solidFill>
                <a:latin typeface="Calibri" pitchFamily="34" charset="0"/>
                <a:ea typeface="Calibri" pitchFamily="34" charset="-122"/>
                <a:cs typeface="Calibri" pitchFamily="34" charset="-120"/>
              </a:rPr>
              <a:t>The next cut, named now</a:t>
            </a:r>
            <a:endParaRPr lang="en-US" sz="1800" dirty="0"/>
          </a:p>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If the midpoint check shows M1 behind: the list's "Out" marker moves to M2. The item page alone still walks the slice.</a:t>
            </a:r>
            <a:endParaRPr lang="en-US" sz="1800" dirty="0"/>
          </a:p>
        </p:txBody>
      </p:sp>
      <p:sp>
        <p:nvSpPr>
          <p:cNvPr id="11" name="click-3"/>
          <p:cNvSpPr/>
          <p:nvPr/>
        </p:nvSpPr>
        <p:spPr>
          <a:xfrm>
            <a:off x="548640" y="4983480"/>
            <a:ext cx="11064240" cy="1188720"/>
          </a:xfrm>
          <a:prstGeom prst="roundRect">
            <a:avLst>
              <a:gd name="adj" fmla="val 6923"/>
            </a:avLst>
          </a:prstGeom>
          <a:solidFill>
            <a:srgbClr val="14233A"/>
          </a:solidFill>
          <a:ln/>
          <a:effectLst>
            <a:outerShdw sx="100000" sy="100000" kx="0" ky="0" algn="bl" rotWithShape="0" blurRad="88900" dist="38100" dir="5400000">
              <a:srgbClr val="000000">
                <a:alpha val="13000"/>
              </a:srgbClr>
            </a:outerShdw>
          </a:effectLst>
        </p:spPr>
      </p:sp>
      <p:sp>
        <p:nvSpPr>
          <p:cNvPr id="12" name="click-3"/>
          <p:cNvSpPr/>
          <p:nvPr/>
        </p:nvSpPr>
        <p:spPr>
          <a:xfrm>
            <a:off x="868680" y="4983480"/>
            <a:ext cx="10424160" cy="118872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Notice what the cut didn't touch: the slice.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Cuts come from what's off the demo's path and from how things get built, before they come from what the demo shows.</a:t>
            </a:r>
            <a:endParaRPr lang="en-US" sz="1700" dirty="0"/>
          </a:p>
        </p:txBody>
      </p:sp>
      <p:sp>
        <p:nvSpPr>
          <p:cNvPr id="13" name="Text 11"/>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WRITE IT WHERE THE DESIGN LIVES · LIVE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cut that changes the design is a design change</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docs/design.md §6, in the pull request</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Decision: plain forms for the MVP,</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HTMX later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Chosen: server-rendered forms with</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full-page reloads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Alternative: HTMX partial updates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Why: the first milestone didn't fit</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Evidence: the Week 9 sizing</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What would change our mind: slow</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reloads on the shop's wifi</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F4A99A"/>
                </a:solidFill>
                <a:latin typeface="Consolas" pitchFamily="34" charset="0"/>
                <a:ea typeface="Consolas" pitchFamily="34" charset="-122"/>
                <a:cs typeface="Consolas" pitchFamily="34" charset="-120"/>
              </a:rPr>
              <a:t>- Django, HTMX for partial updates, ...</a:t>
            </a:r>
            <a:endParaRPr lang="en-US" sz="1450" dirty="0"/>
          </a:p>
        </p:txBody>
      </p:sp>
      <p:sp>
        <p:nvSpPr>
          <p:cNvPr id="8" name="Shape 6"/>
          <p:cNvSpPr/>
          <p:nvPr/>
        </p:nvSpPr>
        <p:spPr>
          <a:xfrm>
            <a:off x="7086600" y="1783080"/>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9" name="Shape 7"/>
          <p:cNvSpPr/>
          <p:nvPr/>
        </p:nvSpPr>
        <p:spPr>
          <a:xfrm>
            <a:off x="7242048" y="1938528"/>
            <a:ext cx="457200" cy="457200"/>
          </a:xfrm>
          <a:prstGeom prst="ellipse">
            <a:avLst/>
          </a:prstGeom>
          <a:solidFill>
            <a:srgbClr val="12908F"/>
          </a:solidFill>
          <a:ln/>
        </p:spPr>
      </p:sp>
      <p:sp>
        <p:nvSpPr>
          <p:cNvPr id="10" name="Text 8"/>
          <p:cNvSpPr/>
          <p:nvPr/>
        </p:nvSpPr>
        <p:spPr>
          <a:xfrm>
            <a:off x="7242048" y="19385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1" name="Text 9"/>
          <p:cNvSpPr/>
          <p:nvPr/>
        </p:nvSpPr>
        <p:spPr>
          <a:xfrm>
            <a:off x="7863840" y="1783080"/>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Push the branch</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docs/design-plain-forms</a:t>
            </a:r>
            <a:endParaRPr lang="en-US" sz="1650" dirty="0"/>
          </a:p>
        </p:txBody>
      </p:sp>
      <p:sp>
        <p:nvSpPr>
          <p:cNvPr id="12" name="Shape 10"/>
          <p:cNvSpPr/>
          <p:nvPr/>
        </p:nvSpPr>
        <p:spPr>
          <a:xfrm>
            <a:off x="7086600" y="2670048"/>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3" name="Shape 11"/>
          <p:cNvSpPr/>
          <p:nvPr/>
        </p:nvSpPr>
        <p:spPr>
          <a:xfrm>
            <a:off x="7242048" y="2825496"/>
            <a:ext cx="457200" cy="457200"/>
          </a:xfrm>
          <a:prstGeom prst="ellipse">
            <a:avLst/>
          </a:prstGeom>
          <a:solidFill>
            <a:srgbClr val="12908F"/>
          </a:solidFill>
          <a:ln/>
        </p:spPr>
      </p:sp>
      <p:sp>
        <p:nvSpPr>
          <p:cNvPr id="14" name="Text 12"/>
          <p:cNvSpPr/>
          <p:nvPr/>
        </p:nvSpPr>
        <p:spPr>
          <a:xfrm>
            <a:off x="7242048" y="282549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5" name="Text 13"/>
          <p:cNvSpPr/>
          <p:nvPr/>
        </p:nvSpPr>
        <p:spPr>
          <a:xfrm>
            <a:off x="7863840" y="2670048"/>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Open the PR</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Title: the commit subject, exactly</a:t>
            </a:r>
            <a:endParaRPr lang="en-US" sz="1650" dirty="0"/>
          </a:p>
        </p:txBody>
      </p:sp>
      <p:sp>
        <p:nvSpPr>
          <p:cNvPr id="16" name="Shape 14"/>
          <p:cNvSpPr/>
          <p:nvPr/>
        </p:nvSpPr>
        <p:spPr>
          <a:xfrm>
            <a:off x="7086600" y="3557016"/>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7" name="Shape 15"/>
          <p:cNvSpPr/>
          <p:nvPr/>
        </p:nvSpPr>
        <p:spPr>
          <a:xfrm>
            <a:off x="7242048" y="3712464"/>
            <a:ext cx="457200" cy="457200"/>
          </a:xfrm>
          <a:prstGeom prst="ellipse">
            <a:avLst/>
          </a:prstGeom>
          <a:solidFill>
            <a:srgbClr val="12908F"/>
          </a:solidFill>
          <a:ln/>
        </p:spPr>
      </p:sp>
      <p:sp>
        <p:nvSpPr>
          <p:cNvPr id="18" name="Text 16"/>
          <p:cNvSpPr/>
          <p:nvPr/>
        </p:nvSpPr>
        <p:spPr>
          <a:xfrm>
            <a:off x="7242048" y="371246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7863840" y="3557016"/>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Show Files changed</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§6, §4's row, §7's risk, the history</a:t>
            </a:r>
            <a:endParaRPr lang="en-US" sz="1650" dirty="0"/>
          </a:p>
        </p:txBody>
      </p:sp>
      <p:sp>
        <p:nvSpPr>
          <p:cNvPr id="20" name="Shape 18"/>
          <p:cNvSpPr/>
          <p:nvPr/>
        </p:nvSpPr>
        <p:spPr>
          <a:xfrm>
            <a:off x="7086600" y="4443984"/>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242048" y="4599432"/>
            <a:ext cx="457200" cy="457200"/>
          </a:xfrm>
          <a:prstGeom prst="ellipse">
            <a:avLst/>
          </a:prstGeom>
          <a:solidFill>
            <a:srgbClr val="12908F"/>
          </a:solidFill>
          <a:ln/>
        </p:spPr>
      </p:sp>
      <p:sp>
        <p:nvSpPr>
          <p:cNvPr id="22" name="Text 20"/>
          <p:cNvSpPr/>
          <p:nvPr/>
        </p:nvSpPr>
        <p:spPr>
          <a:xfrm>
            <a:off x="7242048" y="45994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3" name="Text 21"/>
          <p:cNvSpPr/>
          <p:nvPr/>
        </p:nvSpPr>
        <p:spPr>
          <a:xfrm>
            <a:off x="7863840" y="4443984"/>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Post the self-review</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One maintainer: say so, in writing</a:t>
            </a:r>
            <a:endParaRPr lang="en-US" sz="1650" dirty="0"/>
          </a:p>
        </p:txBody>
      </p:sp>
      <p:sp>
        <p:nvSpPr>
          <p:cNvPr id="24" name="Shape 22"/>
          <p:cNvSpPr/>
          <p:nvPr/>
        </p:nvSpPr>
        <p:spPr>
          <a:xfrm>
            <a:off x="7086600" y="5330952"/>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25" name="Shape 23"/>
          <p:cNvSpPr/>
          <p:nvPr/>
        </p:nvSpPr>
        <p:spPr>
          <a:xfrm>
            <a:off x="7242048" y="5486400"/>
            <a:ext cx="457200" cy="457200"/>
          </a:xfrm>
          <a:prstGeom prst="ellipse">
            <a:avLst/>
          </a:prstGeom>
          <a:solidFill>
            <a:srgbClr val="12908F"/>
          </a:solidFill>
          <a:ln/>
        </p:spPr>
      </p:sp>
      <p:sp>
        <p:nvSpPr>
          <p:cNvPr id="26" name="Text 24"/>
          <p:cNvSpPr/>
          <p:nvPr/>
        </p:nvSpPr>
        <p:spPr>
          <a:xfrm>
            <a:off x="7242048" y="548640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27" name="Text 25"/>
          <p:cNvSpPr/>
          <p:nvPr/>
        </p:nvSpPr>
        <p:spPr>
          <a:xfrm>
            <a:off x="7863840" y="5330952"/>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Squash and merge</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Then a note on the checkout-form issue</a:t>
            </a:r>
            <a:endParaRPr lang="en-US" sz="1650" dirty="0"/>
          </a:p>
        </p:txBody>
      </p:sp>
      <p:sp>
        <p:nvSpPr>
          <p:cNvPr id="28" name="Text 26"/>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AND THE SECOND MILESTONE?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Coarse sizes, same budget: 19 of 20</a:t>
            </a:r>
            <a:endParaRPr lang="en-US" sz="3100" dirty="0"/>
          </a:p>
        </p:txBody>
      </p:sp>
      <p:sp>
        <p:nvSpPr>
          <p:cNvPr id="5" name="Shape 3"/>
          <p:cNvSpPr/>
          <p:nvPr/>
        </p:nvSpPr>
        <p:spPr>
          <a:xfrm>
            <a:off x="548640" y="1783080"/>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31520" y="1783080"/>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Filter by category and size</a:t>
            </a:r>
            <a:endParaRPr lang="en-US" sz="1500" dirty="0"/>
          </a:p>
        </p:txBody>
      </p:sp>
      <p:sp>
        <p:nvSpPr>
          <p:cNvPr id="7" name="Text 5"/>
          <p:cNvSpPr/>
          <p:nvPr/>
        </p:nvSpPr>
        <p:spPr>
          <a:xfrm>
            <a:off x="3246120" y="1783080"/>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S</a:t>
            </a:r>
            <a:endParaRPr lang="en-US" sz="1700" dirty="0"/>
          </a:p>
        </p:txBody>
      </p:sp>
      <p:sp>
        <p:nvSpPr>
          <p:cNvPr id="8" name="Shape 6"/>
          <p:cNvSpPr/>
          <p:nvPr/>
        </p:nvSpPr>
        <p:spPr>
          <a:xfrm>
            <a:off x="548640" y="2441448"/>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731520" y="2441448"/>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Say so when a search finds nothing</a:t>
            </a:r>
            <a:endParaRPr lang="en-US" sz="1500" dirty="0"/>
          </a:p>
        </p:txBody>
      </p:sp>
      <p:sp>
        <p:nvSpPr>
          <p:cNvPr id="10" name="Text 8"/>
          <p:cNvSpPr/>
          <p:nvPr/>
        </p:nvSpPr>
        <p:spPr>
          <a:xfrm>
            <a:off x="3246120" y="2441448"/>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XS</a:t>
            </a:r>
            <a:endParaRPr lang="en-US" sz="1700" dirty="0"/>
          </a:p>
        </p:txBody>
      </p:sp>
      <p:sp>
        <p:nvSpPr>
          <p:cNvPr id="11" name="Shape 9"/>
          <p:cNvSpPr/>
          <p:nvPr/>
        </p:nvSpPr>
        <p:spPr>
          <a:xfrm>
            <a:off x="548640" y="3099816"/>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731520" y="3099816"/>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Record a return</a:t>
            </a:r>
            <a:endParaRPr lang="en-US" sz="1500" dirty="0"/>
          </a:p>
        </p:txBody>
      </p:sp>
      <p:sp>
        <p:nvSpPr>
          <p:cNvPr id="13" name="Text 11"/>
          <p:cNvSpPr/>
          <p:nvPr/>
        </p:nvSpPr>
        <p:spPr>
          <a:xfrm>
            <a:off x="3246120" y="3099816"/>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S</a:t>
            </a:r>
            <a:endParaRPr lang="en-US" sz="1700" dirty="0"/>
          </a:p>
        </p:txBody>
      </p:sp>
      <p:sp>
        <p:nvSpPr>
          <p:cNvPr id="14" name="Shape 12"/>
          <p:cNvSpPr/>
          <p:nvPr/>
        </p:nvSpPr>
        <p:spPr>
          <a:xfrm>
            <a:off x="548640" y="3758184"/>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31520" y="3758184"/>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List overdue items</a:t>
            </a:r>
            <a:endParaRPr lang="en-US" sz="1500" dirty="0"/>
          </a:p>
        </p:txBody>
      </p:sp>
      <p:sp>
        <p:nvSpPr>
          <p:cNvPr id="16" name="Text 14"/>
          <p:cNvSpPr/>
          <p:nvPr/>
        </p:nvSpPr>
        <p:spPr>
          <a:xfrm>
            <a:off x="3246120" y="3758184"/>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M</a:t>
            </a:r>
            <a:endParaRPr lang="en-US" sz="1700" dirty="0"/>
          </a:p>
        </p:txBody>
      </p:sp>
      <p:sp>
        <p:nvSpPr>
          <p:cNvPr id="17" name="Shape 15"/>
          <p:cNvSpPr/>
          <p:nvPr/>
        </p:nvSpPr>
        <p:spPr>
          <a:xfrm>
            <a:off x="4160520" y="1783080"/>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343400" y="1783080"/>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Add an item from a phone</a:t>
            </a:r>
            <a:endParaRPr lang="en-US" sz="1500" dirty="0"/>
          </a:p>
        </p:txBody>
      </p:sp>
      <p:sp>
        <p:nvSpPr>
          <p:cNvPr id="19" name="Text 17"/>
          <p:cNvSpPr/>
          <p:nvPr/>
        </p:nvSpPr>
        <p:spPr>
          <a:xfrm>
            <a:off x="6858000" y="1783080"/>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M</a:t>
            </a:r>
            <a:endParaRPr lang="en-US" sz="1700" dirty="0"/>
          </a:p>
        </p:txBody>
      </p:sp>
      <p:sp>
        <p:nvSpPr>
          <p:cNvPr id="20" name="Shape 18"/>
          <p:cNvSpPr/>
          <p:nvPr/>
        </p:nvSpPr>
        <p:spPr>
          <a:xfrm>
            <a:off x="4160520" y="2441448"/>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4343400" y="2441448"/>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Attach a photo</a:t>
            </a:r>
            <a:endParaRPr lang="en-US" sz="1500" dirty="0"/>
          </a:p>
        </p:txBody>
      </p:sp>
      <p:sp>
        <p:nvSpPr>
          <p:cNvPr id="22" name="Text 20"/>
          <p:cNvSpPr/>
          <p:nvPr/>
        </p:nvSpPr>
        <p:spPr>
          <a:xfrm>
            <a:off x="6858000" y="2441448"/>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M</a:t>
            </a:r>
            <a:endParaRPr lang="en-US" sz="1700" dirty="0"/>
          </a:p>
        </p:txBody>
      </p:sp>
      <p:sp>
        <p:nvSpPr>
          <p:cNvPr id="23" name="Shape 21"/>
          <p:cNvSpPr/>
          <p:nvPr/>
        </p:nvSpPr>
        <p:spPr>
          <a:xfrm>
            <a:off x="4160520" y="3099816"/>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4343400" y="3099816"/>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Test iPhone photos (HEIC)</a:t>
            </a:r>
            <a:endParaRPr lang="en-US" sz="1500" dirty="0"/>
          </a:p>
        </p:txBody>
      </p:sp>
      <p:sp>
        <p:nvSpPr>
          <p:cNvPr id="25" name="Text 23"/>
          <p:cNvSpPr/>
          <p:nvPr/>
        </p:nvSpPr>
        <p:spPr>
          <a:xfrm>
            <a:off x="6858000" y="3099816"/>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S</a:t>
            </a:r>
            <a:endParaRPr lang="en-US" sz="1700" dirty="0"/>
          </a:p>
        </p:txBody>
      </p:sp>
      <p:sp>
        <p:nvSpPr>
          <p:cNvPr id="26" name="click-1"/>
          <p:cNvSpPr/>
          <p:nvPr/>
        </p:nvSpPr>
        <p:spPr>
          <a:xfrm>
            <a:off x="7863840" y="1783080"/>
            <a:ext cx="3749040" cy="2523744"/>
          </a:xfrm>
          <a:prstGeom prst="roundRect">
            <a:avLst>
              <a:gd name="adj" fmla="val 3261"/>
            </a:avLst>
          </a:prstGeom>
          <a:solidFill>
            <a:srgbClr val="14233A"/>
          </a:solidFill>
          <a:ln/>
          <a:effectLst>
            <a:outerShdw sx="100000" sy="100000" kx="0" ky="0" algn="bl" rotWithShape="0" blurRad="88900" dist="38100" dir="5400000">
              <a:srgbClr val="000000">
                <a:alpha val="13000"/>
              </a:srgbClr>
            </a:outerShdw>
          </a:effectLst>
        </p:spPr>
      </p:sp>
      <p:sp>
        <p:nvSpPr>
          <p:cNvPr id="27" name="click-1"/>
          <p:cNvSpPr/>
          <p:nvPr/>
        </p:nvSpPr>
        <p:spPr>
          <a:xfrm>
            <a:off x="8138160" y="1783080"/>
            <a:ext cx="3246120" cy="2523744"/>
          </a:xfrm>
          <a:prstGeom prst="rect">
            <a:avLst/>
          </a:prstGeom>
          <a:noFill/>
          <a:ln/>
        </p:spPr>
        <p:txBody>
          <a:bodyPr wrap="square" lIns="0" tIns="0" rIns="0" bIns="0" rtlCol="0" anchor="ctr"/>
          <a:lstStyle/>
          <a:p>
            <a:pPr indent="0" marL="0">
              <a:lnSpc>
                <a:spcPct val="105000"/>
              </a:lnSpc>
              <a:buNone/>
            </a:pPr>
            <a:r>
              <a:rPr lang="en-US" sz="1800" b="1" dirty="0">
                <a:solidFill>
                  <a:srgbClr val="E8A33D"/>
                </a:solidFill>
                <a:latin typeface="Calibri" pitchFamily="34" charset="0"/>
                <a:ea typeface="Calibri" pitchFamily="34" charset="-122"/>
                <a:cs typeface="Calibri" pitchFamily="34" charset="-120"/>
              </a:rPr>
              <a:t>Fits, with an hour to spare</a:t>
            </a:r>
            <a:endParaRPr lang="en-US" sz="1800" dirty="0"/>
          </a:p>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and no room for M1 to slip into it. So name M2's next cut too: filters go to the roadmap.</a:t>
            </a:r>
            <a:endParaRPr lang="en-US" sz="1800" dirty="0"/>
          </a:p>
        </p:txBody>
      </p:sp>
      <p:sp>
        <p:nvSpPr>
          <p:cNvPr id="28" name="click-2"/>
          <p:cNvSpPr/>
          <p:nvPr/>
        </p:nvSpPr>
        <p:spPr>
          <a:xfrm>
            <a:off x="548640" y="4572000"/>
            <a:ext cx="11064240" cy="1417320"/>
          </a:xfrm>
          <a:prstGeom prst="roundRect">
            <a:avLst>
              <a:gd name="adj" fmla="val 5806"/>
            </a:avLst>
          </a:prstGeom>
          <a:solidFill>
            <a:srgbClr val="FBEEDA"/>
          </a:solidFill>
          <a:ln/>
          <a:effectLst>
            <a:outerShdw sx="100000" sy="100000" kx="0" ky="0" algn="bl" rotWithShape="0" blurRad="88900" dist="38100" dir="5400000">
              <a:srgbClr val="000000">
                <a:alpha val="13000"/>
              </a:srgbClr>
            </a:outerShdw>
          </a:effectLst>
        </p:spPr>
      </p:sp>
      <p:sp>
        <p:nvSpPr>
          <p:cNvPr id="29" name="click-2"/>
          <p:cNvSpPr/>
          <p:nvPr/>
        </p:nvSpPr>
        <p:spPr>
          <a:xfrm>
            <a:off x="868680" y="4572000"/>
            <a:ext cx="10424160" cy="141732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Two people are hiding in M2.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The add-item form is designed with the wardrobe lead, and the iPhone test needs a borrowed iPhone. Ask them now, not when the issue comes up.</a:t>
            </a:r>
            <a:endParaRPr lang="en-US" sz="1700" dirty="0"/>
          </a:p>
        </p:txBody>
      </p:sp>
      <p:sp>
        <p:nvSpPr>
          <p:cNvPr id="30" name="Text 28"/>
          <p:cNvSpPr/>
          <p:nvPr/>
        </p:nvSpPr>
        <p:spPr>
          <a:xfrm>
            <a:off x="548640" y="6126480"/>
            <a:ext cx="11064240" cy="27432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The empty-search issue is a good first issue, but it's counted anyway: a contributor may not come.</a:t>
            </a:r>
            <a:endParaRPr lang="en-US" sz="1500" dirty="0"/>
          </a:p>
        </p:txBody>
      </p:sp>
      <p:sp>
        <p:nvSpPr>
          <p:cNvPr id="31" name="Text 2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6"/>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11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Size your first milestone, then check that it fits</a:t>
            </a:r>
            <a:endParaRPr lang="en-US" sz="3200" dirty="0"/>
          </a:p>
        </p:txBody>
      </p:sp>
      <p:sp>
        <p:nvSpPr>
          <p:cNvPr id="6" name="Shape 4"/>
          <p:cNvSpPr/>
          <p:nvPr/>
        </p:nvSpPr>
        <p:spPr>
          <a:xfrm>
            <a:off x="548640" y="17830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31520" y="1956816"/>
            <a:ext cx="457200" cy="457200"/>
          </a:xfrm>
          <a:prstGeom prst="ellipse">
            <a:avLst/>
          </a:prstGeom>
          <a:solidFill>
            <a:srgbClr val="E8A33D"/>
          </a:solidFill>
          <a:ln/>
        </p:spPr>
      </p:sp>
      <p:sp>
        <p:nvSpPr>
          <p:cNvPr id="8" name="Text 6"/>
          <p:cNvSpPr/>
          <p:nvPr/>
        </p:nvSpPr>
        <p:spPr>
          <a:xfrm>
            <a:off x="731520" y="19568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1</a:t>
            </a:r>
            <a:endParaRPr lang="en-US" sz="1700" dirty="0"/>
          </a:p>
        </p:txBody>
      </p:sp>
      <p:sp>
        <p:nvSpPr>
          <p:cNvPr id="9" name="Text 7"/>
          <p:cNvSpPr/>
          <p:nvPr/>
        </p:nvSpPr>
        <p:spPr>
          <a:xfrm>
            <a:off x="1371600" y="17830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Add a Size field</a:t>
            </a:r>
            <a:endParaRPr lang="en-US" sz="1750" dirty="0"/>
          </a:p>
        </p:txBody>
      </p:sp>
      <p:sp>
        <p:nvSpPr>
          <p:cNvPr id="10" name="Text 8"/>
          <p:cNvSpPr/>
          <p:nvPr/>
        </p:nvSpPr>
        <p:spPr>
          <a:xfrm>
            <a:off x="4663440" y="17830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Board ⋯ → Settings → + New field → Single select, XS to XL. Or your own scheme, with its reason in CONTRIBUTING.</a:t>
            </a:r>
            <a:endParaRPr lang="en-US" sz="1550" dirty="0"/>
          </a:p>
        </p:txBody>
      </p:sp>
      <p:sp>
        <p:nvSpPr>
          <p:cNvPr id="11" name="Shape 9"/>
          <p:cNvSpPr/>
          <p:nvPr/>
        </p:nvSpPr>
        <p:spPr>
          <a:xfrm>
            <a:off x="548640" y="26974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31520" y="2871216"/>
            <a:ext cx="457200" cy="457200"/>
          </a:xfrm>
          <a:prstGeom prst="ellipse">
            <a:avLst/>
          </a:prstGeom>
          <a:solidFill>
            <a:srgbClr val="E8A33D"/>
          </a:solidFill>
          <a:ln/>
        </p:spPr>
      </p:sp>
      <p:sp>
        <p:nvSpPr>
          <p:cNvPr id="13" name="Text 11"/>
          <p:cNvSpPr/>
          <p:nvPr/>
        </p:nvSpPr>
        <p:spPr>
          <a:xfrm>
            <a:off x="731520" y="28712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2</a:t>
            </a:r>
            <a:endParaRPr lang="en-US" sz="1700" dirty="0"/>
          </a:p>
        </p:txBody>
      </p:sp>
      <p:sp>
        <p:nvSpPr>
          <p:cNvPr id="14" name="Text 12"/>
          <p:cNvSpPr/>
          <p:nvPr/>
        </p:nvSpPr>
        <p:spPr>
          <a:xfrm>
            <a:off x="1371600" y="26974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Size silently, reveal together</a:t>
            </a:r>
            <a:endParaRPr lang="en-US" sz="1750" dirty="0"/>
          </a:p>
        </p:txBody>
      </p:sp>
      <p:sp>
        <p:nvSpPr>
          <p:cNvPr id="15" name="Text 13"/>
          <p:cNvSpPr/>
          <p:nvPr/>
        </p:nvSpPr>
        <p:spPr>
          <a:xfrm>
            <a:off x="4663440" y="26974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Talk only about the disagreements. Solo: trade with your review partner and size each other's cold.</a:t>
            </a:r>
            <a:endParaRPr lang="en-US" sz="1550" dirty="0"/>
          </a:p>
        </p:txBody>
      </p:sp>
      <p:sp>
        <p:nvSpPr>
          <p:cNvPr id="16" name="Shape 14"/>
          <p:cNvSpPr/>
          <p:nvPr/>
        </p:nvSpPr>
        <p:spPr>
          <a:xfrm>
            <a:off x="548640" y="36118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31520" y="3785616"/>
            <a:ext cx="457200" cy="457200"/>
          </a:xfrm>
          <a:prstGeom prst="ellipse">
            <a:avLst/>
          </a:prstGeom>
          <a:solidFill>
            <a:srgbClr val="E8A33D"/>
          </a:solidFill>
          <a:ln/>
        </p:spPr>
      </p:sp>
      <p:sp>
        <p:nvSpPr>
          <p:cNvPr id="18" name="Text 16"/>
          <p:cNvSpPr/>
          <p:nvPr/>
        </p:nvSpPr>
        <p:spPr>
          <a:xfrm>
            <a:off x="731520" y="37856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1371600" y="36118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Question every L, split every XL</a:t>
            </a:r>
            <a:endParaRPr lang="en-US" sz="1750" dirty="0"/>
          </a:p>
        </p:txBody>
      </p:sp>
      <p:sp>
        <p:nvSpPr>
          <p:cNvPr id="20" name="Text 18"/>
          <p:cNvSpPr/>
          <p:nvPr/>
        </p:nvSpPr>
        <p:spPr>
          <a:xfrm>
            <a:off x="4663440" y="36118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An L: split it, or schedule it first?</a:t>
            </a:r>
            <a:endParaRPr lang="en-US" sz="1550" dirty="0"/>
          </a:p>
        </p:txBody>
      </p:sp>
      <p:sp>
        <p:nvSpPr>
          <p:cNvPr id="21" name="Shape 19"/>
          <p:cNvSpPr/>
          <p:nvPr/>
        </p:nvSpPr>
        <p:spPr>
          <a:xfrm>
            <a:off x="548640" y="45262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31520" y="4700016"/>
            <a:ext cx="457200" cy="457200"/>
          </a:xfrm>
          <a:prstGeom prst="ellipse">
            <a:avLst/>
          </a:prstGeom>
          <a:solidFill>
            <a:srgbClr val="E8A33D"/>
          </a:solidFill>
          <a:ln/>
        </p:spPr>
      </p:sp>
      <p:sp>
        <p:nvSpPr>
          <p:cNvPr id="23" name="Text 21"/>
          <p:cNvSpPr/>
          <p:nvPr/>
        </p:nvSpPr>
        <p:spPr>
          <a:xfrm>
            <a:off x="731520" y="47000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4</a:t>
            </a:r>
            <a:endParaRPr lang="en-US" sz="1700" dirty="0"/>
          </a:p>
        </p:txBody>
      </p:sp>
      <p:sp>
        <p:nvSpPr>
          <p:cNvPr id="24" name="Text 22"/>
          <p:cNvSpPr/>
          <p:nvPr/>
        </p:nvSpPr>
        <p:spPr>
          <a:xfrm>
            <a:off x="1371600" y="45262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Tally against your budget</a:t>
            </a:r>
            <a:endParaRPr lang="en-US" sz="1750" dirty="0"/>
          </a:p>
        </p:txBody>
      </p:sp>
      <p:sp>
        <p:nvSpPr>
          <p:cNvPr id="25" name="Text 23"/>
          <p:cNvSpPr/>
          <p:nvPr/>
        </p:nvSpPr>
        <p:spPr>
          <a:xfrm>
            <a:off x="4663440" y="45262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Sheet boxes 2 and 3. If it doesn't fit, cut now (box 5), then name your next cut.</a:t>
            </a:r>
            <a:endParaRPr lang="en-US" sz="1550" dirty="0"/>
          </a:p>
        </p:txBody>
      </p:sp>
      <p:sp>
        <p:nvSpPr>
          <p:cNvPr id="26" name="Shape 24"/>
          <p:cNvSpPr/>
          <p:nvPr/>
        </p:nvSpPr>
        <p:spPr>
          <a:xfrm>
            <a:off x="548640" y="548640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486400"/>
            <a:ext cx="10424160" cy="73152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The cut moves, in order: off the slice first · take a fallback · shrink the criteria · defer to the roadmap</a:t>
            </a:r>
            <a:endParaRPr lang="en-US" sz="1650" dirty="0"/>
          </a:p>
        </p:txBody>
      </p:sp>
      <p:sp>
        <p:nvSpPr>
          <p:cNvPr id="28" name="Text 26"/>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SEQUENCING</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rules, strongest first</a:t>
            </a:r>
            <a:endParaRPr lang="en-US" sz="3100" dirty="0"/>
          </a:p>
        </p:txBody>
      </p:sp>
      <p:sp>
        <p:nvSpPr>
          <p:cNvPr id="5" name="click-1"/>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01952"/>
            <a:ext cx="512064" cy="512064"/>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915497" y="2040209"/>
            <a:ext cx="235549" cy="235549"/>
          </a:xfrm>
          <a:prstGeom prst="rect">
            <a:avLst/>
          </a:prstGeom>
        </p:spPr>
      </p:pic>
      <p:sp>
        <p:nvSpPr>
          <p:cNvPr id="8" name="click-1"/>
          <p:cNvSpPr/>
          <p:nvPr/>
        </p:nvSpPr>
        <p:spPr>
          <a:xfrm>
            <a:off x="1508760" y="178308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Slice first</a:t>
            </a:r>
            <a:endParaRPr lang="en-US" sz="1800" dirty="0"/>
          </a:p>
        </p:txBody>
      </p:sp>
      <p:sp>
        <p:nvSpPr>
          <p:cNvPr id="9" name="click-1"/>
          <p:cNvSpPr/>
          <p:nvPr/>
        </p:nvSpPr>
        <p:spPr>
          <a:xfrm>
            <a:off x="4572000" y="178308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The one end-to-end path the demo walks, walkable as early as possible, then widened.</a:t>
            </a:r>
            <a:endParaRPr lang="en-US" sz="1600" dirty="0"/>
          </a:p>
        </p:txBody>
      </p:sp>
      <p:sp>
        <p:nvSpPr>
          <p:cNvPr id="10" name="click-2"/>
          <p:cNvSpPr/>
          <p:nvPr/>
        </p:nvSpPr>
        <p:spPr>
          <a:xfrm>
            <a:off x="548640" y="265176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777240" y="2770632"/>
            <a:ext cx="512064" cy="512064"/>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915497" y="2908889"/>
            <a:ext cx="235549" cy="235549"/>
          </a:xfrm>
          <a:prstGeom prst="rect">
            <a:avLst/>
          </a:prstGeom>
        </p:spPr>
      </p:pic>
      <p:sp>
        <p:nvSpPr>
          <p:cNvPr id="13" name="click-2"/>
          <p:cNvSpPr/>
          <p:nvPr/>
        </p:nvSpPr>
        <p:spPr>
          <a:xfrm>
            <a:off x="1508760" y="265176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Dependencies</a:t>
            </a:r>
            <a:endParaRPr lang="en-US" sz="1800" dirty="0"/>
          </a:p>
        </p:txBody>
      </p:sp>
      <p:sp>
        <p:nvSpPr>
          <p:cNvPr id="14" name="click-2"/>
          <p:cNvSpPr/>
          <p:nvPr/>
        </p:nvSpPr>
        <p:spPr>
          <a:xfrm>
            <a:off x="4572000" y="265176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Only the real edges. Write each as "Needs …" in the issue; the order follows.</a:t>
            </a:r>
            <a:endParaRPr lang="en-US" sz="1600" dirty="0"/>
          </a:p>
        </p:txBody>
      </p:sp>
      <p:sp>
        <p:nvSpPr>
          <p:cNvPr id="15" name="click-3"/>
          <p:cNvSpPr/>
          <p:nvPr/>
        </p:nvSpPr>
        <p:spPr>
          <a:xfrm>
            <a:off x="548640" y="352044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777240" y="3639312"/>
            <a:ext cx="512064" cy="512064"/>
          </a:xfrm>
          <a:prstGeom prst="ellipse">
            <a:avLst/>
          </a:prstGeom>
          <a:solidFill>
            <a:srgbClr val="12908F"/>
          </a:solidFill>
          <a:ln/>
        </p:spPr>
      </p:sp>
      <p:pic>
        <p:nvPicPr>
          <p:cNvPr id="17" name="click-3" descr="preencoded.png">    </p:cNvPr>
          <p:cNvPicPr>
            <a:picLocks noChangeAspect="1"/>
          </p:cNvPicPr>
          <p:nvPr/>
        </p:nvPicPr>
        <p:blipFill>
          <a:blip r:embed="rId3"/>
          <a:stretch>
            <a:fillRect/>
          </a:stretch>
        </p:blipFill>
        <p:spPr>
          <a:xfrm>
            <a:off x="915497" y="3777569"/>
            <a:ext cx="235549" cy="235549"/>
          </a:xfrm>
          <a:prstGeom prst="rect">
            <a:avLst/>
          </a:prstGeom>
        </p:spPr>
      </p:pic>
      <p:sp>
        <p:nvSpPr>
          <p:cNvPr id="18" name="click-3"/>
          <p:cNvSpPr/>
          <p:nvPr/>
        </p:nvSpPr>
        <p:spPr>
          <a:xfrm>
            <a:off x="1508760" y="352044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Risk early</a:t>
            </a:r>
            <a:endParaRPr lang="en-US" sz="1800" dirty="0"/>
          </a:p>
        </p:txBody>
      </p:sp>
      <p:sp>
        <p:nvSpPr>
          <p:cNvPr id="19" name="click-3"/>
          <p:cNvSpPr/>
          <p:nvPr/>
        </p:nvSpPr>
        <p:spPr>
          <a:xfrm>
            <a:off x="4572000" y="352044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The scariest issue goes first, while there's still time for it to be wrong.</a:t>
            </a:r>
            <a:endParaRPr lang="en-US" sz="1600" dirty="0"/>
          </a:p>
        </p:txBody>
      </p:sp>
      <p:sp>
        <p:nvSpPr>
          <p:cNvPr id="20" name="click-4"/>
          <p:cNvSpPr/>
          <p:nvPr/>
        </p:nvSpPr>
        <p:spPr>
          <a:xfrm>
            <a:off x="548640" y="438912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1" name="click-4"/>
          <p:cNvSpPr/>
          <p:nvPr/>
        </p:nvSpPr>
        <p:spPr>
          <a:xfrm>
            <a:off x="777240" y="4507992"/>
            <a:ext cx="512064" cy="512064"/>
          </a:xfrm>
          <a:prstGeom prst="ellipse">
            <a:avLst/>
          </a:prstGeom>
          <a:solidFill>
            <a:srgbClr val="12908F"/>
          </a:solidFill>
          <a:ln/>
        </p:spPr>
      </p:sp>
      <p:pic>
        <p:nvPicPr>
          <p:cNvPr id="22" name="click-4" descr="preencoded.png">    </p:cNvPr>
          <p:cNvPicPr>
            <a:picLocks noChangeAspect="1"/>
          </p:cNvPicPr>
          <p:nvPr/>
        </p:nvPicPr>
        <p:blipFill>
          <a:blip r:embed="rId4"/>
          <a:stretch>
            <a:fillRect/>
          </a:stretch>
        </p:blipFill>
        <p:spPr>
          <a:xfrm>
            <a:off x="915497" y="4646249"/>
            <a:ext cx="235549" cy="235549"/>
          </a:xfrm>
          <a:prstGeom prst="rect">
            <a:avLst/>
          </a:prstGeom>
        </p:spPr>
      </p:pic>
      <p:sp>
        <p:nvSpPr>
          <p:cNvPr id="23" name="click-4"/>
          <p:cNvSpPr/>
          <p:nvPr/>
        </p:nvSpPr>
        <p:spPr>
          <a:xfrm>
            <a:off x="1508760" y="438912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People are dependencies</a:t>
            </a:r>
            <a:endParaRPr lang="en-US" sz="1800" dirty="0"/>
          </a:p>
        </p:txBody>
      </p:sp>
      <p:sp>
        <p:nvSpPr>
          <p:cNvPr id="24" name="click-4"/>
          <p:cNvSpPr/>
          <p:nvPr/>
        </p:nvSpPr>
        <p:spPr>
          <a:xfrm>
            <a:off x="4572000" y="438912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A cold reader, a user to design with, a borrowed phone. Ask now; date it.</a:t>
            </a:r>
            <a:endParaRPr lang="en-US" sz="1600" dirty="0"/>
          </a:p>
        </p:txBody>
      </p:sp>
      <p:sp>
        <p:nvSpPr>
          <p:cNvPr id="25" name="click-5"/>
          <p:cNvSpPr/>
          <p:nvPr/>
        </p:nvSpPr>
        <p:spPr>
          <a:xfrm>
            <a:off x="548640" y="525780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6" name="click-5"/>
          <p:cNvSpPr/>
          <p:nvPr/>
        </p:nvSpPr>
        <p:spPr>
          <a:xfrm>
            <a:off x="777240" y="5376672"/>
            <a:ext cx="512064" cy="512064"/>
          </a:xfrm>
          <a:prstGeom prst="ellipse">
            <a:avLst/>
          </a:prstGeom>
          <a:solidFill>
            <a:srgbClr val="12908F"/>
          </a:solidFill>
          <a:ln/>
        </p:spPr>
      </p:sp>
      <p:pic>
        <p:nvPicPr>
          <p:cNvPr id="27" name="click-5" descr="preencoded.png">    </p:cNvPr>
          <p:cNvPicPr>
            <a:picLocks noChangeAspect="1"/>
          </p:cNvPicPr>
          <p:nvPr/>
        </p:nvPicPr>
        <p:blipFill>
          <a:blip r:embed="rId5"/>
          <a:stretch>
            <a:fillRect/>
          </a:stretch>
        </p:blipFill>
        <p:spPr>
          <a:xfrm>
            <a:off x="915497" y="5514929"/>
            <a:ext cx="235549" cy="235549"/>
          </a:xfrm>
          <a:prstGeom prst="rect">
            <a:avLst/>
          </a:prstGeom>
        </p:spPr>
      </p:pic>
      <p:sp>
        <p:nvSpPr>
          <p:cNvPr id="28" name="click-5"/>
          <p:cNvSpPr/>
          <p:nvPr/>
        </p:nvSpPr>
        <p:spPr>
          <a:xfrm>
            <a:off x="1508760" y="525780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Stagger the reviews</a:t>
            </a:r>
            <a:endParaRPr lang="en-US" sz="1800" dirty="0"/>
          </a:p>
        </p:txBody>
      </p:sp>
      <p:sp>
        <p:nvSpPr>
          <p:cNvPr id="29" name="click-5"/>
          <p:cNvSpPr/>
          <p:nvPr/>
        </p:nvSpPr>
        <p:spPr>
          <a:xfrm>
            <a:off x="4572000" y="525780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Two big pull requests in review at once stall a small project.</a:t>
            </a:r>
            <a:endParaRPr lang="en-US" sz="1600" dirty="0"/>
          </a:p>
        </p:txBody>
      </p:sp>
      <p:sp>
        <p:nvSpPr>
          <p:cNvPr id="30" name="Text 23"/>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1"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4" presetID="1" presetClass="entr"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59" dur="1" fill="hold">
                                          <p:stCondLst>
                                            <p:cond delay="0"/>
                                          </p:stCondLst>
                                        </p:cTn>
                                        <p:tgtEl>
                                          <p:spTgt spid="28"/>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ORDER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Ready holds what can start now. Backlog's top is next.</a:t>
            </a:r>
            <a:endParaRPr lang="en-US" sz="3100" dirty="0"/>
          </a:p>
        </p:txBody>
      </p:sp>
      <p:sp>
        <p:nvSpPr>
          <p:cNvPr id="5" name="Shape 3"/>
          <p:cNvSpPr/>
          <p:nvPr/>
        </p:nvSpPr>
        <p:spPr>
          <a:xfrm>
            <a:off x="548640" y="1783080"/>
            <a:ext cx="3474720" cy="3017520"/>
          </a:xfrm>
          <a:prstGeom prst="roundRect">
            <a:avLst>
              <a:gd name="adj" fmla="val 2424"/>
            </a:avLst>
          </a:prstGeom>
          <a:solidFill>
            <a:srgbClr val="F2F6F8"/>
          </a:solidFill>
          <a:ln/>
        </p:spPr>
      </p:sp>
      <p:sp>
        <p:nvSpPr>
          <p:cNvPr id="6" name="Text 4"/>
          <p:cNvSpPr/>
          <p:nvPr/>
        </p:nvSpPr>
        <p:spPr>
          <a:xfrm>
            <a:off x="731520" y="1847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In progress</a:t>
            </a:r>
            <a:endParaRPr lang="en-US" sz="1800" dirty="0"/>
          </a:p>
        </p:txBody>
      </p:sp>
      <p:sp>
        <p:nvSpPr>
          <p:cNvPr id="7" name="Shape 5"/>
          <p:cNvSpPr/>
          <p:nvPr/>
        </p:nvSpPr>
        <p:spPr>
          <a:xfrm>
            <a:off x="685800" y="239572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8" name="Shape 6"/>
          <p:cNvSpPr/>
          <p:nvPr/>
        </p:nvSpPr>
        <p:spPr>
          <a:xfrm>
            <a:off x="795528" y="2514600"/>
            <a:ext cx="420624" cy="420624"/>
          </a:xfrm>
          <a:prstGeom prst="ellipse">
            <a:avLst/>
          </a:prstGeom>
          <a:solidFill>
            <a:srgbClr val="12908F"/>
          </a:solidFill>
          <a:ln/>
        </p:spPr>
      </p:sp>
      <p:sp>
        <p:nvSpPr>
          <p:cNvPr id="9" name="Text 7"/>
          <p:cNvSpPr/>
          <p:nvPr/>
        </p:nvSpPr>
        <p:spPr>
          <a:xfrm>
            <a:off x="795528" y="25146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0" name="Text 8"/>
          <p:cNvSpPr/>
          <p:nvPr/>
        </p:nvSpPr>
        <p:spPr>
          <a:xfrm>
            <a:off x="1325880" y="239572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Search items by name</a:t>
            </a:r>
            <a:endParaRPr lang="en-US" sz="1500" dirty="0"/>
          </a:p>
        </p:txBody>
      </p:sp>
      <p:sp>
        <p:nvSpPr>
          <p:cNvPr id="11" name="Shape 9"/>
          <p:cNvSpPr/>
          <p:nvPr/>
        </p:nvSpPr>
        <p:spPr>
          <a:xfrm>
            <a:off x="4343400" y="1783080"/>
            <a:ext cx="3474720" cy="3017520"/>
          </a:xfrm>
          <a:prstGeom prst="roundRect">
            <a:avLst>
              <a:gd name="adj" fmla="val 2424"/>
            </a:avLst>
          </a:prstGeom>
          <a:solidFill>
            <a:srgbClr val="F2F6F8"/>
          </a:solidFill>
          <a:ln/>
        </p:spPr>
      </p:sp>
      <p:sp>
        <p:nvSpPr>
          <p:cNvPr id="12" name="Text 10"/>
          <p:cNvSpPr/>
          <p:nvPr/>
        </p:nvSpPr>
        <p:spPr>
          <a:xfrm>
            <a:off x="4526280" y="1847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Ready</a:t>
            </a:r>
            <a:endParaRPr lang="en-US" sz="1800" dirty="0"/>
          </a:p>
        </p:txBody>
      </p:sp>
      <p:sp>
        <p:nvSpPr>
          <p:cNvPr id="13" name="Shape 11"/>
          <p:cNvSpPr/>
          <p:nvPr/>
        </p:nvSpPr>
        <p:spPr>
          <a:xfrm>
            <a:off x="4480560" y="239572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14" name="Shape 12"/>
          <p:cNvSpPr/>
          <p:nvPr/>
        </p:nvSpPr>
        <p:spPr>
          <a:xfrm>
            <a:off x="4590288" y="2514600"/>
            <a:ext cx="420624" cy="420624"/>
          </a:xfrm>
          <a:prstGeom prst="ellipse">
            <a:avLst/>
          </a:prstGeom>
          <a:solidFill>
            <a:srgbClr val="12908F"/>
          </a:solidFill>
          <a:ln/>
        </p:spPr>
      </p:sp>
      <p:sp>
        <p:nvSpPr>
          <p:cNvPr id="15" name="Text 13"/>
          <p:cNvSpPr/>
          <p:nvPr/>
        </p:nvSpPr>
        <p:spPr>
          <a:xfrm>
            <a:off x="4590288" y="25146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5120640" y="239572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Record checkouts</a:t>
            </a:r>
            <a:endParaRPr lang="en-US" sz="1500" dirty="0"/>
          </a:p>
        </p:txBody>
      </p:sp>
      <p:sp>
        <p:nvSpPr>
          <p:cNvPr id="17" name="Shape 15"/>
          <p:cNvSpPr/>
          <p:nvPr/>
        </p:nvSpPr>
        <p:spPr>
          <a:xfrm>
            <a:off x="4480560" y="317296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18" name="Shape 16"/>
          <p:cNvSpPr/>
          <p:nvPr/>
        </p:nvSpPr>
        <p:spPr>
          <a:xfrm>
            <a:off x="4590288" y="3291840"/>
            <a:ext cx="420624" cy="420624"/>
          </a:xfrm>
          <a:prstGeom prst="ellipse">
            <a:avLst/>
          </a:prstGeom>
          <a:solidFill>
            <a:srgbClr val="12908F"/>
          </a:solidFill>
          <a:ln/>
        </p:spPr>
      </p:sp>
      <p:sp>
        <p:nvSpPr>
          <p:cNvPr id="19" name="Text 17"/>
          <p:cNvSpPr/>
          <p:nvPr/>
        </p:nvSpPr>
        <p:spPr>
          <a:xfrm>
            <a:off x="4590288" y="32918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8"/>
          <p:cNvSpPr/>
          <p:nvPr/>
        </p:nvSpPr>
        <p:spPr>
          <a:xfrm>
            <a:off x="5120640" y="317296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Show an item's detail page</a:t>
            </a:r>
            <a:endParaRPr lang="en-US" sz="1500" dirty="0"/>
          </a:p>
        </p:txBody>
      </p:sp>
      <p:sp>
        <p:nvSpPr>
          <p:cNvPr id="21" name="Shape 19"/>
          <p:cNvSpPr/>
          <p:nvPr/>
        </p:nvSpPr>
        <p:spPr>
          <a:xfrm>
            <a:off x="4480560" y="395020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22" name="Shape 20"/>
          <p:cNvSpPr/>
          <p:nvPr/>
        </p:nvSpPr>
        <p:spPr>
          <a:xfrm>
            <a:off x="4590288" y="4069080"/>
            <a:ext cx="420624" cy="420624"/>
          </a:xfrm>
          <a:prstGeom prst="ellipse">
            <a:avLst/>
          </a:prstGeom>
          <a:solidFill>
            <a:srgbClr val="5F7284"/>
          </a:solidFill>
          <a:ln/>
        </p:spPr>
      </p:sp>
      <p:sp>
        <p:nvSpPr>
          <p:cNvPr id="23" name="Text 21"/>
          <p:cNvSpPr/>
          <p:nvPr/>
        </p:nvSpPr>
        <p:spPr>
          <a:xfrm>
            <a:off x="4590288" y="4069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4" name="Text 22"/>
          <p:cNvSpPr/>
          <p:nvPr/>
        </p:nvSpPr>
        <p:spPr>
          <a:xfrm>
            <a:off x="5120640" y="395020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Write a setup guide (alongside)</a:t>
            </a:r>
            <a:endParaRPr lang="en-US" sz="1500" dirty="0"/>
          </a:p>
        </p:txBody>
      </p:sp>
      <p:sp>
        <p:nvSpPr>
          <p:cNvPr id="25" name="Shape 23"/>
          <p:cNvSpPr/>
          <p:nvPr/>
        </p:nvSpPr>
        <p:spPr>
          <a:xfrm>
            <a:off x="8138160" y="1783080"/>
            <a:ext cx="3474720" cy="3017520"/>
          </a:xfrm>
          <a:prstGeom prst="roundRect">
            <a:avLst>
              <a:gd name="adj" fmla="val 2424"/>
            </a:avLst>
          </a:prstGeom>
          <a:solidFill>
            <a:srgbClr val="F2F6F8"/>
          </a:solidFill>
          <a:ln/>
        </p:spPr>
      </p:sp>
      <p:sp>
        <p:nvSpPr>
          <p:cNvPr id="26" name="Text 24"/>
          <p:cNvSpPr/>
          <p:nvPr/>
        </p:nvSpPr>
        <p:spPr>
          <a:xfrm>
            <a:off x="8321040" y="1847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Backlog, top</a:t>
            </a:r>
            <a:endParaRPr lang="en-US" sz="1800" dirty="0"/>
          </a:p>
        </p:txBody>
      </p:sp>
      <p:sp>
        <p:nvSpPr>
          <p:cNvPr id="27" name="Shape 25"/>
          <p:cNvSpPr/>
          <p:nvPr/>
        </p:nvSpPr>
        <p:spPr>
          <a:xfrm>
            <a:off x="8275320" y="239572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28" name="Shape 26"/>
          <p:cNvSpPr/>
          <p:nvPr/>
        </p:nvSpPr>
        <p:spPr>
          <a:xfrm>
            <a:off x="8385048" y="2514600"/>
            <a:ext cx="420624" cy="420624"/>
          </a:xfrm>
          <a:prstGeom prst="ellipse">
            <a:avLst/>
          </a:prstGeom>
          <a:solidFill>
            <a:srgbClr val="12908F"/>
          </a:solidFill>
          <a:ln/>
        </p:spPr>
      </p:sp>
      <p:sp>
        <p:nvSpPr>
          <p:cNvPr id="29" name="Text 27"/>
          <p:cNvSpPr/>
          <p:nvPr/>
        </p:nvSpPr>
        <p:spPr>
          <a:xfrm>
            <a:off x="8385048" y="25146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0" name="Text 28"/>
          <p:cNvSpPr/>
          <p:nvPr/>
        </p:nvSpPr>
        <p:spPr>
          <a:xfrm>
            <a:off x="8915400" y="239572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Show who has an item</a:t>
            </a:r>
            <a:endParaRPr lang="en-US" sz="1500" dirty="0"/>
          </a:p>
        </p:txBody>
      </p:sp>
      <p:sp>
        <p:nvSpPr>
          <p:cNvPr id="31" name="Shape 29"/>
          <p:cNvSpPr/>
          <p:nvPr/>
        </p:nvSpPr>
        <p:spPr>
          <a:xfrm>
            <a:off x="8275320" y="317296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32" name="Shape 30"/>
          <p:cNvSpPr/>
          <p:nvPr/>
        </p:nvSpPr>
        <p:spPr>
          <a:xfrm>
            <a:off x="8385048" y="3291840"/>
            <a:ext cx="420624" cy="420624"/>
          </a:xfrm>
          <a:prstGeom prst="ellipse">
            <a:avLst/>
          </a:prstGeom>
          <a:solidFill>
            <a:srgbClr val="12908F"/>
          </a:solidFill>
          <a:ln/>
        </p:spPr>
      </p:sp>
      <p:sp>
        <p:nvSpPr>
          <p:cNvPr id="33" name="Text 31"/>
          <p:cNvSpPr/>
          <p:nvPr/>
        </p:nvSpPr>
        <p:spPr>
          <a:xfrm>
            <a:off x="8385048" y="32918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4" name="Text 32"/>
          <p:cNvSpPr/>
          <p:nvPr/>
        </p:nvSpPr>
        <p:spPr>
          <a:xfrm>
            <a:off x="8915400" y="317296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Check an item out</a:t>
            </a:r>
            <a:endParaRPr lang="en-US" sz="1500" dirty="0"/>
          </a:p>
        </p:txBody>
      </p:sp>
      <p:sp>
        <p:nvSpPr>
          <p:cNvPr id="35" name="click-1"/>
          <p:cNvSpPr/>
          <p:nvPr/>
        </p:nvSpPr>
        <p:spPr>
          <a:xfrm>
            <a:off x="548640" y="4983480"/>
            <a:ext cx="5440680" cy="1234440"/>
          </a:xfrm>
          <a:prstGeom prst="roundRect">
            <a:avLst>
              <a:gd name="adj" fmla="val 6667"/>
            </a:avLst>
          </a:prstGeom>
          <a:solidFill>
            <a:srgbClr val="EAF4EE"/>
          </a:solidFill>
          <a:ln/>
          <a:effectLst>
            <a:outerShdw sx="100000" sy="100000" kx="0" ky="0" algn="bl" rotWithShape="0" blurRad="88900" dist="38100" dir="5400000">
              <a:srgbClr val="000000">
                <a:alpha val="13000"/>
              </a:srgbClr>
            </a:outerShdw>
          </a:effectLst>
        </p:spPr>
      </p:sp>
      <p:sp>
        <p:nvSpPr>
          <p:cNvPr id="36" name="click-1"/>
          <p:cNvSpPr/>
          <p:nvPr/>
        </p:nvSpPr>
        <p:spPr>
          <a:xfrm>
            <a:off x="822960" y="4983480"/>
            <a:ext cx="4937760" cy="1234440"/>
          </a:xfrm>
          <a:prstGeom prst="rect">
            <a:avLst/>
          </a:prstGeom>
          <a:noFill/>
          <a:ln/>
        </p:spPr>
        <p:txBody>
          <a:bodyPr wrap="square" lIns="0" tIns="0" rIns="0" bIns="0" rtlCol="0" anchor="ctr"/>
          <a:lstStyle/>
          <a:p>
            <a:pPr indent="0" marL="0">
              <a:lnSpc>
                <a:spcPct val="103000"/>
              </a:lnSpc>
              <a:buNone/>
            </a:pPr>
            <a:r>
              <a:rPr lang="en-US" sz="1600" b="1" dirty="0">
                <a:solidFill>
                  <a:srgbClr val="3E9C6B"/>
                </a:solidFill>
                <a:latin typeface="Calibri" pitchFamily="34" charset="0"/>
                <a:ea typeface="Calibri" pitchFamily="34" charset="-122"/>
                <a:cs typeface="Calibri" pitchFamily="34" charset="-120"/>
              </a:rPr>
              <a:t>After 4, the slice walks: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search, open, "out to Sam, due Dec 5," with the checkout entered in the admin. That's the skateboard.</a:t>
            </a:r>
            <a:endParaRPr lang="en-US" sz="1600" dirty="0"/>
          </a:p>
        </p:txBody>
      </p:sp>
      <p:sp>
        <p:nvSpPr>
          <p:cNvPr id="37" name="click-2"/>
          <p:cNvSpPr/>
          <p:nvPr/>
        </p:nvSpPr>
        <p:spPr>
          <a:xfrm>
            <a:off x="6172200" y="4983480"/>
            <a:ext cx="5440680" cy="1234440"/>
          </a:xfrm>
          <a:prstGeom prst="roundRect">
            <a:avLst>
              <a:gd name="adj" fmla="val 6667"/>
            </a:avLst>
          </a:prstGeom>
          <a:solidFill>
            <a:srgbClr val="FBEEDA"/>
          </a:solidFill>
          <a:ln/>
          <a:effectLst>
            <a:outerShdw sx="100000" sy="100000" kx="0" ky="0" algn="bl" rotWithShape="0" blurRad="88900" dist="38100" dir="5400000">
              <a:srgbClr val="000000">
                <a:alpha val="13000"/>
              </a:srgbClr>
            </a:outerShdw>
          </a:effectLst>
        </p:spPr>
      </p:sp>
      <p:sp>
        <p:nvSpPr>
          <p:cNvPr id="38" name="click-2"/>
          <p:cNvSpPr/>
          <p:nvPr/>
        </p:nvSpPr>
        <p:spPr>
          <a:xfrm>
            <a:off x="6446520" y="4983480"/>
            <a:ext cx="4937760" cy="1234440"/>
          </a:xfrm>
          <a:prstGeom prst="rect">
            <a:avLst/>
          </a:prstGeom>
          <a:noFill/>
          <a:ln/>
        </p:spPr>
        <p:txBody>
          <a:bodyPr wrap="square" lIns="0" tIns="0" rIns="0" bIns="0" rtlCol="0" anchor="ctr"/>
          <a:lstStyle/>
          <a:p>
            <a:pPr indent="0" marL="0">
              <a:lnSpc>
                <a:spcPct val="103000"/>
              </a:lnSpc>
              <a:buNone/>
            </a:pPr>
            <a:r>
              <a:rPr lang="en-US" sz="1600" b="1" dirty="0">
                <a:solidFill>
                  <a:srgbClr val="0E6E6D"/>
                </a:solidFill>
                <a:latin typeface="Calibri" pitchFamily="34" charset="0"/>
                <a:ea typeface="Calibri" pitchFamily="34" charset="-122"/>
                <a:cs typeface="Calibri" pitchFamily="34" charset="-120"/>
              </a:rPr>
              <a:t>Why the model is second: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with HTMX cut, it's the riskiest thing left, and two issues need it.</a:t>
            </a:r>
            <a:endParaRPr lang="en-US" sz="1600" dirty="0"/>
          </a:p>
        </p:txBody>
      </p:sp>
      <p:sp>
        <p:nvSpPr>
          <p:cNvPr id="39" name="Text 37"/>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40" name="Text 3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3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3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WALKABLE AT EVERY STAGE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skateboard, not the pile of parts</a:t>
            </a:r>
            <a:endParaRPr lang="en-US" sz="3100" dirty="0"/>
          </a:p>
        </p:txBody>
      </p:sp>
      <p:sp>
        <p:nvSpPr>
          <p:cNvPr id="5" name="Shape 3"/>
          <p:cNvSpPr/>
          <p:nvPr/>
        </p:nvSpPr>
        <p:spPr>
          <a:xfrm>
            <a:off x="548640" y="1783080"/>
            <a:ext cx="5440680" cy="3246120"/>
          </a:xfrm>
          <a:prstGeom prst="roundRect">
            <a:avLst>
              <a:gd name="adj" fmla="val 2535"/>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965960"/>
            <a:ext cx="566928" cy="566928"/>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8" name="Text 5"/>
          <p:cNvSpPr/>
          <p:nvPr/>
        </p:nvSpPr>
        <p:spPr>
          <a:xfrm>
            <a:off x="1554480" y="1965960"/>
            <a:ext cx="4206240" cy="566928"/>
          </a:xfrm>
          <a:prstGeom prst="rect">
            <a:avLst/>
          </a:prstGeom>
          <a:noFill/>
          <a:ln/>
        </p:spPr>
        <p:txBody>
          <a:bodyPr wrap="square" lIns="0" tIns="0" rIns="0" bIns="0" rtlCol="0" anchor="ctr"/>
          <a:lstStyle/>
          <a:p>
            <a:pPr indent="0" marL="0">
              <a:buNone/>
            </a:pPr>
            <a:r>
              <a:rPr lang="en-US" sz="2000" b="1" dirty="0">
                <a:solidFill>
                  <a:srgbClr val="D9614C"/>
                </a:solidFill>
                <a:latin typeface="Calibri" pitchFamily="34" charset="0"/>
                <a:ea typeface="Calibri" pitchFamily="34" charset="-122"/>
                <a:cs typeface="Calibri" pitchFamily="34" charset="-120"/>
              </a:rPr>
              <a:t>Broad and shallow</a:t>
            </a:r>
            <a:endParaRPr lang="en-US" sz="2000" dirty="0"/>
          </a:p>
        </p:txBody>
      </p:sp>
      <p:sp>
        <p:nvSpPr>
          <p:cNvPr id="9" name="Text 6"/>
          <p:cNvSpPr/>
          <p:nvPr/>
        </p:nvSpPr>
        <p:spPr>
          <a:xfrm>
            <a:off x="822960" y="2697480"/>
            <a:ext cx="4892040" cy="219456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A search page, a detail page, and a checkout form, all styled, with no checkout model behind them. Every screen exists; nothing works end to end. It demos badly and proves nothing.</a:t>
            </a:r>
            <a:endParaRPr lang="en-US" sz="1600" dirty="0"/>
          </a:p>
        </p:txBody>
      </p:sp>
      <p:sp>
        <p:nvSpPr>
          <p:cNvPr id="10" name="click-1"/>
          <p:cNvSpPr/>
          <p:nvPr/>
        </p:nvSpPr>
        <p:spPr>
          <a:xfrm>
            <a:off x="6172200" y="1783080"/>
            <a:ext cx="5440680" cy="3246120"/>
          </a:xfrm>
          <a:prstGeom prst="roundRect">
            <a:avLst>
              <a:gd name="adj" fmla="val 2535"/>
            </a:avLst>
          </a:prstGeom>
          <a:solidFill>
            <a:srgbClr val="EAF4EE"/>
          </a:solidFill>
          <a:ln/>
          <a:effectLst>
            <a:outerShdw sx="100000" sy="100000" kx="0" ky="0" algn="bl" rotWithShape="0" blurRad="88900" dist="38100" dir="5400000">
              <a:srgbClr val="000000">
                <a:alpha val="13000"/>
              </a:srgbClr>
            </a:outerShdw>
          </a:effectLst>
        </p:spPr>
      </p:sp>
      <p:sp>
        <p:nvSpPr>
          <p:cNvPr id="11" name="click-1"/>
          <p:cNvSpPr/>
          <p:nvPr/>
        </p:nvSpPr>
        <p:spPr>
          <a:xfrm>
            <a:off x="6446520" y="1965960"/>
            <a:ext cx="566928" cy="566928"/>
          </a:xfrm>
          <a:prstGeom prst="ellipse">
            <a:avLst/>
          </a:prstGeom>
          <a:solidFill>
            <a:srgbClr val="3E9C6B"/>
          </a:solidFill>
          <a:ln/>
        </p:spPr>
      </p:sp>
      <p:pic>
        <p:nvPicPr>
          <p:cNvPr id="12" name="click-1" descr="preencoded.png">    </p:cNvPr>
          <p:cNvPicPr>
            <a:picLocks noChangeAspect="1"/>
          </p:cNvPicPr>
          <p:nvPr/>
        </p:nvPicPr>
        <p:blipFill>
          <a:blip r:embed="rId2"/>
          <a:stretch>
            <a:fillRect/>
          </a:stretch>
        </p:blipFill>
        <p:spPr>
          <a:xfrm>
            <a:off x="6599591" y="2119031"/>
            <a:ext cx="260787" cy="260787"/>
          </a:xfrm>
          <a:prstGeom prst="rect">
            <a:avLst/>
          </a:prstGeom>
        </p:spPr>
      </p:pic>
      <p:sp>
        <p:nvSpPr>
          <p:cNvPr id="13" name="click-1"/>
          <p:cNvSpPr/>
          <p:nvPr/>
        </p:nvSpPr>
        <p:spPr>
          <a:xfrm>
            <a:off x="7178040" y="1965960"/>
            <a:ext cx="4206240" cy="566928"/>
          </a:xfrm>
          <a:prstGeom prst="rect">
            <a:avLst/>
          </a:prstGeom>
          <a:noFill/>
          <a:ln/>
        </p:spPr>
        <p:txBody>
          <a:bodyPr wrap="square" lIns="0" tIns="0" rIns="0" bIns="0" rtlCol="0" anchor="ctr"/>
          <a:lstStyle/>
          <a:p>
            <a:pPr indent="0" marL="0">
              <a:buNone/>
            </a:pPr>
            <a:r>
              <a:rPr lang="en-US" sz="2000" b="1" dirty="0">
                <a:solidFill>
                  <a:srgbClr val="3E9C6B"/>
                </a:solidFill>
                <a:latin typeface="Calibri" pitchFamily="34" charset="0"/>
                <a:ea typeface="Calibri" pitchFamily="34" charset="-122"/>
                <a:cs typeface="Calibri" pitchFamily="34" charset="-120"/>
              </a:rPr>
              <a:t>A thin slice</a:t>
            </a:r>
            <a:endParaRPr lang="en-US" sz="2000" dirty="0"/>
          </a:p>
        </p:txBody>
      </p:sp>
      <p:sp>
        <p:nvSpPr>
          <p:cNvPr id="14" name="click-1"/>
          <p:cNvSpPr/>
          <p:nvPr/>
        </p:nvSpPr>
        <p:spPr>
          <a:xfrm>
            <a:off x="6446520" y="2697480"/>
            <a:ext cx="4892040" cy="219456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Search, open, see who has it, check it out: plain pages, no photos, no styling. A volunteer could use it today. Each later issue widens something that already works.</a:t>
            </a:r>
            <a:endParaRPr lang="en-US" sz="1600" dirty="0"/>
          </a:p>
        </p:txBody>
      </p:sp>
      <p:sp>
        <p:nvSpPr>
          <p:cNvPr id="15" name="click-2"/>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257800"/>
            <a:ext cx="10424160" cy="91440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Kniberg's point: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each stage is something a person can use and learn from. Plain isn't the same as shoddy.</a:t>
            </a:r>
            <a:endParaRPr lang="en-US" sz="1700" dirty="0"/>
          </a:p>
        </p:txBody>
      </p:sp>
      <p:sp>
        <p:nvSpPr>
          <p:cNvPr id="17" name="Text 13"/>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SLICE STATEMENT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sentence: the demo script and the exit test</a:t>
            </a:r>
            <a:endParaRPr lang="en-US" sz="3100" dirty="0"/>
          </a:p>
        </p:txBody>
      </p:sp>
      <p:sp>
        <p:nvSpPr>
          <p:cNvPr id="5" name="Shape 3"/>
          <p:cNvSpPr/>
          <p:nvPr/>
        </p:nvSpPr>
        <p:spPr>
          <a:xfrm>
            <a:off x="548640" y="1783080"/>
            <a:ext cx="11064240" cy="1234440"/>
          </a:xfrm>
          <a:prstGeom prst="roundRect">
            <a:avLst>
              <a:gd name="adj" fmla="val 6667"/>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1234440"/>
          </a:xfrm>
          <a:prstGeom prst="rect">
            <a:avLst/>
          </a:prstGeom>
          <a:noFill/>
          <a:ln/>
        </p:spPr>
        <p:txBody>
          <a:bodyPr wrap="square" lIns="0" tIns="0" rIns="0" bIns="0" rtlCol="0" anchor="ctr"/>
          <a:lstStyle/>
          <a:p>
            <a:pPr indent="0" marL="0">
              <a:buNone/>
            </a:pPr>
            <a:r>
              <a:rPr lang="en-US" sz="2200" dirty="0">
                <a:solidFill>
                  <a:srgbClr val="5F7284"/>
                </a:solidFill>
                <a:latin typeface="Calibri" pitchFamily="34" charset="0"/>
                <a:ea typeface="Calibri" pitchFamily="34" charset="-122"/>
                <a:cs typeface="Calibri" pitchFamily="34" charset="-120"/>
              </a:rPr>
              <a:t>On the demo day we will demo: </a:t>
            </a:r>
            <a:pPr indent="0" marL="0">
              <a:buNone/>
            </a:pPr>
            <a:r>
              <a:rPr lang="en-US" sz="2200" b="1" dirty="0">
                <a:solidFill>
                  <a:srgbClr val="0E6E6D"/>
                </a:solidFill>
                <a:latin typeface="Calibri" pitchFamily="34" charset="0"/>
                <a:ea typeface="Calibri" pitchFamily="34" charset="-122"/>
                <a:cs typeface="Calibri" pitchFamily="34" charset="-120"/>
              </a:rPr>
              <a:t>[user]</a:t>
            </a:r>
            <a:pPr indent="0" marL="0">
              <a:buNone/>
            </a:pPr>
            <a:r>
              <a:rPr lang="en-US" sz="2200" dirty="0">
                <a:solidFill>
                  <a:srgbClr val="5F7284"/>
                </a:solidFill>
                <a:latin typeface="Calibri" pitchFamily="34" charset="0"/>
                <a:ea typeface="Calibri" pitchFamily="34" charset="-122"/>
                <a:cs typeface="Calibri" pitchFamily="34" charset="-120"/>
              </a:rPr>
              <a:t> does </a:t>
            </a:r>
            <a:pPr indent="0" marL="0">
              <a:buNone/>
            </a:pPr>
            <a:r>
              <a:rPr lang="en-US" sz="2200" b="1" dirty="0">
                <a:solidFill>
                  <a:srgbClr val="0E6E6D"/>
                </a:solidFill>
                <a:latin typeface="Calibri" pitchFamily="34" charset="0"/>
                <a:ea typeface="Calibri" pitchFamily="34" charset="-122"/>
                <a:cs typeface="Calibri" pitchFamily="34" charset="-120"/>
              </a:rPr>
              <a:t>[end-to-end action]</a:t>
            </a:r>
            <a:pPr indent="0" marL="0">
              <a:buNone/>
            </a:pPr>
            <a:r>
              <a:rPr lang="en-US" sz="2200" dirty="0">
                <a:solidFill>
                  <a:srgbClr val="5F7284"/>
                </a:solidFill>
                <a:latin typeface="Calibri" pitchFamily="34" charset="0"/>
                <a:ea typeface="Calibri" pitchFamily="34" charset="-122"/>
                <a:cs typeface="Calibri" pitchFamily="34" charset="-120"/>
              </a:rPr>
              <a:t> and sees </a:t>
            </a:r>
            <a:pPr indent="0" marL="0">
              <a:buNone/>
            </a:pPr>
            <a:r>
              <a:rPr lang="en-US" sz="2200" b="1" dirty="0">
                <a:solidFill>
                  <a:srgbClr val="0E6E6D"/>
                </a:solidFill>
                <a:latin typeface="Calibri" pitchFamily="34" charset="0"/>
                <a:ea typeface="Calibri" pitchFamily="34" charset="-122"/>
                <a:cs typeface="Calibri" pitchFamily="34" charset="-120"/>
              </a:rPr>
              <a:t>[result]</a:t>
            </a:r>
            <a:pPr indent="0" marL="0">
              <a:buNone/>
            </a:pPr>
            <a:r>
              <a:rPr lang="en-US" sz="2200" dirty="0">
                <a:solidFill>
                  <a:srgbClr val="5F7284"/>
                </a:solidFill>
                <a:latin typeface="Calibri" pitchFamily="34" charset="0"/>
                <a:ea typeface="Calibri" pitchFamily="34" charset="-122"/>
                <a:cs typeface="Calibri" pitchFamily="34" charset="-120"/>
              </a:rPr>
              <a:t>.</a:t>
            </a:r>
            <a:endParaRPr lang="en-US" sz="2200" dirty="0"/>
          </a:p>
        </p:txBody>
      </p:sp>
      <p:sp>
        <p:nvSpPr>
          <p:cNvPr id="7" name="click-1"/>
          <p:cNvSpPr/>
          <p:nvPr/>
        </p:nvSpPr>
        <p:spPr>
          <a:xfrm>
            <a:off x="548640" y="3200400"/>
            <a:ext cx="1106424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M1's milestone description</a:t>
            </a:r>
            <a:endParaRPr lang="en-US" sz="1500" dirty="0"/>
          </a:p>
        </p:txBody>
      </p:sp>
      <p:sp>
        <p:nvSpPr>
          <p:cNvPr id="8" name="click-1"/>
          <p:cNvSpPr/>
          <p:nvPr/>
        </p:nvSpPr>
        <p:spPr>
          <a:xfrm>
            <a:off x="548640" y="3566160"/>
            <a:ext cx="1106424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868680" y="3566160"/>
            <a:ext cx="10424160" cy="1417320"/>
          </a:xfrm>
          <a:prstGeom prst="rect">
            <a:avLst/>
          </a:prstGeom>
          <a:noFill/>
          <a:ln/>
        </p:spPr>
        <p:txBody>
          <a:bodyPr wrap="square" lIns="0" tIns="0" rIns="0" bIns="0" rtlCol="0" anchor="ctr"/>
          <a:lstStyle/>
          <a:p>
            <a:pPr indent="0" marL="0">
              <a:lnSpc>
                <a:spcPct val="106000"/>
              </a:lnSpc>
              <a:buNone/>
            </a:pPr>
            <a:r>
              <a:rPr lang="en-US" sz="2000" i="1" dirty="0">
                <a:solidFill>
                  <a:srgbClr val="FFFFFF"/>
                </a:solidFill>
                <a:latin typeface="Cambria" pitchFamily="34" charset="0"/>
                <a:ea typeface="Cambria" pitchFamily="34" charset="-122"/>
                <a:cs typeface="Cambria" pitchFamily="34" charset="-120"/>
              </a:rPr>
              <a:t>On Nov 18 we will demo: a wardrobe volunteer searches "waistcoat," opens the men's size M waistcoat, checks it out to an actor for the fall show, due back Dec 5, and sees it marked out to that actor.</a:t>
            </a:r>
            <a:endParaRPr lang="en-US" sz="2000" dirty="0"/>
          </a:p>
        </p:txBody>
      </p:sp>
      <p:sp>
        <p:nvSpPr>
          <p:cNvPr id="10" name="click-2"/>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11" name="click-2"/>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Specific enough to rehearse: a real search term, a real item, a real date. If you can't rehearse it, it isn't done.</a:t>
            </a:r>
            <a:endParaRPr lang="en-US" sz="1700" dirty="0"/>
          </a:p>
        </p:txBody>
      </p:sp>
      <p:sp>
        <p:nvSpPr>
          <p:cNvPr id="12" name="Text 10"/>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3"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ON THE BOARD · LIVE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changes, then your turn</a:t>
            </a:r>
            <a:endParaRPr lang="en-US" sz="3100" dirty="0"/>
          </a:p>
        </p:txBody>
      </p:sp>
      <p:sp>
        <p:nvSpPr>
          <p:cNvPr id="5" name="Shape 3"/>
          <p:cNvSpPr/>
          <p:nvPr/>
        </p:nvSpPr>
        <p:spPr>
          <a:xfrm>
            <a:off x="548640" y="1783080"/>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901952"/>
            <a:ext cx="457200" cy="457200"/>
          </a:xfrm>
          <a:prstGeom prst="ellipse">
            <a:avLst/>
          </a:prstGeom>
          <a:solidFill>
            <a:srgbClr val="12908F"/>
          </a:solidFill>
          <a:ln/>
        </p:spPr>
      </p:sp>
      <p:sp>
        <p:nvSpPr>
          <p:cNvPr id="7" name="Text 5"/>
          <p:cNvSpPr/>
          <p:nvPr/>
        </p:nvSpPr>
        <p:spPr>
          <a:xfrm>
            <a:off x="731520" y="19019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371600" y="1783080"/>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Size field</a:t>
            </a:r>
            <a:endParaRPr lang="en-US" sz="1700" dirty="0"/>
          </a:p>
        </p:txBody>
      </p:sp>
      <p:sp>
        <p:nvSpPr>
          <p:cNvPr id="9" name="Text 7"/>
          <p:cNvSpPr/>
          <p:nvPr/>
        </p:nvSpPr>
        <p:spPr>
          <a:xfrm>
            <a:off x="4114800" y="1783080"/>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 → Settings → + New field → Single select: XS, S, M, L, XL</a:t>
            </a:r>
            <a:endParaRPr lang="en-US" sz="1550" dirty="0"/>
          </a:p>
        </p:txBody>
      </p:sp>
      <p:sp>
        <p:nvSpPr>
          <p:cNvPr id="10" name="Shape 8"/>
          <p:cNvSpPr/>
          <p:nvPr/>
        </p:nvSpPr>
        <p:spPr>
          <a:xfrm>
            <a:off x="548640" y="2569464"/>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31520" y="2688336"/>
            <a:ext cx="457200" cy="457200"/>
          </a:xfrm>
          <a:prstGeom prst="ellipse">
            <a:avLst/>
          </a:prstGeom>
          <a:solidFill>
            <a:srgbClr val="12908F"/>
          </a:solidFill>
          <a:ln/>
        </p:spPr>
      </p:sp>
      <p:sp>
        <p:nvSpPr>
          <p:cNvPr id="12" name="Text 10"/>
          <p:cNvSpPr/>
          <p:nvPr/>
        </p:nvSpPr>
        <p:spPr>
          <a:xfrm>
            <a:off x="731520" y="26883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71600" y="2569464"/>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Sizes</a:t>
            </a:r>
            <a:endParaRPr lang="en-US" sz="1700" dirty="0"/>
          </a:p>
        </p:txBody>
      </p:sp>
      <p:sp>
        <p:nvSpPr>
          <p:cNvPr id="14" name="Text 12"/>
          <p:cNvSpPr/>
          <p:nvPr/>
        </p:nvSpPr>
        <p:spPr>
          <a:xfrm>
            <a:off x="4114800" y="2569464"/>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Fill them in from a table view; it's faster than opening each card</a:t>
            </a:r>
            <a:endParaRPr lang="en-US" sz="1550" dirty="0"/>
          </a:p>
        </p:txBody>
      </p:sp>
      <p:sp>
        <p:nvSpPr>
          <p:cNvPr id="15" name="Shape 13"/>
          <p:cNvSpPr/>
          <p:nvPr/>
        </p:nvSpPr>
        <p:spPr>
          <a:xfrm>
            <a:off x="548640" y="3355848"/>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731520" y="3474720"/>
            <a:ext cx="457200" cy="457200"/>
          </a:xfrm>
          <a:prstGeom prst="ellipse">
            <a:avLst/>
          </a:prstGeom>
          <a:solidFill>
            <a:srgbClr val="12908F"/>
          </a:solidFill>
          <a:ln/>
        </p:spPr>
      </p:sp>
      <p:sp>
        <p:nvSpPr>
          <p:cNvPr id="17" name="Text 15"/>
          <p:cNvSpPr/>
          <p:nvPr/>
        </p:nvSpPr>
        <p:spPr>
          <a:xfrm>
            <a:off x="731520" y="3474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371600" y="3355848"/>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slice label</a:t>
            </a:r>
            <a:endParaRPr lang="en-US" sz="1700" dirty="0"/>
          </a:p>
        </p:txBody>
      </p:sp>
      <p:sp>
        <p:nvSpPr>
          <p:cNvPr id="19" name="Text 17"/>
          <p:cNvSpPr/>
          <p:nvPr/>
        </p:nvSpPr>
        <p:spPr>
          <a:xfrm>
            <a:off x="4114800" y="3355848"/>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Create it, then put it on the issues the demo walks, and only those</a:t>
            </a:r>
            <a:endParaRPr lang="en-US" sz="1550" dirty="0"/>
          </a:p>
        </p:txBody>
      </p:sp>
      <p:sp>
        <p:nvSpPr>
          <p:cNvPr id="20" name="Shape 18"/>
          <p:cNvSpPr/>
          <p:nvPr/>
        </p:nvSpPr>
        <p:spPr>
          <a:xfrm>
            <a:off x="548640" y="4142232"/>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31520" y="4261104"/>
            <a:ext cx="457200" cy="457200"/>
          </a:xfrm>
          <a:prstGeom prst="ellipse">
            <a:avLst/>
          </a:prstGeom>
          <a:solidFill>
            <a:srgbClr val="12908F"/>
          </a:solidFill>
          <a:ln/>
        </p:spPr>
      </p:sp>
      <p:sp>
        <p:nvSpPr>
          <p:cNvPr id="22" name="Text 20"/>
          <p:cNvSpPr/>
          <p:nvPr/>
        </p:nvSpPr>
        <p:spPr>
          <a:xfrm>
            <a:off x="731520" y="426110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371600" y="4142232"/>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Order</a:t>
            </a:r>
            <a:endParaRPr lang="en-US" sz="1700" dirty="0"/>
          </a:p>
        </p:txBody>
      </p:sp>
      <p:sp>
        <p:nvSpPr>
          <p:cNvPr id="24" name="Text 22"/>
          <p:cNvSpPr/>
          <p:nvPr/>
        </p:nvSpPr>
        <p:spPr>
          <a:xfrm>
            <a:off x="4114800" y="4142232"/>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Ready top to bottom in sequence; what's blocked waits at the top of Backlog</a:t>
            </a:r>
            <a:endParaRPr lang="en-US" sz="1550" dirty="0"/>
          </a:p>
        </p:txBody>
      </p:sp>
      <p:sp>
        <p:nvSpPr>
          <p:cNvPr id="25" name="Shape 23"/>
          <p:cNvSpPr/>
          <p:nvPr/>
        </p:nvSpPr>
        <p:spPr>
          <a:xfrm>
            <a:off x="548640" y="4928616"/>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731520" y="5047488"/>
            <a:ext cx="457200" cy="457200"/>
          </a:xfrm>
          <a:prstGeom prst="ellipse">
            <a:avLst/>
          </a:prstGeom>
          <a:solidFill>
            <a:srgbClr val="12908F"/>
          </a:solidFill>
          <a:ln/>
        </p:spPr>
      </p:sp>
      <p:sp>
        <p:nvSpPr>
          <p:cNvPr id="27" name="Text 25"/>
          <p:cNvSpPr/>
          <p:nvPr/>
        </p:nvSpPr>
        <p:spPr>
          <a:xfrm>
            <a:off x="731520" y="50474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8" name="Text 26"/>
          <p:cNvSpPr/>
          <p:nvPr/>
        </p:nvSpPr>
        <p:spPr>
          <a:xfrm>
            <a:off x="1371600" y="4928616"/>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Slice statement</a:t>
            </a:r>
            <a:endParaRPr lang="en-US" sz="1700" dirty="0"/>
          </a:p>
        </p:txBody>
      </p:sp>
      <p:sp>
        <p:nvSpPr>
          <p:cNvPr id="29" name="Text 27"/>
          <p:cNvSpPr/>
          <p:nvPr/>
        </p:nvSpPr>
        <p:spPr>
          <a:xfrm>
            <a:off x="4114800" y="4928616"/>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Milestones → M1 → Edit: replace the description with the sentence</a:t>
            </a:r>
            <a:endParaRPr lang="en-US" sz="1550" dirty="0"/>
          </a:p>
        </p:txBody>
      </p:sp>
      <p:sp>
        <p:nvSpPr>
          <p:cNvPr id="30" name="Text 28"/>
          <p:cNvSpPr/>
          <p:nvPr/>
        </p:nvSpPr>
        <p:spPr>
          <a:xfrm>
            <a:off x="548640" y="5779008"/>
            <a:ext cx="11064240" cy="45720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The Size field step is in Canvas → Course Resources → Setting Up Your Board, §5.</a:t>
            </a:r>
            <a:endParaRPr lang="en-US" sz="1500" dirty="0"/>
          </a:p>
        </p:txBody>
      </p:sp>
      <p:sp>
        <p:nvSpPr>
          <p:cNvPr id="31" name="Text 2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13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Order your first milestone and commit the slice</a:t>
            </a:r>
            <a:endParaRPr lang="en-US" sz="3200" dirty="0"/>
          </a:p>
        </p:txBody>
      </p:sp>
      <p:sp>
        <p:nvSpPr>
          <p:cNvPr id="6" name="Shape 4"/>
          <p:cNvSpPr/>
          <p:nvPr/>
        </p:nvSpPr>
        <p:spPr>
          <a:xfrm>
            <a:off x="548640" y="1783080"/>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1783080"/>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Order it</a:t>
            </a:r>
            <a:endParaRPr lang="en-US" sz="1800" dirty="0"/>
          </a:p>
        </p:txBody>
      </p:sp>
      <p:sp>
        <p:nvSpPr>
          <p:cNvPr id="8" name="Text 6"/>
          <p:cNvSpPr/>
          <p:nvPr/>
        </p:nvSpPr>
        <p:spPr>
          <a:xfrm>
            <a:off x="3749040" y="1783080"/>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Ready in sequence; blocked issues at the top of Backlog; "Needs …" written into each issue that has one</a:t>
            </a:r>
            <a:endParaRPr lang="en-US" sz="1550" dirty="0"/>
          </a:p>
        </p:txBody>
      </p:sp>
      <p:sp>
        <p:nvSpPr>
          <p:cNvPr id="9" name="Shape 7"/>
          <p:cNvSpPr/>
          <p:nvPr/>
        </p:nvSpPr>
        <p:spPr>
          <a:xfrm>
            <a:off x="548640" y="2624328"/>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822960" y="2624328"/>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Label the slice</a:t>
            </a:r>
            <a:endParaRPr lang="en-US" sz="1800" dirty="0"/>
          </a:p>
        </p:txBody>
      </p:sp>
      <p:sp>
        <p:nvSpPr>
          <p:cNvPr id="11" name="Text 9"/>
          <p:cNvSpPr/>
          <p:nvPr/>
        </p:nvSpPr>
        <p:spPr>
          <a:xfrm>
            <a:off x="3749040" y="2624328"/>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Create slice; put it on the issues the demo walks</a:t>
            </a:r>
            <a:endParaRPr lang="en-US" sz="1550" dirty="0"/>
          </a:p>
        </p:txBody>
      </p:sp>
      <p:sp>
        <p:nvSpPr>
          <p:cNvPr id="12" name="Shape 10"/>
          <p:cNvSpPr/>
          <p:nvPr/>
        </p:nvSpPr>
        <p:spPr>
          <a:xfrm>
            <a:off x="548640" y="3465576"/>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3" name="Text 11"/>
          <p:cNvSpPr/>
          <p:nvPr/>
        </p:nvSpPr>
        <p:spPr>
          <a:xfrm>
            <a:off x="822960" y="3465576"/>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Owners and people</a:t>
            </a:r>
            <a:endParaRPr lang="en-US" sz="1800" dirty="0"/>
          </a:p>
        </p:txBody>
      </p:sp>
      <p:sp>
        <p:nvSpPr>
          <p:cNvPr id="14" name="Text 12"/>
          <p:cNvSpPr/>
          <p:nvPr/>
        </p:nvSpPr>
        <p:spPr>
          <a:xfrm>
            <a:off x="3749040" y="3465576"/>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Assign the first week's issues; ask anyone you depend on, today</a:t>
            </a:r>
            <a:endParaRPr lang="en-US" sz="1550" dirty="0"/>
          </a:p>
        </p:txBody>
      </p:sp>
      <p:sp>
        <p:nvSpPr>
          <p:cNvPr id="15" name="Shape 13"/>
          <p:cNvSpPr/>
          <p:nvPr/>
        </p:nvSpPr>
        <p:spPr>
          <a:xfrm>
            <a:off x="548640" y="4306824"/>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6" name="Text 14"/>
          <p:cNvSpPr/>
          <p:nvPr/>
        </p:nvSpPr>
        <p:spPr>
          <a:xfrm>
            <a:off x="822960" y="4306824"/>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Write the sentence</a:t>
            </a:r>
            <a:endParaRPr lang="en-US" sz="1800" dirty="0"/>
          </a:p>
        </p:txBody>
      </p:sp>
      <p:sp>
        <p:nvSpPr>
          <p:cNvPr id="17" name="Text 15"/>
          <p:cNvSpPr/>
          <p:nvPr/>
        </p:nvSpPr>
        <p:spPr>
          <a:xfrm>
            <a:off x="3749040" y="4306824"/>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The slice statement, in your first milestone's description</a:t>
            </a:r>
            <a:endParaRPr lang="en-US" sz="1550" dirty="0"/>
          </a:p>
        </p:txBody>
      </p:sp>
      <p:sp>
        <p:nvSpPr>
          <p:cNvPr id="18" name="Shape 16"/>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19" name="Text 17"/>
          <p:cNvSpPr/>
          <p:nvPr/>
        </p:nvSpPr>
        <p:spPr>
          <a:xfrm>
            <a:off x="868680" y="5257800"/>
            <a:ext cx="10424160" cy="914400"/>
          </a:xfrm>
          <a:prstGeom prst="rect">
            <a:avLst/>
          </a:prstGeom>
          <a:noFill/>
          <a:ln/>
        </p:spPr>
        <p:txBody>
          <a:bodyPr wrap="square" lIns="0" tIns="0" rIns="0" bIns="0" rtlCol="0" anchor="ctr"/>
          <a:lstStyle/>
          <a:p>
            <a:pPr indent="0" marL="0">
              <a:buNone/>
            </a:pPr>
            <a:r>
              <a:rPr lang="en-US" sz="1800" b="1" dirty="0">
                <a:solidFill>
                  <a:srgbClr val="14233A"/>
                </a:solidFill>
                <a:latin typeface="Calibri" pitchFamily="34" charset="0"/>
                <a:ea typeface="Calibri" pitchFamily="34" charset="-122"/>
                <a:cs typeface="Calibri" pitchFamily="34" charset="-120"/>
              </a:rPr>
              <a:t>I'll ask:  </a:t>
            </a:r>
            <a:pPr indent="0" marL="0">
              <a:buNone/>
            </a:pPr>
            <a:r>
              <a:rPr lang="en-US" sz="1800" dirty="0">
                <a:solidFill>
                  <a:srgbClr val="14233A"/>
                </a:solidFill>
                <a:latin typeface="Calibri" pitchFamily="34" charset="0"/>
                <a:ea typeface="Calibri" pitchFamily="34" charset="-122"/>
                <a:cs typeface="Calibri" pitchFamily="34" charset="-120"/>
              </a:rPr>
              <a:t>If the demo were tomorrow, what breaks first? That issue goes earlier.</a:t>
            </a:r>
            <a:endParaRPr lang="en-US" sz="1800" dirty="0"/>
          </a:p>
        </p:txBody>
      </p:sp>
      <p:sp>
        <p:nvSpPr>
          <p:cNvPr id="20" name="Text 18"/>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1" name="Text 1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CP8 · BEFORE YOU SUBMIT TONIGHT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Check your board against Prop Loft's</a:t>
            </a:r>
            <a:endParaRPr lang="en-US" sz="3100" dirty="0"/>
          </a:p>
        </p:txBody>
      </p:sp>
      <p:sp>
        <p:nvSpPr>
          <p:cNvPr id="5" name="Shape 3"/>
          <p:cNvSpPr/>
          <p:nvPr/>
        </p:nvSpPr>
        <p:spPr>
          <a:xfrm>
            <a:off x="548640" y="1783080"/>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920240"/>
            <a:ext cx="420624" cy="42062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845088" y="2033808"/>
            <a:ext cx="193487" cy="193487"/>
          </a:xfrm>
          <a:prstGeom prst="rect">
            <a:avLst/>
          </a:prstGeom>
        </p:spPr>
      </p:pic>
      <p:sp>
        <p:nvSpPr>
          <p:cNvPr id="8" name="Text 5"/>
          <p:cNvSpPr/>
          <p:nvPr/>
        </p:nvSpPr>
        <p:spPr>
          <a:xfrm>
            <a:off x="1325880" y="1783080"/>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Milestones dated, M1 and M2</a:t>
            </a:r>
            <a:endParaRPr lang="en-US" sz="1600" dirty="0"/>
          </a:p>
        </p:txBody>
      </p:sp>
      <p:sp>
        <p:nvSpPr>
          <p:cNvPr id="9" name="Shape 6"/>
          <p:cNvSpPr/>
          <p:nvPr/>
        </p:nvSpPr>
        <p:spPr>
          <a:xfrm>
            <a:off x="6172200" y="1783080"/>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6355080" y="1920240"/>
            <a:ext cx="420624" cy="420624"/>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6468648" y="2033808"/>
            <a:ext cx="193487" cy="193487"/>
          </a:xfrm>
          <a:prstGeom prst="rect">
            <a:avLst/>
          </a:prstGeom>
        </p:spPr>
      </p:pic>
      <p:sp>
        <p:nvSpPr>
          <p:cNvPr id="12" name="Text 8"/>
          <p:cNvSpPr/>
          <p:nvPr/>
        </p:nvSpPr>
        <p:spPr>
          <a:xfrm>
            <a:off x="6949440" y="1783080"/>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Epics, with their issues as sub-issues</a:t>
            </a:r>
            <a:endParaRPr lang="en-US" sz="1600" dirty="0"/>
          </a:p>
        </p:txBody>
      </p:sp>
      <p:sp>
        <p:nvSpPr>
          <p:cNvPr id="13" name="Shape 9"/>
          <p:cNvSpPr/>
          <p:nvPr/>
        </p:nvSpPr>
        <p:spPr>
          <a:xfrm>
            <a:off x="548640" y="2587752"/>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4" name="Shape 10"/>
          <p:cNvSpPr/>
          <p:nvPr/>
        </p:nvSpPr>
        <p:spPr>
          <a:xfrm>
            <a:off x="731520" y="2724912"/>
            <a:ext cx="420624" cy="420624"/>
          </a:xfrm>
          <a:prstGeom prst="ellipse">
            <a:avLst/>
          </a:prstGeom>
          <a:solidFill>
            <a:srgbClr val="12908F"/>
          </a:solidFill>
          <a:ln/>
        </p:spPr>
      </p:sp>
      <p:pic>
        <p:nvPicPr>
          <p:cNvPr id="15" name="Image 2" descr="preencoded.png">    </p:cNvPr>
          <p:cNvPicPr>
            <a:picLocks noChangeAspect="1"/>
          </p:cNvPicPr>
          <p:nvPr/>
        </p:nvPicPr>
        <p:blipFill>
          <a:blip r:embed="rId3"/>
          <a:stretch>
            <a:fillRect/>
          </a:stretch>
        </p:blipFill>
        <p:spPr>
          <a:xfrm>
            <a:off x="845088" y="2838480"/>
            <a:ext cx="193487" cy="193487"/>
          </a:xfrm>
          <a:prstGeom prst="rect">
            <a:avLst/>
          </a:prstGeom>
        </p:spPr>
      </p:pic>
      <p:sp>
        <p:nvSpPr>
          <p:cNvPr id="16" name="Text 11"/>
          <p:cNvSpPr/>
          <p:nvPr/>
        </p:nvSpPr>
        <p:spPr>
          <a:xfrm>
            <a:off x="1325880" y="2587752"/>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M1 sized, ordered, and the slice labeled</a:t>
            </a:r>
            <a:endParaRPr lang="en-US" sz="1600" dirty="0"/>
          </a:p>
        </p:txBody>
      </p:sp>
      <p:sp>
        <p:nvSpPr>
          <p:cNvPr id="17" name="Shape 12"/>
          <p:cNvSpPr/>
          <p:nvPr/>
        </p:nvSpPr>
        <p:spPr>
          <a:xfrm>
            <a:off x="6172200" y="2587752"/>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8" name="Shape 13"/>
          <p:cNvSpPr/>
          <p:nvPr/>
        </p:nvSpPr>
        <p:spPr>
          <a:xfrm>
            <a:off x="6355080" y="2724912"/>
            <a:ext cx="420624" cy="420624"/>
          </a:xfrm>
          <a:prstGeom prst="ellipse">
            <a:avLst/>
          </a:prstGeom>
          <a:solidFill>
            <a:srgbClr val="12908F"/>
          </a:solidFill>
          <a:ln/>
        </p:spPr>
      </p:sp>
      <p:pic>
        <p:nvPicPr>
          <p:cNvPr id="19" name="Image 3" descr="preencoded.png">    </p:cNvPr>
          <p:cNvPicPr>
            <a:picLocks noChangeAspect="1"/>
          </p:cNvPicPr>
          <p:nvPr/>
        </p:nvPicPr>
        <p:blipFill>
          <a:blip r:embed="rId4"/>
          <a:stretch>
            <a:fillRect/>
          </a:stretch>
        </p:blipFill>
        <p:spPr>
          <a:xfrm>
            <a:off x="6468648" y="2838480"/>
            <a:ext cx="193487" cy="193487"/>
          </a:xfrm>
          <a:prstGeom prst="rect">
            <a:avLst/>
          </a:prstGeom>
        </p:spPr>
      </p:pic>
      <p:sp>
        <p:nvSpPr>
          <p:cNvPr id="20" name="Text 14"/>
          <p:cNvSpPr/>
          <p:nvPr/>
        </p:nvSpPr>
        <p:spPr>
          <a:xfrm>
            <a:off x="6949440" y="2587752"/>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The slice statement on M1</a:t>
            </a:r>
            <a:endParaRPr lang="en-US" sz="1600" dirty="0"/>
          </a:p>
        </p:txBody>
      </p:sp>
      <p:sp>
        <p:nvSpPr>
          <p:cNvPr id="21" name="Shape 15"/>
          <p:cNvSpPr/>
          <p:nvPr/>
        </p:nvSpPr>
        <p:spPr>
          <a:xfrm>
            <a:off x="548640" y="3392424"/>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2" name="Shape 16"/>
          <p:cNvSpPr/>
          <p:nvPr/>
        </p:nvSpPr>
        <p:spPr>
          <a:xfrm>
            <a:off x="731520" y="3529584"/>
            <a:ext cx="420624" cy="420624"/>
          </a:xfrm>
          <a:prstGeom prst="ellipse">
            <a:avLst/>
          </a:prstGeom>
          <a:solidFill>
            <a:srgbClr val="12908F"/>
          </a:solidFill>
          <a:ln/>
        </p:spPr>
      </p:sp>
      <p:pic>
        <p:nvPicPr>
          <p:cNvPr id="23" name="Image 4" descr="preencoded.png">    </p:cNvPr>
          <p:cNvPicPr>
            <a:picLocks noChangeAspect="1"/>
          </p:cNvPicPr>
          <p:nvPr/>
        </p:nvPicPr>
        <p:blipFill>
          <a:blip r:embed="rId5"/>
          <a:stretch>
            <a:fillRect/>
          </a:stretch>
        </p:blipFill>
        <p:spPr>
          <a:xfrm>
            <a:off x="845088" y="3643152"/>
            <a:ext cx="193487" cy="193487"/>
          </a:xfrm>
          <a:prstGeom prst="rect">
            <a:avLst/>
          </a:prstGeom>
        </p:spPr>
      </p:pic>
      <p:sp>
        <p:nvSpPr>
          <p:cNvPr id="24" name="Text 17"/>
          <p:cNvSpPr/>
          <p:nvPr/>
        </p:nvSpPr>
        <p:spPr>
          <a:xfrm>
            <a:off x="1325880" y="3392424"/>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The fit check done, and the cut made if needed</a:t>
            </a:r>
            <a:endParaRPr lang="en-US" sz="1600" dirty="0"/>
          </a:p>
        </p:txBody>
      </p:sp>
      <p:sp>
        <p:nvSpPr>
          <p:cNvPr id="25" name="Shape 18"/>
          <p:cNvSpPr/>
          <p:nvPr/>
        </p:nvSpPr>
        <p:spPr>
          <a:xfrm>
            <a:off x="6172200" y="3392424"/>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6" name="Shape 19"/>
          <p:cNvSpPr/>
          <p:nvPr/>
        </p:nvSpPr>
        <p:spPr>
          <a:xfrm>
            <a:off x="6355080" y="3529584"/>
            <a:ext cx="420624" cy="420624"/>
          </a:xfrm>
          <a:prstGeom prst="ellipse">
            <a:avLst/>
          </a:prstGeom>
          <a:solidFill>
            <a:srgbClr val="12908F"/>
          </a:solidFill>
          <a:ln/>
        </p:spPr>
      </p:sp>
      <p:pic>
        <p:nvPicPr>
          <p:cNvPr id="27" name="Image 5" descr="preencoded.png">    </p:cNvPr>
          <p:cNvPicPr>
            <a:picLocks noChangeAspect="1"/>
          </p:cNvPicPr>
          <p:nvPr/>
        </p:nvPicPr>
        <p:blipFill>
          <a:blip r:embed="rId6"/>
          <a:stretch>
            <a:fillRect/>
          </a:stretch>
        </p:blipFill>
        <p:spPr>
          <a:xfrm>
            <a:off x="6468648" y="3643152"/>
            <a:ext cx="193487" cy="193487"/>
          </a:xfrm>
          <a:prstGeom prst="rect">
            <a:avLst/>
          </a:prstGeom>
        </p:spPr>
      </p:pic>
      <p:sp>
        <p:nvSpPr>
          <p:cNvPr id="28" name="Text 20"/>
          <p:cNvSpPr/>
          <p:nvPr/>
        </p:nvSpPr>
        <p:spPr>
          <a:xfrm>
            <a:off x="6949440" y="3392424"/>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good first issue × 2–3, each with Where to start</a:t>
            </a:r>
            <a:endParaRPr lang="en-US" sz="1600" dirty="0"/>
          </a:p>
        </p:txBody>
      </p:sp>
      <p:sp>
        <p:nvSpPr>
          <p:cNvPr id="29" name="Shape 21"/>
          <p:cNvSpPr/>
          <p:nvPr/>
        </p:nvSpPr>
        <p:spPr>
          <a:xfrm>
            <a:off x="548640" y="4197096"/>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30" name="Shape 22"/>
          <p:cNvSpPr/>
          <p:nvPr/>
        </p:nvSpPr>
        <p:spPr>
          <a:xfrm>
            <a:off x="731520" y="4334256"/>
            <a:ext cx="420624" cy="420624"/>
          </a:xfrm>
          <a:prstGeom prst="ellipse">
            <a:avLst/>
          </a:prstGeom>
          <a:solidFill>
            <a:srgbClr val="12908F"/>
          </a:solidFill>
          <a:ln/>
        </p:spPr>
      </p:sp>
      <p:pic>
        <p:nvPicPr>
          <p:cNvPr id="31" name="Image 6" descr="preencoded.png">    </p:cNvPr>
          <p:cNvPicPr>
            <a:picLocks noChangeAspect="1"/>
          </p:cNvPicPr>
          <p:nvPr/>
        </p:nvPicPr>
        <p:blipFill>
          <a:blip r:embed="rId7"/>
          <a:stretch>
            <a:fillRect/>
          </a:stretch>
        </p:blipFill>
        <p:spPr>
          <a:xfrm>
            <a:off x="845088" y="4447824"/>
            <a:ext cx="193487" cy="193487"/>
          </a:xfrm>
          <a:prstGeom prst="rect">
            <a:avLst/>
          </a:prstGeom>
        </p:spPr>
      </p:pic>
      <p:sp>
        <p:nvSpPr>
          <p:cNvPr id="32" name="Text 23"/>
          <p:cNvSpPr/>
          <p:nvPr/>
        </p:nvSpPr>
        <p:spPr>
          <a:xfrm>
            <a:off x="1325880" y="4197096"/>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Definition of done revisited in your git standards</a:t>
            </a:r>
            <a:endParaRPr lang="en-US" sz="1600" dirty="0"/>
          </a:p>
        </p:txBody>
      </p:sp>
      <p:sp>
        <p:nvSpPr>
          <p:cNvPr id="33" name="Shape 24"/>
          <p:cNvSpPr/>
          <p:nvPr/>
        </p:nvSpPr>
        <p:spPr>
          <a:xfrm>
            <a:off x="6172200" y="4197096"/>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34" name="Shape 25"/>
          <p:cNvSpPr/>
          <p:nvPr/>
        </p:nvSpPr>
        <p:spPr>
          <a:xfrm>
            <a:off x="6355080" y="4334256"/>
            <a:ext cx="420624" cy="420624"/>
          </a:xfrm>
          <a:prstGeom prst="ellipse">
            <a:avLst/>
          </a:prstGeom>
          <a:solidFill>
            <a:srgbClr val="12908F"/>
          </a:solidFill>
          <a:ln/>
        </p:spPr>
      </p:sp>
      <p:pic>
        <p:nvPicPr>
          <p:cNvPr id="35" name="Image 7" descr="preencoded.png">    </p:cNvPr>
          <p:cNvPicPr>
            <a:picLocks noChangeAspect="1"/>
          </p:cNvPicPr>
          <p:nvPr/>
        </p:nvPicPr>
        <p:blipFill>
          <a:blip r:embed="rId8"/>
          <a:stretch>
            <a:fillRect/>
          </a:stretch>
        </p:blipFill>
        <p:spPr>
          <a:xfrm>
            <a:off x="6468648" y="4447824"/>
            <a:ext cx="193487" cy="193487"/>
          </a:xfrm>
          <a:prstGeom prst="rect">
            <a:avLst/>
          </a:prstGeom>
        </p:spPr>
      </p:pic>
      <p:sp>
        <p:nvSpPr>
          <p:cNvPr id="36" name="Text 26"/>
          <p:cNvSpPr/>
          <p:nvPr/>
        </p:nvSpPr>
        <p:spPr>
          <a:xfrm>
            <a:off x="6949440" y="4197096"/>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docs/roadmap.md: past December, and the cut said out loud</a:t>
            </a:r>
            <a:endParaRPr lang="en-US" sz="1600" dirty="0"/>
          </a:p>
        </p:txBody>
      </p:sp>
      <p:sp>
        <p:nvSpPr>
          <p:cNvPr id="37" name="Shape 27"/>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38" name="Text 28"/>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Submit your public board's URL. Open it in a logged-out window first: a private board can't be graded.</a:t>
            </a:r>
            <a:endParaRPr lang="en-US" sz="1700" dirty="0"/>
          </a:p>
        </p:txBody>
      </p:sp>
      <p:sp>
        <p:nvSpPr>
          <p:cNvPr id="39" name="Text 2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40"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1051560"/>
          </a:xfrm>
          <a:prstGeom prst="rect">
            <a:avLst/>
          </a:prstGeom>
          <a:noFill/>
          <a:ln/>
        </p:spPr>
        <p:txBody>
          <a:bodyPr wrap="square" lIns="0" tIns="0" rIns="0" bIns="0" rtlCol="0" anchor="ctr"/>
          <a:lstStyle/>
          <a:p>
            <a:pPr indent="0" marL="0">
              <a:lnSpc>
                <a:spcPct val="106000"/>
              </a:lnSpc>
              <a:buNone/>
            </a:pPr>
            <a:r>
              <a:rPr lang="en-US" sz="2500" b="1" i="1" dirty="0">
                <a:solidFill>
                  <a:srgbClr val="FFFFFF"/>
                </a:solidFill>
                <a:latin typeface="Cambria" pitchFamily="34" charset="0"/>
                <a:ea typeface="Cambria" pitchFamily="34" charset="-122"/>
                <a:cs typeface="Cambria" pitchFamily="34" charset="-120"/>
              </a:rPr>
              <a:t>Sizing surfaces assumptions. The fit check makes you cut while it's cheap. The order protects the slice.</a:t>
            </a:r>
            <a:endParaRPr lang="en-US" sz="2500" dirty="0"/>
          </a:p>
        </p:txBody>
      </p:sp>
      <p:sp>
        <p:nvSpPr>
          <p:cNvPr id="6" name="Text 3"/>
          <p:cNvSpPr/>
          <p:nvPr/>
        </p:nvSpPr>
        <p:spPr>
          <a:xfrm>
            <a:off x="841248" y="320040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MONDAY, NOV 9</a:t>
            </a:r>
            <a:endParaRPr lang="en-US" sz="1400" dirty="0"/>
          </a:p>
        </p:txBody>
      </p:sp>
      <p:sp>
        <p:nvSpPr>
          <p:cNvPr id="7" name="Text 4"/>
          <p:cNvSpPr/>
          <p:nvPr/>
        </p:nvSpPr>
        <p:spPr>
          <a:xfrm>
            <a:off x="868680" y="3611880"/>
            <a:ext cx="10698480" cy="169164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Start the first slice issue; have it in progress before Monday</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Send every ask to a person you depend on, with a date</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Monday: what must v1 prove, and a method for debugging. Kniberg carries over.</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CP8 Project Plan &amp; Roadmap is due end of day today. Submit your public board's URL.</a:t>
            </a:r>
            <a:endParaRPr lang="en-US" sz="1600" dirty="0"/>
          </a:p>
        </p:txBody>
      </p:sp>
      <p:sp>
        <p:nvSpPr>
          <p:cNvPr id="10" name="Text 7"/>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18 — Estimation, Sequencing &amp; the Vertical Slice</dc:title>
  <dc:subject>PptxGenJS Presentation</dc:subject>
  <dc:creator>CS 301R</dc:creator>
  <cp:lastModifiedBy>CS 301R</cp:lastModifiedBy>
  <cp:revision>1</cp:revision>
  <dcterms:created xsi:type="dcterms:W3CDTF">2026-10-24T12:42:28Z</dcterms:created>
  <dcterms:modified xsi:type="dcterms:W3CDTF">2026-10-24T12:42:28Z</dcterms:modified>
</cp:coreProperties>
</file>