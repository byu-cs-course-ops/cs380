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61520" cy="6858000"/>
  <p:notesSz cx="6858000" cy="1216152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CP8 is due tonight, and today finishes it. Before class, from the outline's run sheet: the PR branch replayed onto Prop Loft's main (not pushed), the Plan table view added, and tabs open for the board, the Plan view, the M1 issue list, M1's milestone page, and design §6 on main. Print the Fit Check Sheet, one per student. Laptops required. Don't pre-size the board: sizing it is today's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 seconds. Every teaching block is shown on Prop Loft first, then you do the same thing to your own tracker. The two highlighted rows are your time: sizing your first milestone, then ordering it and writing the slice statement. Hand out the Fit Check Sheet now; it follows the day from top to bottom. CP8 is due tonight, and a board that leaves here sized, ordered, and with a slice statement is most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minutes. Two reasons to estimate at our scale, one click each. First: to learn whether the first milestone fits before the progress demo tells you. Second, the bigger one: sizing forces two people to compare what they pictured. Third click: the number fades; the surfaced assumption is what lasts. Fourth: estimates are internal planning tools. Nobody grades the number; the grade is on whether you did the arithmetic honestly.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The hours are tied to this course's week: an L is a whole week of one person's outside hours, so an L in a two-week milestone is half a solo founder's time. That's why an L gets a question and an XL gets split. Click: sizes are relative. Pick something finished that everyone knows and call it an S. Students should write their own anchor on the sheet's first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Ninety seconds. Vote with fingers, revealed together, so nobody anchors on a neighbor. Click: however the vote comes out, the move is the same, and you can't predict which you'll get. A split, ask the extremes. Agreement, ask one person anyway, because the same number can hide different work. If the room disagrees with the maintainer, that's the split. If nobody can size it, the issue needs another acceptance criterion.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two minutes. Read the issue aloud, give fifteen seconds, then 3, 2, 1. Whatever the vote, ask the move from the last slide. First click: the maintainer's size. Second click: this one is the calibration. Its Where to start names the file, the view to imitate, and the test to copy, so most rooms land near S. If they don't, ask what made it look bigger. That's useful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two minutes, and the one most likely to run long. Let it. Ask what people pictured before you click. First click: the maintainer's M. Second: the hidden work is the second criterion. A form check is a few lines; a database constraint is a conditional unique constraint, a migration, and tests that expect the database to refuse, on SQLite and Postgres. Same title, different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two minutes. Whatever the room says, this one is a risk, not a size: the number depends on whether you count learning HTMX. First click: the maintainer's L, or M without HTMX. Second: point at design §7's risk row, which already names the fallback. Don't resolve it here. Park it; it decides whether Prop Loft's milestone fits, two slides from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minute; land the lesson. Use whatever happened in the room: name the moment someone said what they pictured. One click per line. The third is the habit: when a conversation changes the picture, edit the acceptance criteria so the next reader can't picture it wrong. Fourth click for solo founders: a partner reading your issues cold is the same check, and an issue they can't size is missing something.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The Session 8 arithmetic, with real numbers. One click per case. Solo is most of you: fourteen hours to the progress demo, before review. On a team, multiply, but review grows too. Third click: Prop Loft's maintainer has about ten hours a week, and the roadmap says so. The rule underneath is the same everywhere: count the hours that actually exist, not the ones you wish you had.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Ninety seconds. These are the maintainer's sizes, not the room's vote: the plan runs on the maintainer's numbers whatever the room said. Read down the column. The checkout form is the L, from the HTMX question. The setup guide isn't on the demo's path, but it stays in the first milestone; if someone asks why it isn't simply cut, say the next slide answers it. Click: twenty-one against twenty. Ask the room: does it fit? Take a show of hands before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Twenty-one against twenty only looks like it fits; review time isn't in it. The first move is off the slice, and the setup guide is the obvious candidate, so answer that before anyone asks: it keeps its place because its cold reader has a calendar and contributors need it before the demo. So the cut has to come from how things get built. First click: the cut is the design's own fallback, named in its risk table, so it's a decision the design already half-made. Second: name the next cut now, so that if the midpoint check shows you behind, the decision is already made and nobody argues about it under pressure. Third: the slice survived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three minutes, live; the outline's run sheet, part A, has every command. Push the prepared branch, open the PR in the browser so they see the template fill, and keep the title exactly as the commit subject. In Files changed, point at the decision's shape: chosen, alternative, why, evidence, what would change our mind. Post the self-review, squash-merge, then comment on the checkout-form issue that its size changed because the design did.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Ninety seconds. M2 only needs coarse sizes today, but the check still matters: nineteen of twenty means no slack for anything M1 doesn't finish. First click: so the next cut is named here too. Second click: the dependencies on people. A co-design session and a borrowed phone have calendars that aren't yours. The italic line: don't count on a contributor to do your good first issues; plan as if nobody 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Eleven minutes; keep time out loud. Most of you are solo, so pair up with your review partner now: size your own milestone, then size theirs from the text alone, and compare. Where a partner can't size an issue, fix its acceptance criteria. Circulate to every pair. Push anyone whose milestone obviously doesn't fit to cut before they leave the table, starting with what's off the slice.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minutes, one click per rule. Slice first: the path from Session 12's traced flow, user interface to logic to data and back. Dependencies: draw only the edges that really block; most issues don't block each other. Risk early: a spike may already have de-risked it. People: their calendars aren't yours. Reviews: solo, your review partner is your only outside reviewer, so stagger harder.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Ready means nothing it depends on is unfinished, so issues 4 and 5 wait at the top of Backlog until the model merges; the order spans both columns. The setup guide runs alongside, and its cold reader gets asked today. First click: after step 4, the slice already walks, using the admin. Second: the model goes second because it's both the risk and the root of two edges. The form PR opens only after it merges.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Ninety seconds, tied to the Kniberg reading. Left is the trap: every screen built, nothing wired, so the demo is a slideshow. Click: the slice has fewer pieces, all connected, and it demos itself. Second click: the caveat people miss in the skateboard picture. It isn't permission to do sloppy work; it's about delivering something usable at every stage so you learn something real from each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Ninety seconds. The format first; then click for Prop Loft's. Notice how specific it is: you could rehearse it tonight, and on demo day it's literally the script. It also defines the end of M1: when that sentence is true on main, the milestone's job is done. Second click. It goes in the first milestone's description, and the issues on its path get the slice label. That's in a minute,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four minutes, live on Prop Loft; the run sheet, part B, has the sizes table and the exact statement. Use the Plan table view for sizes. Leave the setup guide off the slice label: it's in M1 but not on the demo's path, and that distinction is the point. When you reorder, say out loud why the blocked issues wait in Backlog. Leave this slide up while they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Thirteen minutes. Circulate with the one question. For Prop Loft the honest answer is that the checkout form doesn't exist yet, and the order's answer is that the admin carries the slice until it does; look for the same reasoning in theirs. Read each slice statement back to its author: could you rehearse it? Anyone with a person dependency should send the ask before they leave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minutes. Read the list and have students tick it against their own board, with Prop Loft's board open beside it as the model; it now shows sizes, the slice label, the order, and the statement, all made live today. The bottom line is the most common way to lose CP8 points: the board is still private. Have everyone open their board URL in a private window before they leave.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in a minute or two. Say the one-liner. The slice statement is now the progress-demo script, and the next cut is already decided, so the midpoint check next Wednesday is a yes-or-no question: is the skateboard walking? Monday is MVP thinking and debugging, right before the heaviest build fortnight. Keep the Fit Check Sheet; it's a working copy, not a turn-in.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1.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image" Target="../media/image-22-7.png"/><Relationship Id="rId8" Type="http://schemas.openxmlformats.org/officeDocument/2006/relationships/image" Target="../media/image-22-8.png"/><Relationship Id="rId9" Type="http://schemas.openxmlformats.org/officeDocument/2006/relationships/slideLayout" Target="../slideLayouts/slideLayout1.xml"/><Relationship Id="rId10"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9966960" y="-1280160"/>
            <a:ext cx="3840480" cy="3840480"/>
          </a:xfrm>
          <a:prstGeom prst="ellipse">
            <a:avLst/>
          </a:prstGeom>
          <a:solidFill>
            <a:srgbClr val="1C3252"/>
          </a:solidFill>
          <a:ln/>
        </p:spPr>
      </p:sp>
      <p:sp>
        <p:nvSpPr>
          <p:cNvPr id="3" name="Shape 1"/>
          <p:cNvSpPr/>
          <p:nvPr/>
        </p:nvSpPr>
        <p:spPr>
          <a:xfrm>
            <a:off x="10972800" y="4663440"/>
            <a:ext cx="2743200" cy="2743200"/>
          </a:xfrm>
          <a:prstGeom prst="ellipse">
            <a:avLst/>
          </a:prstGeom>
          <a:solidFill>
            <a:srgbClr val="1C3252"/>
          </a:solidFill>
          <a:ln/>
        </p:spPr>
      </p:sp>
      <p:sp>
        <p:nvSpPr>
          <p:cNvPr id="4" name="Shape 2"/>
          <p:cNvSpPr/>
          <p:nvPr/>
        </p:nvSpPr>
        <p:spPr>
          <a:xfrm>
            <a:off x="822960" y="1325880"/>
            <a:ext cx="914400" cy="914400"/>
          </a:xfrm>
          <a:prstGeom prst="ellipse">
            <a:avLst/>
          </a:prstGeom>
          <a:solidFill>
            <a:srgbClr val="E8A33D"/>
          </a:solidFill>
          <a:ln/>
        </p:spPr>
      </p:sp>
      <p:pic>
        <p:nvPicPr>
          <p:cNvPr id="5" name="Image 0" descr="preencoded.png">    </p:cNvPr>
          <p:cNvPicPr>
            <a:picLocks noChangeAspect="1"/>
          </p:cNvPicPr>
          <p:nvPr/>
        </p:nvPicPr>
        <p:blipFill>
          <a:blip r:embed="rId1"/>
          <a:stretch>
            <a:fillRect/>
          </a:stretch>
        </p:blipFill>
        <p:spPr>
          <a:xfrm>
            <a:off x="1069848" y="1572768"/>
            <a:ext cx="420624" cy="420624"/>
          </a:xfrm>
          <a:prstGeom prst="rect">
            <a:avLst/>
          </a:prstGeom>
        </p:spPr>
      </p:pic>
      <p:sp>
        <p:nvSpPr>
          <p:cNvPr id="6" name="Text 3"/>
          <p:cNvSpPr/>
          <p:nvPr/>
        </p:nvSpPr>
        <p:spPr>
          <a:xfrm>
            <a:off x="841248" y="2514600"/>
            <a:ext cx="10058400" cy="320040"/>
          </a:xfrm>
          <a:prstGeom prst="rect">
            <a:avLst/>
          </a:prstGeom>
          <a:noFill/>
          <a:ln/>
        </p:spPr>
        <p:txBody>
          <a:bodyPr wrap="square" lIns="0" tIns="0" rIns="0" bIns="0" rtlCol="0" anchor="ctr"/>
          <a:lstStyle/>
          <a:p>
            <a:pPr indent="0" marL="0">
              <a:buNone/>
            </a:pPr>
            <a:r>
              <a:rPr lang="en-US" sz="1500" b="1" spc="200" kern="0" dirty="0">
                <a:solidFill>
                  <a:srgbClr val="9FB4C7"/>
                </a:solidFill>
                <a:latin typeface="Calibri" pitchFamily="34" charset="0"/>
                <a:ea typeface="Calibri" pitchFamily="34" charset="-122"/>
                <a:cs typeface="Calibri" pitchFamily="34" charset="-120"/>
              </a:rPr>
              <a:t>CS 301R · SOFTWARE ENGINEERING STUDIO I</a:t>
            </a:r>
            <a:endParaRPr lang="en-US" sz="1500" dirty="0"/>
          </a:p>
        </p:txBody>
      </p:sp>
      <p:sp>
        <p:nvSpPr>
          <p:cNvPr id="7" name="Text 4"/>
          <p:cNvSpPr/>
          <p:nvPr/>
        </p:nvSpPr>
        <p:spPr>
          <a:xfrm>
            <a:off x="822960" y="2880360"/>
            <a:ext cx="11064240" cy="118872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Size It, Fit It, Order It</a:t>
            </a:r>
            <a:endParaRPr lang="en-US" sz="4200" dirty="0"/>
          </a:p>
        </p:txBody>
      </p:sp>
      <p:sp>
        <p:nvSpPr>
          <p:cNvPr id="8" name="Text 5"/>
          <p:cNvSpPr/>
          <p:nvPr/>
        </p:nvSpPr>
        <p:spPr>
          <a:xfrm>
            <a:off x="841248" y="4297680"/>
            <a:ext cx="10058400" cy="822960"/>
          </a:xfrm>
          <a:prstGeom prst="rect">
            <a:avLst/>
          </a:prstGeom>
          <a:noFill/>
          <a:ln/>
        </p:spPr>
        <p:txBody>
          <a:bodyPr wrap="square" lIns="0" tIns="0" rIns="0" bIns="0" rtlCol="0" anchor="ctr"/>
          <a:lstStyle/>
          <a:p>
            <a:pPr indent="0" marL="0">
              <a:lnSpc>
                <a:spcPct val="120000"/>
              </a:lnSpc>
              <a:buNone/>
            </a:pPr>
            <a:r>
              <a:rPr lang="en-US" sz="1900" b="1" dirty="0">
                <a:solidFill>
                  <a:srgbClr val="E8A33D"/>
                </a:solidFill>
                <a:latin typeface="Calibri" pitchFamily="34" charset="0"/>
                <a:ea typeface="Calibri" pitchFamily="34" charset="-122"/>
                <a:cs typeface="Calibri" pitchFamily="34" charset="-120"/>
              </a:rPr>
              <a:t>Session 18 — estimation, sequencing, and the vertical slice</a:t>
            </a:r>
            <a:endParaRPr lang="en-US" sz="1900" dirty="0"/>
          </a:p>
          <a:p>
            <a:pPr indent="0" marL="0">
              <a:lnSpc>
                <a:spcPct val="120000"/>
              </a:lnSpc>
              <a:buNone/>
            </a:pPr>
            <a:r>
              <a:rPr lang="en-US" sz="1900" dirty="0">
                <a:solidFill>
                  <a:srgbClr val="9FB4C7"/>
                </a:solidFill>
                <a:latin typeface="Calibri" pitchFamily="34" charset="0"/>
                <a:ea typeface="Calibri" pitchFamily="34" charset="-122"/>
                <a:cs typeface="Calibri" pitchFamily="34" charset="-120"/>
              </a:rPr>
              <a:t>Wednesday, November 4, 2026</a:t>
            </a:r>
            <a:endParaRPr lang="en-US" sz="1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TODAY</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Turn the backlog into a plan you can keep</a:t>
            </a:r>
            <a:endParaRPr lang="en-US" sz="3100" dirty="0"/>
          </a:p>
        </p:txBody>
      </p:sp>
      <p:sp>
        <p:nvSpPr>
          <p:cNvPr id="5" name="Shape 3"/>
          <p:cNvSpPr/>
          <p:nvPr/>
        </p:nvSpPr>
        <p:spPr>
          <a:xfrm>
            <a:off x="548640" y="1783080"/>
            <a:ext cx="11064240" cy="621792"/>
          </a:xfrm>
          <a:prstGeom prst="roundRect">
            <a:avLst>
              <a:gd name="adj" fmla="val 13235"/>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804672" y="1874520"/>
            <a:ext cx="438912" cy="438912"/>
          </a:xfrm>
          <a:prstGeom prst="ellipse">
            <a:avLst/>
          </a:prstGeom>
          <a:solidFill>
            <a:srgbClr val="12908F"/>
          </a:solidFill>
          <a:ln/>
        </p:spPr>
      </p:sp>
      <p:pic>
        <p:nvPicPr>
          <p:cNvPr id="7" name="Image 0" descr="preencoded.png">    </p:cNvPr>
          <p:cNvPicPr>
            <a:picLocks noChangeAspect="1"/>
          </p:cNvPicPr>
          <p:nvPr/>
        </p:nvPicPr>
        <p:blipFill>
          <a:blip r:embed="rId1"/>
          <a:stretch>
            <a:fillRect/>
          </a:stretch>
        </p:blipFill>
        <p:spPr>
          <a:xfrm>
            <a:off x="923178" y="1993026"/>
            <a:ext cx="201900" cy="201900"/>
          </a:xfrm>
          <a:prstGeom prst="rect">
            <a:avLst/>
          </a:prstGeom>
        </p:spPr>
      </p:pic>
      <p:sp>
        <p:nvSpPr>
          <p:cNvPr id="8" name="Text 5"/>
          <p:cNvSpPr/>
          <p:nvPr/>
        </p:nvSpPr>
        <p:spPr>
          <a:xfrm>
            <a:off x="1463040" y="1783080"/>
            <a:ext cx="8229600" cy="621792"/>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Estimates are conversations, not promises</a:t>
            </a:r>
            <a:endParaRPr lang="en-US" sz="1800" dirty="0"/>
          </a:p>
        </p:txBody>
      </p:sp>
      <p:sp>
        <p:nvSpPr>
          <p:cNvPr id="9" name="Text 6"/>
          <p:cNvSpPr/>
          <p:nvPr/>
        </p:nvSpPr>
        <p:spPr>
          <a:xfrm>
            <a:off x="9692640" y="1783080"/>
            <a:ext cx="1645920" cy="621792"/>
          </a:xfrm>
          <a:prstGeom prst="rect">
            <a:avLst/>
          </a:prstGeom>
          <a:noFill/>
          <a:ln/>
        </p:spPr>
        <p:txBody>
          <a:bodyPr wrap="square" lIns="0" tIns="0" rIns="0" bIns="0" rtlCol="0" anchor="ctr"/>
          <a:lstStyle/>
          <a:p>
            <a:pPr algn="r" indent="0" marL="0">
              <a:buNone/>
            </a:pPr>
            <a:r>
              <a:rPr lang="en-US" sz="1600" b="1" dirty="0">
                <a:solidFill>
                  <a:srgbClr val="5F7284"/>
                </a:solidFill>
                <a:latin typeface="Calibri" pitchFamily="34" charset="0"/>
                <a:ea typeface="Calibri" pitchFamily="34" charset="-122"/>
                <a:cs typeface="Calibri" pitchFamily="34" charset="-120"/>
              </a:rPr>
              <a:t>5 min</a:t>
            </a:r>
            <a:endParaRPr lang="en-US" sz="1600" dirty="0"/>
          </a:p>
        </p:txBody>
      </p:sp>
      <p:sp>
        <p:nvSpPr>
          <p:cNvPr id="10" name="Shape 7"/>
          <p:cNvSpPr/>
          <p:nvPr/>
        </p:nvSpPr>
        <p:spPr>
          <a:xfrm>
            <a:off x="548640" y="2514600"/>
            <a:ext cx="11064240" cy="621792"/>
          </a:xfrm>
          <a:prstGeom prst="roundRect">
            <a:avLst>
              <a:gd name="adj" fmla="val 13235"/>
            </a:avLst>
          </a:prstGeom>
          <a:solidFill>
            <a:srgbClr val="F2F6F8"/>
          </a:solidFill>
          <a:ln/>
          <a:effectLst>
            <a:outerShdw sx="100000" sy="100000" kx="0" ky="0" algn="bl" rotWithShape="0" blurRad="88900" dist="38100" dir="5400000">
              <a:srgbClr val="000000">
                <a:alpha val="13000"/>
              </a:srgbClr>
            </a:outerShdw>
          </a:effectLst>
        </p:spPr>
      </p:sp>
      <p:sp>
        <p:nvSpPr>
          <p:cNvPr id="11" name="Shape 8"/>
          <p:cNvSpPr/>
          <p:nvPr/>
        </p:nvSpPr>
        <p:spPr>
          <a:xfrm>
            <a:off x="804672" y="2606040"/>
            <a:ext cx="438912" cy="438912"/>
          </a:xfrm>
          <a:prstGeom prst="ellipse">
            <a:avLst/>
          </a:prstGeom>
          <a:solidFill>
            <a:srgbClr val="12908F"/>
          </a:solidFill>
          <a:ln/>
        </p:spPr>
      </p:sp>
      <p:pic>
        <p:nvPicPr>
          <p:cNvPr id="12" name="Image 1" descr="preencoded.png">    </p:cNvPr>
          <p:cNvPicPr>
            <a:picLocks noChangeAspect="1"/>
          </p:cNvPicPr>
          <p:nvPr/>
        </p:nvPicPr>
        <p:blipFill>
          <a:blip r:embed="rId2"/>
          <a:stretch>
            <a:fillRect/>
          </a:stretch>
        </p:blipFill>
        <p:spPr>
          <a:xfrm>
            <a:off x="923178" y="2724546"/>
            <a:ext cx="201900" cy="201900"/>
          </a:xfrm>
          <a:prstGeom prst="rect">
            <a:avLst/>
          </a:prstGeom>
        </p:spPr>
      </p:pic>
      <p:sp>
        <p:nvSpPr>
          <p:cNvPr id="13" name="Text 9"/>
          <p:cNvSpPr/>
          <p:nvPr/>
        </p:nvSpPr>
        <p:spPr>
          <a:xfrm>
            <a:off x="1463040" y="2514600"/>
            <a:ext cx="8229600" cy="621792"/>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T-shirt sizes, demonstrated on Prop Loft</a:t>
            </a:r>
            <a:endParaRPr lang="en-US" sz="1800" dirty="0"/>
          </a:p>
        </p:txBody>
      </p:sp>
      <p:sp>
        <p:nvSpPr>
          <p:cNvPr id="14" name="Text 10"/>
          <p:cNvSpPr/>
          <p:nvPr/>
        </p:nvSpPr>
        <p:spPr>
          <a:xfrm>
            <a:off x="9692640" y="2514600"/>
            <a:ext cx="1645920" cy="621792"/>
          </a:xfrm>
          <a:prstGeom prst="rect">
            <a:avLst/>
          </a:prstGeom>
          <a:noFill/>
          <a:ln/>
        </p:spPr>
        <p:txBody>
          <a:bodyPr wrap="square" lIns="0" tIns="0" rIns="0" bIns="0" rtlCol="0" anchor="ctr"/>
          <a:lstStyle/>
          <a:p>
            <a:pPr algn="r" indent="0" marL="0">
              <a:buNone/>
            </a:pPr>
            <a:r>
              <a:rPr lang="en-US" sz="1600" b="1" dirty="0">
                <a:solidFill>
                  <a:srgbClr val="5F7284"/>
                </a:solidFill>
                <a:latin typeface="Calibri" pitchFamily="34" charset="0"/>
                <a:ea typeface="Calibri" pitchFamily="34" charset="-122"/>
                <a:cs typeface="Calibri" pitchFamily="34" charset="-120"/>
              </a:rPr>
              <a:t>12 min</a:t>
            </a:r>
            <a:endParaRPr lang="en-US" sz="1600" dirty="0"/>
          </a:p>
        </p:txBody>
      </p:sp>
      <p:sp>
        <p:nvSpPr>
          <p:cNvPr id="15" name="Shape 11"/>
          <p:cNvSpPr/>
          <p:nvPr/>
        </p:nvSpPr>
        <p:spPr>
          <a:xfrm>
            <a:off x="548640" y="3246120"/>
            <a:ext cx="11064240" cy="621792"/>
          </a:xfrm>
          <a:prstGeom prst="roundRect">
            <a:avLst>
              <a:gd name="adj" fmla="val 13235"/>
            </a:avLst>
          </a:prstGeom>
          <a:solidFill>
            <a:srgbClr val="14233A"/>
          </a:solidFill>
          <a:ln/>
          <a:effectLst>
            <a:outerShdw sx="100000" sy="100000" kx="0" ky="0" algn="bl" rotWithShape="0" blurRad="88900" dist="38100" dir="5400000">
              <a:srgbClr val="000000">
                <a:alpha val="13000"/>
              </a:srgbClr>
            </a:outerShdw>
          </a:effectLst>
        </p:spPr>
      </p:sp>
      <p:sp>
        <p:nvSpPr>
          <p:cNvPr id="16" name="Shape 12"/>
          <p:cNvSpPr/>
          <p:nvPr/>
        </p:nvSpPr>
        <p:spPr>
          <a:xfrm>
            <a:off x="804672" y="3337560"/>
            <a:ext cx="438912" cy="438912"/>
          </a:xfrm>
          <a:prstGeom prst="ellipse">
            <a:avLst/>
          </a:prstGeom>
          <a:solidFill>
            <a:srgbClr val="E8A33D"/>
          </a:solidFill>
          <a:ln/>
        </p:spPr>
      </p:sp>
      <p:pic>
        <p:nvPicPr>
          <p:cNvPr id="17" name="Image 2" descr="preencoded.png">    </p:cNvPr>
          <p:cNvPicPr>
            <a:picLocks noChangeAspect="1"/>
          </p:cNvPicPr>
          <p:nvPr/>
        </p:nvPicPr>
        <p:blipFill>
          <a:blip r:embed="rId3"/>
          <a:stretch>
            <a:fillRect/>
          </a:stretch>
        </p:blipFill>
        <p:spPr>
          <a:xfrm>
            <a:off x="923178" y="3456066"/>
            <a:ext cx="201900" cy="201900"/>
          </a:xfrm>
          <a:prstGeom prst="rect">
            <a:avLst/>
          </a:prstGeom>
        </p:spPr>
      </p:pic>
      <p:sp>
        <p:nvSpPr>
          <p:cNvPr id="18" name="Text 13"/>
          <p:cNvSpPr/>
          <p:nvPr/>
        </p:nvSpPr>
        <p:spPr>
          <a:xfrm>
            <a:off x="1463040" y="3246120"/>
            <a:ext cx="8229600" cy="621792"/>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The fit check and the cut, then size your own</a:t>
            </a:r>
            <a:endParaRPr lang="en-US" sz="1800" dirty="0"/>
          </a:p>
        </p:txBody>
      </p:sp>
      <p:sp>
        <p:nvSpPr>
          <p:cNvPr id="19" name="Text 14"/>
          <p:cNvSpPr/>
          <p:nvPr/>
        </p:nvSpPr>
        <p:spPr>
          <a:xfrm>
            <a:off x="9692640" y="3246120"/>
            <a:ext cx="1645920" cy="621792"/>
          </a:xfrm>
          <a:prstGeom prst="rect">
            <a:avLst/>
          </a:prstGeom>
          <a:noFill/>
          <a:ln/>
        </p:spPr>
        <p:txBody>
          <a:bodyPr wrap="square" lIns="0" tIns="0" rIns="0" bIns="0" rtlCol="0" anchor="ctr"/>
          <a:lstStyle/>
          <a:p>
            <a:pPr algn="r" indent="0" marL="0">
              <a:buNone/>
            </a:pPr>
            <a:r>
              <a:rPr lang="en-US" sz="1600" b="1" dirty="0">
                <a:solidFill>
                  <a:srgbClr val="E8A33D"/>
                </a:solidFill>
                <a:latin typeface="Calibri" pitchFamily="34" charset="0"/>
                <a:ea typeface="Calibri" pitchFamily="34" charset="-122"/>
                <a:cs typeface="Calibri" pitchFamily="34" charset="-120"/>
              </a:rPr>
              <a:t>18 min</a:t>
            </a:r>
            <a:endParaRPr lang="en-US" sz="1600" dirty="0"/>
          </a:p>
        </p:txBody>
      </p:sp>
      <p:sp>
        <p:nvSpPr>
          <p:cNvPr id="20" name="Shape 15"/>
          <p:cNvSpPr/>
          <p:nvPr/>
        </p:nvSpPr>
        <p:spPr>
          <a:xfrm>
            <a:off x="548640" y="3977640"/>
            <a:ext cx="11064240" cy="621792"/>
          </a:xfrm>
          <a:prstGeom prst="roundRect">
            <a:avLst>
              <a:gd name="adj" fmla="val 13235"/>
            </a:avLst>
          </a:prstGeom>
          <a:solidFill>
            <a:srgbClr val="F2F6F8"/>
          </a:solidFill>
          <a:ln/>
          <a:effectLst>
            <a:outerShdw sx="100000" sy="100000" kx="0" ky="0" algn="bl" rotWithShape="0" blurRad="88900" dist="38100" dir="5400000">
              <a:srgbClr val="000000">
                <a:alpha val="13000"/>
              </a:srgbClr>
            </a:outerShdw>
          </a:effectLst>
        </p:spPr>
      </p:sp>
      <p:sp>
        <p:nvSpPr>
          <p:cNvPr id="21" name="Shape 16"/>
          <p:cNvSpPr/>
          <p:nvPr/>
        </p:nvSpPr>
        <p:spPr>
          <a:xfrm>
            <a:off x="804672" y="4069080"/>
            <a:ext cx="438912" cy="438912"/>
          </a:xfrm>
          <a:prstGeom prst="ellipse">
            <a:avLst/>
          </a:prstGeom>
          <a:solidFill>
            <a:srgbClr val="12908F"/>
          </a:solidFill>
          <a:ln/>
        </p:spPr>
      </p:sp>
      <p:pic>
        <p:nvPicPr>
          <p:cNvPr id="22" name="Image 3" descr="preencoded.png">    </p:cNvPr>
          <p:cNvPicPr>
            <a:picLocks noChangeAspect="1"/>
          </p:cNvPicPr>
          <p:nvPr/>
        </p:nvPicPr>
        <p:blipFill>
          <a:blip r:embed="rId4"/>
          <a:stretch>
            <a:fillRect/>
          </a:stretch>
        </p:blipFill>
        <p:spPr>
          <a:xfrm>
            <a:off x="923178" y="4187586"/>
            <a:ext cx="201900" cy="201900"/>
          </a:xfrm>
          <a:prstGeom prst="rect">
            <a:avLst/>
          </a:prstGeom>
        </p:spPr>
      </p:pic>
      <p:sp>
        <p:nvSpPr>
          <p:cNvPr id="23" name="Text 17"/>
          <p:cNvSpPr/>
          <p:nvPr/>
        </p:nvSpPr>
        <p:spPr>
          <a:xfrm>
            <a:off x="1463040" y="3977640"/>
            <a:ext cx="8229600" cy="621792"/>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Sequencing and the vertical slice</a:t>
            </a:r>
            <a:endParaRPr lang="en-US" sz="1800" dirty="0"/>
          </a:p>
        </p:txBody>
      </p:sp>
      <p:sp>
        <p:nvSpPr>
          <p:cNvPr id="24" name="Text 18"/>
          <p:cNvSpPr/>
          <p:nvPr/>
        </p:nvSpPr>
        <p:spPr>
          <a:xfrm>
            <a:off x="9692640" y="3977640"/>
            <a:ext cx="1645920" cy="621792"/>
          </a:xfrm>
          <a:prstGeom prst="rect">
            <a:avLst/>
          </a:prstGeom>
          <a:noFill/>
          <a:ln/>
        </p:spPr>
        <p:txBody>
          <a:bodyPr wrap="square" lIns="0" tIns="0" rIns="0" bIns="0" rtlCol="0" anchor="ctr"/>
          <a:lstStyle/>
          <a:p>
            <a:pPr algn="r" indent="0" marL="0">
              <a:buNone/>
            </a:pPr>
            <a:r>
              <a:rPr lang="en-US" sz="1600" b="1" dirty="0">
                <a:solidFill>
                  <a:srgbClr val="5F7284"/>
                </a:solidFill>
                <a:latin typeface="Calibri" pitchFamily="34" charset="0"/>
                <a:ea typeface="Calibri" pitchFamily="34" charset="-122"/>
                <a:cs typeface="Calibri" pitchFamily="34" charset="-120"/>
              </a:rPr>
              <a:t>12 min</a:t>
            </a:r>
            <a:endParaRPr lang="en-US" sz="1600" dirty="0"/>
          </a:p>
        </p:txBody>
      </p:sp>
      <p:sp>
        <p:nvSpPr>
          <p:cNvPr id="25" name="Shape 19"/>
          <p:cNvSpPr/>
          <p:nvPr/>
        </p:nvSpPr>
        <p:spPr>
          <a:xfrm>
            <a:off x="548640" y="4709160"/>
            <a:ext cx="11064240" cy="621792"/>
          </a:xfrm>
          <a:prstGeom prst="roundRect">
            <a:avLst>
              <a:gd name="adj" fmla="val 13235"/>
            </a:avLst>
          </a:prstGeom>
          <a:solidFill>
            <a:srgbClr val="14233A"/>
          </a:solidFill>
          <a:ln/>
          <a:effectLst>
            <a:outerShdw sx="100000" sy="100000" kx="0" ky="0" algn="bl" rotWithShape="0" blurRad="88900" dist="38100" dir="5400000">
              <a:srgbClr val="000000">
                <a:alpha val="13000"/>
              </a:srgbClr>
            </a:outerShdw>
          </a:effectLst>
        </p:spPr>
      </p:sp>
      <p:sp>
        <p:nvSpPr>
          <p:cNvPr id="26" name="Shape 20"/>
          <p:cNvSpPr/>
          <p:nvPr/>
        </p:nvSpPr>
        <p:spPr>
          <a:xfrm>
            <a:off x="804672" y="4800600"/>
            <a:ext cx="438912" cy="438912"/>
          </a:xfrm>
          <a:prstGeom prst="ellipse">
            <a:avLst/>
          </a:prstGeom>
          <a:solidFill>
            <a:srgbClr val="E8A33D"/>
          </a:solidFill>
          <a:ln/>
        </p:spPr>
      </p:sp>
      <p:pic>
        <p:nvPicPr>
          <p:cNvPr id="27" name="Image 4" descr="preencoded.png">    </p:cNvPr>
          <p:cNvPicPr>
            <a:picLocks noChangeAspect="1"/>
          </p:cNvPicPr>
          <p:nvPr/>
        </p:nvPicPr>
        <p:blipFill>
          <a:blip r:embed="rId5"/>
          <a:stretch>
            <a:fillRect/>
          </a:stretch>
        </p:blipFill>
        <p:spPr>
          <a:xfrm>
            <a:off x="923178" y="4919106"/>
            <a:ext cx="201900" cy="201900"/>
          </a:xfrm>
          <a:prstGeom prst="rect">
            <a:avLst/>
          </a:prstGeom>
        </p:spPr>
      </p:pic>
      <p:sp>
        <p:nvSpPr>
          <p:cNvPr id="28" name="Text 21"/>
          <p:cNvSpPr/>
          <p:nvPr/>
        </p:nvSpPr>
        <p:spPr>
          <a:xfrm>
            <a:off x="1463040" y="4709160"/>
            <a:ext cx="8229600" cy="621792"/>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Order your M1 and commit the slice</a:t>
            </a:r>
            <a:endParaRPr lang="en-US" sz="1800" dirty="0"/>
          </a:p>
        </p:txBody>
      </p:sp>
      <p:sp>
        <p:nvSpPr>
          <p:cNvPr id="29" name="Text 22"/>
          <p:cNvSpPr/>
          <p:nvPr/>
        </p:nvSpPr>
        <p:spPr>
          <a:xfrm>
            <a:off x="9692640" y="4709160"/>
            <a:ext cx="1645920" cy="621792"/>
          </a:xfrm>
          <a:prstGeom prst="rect">
            <a:avLst/>
          </a:prstGeom>
          <a:noFill/>
          <a:ln/>
        </p:spPr>
        <p:txBody>
          <a:bodyPr wrap="square" lIns="0" tIns="0" rIns="0" bIns="0" rtlCol="0" anchor="ctr"/>
          <a:lstStyle/>
          <a:p>
            <a:pPr algn="r" indent="0" marL="0">
              <a:buNone/>
            </a:pPr>
            <a:r>
              <a:rPr lang="en-US" sz="1600" b="1" dirty="0">
                <a:solidFill>
                  <a:srgbClr val="E8A33D"/>
                </a:solidFill>
                <a:latin typeface="Calibri" pitchFamily="34" charset="0"/>
                <a:ea typeface="Calibri" pitchFamily="34" charset="-122"/>
                <a:cs typeface="Calibri" pitchFamily="34" charset="-120"/>
              </a:rPr>
              <a:t>17 min</a:t>
            </a:r>
            <a:endParaRPr lang="en-US" sz="1600" dirty="0"/>
          </a:p>
        </p:txBody>
      </p:sp>
      <p:sp>
        <p:nvSpPr>
          <p:cNvPr id="30" name="Shape 23"/>
          <p:cNvSpPr/>
          <p:nvPr/>
        </p:nvSpPr>
        <p:spPr>
          <a:xfrm>
            <a:off x="548640" y="5440680"/>
            <a:ext cx="11064240" cy="621792"/>
          </a:xfrm>
          <a:prstGeom prst="roundRect">
            <a:avLst>
              <a:gd name="adj" fmla="val 13235"/>
            </a:avLst>
          </a:prstGeom>
          <a:solidFill>
            <a:srgbClr val="F2F6F8"/>
          </a:solidFill>
          <a:ln/>
          <a:effectLst>
            <a:outerShdw sx="100000" sy="100000" kx="0" ky="0" algn="bl" rotWithShape="0" blurRad="88900" dist="38100" dir="5400000">
              <a:srgbClr val="000000">
                <a:alpha val="13000"/>
              </a:srgbClr>
            </a:outerShdw>
          </a:effectLst>
        </p:spPr>
      </p:sp>
      <p:sp>
        <p:nvSpPr>
          <p:cNvPr id="31" name="Shape 24"/>
          <p:cNvSpPr/>
          <p:nvPr/>
        </p:nvSpPr>
        <p:spPr>
          <a:xfrm>
            <a:off x="804672" y="5532120"/>
            <a:ext cx="438912" cy="438912"/>
          </a:xfrm>
          <a:prstGeom prst="ellipse">
            <a:avLst/>
          </a:prstGeom>
          <a:solidFill>
            <a:srgbClr val="12908F"/>
          </a:solidFill>
          <a:ln/>
        </p:spPr>
      </p:sp>
      <p:pic>
        <p:nvPicPr>
          <p:cNvPr id="32" name="Image 5" descr="preencoded.png">    </p:cNvPr>
          <p:cNvPicPr>
            <a:picLocks noChangeAspect="1"/>
          </p:cNvPicPr>
          <p:nvPr/>
        </p:nvPicPr>
        <p:blipFill>
          <a:blip r:embed="rId6"/>
          <a:stretch>
            <a:fillRect/>
          </a:stretch>
        </p:blipFill>
        <p:spPr>
          <a:xfrm>
            <a:off x="923178" y="5650626"/>
            <a:ext cx="201900" cy="201900"/>
          </a:xfrm>
          <a:prstGeom prst="rect">
            <a:avLst/>
          </a:prstGeom>
        </p:spPr>
      </p:pic>
      <p:sp>
        <p:nvSpPr>
          <p:cNvPr id="33" name="Text 25"/>
          <p:cNvSpPr/>
          <p:nvPr/>
        </p:nvSpPr>
        <p:spPr>
          <a:xfrm>
            <a:off x="1463040" y="5440680"/>
            <a:ext cx="8229600" cy="621792"/>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CP8 check and wrap</a:t>
            </a:r>
            <a:endParaRPr lang="en-US" sz="1800" dirty="0"/>
          </a:p>
        </p:txBody>
      </p:sp>
      <p:sp>
        <p:nvSpPr>
          <p:cNvPr id="34" name="Text 26"/>
          <p:cNvSpPr/>
          <p:nvPr/>
        </p:nvSpPr>
        <p:spPr>
          <a:xfrm>
            <a:off x="9692640" y="5440680"/>
            <a:ext cx="1645920" cy="621792"/>
          </a:xfrm>
          <a:prstGeom prst="rect">
            <a:avLst/>
          </a:prstGeom>
          <a:noFill/>
          <a:ln/>
        </p:spPr>
        <p:txBody>
          <a:bodyPr wrap="square" lIns="0" tIns="0" rIns="0" bIns="0" rtlCol="0" anchor="ctr"/>
          <a:lstStyle/>
          <a:p>
            <a:pPr algn="r" indent="0" marL="0">
              <a:buNone/>
            </a:pPr>
            <a:r>
              <a:rPr lang="en-US" sz="1600" b="1" dirty="0">
                <a:solidFill>
                  <a:srgbClr val="5F7284"/>
                </a:solidFill>
                <a:latin typeface="Calibri" pitchFamily="34" charset="0"/>
                <a:ea typeface="Calibri" pitchFamily="34" charset="-122"/>
                <a:cs typeface="Calibri" pitchFamily="34" charset="-120"/>
              </a:rPr>
              <a:t>11 min</a:t>
            </a:r>
            <a:endParaRPr lang="en-US" sz="1600" dirty="0"/>
          </a:p>
        </p:txBody>
      </p:sp>
      <p:sp>
        <p:nvSpPr>
          <p:cNvPr id="35" name="Text 27"/>
          <p:cNvSpPr/>
          <p:nvPr/>
        </p:nvSpPr>
        <p:spPr>
          <a:xfrm>
            <a:off x="6217920" y="6437376"/>
            <a:ext cx="53949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18 · Estimation &amp; the Vertical Slice</a:t>
            </a:r>
            <a:endParaRPr lang="en-US" sz="1000" dirty="0"/>
          </a:p>
        </p:txBody>
      </p:sp>
      <p:sp>
        <p:nvSpPr>
          <p:cNvPr id="36" name="Text 28"/>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WHY ESTIMATE AT ALL</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Estimates are conversations, not promises</a:t>
            </a:r>
            <a:endParaRPr lang="en-US" sz="3100" dirty="0"/>
          </a:p>
        </p:txBody>
      </p:sp>
      <p:sp>
        <p:nvSpPr>
          <p:cNvPr id="5" name="click-1"/>
          <p:cNvSpPr/>
          <p:nvPr/>
        </p:nvSpPr>
        <p:spPr>
          <a:xfrm>
            <a:off x="548640" y="1783080"/>
            <a:ext cx="5440680" cy="2103120"/>
          </a:xfrm>
          <a:prstGeom prst="roundRect">
            <a:avLst>
              <a:gd name="adj" fmla="val 3913"/>
            </a:avLst>
          </a:prstGeom>
          <a:solidFill>
            <a:srgbClr val="F2F6F8"/>
          </a:solidFill>
          <a:ln/>
          <a:effectLst>
            <a:outerShdw sx="100000" sy="100000" kx="0" ky="0" algn="bl" rotWithShape="0" blurRad="88900" dist="38100" dir="5400000">
              <a:srgbClr val="000000">
                <a:alpha val="13000"/>
              </a:srgbClr>
            </a:outerShdw>
          </a:effectLst>
        </p:spPr>
      </p:sp>
      <p:sp>
        <p:nvSpPr>
          <p:cNvPr id="6" name="click-1"/>
          <p:cNvSpPr/>
          <p:nvPr/>
        </p:nvSpPr>
        <p:spPr>
          <a:xfrm>
            <a:off x="822960" y="1965960"/>
            <a:ext cx="603504" cy="603504"/>
          </a:xfrm>
          <a:prstGeom prst="ellipse">
            <a:avLst/>
          </a:prstGeom>
          <a:solidFill>
            <a:srgbClr val="12908F"/>
          </a:solidFill>
          <a:ln/>
        </p:spPr>
      </p:sp>
      <p:pic>
        <p:nvPicPr>
          <p:cNvPr id="7" name="click-1" descr="preencoded.png">    </p:cNvPr>
          <p:cNvPicPr>
            <a:picLocks noChangeAspect="1"/>
          </p:cNvPicPr>
          <p:nvPr/>
        </p:nvPicPr>
        <p:blipFill>
          <a:blip r:embed="rId1"/>
          <a:stretch>
            <a:fillRect/>
          </a:stretch>
        </p:blipFill>
        <p:spPr>
          <a:xfrm>
            <a:off x="985906" y="2128906"/>
            <a:ext cx="277612" cy="277612"/>
          </a:xfrm>
          <a:prstGeom prst="rect">
            <a:avLst/>
          </a:prstGeom>
        </p:spPr>
      </p:pic>
      <p:sp>
        <p:nvSpPr>
          <p:cNvPr id="8" name="click-1"/>
          <p:cNvSpPr/>
          <p:nvPr/>
        </p:nvSpPr>
        <p:spPr>
          <a:xfrm>
            <a:off x="1600200" y="1965960"/>
            <a:ext cx="4206240" cy="603504"/>
          </a:xfrm>
          <a:prstGeom prst="rect">
            <a:avLst/>
          </a:prstGeom>
          <a:noFill/>
          <a:ln/>
        </p:spPr>
        <p:txBody>
          <a:bodyPr wrap="square" lIns="0" tIns="0" rIns="0" bIns="0" rtlCol="0" anchor="ctr"/>
          <a:lstStyle/>
          <a:p>
            <a:pPr indent="0" marL="0">
              <a:buNone/>
            </a:pPr>
            <a:r>
              <a:rPr lang="en-US" sz="2100" b="1" dirty="0">
                <a:solidFill>
                  <a:srgbClr val="1E2A36"/>
                </a:solidFill>
                <a:latin typeface="Calibri" pitchFamily="34" charset="0"/>
                <a:ea typeface="Calibri" pitchFamily="34" charset="-122"/>
                <a:cs typeface="Calibri" pitchFamily="34" charset="-120"/>
              </a:rPr>
              <a:t>Does it fit?</a:t>
            </a:r>
            <a:endParaRPr lang="en-US" sz="2100" dirty="0"/>
          </a:p>
        </p:txBody>
      </p:sp>
      <p:sp>
        <p:nvSpPr>
          <p:cNvPr id="9" name="click-1"/>
          <p:cNvSpPr/>
          <p:nvPr/>
        </p:nvSpPr>
        <p:spPr>
          <a:xfrm>
            <a:off x="822960" y="2743200"/>
            <a:ext cx="4892040" cy="1005840"/>
          </a:xfrm>
          <a:prstGeom prst="rect">
            <a:avLst/>
          </a:prstGeom>
          <a:noFill/>
          <a:ln/>
        </p:spPr>
        <p:txBody>
          <a:bodyPr wrap="square" lIns="0" tIns="0" rIns="0" bIns="0" rtlCol="0" anchor="t"/>
          <a:lstStyle/>
          <a:p>
            <a:pPr indent="0" marL="0">
              <a:buNone/>
            </a:pPr>
            <a:r>
              <a:rPr lang="en-US" sz="1700" dirty="0">
                <a:solidFill>
                  <a:srgbClr val="1E2A36"/>
                </a:solidFill>
                <a:latin typeface="Calibri" pitchFamily="34" charset="0"/>
                <a:ea typeface="Calibri" pitchFamily="34" charset="-122"/>
                <a:cs typeface="Calibri" pitchFamily="34" charset="-120"/>
              </a:rPr>
              <a:t>Find out now, while cutting is cheap, instead of the night before the demo.</a:t>
            </a:r>
            <a:endParaRPr lang="en-US" sz="1700" dirty="0"/>
          </a:p>
        </p:txBody>
      </p:sp>
      <p:sp>
        <p:nvSpPr>
          <p:cNvPr id="10" name="click-2"/>
          <p:cNvSpPr/>
          <p:nvPr/>
        </p:nvSpPr>
        <p:spPr>
          <a:xfrm>
            <a:off x="6172200" y="1783080"/>
            <a:ext cx="5440680" cy="2103120"/>
          </a:xfrm>
          <a:prstGeom prst="roundRect">
            <a:avLst>
              <a:gd name="adj" fmla="val 3913"/>
            </a:avLst>
          </a:prstGeom>
          <a:solidFill>
            <a:srgbClr val="F2F6F8"/>
          </a:solidFill>
          <a:ln/>
          <a:effectLst>
            <a:outerShdw sx="100000" sy="100000" kx="0" ky="0" algn="bl" rotWithShape="0" blurRad="88900" dist="38100" dir="5400000">
              <a:srgbClr val="000000">
                <a:alpha val="13000"/>
              </a:srgbClr>
            </a:outerShdw>
          </a:effectLst>
        </p:spPr>
      </p:sp>
      <p:sp>
        <p:nvSpPr>
          <p:cNvPr id="11" name="click-2"/>
          <p:cNvSpPr/>
          <p:nvPr/>
        </p:nvSpPr>
        <p:spPr>
          <a:xfrm>
            <a:off x="6446520" y="1965960"/>
            <a:ext cx="603504" cy="603504"/>
          </a:xfrm>
          <a:prstGeom prst="ellipse">
            <a:avLst/>
          </a:prstGeom>
          <a:solidFill>
            <a:srgbClr val="12908F"/>
          </a:solidFill>
          <a:ln/>
        </p:spPr>
      </p:sp>
      <p:pic>
        <p:nvPicPr>
          <p:cNvPr id="12" name="click-2" descr="preencoded.png">    </p:cNvPr>
          <p:cNvPicPr>
            <a:picLocks noChangeAspect="1"/>
          </p:cNvPicPr>
          <p:nvPr/>
        </p:nvPicPr>
        <p:blipFill>
          <a:blip r:embed="rId2"/>
          <a:stretch>
            <a:fillRect/>
          </a:stretch>
        </p:blipFill>
        <p:spPr>
          <a:xfrm>
            <a:off x="6609466" y="2128906"/>
            <a:ext cx="277612" cy="277612"/>
          </a:xfrm>
          <a:prstGeom prst="rect">
            <a:avLst/>
          </a:prstGeom>
        </p:spPr>
      </p:pic>
      <p:sp>
        <p:nvSpPr>
          <p:cNvPr id="13" name="click-2"/>
          <p:cNvSpPr/>
          <p:nvPr/>
        </p:nvSpPr>
        <p:spPr>
          <a:xfrm>
            <a:off x="7223760" y="1965960"/>
            <a:ext cx="4206240" cy="603504"/>
          </a:xfrm>
          <a:prstGeom prst="rect">
            <a:avLst/>
          </a:prstGeom>
          <a:noFill/>
          <a:ln/>
        </p:spPr>
        <p:txBody>
          <a:bodyPr wrap="square" lIns="0" tIns="0" rIns="0" bIns="0" rtlCol="0" anchor="ctr"/>
          <a:lstStyle/>
          <a:p>
            <a:pPr indent="0" marL="0">
              <a:buNone/>
            </a:pPr>
            <a:r>
              <a:rPr lang="en-US" sz="2100" b="1" dirty="0">
                <a:solidFill>
                  <a:srgbClr val="1E2A36"/>
                </a:solidFill>
                <a:latin typeface="Calibri" pitchFamily="34" charset="0"/>
                <a:ea typeface="Calibri" pitchFamily="34" charset="-122"/>
                <a:cs typeface="Calibri" pitchFamily="34" charset="-120"/>
              </a:rPr>
              <a:t>What are you assuming?</a:t>
            </a:r>
            <a:endParaRPr lang="en-US" sz="2100" dirty="0"/>
          </a:p>
        </p:txBody>
      </p:sp>
      <p:sp>
        <p:nvSpPr>
          <p:cNvPr id="14" name="click-2"/>
          <p:cNvSpPr/>
          <p:nvPr/>
        </p:nvSpPr>
        <p:spPr>
          <a:xfrm>
            <a:off x="6446520" y="2743200"/>
            <a:ext cx="4892040" cy="1005840"/>
          </a:xfrm>
          <a:prstGeom prst="rect">
            <a:avLst/>
          </a:prstGeom>
          <a:noFill/>
          <a:ln/>
        </p:spPr>
        <p:txBody>
          <a:bodyPr wrap="square" lIns="0" tIns="0" rIns="0" bIns="0" rtlCol="0" anchor="t"/>
          <a:lstStyle/>
          <a:p>
            <a:pPr indent="0" marL="0">
              <a:buNone/>
            </a:pPr>
            <a:r>
              <a:rPr lang="en-US" sz="1700" dirty="0">
                <a:solidFill>
                  <a:srgbClr val="1E2A36"/>
                </a:solidFill>
                <a:latin typeface="Calibri" pitchFamily="34" charset="0"/>
                <a:ea typeface="Calibri" pitchFamily="34" charset="-122"/>
                <a:cs typeface="Calibri" pitchFamily="34" charset="-120"/>
              </a:rPr>
              <a:t>Two people sizing the same issue differently pictured different work. That's the find.</a:t>
            </a:r>
            <a:endParaRPr lang="en-US" sz="1700" dirty="0"/>
          </a:p>
        </p:txBody>
      </p:sp>
      <p:sp>
        <p:nvSpPr>
          <p:cNvPr id="15" name="click-3"/>
          <p:cNvSpPr/>
          <p:nvPr/>
        </p:nvSpPr>
        <p:spPr>
          <a:xfrm>
            <a:off x="548640" y="4114800"/>
            <a:ext cx="11064240" cy="1005840"/>
          </a:xfrm>
          <a:prstGeom prst="roundRect">
            <a:avLst>
              <a:gd name="adj" fmla="val 8182"/>
            </a:avLst>
          </a:prstGeom>
          <a:solidFill>
            <a:srgbClr val="F2F6F8"/>
          </a:solidFill>
          <a:ln/>
          <a:effectLst>
            <a:outerShdw sx="100000" sy="100000" kx="0" ky="0" algn="bl" rotWithShape="0" blurRad="88900" dist="38100" dir="5400000">
              <a:srgbClr val="000000">
                <a:alpha val="13000"/>
              </a:srgbClr>
            </a:outerShdw>
          </a:effectLst>
        </p:spPr>
      </p:sp>
      <p:sp>
        <p:nvSpPr>
          <p:cNvPr id="16" name="click-3"/>
          <p:cNvSpPr/>
          <p:nvPr/>
        </p:nvSpPr>
        <p:spPr>
          <a:xfrm>
            <a:off x="868680" y="4114800"/>
            <a:ext cx="10424160" cy="1005840"/>
          </a:xfrm>
          <a:prstGeom prst="rect">
            <a:avLst/>
          </a:prstGeom>
          <a:noFill/>
          <a:ln/>
        </p:spPr>
        <p:txBody>
          <a:bodyPr wrap="square" lIns="0" tIns="0" rIns="0" bIns="0" rtlCol="0" anchor="ctr"/>
          <a:lstStyle/>
          <a:p>
            <a:pPr indent="0" marL="0">
              <a:buNone/>
            </a:pPr>
            <a:r>
              <a:rPr lang="en-US" sz="1700" i="1" dirty="0">
                <a:solidFill>
                  <a:srgbClr val="5F7284"/>
                </a:solidFill>
                <a:latin typeface="Calibri" pitchFamily="34" charset="0"/>
                <a:ea typeface="Calibri" pitchFamily="34" charset="-122"/>
                <a:cs typeface="Calibri" pitchFamily="34" charset="-120"/>
              </a:rPr>
              <a:t>On any team, the number gets forgotten within a week. "Wait, you thought it did what?" doesn't.</a:t>
            </a:r>
            <a:endParaRPr lang="en-US" sz="1700" dirty="0"/>
          </a:p>
        </p:txBody>
      </p:sp>
      <p:sp>
        <p:nvSpPr>
          <p:cNvPr id="17" name="click-4"/>
          <p:cNvSpPr/>
          <p:nvPr/>
        </p:nvSpPr>
        <p:spPr>
          <a:xfrm>
            <a:off x="548640" y="5349240"/>
            <a:ext cx="11064240" cy="822960"/>
          </a:xfrm>
          <a:prstGeom prst="roundRect">
            <a:avLst>
              <a:gd name="adj" fmla="val 10000"/>
            </a:avLst>
          </a:prstGeom>
          <a:solidFill>
            <a:srgbClr val="E8A33D"/>
          </a:solidFill>
          <a:ln/>
          <a:effectLst>
            <a:outerShdw sx="100000" sy="100000" kx="0" ky="0" algn="bl" rotWithShape="0" blurRad="88900" dist="38100" dir="5400000">
              <a:srgbClr val="000000">
                <a:alpha val="13000"/>
              </a:srgbClr>
            </a:outerShdw>
          </a:effectLst>
        </p:spPr>
      </p:sp>
      <p:sp>
        <p:nvSpPr>
          <p:cNvPr id="18" name="click-4"/>
          <p:cNvSpPr/>
          <p:nvPr/>
        </p:nvSpPr>
        <p:spPr>
          <a:xfrm>
            <a:off x="868680" y="5349240"/>
            <a:ext cx="10424160" cy="822960"/>
          </a:xfrm>
          <a:prstGeom prst="rect">
            <a:avLst/>
          </a:prstGeom>
          <a:noFill/>
          <a:ln/>
        </p:spPr>
        <p:txBody>
          <a:bodyPr wrap="square" lIns="0" tIns="0" rIns="0" bIns="0" rtlCol="0" anchor="ctr"/>
          <a:lstStyle/>
          <a:p>
            <a:pPr indent="0" marL="0">
              <a:lnSpc>
                <a:spcPct val="104000"/>
              </a:lnSpc>
              <a:buNone/>
            </a:pPr>
            <a:r>
              <a:rPr lang="en-US" sz="1700" b="1" dirty="0">
                <a:solidFill>
                  <a:srgbClr val="14233A"/>
                </a:solidFill>
                <a:latin typeface="Calibri" pitchFamily="34" charset="0"/>
                <a:ea typeface="Calibri" pitchFamily="34" charset="-122"/>
                <a:cs typeface="Calibri" pitchFamily="34" charset="-120"/>
              </a:rPr>
              <a:t>Honesty rule: padding an estimate for looks and trimming it for optimism both defeat the point.</a:t>
            </a:r>
            <a:endParaRPr lang="en-US" sz="1700" dirty="0"/>
          </a:p>
        </p:txBody>
      </p:sp>
      <p:sp>
        <p:nvSpPr>
          <p:cNvPr id="19" name="Text 15"/>
          <p:cNvSpPr/>
          <p:nvPr/>
        </p:nvSpPr>
        <p:spPr>
          <a:xfrm>
            <a:off x="6217920" y="6437376"/>
            <a:ext cx="53949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18 · Estimation &amp; the Vertical Slice</a:t>
            </a:r>
            <a:endParaRPr lang="en-US" sz="1000" dirty="0"/>
          </a:p>
        </p:txBody>
      </p:sp>
      <p:sp>
        <p:nvSpPr>
          <p:cNvPr id="20" name="Text 16"/>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3</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childTnLst>
                                </p:cTn>
                              </p:par>
                              <p:par>
                                <p:cTn id="8" presetID="1" presetClass="entr" presetSubtype="0" fill="hold" grpId="0" nodeType="withEffect">
                                  <p:stCondLst>
                                    <p:cond delay="0"/>
                                  </p:stCondLst>
                                  <p:childTnLst>
                                    <p:set>
                                      <p:cBhvr>
                                        <p:cTn id="7" dur="1" fill="hold">
                                          <p:stCondLst>
                                            <p:cond delay="0"/>
                                          </p:stCondLst>
                                        </p:cTn>
                                        <p:tgtEl>
                                          <p:spTgt spid="6"/>
                                        </p:tgtEl>
                                        <p:attrNameLst>
                                          <p:attrName>style.visibility</p:attrName>
                                        </p:attrNameLst>
                                      </p:cBhvr>
                                      <p:to>
                                        <p:strVal val="visible"/>
                                      </p:to>
                                    </p:set>
                                  </p:childTnLst>
                                </p:cTn>
                              </p:par>
                              <p:par>
                                <p:cTn id="10" presetID="1"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8" presetID="1" presetClass="entr" presetSubtype="0"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19" dur="1" fill="hold">
                                          <p:stCondLst>
                                            <p:cond delay="0"/>
                                          </p:stCondLst>
                                        </p:cTn>
                                        <p:tgtEl>
                                          <p:spTgt spid="11"/>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1" dur="1" fill="hold">
                                          <p:stCondLst>
                                            <p:cond delay="0"/>
                                          </p:stCondLst>
                                        </p:cTn>
                                        <p:tgtEl>
                                          <p:spTgt spid="12"/>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5"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30" presetID="1" presetClass="entr" presetSubtype="0" fill="hold" grpId="0" nodeType="clickEffect">
                                  <p:stCondLst>
                                    <p:cond delay="0"/>
                                  </p:stCondLst>
                                  <p:childTnLst>
                                    <p:set>
                                      <p:cBhvr>
                                        <p:cTn id="29" dur="1" fill="hold">
                                          <p:stCondLst>
                                            <p:cond delay="0"/>
                                          </p:stCondLst>
                                        </p:cTn>
                                        <p:tgtEl>
                                          <p:spTgt spid="15"/>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1" dur="1" fill="hold">
                                          <p:stCondLst>
                                            <p:cond delay="0"/>
                                          </p:stCondLst>
                                        </p:cTn>
                                        <p:tgtEl>
                                          <p:spTgt spid="1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6" presetID="1" presetClass="entr" presetSubtype="0" fill="hold" grpId="0" nodeType="clickEffect">
                                  <p:stCondLst>
                                    <p:cond delay="0"/>
                                  </p:stCondLst>
                                  <p:childTnLst>
                                    <p:set>
                                      <p:cBhvr>
                                        <p:cTn id="35" dur="1" fill="hold">
                                          <p:stCondLst>
                                            <p:cond delay="0"/>
                                          </p:stCondLst>
                                        </p:cTn>
                                        <p:tgtEl>
                                          <p:spTgt spid="17"/>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7"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9" grpId="0" animBg="1"/>
      <p:bldP spid="10" grpId="0" animBg="1"/>
      <p:bldP spid="11" grpId="0" animBg="1"/>
      <p:bldP spid="13" grpId="0" animBg="1"/>
      <p:bldP spid="14" grpId="0" animBg="1"/>
      <p:bldP spid="15" grpId="0" animBg="1"/>
      <p:bldP spid="16" grpId="0" animBg="1"/>
      <p:bldP spid="17" grpId="0" animBg="1"/>
      <p:bldP spid="1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T-SHIRT SIZES</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Relative first, tied to the hours you have</a:t>
            </a:r>
            <a:endParaRPr lang="en-US" sz="3100" dirty="0"/>
          </a:p>
        </p:txBody>
      </p:sp>
      <p:sp>
        <p:nvSpPr>
          <p:cNvPr id="5" name="Shape 3"/>
          <p:cNvSpPr/>
          <p:nvPr/>
        </p:nvSpPr>
        <p:spPr>
          <a:xfrm>
            <a:off x="548640" y="1783080"/>
            <a:ext cx="2103120" cy="2926080"/>
          </a:xfrm>
          <a:prstGeom prst="roundRect">
            <a:avLst>
              <a:gd name="adj" fmla="val 3913"/>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1097280" y="1965960"/>
            <a:ext cx="1005840" cy="777240"/>
          </a:xfrm>
          <a:prstGeom prst="roundRect">
            <a:avLst>
              <a:gd name="adj" fmla="val 9412"/>
            </a:avLst>
          </a:prstGeom>
          <a:solidFill>
            <a:srgbClr val="5F7284"/>
          </a:solidFill>
          <a:ln/>
        </p:spPr>
      </p:sp>
      <p:sp>
        <p:nvSpPr>
          <p:cNvPr id="7" name="Text 5"/>
          <p:cNvSpPr/>
          <p:nvPr/>
        </p:nvSpPr>
        <p:spPr>
          <a:xfrm>
            <a:off x="1097280" y="1965960"/>
            <a:ext cx="1005840" cy="77724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XS</a:t>
            </a:r>
            <a:endParaRPr lang="en-US" sz="2600" dirty="0"/>
          </a:p>
        </p:txBody>
      </p:sp>
      <p:sp>
        <p:nvSpPr>
          <p:cNvPr id="8" name="Text 6"/>
          <p:cNvSpPr/>
          <p:nvPr/>
        </p:nvSpPr>
        <p:spPr>
          <a:xfrm>
            <a:off x="548640" y="2852928"/>
            <a:ext cx="2103120" cy="411480"/>
          </a:xfrm>
          <a:prstGeom prst="rect">
            <a:avLst/>
          </a:prstGeom>
          <a:noFill/>
          <a:ln/>
        </p:spPr>
        <p:txBody>
          <a:bodyPr wrap="square" lIns="0" tIns="0" rIns="0" bIns="0" rtlCol="0" anchor="ctr"/>
          <a:lstStyle/>
          <a:p>
            <a:pPr algn="ctr" indent="0" marL="0">
              <a:buNone/>
            </a:pPr>
            <a:r>
              <a:rPr lang="en-US" sz="1800" b="1" dirty="0">
                <a:solidFill>
                  <a:srgbClr val="1E2A36"/>
                </a:solidFill>
                <a:latin typeface="Calibri" pitchFamily="34" charset="0"/>
                <a:ea typeface="Calibri" pitchFamily="34" charset="-122"/>
                <a:cs typeface="Calibri" pitchFamily="34" charset="-120"/>
              </a:rPr>
              <a:t>&lt; 1 hour</a:t>
            </a:r>
            <a:endParaRPr lang="en-US" sz="1800" dirty="0"/>
          </a:p>
        </p:txBody>
      </p:sp>
      <p:sp>
        <p:nvSpPr>
          <p:cNvPr id="9" name="Text 7"/>
          <p:cNvSpPr/>
          <p:nvPr/>
        </p:nvSpPr>
        <p:spPr>
          <a:xfrm>
            <a:off x="685800" y="3310128"/>
            <a:ext cx="1828800" cy="1325880"/>
          </a:xfrm>
          <a:prstGeom prst="rect">
            <a:avLst/>
          </a:prstGeom>
          <a:noFill/>
          <a:ln/>
        </p:spPr>
        <p:txBody>
          <a:bodyPr wrap="square" lIns="0" tIns="0" rIns="0" bIns="0" rtlCol="0" anchor="t"/>
          <a:lstStyle/>
          <a:p>
            <a:pPr algn="ctr" indent="0" marL="0">
              <a:buNone/>
            </a:pPr>
            <a:r>
              <a:rPr lang="en-US" sz="1500" dirty="0">
                <a:solidFill>
                  <a:srgbClr val="5F7284"/>
                </a:solidFill>
                <a:latin typeface="Calibri" pitchFamily="34" charset="0"/>
                <a:ea typeface="Calibri" pitchFamily="34" charset="-122"/>
                <a:cs typeface="Calibri" pitchFamily="34" charset="-120"/>
              </a:rPr>
              <a:t>A label, a typo, a config line</a:t>
            </a:r>
            <a:endParaRPr lang="en-US" sz="1500" dirty="0"/>
          </a:p>
        </p:txBody>
      </p:sp>
      <p:sp>
        <p:nvSpPr>
          <p:cNvPr id="10" name="Shape 8"/>
          <p:cNvSpPr/>
          <p:nvPr/>
        </p:nvSpPr>
        <p:spPr>
          <a:xfrm>
            <a:off x="2788920" y="1783080"/>
            <a:ext cx="2103120" cy="2926080"/>
          </a:xfrm>
          <a:prstGeom prst="roundRect">
            <a:avLst>
              <a:gd name="adj" fmla="val 3913"/>
            </a:avLst>
          </a:prstGeom>
          <a:solidFill>
            <a:srgbClr val="F2F6F8"/>
          </a:solidFill>
          <a:ln/>
          <a:effectLst>
            <a:outerShdw sx="100000" sy="100000" kx="0" ky="0" algn="bl" rotWithShape="0" blurRad="88900" dist="38100" dir="5400000">
              <a:srgbClr val="000000">
                <a:alpha val="13000"/>
              </a:srgbClr>
            </a:outerShdw>
          </a:effectLst>
        </p:spPr>
      </p:sp>
      <p:sp>
        <p:nvSpPr>
          <p:cNvPr id="11" name="Shape 9"/>
          <p:cNvSpPr/>
          <p:nvPr/>
        </p:nvSpPr>
        <p:spPr>
          <a:xfrm>
            <a:off x="3337560" y="1965960"/>
            <a:ext cx="1005840" cy="777240"/>
          </a:xfrm>
          <a:prstGeom prst="roundRect">
            <a:avLst>
              <a:gd name="adj" fmla="val 9412"/>
            </a:avLst>
          </a:prstGeom>
          <a:solidFill>
            <a:srgbClr val="12908F"/>
          </a:solidFill>
          <a:ln/>
        </p:spPr>
      </p:sp>
      <p:sp>
        <p:nvSpPr>
          <p:cNvPr id="12" name="Text 10"/>
          <p:cNvSpPr/>
          <p:nvPr/>
        </p:nvSpPr>
        <p:spPr>
          <a:xfrm>
            <a:off x="3337560" y="1965960"/>
            <a:ext cx="1005840" cy="77724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S</a:t>
            </a:r>
            <a:endParaRPr lang="en-US" sz="2600" dirty="0"/>
          </a:p>
        </p:txBody>
      </p:sp>
      <p:sp>
        <p:nvSpPr>
          <p:cNvPr id="13" name="Text 11"/>
          <p:cNvSpPr/>
          <p:nvPr/>
        </p:nvSpPr>
        <p:spPr>
          <a:xfrm>
            <a:off x="2788920" y="2852928"/>
            <a:ext cx="2103120" cy="411480"/>
          </a:xfrm>
          <a:prstGeom prst="rect">
            <a:avLst/>
          </a:prstGeom>
          <a:noFill/>
          <a:ln/>
        </p:spPr>
        <p:txBody>
          <a:bodyPr wrap="square" lIns="0" tIns="0" rIns="0" bIns="0" rtlCol="0" anchor="ctr"/>
          <a:lstStyle/>
          <a:p>
            <a:pPr algn="ctr" indent="0" marL="0">
              <a:buNone/>
            </a:pPr>
            <a:r>
              <a:rPr lang="en-US" sz="1800" b="1" dirty="0">
                <a:solidFill>
                  <a:srgbClr val="1E2A36"/>
                </a:solidFill>
                <a:latin typeface="Calibri" pitchFamily="34" charset="0"/>
                <a:ea typeface="Calibri" pitchFamily="34" charset="-122"/>
                <a:cs typeface="Calibri" pitchFamily="34" charset="-120"/>
              </a:rPr>
              <a:t>≈ 2 hours</a:t>
            </a:r>
            <a:endParaRPr lang="en-US" sz="1800" dirty="0"/>
          </a:p>
        </p:txBody>
      </p:sp>
      <p:sp>
        <p:nvSpPr>
          <p:cNvPr id="14" name="Text 12"/>
          <p:cNvSpPr/>
          <p:nvPr/>
        </p:nvSpPr>
        <p:spPr>
          <a:xfrm>
            <a:off x="2926080" y="3310128"/>
            <a:ext cx="1828800" cy="1325880"/>
          </a:xfrm>
          <a:prstGeom prst="rect">
            <a:avLst/>
          </a:prstGeom>
          <a:noFill/>
          <a:ln/>
        </p:spPr>
        <p:txBody>
          <a:bodyPr wrap="square" lIns="0" tIns="0" rIns="0" bIns="0" rtlCol="0" anchor="t"/>
          <a:lstStyle/>
          <a:p>
            <a:pPr algn="ctr" indent="0" marL="0">
              <a:buNone/>
            </a:pPr>
            <a:r>
              <a:rPr lang="en-US" sz="1500" dirty="0">
                <a:solidFill>
                  <a:srgbClr val="5F7284"/>
                </a:solidFill>
                <a:latin typeface="Calibri" pitchFamily="34" charset="0"/>
                <a:ea typeface="Calibri" pitchFamily="34" charset="-122"/>
                <a:cs typeface="Calibri" pitchFamily="34" charset="-120"/>
              </a:rPr>
              <a:t>One focused sitting</a:t>
            </a:r>
            <a:endParaRPr lang="en-US" sz="1500" dirty="0"/>
          </a:p>
        </p:txBody>
      </p:sp>
      <p:sp>
        <p:nvSpPr>
          <p:cNvPr id="15" name="Shape 13"/>
          <p:cNvSpPr/>
          <p:nvPr/>
        </p:nvSpPr>
        <p:spPr>
          <a:xfrm>
            <a:off x="5029200" y="1783080"/>
            <a:ext cx="2103120" cy="2926080"/>
          </a:xfrm>
          <a:prstGeom prst="roundRect">
            <a:avLst>
              <a:gd name="adj" fmla="val 3913"/>
            </a:avLst>
          </a:prstGeom>
          <a:solidFill>
            <a:srgbClr val="F2F6F8"/>
          </a:solidFill>
          <a:ln/>
          <a:effectLst>
            <a:outerShdw sx="100000" sy="100000" kx="0" ky="0" algn="bl" rotWithShape="0" blurRad="88900" dist="38100" dir="5400000">
              <a:srgbClr val="000000">
                <a:alpha val="13000"/>
              </a:srgbClr>
            </a:outerShdw>
          </a:effectLst>
        </p:spPr>
      </p:sp>
      <p:sp>
        <p:nvSpPr>
          <p:cNvPr id="16" name="Shape 14"/>
          <p:cNvSpPr/>
          <p:nvPr/>
        </p:nvSpPr>
        <p:spPr>
          <a:xfrm>
            <a:off x="5577840" y="1965960"/>
            <a:ext cx="1005840" cy="777240"/>
          </a:xfrm>
          <a:prstGeom prst="roundRect">
            <a:avLst>
              <a:gd name="adj" fmla="val 9412"/>
            </a:avLst>
          </a:prstGeom>
          <a:solidFill>
            <a:srgbClr val="0E6E6D"/>
          </a:solidFill>
          <a:ln/>
        </p:spPr>
      </p:sp>
      <p:sp>
        <p:nvSpPr>
          <p:cNvPr id="17" name="Text 15"/>
          <p:cNvSpPr/>
          <p:nvPr/>
        </p:nvSpPr>
        <p:spPr>
          <a:xfrm>
            <a:off x="5577840" y="1965960"/>
            <a:ext cx="1005840" cy="77724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M</a:t>
            </a:r>
            <a:endParaRPr lang="en-US" sz="2600" dirty="0"/>
          </a:p>
        </p:txBody>
      </p:sp>
      <p:sp>
        <p:nvSpPr>
          <p:cNvPr id="18" name="Text 16"/>
          <p:cNvSpPr/>
          <p:nvPr/>
        </p:nvSpPr>
        <p:spPr>
          <a:xfrm>
            <a:off x="5029200" y="2852928"/>
            <a:ext cx="2103120" cy="411480"/>
          </a:xfrm>
          <a:prstGeom prst="rect">
            <a:avLst/>
          </a:prstGeom>
          <a:noFill/>
          <a:ln/>
        </p:spPr>
        <p:txBody>
          <a:bodyPr wrap="square" lIns="0" tIns="0" rIns="0" bIns="0" rtlCol="0" anchor="ctr"/>
          <a:lstStyle/>
          <a:p>
            <a:pPr algn="ctr" indent="0" marL="0">
              <a:buNone/>
            </a:pPr>
            <a:r>
              <a:rPr lang="en-US" sz="1800" b="1" dirty="0">
                <a:solidFill>
                  <a:srgbClr val="1E2A36"/>
                </a:solidFill>
                <a:latin typeface="Calibri" pitchFamily="34" charset="0"/>
                <a:ea typeface="Calibri" pitchFamily="34" charset="-122"/>
                <a:cs typeface="Calibri" pitchFamily="34" charset="-120"/>
              </a:rPr>
              <a:t>≈ 4 hours</a:t>
            </a:r>
            <a:endParaRPr lang="en-US" sz="1800" dirty="0"/>
          </a:p>
        </p:txBody>
      </p:sp>
      <p:sp>
        <p:nvSpPr>
          <p:cNvPr id="19" name="Text 17"/>
          <p:cNvSpPr/>
          <p:nvPr/>
        </p:nvSpPr>
        <p:spPr>
          <a:xfrm>
            <a:off x="5166360" y="3310128"/>
            <a:ext cx="1828800" cy="1325880"/>
          </a:xfrm>
          <a:prstGeom prst="rect">
            <a:avLst/>
          </a:prstGeom>
          <a:noFill/>
          <a:ln/>
        </p:spPr>
        <p:txBody>
          <a:bodyPr wrap="square" lIns="0" tIns="0" rIns="0" bIns="0" rtlCol="0" anchor="t"/>
          <a:lstStyle/>
          <a:p>
            <a:pPr algn="ctr" indent="0" marL="0">
              <a:buNone/>
            </a:pPr>
            <a:r>
              <a:rPr lang="en-US" sz="1500" dirty="0">
                <a:solidFill>
                  <a:srgbClr val="5F7284"/>
                </a:solidFill>
                <a:latin typeface="Calibri" pitchFamily="34" charset="0"/>
                <a:ea typeface="Calibri" pitchFamily="34" charset="-122"/>
                <a:cs typeface="Calibri" pitchFamily="34" charset="-120"/>
              </a:rPr>
              <a:t>Two or three sittings: half a week of one person</a:t>
            </a:r>
            <a:endParaRPr lang="en-US" sz="1500" dirty="0"/>
          </a:p>
        </p:txBody>
      </p:sp>
      <p:sp>
        <p:nvSpPr>
          <p:cNvPr id="20" name="Shape 18"/>
          <p:cNvSpPr/>
          <p:nvPr/>
        </p:nvSpPr>
        <p:spPr>
          <a:xfrm>
            <a:off x="7269480" y="1783080"/>
            <a:ext cx="2103120" cy="2926080"/>
          </a:xfrm>
          <a:prstGeom prst="roundRect">
            <a:avLst>
              <a:gd name="adj" fmla="val 3913"/>
            </a:avLst>
          </a:prstGeom>
          <a:solidFill>
            <a:srgbClr val="F2F6F8"/>
          </a:solidFill>
          <a:ln/>
          <a:effectLst>
            <a:outerShdw sx="100000" sy="100000" kx="0" ky="0" algn="bl" rotWithShape="0" blurRad="88900" dist="38100" dir="5400000">
              <a:srgbClr val="000000">
                <a:alpha val="13000"/>
              </a:srgbClr>
            </a:outerShdw>
          </a:effectLst>
        </p:spPr>
      </p:sp>
      <p:sp>
        <p:nvSpPr>
          <p:cNvPr id="21" name="Shape 19"/>
          <p:cNvSpPr/>
          <p:nvPr/>
        </p:nvSpPr>
        <p:spPr>
          <a:xfrm>
            <a:off x="7818120" y="1965960"/>
            <a:ext cx="1005840" cy="777240"/>
          </a:xfrm>
          <a:prstGeom prst="roundRect">
            <a:avLst>
              <a:gd name="adj" fmla="val 9412"/>
            </a:avLst>
          </a:prstGeom>
          <a:solidFill>
            <a:srgbClr val="E8A33D"/>
          </a:solidFill>
          <a:ln/>
        </p:spPr>
      </p:sp>
      <p:sp>
        <p:nvSpPr>
          <p:cNvPr id="22" name="Text 20"/>
          <p:cNvSpPr/>
          <p:nvPr/>
        </p:nvSpPr>
        <p:spPr>
          <a:xfrm>
            <a:off x="7818120" y="1965960"/>
            <a:ext cx="1005840" cy="777240"/>
          </a:xfrm>
          <a:prstGeom prst="rect">
            <a:avLst/>
          </a:prstGeom>
          <a:noFill/>
          <a:ln/>
        </p:spPr>
        <p:txBody>
          <a:bodyPr wrap="square" lIns="0" tIns="0" rIns="0" bIns="0" rtlCol="0" anchor="ctr"/>
          <a:lstStyle/>
          <a:p>
            <a:pPr algn="ctr" indent="0" marL="0">
              <a:buNone/>
            </a:pPr>
            <a:r>
              <a:rPr lang="en-US" sz="2600" b="1" dirty="0">
                <a:solidFill>
                  <a:srgbClr val="14233A"/>
                </a:solidFill>
                <a:latin typeface="Cambria" pitchFamily="34" charset="0"/>
                <a:ea typeface="Cambria" pitchFamily="34" charset="-122"/>
                <a:cs typeface="Cambria" pitchFamily="34" charset="-120"/>
              </a:rPr>
              <a:t>L</a:t>
            </a:r>
            <a:endParaRPr lang="en-US" sz="2600" dirty="0"/>
          </a:p>
        </p:txBody>
      </p:sp>
      <p:sp>
        <p:nvSpPr>
          <p:cNvPr id="23" name="Text 21"/>
          <p:cNvSpPr/>
          <p:nvPr/>
        </p:nvSpPr>
        <p:spPr>
          <a:xfrm>
            <a:off x="7269480" y="2852928"/>
            <a:ext cx="2103120" cy="411480"/>
          </a:xfrm>
          <a:prstGeom prst="rect">
            <a:avLst/>
          </a:prstGeom>
          <a:noFill/>
          <a:ln/>
        </p:spPr>
        <p:txBody>
          <a:bodyPr wrap="square" lIns="0" tIns="0" rIns="0" bIns="0" rtlCol="0" anchor="ctr"/>
          <a:lstStyle/>
          <a:p>
            <a:pPr algn="ctr" indent="0" marL="0">
              <a:buNone/>
            </a:pPr>
            <a:r>
              <a:rPr lang="en-US" sz="1800" b="1" dirty="0">
                <a:solidFill>
                  <a:srgbClr val="1E2A36"/>
                </a:solidFill>
                <a:latin typeface="Calibri" pitchFamily="34" charset="0"/>
                <a:ea typeface="Calibri" pitchFamily="34" charset="-122"/>
                <a:cs typeface="Calibri" pitchFamily="34" charset="-120"/>
              </a:rPr>
              <a:t>≈ 7 hours</a:t>
            </a:r>
            <a:endParaRPr lang="en-US" sz="1800" dirty="0"/>
          </a:p>
        </p:txBody>
      </p:sp>
      <p:sp>
        <p:nvSpPr>
          <p:cNvPr id="24" name="Text 22"/>
          <p:cNvSpPr/>
          <p:nvPr/>
        </p:nvSpPr>
        <p:spPr>
          <a:xfrm>
            <a:off x="7406640" y="3310128"/>
            <a:ext cx="1828800" cy="1325880"/>
          </a:xfrm>
          <a:prstGeom prst="rect">
            <a:avLst/>
          </a:prstGeom>
          <a:noFill/>
          <a:ln/>
        </p:spPr>
        <p:txBody>
          <a:bodyPr wrap="square" lIns="0" tIns="0" rIns="0" bIns="0" rtlCol="0" anchor="t"/>
          <a:lstStyle/>
          <a:p>
            <a:pPr algn="ctr" indent="0" marL="0">
              <a:buNone/>
            </a:pPr>
            <a:r>
              <a:rPr lang="en-US" sz="1500" dirty="0">
                <a:solidFill>
                  <a:srgbClr val="5F7284"/>
                </a:solidFill>
                <a:latin typeface="Calibri" pitchFamily="34" charset="0"/>
                <a:ea typeface="Calibri" pitchFamily="34" charset="-122"/>
                <a:cs typeface="Calibri" pitchFamily="34" charset="-120"/>
              </a:rPr>
              <a:t>A whole week of one person. Split it, or schedule it first.</a:t>
            </a:r>
            <a:endParaRPr lang="en-US" sz="1500" dirty="0"/>
          </a:p>
        </p:txBody>
      </p:sp>
      <p:sp>
        <p:nvSpPr>
          <p:cNvPr id="25" name="Shape 23"/>
          <p:cNvSpPr/>
          <p:nvPr/>
        </p:nvSpPr>
        <p:spPr>
          <a:xfrm>
            <a:off x="9509760" y="1783080"/>
            <a:ext cx="2103120" cy="2926080"/>
          </a:xfrm>
          <a:prstGeom prst="roundRect">
            <a:avLst>
              <a:gd name="adj" fmla="val 3913"/>
            </a:avLst>
          </a:prstGeom>
          <a:solidFill>
            <a:srgbClr val="F2F6F8"/>
          </a:solidFill>
          <a:ln/>
          <a:effectLst>
            <a:outerShdw sx="100000" sy="100000" kx="0" ky="0" algn="bl" rotWithShape="0" blurRad="88900" dist="38100" dir="5400000">
              <a:srgbClr val="000000">
                <a:alpha val="13000"/>
              </a:srgbClr>
            </a:outerShdw>
          </a:effectLst>
        </p:spPr>
      </p:sp>
      <p:sp>
        <p:nvSpPr>
          <p:cNvPr id="26" name="Shape 24"/>
          <p:cNvSpPr/>
          <p:nvPr/>
        </p:nvSpPr>
        <p:spPr>
          <a:xfrm>
            <a:off x="10058400" y="1965960"/>
            <a:ext cx="1005840" cy="777240"/>
          </a:xfrm>
          <a:prstGeom prst="roundRect">
            <a:avLst>
              <a:gd name="adj" fmla="val 9412"/>
            </a:avLst>
          </a:prstGeom>
          <a:solidFill>
            <a:srgbClr val="D9614C"/>
          </a:solidFill>
          <a:ln/>
        </p:spPr>
      </p:sp>
      <p:sp>
        <p:nvSpPr>
          <p:cNvPr id="27" name="Text 25"/>
          <p:cNvSpPr/>
          <p:nvPr/>
        </p:nvSpPr>
        <p:spPr>
          <a:xfrm>
            <a:off x="10058400" y="1965960"/>
            <a:ext cx="1005840" cy="77724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XL</a:t>
            </a:r>
            <a:endParaRPr lang="en-US" sz="2600" dirty="0"/>
          </a:p>
        </p:txBody>
      </p:sp>
      <p:sp>
        <p:nvSpPr>
          <p:cNvPr id="28" name="Text 26"/>
          <p:cNvSpPr/>
          <p:nvPr/>
        </p:nvSpPr>
        <p:spPr>
          <a:xfrm>
            <a:off x="9509760" y="2852928"/>
            <a:ext cx="2103120" cy="411480"/>
          </a:xfrm>
          <a:prstGeom prst="rect">
            <a:avLst/>
          </a:prstGeom>
          <a:noFill/>
          <a:ln/>
        </p:spPr>
        <p:txBody>
          <a:bodyPr wrap="square" lIns="0" tIns="0" rIns="0" bIns="0" rtlCol="0" anchor="ctr"/>
          <a:lstStyle/>
          <a:p>
            <a:pPr algn="ctr" indent="0" marL="0">
              <a:buNone/>
            </a:pPr>
            <a:r>
              <a:rPr lang="en-US" sz="1800" b="1" dirty="0">
                <a:solidFill>
                  <a:srgbClr val="1E2A36"/>
                </a:solidFill>
                <a:latin typeface="Calibri" pitchFamily="34" charset="0"/>
                <a:ea typeface="Calibri" pitchFamily="34" charset="-122"/>
                <a:cs typeface="Calibri" pitchFamily="34" charset="-120"/>
              </a:rPr>
              <a:t>&gt; a week</a:t>
            </a:r>
            <a:endParaRPr lang="en-US" sz="1800" dirty="0"/>
          </a:p>
        </p:txBody>
      </p:sp>
      <p:sp>
        <p:nvSpPr>
          <p:cNvPr id="29" name="Text 27"/>
          <p:cNvSpPr/>
          <p:nvPr/>
        </p:nvSpPr>
        <p:spPr>
          <a:xfrm>
            <a:off x="9646920" y="3310128"/>
            <a:ext cx="1828800" cy="1325880"/>
          </a:xfrm>
          <a:prstGeom prst="rect">
            <a:avLst/>
          </a:prstGeom>
          <a:noFill/>
          <a:ln/>
        </p:spPr>
        <p:txBody>
          <a:bodyPr wrap="square" lIns="0" tIns="0" rIns="0" bIns="0" rtlCol="0" anchor="t"/>
          <a:lstStyle/>
          <a:p>
            <a:pPr algn="ctr" indent="0" marL="0">
              <a:buNone/>
            </a:pPr>
            <a:r>
              <a:rPr lang="en-US" sz="1500" dirty="0">
                <a:solidFill>
                  <a:srgbClr val="5F7284"/>
                </a:solidFill>
                <a:latin typeface="Calibri" pitchFamily="34" charset="0"/>
                <a:ea typeface="Calibri" pitchFamily="34" charset="-122"/>
                <a:cs typeface="Calibri" pitchFamily="34" charset="-120"/>
              </a:rPr>
              <a:t>An epic. Split it now.</a:t>
            </a:r>
            <a:endParaRPr lang="en-US" sz="1500" dirty="0"/>
          </a:p>
        </p:txBody>
      </p:sp>
      <p:sp>
        <p:nvSpPr>
          <p:cNvPr id="30" name="click-1"/>
          <p:cNvSpPr/>
          <p:nvPr/>
        </p:nvSpPr>
        <p:spPr>
          <a:xfrm>
            <a:off x="548640" y="4937760"/>
            <a:ext cx="11064240" cy="1234440"/>
          </a:xfrm>
          <a:prstGeom prst="roundRect">
            <a:avLst>
              <a:gd name="adj" fmla="val 6667"/>
            </a:avLst>
          </a:prstGeom>
          <a:solidFill>
            <a:srgbClr val="14233A"/>
          </a:solidFill>
          <a:ln/>
          <a:effectLst>
            <a:outerShdw sx="100000" sy="100000" kx="0" ky="0" algn="bl" rotWithShape="0" blurRad="88900" dist="38100" dir="5400000">
              <a:srgbClr val="000000">
                <a:alpha val="13000"/>
              </a:srgbClr>
            </a:outerShdw>
          </a:effectLst>
        </p:spPr>
      </p:sp>
      <p:sp>
        <p:nvSpPr>
          <p:cNvPr id="31" name="click-1"/>
          <p:cNvSpPr/>
          <p:nvPr/>
        </p:nvSpPr>
        <p:spPr>
          <a:xfrm>
            <a:off x="868680" y="4937760"/>
            <a:ext cx="10424160" cy="1234440"/>
          </a:xfrm>
          <a:prstGeom prst="rect">
            <a:avLst/>
          </a:prstGeom>
          <a:noFill/>
          <a:ln/>
        </p:spPr>
        <p:txBody>
          <a:bodyPr wrap="square" lIns="0" tIns="0" rIns="0" bIns="0" rtlCol="0" anchor="ctr"/>
          <a:lstStyle/>
          <a:p>
            <a:pPr indent="0" marL="0">
              <a:lnSpc>
                <a:spcPct val="104000"/>
              </a:lnSpc>
              <a:buNone/>
            </a:pPr>
            <a:r>
              <a:rPr lang="en-US" sz="1700" b="1" dirty="0">
                <a:solidFill>
                  <a:srgbClr val="E8A33D"/>
                </a:solidFill>
                <a:latin typeface="Calibri" pitchFamily="34" charset="0"/>
                <a:ea typeface="Calibri" pitchFamily="34" charset="-122"/>
                <a:cs typeface="Calibri" pitchFamily="34" charset="-120"/>
              </a:rPr>
              <a:t>Start from an anchor.  </a:t>
            </a:r>
            <a:pPr indent="0" marL="0">
              <a:lnSpc>
                <a:spcPct val="104000"/>
              </a:lnSpc>
              <a:buNone/>
            </a:pPr>
            <a:r>
              <a:rPr lang="en-US" sz="1700" dirty="0">
                <a:solidFill>
                  <a:srgbClr val="FFFFFF"/>
                </a:solidFill>
                <a:latin typeface="Calibri" pitchFamily="34" charset="0"/>
                <a:ea typeface="Calibri" pitchFamily="34" charset="-122"/>
                <a:cs typeface="Calibri" pitchFamily="34" charset="-120"/>
              </a:rPr>
              <a:t>Prop Loft's item list is finished, and it was an S. "Bigger or smaller than that was?" is an easier question than "how many hours?"</a:t>
            </a:r>
            <a:endParaRPr lang="en-US" sz="1700" dirty="0"/>
          </a:p>
        </p:txBody>
      </p:sp>
      <p:sp>
        <p:nvSpPr>
          <p:cNvPr id="32" name="Text 30"/>
          <p:cNvSpPr/>
          <p:nvPr/>
        </p:nvSpPr>
        <p:spPr>
          <a:xfrm>
            <a:off x="6217920" y="6437376"/>
            <a:ext cx="53949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18 · Estimation &amp; the Vertical Slice</a:t>
            </a:r>
            <a:endParaRPr lang="en-US" sz="1000" dirty="0"/>
          </a:p>
        </p:txBody>
      </p:sp>
      <p:sp>
        <p:nvSpPr>
          <p:cNvPr id="33" name="Text 31"/>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4</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 presetClass="entr" presetSubtype="0" fill="hold" grpId="0" nodeType="clickEffect">
                                  <p:stCondLst>
                                    <p:cond delay="0"/>
                                  </p:stCondLst>
                                  <p:childTnLst>
                                    <p:set>
                                      <p:cBhvr>
                                        <p:cTn id="5" dur="1" fill="hold">
                                          <p:stCondLst>
                                            <p:cond delay="0"/>
                                          </p:stCondLst>
                                        </p:cTn>
                                        <p:tgtEl>
                                          <p:spTgt spid="30"/>
                                        </p:tgtEl>
                                        <p:attrNameLst>
                                          <p:attrName>style.visibility</p:attrName>
                                        </p:attrNameLst>
                                      </p:cBhvr>
                                      <p:to>
                                        <p:strVal val="visible"/>
                                      </p:to>
                                    </p:set>
                                  </p:childTnLst>
                                </p:cTn>
                              </p:par>
                              <p:par>
                                <p:cTn id="8" presetID="1" presetClass="entr" presetSubtype="0" fill="hold" grpId="0" nodeType="withEffect">
                                  <p:stCondLst>
                                    <p:cond delay="0"/>
                                  </p:stCondLst>
                                  <p:childTnLst>
                                    <p:set>
                                      <p:cBhvr>
                                        <p:cTn id="7"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HOW WE'LL VOTE</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Silently, together, then compare pictures</a:t>
            </a:r>
            <a:endParaRPr lang="en-US" sz="3100" dirty="0"/>
          </a:p>
        </p:txBody>
      </p:sp>
      <p:sp>
        <p:nvSpPr>
          <p:cNvPr id="5" name="Shape 3"/>
          <p:cNvSpPr/>
          <p:nvPr/>
        </p:nvSpPr>
        <p:spPr>
          <a:xfrm>
            <a:off x="548640" y="1783080"/>
            <a:ext cx="3474720" cy="2103120"/>
          </a:xfrm>
          <a:prstGeom prst="roundRect">
            <a:avLst>
              <a:gd name="adj" fmla="val 3913"/>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777240" y="1938528"/>
            <a:ext cx="548640" cy="548640"/>
          </a:xfrm>
          <a:prstGeom prst="ellipse">
            <a:avLst/>
          </a:prstGeom>
          <a:solidFill>
            <a:srgbClr val="12908F"/>
          </a:solidFill>
          <a:ln/>
        </p:spPr>
      </p:sp>
      <p:pic>
        <p:nvPicPr>
          <p:cNvPr id="7" name="Image 0" descr="preencoded.png">    </p:cNvPr>
          <p:cNvPicPr>
            <a:picLocks noChangeAspect="1"/>
          </p:cNvPicPr>
          <p:nvPr/>
        </p:nvPicPr>
        <p:blipFill>
          <a:blip r:embed="rId1"/>
          <a:stretch>
            <a:fillRect/>
          </a:stretch>
        </p:blipFill>
        <p:spPr>
          <a:xfrm>
            <a:off x="925373" y="2086661"/>
            <a:ext cx="252374" cy="252374"/>
          </a:xfrm>
          <a:prstGeom prst="rect">
            <a:avLst/>
          </a:prstGeom>
        </p:spPr>
      </p:pic>
      <p:sp>
        <p:nvSpPr>
          <p:cNvPr id="8" name="Text 5"/>
          <p:cNvSpPr/>
          <p:nvPr/>
        </p:nvSpPr>
        <p:spPr>
          <a:xfrm>
            <a:off x="1463040" y="1938528"/>
            <a:ext cx="2423160" cy="548640"/>
          </a:xfrm>
          <a:prstGeom prst="rect">
            <a:avLst/>
          </a:prstGeom>
          <a:noFill/>
          <a:ln/>
        </p:spPr>
        <p:txBody>
          <a:bodyPr wrap="square" lIns="0" tIns="0" rIns="0" bIns="0" rtlCol="0" anchor="ctr"/>
          <a:lstStyle/>
          <a:p>
            <a:pPr indent="0" marL="0">
              <a:buNone/>
            </a:pPr>
            <a:r>
              <a:rPr lang="en-US" sz="1900" b="1" dirty="0">
                <a:solidFill>
                  <a:srgbClr val="1E2A36"/>
                </a:solidFill>
                <a:latin typeface="Calibri" pitchFamily="34" charset="0"/>
                <a:ea typeface="Calibri" pitchFamily="34" charset="-122"/>
                <a:cs typeface="Calibri" pitchFamily="34" charset="-120"/>
              </a:rPr>
              <a:t>Read the issue</a:t>
            </a:r>
            <a:endParaRPr lang="en-US" sz="1900" dirty="0"/>
          </a:p>
        </p:txBody>
      </p:sp>
      <p:sp>
        <p:nvSpPr>
          <p:cNvPr id="9" name="Text 6"/>
          <p:cNvSpPr/>
          <p:nvPr/>
        </p:nvSpPr>
        <p:spPr>
          <a:xfrm>
            <a:off x="777240" y="2651760"/>
            <a:ext cx="3017520" cy="1143000"/>
          </a:xfrm>
          <a:prstGeom prst="rect">
            <a:avLst/>
          </a:prstGeom>
          <a:noFill/>
          <a:ln/>
        </p:spPr>
        <p:txBody>
          <a:bodyPr wrap="square" lIns="0" tIns="0" rIns="0" bIns="0" rtlCol="0" anchor="t"/>
          <a:lstStyle/>
          <a:p>
            <a:pPr indent="0" marL="0">
              <a:buNone/>
            </a:pPr>
            <a:r>
              <a:rPr lang="en-US" sz="1600" dirty="0">
                <a:solidFill>
                  <a:srgbClr val="1E2A36"/>
                </a:solidFill>
                <a:latin typeface="Calibri" pitchFamily="34" charset="0"/>
                <a:ea typeface="Calibri" pitchFamily="34" charset="-122"/>
                <a:cs typeface="Calibri" pitchFamily="34" charset="-120"/>
              </a:rPr>
              <a:t>Size it from its text alone. One finger is XS, five is XL.</a:t>
            </a:r>
            <a:endParaRPr lang="en-US" sz="1600" dirty="0"/>
          </a:p>
        </p:txBody>
      </p:sp>
      <p:sp>
        <p:nvSpPr>
          <p:cNvPr id="10" name="Shape 7"/>
          <p:cNvSpPr/>
          <p:nvPr/>
        </p:nvSpPr>
        <p:spPr>
          <a:xfrm>
            <a:off x="4343400" y="1783080"/>
            <a:ext cx="3474720" cy="2103120"/>
          </a:xfrm>
          <a:prstGeom prst="roundRect">
            <a:avLst>
              <a:gd name="adj" fmla="val 3913"/>
            </a:avLst>
          </a:prstGeom>
          <a:solidFill>
            <a:srgbClr val="F2F6F8"/>
          </a:solidFill>
          <a:ln/>
          <a:effectLst>
            <a:outerShdw sx="100000" sy="100000" kx="0" ky="0" algn="bl" rotWithShape="0" blurRad="88900" dist="38100" dir="5400000">
              <a:srgbClr val="000000">
                <a:alpha val="13000"/>
              </a:srgbClr>
            </a:outerShdw>
          </a:effectLst>
        </p:spPr>
      </p:sp>
      <p:sp>
        <p:nvSpPr>
          <p:cNvPr id="11" name="Shape 8"/>
          <p:cNvSpPr/>
          <p:nvPr/>
        </p:nvSpPr>
        <p:spPr>
          <a:xfrm>
            <a:off x="4572000" y="1938528"/>
            <a:ext cx="548640" cy="548640"/>
          </a:xfrm>
          <a:prstGeom prst="ellipse">
            <a:avLst/>
          </a:prstGeom>
          <a:solidFill>
            <a:srgbClr val="12908F"/>
          </a:solidFill>
          <a:ln/>
        </p:spPr>
      </p:sp>
      <p:pic>
        <p:nvPicPr>
          <p:cNvPr id="12" name="Image 1" descr="preencoded.png">    </p:cNvPr>
          <p:cNvPicPr>
            <a:picLocks noChangeAspect="1"/>
          </p:cNvPicPr>
          <p:nvPr/>
        </p:nvPicPr>
        <p:blipFill>
          <a:blip r:embed="rId2"/>
          <a:stretch>
            <a:fillRect/>
          </a:stretch>
        </p:blipFill>
        <p:spPr>
          <a:xfrm>
            <a:off x="4720133" y="2086661"/>
            <a:ext cx="252374" cy="252374"/>
          </a:xfrm>
          <a:prstGeom prst="rect">
            <a:avLst/>
          </a:prstGeom>
        </p:spPr>
      </p:pic>
      <p:sp>
        <p:nvSpPr>
          <p:cNvPr id="13" name="Text 9"/>
          <p:cNvSpPr/>
          <p:nvPr/>
        </p:nvSpPr>
        <p:spPr>
          <a:xfrm>
            <a:off x="5257800" y="1938528"/>
            <a:ext cx="2423160" cy="548640"/>
          </a:xfrm>
          <a:prstGeom prst="rect">
            <a:avLst/>
          </a:prstGeom>
          <a:noFill/>
          <a:ln/>
        </p:spPr>
        <p:txBody>
          <a:bodyPr wrap="square" lIns="0" tIns="0" rIns="0" bIns="0" rtlCol="0" anchor="ctr"/>
          <a:lstStyle/>
          <a:p>
            <a:pPr indent="0" marL="0">
              <a:buNone/>
            </a:pPr>
            <a:r>
              <a:rPr lang="en-US" sz="1900" b="1" dirty="0">
                <a:solidFill>
                  <a:srgbClr val="1E2A36"/>
                </a:solidFill>
                <a:latin typeface="Calibri" pitchFamily="34" charset="0"/>
                <a:ea typeface="Calibri" pitchFamily="34" charset="-122"/>
                <a:cs typeface="Calibri" pitchFamily="34" charset="-120"/>
              </a:rPr>
              <a:t>Reveal together</a:t>
            </a:r>
            <a:endParaRPr lang="en-US" sz="1900" dirty="0"/>
          </a:p>
        </p:txBody>
      </p:sp>
      <p:sp>
        <p:nvSpPr>
          <p:cNvPr id="14" name="Text 10"/>
          <p:cNvSpPr/>
          <p:nvPr/>
        </p:nvSpPr>
        <p:spPr>
          <a:xfrm>
            <a:off x="4572000" y="2651760"/>
            <a:ext cx="3017520" cy="1143000"/>
          </a:xfrm>
          <a:prstGeom prst="rect">
            <a:avLst/>
          </a:prstGeom>
          <a:noFill/>
          <a:ln/>
        </p:spPr>
        <p:txBody>
          <a:bodyPr wrap="square" lIns="0" tIns="0" rIns="0" bIns="0" rtlCol="0" anchor="t"/>
          <a:lstStyle/>
          <a:p>
            <a:pPr indent="0" marL="0">
              <a:buNone/>
            </a:pPr>
            <a:r>
              <a:rPr lang="en-US" sz="1600" dirty="0">
                <a:solidFill>
                  <a:srgbClr val="1E2A36"/>
                </a:solidFill>
                <a:latin typeface="Calibri" pitchFamily="34" charset="0"/>
                <a:ea typeface="Calibri" pitchFamily="34" charset="-122"/>
                <a:cs typeface="Calibri" pitchFamily="34" charset="-120"/>
              </a:rPr>
              <a:t>On "3, 2, 1." Nobody adjusts to the person next to them.</a:t>
            </a:r>
            <a:endParaRPr lang="en-US" sz="1600" dirty="0"/>
          </a:p>
        </p:txBody>
      </p:sp>
      <p:sp>
        <p:nvSpPr>
          <p:cNvPr id="15" name="Shape 11"/>
          <p:cNvSpPr/>
          <p:nvPr/>
        </p:nvSpPr>
        <p:spPr>
          <a:xfrm>
            <a:off x="8138160" y="1783080"/>
            <a:ext cx="3474720" cy="2103120"/>
          </a:xfrm>
          <a:prstGeom prst="roundRect">
            <a:avLst>
              <a:gd name="adj" fmla="val 3913"/>
            </a:avLst>
          </a:prstGeom>
          <a:solidFill>
            <a:srgbClr val="F2F6F8"/>
          </a:solidFill>
          <a:ln/>
          <a:effectLst>
            <a:outerShdw sx="100000" sy="100000" kx="0" ky="0" algn="bl" rotWithShape="0" blurRad="88900" dist="38100" dir="5400000">
              <a:srgbClr val="000000">
                <a:alpha val="13000"/>
              </a:srgbClr>
            </a:outerShdw>
          </a:effectLst>
        </p:spPr>
      </p:sp>
      <p:sp>
        <p:nvSpPr>
          <p:cNvPr id="16" name="Shape 12"/>
          <p:cNvSpPr/>
          <p:nvPr/>
        </p:nvSpPr>
        <p:spPr>
          <a:xfrm>
            <a:off x="8366760" y="1938528"/>
            <a:ext cx="548640" cy="548640"/>
          </a:xfrm>
          <a:prstGeom prst="ellipse">
            <a:avLst/>
          </a:prstGeom>
          <a:solidFill>
            <a:srgbClr val="12908F"/>
          </a:solidFill>
          <a:ln/>
        </p:spPr>
      </p:sp>
      <p:pic>
        <p:nvPicPr>
          <p:cNvPr id="17" name="Image 2" descr="preencoded.png">    </p:cNvPr>
          <p:cNvPicPr>
            <a:picLocks noChangeAspect="1"/>
          </p:cNvPicPr>
          <p:nvPr/>
        </p:nvPicPr>
        <p:blipFill>
          <a:blip r:embed="rId3"/>
          <a:stretch>
            <a:fillRect/>
          </a:stretch>
        </p:blipFill>
        <p:spPr>
          <a:xfrm>
            <a:off x="8514893" y="2086661"/>
            <a:ext cx="252374" cy="252374"/>
          </a:xfrm>
          <a:prstGeom prst="rect">
            <a:avLst/>
          </a:prstGeom>
        </p:spPr>
      </p:pic>
      <p:sp>
        <p:nvSpPr>
          <p:cNvPr id="18" name="Text 13"/>
          <p:cNvSpPr/>
          <p:nvPr/>
        </p:nvSpPr>
        <p:spPr>
          <a:xfrm>
            <a:off x="9052560" y="1938528"/>
            <a:ext cx="2423160" cy="548640"/>
          </a:xfrm>
          <a:prstGeom prst="rect">
            <a:avLst/>
          </a:prstGeom>
          <a:noFill/>
          <a:ln/>
        </p:spPr>
        <p:txBody>
          <a:bodyPr wrap="square" lIns="0" tIns="0" rIns="0" bIns="0" rtlCol="0" anchor="ctr"/>
          <a:lstStyle/>
          <a:p>
            <a:pPr indent="0" marL="0">
              <a:buNone/>
            </a:pPr>
            <a:r>
              <a:rPr lang="en-US" sz="1900" b="1" dirty="0">
                <a:solidFill>
                  <a:srgbClr val="1E2A36"/>
                </a:solidFill>
                <a:latin typeface="Calibri" pitchFamily="34" charset="0"/>
                <a:ea typeface="Calibri" pitchFamily="34" charset="-122"/>
                <a:cs typeface="Calibri" pitchFamily="34" charset="-120"/>
              </a:rPr>
              <a:t>Compare pictures</a:t>
            </a:r>
            <a:endParaRPr lang="en-US" sz="1900" dirty="0"/>
          </a:p>
        </p:txBody>
      </p:sp>
      <p:sp>
        <p:nvSpPr>
          <p:cNvPr id="19" name="Text 14"/>
          <p:cNvSpPr/>
          <p:nvPr/>
        </p:nvSpPr>
        <p:spPr>
          <a:xfrm>
            <a:off x="8366760" y="2651760"/>
            <a:ext cx="3017520" cy="1143000"/>
          </a:xfrm>
          <a:prstGeom prst="rect">
            <a:avLst/>
          </a:prstGeom>
          <a:noFill/>
          <a:ln/>
        </p:spPr>
        <p:txBody>
          <a:bodyPr wrap="square" lIns="0" tIns="0" rIns="0" bIns="0" rtlCol="0" anchor="t"/>
          <a:lstStyle/>
          <a:p>
            <a:pPr indent="0" marL="0">
              <a:buNone/>
            </a:pPr>
            <a:r>
              <a:rPr lang="en-US" sz="1600" dirty="0">
                <a:solidFill>
                  <a:srgbClr val="1E2A36"/>
                </a:solidFill>
                <a:latin typeface="Calibri" pitchFamily="34" charset="0"/>
                <a:ea typeface="Calibri" pitchFamily="34" charset="-122"/>
                <a:cs typeface="Calibri" pitchFamily="34" charset="-120"/>
              </a:rPr>
              <a:t>Whatever the numbers, someone says what they pictured.</a:t>
            </a:r>
            <a:endParaRPr lang="en-US" sz="1600" dirty="0"/>
          </a:p>
        </p:txBody>
      </p:sp>
      <p:sp>
        <p:nvSpPr>
          <p:cNvPr id="20" name="click-1"/>
          <p:cNvSpPr/>
          <p:nvPr/>
        </p:nvSpPr>
        <p:spPr>
          <a:xfrm>
            <a:off x="548640" y="4069080"/>
            <a:ext cx="5440680" cy="914400"/>
          </a:xfrm>
          <a:prstGeom prst="roundRect">
            <a:avLst>
              <a:gd name="adj" fmla="val 9000"/>
            </a:avLst>
          </a:prstGeom>
          <a:solidFill>
            <a:srgbClr val="FFFFFF"/>
          </a:solidFill>
          <a:ln/>
          <a:effectLst>
            <a:outerShdw sx="100000" sy="100000" kx="0" ky="0" algn="bl" rotWithShape="0" blurRad="88900" dist="38100" dir="5400000">
              <a:srgbClr val="000000">
                <a:alpha val="13000"/>
              </a:srgbClr>
            </a:outerShdw>
          </a:effectLst>
        </p:spPr>
      </p:sp>
      <p:sp>
        <p:nvSpPr>
          <p:cNvPr id="21" name="click-1"/>
          <p:cNvSpPr/>
          <p:nvPr/>
        </p:nvSpPr>
        <p:spPr>
          <a:xfrm>
            <a:off x="777240" y="4069080"/>
            <a:ext cx="5029200" cy="914400"/>
          </a:xfrm>
          <a:prstGeom prst="rect">
            <a:avLst/>
          </a:prstGeom>
          <a:noFill/>
          <a:ln/>
        </p:spPr>
        <p:txBody>
          <a:bodyPr wrap="square" lIns="0" tIns="0" rIns="0" bIns="0" rtlCol="0" anchor="ctr"/>
          <a:lstStyle/>
          <a:p>
            <a:pPr indent="0" marL="0">
              <a:buNone/>
            </a:pPr>
            <a:r>
              <a:rPr lang="en-US" sz="1550" b="1" dirty="0">
                <a:solidFill>
                  <a:srgbClr val="0E6E6D"/>
                </a:solidFill>
                <a:latin typeface="Calibri" pitchFamily="34" charset="0"/>
                <a:ea typeface="Calibri" pitchFamily="34" charset="-122"/>
                <a:cs typeface="Calibri" pitchFamily="34" charset="-120"/>
              </a:rPr>
              <a:t>The room splits  </a:t>
            </a:r>
            <a:pPr indent="0" marL="0">
              <a:buNone/>
            </a:pPr>
            <a:r>
              <a:rPr lang="en-US" sz="1550" dirty="0">
                <a:solidFill>
                  <a:srgbClr val="1E2A36"/>
                </a:solidFill>
                <a:latin typeface="Calibri" pitchFamily="34" charset="0"/>
                <a:ea typeface="Calibri" pitchFamily="34" charset="-122"/>
                <a:cs typeface="Calibri" pitchFamily="34" charset="-120"/>
              </a:rPr>
              <a:t>Lowest and highest: what did you picture?</a:t>
            </a:r>
            <a:endParaRPr lang="en-US" sz="1550" dirty="0"/>
          </a:p>
        </p:txBody>
      </p:sp>
      <p:sp>
        <p:nvSpPr>
          <p:cNvPr id="22" name="click-1"/>
          <p:cNvSpPr/>
          <p:nvPr/>
        </p:nvSpPr>
        <p:spPr>
          <a:xfrm>
            <a:off x="6172200" y="4069080"/>
            <a:ext cx="5440680" cy="914400"/>
          </a:xfrm>
          <a:prstGeom prst="roundRect">
            <a:avLst>
              <a:gd name="adj" fmla="val 9000"/>
            </a:avLst>
          </a:prstGeom>
          <a:solidFill>
            <a:srgbClr val="FFFFFF"/>
          </a:solidFill>
          <a:ln/>
          <a:effectLst>
            <a:outerShdw sx="100000" sy="100000" kx="0" ky="0" algn="bl" rotWithShape="0" blurRad="88900" dist="38100" dir="5400000">
              <a:srgbClr val="000000">
                <a:alpha val="13000"/>
              </a:srgbClr>
            </a:outerShdw>
          </a:effectLst>
        </p:spPr>
      </p:sp>
      <p:sp>
        <p:nvSpPr>
          <p:cNvPr id="23" name="click-1"/>
          <p:cNvSpPr/>
          <p:nvPr/>
        </p:nvSpPr>
        <p:spPr>
          <a:xfrm>
            <a:off x="6400800" y="4069080"/>
            <a:ext cx="5029200" cy="914400"/>
          </a:xfrm>
          <a:prstGeom prst="rect">
            <a:avLst/>
          </a:prstGeom>
          <a:noFill/>
          <a:ln/>
        </p:spPr>
        <p:txBody>
          <a:bodyPr wrap="square" lIns="0" tIns="0" rIns="0" bIns="0" rtlCol="0" anchor="ctr"/>
          <a:lstStyle/>
          <a:p>
            <a:pPr indent="0" marL="0">
              <a:buNone/>
            </a:pPr>
            <a:r>
              <a:rPr lang="en-US" sz="1550" b="1" dirty="0">
                <a:solidFill>
                  <a:srgbClr val="0E6E6D"/>
                </a:solidFill>
                <a:latin typeface="Calibri" pitchFamily="34" charset="0"/>
                <a:ea typeface="Calibri" pitchFamily="34" charset="-122"/>
                <a:cs typeface="Calibri" pitchFamily="34" charset="-120"/>
              </a:rPr>
              <a:t>Everyone agrees  </a:t>
            </a:r>
            <a:pPr indent="0" marL="0">
              <a:buNone/>
            </a:pPr>
            <a:r>
              <a:rPr lang="en-US" sz="1550" dirty="0">
                <a:solidFill>
                  <a:srgbClr val="1E2A36"/>
                </a:solidFill>
                <a:latin typeface="Calibri" pitchFamily="34" charset="0"/>
                <a:ea typeface="Calibri" pitchFamily="34" charset="-122"/>
                <a:cs typeface="Calibri" pitchFamily="34" charset="-120"/>
              </a:rPr>
              <a:t>One of you: what did you picture? Same number, different work is still unclear.</a:t>
            </a:r>
            <a:endParaRPr lang="en-US" sz="1550" dirty="0"/>
          </a:p>
        </p:txBody>
      </p:sp>
      <p:sp>
        <p:nvSpPr>
          <p:cNvPr id="24" name="click-1"/>
          <p:cNvSpPr/>
          <p:nvPr/>
        </p:nvSpPr>
        <p:spPr>
          <a:xfrm>
            <a:off x="548640" y="5120640"/>
            <a:ext cx="5440680" cy="914400"/>
          </a:xfrm>
          <a:prstGeom prst="roundRect">
            <a:avLst>
              <a:gd name="adj" fmla="val 9000"/>
            </a:avLst>
          </a:prstGeom>
          <a:solidFill>
            <a:srgbClr val="FBEEDA"/>
          </a:solidFill>
          <a:ln/>
          <a:effectLst>
            <a:outerShdw sx="100000" sy="100000" kx="0" ky="0" algn="bl" rotWithShape="0" blurRad="88900" dist="38100" dir="5400000">
              <a:srgbClr val="000000">
                <a:alpha val="13000"/>
              </a:srgbClr>
            </a:outerShdw>
          </a:effectLst>
        </p:spPr>
      </p:sp>
      <p:sp>
        <p:nvSpPr>
          <p:cNvPr id="25" name="click-1"/>
          <p:cNvSpPr/>
          <p:nvPr/>
        </p:nvSpPr>
        <p:spPr>
          <a:xfrm>
            <a:off x="777240" y="5120640"/>
            <a:ext cx="5029200" cy="914400"/>
          </a:xfrm>
          <a:prstGeom prst="rect">
            <a:avLst/>
          </a:prstGeom>
          <a:noFill/>
          <a:ln/>
        </p:spPr>
        <p:txBody>
          <a:bodyPr wrap="square" lIns="0" tIns="0" rIns="0" bIns="0" rtlCol="0" anchor="ctr"/>
          <a:lstStyle/>
          <a:p>
            <a:pPr indent="0" marL="0">
              <a:buNone/>
            </a:pPr>
            <a:r>
              <a:rPr lang="en-US" sz="1550" b="1" dirty="0">
                <a:solidFill>
                  <a:srgbClr val="0E6E6D"/>
                </a:solidFill>
                <a:latin typeface="Calibri" pitchFamily="34" charset="0"/>
                <a:ea typeface="Calibri" pitchFamily="34" charset="-122"/>
                <a:cs typeface="Calibri" pitchFamily="34" charset="-120"/>
              </a:rPr>
              <a:t>Room ≠ maintainer  </a:t>
            </a:r>
            <a:pPr indent="0" marL="0">
              <a:buNone/>
            </a:pPr>
            <a:r>
              <a:rPr lang="en-US" sz="1550" dirty="0">
                <a:solidFill>
                  <a:srgbClr val="1E2A36"/>
                </a:solidFill>
                <a:latin typeface="Calibri" pitchFamily="34" charset="0"/>
                <a:ea typeface="Calibri" pitchFamily="34" charset="-122"/>
                <a:cs typeface="Calibri" pitchFamily="34" charset="-120"/>
              </a:rPr>
              <a:t>What must the maintainer have been assuming?</a:t>
            </a:r>
            <a:endParaRPr lang="en-US" sz="1550" dirty="0"/>
          </a:p>
        </p:txBody>
      </p:sp>
      <p:sp>
        <p:nvSpPr>
          <p:cNvPr id="26" name="click-1"/>
          <p:cNvSpPr/>
          <p:nvPr/>
        </p:nvSpPr>
        <p:spPr>
          <a:xfrm>
            <a:off x="6172200" y="5120640"/>
            <a:ext cx="5440680" cy="914400"/>
          </a:xfrm>
          <a:prstGeom prst="roundRect">
            <a:avLst>
              <a:gd name="adj" fmla="val 9000"/>
            </a:avLst>
          </a:prstGeom>
          <a:solidFill>
            <a:srgbClr val="FFFFFF"/>
          </a:solidFill>
          <a:ln/>
          <a:effectLst>
            <a:outerShdw sx="100000" sy="100000" kx="0" ky="0" algn="bl" rotWithShape="0" blurRad="88900" dist="38100" dir="5400000">
              <a:srgbClr val="000000">
                <a:alpha val="13000"/>
              </a:srgbClr>
            </a:outerShdw>
          </a:effectLst>
        </p:spPr>
      </p:sp>
      <p:sp>
        <p:nvSpPr>
          <p:cNvPr id="27" name="click-1"/>
          <p:cNvSpPr/>
          <p:nvPr/>
        </p:nvSpPr>
        <p:spPr>
          <a:xfrm>
            <a:off x="6400800" y="5120640"/>
            <a:ext cx="5029200" cy="914400"/>
          </a:xfrm>
          <a:prstGeom prst="rect">
            <a:avLst/>
          </a:prstGeom>
          <a:noFill/>
          <a:ln/>
        </p:spPr>
        <p:txBody>
          <a:bodyPr wrap="square" lIns="0" tIns="0" rIns="0" bIns="0" rtlCol="0" anchor="ctr"/>
          <a:lstStyle/>
          <a:p>
            <a:pPr indent="0" marL="0">
              <a:buNone/>
            </a:pPr>
            <a:r>
              <a:rPr lang="en-US" sz="1550" b="1" dirty="0">
                <a:solidFill>
                  <a:srgbClr val="0E6E6D"/>
                </a:solidFill>
                <a:latin typeface="Calibri" pitchFamily="34" charset="0"/>
                <a:ea typeface="Calibri" pitchFamily="34" charset="-122"/>
                <a:cs typeface="Calibri" pitchFamily="34" charset="-120"/>
              </a:rPr>
              <a:t>Nobody can size it  </a:t>
            </a:r>
            <a:pPr indent="0" marL="0">
              <a:buNone/>
            </a:pPr>
            <a:r>
              <a:rPr lang="en-US" sz="1550" dirty="0">
                <a:solidFill>
                  <a:srgbClr val="1E2A36"/>
                </a:solidFill>
                <a:latin typeface="Calibri" pitchFamily="34" charset="0"/>
                <a:ea typeface="Calibri" pitchFamily="34" charset="-122"/>
                <a:cs typeface="Calibri" pitchFamily="34" charset="-120"/>
              </a:rPr>
              <a:t>The text is missing something. What would you need?</a:t>
            </a:r>
            <a:endParaRPr lang="en-US" sz="1550" dirty="0"/>
          </a:p>
        </p:txBody>
      </p:sp>
      <p:sp>
        <p:nvSpPr>
          <p:cNvPr id="28" name="Text 23"/>
          <p:cNvSpPr/>
          <p:nvPr/>
        </p:nvSpPr>
        <p:spPr>
          <a:xfrm>
            <a:off x="6217920" y="6437376"/>
            <a:ext cx="53949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18 · Estimation &amp; the Vertical Slice</a:t>
            </a:r>
            <a:endParaRPr lang="en-US" sz="1000" dirty="0"/>
          </a:p>
        </p:txBody>
      </p:sp>
      <p:sp>
        <p:nvSpPr>
          <p:cNvPr id="29" name="Text 24"/>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5</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 presetClass="entr" presetSubtype="0" fill="hold" grpId="0" nodeType="clickEffect">
                                  <p:stCondLst>
                                    <p:cond delay="0"/>
                                  </p:stCondLst>
                                  <p:childTnLst>
                                    <p:set>
                                      <p:cBhvr>
                                        <p:cTn id="5" dur="1" fill="hold">
                                          <p:stCondLst>
                                            <p:cond delay="0"/>
                                          </p:stCondLst>
                                        </p:cTn>
                                        <p:tgtEl>
                                          <p:spTgt spid="20"/>
                                        </p:tgtEl>
                                        <p:attrNameLst>
                                          <p:attrName>style.visibility</p:attrName>
                                        </p:attrNameLst>
                                      </p:cBhvr>
                                      <p:to>
                                        <p:strVal val="visible"/>
                                      </p:to>
                                    </p:set>
                                  </p:childTnLst>
                                </p:cTn>
                              </p:par>
                              <p:par>
                                <p:cTn id="8" presetID="1" presetClass="entr" presetSubtype="0" fill="hold" grpId="0" nodeType="withEffect">
                                  <p:stCondLst>
                                    <p:cond delay="0"/>
                                  </p:stCondLst>
                                  <p:childTnLst>
                                    <p:set>
                                      <p:cBhvr>
                                        <p:cTn id="7" dur="1" fill="hold">
                                          <p:stCondLst>
                                            <p:cond delay="0"/>
                                          </p:stCondLst>
                                        </p:cTn>
                                        <p:tgtEl>
                                          <p:spTgt spid="21"/>
                                        </p:tgtEl>
                                        <p:attrNameLst>
                                          <p:attrName>style.visibility</p:attrName>
                                        </p:attrNameLst>
                                      </p:cBhvr>
                                      <p:to>
                                        <p:strVal val="visible"/>
                                      </p:to>
                                    </p:set>
                                  </p:childTnLst>
                                </p:cTn>
                              </p:par>
                              <p:par>
                                <p:cTn id="10" presetID="1" presetClass="entr" presetSubtype="0" fill="hold" grpId="0" nodeType="withEffect">
                                  <p:stCondLst>
                                    <p:cond delay="0"/>
                                  </p:stCondLst>
                                  <p:childTnLst>
                                    <p:set>
                                      <p:cBhvr>
                                        <p:cTn id="9" dur="1" fill="hold">
                                          <p:stCondLst>
                                            <p:cond delay="0"/>
                                          </p:stCondLst>
                                        </p:cTn>
                                        <p:tgtEl>
                                          <p:spTgt spid="22"/>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1" dur="1" fill="hold">
                                          <p:stCondLst>
                                            <p:cond delay="0"/>
                                          </p:stCondLst>
                                        </p:cTn>
                                        <p:tgtEl>
                                          <p:spTgt spid="23"/>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3" dur="1" fill="hold">
                                          <p:stCondLst>
                                            <p:cond delay="0"/>
                                          </p:stCondLst>
                                        </p:cTn>
                                        <p:tgtEl>
                                          <p:spTgt spid="24"/>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7" dur="1" fill="hold">
                                          <p:stCondLst>
                                            <p:cond delay="0"/>
                                          </p:stCondLst>
                                        </p:cTn>
                                        <p:tgtEl>
                                          <p:spTgt spid="26"/>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19"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2" grpId="0" animBg="1"/>
      <p:bldP spid="23" grpId="0" animBg="1"/>
      <p:bldP spid="24" grpId="0" animBg="1"/>
      <p:bldP spid="25" grpId="0" animBg="1"/>
      <p:bldP spid="26" grpId="0" animBg="1"/>
      <p:bldP spid="2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DEMO ROUND · ISSUE 1 OF 3</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Size it from the text. Fingers up on 3.</a:t>
            </a:r>
            <a:endParaRPr lang="en-US" sz="3100" dirty="0"/>
          </a:p>
        </p:txBody>
      </p:sp>
      <p:sp>
        <p:nvSpPr>
          <p:cNvPr id="5" name="Text 3"/>
          <p:cNvSpPr/>
          <p:nvPr/>
        </p:nvSpPr>
        <p:spPr>
          <a:xfrm>
            <a:off x="548640" y="1691640"/>
            <a:ext cx="6309360" cy="320040"/>
          </a:xfrm>
          <a:prstGeom prst="rect">
            <a:avLst/>
          </a:prstGeom>
          <a:noFill/>
          <a:ln/>
        </p:spPr>
        <p:txBody>
          <a:bodyPr wrap="square" lIns="0" tIns="0" rIns="0" bIns="0" rtlCol="0" anchor="ctr"/>
          <a:lstStyle/>
          <a:p>
            <a:pPr indent="0" marL="0">
              <a:buNone/>
            </a:pPr>
            <a:r>
              <a:rPr lang="en-US" sz="1500" b="1" dirty="0">
                <a:solidFill>
                  <a:srgbClr val="5F7284"/>
                </a:solidFill>
                <a:latin typeface="Calibri" pitchFamily="34" charset="0"/>
                <a:ea typeface="Calibri" pitchFamily="34" charset="-122"/>
                <a:cs typeface="Calibri" pitchFamily="34" charset="-120"/>
              </a:rPr>
              <a:t>Prop Loft · M1</a:t>
            </a:r>
            <a:endParaRPr lang="en-US" sz="1500" dirty="0"/>
          </a:p>
        </p:txBody>
      </p:sp>
      <p:sp>
        <p:nvSpPr>
          <p:cNvPr id="6" name="Shape 4"/>
          <p:cNvSpPr/>
          <p:nvPr/>
        </p:nvSpPr>
        <p:spPr>
          <a:xfrm>
            <a:off x="548640" y="2057400"/>
            <a:ext cx="6309360" cy="4069080"/>
          </a:xfrm>
          <a:prstGeom prst="roundRect">
            <a:avLst>
              <a:gd name="adj" fmla="val 1798"/>
            </a:avLst>
          </a:prstGeom>
          <a:solidFill>
            <a:srgbClr val="1E3352"/>
          </a:solidFill>
          <a:ln/>
          <a:effectLst>
            <a:outerShdw sx="100000" sy="100000" kx="0" ky="0" algn="bl" rotWithShape="0" blurRad="88900" dist="38100" dir="5400000">
              <a:srgbClr val="000000">
                <a:alpha val="13000"/>
              </a:srgbClr>
            </a:outerShdw>
          </a:effectLst>
        </p:spPr>
      </p:sp>
      <p:sp>
        <p:nvSpPr>
          <p:cNvPr id="7" name="Text 5"/>
          <p:cNvSpPr/>
          <p:nvPr/>
        </p:nvSpPr>
        <p:spPr>
          <a:xfrm>
            <a:off x="822960" y="2221992"/>
            <a:ext cx="5760720" cy="3739896"/>
          </a:xfrm>
          <a:prstGeom prst="rect">
            <a:avLst/>
          </a:prstGeom>
          <a:noFill/>
          <a:ln/>
        </p:spPr>
        <p:txBody>
          <a:bodyPr wrap="square" lIns="0" tIns="0" rIns="0" bIns="0" rtlCol="0" anchor="t"/>
          <a:lstStyle/>
          <a:p>
            <a:pPr indent="0" marL="0">
              <a:lnSpc>
                <a:spcPct val="105000"/>
              </a:lnSpc>
              <a:buNone/>
            </a:pPr>
            <a:r>
              <a:rPr lang="en-US" sz="1450" dirty="0">
                <a:solidFill>
                  <a:srgbClr val="E8A33D"/>
                </a:solidFill>
                <a:latin typeface="Consolas" pitchFamily="34" charset="0"/>
                <a:ea typeface="Consolas" pitchFamily="34" charset="-122"/>
                <a:cs typeface="Consolas" pitchFamily="34" charset="-120"/>
              </a:rPr>
              <a:t>Show an item's detail page</a:t>
            </a:r>
            <a:endParaRPr lang="en-US" sz="1450" dirty="0"/>
          </a:p>
          <a:p>
            <a:pPr indent="0" marL="0">
              <a:lnSpc>
                <a:spcPct val="105000"/>
              </a:lnSpc>
              <a:buNone/>
            </a:pPr>
            <a:r>
              <a:rPr lang="en-US" sz="1450" dirty="0">
                <a:solidFill>
                  <a:srgbClr val="9FE0B5"/>
                </a:solidFill>
                <a:latin typeface="Consolas" pitchFamily="34" charset="0"/>
                <a:ea typeface="Consolas" pitchFamily="34" charset="-122"/>
                <a:cs typeface="Consolas" pitchFamily="34" charset="-120"/>
              </a:rPr>
              <a:t>good first issue</a:t>
            </a:r>
            <a:endParaRPr lang="en-US" sz="1450" dirty="0"/>
          </a:p>
          <a:p>
            <a:pPr indent="0" marL="0">
              <a:lnSpc>
                <a:spcPct val="105000"/>
              </a:lnSpc>
              <a:buNone/>
            </a:pPr>
            <a:r>
              <a:rPr lang="en-US" sz="1450" dirty="0">
                <a:solidFill>
                  <a:srgbClr val="E8EEF3"/>
                </a:solidFill>
                <a:latin typeface="Consolas" pitchFamily="34" charset="0"/>
                <a:ea typeface="Consolas" pitchFamily="34" charset="-122"/>
                <a:cs typeface="Consolas" pitchFamily="34" charset="-120"/>
              </a:rPr>
              <a:t> </a:t>
            </a:r>
            <a:endParaRPr lang="en-US" sz="1450" dirty="0"/>
          </a:p>
          <a:p>
            <a:pPr indent="0" marL="0">
              <a:lnSpc>
                <a:spcPct val="105000"/>
              </a:lnSpc>
              <a:buNone/>
            </a:pPr>
            <a:r>
              <a:rPr lang="en-US" sz="1450" dirty="0">
                <a:solidFill>
                  <a:srgbClr val="9FB4C7"/>
                </a:solidFill>
                <a:latin typeface="Consolas" pitchFamily="34" charset="0"/>
                <a:ea typeface="Consolas" pitchFamily="34" charset="-122"/>
                <a:cs typeface="Consolas" pitchFamily="34" charset="-120"/>
              </a:rPr>
              <a:t>Acceptance criteria</a:t>
            </a:r>
            <a:endParaRPr lang="en-US" sz="1450" dirty="0"/>
          </a:p>
          <a:p>
            <a:pPr indent="0" marL="0">
              <a:lnSpc>
                <a:spcPct val="105000"/>
              </a:lnSpc>
              <a:buNone/>
            </a:pPr>
            <a:r>
              <a:rPr lang="en-US" sz="1450" dirty="0">
                <a:solidFill>
                  <a:srgbClr val="E8EEF3"/>
                </a:solidFill>
                <a:latin typeface="Consolas" pitchFamily="34" charset="0"/>
                <a:ea typeface="Consolas" pitchFamily="34" charset="-122"/>
                <a:cs typeface="Consolas" pitchFamily="34" charset="-120"/>
              </a:rPr>
              <a:t>[ ] /items/&lt;id&gt;/ shows name, category,</a:t>
            </a:r>
            <a:endParaRPr lang="en-US" sz="1450" dirty="0"/>
          </a:p>
          <a:p>
            <a:pPr indent="0" marL="0">
              <a:lnSpc>
                <a:spcPct val="105000"/>
              </a:lnSpc>
              <a:buNone/>
            </a:pPr>
            <a:r>
              <a:rPr lang="en-US" sz="1450" dirty="0">
                <a:solidFill>
                  <a:srgbClr val="E8EEF3"/>
                </a:solidFill>
                <a:latin typeface="Consolas" pitchFamily="34" charset="0"/>
                <a:ea typeface="Consolas" pitchFamily="34" charset="-122"/>
                <a:cs typeface="Consolas" pitchFamily="34" charset="-120"/>
              </a:rPr>
              <a:t>    size, condition, and bin</a:t>
            </a:r>
            <a:endParaRPr lang="en-US" sz="1450" dirty="0"/>
          </a:p>
          <a:p>
            <a:pPr indent="0" marL="0">
              <a:lnSpc>
                <a:spcPct val="105000"/>
              </a:lnSpc>
              <a:buNone/>
            </a:pPr>
            <a:r>
              <a:rPr lang="en-US" sz="1450" dirty="0">
                <a:solidFill>
                  <a:srgbClr val="E8EEF3"/>
                </a:solidFill>
                <a:latin typeface="Consolas" pitchFamily="34" charset="0"/>
                <a:ea typeface="Consolas" pitchFamily="34" charset="-122"/>
                <a:cs typeface="Consolas" pitchFamily="34" charset="-120"/>
              </a:rPr>
              <a:t>[ ] Each row of the item list links to it</a:t>
            </a:r>
            <a:endParaRPr lang="en-US" sz="1450" dirty="0"/>
          </a:p>
          <a:p>
            <a:pPr indent="0" marL="0">
              <a:lnSpc>
                <a:spcPct val="105000"/>
              </a:lnSpc>
              <a:buNone/>
            </a:pPr>
            <a:r>
              <a:rPr lang="en-US" sz="1450" dirty="0">
                <a:solidFill>
                  <a:srgbClr val="E8EEF3"/>
                </a:solidFill>
                <a:latin typeface="Consolas" pitchFamily="34" charset="0"/>
                <a:ea typeface="Consolas" pitchFamily="34" charset="-122"/>
                <a:cs typeface="Consolas" pitchFamily="34" charset="-120"/>
              </a:rPr>
              <a:t>[ ] A missing item returns 404</a:t>
            </a:r>
            <a:endParaRPr lang="en-US" sz="1450" dirty="0"/>
          </a:p>
          <a:p>
            <a:pPr indent="0" marL="0">
              <a:lnSpc>
                <a:spcPct val="105000"/>
              </a:lnSpc>
              <a:buNone/>
            </a:pPr>
            <a:r>
              <a:rPr lang="en-US" sz="1450" dirty="0">
                <a:solidFill>
                  <a:srgbClr val="E8EEF3"/>
                </a:solidFill>
                <a:latin typeface="Consolas" pitchFamily="34" charset="0"/>
                <a:ea typeface="Consolas" pitchFamily="34" charset="-122"/>
                <a:cs typeface="Consolas" pitchFamily="34" charset="-120"/>
              </a:rPr>
              <a:t>[ ] Tests cover both</a:t>
            </a:r>
            <a:endParaRPr lang="en-US" sz="1450" dirty="0"/>
          </a:p>
          <a:p>
            <a:pPr indent="0" marL="0">
              <a:lnSpc>
                <a:spcPct val="105000"/>
              </a:lnSpc>
              <a:buNone/>
            </a:pPr>
            <a:r>
              <a:rPr lang="en-US" sz="1450" dirty="0">
                <a:solidFill>
                  <a:srgbClr val="E8EEF3"/>
                </a:solidFill>
                <a:latin typeface="Consolas" pitchFamily="34" charset="0"/>
                <a:ea typeface="Consolas" pitchFamily="34" charset="-122"/>
                <a:cs typeface="Consolas" pitchFamily="34" charset="-120"/>
              </a:rPr>
              <a:t> </a:t>
            </a:r>
            <a:endParaRPr lang="en-US" sz="1450" dirty="0"/>
          </a:p>
          <a:p>
            <a:pPr indent="0" marL="0">
              <a:lnSpc>
                <a:spcPct val="105000"/>
              </a:lnSpc>
              <a:buNone/>
            </a:pPr>
            <a:r>
              <a:rPr lang="en-US" sz="1450" dirty="0">
                <a:solidFill>
                  <a:srgbClr val="9FB4C7"/>
                </a:solidFill>
                <a:latin typeface="Consolas" pitchFamily="34" charset="0"/>
                <a:ea typeface="Consolas" pitchFamily="34" charset="-122"/>
                <a:cs typeface="Consolas" pitchFamily="34" charset="-120"/>
              </a:rPr>
              <a:t>Where to start: a view beside item_list,</a:t>
            </a:r>
            <a:endParaRPr lang="en-US" sz="1450" dirty="0"/>
          </a:p>
          <a:p>
            <a:pPr indent="0" marL="0">
              <a:lnSpc>
                <a:spcPct val="105000"/>
              </a:lnSpc>
              <a:buNone/>
            </a:pPr>
            <a:r>
              <a:rPr lang="en-US" sz="1450" dirty="0">
                <a:solidFill>
                  <a:srgbClr val="9FB4C7"/>
                </a:solidFill>
                <a:latin typeface="Consolas" pitchFamily="34" charset="0"/>
                <a:ea typeface="Consolas" pitchFamily="34" charset="-122"/>
                <a:cs typeface="Consolas" pitchFamily="34" charset="-120"/>
              </a:rPr>
              <a:t>a template beside the list's, a test</a:t>
            </a:r>
            <a:endParaRPr lang="en-US" sz="1450" dirty="0"/>
          </a:p>
          <a:p>
            <a:pPr indent="0" marL="0">
              <a:lnSpc>
                <a:spcPct val="105000"/>
              </a:lnSpc>
              <a:buNone/>
            </a:pPr>
            <a:r>
              <a:rPr lang="en-US" sz="1450" dirty="0">
                <a:solidFill>
                  <a:srgbClr val="9FB4C7"/>
                </a:solidFill>
                <a:latin typeface="Consolas" pitchFamily="34" charset="0"/>
                <a:ea typeface="Consolas" pitchFamily="34" charset="-122"/>
                <a:cs typeface="Consolas" pitchFamily="34" charset="-120"/>
              </a:rPr>
              <a:t>modeled on ItemListTests</a:t>
            </a:r>
            <a:endParaRPr lang="en-US" sz="1450" dirty="0"/>
          </a:p>
        </p:txBody>
      </p:sp>
      <p:sp>
        <p:nvSpPr>
          <p:cNvPr id="8" name="click-1"/>
          <p:cNvSpPr/>
          <p:nvPr/>
        </p:nvSpPr>
        <p:spPr>
          <a:xfrm>
            <a:off x="7086600" y="1783080"/>
            <a:ext cx="4526280" cy="1417320"/>
          </a:xfrm>
          <a:prstGeom prst="roundRect">
            <a:avLst>
              <a:gd name="adj" fmla="val 5806"/>
            </a:avLst>
          </a:prstGeom>
          <a:solidFill>
            <a:srgbClr val="14233A"/>
          </a:solidFill>
          <a:ln/>
          <a:effectLst>
            <a:outerShdw sx="100000" sy="100000" kx="0" ky="0" algn="bl" rotWithShape="0" blurRad="88900" dist="38100" dir="5400000">
              <a:srgbClr val="000000">
                <a:alpha val="13000"/>
              </a:srgbClr>
            </a:outerShdw>
          </a:effectLst>
        </p:spPr>
      </p:sp>
      <p:sp>
        <p:nvSpPr>
          <p:cNvPr id="9" name="click-1"/>
          <p:cNvSpPr/>
          <p:nvPr/>
        </p:nvSpPr>
        <p:spPr>
          <a:xfrm>
            <a:off x="7360920" y="1874520"/>
            <a:ext cx="2743200" cy="320040"/>
          </a:xfrm>
          <a:prstGeom prst="rect">
            <a:avLst/>
          </a:prstGeom>
          <a:noFill/>
          <a:ln/>
        </p:spPr>
        <p:txBody>
          <a:bodyPr wrap="square" lIns="0" tIns="0" rIns="0" bIns="0" rtlCol="0" anchor="ctr"/>
          <a:lstStyle/>
          <a:p>
            <a:pPr indent="0" marL="0">
              <a:buNone/>
            </a:pPr>
            <a:r>
              <a:rPr lang="en-US" sz="1400" b="1" spc="100" kern="0" dirty="0">
                <a:solidFill>
                  <a:srgbClr val="E8A33D"/>
                </a:solidFill>
                <a:latin typeface="Calibri" pitchFamily="34" charset="0"/>
                <a:ea typeface="Calibri" pitchFamily="34" charset="-122"/>
                <a:cs typeface="Calibri" pitchFamily="34" charset="-120"/>
              </a:rPr>
              <a:t>THE MAINTAINER'S SIZE</a:t>
            </a:r>
            <a:endParaRPr lang="en-US" sz="1400" dirty="0"/>
          </a:p>
        </p:txBody>
      </p:sp>
      <p:sp>
        <p:nvSpPr>
          <p:cNvPr id="10" name="click-1"/>
          <p:cNvSpPr/>
          <p:nvPr/>
        </p:nvSpPr>
        <p:spPr>
          <a:xfrm>
            <a:off x="7360920" y="2240280"/>
            <a:ext cx="2651760" cy="868680"/>
          </a:xfrm>
          <a:prstGeom prst="rect">
            <a:avLst/>
          </a:prstGeom>
          <a:noFill/>
          <a:ln/>
        </p:spPr>
        <p:txBody>
          <a:bodyPr wrap="square" lIns="0" tIns="0" rIns="0" bIns="0" rtlCol="0" anchor="t"/>
          <a:lstStyle/>
          <a:p>
            <a:pPr indent="0" marL="0">
              <a:buNone/>
            </a:pPr>
            <a:r>
              <a:rPr lang="en-US" sz="1500" dirty="0">
                <a:solidFill>
                  <a:srgbClr val="CFE0E9"/>
                </a:solidFill>
                <a:latin typeface="Calibri" pitchFamily="34" charset="0"/>
                <a:ea typeface="Calibri" pitchFamily="34" charset="-122"/>
                <a:cs typeface="Calibri" pitchFamily="34" charset="-120"/>
              </a:rPr>
              <a:t>About the size of the item list it sits next to.</a:t>
            </a:r>
            <a:endParaRPr lang="en-US" sz="1500" dirty="0"/>
          </a:p>
        </p:txBody>
      </p:sp>
      <p:sp>
        <p:nvSpPr>
          <p:cNvPr id="11" name="click-1"/>
          <p:cNvSpPr/>
          <p:nvPr/>
        </p:nvSpPr>
        <p:spPr>
          <a:xfrm>
            <a:off x="10104120" y="2011680"/>
            <a:ext cx="1280160" cy="960120"/>
          </a:xfrm>
          <a:prstGeom prst="roundRect">
            <a:avLst>
              <a:gd name="adj" fmla="val 7619"/>
            </a:avLst>
          </a:prstGeom>
          <a:solidFill>
            <a:srgbClr val="E8A33D"/>
          </a:solidFill>
          <a:ln/>
        </p:spPr>
      </p:sp>
      <p:sp>
        <p:nvSpPr>
          <p:cNvPr id="12" name="click-1"/>
          <p:cNvSpPr/>
          <p:nvPr/>
        </p:nvSpPr>
        <p:spPr>
          <a:xfrm>
            <a:off x="10104120" y="2011680"/>
            <a:ext cx="1280160" cy="960120"/>
          </a:xfrm>
          <a:prstGeom prst="rect">
            <a:avLst/>
          </a:prstGeom>
          <a:noFill/>
          <a:ln/>
        </p:spPr>
        <p:txBody>
          <a:bodyPr wrap="square" lIns="0" tIns="0" rIns="0" bIns="0" rtlCol="0" anchor="ctr"/>
          <a:lstStyle/>
          <a:p>
            <a:pPr algn="ctr" indent="0" marL="0">
              <a:buNone/>
            </a:pPr>
            <a:r>
              <a:rPr lang="en-US" sz="2800" b="1" dirty="0">
                <a:solidFill>
                  <a:srgbClr val="14233A"/>
                </a:solidFill>
                <a:latin typeface="Cambria" pitchFamily="34" charset="0"/>
                <a:ea typeface="Cambria" pitchFamily="34" charset="-122"/>
                <a:cs typeface="Cambria" pitchFamily="34" charset="-120"/>
              </a:rPr>
              <a:t>S</a:t>
            </a:r>
            <a:endParaRPr lang="en-US" sz="2800" dirty="0"/>
          </a:p>
        </p:txBody>
      </p:sp>
      <p:sp>
        <p:nvSpPr>
          <p:cNvPr id="13" name="click-2"/>
          <p:cNvSpPr/>
          <p:nvPr/>
        </p:nvSpPr>
        <p:spPr>
          <a:xfrm>
            <a:off x="7086600" y="3383280"/>
            <a:ext cx="4526280" cy="1600200"/>
          </a:xfrm>
          <a:prstGeom prst="roundRect">
            <a:avLst>
              <a:gd name="adj" fmla="val 5143"/>
            </a:avLst>
          </a:prstGeom>
          <a:solidFill>
            <a:srgbClr val="F2F6F8"/>
          </a:solidFill>
          <a:ln/>
          <a:effectLst>
            <a:outerShdw sx="100000" sy="100000" kx="0" ky="0" algn="bl" rotWithShape="0" blurRad="88900" dist="38100" dir="5400000">
              <a:srgbClr val="000000">
                <a:alpha val="13000"/>
              </a:srgbClr>
            </a:outerShdw>
          </a:effectLst>
        </p:spPr>
      </p:sp>
      <p:sp>
        <p:nvSpPr>
          <p:cNvPr id="14" name="click-2"/>
          <p:cNvSpPr/>
          <p:nvPr/>
        </p:nvSpPr>
        <p:spPr>
          <a:xfrm>
            <a:off x="7360920" y="3383280"/>
            <a:ext cx="4023360" cy="1600200"/>
          </a:xfrm>
          <a:prstGeom prst="rect">
            <a:avLst/>
          </a:prstGeom>
          <a:noFill/>
          <a:ln/>
        </p:spPr>
        <p:txBody>
          <a:bodyPr wrap="square" lIns="0" tIns="0" rIns="0" bIns="0" rtlCol="0" anchor="ctr"/>
          <a:lstStyle/>
          <a:p>
            <a:pPr indent="0" marL="0">
              <a:lnSpc>
                <a:spcPct val="102000"/>
              </a:lnSpc>
              <a:buNone/>
            </a:pPr>
            <a:r>
              <a:rPr lang="en-US" sz="1600" b="1" dirty="0">
                <a:solidFill>
                  <a:srgbClr val="0E6E6D"/>
                </a:solidFill>
                <a:latin typeface="Calibri" pitchFamily="34" charset="0"/>
                <a:ea typeface="Calibri" pitchFamily="34" charset="-122"/>
                <a:cs typeface="Calibri" pitchFamily="34" charset="-120"/>
              </a:rPr>
              <a:t>What's in the text</a:t>
            </a:r>
            <a:endParaRPr lang="en-US" sz="1600" dirty="0"/>
          </a:p>
          <a:p>
            <a:pPr indent="0" marL="0">
              <a:lnSpc>
                <a:spcPct val="102000"/>
              </a:lnSpc>
              <a:buNone/>
            </a:pPr>
            <a:r>
              <a:rPr lang="en-US" sz="1500" dirty="0">
                <a:solidFill>
                  <a:srgbClr val="1E2A36"/>
                </a:solidFill>
                <a:latin typeface="Calibri" pitchFamily="34" charset="0"/>
                <a:ea typeface="Calibri" pitchFamily="34" charset="-122"/>
                <a:cs typeface="Calibri" pitchFamily="34" charset="-120"/>
              </a:rPr>
              <a:t>Little. A good first issue with a Where to start can be sized from its own text, by a stranger.</a:t>
            </a:r>
            <a:endParaRPr lang="en-US" sz="1600" dirty="0"/>
          </a:p>
        </p:txBody>
      </p:sp>
      <p:sp>
        <p:nvSpPr>
          <p:cNvPr id="15" name="click-2"/>
          <p:cNvSpPr/>
          <p:nvPr/>
        </p:nvSpPr>
        <p:spPr>
          <a:xfrm>
            <a:off x="7086600" y="5166360"/>
            <a:ext cx="4526280" cy="960120"/>
          </a:xfrm>
          <a:prstGeom prst="roundRect">
            <a:avLst>
              <a:gd name="adj" fmla="val 8571"/>
            </a:avLst>
          </a:prstGeom>
          <a:solidFill>
            <a:srgbClr val="FBEEDA"/>
          </a:solidFill>
          <a:ln/>
          <a:effectLst>
            <a:outerShdw sx="100000" sy="100000" kx="0" ky="0" algn="bl" rotWithShape="0" blurRad="88900" dist="38100" dir="5400000">
              <a:srgbClr val="000000">
                <a:alpha val="13000"/>
              </a:srgbClr>
            </a:outerShdw>
          </a:effectLst>
        </p:spPr>
      </p:sp>
      <p:sp>
        <p:nvSpPr>
          <p:cNvPr id="16" name="click-2"/>
          <p:cNvSpPr/>
          <p:nvPr/>
        </p:nvSpPr>
        <p:spPr>
          <a:xfrm>
            <a:off x="7360920" y="5166360"/>
            <a:ext cx="4023360" cy="960120"/>
          </a:xfrm>
          <a:prstGeom prst="rect">
            <a:avLst/>
          </a:prstGeom>
          <a:noFill/>
          <a:ln/>
        </p:spPr>
        <p:txBody>
          <a:bodyPr wrap="square" lIns="0" tIns="0" rIns="0" bIns="0" rtlCol="0" anchor="ctr"/>
          <a:lstStyle/>
          <a:p>
            <a:pPr indent="0" marL="0">
              <a:buNone/>
            </a:pPr>
            <a:r>
              <a:rPr lang="en-US" sz="1600" b="1" dirty="0">
                <a:solidFill>
                  <a:srgbClr val="0E6E6D"/>
                </a:solidFill>
                <a:latin typeface="Calibri" pitchFamily="34" charset="0"/>
                <a:ea typeface="Calibri" pitchFamily="34" charset="-122"/>
                <a:cs typeface="Calibri" pitchFamily="34" charset="-120"/>
              </a:rPr>
              <a:t>Ask:  </a:t>
            </a:r>
            <a:pPr indent="0" marL="0">
              <a:buNone/>
            </a:pPr>
            <a:r>
              <a:rPr lang="en-US" sz="1600" i="1" dirty="0">
                <a:solidFill>
                  <a:srgbClr val="1E2A36"/>
                </a:solidFill>
                <a:latin typeface="Calibri" pitchFamily="34" charset="0"/>
                <a:ea typeface="Calibri" pitchFamily="34" charset="-122"/>
                <a:cs typeface="Calibri" pitchFamily="34" charset="-120"/>
              </a:rPr>
              <a:t>Bigger or smaller than the item list was?</a:t>
            </a:r>
            <a:endParaRPr lang="en-US" sz="1600" dirty="0"/>
          </a:p>
        </p:txBody>
      </p:sp>
      <p:sp>
        <p:nvSpPr>
          <p:cNvPr id="17" name="Text 15"/>
          <p:cNvSpPr/>
          <p:nvPr/>
        </p:nvSpPr>
        <p:spPr>
          <a:xfrm>
            <a:off x="6217920" y="6437376"/>
            <a:ext cx="53949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18 · Estimation &amp; the Vertical Slice</a:t>
            </a:r>
            <a:endParaRPr lang="en-US" sz="1000" dirty="0"/>
          </a:p>
        </p:txBody>
      </p:sp>
      <p:sp>
        <p:nvSpPr>
          <p:cNvPr id="18" name="Text 16"/>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6</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 presetClass="entr" presetSubtype="0" fill="hold" grpId="0" nodeType="clickEffect">
                                  <p:stCondLst>
                                    <p:cond delay="0"/>
                                  </p:stCondLst>
                                  <p:childTnLst>
                                    <p:set>
                                      <p:cBhvr>
                                        <p:cTn id="5" dur="1" fill="hold">
                                          <p:stCondLst>
                                            <p:cond delay="0"/>
                                          </p:stCondLst>
                                        </p:cTn>
                                        <p:tgtEl>
                                          <p:spTgt spid="8"/>
                                        </p:tgtEl>
                                        <p:attrNameLst>
                                          <p:attrName>style.visibility</p:attrName>
                                        </p:attrNameLst>
                                      </p:cBhvr>
                                      <p:to>
                                        <p:strVal val="visible"/>
                                      </p:to>
                                    </p:set>
                                  </p:childTnLst>
                                </p:cTn>
                              </p:par>
                              <p:par>
                                <p:cTn id="8" presetID="1"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childTnLst>
                                </p:cTn>
                              </p:par>
                              <p:par>
                                <p:cTn id="10" presetID="1"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1" dur="1" fill="hold">
                                          <p:stCondLst>
                                            <p:cond delay="0"/>
                                          </p:stCondLst>
                                        </p:cTn>
                                        <p:tgtEl>
                                          <p:spTgt spid="11"/>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3"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8" presetID="1"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19" dur="1" fill="hold">
                                          <p:stCondLst>
                                            <p:cond delay="0"/>
                                          </p:stCondLst>
                                        </p:cTn>
                                        <p:tgtEl>
                                          <p:spTgt spid="14"/>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1" dur="1" fill="hold">
                                          <p:stCondLst>
                                            <p:cond delay="0"/>
                                          </p:stCondLst>
                                        </p:cTn>
                                        <p:tgtEl>
                                          <p:spTgt spid="15"/>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3"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DEMO ROUND · ISSUE 2 OF 3</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Size it from the text. Fingers up on 3.</a:t>
            </a:r>
            <a:endParaRPr lang="en-US" sz="3100" dirty="0"/>
          </a:p>
        </p:txBody>
      </p:sp>
      <p:sp>
        <p:nvSpPr>
          <p:cNvPr id="5" name="Text 3"/>
          <p:cNvSpPr/>
          <p:nvPr/>
        </p:nvSpPr>
        <p:spPr>
          <a:xfrm>
            <a:off x="548640" y="1691640"/>
            <a:ext cx="6309360" cy="320040"/>
          </a:xfrm>
          <a:prstGeom prst="rect">
            <a:avLst/>
          </a:prstGeom>
          <a:noFill/>
          <a:ln/>
        </p:spPr>
        <p:txBody>
          <a:bodyPr wrap="square" lIns="0" tIns="0" rIns="0" bIns="0" rtlCol="0" anchor="ctr"/>
          <a:lstStyle/>
          <a:p>
            <a:pPr indent="0" marL="0">
              <a:buNone/>
            </a:pPr>
            <a:r>
              <a:rPr lang="en-US" sz="1500" b="1" dirty="0">
                <a:solidFill>
                  <a:srgbClr val="5F7284"/>
                </a:solidFill>
                <a:latin typeface="Calibri" pitchFamily="34" charset="0"/>
                <a:ea typeface="Calibri" pitchFamily="34" charset="-122"/>
                <a:cs typeface="Calibri" pitchFamily="34" charset="-120"/>
              </a:rPr>
              <a:t>Prop Loft · M1</a:t>
            </a:r>
            <a:endParaRPr lang="en-US" sz="1500" dirty="0"/>
          </a:p>
        </p:txBody>
      </p:sp>
      <p:sp>
        <p:nvSpPr>
          <p:cNvPr id="6" name="Shape 4"/>
          <p:cNvSpPr/>
          <p:nvPr/>
        </p:nvSpPr>
        <p:spPr>
          <a:xfrm>
            <a:off x="548640" y="2057400"/>
            <a:ext cx="6309360" cy="4069080"/>
          </a:xfrm>
          <a:prstGeom prst="roundRect">
            <a:avLst>
              <a:gd name="adj" fmla="val 1798"/>
            </a:avLst>
          </a:prstGeom>
          <a:solidFill>
            <a:srgbClr val="1E3352"/>
          </a:solidFill>
          <a:ln/>
          <a:effectLst>
            <a:outerShdw sx="100000" sy="100000" kx="0" ky="0" algn="bl" rotWithShape="0" blurRad="88900" dist="38100" dir="5400000">
              <a:srgbClr val="000000">
                <a:alpha val="13000"/>
              </a:srgbClr>
            </a:outerShdw>
          </a:effectLst>
        </p:spPr>
      </p:sp>
      <p:sp>
        <p:nvSpPr>
          <p:cNvPr id="7" name="Text 5"/>
          <p:cNvSpPr/>
          <p:nvPr/>
        </p:nvSpPr>
        <p:spPr>
          <a:xfrm>
            <a:off x="822960" y="2221992"/>
            <a:ext cx="5760720" cy="3739896"/>
          </a:xfrm>
          <a:prstGeom prst="rect">
            <a:avLst/>
          </a:prstGeom>
          <a:noFill/>
          <a:ln/>
        </p:spPr>
        <p:txBody>
          <a:bodyPr wrap="square" lIns="0" tIns="0" rIns="0" bIns="0" rtlCol="0" anchor="t"/>
          <a:lstStyle/>
          <a:p>
            <a:pPr indent="0" marL="0">
              <a:lnSpc>
                <a:spcPct val="105000"/>
              </a:lnSpc>
              <a:buNone/>
            </a:pPr>
            <a:r>
              <a:rPr lang="en-US" sz="1450" dirty="0">
                <a:solidFill>
                  <a:srgbClr val="E8A33D"/>
                </a:solidFill>
                <a:latin typeface="Consolas" pitchFamily="34" charset="0"/>
                <a:ea typeface="Consolas" pitchFamily="34" charset="-122"/>
                <a:cs typeface="Consolas" pitchFamily="34" charset="-120"/>
              </a:rPr>
              <a:t>Record checkouts, at most one open per item</a:t>
            </a:r>
            <a:endParaRPr lang="en-US" sz="1450" dirty="0"/>
          </a:p>
          <a:p>
            <a:pPr indent="0" marL="0">
              <a:lnSpc>
                <a:spcPct val="105000"/>
              </a:lnSpc>
              <a:buNone/>
            </a:pPr>
            <a:r>
              <a:rPr lang="en-US" sz="1450" dirty="0">
                <a:solidFill>
                  <a:srgbClr val="E8EEF3"/>
                </a:solidFill>
                <a:latin typeface="Consolas" pitchFamily="34" charset="0"/>
                <a:ea typeface="Consolas" pitchFamily="34" charset="-122"/>
                <a:cs typeface="Consolas" pitchFamily="34" charset="-120"/>
              </a:rPr>
              <a:t> </a:t>
            </a:r>
            <a:endParaRPr lang="en-US" sz="1450" dirty="0"/>
          </a:p>
          <a:p>
            <a:pPr indent="0" marL="0">
              <a:lnSpc>
                <a:spcPct val="105000"/>
              </a:lnSpc>
              <a:buNone/>
            </a:pPr>
            <a:r>
              <a:rPr lang="en-US" sz="1450" dirty="0">
                <a:solidFill>
                  <a:srgbClr val="9FB4C7"/>
                </a:solidFill>
                <a:latin typeface="Consolas" pitchFamily="34" charset="0"/>
                <a:ea typeface="Consolas" pitchFamily="34" charset="-122"/>
                <a:cs typeface="Consolas" pitchFamily="34" charset="-120"/>
              </a:rPr>
              <a:t>Goal</a:t>
            </a:r>
            <a:endParaRPr lang="en-US" sz="1450" dirty="0"/>
          </a:p>
          <a:p>
            <a:pPr indent="0" marL="0">
              <a:lnSpc>
                <a:spcPct val="105000"/>
              </a:lnSpc>
              <a:buNone/>
            </a:pPr>
            <a:r>
              <a:rPr lang="en-US" sz="1450" dirty="0">
                <a:solidFill>
                  <a:srgbClr val="E8EEF3"/>
                </a:solidFill>
                <a:latin typeface="Consolas" pitchFamily="34" charset="0"/>
                <a:ea typeface="Consolas" pitchFamily="34" charset="-122"/>
                <a:cs typeface="Consolas" pitchFamily="34" charset="-120"/>
              </a:rPr>
              <a:t>Prop Loft records who has an item, for</a:t>
            </a:r>
            <a:endParaRPr lang="en-US" sz="1450" dirty="0"/>
          </a:p>
          <a:p>
            <a:pPr indent="0" marL="0">
              <a:lnSpc>
                <a:spcPct val="105000"/>
              </a:lnSpc>
              <a:buNone/>
            </a:pPr>
            <a:r>
              <a:rPr lang="en-US" sz="1450" dirty="0">
                <a:solidFill>
                  <a:srgbClr val="E8EEF3"/>
                </a:solidFill>
                <a:latin typeface="Consolas" pitchFamily="34" charset="0"/>
                <a:ea typeface="Consolas" pitchFamily="34" charset="-122"/>
                <a:cs typeface="Consolas" pitchFamily="34" charset="-120"/>
              </a:rPr>
              <a:t>which show, and when it's due back.</a:t>
            </a:r>
            <a:endParaRPr lang="en-US" sz="1450" dirty="0"/>
          </a:p>
          <a:p>
            <a:pPr indent="0" marL="0">
              <a:lnSpc>
                <a:spcPct val="105000"/>
              </a:lnSpc>
              <a:buNone/>
            </a:pPr>
            <a:r>
              <a:rPr lang="en-US" sz="1450" dirty="0">
                <a:solidFill>
                  <a:srgbClr val="E8EEF3"/>
                </a:solidFill>
                <a:latin typeface="Consolas" pitchFamily="34" charset="0"/>
                <a:ea typeface="Consolas" pitchFamily="34" charset="-122"/>
                <a:cs typeface="Consolas" pitchFamily="34" charset="-120"/>
              </a:rPr>
              <a:t> </a:t>
            </a:r>
            <a:endParaRPr lang="en-US" sz="1450" dirty="0"/>
          </a:p>
          <a:p>
            <a:pPr indent="0" marL="0">
              <a:lnSpc>
                <a:spcPct val="105000"/>
              </a:lnSpc>
              <a:buNone/>
            </a:pPr>
            <a:r>
              <a:rPr lang="en-US" sz="1450" dirty="0">
                <a:solidFill>
                  <a:srgbClr val="9FB4C7"/>
                </a:solidFill>
                <a:latin typeface="Consolas" pitchFamily="34" charset="0"/>
                <a:ea typeface="Consolas" pitchFamily="34" charset="-122"/>
                <a:cs typeface="Consolas" pitchFamily="34" charset="-120"/>
              </a:rPr>
              <a:t>Acceptance criteria</a:t>
            </a:r>
            <a:endParaRPr lang="en-US" sz="1450" dirty="0"/>
          </a:p>
          <a:p>
            <a:pPr indent="0" marL="0">
              <a:lnSpc>
                <a:spcPct val="105000"/>
              </a:lnSpc>
              <a:buNone/>
            </a:pPr>
            <a:r>
              <a:rPr lang="en-US" sz="1450" dirty="0">
                <a:solidFill>
                  <a:srgbClr val="E8EEF3"/>
                </a:solidFill>
                <a:latin typeface="Consolas" pitchFamily="34" charset="0"/>
                <a:ea typeface="Consolas" pitchFamily="34" charset="-122"/>
                <a:cs typeface="Consolas" pitchFamily="34" charset="-120"/>
              </a:rPr>
              <a:t>[ ] A Checkout model: item, actor, show,</a:t>
            </a:r>
            <a:endParaRPr lang="en-US" sz="1450" dirty="0"/>
          </a:p>
          <a:p>
            <a:pPr indent="0" marL="0">
              <a:lnSpc>
                <a:spcPct val="105000"/>
              </a:lnSpc>
              <a:buNone/>
            </a:pPr>
            <a:r>
              <a:rPr lang="en-US" sz="1450" dirty="0">
                <a:solidFill>
                  <a:srgbClr val="E8EEF3"/>
                </a:solidFill>
                <a:latin typeface="Consolas" pitchFamily="34" charset="0"/>
                <a:ea typeface="Consolas" pitchFamily="34" charset="-122"/>
                <a:cs typeface="Consolas" pitchFamily="34" charset="-120"/>
              </a:rPr>
              <a:t>    due date, optional returned date</a:t>
            </a:r>
            <a:endParaRPr lang="en-US" sz="1450" dirty="0"/>
          </a:p>
          <a:p>
            <a:pPr indent="0" marL="0">
              <a:lnSpc>
                <a:spcPct val="105000"/>
              </a:lnSpc>
              <a:buNone/>
            </a:pPr>
            <a:r>
              <a:rPr lang="en-US" sz="1450" dirty="0">
                <a:solidFill>
                  <a:srgbClr val="E8EEF3"/>
                </a:solidFill>
                <a:latin typeface="Consolas" pitchFamily="34" charset="0"/>
                <a:ea typeface="Consolas" pitchFamily="34" charset="-122"/>
                <a:cs typeface="Consolas" pitchFamily="34" charset="-120"/>
              </a:rPr>
              <a:t>[ ] The database refuses a second open</a:t>
            </a:r>
            <a:endParaRPr lang="en-US" sz="1450" dirty="0"/>
          </a:p>
          <a:p>
            <a:pPr indent="0" marL="0">
              <a:lnSpc>
                <a:spcPct val="105000"/>
              </a:lnSpc>
              <a:buNone/>
            </a:pPr>
            <a:r>
              <a:rPr lang="en-US" sz="1450" dirty="0">
                <a:solidFill>
                  <a:srgbClr val="E8EEF3"/>
                </a:solidFill>
                <a:latin typeface="Consolas" pitchFamily="34" charset="0"/>
                <a:ea typeface="Consolas" pitchFamily="34" charset="-122"/>
                <a:cs typeface="Consolas" pitchFamily="34" charset="-120"/>
              </a:rPr>
              <a:t>    checkout (a constraint, not just a</a:t>
            </a:r>
            <a:endParaRPr lang="en-US" sz="1450" dirty="0"/>
          </a:p>
          <a:p>
            <a:pPr indent="0" marL="0">
              <a:lnSpc>
                <a:spcPct val="105000"/>
              </a:lnSpc>
              <a:buNone/>
            </a:pPr>
            <a:r>
              <a:rPr lang="en-US" sz="1450" dirty="0">
                <a:solidFill>
                  <a:srgbClr val="E8EEF3"/>
                </a:solidFill>
                <a:latin typeface="Consolas" pitchFamily="34" charset="0"/>
                <a:ea typeface="Consolas" pitchFamily="34" charset="-122"/>
                <a:cs typeface="Consolas" pitchFamily="34" charset="-120"/>
              </a:rPr>
              <a:t>    form check)</a:t>
            </a:r>
            <a:endParaRPr lang="en-US" sz="1450" dirty="0"/>
          </a:p>
          <a:p>
            <a:pPr indent="0" marL="0">
              <a:lnSpc>
                <a:spcPct val="105000"/>
              </a:lnSpc>
              <a:buNone/>
            </a:pPr>
            <a:r>
              <a:rPr lang="en-US" sz="1450" dirty="0">
                <a:solidFill>
                  <a:srgbClr val="E8EEF3"/>
                </a:solidFill>
                <a:latin typeface="Consolas" pitchFamily="34" charset="0"/>
                <a:ea typeface="Consolas" pitchFamily="34" charset="-122"/>
                <a:cs typeface="Consolas" pitchFamily="34" charset="-120"/>
              </a:rPr>
              <a:t>[ ] Tests: first, refused second, second</a:t>
            </a:r>
            <a:endParaRPr lang="en-US" sz="1450" dirty="0"/>
          </a:p>
          <a:p>
            <a:pPr indent="0" marL="0">
              <a:lnSpc>
                <a:spcPct val="105000"/>
              </a:lnSpc>
              <a:buNone/>
            </a:pPr>
            <a:r>
              <a:rPr lang="en-US" sz="1450" dirty="0">
                <a:solidFill>
                  <a:srgbClr val="E8EEF3"/>
                </a:solidFill>
                <a:latin typeface="Consolas" pitchFamily="34" charset="0"/>
                <a:ea typeface="Consolas" pitchFamily="34" charset="-122"/>
                <a:cs typeface="Consolas" pitchFamily="34" charset="-120"/>
              </a:rPr>
              <a:t>    after a return</a:t>
            </a:r>
            <a:endParaRPr lang="en-US" sz="1450" dirty="0"/>
          </a:p>
        </p:txBody>
      </p:sp>
      <p:sp>
        <p:nvSpPr>
          <p:cNvPr id="8" name="click-1"/>
          <p:cNvSpPr/>
          <p:nvPr/>
        </p:nvSpPr>
        <p:spPr>
          <a:xfrm>
            <a:off x="7086600" y="1783080"/>
            <a:ext cx="4526280" cy="1417320"/>
          </a:xfrm>
          <a:prstGeom prst="roundRect">
            <a:avLst>
              <a:gd name="adj" fmla="val 5806"/>
            </a:avLst>
          </a:prstGeom>
          <a:solidFill>
            <a:srgbClr val="14233A"/>
          </a:solidFill>
          <a:ln/>
          <a:effectLst>
            <a:outerShdw sx="100000" sy="100000" kx="0" ky="0" algn="bl" rotWithShape="0" blurRad="88900" dist="38100" dir="5400000">
              <a:srgbClr val="000000">
                <a:alpha val="13000"/>
              </a:srgbClr>
            </a:outerShdw>
          </a:effectLst>
        </p:spPr>
      </p:sp>
      <p:sp>
        <p:nvSpPr>
          <p:cNvPr id="9" name="click-1"/>
          <p:cNvSpPr/>
          <p:nvPr/>
        </p:nvSpPr>
        <p:spPr>
          <a:xfrm>
            <a:off x="7360920" y="1874520"/>
            <a:ext cx="2743200" cy="320040"/>
          </a:xfrm>
          <a:prstGeom prst="rect">
            <a:avLst/>
          </a:prstGeom>
          <a:noFill/>
          <a:ln/>
        </p:spPr>
        <p:txBody>
          <a:bodyPr wrap="square" lIns="0" tIns="0" rIns="0" bIns="0" rtlCol="0" anchor="ctr"/>
          <a:lstStyle/>
          <a:p>
            <a:pPr indent="0" marL="0">
              <a:buNone/>
            </a:pPr>
            <a:r>
              <a:rPr lang="en-US" sz="1400" b="1" spc="100" kern="0" dirty="0">
                <a:solidFill>
                  <a:srgbClr val="E8A33D"/>
                </a:solidFill>
                <a:latin typeface="Calibri" pitchFamily="34" charset="0"/>
                <a:ea typeface="Calibri" pitchFamily="34" charset="-122"/>
                <a:cs typeface="Calibri" pitchFamily="34" charset="-120"/>
              </a:rPr>
              <a:t>THE MAINTAINER'S SIZE</a:t>
            </a:r>
            <a:endParaRPr lang="en-US" sz="1400" dirty="0"/>
          </a:p>
        </p:txBody>
      </p:sp>
      <p:sp>
        <p:nvSpPr>
          <p:cNvPr id="10" name="click-1"/>
          <p:cNvSpPr/>
          <p:nvPr/>
        </p:nvSpPr>
        <p:spPr>
          <a:xfrm>
            <a:off x="7360920" y="2240280"/>
            <a:ext cx="2651760" cy="868680"/>
          </a:xfrm>
          <a:prstGeom prst="rect">
            <a:avLst/>
          </a:prstGeom>
          <a:noFill/>
          <a:ln/>
        </p:spPr>
        <p:txBody>
          <a:bodyPr wrap="square" lIns="0" tIns="0" rIns="0" bIns="0" rtlCol="0" anchor="t"/>
          <a:lstStyle/>
          <a:p>
            <a:pPr indent="0" marL="0">
              <a:buNone/>
            </a:pPr>
            <a:r>
              <a:rPr lang="en-US" sz="1500" dirty="0">
                <a:solidFill>
                  <a:srgbClr val="CFE0E9"/>
                </a:solidFill>
                <a:latin typeface="Calibri" pitchFamily="34" charset="0"/>
                <a:ea typeface="Calibri" pitchFamily="34" charset="-122"/>
                <a:cs typeface="Calibri" pitchFamily="34" charset="-120"/>
              </a:rPr>
              <a:t>Two or three sittings, once the constraint is counted.</a:t>
            </a:r>
            <a:endParaRPr lang="en-US" sz="1500" dirty="0"/>
          </a:p>
        </p:txBody>
      </p:sp>
      <p:sp>
        <p:nvSpPr>
          <p:cNvPr id="11" name="click-1"/>
          <p:cNvSpPr/>
          <p:nvPr/>
        </p:nvSpPr>
        <p:spPr>
          <a:xfrm>
            <a:off x="10104120" y="2011680"/>
            <a:ext cx="1280160" cy="960120"/>
          </a:xfrm>
          <a:prstGeom prst="roundRect">
            <a:avLst>
              <a:gd name="adj" fmla="val 7619"/>
            </a:avLst>
          </a:prstGeom>
          <a:solidFill>
            <a:srgbClr val="E8A33D"/>
          </a:solidFill>
          <a:ln/>
        </p:spPr>
      </p:sp>
      <p:sp>
        <p:nvSpPr>
          <p:cNvPr id="12" name="click-1"/>
          <p:cNvSpPr/>
          <p:nvPr/>
        </p:nvSpPr>
        <p:spPr>
          <a:xfrm>
            <a:off x="10104120" y="2011680"/>
            <a:ext cx="1280160" cy="960120"/>
          </a:xfrm>
          <a:prstGeom prst="rect">
            <a:avLst/>
          </a:prstGeom>
          <a:noFill/>
          <a:ln/>
        </p:spPr>
        <p:txBody>
          <a:bodyPr wrap="square" lIns="0" tIns="0" rIns="0" bIns="0" rtlCol="0" anchor="ctr"/>
          <a:lstStyle/>
          <a:p>
            <a:pPr algn="ctr" indent="0" marL="0">
              <a:buNone/>
            </a:pPr>
            <a:r>
              <a:rPr lang="en-US" sz="2800" b="1" dirty="0">
                <a:solidFill>
                  <a:srgbClr val="14233A"/>
                </a:solidFill>
                <a:latin typeface="Cambria" pitchFamily="34" charset="0"/>
                <a:ea typeface="Cambria" pitchFamily="34" charset="-122"/>
                <a:cs typeface="Cambria" pitchFamily="34" charset="-120"/>
              </a:rPr>
              <a:t>M</a:t>
            </a:r>
            <a:endParaRPr lang="en-US" sz="2800" dirty="0"/>
          </a:p>
        </p:txBody>
      </p:sp>
      <p:sp>
        <p:nvSpPr>
          <p:cNvPr id="13" name="click-2"/>
          <p:cNvSpPr/>
          <p:nvPr/>
        </p:nvSpPr>
        <p:spPr>
          <a:xfrm>
            <a:off x="7086600" y="3383280"/>
            <a:ext cx="4526280" cy="1600200"/>
          </a:xfrm>
          <a:prstGeom prst="roundRect">
            <a:avLst>
              <a:gd name="adj" fmla="val 5143"/>
            </a:avLst>
          </a:prstGeom>
          <a:solidFill>
            <a:srgbClr val="F2F6F8"/>
          </a:solidFill>
          <a:ln/>
          <a:effectLst>
            <a:outerShdw sx="100000" sy="100000" kx="0" ky="0" algn="bl" rotWithShape="0" blurRad="88900" dist="38100" dir="5400000">
              <a:srgbClr val="000000">
                <a:alpha val="13000"/>
              </a:srgbClr>
            </a:outerShdw>
          </a:effectLst>
        </p:spPr>
      </p:sp>
      <p:sp>
        <p:nvSpPr>
          <p:cNvPr id="14" name="click-2"/>
          <p:cNvSpPr/>
          <p:nvPr/>
        </p:nvSpPr>
        <p:spPr>
          <a:xfrm>
            <a:off x="7360920" y="3383280"/>
            <a:ext cx="4023360" cy="1600200"/>
          </a:xfrm>
          <a:prstGeom prst="rect">
            <a:avLst/>
          </a:prstGeom>
          <a:noFill/>
          <a:ln/>
        </p:spPr>
        <p:txBody>
          <a:bodyPr wrap="square" lIns="0" tIns="0" rIns="0" bIns="0" rtlCol="0" anchor="ctr"/>
          <a:lstStyle/>
          <a:p>
            <a:pPr indent="0" marL="0">
              <a:lnSpc>
                <a:spcPct val="102000"/>
              </a:lnSpc>
              <a:buNone/>
            </a:pPr>
            <a:r>
              <a:rPr lang="en-US" sz="1600" b="1" dirty="0">
                <a:solidFill>
                  <a:srgbClr val="0E6E6D"/>
                </a:solidFill>
                <a:latin typeface="Calibri" pitchFamily="34" charset="0"/>
                <a:ea typeface="Calibri" pitchFamily="34" charset="-122"/>
                <a:cs typeface="Calibri" pitchFamily="34" charset="-120"/>
              </a:rPr>
              <a:t>What's in the text</a:t>
            </a:r>
            <a:endParaRPr lang="en-US" sz="1600" dirty="0"/>
          </a:p>
          <a:p>
            <a:pPr indent="0" marL="0">
              <a:lnSpc>
                <a:spcPct val="102000"/>
              </a:lnSpc>
              <a:buNone/>
            </a:pPr>
            <a:r>
              <a:rPr lang="en-US" sz="1500" dirty="0">
                <a:solidFill>
                  <a:srgbClr val="1E2A36"/>
                </a:solidFill>
                <a:latin typeface="Calibri" pitchFamily="34" charset="0"/>
                <a:ea typeface="Calibri" pitchFamily="34" charset="-122"/>
                <a:cs typeface="Calibri" pitchFamily="34" charset="-120"/>
              </a:rPr>
              <a:t>It reads like one model with five fields. The second criterion asks the database to refuse, because three volunteers return items at once on strike night (design §6).</a:t>
            </a:r>
            <a:endParaRPr lang="en-US" sz="1600" dirty="0"/>
          </a:p>
        </p:txBody>
      </p:sp>
      <p:sp>
        <p:nvSpPr>
          <p:cNvPr id="15" name="click-2"/>
          <p:cNvSpPr/>
          <p:nvPr/>
        </p:nvSpPr>
        <p:spPr>
          <a:xfrm>
            <a:off x="7086600" y="5166360"/>
            <a:ext cx="4526280" cy="960120"/>
          </a:xfrm>
          <a:prstGeom prst="roundRect">
            <a:avLst>
              <a:gd name="adj" fmla="val 8571"/>
            </a:avLst>
          </a:prstGeom>
          <a:solidFill>
            <a:srgbClr val="FBEEDA"/>
          </a:solidFill>
          <a:ln/>
          <a:effectLst>
            <a:outerShdw sx="100000" sy="100000" kx="0" ky="0" algn="bl" rotWithShape="0" blurRad="88900" dist="38100" dir="5400000">
              <a:srgbClr val="000000">
                <a:alpha val="13000"/>
              </a:srgbClr>
            </a:outerShdw>
          </a:effectLst>
        </p:spPr>
      </p:sp>
      <p:sp>
        <p:nvSpPr>
          <p:cNvPr id="16" name="click-2"/>
          <p:cNvSpPr/>
          <p:nvPr/>
        </p:nvSpPr>
        <p:spPr>
          <a:xfrm>
            <a:off x="7360920" y="5166360"/>
            <a:ext cx="4023360" cy="960120"/>
          </a:xfrm>
          <a:prstGeom prst="rect">
            <a:avLst/>
          </a:prstGeom>
          <a:noFill/>
          <a:ln/>
        </p:spPr>
        <p:txBody>
          <a:bodyPr wrap="square" lIns="0" tIns="0" rIns="0" bIns="0" rtlCol="0" anchor="ctr"/>
          <a:lstStyle/>
          <a:p>
            <a:pPr indent="0" marL="0">
              <a:buNone/>
            </a:pPr>
            <a:r>
              <a:rPr lang="en-US" sz="1600" b="1" dirty="0">
                <a:solidFill>
                  <a:srgbClr val="0E6E6D"/>
                </a:solidFill>
                <a:latin typeface="Calibri" pitchFamily="34" charset="0"/>
                <a:ea typeface="Calibri" pitchFamily="34" charset="-122"/>
                <a:cs typeface="Calibri" pitchFamily="34" charset="-120"/>
              </a:rPr>
              <a:t>Ask:  </a:t>
            </a:r>
            <a:pPr indent="0" marL="0">
              <a:buNone/>
            </a:pPr>
            <a:r>
              <a:rPr lang="en-US" sz="1600" i="1" dirty="0">
                <a:solidFill>
                  <a:srgbClr val="1E2A36"/>
                </a:solidFill>
                <a:latin typeface="Calibri" pitchFamily="34" charset="0"/>
                <a:ea typeface="Calibri" pitchFamily="34" charset="-122"/>
                <a:cs typeface="Calibri" pitchFamily="34" charset="-120"/>
              </a:rPr>
              <a:t>What stops a second checkout of the same item?</a:t>
            </a:r>
            <a:endParaRPr lang="en-US" sz="1600" dirty="0"/>
          </a:p>
        </p:txBody>
      </p:sp>
      <p:sp>
        <p:nvSpPr>
          <p:cNvPr id="17" name="Text 15"/>
          <p:cNvSpPr/>
          <p:nvPr/>
        </p:nvSpPr>
        <p:spPr>
          <a:xfrm>
            <a:off x="6217920" y="6437376"/>
            <a:ext cx="53949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18 · Estimation &amp; the Vertical Slice</a:t>
            </a:r>
            <a:endParaRPr lang="en-US" sz="1000" dirty="0"/>
          </a:p>
        </p:txBody>
      </p:sp>
      <p:sp>
        <p:nvSpPr>
          <p:cNvPr id="18" name="Text 16"/>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7</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 presetClass="entr" presetSubtype="0" fill="hold" grpId="0" nodeType="clickEffect">
                                  <p:stCondLst>
                                    <p:cond delay="0"/>
                                  </p:stCondLst>
                                  <p:childTnLst>
                                    <p:set>
                                      <p:cBhvr>
                                        <p:cTn id="5" dur="1" fill="hold">
                                          <p:stCondLst>
                                            <p:cond delay="0"/>
                                          </p:stCondLst>
                                        </p:cTn>
                                        <p:tgtEl>
                                          <p:spTgt spid="8"/>
                                        </p:tgtEl>
                                        <p:attrNameLst>
                                          <p:attrName>style.visibility</p:attrName>
                                        </p:attrNameLst>
                                      </p:cBhvr>
                                      <p:to>
                                        <p:strVal val="visible"/>
                                      </p:to>
                                    </p:set>
                                  </p:childTnLst>
                                </p:cTn>
                              </p:par>
                              <p:par>
                                <p:cTn id="8" presetID="1"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childTnLst>
                                </p:cTn>
                              </p:par>
                              <p:par>
                                <p:cTn id="10" presetID="1"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1" dur="1" fill="hold">
                                          <p:stCondLst>
                                            <p:cond delay="0"/>
                                          </p:stCondLst>
                                        </p:cTn>
                                        <p:tgtEl>
                                          <p:spTgt spid="11"/>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3"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8" presetID="1"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19" dur="1" fill="hold">
                                          <p:stCondLst>
                                            <p:cond delay="0"/>
                                          </p:stCondLst>
                                        </p:cTn>
                                        <p:tgtEl>
                                          <p:spTgt spid="14"/>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1" dur="1" fill="hold">
                                          <p:stCondLst>
                                            <p:cond delay="0"/>
                                          </p:stCondLst>
                                        </p:cTn>
                                        <p:tgtEl>
                                          <p:spTgt spid="15"/>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3"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DEMO ROUND · ISSUE 3 OF 3</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Size it from the text. Fingers up on 3.</a:t>
            </a:r>
            <a:endParaRPr lang="en-US" sz="3100" dirty="0"/>
          </a:p>
        </p:txBody>
      </p:sp>
      <p:sp>
        <p:nvSpPr>
          <p:cNvPr id="5" name="Text 3"/>
          <p:cNvSpPr/>
          <p:nvPr/>
        </p:nvSpPr>
        <p:spPr>
          <a:xfrm>
            <a:off x="548640" y="1691640"/>
            <a:ext cx="6309360" cy="320040"/>
          </a:xfrm>
          <a:prstGeom prst="rect">
            <a:avLst/>
          </a:prstGeom>
          <a:noFill/>
          <a:ln/>
        </p:spPr>
        <p:txBody>
          <a:bodyPr wrap="square" lIns="0" tIns="0" rIns="0" bIns="0" rtlCol="0" anchor="ctr"/>
          <a:lstStyle/>
          <a:p>
            <a:pPr indent="0" marL="0">
              <a:buNone/>
            </a:pPr>
            <a:r>
              <a:rPr lang="en-US" sz="1500" b="1" dirty="0">
                <a:solidFill>
                  <a:srgbClr val="5F7284"/>
                </a:solidFill>
                <a:latin typeface="Calibri" pitchFamily="34" charset="0"/>
                <a:ea typeface="Calibri" pitchFamily="34" charset="-122"/>
                <a:cs typeface="Calibri" pitchFamily="34" charset="-120"/>
              </a:rPr>
              <a:t>Prop Loft · M1</a:t>
            </a:r>
            <a:endParaRPr lang="en-US" sz="1500" dirty="0"/>
          </a:p>
        </p:txBody>
      </p:sp>
      <p:sp>
        <p:nvSpPr>
          <p:cNvPr id="6" name="Shape 4"/>
          <p:cNvSpPr/>
          <p:nvPr/>
        </p:nvSpPr>
        <p:spPr>
          <a:xfrm>
            <a:off x="548640" y="2057400"/>
            <a:ext cx="6309360" cy="4069080"/>
          </a:xfrm>
          <a:prstGeom prst="roundRect">
            <a:avLst>
              <a:gd name="adj" fmla="val 1798"/>
            </a:avLst>
          </a:prstGeom>
          <a:solidFill>
            <a:srgbClr val="1E3352"/>
          </a:solidFill>
          <a:ln/>
          <a:effectLst>
            <a:outerShdw sx="100000" sy="100000" kx="0" ky="0" algn="bl" rotWithShape="0" blurRad="88900" dist="38100" dir="5400000">
              <a:srgbClr val="000000">
                <a:alpha val="13000"/>
              </a:srgbClr>
            </a:outerShdw>
          </a:effectLst>
        </p:spPr>
      </p:sp>
      <p:sp>
        <p:nvSpPr>
          <p:cNvPr id="7" name="Text 5"/>
          <p:cNvSpPr/>
          <p:nvPr/>
        </p:nvSpPr>
        <p:spPr>
          <a:xfrm>
            <a:off x="822960" y="2221992"/>
            <a:ext cx="5760720" cy="3739896"/>
          </a:xfrm>
          <a:prstGeom prst="rect">
            <a:avLst/>
          </a:prstGeom>
          <a:noFill/>
          <a:ln/>
        </p:spPr>
        <p:txBody>
          <a:bodyPr wrap="square" lIns="0" tIns="0" rIns="0" bIns="0" rtlCol="0" anchor="t"/>
          <a:lstStyle/>
          <a:p>
            <a:pPr indent="0" marL="0">
              <a:lnSpc>
                <a:spcPct val="105000"/>
              </a:lnSpc>
              <a:buNone/>
            </a:pPr>
            <a:r>
              <a:rPr lang="en-US" sz="1450" dirty="0">
                <a:solidFill>
                  <a:srgbClr val="E8A33D"/>
                </a:solidFill>
                <a:latin typeface="Consolas" pitchFamily="34" charset="0"/>
                <a:ea typeface="Consolas" pitchFamily="34" charset="-122"/>
                <a:cs typeface="Consolas" pitchFamily="34" charset="-120"/>
              </a:rPr>
              <a:t>Check an item out from its page</a:t>
            </a:r>
            <a:endParaRPr lang="en-US" sz="1450" dirty="0"/>
          </a:p>
          <a:p>
            <a:pPr indent="0" marL="0">
              <a:lnSpc>
                <a:spcPct val="105000"/>
              </a:lnSpc>
              <a:buNone/>
            </a:pPr>
            <a:r>
              <a:rPr lang="en-US" sz="1450" dirty="0">
                <a:solidFill>
                  <a:srgbClr val="E8EEF3"/>
                </a:solidFill>
                <a:latin typeface="Consolas" pitchFamily="34" charset="0"/>
                <a:ea typeface="Consolas" pitchFamily="34" charset="-122"/>
                <a:cs typeface="Consolas" pitchFamily="34" charset="-120"/>
              </a:rPr>
              <a:t> </a:t>
            </a:r>
            <a:endParaRPr lang="en-US" sz="1450" dirty="0"/>
          </a:p>
          <a:p>
            <a:pPr indent="0" marL="0">
              <a:lnSpc>
                <a:spcPct val="105000"/>
              </a:lnSpc>
              <a:buNone/>
            </a:pPr>
            <a:r>
              <a:rPr lang="en-US" sz="1450" dirty="0">
                <a:solidFill>
                  <a:srgbClr val="9FB4C7"/>
                </a:solidFill>
                <a:latin typeface="Consolas" pitchFamily="34" charset="0"/>
                <a:ea typeface="Consolas" pitchFamily="34" charset="-122"/>
                <a:cs typeface="Consolas" pitchFamily="34" charset="-120"/>
              </a:rPr>
              <a:t>Goal</a:t>
            </a:r>
            <a:endParaRPr lang="en-US" sz="1450" dirty="0"/>
          </a:p>
          <a:p>
            <a:pPr indent="0" marL="0">
              <a:lnSpc>
                <a:spcPct val="105000"/>
              </a:lnSpc>
              <a:buNone/>
            </a:pPr>
            <a:r>
              <a:rPr lang="en-US" sz="1450" dirty="0">
                <a:solidFill>
                  <a:srgbClr val="E8EEF3"/>
                </a:solidFill>
                <a:latin typeface="Consolas" pitchFamily="34" charset="0"/>
                <a:ea typeface="Consolas" pitchFamily="34" charset="-122"/>
                <a:cs typeface="Consolas" pitchFamily="34" charset="-120"/>
              </a:rPr>
              <a:t>A volunteer checks an item out to an</a:t>
            </a:r>
            <a:endParaRPr lang="en-US" sz="1450" dirty="0"/>
          </a:p>
          <a:p>
            <a:pPr indent="0" marL="0">
              <a:lnSpc>
                <a:spcPct val="105000"/>
              </a:lnSpc>
              <a:buNone/>
            </a:pPr>
            <a:r>
              <a:rPr lang="en-US" sz="1450" dirty="0">
                <a:solidFill>
                  <a:srgbClr val="E8EEF3"/>
                </a:solidFill>
                <a:latin typeface="Consolas" pitchFamily="34" charset="0"/>
                <a:ea typeface="Consolas" pitchFamily="34" charset="-122"/>
                <a:cs typeface="Consolas" pitchFamily="34" charset="-120"/>
              </a:rPr>
              <a:t>actor for a show, from its page.</a:t>
            </a:r>
            <a:endParaRPr lang="en-US" sz="1450" dirty="0"/>
          </a:p>
          <a:p>
            <a:pPr indent="0" marL="0">
              <a:lnSpc>
                <a:spcPct val="105000"/>
              </a:lnSpc>
              <a:buNone/>
            </a:pPr>
            <a:r>
              <a:rPr lang="en-US" sz="1450" dirty="0">
                <a:solidFill>
                  <a:srgbClr val="E8EEF3"/>
                </a:solidFill>
                <a:latin typeface="Consolas" pitchFamily="34" charset="0"/>
                <a:ea typeface="Consolas" pitchFamily="34" charset="-122"/>
                <a:cs typeface="Consolas" pitchFamily="34" charset="-120"/>
              </a:rPr>
              <a:t> </a:t>
            </a:r>
            <a:endParaRPr lang="en-US" sz="1450" dirty="0"/>
          </a:p>
          <a:p>
            <a:pPr indent="0" marL="0">
              <a:lnSpc>
                <a:spcPct val="105000"/>
              </a:lnSpc>
              <a:buNone/>
            </a:pPr>
            <a:r>
              <a:rPr lang="en-US" sz="1450" dirty="0">
                <a:solidFill>
                  <a:srgbClr val="9FB4C7"/>
                </a:solidFill>
                <a:latin typeface="Consolas" pitchFamily="34" charset="0"/>
                <a:ea typeface="Consolas" pitchFamily="34" charset="-122"/>
                <a:cs typeface="Consolas" pitchFamily="34" charset="-120"/>
              </a:rPr>
              <a:t>Context</a:t>
            </a:r>
            <a:endParaRPr lang="en-US" sz="1450" dirty="0"/>
          </a:p>
          <a:p>
            <a:pPr indent="0" marL="0">
              <a:lnSpc>
                <a:spcPct val="105000"/>
              </a:lnSpc>
              <a:buNone/>
            </a:pPr>
            <a:r>
              <a:rPr lang="en-US" sz="1450" dirty="0">
                <a:solidFill>
                  <a:srgbClr val="E8EEF3"/>
                </a:solidFill>
                <a:latin typeface="Consolas" pitchFamily="34" charset="0"/>
                <a:ea typeface="Consolas" pitchFamily="34" charset="-122"/>
                <a:cs typeface="Consolas" pitchFamily="34" charset="-120"/>
              </a:rPr>
              <a:t>Design §4, Web UI and Checkout.</a:t>
            </a:r>
            <a:endParaRPr lang="en-US" sz="1450" dirty="0"/>
          </a:p>
          <a:p>
            <a:pPr indent="0" marL="0">
              <a:lnSpc>
                <a:spcPct val="105000"/>
              </a:lnSpc>
              <a:buNone/>
            </a:pPr>
            <a:r>
              <a:rPr lang="en-US" sz="1450" dirty="0">
                <a:solidFill>
                  <a:srgbClr val="E8EEF3"/>
                </a:solidFill>
                <a:latin typeface="Consolas" pitchFamily="34" charset="0"/>
                <a:ea typeface="Consolas" pitchFamily="34" charset="-122"/>
                <a:cs typeface="Consolas" pitchFamily="34" charset="-120"/>
              </a:rPr>
              <a:t>Needs the checkout model and the</a:t>
            </a:r>
            <a:endParaRPr lang="en-US" sz="1450" dirty="0"/>
          </a:p>
          <a:p>
            <a:pPr indent="0" marL="0">
              <a:lnSpc>
                <a:spcPct val="105000"/>
              </a:lnSpc>
              <a:buNone/>
            </a:pPr>
            <a:r>
              <a:rPr lang="en-US" sz="1450" dirty="0">
                <a:solidFill>
                  <a:srgbClr val="E8EEF3"/>
                </a:solidFill>
                <a:latin typeface="Consolas" pitchFamily="34" charset="0"/>
                <a:ea typeface="Consolas" pitchFamily="34" charset="-122"/>
                <a:cs typeface="Consolas" pitchFamily="34" charset="-120"/>
              </a:rPr>
              <a:t>detail page.</a:t>
            </a:r>
            <a:endParaRPr lang="en-US" sz="1450" dirty="0"/>
          </a:p>
          <a:p>
            <a:pPr indent="0" marL="0">
              <a:lnSpc>
                <a:spcPct val="105000"/>
              </a:lnSpc>
              <a:buNone/>
            </a:pPr>
            <a:r>
              <a:rPr lang="en-US" sz="1450" dirty="0">
                <a:solidFill>
                  <a:srgbClr val="E8EEF3"/>
                </a:solidFill>
                <a:latin typeface="Consolas" pitchFamily="34" charset="0"/>
                <a:ea typeface="Consolas" pitchFamily="34" charset="-122"/>
                <a:cs typeface="Consolas" pitchFamily="34" charset="-120"/>
              </a:rPr>
              <a:t> </a:t>
            </a:r>
            <a:endParaRPr lang="en-US" sz="1450" dirty="0"/>
          </a:p>
          <a:p>
            <a:pPr indent="0" marL="0">
              <a:lnSpc>
                <a:spcPct val="105000"/>
              </a:lnSpc>
              <a:buNone/>
            </a:pPr>
            <a:r>
              <a:rPr lang="en-US" sz="1450" dirty="0">
                <a:solidFill>
                  <a:srgbClr val="9FB4C7"/>
                </a:solidFill>
                <a:latin typeface="Consolas" pitchFamily="34" charset="0"/>
                <a:ea typeface="Consolas" pitchFamily="34" charset="-122"/>
                <a:cs typeface="Consolas" pitchFamily="34" charset="-120"/>
              </a:rPr>
              <a:t>Acceptance criteria</a:t>
            </a:r>
            <a:endParaRPr lang="en-US" sz="1450" dirty="0"/>
          </a:p>
          <a:p>
            <a:pPr indent="0" marL="0">
              <a:lnSpc>
                <a:spcPct val="105000"/>
              </a:lnSpc>
              <a:buNone/>
            </a:pPr>
            <a:r>
              <a:rPr lang="en-US" sz="1450" dirty="0">
                <a:solidFill>
                  <a:srgbClr val="E8EEF3"/>
                </a:solidFill>
                <a:latin typeface="Consolas" pitchFamily="34" charset="0"/>
                <a:ea typeface="Consolas" pitchFamily="34" charset="-122"/>
                <a:cs typeface="Consolas" pitchFamily="34" charset="-120"/>
              </a:rPr>
              <a:t>[ ] A form: actor, show, due date</a:t>
            </a:r>
            <a:endParaRPr lang="en-US" sz="1450" dirty="0"/>
          </a:p>
          <a:p>
            <a:pPr indent="0" marL="0">
              <a:lnSpc>
                <a:spcPct val="105000"/>
              </a:lnSpc>
              <a:buNone/>
            </a:pPr>
            <a:r>
              <a:rPr lang="en-US" sz="1450" dirty="0">
                <a:solidFill>
                  <a:srgbClr val="E8EEF3"/>
                </a:solidFill>
                <a:latin typeface="Consolas" pitchFamily="34" charset="0"/>
                <a:ea typeface="Consolas" pitchFamily="34" charset="-122"/>
                <a:cs typeface="Consolas" pitchFamily="34" charset="-120"/>
              </a:rPr>
              <a:t>[ ] Already out: show who has it</a:t>
            </a:r>
            <a:endParaRPr lang="en-US" sz="1450" dirty="0"/>
          </a:p>
          <a:p>
            <a:pPr indent="0" marL="0">
              <a:lnSpc>
                <a:spcPct val="105000"/>
              </a:lnSpc>
              <a:buNone/>
            </a:pPr>
            <a:r>
              <a:rPr lang="en-US" sz="1450" dirty="0">
                <a:solidFill>
                  <a:srgbClr val="E8EEF3"/>
                </a:solidFill>
                <a:latin typeface="Consolas" pitchFamily="34" charset="0"/>
                <a:ea typeface="Consolas" pitchFamily="34" charset="-122"/>
                <a:cs typeface="Consolas" pitchFamily="34" charset="-120"/>
              </a:rPr>
              <a:t>[ ] A failed save keeps what was typed</a:t>
            </a:r>
            <a:endParaRPr lang="en-US" sz="1450" dirty="0"/>
          </a:p>
        </p:txBody>
      </p:sp>
      <p:sp>
        <p:nvSpPr>
          <p:cNvPr id="8" name="click-1"/>
          <p:cNvSpPr/>
          <p:nvPr/>
        </p:nvSpPr>
        <p:spPr>
          <a:xfrm>
            <a:off x="7086600" y="1783080"/>
            <a:ext cx="4526280" cy="1417320"/>
          </a:xfrm>
          <a:prstGeom prst="roundRect">
            <a:avLst>
              <a:gd name="adj" fmla="val 5806"/>
            </a:avLst>
          </a:prstGeom>
          <a:solidFill>
            <a:srgbClr val="14233A"/>
          </a:solidFill>
          <a:ln/>
          <a:effectLst>
            <a:outerShdw sx="100000" sy="100000" kx="0" ky="0" algn="bl" rotWithShape="0" blurRad="88900" dist="38100" dir="5400000">
              <a:srgbClr val="000000">
                <a:alpha val="13000"/>
              </a:srgbClr>
            </a:outerShdw>
          </a:effectLst>
        </p:spPr>
      </p:sp>
      <p:sp>
        <p:nvSpPr>
          <p:cNvPr id="9" name="click-1"/>
          <p:cNvSpPr/>
          <p:nvPr/>
        </p:nvSpPr>
        <p:spPr>
          <a:xfrm>
            <a:off x="7360920" y="1874520"/>
            <a:ext cx="2743200" cy="320040"/>
          </a:xfrm>
          <a:prstGeom prst="rect">
            <a:avLst/>
          </a:prstGeom>
          <a:noFill/>
          <a:ln/>
        </p:spPr>
        <p:txBody>
          <a:bodyPr wrap="square" lIns="0" tIns="0" rIns="0" bIns="0" rtlCol="0" anchor="ctr"/>
          <a:lstStyle/>
          <a:p>
            <a:pPr indent="0" marL="0">
              <a:buNone/>
            </a:pPr>
            <a:r>
              <a:rPr lang="en-US" sz="1400" b="1" spc="100" kern="0" dirty="0">
                <a:solidFill>
                  <a:srgbClr val="E8A33D"/>
                </a:solidFill>
                <a:latin typeface="Calibri" pitchFamily="34" charset="0"/>
                <a:ea typeface="Calibri" pitchFamily="34" charset="-122"/>
                <a:cs typeface="Calibri" pitchFamily="34" charset="-120"/>
              </a:rPr>
              <a:t>THE MAINTAINER'S SIZE</a:t>
            </a:r>
            <a:endParaRPr lang="en-US" sz="1400" dirty="0"/>
          </a:p>
        </p:txBody>
      </p:sp>
      <p:sp>
        <p:nvSpPr>
          <p:cNvPr id="10" name="click-1"/>
          <p:cNvSpPr/>
          <p:nvPr/>
        </p:nvSpPr>
        <p:spPr>
          <a:xfrm>
            <a:off x="7360920" y="2240280"/>
            <a:ext cx="2651760" cy="868680"/>
          </a:xfrm>
          <a:prstGeom prst="rect">
            <a:avLst/>
          </a:prstGeom>
          <a:noFill/>
          <a:ln/>
        </p:spPr>
        <p:txBody>
          <a:bodyPr wrap="square" lIns="0" tIns="0" rIns="0" bIns="0" rtlCol="0" anchor="t"/>
          <a:lstStyle/>
          <a:p>
            <a:pPr indent="0" marL="0">
              <a:buNone/>
            </a:pPr>
            <a:r>
              <a:rPr lang="en-US" sz="1500" dirty="0">
                <a:solidFill>
                  <a:srgbClr val="CFE0E9"/>
                </a:solidFill>
                <a:latin typeface="Calibri" pitchFamily="34" charset="0"/>
                <a:ea typeface="Calibri" pitchFamily="34" charset="-122"/>
                <a:cs typeface="Calibri" pitchFamily="34" charset="-120"/>
              </a:rPr>
              <a:t>L as the design reads, with HTMX. M with plain forms.</a:t>
            </a:r>
            <a:endParaRPr lang="en-US" sz="1500" dirty="0"/>
          </a:p>
        </p:txBody>
      </p:sp>
      <p:sp>
        <p:nvSpPr>
          <p:cNvPr id="11" name="click-1"/>
          <p:cNvSpPr/>
          <p:nvPr/>
        </p:nvSpPr>
        <p:spPr>
          <a:xfrm>
            <a:off x="10104120" y="2011680"/>
            <a:ext cx="1280160" cy="960120"/>
          </a:xfrm>
          <a:prstGeom prst="roundRect">
            <a:avLst>
              <a:gd name="adj" fmla="val 7619"/>
            </a:avLst>
          </a:prstGeom>
          <a:solidFill>
            <a:srgbClr val="E8A33D"/>
          </a:solidFill>
          <a:ln/>
        </p:spPr>
      </p:sp>
      <p:sp>
        <p:nvSpPr>
          <p:cNvPr id="12" name="click-1"/>
          <p:cNvSpPr/>
          <p:nvPr/>
        </p:nvSpPr>
        <p:spPr>
          <a:xfrm>
            <a:off x="10104120" y="2011680"/>
            <a:ext cx="1280160" cy="960120"/>
          </a:xfrm>
          <a:prstGeom prst="rect">
            <a:avLst/>
          </a:prstGeom>
          <a:noFill/>
          <a:ln/>
        </p:spPr>
        <p:txBody>
          <a:bodyPr wrap="square" lIns="0" tIns="0" rIns="0" bIns="0" rtlCol="0" anchor="ctr"/>
          <a:lstStyle/>
          <a:p>
            <a:pPr algn="ctr" indent="0" marL="0">
              <a:buNone/>
            </a:pPr>
            <a:r>
              <a:rPr lang="en-US" sz="1800" b="1" dirty="0">
                <a:solidFill>
                  <a:srgbClr val="14233A"/>
                </a:solidFill>
                <a:latin typeface="Cambria" pitchFamily="34" charset="0"/>
                <a:ea typeface="Cambria" pitchFamily="34" charset="-122"/>
                <a:cs typeface="Cambria" pitchFamily="34" charset="-120"/>
              </a:rPr>
              <a:t>L / M</a:t>
            </a:r>
            <a:endParaRPr lang="en-US" sz="1800" dirty="0"/>
          </a:p>
        </p:txBody>
      </p:sp>
      <p:sp>
        <p:nvSpPr>
          <p:cNvPr id="13" name="click-2"/>
          <p:cNvSpPr/>
          <p:nvPr/>
        </p:nvSpPr>
        <p:spPr>
          <a:xfrm>
            <a:off x="7086600" y="3383280"/>
            <a:ext cx="4526280" cy="1600200"/>
          </a:xfrm>
          <a:prstGeom prst="roundRect">
            <a:avLst>
              <a:gd name="adj" fmla="val 5143"/>
            </a:avLst>
          </a:prstGeom>
          <a:solidFill>
            <a:srgbClr val="F2F6F8"/>
          </a:solidFill>
          <a:ln/>
          <a:effectLst>
            <a:outerShdw sx="100000" sy="100000" kx="0" ky="0" algn="bl" rotWithShape="0" blurRad="88900" dist="38100" dir="5400000">
              <a:srgbClr val="000000">
                <a:alpha val="13000"/>
              </a:srgbClr>
            </a:outerShdw>
          </a:effectLst>
        </p:spPr>
      </p:sp>
      <p:sp>
        <p:nvSpPr>
          <p:cNvPr id="14" name="click-2"/>
          <p:cNvSpPr/>
          <p:nvPr/>
        </p:nvSpPr>
        <p:spPr>
          <a:xfrm>
            <a:off x="7360920" y="3383280"/>
            <a:ext cx="4023360" cy="1600200"/>
          </a:xfrm>
          <a:prstGeom prst="rect">
            <a:avLst/>
          </a:prstGeom>
          <a:noFill/>
          <a:ln/>
        </p:spPr>
        <p:txBody>
          <a:bodyPr wrap="square" lIns="0" tIns="0" rIns="0" bIns="0" rtlCol="0" anchor="ctr"/>
          <a:lstStyle/>
          <a:p>
            <a:pPr indent="0" marL="0">
              <a:lnSpc>
                <a:spcPct val="102000"/>
              </a:lnSpc>
              <a:buNone/>
            </a:pPr>
            <a:r>
              <a:rPr lang="en-US" sz="1600" b="1" dirty="0">
                <a:solidFill>
                  <a:srgbClr val="0E6E6D"/>
                </a:solidFill>
                <a:latin typeface="Calibri" pitchFamily="34" charset="0"/>
                <a:ea typeface="Calibri" pitchFamily="34" charset="-122"/>
                <a:cs typeface="Calibri" pitchFamily="34" charset="-120"/>
              </a:rPr>
              <a:t>What's in the text</a:t>
            </a:r>
            <a:endParaRPr lang="en-US" sz="1600" dirty="0"/>
          </a:p>
          <a:p>
            <a:pPr indent="0" marL="0">
              <a:lnSpc>
                <a:spcPct val="102000"/>
              </a:lnSpc>
              <a:buNone/>
            </a:pPr>
            <a:r>
              <a:rPr lang="en-US" sz="1500" dirty="0">
                <a:solidFill>
                  <a:srgbClr val="1E2A36"/>
                </a:solidFill>
                <a:latin typeface="Calibri" pitchFamily="34" charset="0"/>
                <a:ea typeface="Calibri" pitchFamily="34" charset="-122"/>
                <a:cs typeface="Calibri" pitchFamily="34" charset="-120"/>
              </a:rPr>
              <a:t>Design §6 picks HTMX for the web UI; §7 says it's new to both authors, with a four-hour learning box and plain forms as the fallback.</a:t>
            </a:r>
            <a:endParaRPr lang="en-US" sz="1600" dirty="0"/>
          </a:p>
        </p:txBody>
      </p:sp>
      <p:sp>
        <p:nvSpPr>
          <p:cNvPr id="15" name="click-2"/>
          <p:cNvSpPr/>
          <p:nvPr/>
        </p:nvSpPr>
        <p:spPr>
          <a:xfrm>
            <a:off x="7086600" y="5166360"/>
            <a:ext cx="4526280" cy="960120"/>
          </a:xfrm>
          <a:prstGeom prst="roundRect">
            <a:avLst>
              <a:gd name="adj" fmla="val 8571"/>
            </a:avLst>
          </a:prstGeom>
          <a:solidFill>
            <a:srgbClr val="FBEEDA"/>
          </a:solidFill>
          <a:ln/>
          <a:effectLst>
            <a:outerShdw sx="100000" sy="100000" kx="0" ky="0" algn="bl" rotWithShape="0" blurRad="88900" dist="38100" dir="5400000">
              <a:srgbClr val="000000">
                <a:alpha val="13000"/>
              </a:srgbClr>
            </a:outerShdw>
          </a:effectLst>
        </p:spPr>
      </p:sp>
      <p:sp>
        <p:nvSpPr>
          <p:cNvPr id="16" name="click-2"/>
          <p:cNvSpPr/>
          <p:nvPr/>
        </p:nvSpPr>
        <p:spPr>
          <a:xfrm>
            <a:off x="7360920" y="5166360"/>
            <a:ext cx="4023360" cy="960120"/>
          </a:xfrm>
          <a:prstGeom prst="rect">
            <a:avLst/>
          </a:prstGeom>
          <a:noFill/>
          <a:ln/>
        </p:spPr>
        <p:txBody>
          <a:bodyPr wrap="square" lIns="0" tIns="0" rIns="0" bIns="0" rtlCol="0" anchor="ctr"/>
          <a:lstStyle/>
          <a:p>
            <a:pPr indent="0" marL="0">
              <a:buNone/>
            </a:pPr>
            <a:r>
              <a:rPr lang="en-US" sz="1600" b="1" dirty="0">
                <a:solidFill>
                  <a:srgbClr val="0E6E6D"/>
                </a:solidFill>
                <a:latin typeface="Calibri" pitchFamily="34" charset="0"/>
                <a:ea typeface="Calibri" pitchFamily="34" charset="-122"/>
                <a:cs typeface="Calibri" pitchFamily="34" charset="-120"/>
              </a:rPr>
              <a:t>Ask:  </a:t>
            </a:r>
            <a:pPr indent="0" marL="0">
              <a:buNone/>
            </a:pPr>
            <a:r>
              <a:rPr lang="en-US" sz="1600" i="1" dirty="0">
                <a:solidFill>
                  <a:srgbClr val="1E2A36"/>
                </a:solidFill>
                <a:latin typeface="Calibri" pitchFamily="34" charset="0"/>
                <a:ea typeface="Calibri" pitchFamily="34" charset="-122"/>
                <a:cs typeface="Calibri" pitchFamily="34" charset="-120"/>
              </a:rPr>
              <a:t>Did you picture HTMX or a plain form? Have you used HTMX?</a:t>
            </a:r>
            <a:endParaRPr lang="en-US" sz="1600" dirty="0"/>
          </a:p>
        </p:txBody>
      </p:sp>
      <p:sp>
        <p:nvSpPr>
          <p:cNvPr id="17" name="Text 15"/>
          <p:cNvSpPr/>
          <p:nvPr/>
        </p:nvSpPr>
        <p:spPr>
          <a:xfrm>
            <a:off x="6217920" y="6437376"/>
            <a:ext cx="53949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18 · Estimation &amp; the Vertical Slice</a:t>
            </a:r>
            <a:endParaRPr lang="en-US" sz="1000" dirty="0"/>
          </a:p>
        </p:txBody>
      </p:sp>
      <p:sp>
        <p:nvSpPr>
          <p:cNvPr id="18" name="Text 16"/>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8</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 presetClass="entr" presetSubtype="0" fill="hold" grpId="0" nodeType="clickEffect">
                                  <p:stCondLst>
                                    <p:cond delay="0"/>
                                  </p:stCondLst>
                                  <p:childTnLst>
                                    <p:set>
                                      <p:cBhvr>
                                        <p:cTn id="5" dur="1" fill="hold">
                                          <p:stCondLst>
                                            <p:cond delay="0"/>
                                          </p:stCondLst>
                                        </p:cTn>
                                        <p:tgtEl>
                                          <p:spTgt spid="8"/>
                                        </p:tgtEl>
                                        <p:attrNameLst>
                                          <p:attrName>style.visibility</p:attrName>
                                        </p:attrNameLst>
                                      </p:cBhvr>
                                      <p:to>
                                        <p:strVal val="visible"/>
                                      </p:to>
                                    </p:set>
                                  </p:childTnLst>
                                </p:cTn>
                              </p:par>
                              <p:par>
                                <p:cTn id="8" presetID="1"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childTnLst>
                                </p:cTn>
                              </p:par>
                              <p:par>
                                <p:cTn id="10" presetID="1"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1" dur="1" fill="hold">
                                          <p:stCondLst>
                                            <p:cond delay="0"/>
                                          </p:stCondLst>
                                        </p:cTn>
                                        <p:tgtEl>
                                          <p:spTgt spid="11"/>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3"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8" presetID="1"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19" dur="1" fill="hold">
                                          <p:stCondLst>
                                            <p:cond delay="0"/>
                                          </p:stCondLst>
                                        </p:cTn>
                                        <p:tgtEl>
                                          <p:spTgt spid="14"/>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1" dur="1" fill="hold">
                                          <p:stCondLst>
                                            <p:cond delay="0"/>
                                          </p:stCondLst>
                                        </p:cTn>
                                        <p:tgtEl>
                                          <p:spTgt spid="15"/>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3"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10424160" y="-1188720"/>
            <a:ext cx="3291840" cy="3291840"/>
          </a:xfrm>
          <a:prstGeom prst="ellipse">
            <a:avLst/>
          </a:prstGeom>
          <a:solidFill>
            <a:srgbClr val="1C3252"/>
          </a:solidFill>
          <a:ln/>
        </p:spPr>
      </p:sp>
      <p:sp>
        <p:nvSpPr>
          <p:cNvPr id="3" name="Shape 1"/>
          <p:cNvSpPr/>
          <p:nvPr/>
        </p:nvSpPr>
        <p:spPr>
          <a:xfrm>
            <a:off x="566928" y="548640"/>
            <a:ext cx="137160" cy="137160"/>
          </a:xfrm>
          <a:prstGeom prst="ellipse">
            <a:avLst/>
          </a:prstGeom>
          <a:solidFill>
            <a:srgbClr val="E8A33D"/>
          </a:solidFill>
          <a:ln/>
        </p:spPr>
      </p:sp>
      <p:sp>
        <p:nvSpPr>
          <p:cNvPr id="4" name="Text 2"/>
          <p:cNvSpPr/>
          <p:nvPr/>
        </p:nvSpPr>
        <p:spPr>
          <a:xfrm>
            <a:off x="795528" y="457200"/>
            <a:ext cx="10515600" cy="310896"/>
          </a:xfrm>
          <a:prstGeom prst="rect">
            <a:avLst/>
          </a:prstGeom>
          <a:noFill/>
          <a:ln/>
        </p:spPr>
        <p:txBody>
          <a:bodyPr wrap="square" lIns="0" tIns="0" rIns="0" bIns="0" rtlCol="0" anchor="ctr"/>
          <a:lstStyle/>
          <a:p>
            <a:pPr indent="0" marL="0">
              <a:buNone/>
            </a:pPr>
            <a:r>
              <a:rPr lang="en-US" sz="1400" b="1" spc="200" kern="0" dirty="0">
                <a:solidFill>
                  <a:srgbClr val="E8A33D"/>
                </a:solidFill>
                <a:latin typeface="Calibri" pitchFamily="34" charset="0"/>
                <a:ea typeface="Calibri" pitchFamily="34" charset="-122"/>
                <a:cs typeface="Calibri" pitchFamily="34" charset="-120"/>
              </a:rPr>
              <a:t>WHAT THE VOTE WAS FOR</a:t>
            </a:r>
            <a:endParaRPr lang="en-US" sz="1400" dirty="0"/>
          </a:p>
        </p:txBody>
      </p:sp>
      <p:sp>
        <p:nvSpPr>
          <p:cNvPr id="5" name="Text 3"/>
          <p:cNvSpPr/>
          <p:nvPr/>
        </p:nvSpPr>
        <p:spPr>
          <a:xfrm>
            <a:off x="548640" y="822960"/>
            <a:ext cx="1106424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A size disagreement is a picture disagreement</a:t>
            </a:r>
            <a:endParaRPr lang="en-US" sz="3200" dirty="0"/>
          </a:p>
        </p:txBody>
      </p:sp>
      <p:sp>
        <p:nvSpPr>
          <p:cNvPr id="6" name="click-1"/>
          <p:cNvSpPr/>
          <p:nvPr/>
        </p:nvSpPr>
        <p:spPr>
          <a:xfrm>
            <a:off x="548640" y="1783080"/>
            <a:ext cx="11064240" cy="1024128"/>
          </a:xfrm>
          <a:prstGeom prst="roundRect">
            <a:avLst>
              <a:gd name="adj" fmla="val 8036"/>
            </a:avLst>
          </a:prstGeom>
          <a:solidFill>
            <a:srgbClr val="1E3352"/>
          </a:solidFill>
          <a:ln/>
          <a:effectLst>
            <a:outerShdw sx="100000" sy="100000" kx="0" ky="0" algn="bl" rotWithShape="0" blurRad="88900" dist="38100" dir="5400000">
              <a:srgbClr val="000000">
                <a:alpha val="13000"/>
              </a:srgbClr>
            </a:outerShdw>
          </a:effectLst>
        </p:spPr>
      </p:sp>
      <p:sp>
        <p:nvSpPr>
          <p:cNvPr id="7" name="click-1"/>
          <p:cNvSpPr/>
          <p:nvPr/>
        </p:nvSpPr>
        <p:spPr>
          <a:xfrm>
            <a:off x="868680" y="1783080"/>
            <a:ext cx="10424160" cy="1024128"/>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Nobody was bad at estimating.  </a:t>
            </a:r>
            <a:pPr indent="0" marL="0">
              <a:buNone/>
            </a:pPr>
            <a:r>
              <a:rPr lang="en-US" sz="1900" dirty="0">
                <a:solidFill>
                  <a:srgbClr val="CFE0E9"/>
                </a:solidFill>
                <a:latin typeface="Calibri" pitchFamily="34" charset="0"/>
                <a:ea typeface="Calibri" pitchFamily="34" charset="-122"/>
                <a:cs typeface="Calibri" pitchFamily="34" charset="-120"/>
              </a:rPr>
              <a:t>They were estimating different work.</a:t>
            </a:r>
            <a:endParaRPr lang="en-US" sz="1900" dirty="0"/>
          </a:p>
        </p:txBody>
      </p:sp>
      <p:sp>
        <p:nvSpPr>
          <p:cNvPr id="8" name="click-2"/>
          <p:cNvSpPr/>
          <p:nvPr/>
        </p:nvSpPr>
        <p:spPr>
          <a:xfrm>
            <a:off x="548640" y="2971800"/>
            <a:ext cx="11064240" cy="1024128"/>
          </a:xfrm>
          <a:prstGeom prst="roundRect">
            <a:avLst>
              <a:gd name="adj" fmla="val 8036"/>
            </a:avLst>
          </a:prstGeom>
          <a:solidFill>
            <a:srgbClr val="1E3352"/>
          </a:solidFill>
          <a:ln/>
          <a:effectLst>
            <a:outerShdw sx="100000" sy="100000" kx="0" ky="0" algn="bl" rotWithShape="0" blurRad="88900" dist="38100" dir="5400000">
              <a:srgbClr val="000000">
                <a:alpha val="13000"/>
              </a:srgbClr>
            </a:outerShdw>
          </a:effectLst>
        </p:spPr>
      </p:sp>
      <p:sp>
        <p:nvSpPr>
          <p:cNvPr id="9" name="click-2"/>
          <p:cNvSpPr/>
          <p:nvPr/>
        </p:nvSpPr>
        <p:spPr>
          <a:xfrm>
            <a:off x="868680" y="2971800"/>
            <a:ext cx="10424160" cy="1024128"/>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The issue's text decides which work it is.  </a:t>
            </a:r>
            <a:pPr indent="0" marL="0">
              <a:buNone/>
            </a:pPr>
            <a:r>
              <a:rPr lang="en-US" sz="1900" dirty="0">
                <a:solidFill>
                  <a:srgbClr val="CFE0E9"/>
                </a:solidFill>
                <a:latin typeface="Calibri" pitchFamily="34" charset="0"/>
                <a:ea typeface="Calibri" pitchFamily="34" charset="-122"/>
                <a:cs typeface="Calibri" pitchFamily="34" charset="-120"/>
              </a:rPr>
              <a:t>If it can't, it needs another acceptance criterion.</a:t>
            </a:r>
            <a:endParaRPr lang="en-US" sz="1900" dirty="0"/>
          </a:p>
        </p:txBody>
      </p:sp>
      <p:sp>
        <p:nvSpPr>
          <p:cNvPr id="10" name="click-3"/>
          <p:cNvSpPr/>
          <p:nvPr/>
        </p:nvSpPr>
        <p:spPr>
          <a:xfrm>
            <a:off x="548640" y="4160520"/>
            <a:ext cx="11064240" cy="1024128"/>
          </a:xfrm>
          <a:prstGeom prst="roundRect">
            <a:avLst>
              <a:gd name="adj" fmla="val 8036"/>
            </a:avLst>
          </a:prstGeom>
          <a:solidFill>
            <a:srgbClr val="1E3352"/>
          </a:solidFill>
          <a:ln/>
          <a:effectLst>
            <a:outerShdw sx="100000" sy="100000" kx="0" ky="0" algn="bl" rotWithShape="0" blurRad="88900" dist="38100" dir="5400000">
              <a:srgbClr val="000000">
                <a:alpha val="13000"/>
              </a:srgbClr>
            </a:outerShdw>
          </a:effectLst>
        </p:spPr>
      </p:sp>
      <p:sp>
        <p:nvSpPr>
          <p:cNvPr id="11" name="click-3"/>
          <p:cNvSpPr/>
          <p:nvPr/>
        </p:nvSpPr>
        <p:spPr>
          <a:xfrm>
            <a:off x="868680" y="4160520"/>
            <a:ext cx="10424160" cy="1024128"/>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The number matters less than the picture.  </a:t>
            </a:r>
            <a:pPr indent="0" marL="0">
              <a:buNone/>
            </a:pPr>
            <a:r>
              <a:rPr lang="en-US" sz="1900" dirty="0">
                <a:solidFill>
                  <a:srgbClr val="CFE0E9"/>
                </a:solidFill>
                <a:latin typeface="Calibri" pitchFamily="34" charset="0"/>
                <a:ea typeface="Calibri" pitchFamily="34" charset="-122"/>
                <a:cs typeface="Calibri" pitchFamily="34" charset="-120"/>
              </a:rPr>
              <a:t>Write the agreed picture down, where the next reader will see it.</a:t>
            </a:r>
            <a:endParaRPr lang="en-US" sz="1900" dirty="0"/>
          </a:p>
        </p:txBody>
      </p:sp>
      <p:sp>
        <p:nvSpPr>
          <p:cNvPr id="12" name="click-4"/>
          <p:cNvSpPr/>
          <p:nvPr/>
        </p:nvSpPr>
        <p:spPr>
          <a:xfrm>
            <a:off x="548640" y="5440680"/>
            <a:ext cx="11064240" cy="731520"/>
          </a:xfrm>
          <a:prstGeom prst="roundRect">
            <a:avLst>
              <a:gd name="adj" fmla="val 11250"/>
            </a:avLst>
          </a:prstGeom>
          <a:solidFill>
            <a:srgbClr val="E8A33D"/>
          </a:solidFill>
          <a:ln/>
          <a:effectLst>
            <a:outerShdw sx="100000" sy="100000" kx="0" ky="0" algn="bl" rotWithShape="0" blurRad="88900" dist="38100" dir="5400000">
              <a:srgbClr val="000000">
                <a:alpha val="13000"/>
              </a:srgbClr>
            </a:outerShdw>
          </a:effectLst>
        </p:spPr>
      </p:sp>
      <p:sp>
        <p:nvSpPr>
          <p:cNvPr id="13" name="click-4"/>
          <p:cNvSpPr/>
          <p:nvPr/>
        </p:nvSpPr>
        <p:spPr>
          <a:xfrm>
            <a:off x="868680" y="5440680"/>
            <a:ext cx="10424160" cy="731520"/>
          </a:xfrm>
          <a:prstGeom prst="rect">
            <a:avLst/>
          </a:prstGeom>
          <a:noFill/>
          <a:ln/>
        </p:spPr>
        <p:txBody>
          <a:bodyPr wrap="square" lIns="0" tIns="0" rIns="0" bIns="0" rtlCol="0" anchor="ctr"/>
          <a:lstStyle/>
          <a:p>
            <a:pPr indent="0" marL="0">
              <a:buNone/>
            </a:pPr>
            <a:r>
              <a:rPr lang="en-US" sz="1700" b="1" dirty="0">
                <a:solidFill>
                  <a:srgbClr val="14233A"/>
                </a:solidFill>
                <a:latin typeface="Calibri" pitchFamily="34" charset="0"/>
                <a:ea typeface="Calibri" pitchFamily="34" charset="-122"/>
                <a:cs typeface="Calibri" pitchFamily="34" charset="-120"/>
              </a:rPr>
              <a:t>Working solo? Trade with your review partner: each sizes the other's milestone cold.</a:t>
            </a:r>
            <a:endParaRPr lang="en-US" sz="1700" dirty="0"/>
          </a:p>
        </p:txBody>
      </p:sp>
      <p:sp>
        <p:nvSpPr>
          <p:cNvPr id="14" name="Text 12"/>
          <p:cNvSpPr/>
          <p:nvPr/>
        </p:nvSpPr>
        <p:spPr>
          <a:xfrm>
            <a:off x="6217920" y="6437376"/>
            <a:ext cx="5394960" cy="274320"/>
          </a:xfrm>
          <a:prstGeom prst="rect">
            <a:avLst/>
          </a:prstGeom>
          <a:noFill/>
          <a:ln/>
        </p:spPr>
        <p:txBody>
          <a:bodyPr wrap="square" lIns="0" tIns="0" rIns="0" bIns="0" rtlCol="0" anchor="ctr"/>
          <a:lstStyle/>
          <a:p>
            <a:pPr algn="r" indent="0" marL="0">
              <a:buNone/>
            </a:pPr>
            <a:r>
              <a:rPr lang="en-US" sz="1000" dirty="0">
                <a:solidFill>
                  <a:srgbClr val="7E92A8"/>
                </a:solidFill>
                <a:latin typeface="Calibri" pitchFamily="34" charset="0"/>
                <a:ea typeface="Calibri" pitchFamily="34" charset="-122"/>
                <a:cs typeface="Calibri" pitchFamily="34" charset="-120"/>
              </a:rPr>
              <a:t>CS 301R · Session 18 · Estimation &amp; the Vertical Slice</a:t>
            </a:r>
            <a:endParaRPr lang="en-US" sz="1000" dirty="0"/>
          </a:p>
        </p:txBody>
      </p:sp>
      <p:sp>
        <p:nvSpPr>
          <p:cNvPr id="15" name="Text 13"/>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7E92A8"/>
                </a:solidFill>
                <a:latin typeface="Calibri" pitchFamily="34" charset="0"/>
                <a:ea typeface="Calibri" pitchFamily="34" charset="-122"/>
                <a:cs typeface="Calibri" pitchFamily="34" charset="-120"/>
              </a:rPr>
              <a:t>9</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 presetClass="entr" presetSubtype="0" fill="hold" grpId="0" nodeType="clickEffect">
                                  <p:stCondLst>
                                    <p:cond delay="0"/>
                                  </p:stCondLst>
                                  <p:childTnLst>
                                    <p:set>
                                      <p:cBhvr>
                                        <p:cTn id="5" dur="1" fill="hold">
                                          <p:stCondLst>
                                            <p:cond delay="0"/>
                                          </p:stCondLst>
                                        </p:cTn>
                                        <p:tgtEl>
                                          <p:spTgt spid="6"/>
                                        </p:tgtEl>
                                        <p:attrNameLst>
                                          <p:attrName>style.visibility</p:attrName>
                                        </p:attrNameLst>
                                      </p:cBhvr>
                                      <p:to>
                                        <p:strVal val="visible"/>
                                      </p:to>
                                    </p:set>
                                  </p:childTnLst>
                                </p:cTn>
                              </p:par>
                              <p:par>
                                <p:cTn id="8" presetID="1"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2" presetID="1"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8" presetID="1" presetClass="entr" presetSubtype="0"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19"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4" presetID="1" presetClass="entr" presetSubtype="0" fill="hold" grpId="0" nodeType="clickEffect">
                                  <p:stCondLst>
                                    <p:cond delay="0"/>
                                  </p:stCondLst>
                                  <p:childTnLst>
                                    <p:set>
                                      <p:cBhvr>
                                        <p:cTn id="23" dur="1" fill="hold">
                                          <p:stCondLst>
                                            <p:cond delay="0"/>
                                          </p:stCondLst>
                                        </p:cTn>
                                        <p:tgtEl>
                                          <p:spTgt spid="12"/>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5"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THE BUDGET</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Count the hours that actually exist</a:t>
            </a:r>
            <a:endParaRPr lang="en-US" sz="3100" dirty="0"/>
          </a:p>
        </p:txBody>
      </p:sp>
      <p:sp>
        <p:nvSpPr>
          <p:cNvPr id="5" name="Shape 3"/>
          <p:cNvSpPr/>
          <p:nvPr/>
        </p:nvSpPr>
        <p:spPr>
          <a:xfrm>
            <a:off x="548640" y="1783080"/>
            <a:ext cx="11064240" cy="1188720"/>
          </a:xfrm>
          <a:prstGeom prst="roundRect">
            <a:avLst>
              <a:gd name="adj" fmla="val 6923"/>
            </a:avLst>
          </a:prstGeom>
          <a:solidFill>
            <a:srgbClr val="14233A"/>
          </a:solidFill>
          <a:ln/>
          <a:effectLst>
            <a:outerShdw sx="100000" sy="100000" kx="0" ky="0" algn="bl" rotWithShape="0" blurRad="88900" dist="38100" dir="5400000">
              <a:srgbClr val="000000">
                <a:alpha val="13000"/>
              </a:srgbClr>
            </a:outerShdw>
          </a:effectLst>
        </p:spPr>
      </p:sp>
      <p:sp>
        <p:nvSpPr>
          <p:cNvPr id="6" name="Text 4"/>
          <p:cNvSpPr/>
          <p:nvPr/>
        </p:nvSpPr>
        <p:spPr>
          <a:xfrm>
            <a:off x="868680" y="1783080"/>
            <a:ext cx="10424160" cy="1188720"/>
          </a:xfrm>
          <a:prstGeom prst="rect">
            <a:avLst/>
          </a:prstGeom>
          <a:noFill/>
          <a:ln/>
        </p:spPr>
        <p:txBody>
          <a:bodyPr wrap="square" lIns="0" tIns="0" rIns="0" bIns="0" rtlCol="0" anchor="ctr"/>
          <a:lstStyle/>
          <a:p>
            <a:pPr indent="0" marL="0">
              <a:lnSpc>
                <a:spcPct val="110000"/>
              </a:lnSpc>
              <a:buNone/>
            </a:pPr>
            <a:r>
              <a:rPr lang="en-US" sz="2200" b="1" dirty="0">
                <a:solidFill>
                  <a:srgbClr val="FFFFFF"/>
                </a:solidFill>
                <a:latin typeface="Calibri" pitchFamily="34" charset="0"/>
                <a:ea typeface="Calibri" pitchFamily="34" charset="-122"/>
                <a:cs typeface="Calibri" pitchFamily="34" charset="-120"/>
              </a:rPr>
              <a:t>people  ×  hours a week  ×  weeks  −  review</a:t>
            </a:r>
            <a:endParaRPr lang="en-US" sz="2200" dirty="0"/>
          </a:p>
          <a:p>
            <a:pPr indent="0" marL="0">
              <a:lnSpc>
                <a:spcPct val="110000"/>
              </a:lnSpc>
              <a:buNone/>
            </a:pPr>
            <a:r>
              <a:rPr lang="en-US" sz="1600" dirty="0">
                <a:solidFill>
                  <a:srgbClr val="CFE0E9"/>
                </a:solidFill>
                <a:latin typeface="Calibri" pitchFamily="34" charset="0"/>
                <a:ea typeface="Calibri" pitchFamily="34" charset="-122"/>
                <a:cs typeface="Calibri" pitchFamily="34" charset="-120"/>
              </a:rPr>
              <a:t>Every change goes through a pull request, so review is real time. Count it.</a:t>
            </a:r>
            <a:endParaRPr lang="en-US" sz="2200" dirty="0"/>
          </a:p>
        </p:txBody>
      </p:sp>
      <p:sp>
        <p:nvSpPr>
          <p:cNvPr id="7" name="click-1"/>
          <p:cNvSpPr/>
          <p:nvPr/>
        </p:nvSpPr>
        <p:spPr>
          <a:xfrm>
            <a:off x="548640" y="3200400"/>
            <a:ext cx="3474720" cy="2240280"/>
          </a:xfrm>
          <a:prstGeom prst="roundRect">
            <a:avLst>
              <a:gd name="adj" fmla="val 3673"/>
            </a:avLst>
          </a:prstGeom>
          <a:solidFill>
            <a:srgbClr val="F2F6F8"/>
          </a:solidFill>
          <a:ln/>
          <a:effectLst>
            <a:outerShdw sx="100000" sy="100000" kx="0" ky="0" algn="bl" rotWithShape="0" blurRad="88900" dist="38100" dir="5400000">
              <a:srgbClr val="000000">
                <a:alpha val="13000"/>
              </a:srgbClr>
            </a:outerShdw>
          </a:effectLst>
        </p:spPr>
      </p:sp>
      <p:sp>
        <p:nvSpPr>
          <p:cNvPr id="8" name="click-1"/>
          <p:cNvSpPr/>
          <p:nvPr/>
        </p:nvSpPr>
        <p:spPr>
          <a:xfrm>
            <a:off x="777240" y="3291840"/>
            <a:ext cx="3017520" cy="457200"/>
          </a:xfrm>
          <a:prstGeom prst="rect">
            <a:avLst/>
          </a:prstGeom>
          <a:noFill/>
          <a:ln/>
        </p:spPr>
        <p:txBody>
          <a:bodyPr wrap="square" lIns="0" tIns="0" rIns="0" bIns="0" rtlCol="0" anchor="ctr"/>
          <a:lstStyle/>
          <a:p>
            <a:pPr indent="0" marL="0">
              <a:buNone/>
            </a:pPr>
            <a:r>
              <a:rPr lang="en-US" sz="1800" b="1" dirty="0">
                <a:solidFill>
                  <a:srgbClr val="0E6E6D"/>
                </a:solidFill>
                <a:latin typeface="Calibri" pitchFamily="34" charset="0"/>
                <a:ea typeface="Calibri" pitchFamily="34" charset="-122"/>
                <a:cs typeface="Calibri" pitchFamily="34" charset="-120"/>
              </a:rPr>
              <a:t>Solo founder</a:t>
            </a:r>
            <a:endParaRPr lang="en-US" sz="1800" dirty="0"/>
          </a:p>
        </p:txBody>
      </p:sp>
      <p:sp>
        <p:nvSpPr>
          <p:cNvPr id="9" name="click-1"/>
          <p:cNvSpPr/>
          <p:nvPr/>
        </p:nvSpPr>
        <p:spPr>
          <a:xfrm>
            <a:off x="777240" y="3749040"/>
            <a:ext cx="3017520" cy="411480"/>
          </a:xfrm>
          <a:prstGeom prst="rect">
            <a:avLst/>
          </a:prstGeom>
          <a:noFill/>
          <a:ln/>
        </p:spPr>
        <p:txBody>
          <a:bodyPr wrap="square" lIns="0" tIns="0" rIns="0" bIns="0" rtlCol="0" anchor="ctr"/>
          <a:lstStyle/>
          <a:p>
            <a:pPr indent="0" marL="0">
              <a:buNone/>
            </a:pPr>
            <a:r>
              <a:rPr lang="en-US" sz="1700" dirty="0">
                <a:solidFill>
                  <a:srgbClr val="5F7284"/>
                </a:solidFill>
                <a:latin typeface="Calibri" pitchFamily="34" charset="0"/>
                <a:ea typeface="Calibri" pitchFamily="34" charset="-122"/>
                <a:cs typeface="Calibri" pitchFamily="34" charset="-120"/>
              </a:rPr>
              <a:t>1 × 7 × 2</a:t>
            </a:r>
            <a:endParaRPr lang="en-US" sz="1700" dirty="0"/>
          </a:p>
        </p:txBody>
      </p:sp>
      <p:sp>
        <p:nvSpPr>
          <p:cNvPr id="10" name="click-1"/>
          <p:cNvSpPr/>
          <p:nvPr/>
        </p:nvSpPr>
        <p:spPr>
          <a:xfrm>
            <a:off x="777240" y="4160520"/>
            <a:ext cx="3017520" cy="548640"/>
          </a:xfrm>
          <a:prstGeom prst="rect">
            <a:avLst/>
          </a:prstGeom>
          <a:noFill/>
          <a:ln/>
        </p:spPr>
        <p:txBody>
          <a:bodyPr wrap="square" lIns="0" tIns="0" rIns="0" bIns="0" rtlCol="0" anchor="ctr"/>
          <a:lstStyle/>
          <a:p>
            <a:pPr indent="0" marL="0">
              <a:buNone/>
            </a:pPr>
            <a:r>
              <a:rPr lang="en-US" sz="2600" b="1" dirty="0">
                <a:solidFill>
                  <a:srgbClr val="1E2A36"/>
                </a:solidFill>
                <a:latin typeface="Cambria" pitchFamily="34" charset="0"/>
                <a:ea typeface="Cambria" pitchFamily="34" charset="-122"/>
                <a:cs typeface="Cambria" pitchFamily="34" charset="-120"/>
              </a:rPr>
              <a:t>14 hours</a:t>
            </a:r>
            <a:endParaRPr lang="en-US" sz="2600" dirty="0"/>
          </a:p>
        </p:txBody>
      </p:sp>
      <p:sp>
        <p:nvSpPr>
          <p:cNvPr id="11" name="click-1"/>
          <p:cNvSpPr/>
          <p:nvPr/>
        </p:nvSpPr>
        <p:spPr>
          <a:xfrm>
            <a:off x="777240" y="4709160"/>
            <a:ext cx="3017520" cy="685800"/>
          </a:xfrm>
          <a:prstGeom prst="rect">
            <a:avLst/>
          </a:prstGeom>
          <a:noFill/>
          <a:ln/>
        </p:spPr>
        <p:txBody>
          <a:bodyPr wrap="square" lIns="0" tIns="0" rIns="0" bIns="0" rtlCol="0" anchor="t"/>
          <a:lstStyle/>
          <a:p>
            <a:pPr indent="0" marL="0">
              <a:buNone/>
            </a:pPr>
            <a:r>
              <a:rPr lang="en-US" sz="1500" dirty="0">
                <a:solidFill>
                  <a:srgbClr val="1E2A36"/>
                </a:solidFill>
                <a:latin typeface="Calibri" pitchFamily="34" charset="0"/>
                <a:ea typeface="Calibri" pitchFamily="34" charset="-122"/>
                <a:cs typeface="Calibri" pitchFamily="34" charset="-120"/>
              </a:rPr>
              <a:t>About 12 after review</a:t>
            </a:r>
            <a:endParaRPr lang="en-US" sz="1500" dirty="0"/>
          </a:p>
        </p:txBody>
      </p:sp>
      <p:sp>
        <p:nvSpPr>
          <p:cNvPr id="12" name="click-2"/>
          <p:cNvSpPr/>
          <p:nvPr/>
        </p:nvSpPr>
        <p:spPr>
          <a:xfrm>
            <a:off x="4343400" y="3200400"/>
            <a:ext cx="3474720" cy="2240280"/>
          </a:xfrm>
          <a:prstGeom prst="roundRect">
            <a:avLst>
              <a:gd name="adj" fmla="val 3673"/>
            </a:avLst>
          </a:prstGeom>
          <a:solidFill>
            <a:srgbClr val="F2F6F8"/>
          </a:solidFill>
          <a:ln/>
          <a:effectLst>
            <a:outerShdw sx="100000" sy="100000" kx="0" ky="0" algn="bl" rotWithShape="0" blurRad="88900" dist="38100" dir="5400000">
              <a:srgbClr val="000000">
                <a:alpha val="13000"/>
              </a:srgbClr>
            </a:outerShdw>
          </a:effectLst>
        </p:spPr>
      </p:sp>
      <p:sp>
        <p:nvSpPr>
          <p:cNvPr id="13" name="click-2"/>
          <p:cNvSpPr/>
          <p:nvPr/>
        </p:nvSpPr>
        <p:spPr>
          <a:xfrm>
            <a:off x="4572000" y="3291840"/>
            <a:ext cx="3017520" cy="457200"/>
          </a:xfrm>
          <a:prstGeom prst="rect">
            <a:avLst/>
          </a:prstGeom>
          <a:noFill/>
          <a:ln/>
        </p:spPr>
        <p:txBody>
          <a:bodyPr wrap="square" lIns="0" tIns="0" rIns="0" bIns="0" rtlCol="0" anchor="ctr"/>
          <a:lstStyle/>
          <a:p>
            <a:pPr indent="0" marL="0">
              <a:buNone/>
            </a:pPr>
            <a:r>
              <a:rPr lang="en-US" sz="1800" b="1" dirty="0">
                <a:solidFill>
                  <a:srgbClr val="0E6E6D"/>
                </a:solidFill>
                <a:latin typeface="Calibri" pitchFamily="34" charset="0"/>
                <a:ea typeface="Calibri" pitchFamily="34" charset="-122"/>
                <a:cs typeface="Calibri" pitchFamily="34" charset="-120"/>
              </a:rPr>
              <a:t>A team of three</a:t>
            </a:r>
            <a:endParaRPr lang="en-US" sz="1800" dirty="0"/>
          </a:p>
        </p:txBody>
      </p:sp>
      <p:sp>
        <p:nvSpPr>
          <p:cNvPr id="14" name="click-2"/>
          <p:cNvSpPr/>
          <p:nvPr/>
        </p:nvSpPr>
        <p:spPr>
          <a:xfrm>
            <a:off x="4572000" y="3749040"/>
            <a:ext cx="3017520" cy="411480"/>
          </a:xfrm>
          <a:prstGeom prst="rect">
            <a:avLst/>
          </a:prstGeom>
          <a:noFill/>
          <a:ln/>
        </p:spPr>
        <p:txBody>
          <a:bodyPr wrap="square" lIns="0" tIns="0" rIns="0" bIns="0" rtlCol="0" anchor="ctr"/>
          <a:lstStyle/>
          <a:p>
            <a:pPr indent="0" marL="0">
              <a:buNone/>
            </a:pPr>
            <a:r>
              <a:rPr lang="en-US" sz="1700" dirty="0">
                <a:solidFill>
                  <a:srgbClr val="5F7284"/>
                </a:solidFill>
                <a:latin typeface="Calibri" pitchFamily="34" charset="0"/>
                <a:ea typeface="Calibri" pitchFamily="34" charset="-122"/>
                <a:cs typeface="Calibri" pitchFamily="34" charset="-120"/>
              </a:rPr>
              <a:t>3 × 7 × 2</a:t>
            </a:r>
            <a:endParaRPr lang="en-US" sz="1700" dirty="0"/>
          </a:p>
        </p:txBody>
      </p:sp>
      <p:sp>
        <p:nvSpPr>
          <p:cNvPr id="15" name="click-2"/>
          <p:cNvSpPr/>
          <p:nvPr/>
        </p:nvSpPr>
        <p:spPr>
          <a:xfrm>
            <a:off x="4572000" y="4160520"/>
            <a:ext cx="3017520" cy="548640"/>
          </a:xfrm>
          <a:prstGeom prst="rect">
            <a:avLst/>
          </a:prstGeom>
          <a:noFill/>
          <a:ln/>
        </p:spPr>
        <p:txBody>
          <a:bodyPr wrap="square" lIns="0" tIns="0" rIns="0" bIns="0" rtlCol="0" anchor="ctr"/>
          <a:lstStyle/>
          <a:p>
            <a:pPr indent="0" marL="0">
              <a:buNone/>
            </a:pPr>
            <a:r>
              <a:rPr lang="en-US" sz="2600" b="1" dirty="0">
                <a:solidFill>
                  <a:srgbClr val="1E2A36"/>
                </a:solidFill>
                <a:latin typeface="Cambria" pitchFamily="34" charset="0"/>
                <a:ea typeface="Cambria" pitchFamily="34" charset="-122"/>
                <a:cs typeface="Cambria" pitchFamily="34" charset="-120"/>
              </a:rPr>
              <a:t>42 hours</a:t>
            </a:r>
            <a:endParaRPr lang="en-US" sz="2600" dirty="0"/>
          </a:p>
        </p:txBody>
      </p:sp>
      <p:sp>
        <p:nvSpPr>
          <p:cNvPr id="16" name="click-2"/>
          <p:cNvSpPr/>
          <p:nvPr/>
        </p:nvSpPr>
        <p:spPr>
          <a:xfrm>
            <a:off x="4572000" y="4709160"/>
            <a:ext cx="3017520" cy="685800"/>
          </a:xfrm>
          <a:prstGeom prst="rect">
            <a:avLst/>
          </a:prstGeom>
          <a:noFill/>
          <a:ln/>
        </p:spPr>
        <p:txBody>
          <a:bodyPr wrap="square" lIns="0" tIns="0" rIns="0" bIns="0" rtlCol="0" anchor="t"/>
          <a:lstStyle/>
          <a:p>
            <a:pPr indent="0" marL="0">
              <a:buNone/>
            </a:pPr>
            <a:r>
              <a:rPr lang="en-US" sz="1500" dirty="0">
                <a:solidFill>
                  <a:srgbClr val="1E2A36"/>
                </a:solidFill>
                <a:latin typeface="Calibri" pitchFamily="34" charset="0"/>
                <a:ea typeface="Calibri" pitchFamily="34" charset="-122"/>
                <a:cs typeface="Calibri" pitchFamily="34" charset="-120"/>
              </a:rPr>
              <a:t>Review is a bigger slice: someone reads every PR</a:t>
            </a:r>
            <a:endParaRPr lang="en-US" sz="1500" dirty="0"/>
          </a:p>
        </p:txBody>
      </p:sp>
      <p:sp>
        <p:nvSpPr>
          <p:cNvPr id="17" name="click-3"/>
          <p:cNvSpPr/>
          <p:nvPr/>
        </p:nvSpPr>
        <p:spPr>
          <a:xfrm>
            <a:off x="8138160" y="3200400"/>
            <a:ext cx="3474720" cy="2240280"/>
          </a:xfrm>
          <a:prstGeom prst="roundRect">
            <a:avLst>
              <a:gd name="adj" fmla="val 3673"/>
            </a:avLst>
          </a:prstGeom>
          <a:solidFill>
            <a:srgbClr val="FBEEDA"/>
          </a:solidFill>
          <a:ln/>
          <a:effectLst>
            <a:outerShdw sx="100000" sy="100000" kx="0" ky="0" algn="bl" rotWithShape="0" blurRad="88900" dist="38100" dir="5400000">
              <a:srgbClr val="000000">
                <a:alpha val="13000"/>
              </a:srgbClr>
            </a:outerShdw>
          </a:effectLst>
        </p:spPr>
      </p:sp>
      <p:sp>
        <p:nvSpPr>
          <p:cNvPr id="18" name="click-3"/>
          <p:cNvSpPr/>
          <p:nvPr/>
        </p:nvSpPr>
        <p:spPr>
          <a:xfrm>
            <a:off x="8366760" y="3291840"/>
            <a:ext cx="3017520" cy="457200"/>
          </a:xfrm>
          <a:prstGeom prst="rect">
            <a:avLst/>
          </a:prstGeom>
          <a:noFill/>
          <a:ln/>
        </p:spPr>
        <p:txBody>
          <a:bodyPr wrap="square" lIns="0" tIns="0" rIns="0" bIns="0" rtlCol="0" anchor="ctr"/>
          <a:lstStyle/>
          <a:p>
            <a:pPr indent="0" marL="0">
              <a:buNone/>
            </a:pPr>
            <a:r>
              <a:rPr lang="en-US" sz="1800" b="1" dirty="0">
                <a:solidFill>
                  <a:srgbClr val="0E6E6D"/>
                </a:solidFill>
                <a:latin typeface="Calibri" pitchFamily="34" charset="0"/>
                <a:ea typeface="Calibri" pitchFamily="34" charset="-122"/>
                <a:cs typeface="Calibri" pitchFamily="34" charset="-120"/>
              </a:rPr>
              <a:t>Prop Loft</a:t>
            </a:r>
            <a:endParaRPr lang="en-US" sz="1800" dirty="0"/>
          </a:p>
        </p:txBody>
      </p:sp>
      <p:sp>
        <p:nvSpPr>
          <p:cNvPr id="19" name="click-3"/>
          <p:cNvSpPr/>
          <p:nvPr/>
        </p:nvSpPr>
        <p:spPr>
          <a:xfrm>
            <a:off x="8366760" y="3749040"/>
            <a:ext cx="3017520" cy="411480"/>
          </a:xfrm>
          <a:prstGeom prst="rect">
            <a:avLst/>
          </a:prstGeom>
          <a:noFill/>
          <a:ln/>
        </p:spPr>
        <p:txBody>
          <a:bodyPr wrap="square" lIns="0" tIns="0" rIns="0" bIns="0" rtlCol="0" anchor="ctr"/>
          <a:lstStyle/>
          <a:p>
            <a:pPr indent="0" marL="0">
              <a:buNone/>
            </a:pPr>
            <a:r>
              <a:rPr lang="en-US" sz="1700" dirty="0">
                <a:solidFill>
                  <a:srgbClr val="5F7284"/>
                </a:solidFill>
                <a:latin typeface="Calibri" pitchFamily="34" charset="0"/>
                <a:ea typeface="Calibri" pitchFamily="34" charset="-122"/>
                <a:cs typeface="Calibri" pitchFamily="34" charset="-120"/>
              </a:rPr>
              <a:t>1 × 10 × 2</a:t>
            </a:r>
            <a:endParaRPr lang="en-US" sz="1700" dirty="0"/>
          </a:p>
        </p:txBody>
      </p:sp>
      <p:sp>
        <p:nvSpPr>
          <p:cNvPr id="20" name="click-3"/>
          <p:cNvSpPr/>
          <p:nvPr/>
        </p:nvSpPr>
        <p:spPr>
          <a:xfrm>
            <a:off x="8366760" y="4160520"/>
            <a:ext cx="3017520" cy="548640"/>
          </a:xfrm>
          <a:prstGeom prst="rect">
            <a:avLst/>
          </a:prstGeom>
          <a:noFill/>
          <a:ln/>
        </p:spPr>
        <p:txBody>
          <a:bodyPr wrap="square" lIns="0" tIns="0" rIns="0" bIns="0" rtlCol="0" anchor="ctr"/>
          <a:lstStyle/>
          <a:p>
            <a:pPr indent="0" marL="0">
              <a:buNone/>
            </a:pPr>
            <a:r>
              <a:rPr lang="en-US" sz="2600" b="1" dirty="0">
                <a:solidFill>
                  <a:srgbClr val="1E2A36"/>
                </a:solidFill>
                <a:latin typeface="Cambria" pitchFamily="34" charset="0"/>
                <a:ea typeface="Cambria" pitchFamily="34" charset="-122"/>
                <a:cs typeface="Cambria" pitchFamily="34" charset="-120"/>
              </a:rPr>
              <a:t>20 hours</a:t>
            </a:r>
            <a:endParaRPr lang="en-US" sz="2600" dirty="0"/>
          </a:p>
        </p:txBody>
      </p:sp>
      <p:sp>
        <p:nvSpPr>
          <p:cNvPr id="21" name="click-3"/>
          <p:cNvSpPr/>
          <p:nvPr/>
        </p:nvSpPr>
        <p:spPr>
          <a:xfrm>
            <a:off x="8366760" y="4709160"/>
            <a:ext cx="3017520" cy="685800"/>
          </a:xfrm>
          <a:prstGeom prst="rect">
            <a:avLst/>
          </a:prstGeom>
          <a:noFill/>
          <a:ln/>
        </p:spPr>
        <p:txBody>
          <a:bodyPr wrap="square" lIns="0" tIns="0" rIns="0" bIns="0" rtlCol="0" anchor="t"/>
          <a:lstStyle/>
          <a:p>
            <a:pPr indent="0" marL="0">
              <a:buNone/>
            </a:pPr>
            <a:r>
              <a:rPr lang="en-US" sz="1500" dirty="0">
                <a:solidFill>
                  <a:srgbClr val="1E2A36"/>
                </a:solidFill>
                <a:latin typeface="Calibri" pitchFamily="34" charset="0"/>
                <a:ea typeface="Calibri" pitchFamily="34" charset="-122"/>
                <a:cs typeface="Calibri" pitchFamily="34" charset="-120"/>
              </a:rPr>
              <a:t>The maintainer isn't taking a class: count their real hours</a:t>
            </a:r>
            <a:endParaRPr lang="en-US" sz="1500" dirty="0"/>
          </a:p>
        </p:txBody>
      </p:sp>
      <p:sp>
        <p:nvSpPr>
          <p:cNvPr id="22" name="Text 20"/>
          <p:cNvSpPr/>
          <p:nvPr/>
        </p:nvSpPr>
        <p:spPr>
          <a:xfrm>
            <a:off x="548640" y="5669280"/>
            <a:ext cx="11064240" cy="548640"/>
          </a:xfrm>
          <a:prstGeom prst="rect">
            <a:avLst/>
          </a:prstGeom>
          <a:noFill/>
          <a:ln/>
        </p:spPr>
        <p:txBody>
          <a:bodyPr wrap="square" lIns="0" tIns="0" rIns="0" bIns="0" rtlCol="0" anchor="ctr"/>
          <a:lstStyle/>
          <a:p>
            <a:pPr indent="0" marL="0">
              <a:buNone/>
            </a:pPr>
            <a:r>
              <a:rPr lang="en-US" sz="1500" i="1" dirty="0">
                <a:solidFill>
                  <a:srgbClr val="5F7284"/>
                </a:solidFill>
                <a:latin typeface="Calibri" pitchFamily="34" charset="0"/>
                <a:ea typeface="Calibri" pitchFamily="34" charset="-122"/>
                <a:cs typeface="Calibri" pitchFamily="34" charset="-120"/>
              </a:rPr>
              <a:t>Seven is the outside hours a week the course's ten-hour load leaves after class. Two weeks is today to the progress demo.</a:t>
            </a:r>
            <a:endParaRPr lang="en-US" sz="1500" dirty="0"/>
          </a:p>
        </p:txBody>
      </p:sp>
      <p:sp>
        <p:nvSpPr>
          <p:cNvPr id="23" name="Text 21"/>
          <p:cNvSpPr/>
          <p:nvPr/>
        </p:nvSpPr>
        <p:spPr>
          <a:xfrm>
            <a:off x="6217920" y="6437376"/>
            <a:ext cx="53949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18 · Estimation &amp; the Vertical Slice</a:t>
            </a:r>
            <a:endParaRPr lang="en-US" sz="1000" dirty="0"/>
          </a:p>
        </p:txBody>
      </p:sp>
      <p:sp>
        <p:nvSpPr>
          <p:cNvPr id="24" name="Text 22"/>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10</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 presetClass="entr" presetSubtype="0" fill="hold" grpId="0" nodeType="clickEffect">
                                  <p:stCondLst>
                                    <p:cond delay="0"/>
                                  </p:stCondLst>
                                  <p:childTnLst>
                                    <p:set>
                                      <p:cBhvr>
                                        <p:cTn id="5" dur="1" fill="hold">
                                          <p:stCondLst>
                                            <p:cond delay="0"/>
                                          </p:stCondLst>
                                        </p:cTn>
                                        <p:tgtEl>
                                          <p:spTgt spid="7"/>
                                        </p:tgtEl>
                                        <p:attrNameLst>
                                          <p:attrName>style.visibility</p:attrName>
                                        </p:attrNameLst>
                                      </p:cBhvr>
                                      <p:to>
                                        <p:strVal val="visible"/>
                                      </p:to>
                                    </p:set>
                                  </p:childTnLst>
                                </p:cTn>
                              </p:par>
                              <p:par>
                                <p:cTn id="8" presetID="1" presetClass="entr" presetSubtype="0" fill="hold" grpId="0" nodeType="withEffect">
                                  <p:stCondLst>
                                    <p:cond delay="0"/>
                                  </p:stCondLst>
                                  <p:childTnLst>
                                    <p:set>
                                      <p:cBhvr>
                                        <p:cTn id="7" dur="1" fill="hold">
                                          <p:stCondLst>
                                            <p:cond delay="0"/>
                                          </p:stCondLst>
                                        </p:cTn>
                                        <p:tgtEl>
                                          <p:spTgt spid="8"/>
                                        </p:tgtEl>
                                        <p:attrNameLst>
                                          <p:attrName>style.visibility</p:attrName>
                                        </p:attrNameLst>
                                      </p:cBhvr>
                                      <p:to>
                                        <p:strVal val="visible"/>
                                      </p:to>
                                    </p:set>
                                  </p:childTnLst>
                                </p:cTn>
                              </p:par>
                              <p:par>
                                <p:cTn id="10" presetID="1"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1" dur="1" fill="hold">
                                          <p:stCondLst>
                                            <p:cond delay="0"/>
                                          </p:stCondLst>
                                        </p:cTn>
                                        <p:tgtEl>
                                          <p:spTgt spid="10"/>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8" presetID="1" presetClass="entr" presetSubtype="0"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19" dur="1" fill="hold">
                                          <p:stCondLst>
                                            <p:cond delay="0"/>
                                          </p:stCondLst>
                                        </p:cTn>
                                        <p:tgtEl>
                                          <p:spTgt spid="13"/>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3" dur="1" fill="hold">
                                          <p:stCondLst>
                                            <p:cond delay="0"/>
                                          </p:stCondLst>
                                        </p:cTn>
                                        <p:tgtEl>
                                          <p:spTgt spid="15"/>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5" dur="1" fill="hold">
                                          <p:stCondLst>
                                            <p:cond delay="0"/>
                                          </p:stCondLst>
                                        </p:cTn>
                                        <p:tgtEl>
                                          <p:spTgt spid="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30" presetID="1" presetClass="entr" presetSubtype="0" fill="hold" grpId="0" nodeType="clickEffect">
                                  <p:stCondLst>
                                    <p:cond delay="0"/>
                                  </p:stCondLst>
                                  <p:childTnLst>
                                    <p:set>
                                      <p:cBhvr>
                                        <p:cTn id="29" dur="1" fill="hold">
                                          <p:stCondLst>
                                            <p:cond delay="0"/>
                                          </p:stCondLst>
                                        </p:cTn>
                                        <p:tgtEl>
                                          <p:spTgt spid="17"/>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1" dur="1" fill="hold">
                                          <p:stCondLst>
                                            <p:cond delay="0"/>
                                          </p:stCondLst>
                                        </p:cTn>
                                        <p:tgtEl>
                                          <p:spTgt spid="18"/>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3" dur="1" fill="hold">
                                          <p:stCondLst>
                                            <p:cond delay="0"/>
                                          </p:stCondLst>
                                        </p:cTn>
                                        <p:tgtEl>
                                          <p:spTgt spid="19"/>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5" dur="1" fill="hold">
                                          <p:stCondLst>
                                            <p:cond delay="0"/>
                                          </p:stCondLst>
                                        </p:cTn>
                                        <p:tgtEl>
                                          <p:spTgt spid="20"/>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7"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PROP LOFT'S FIRST MILESTONE</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The maintainer's sizes, against 20 hours</a:t>
            </a:r>
            <a:endParaRPr lang="en-US" sz="3100" dirty="0"/>
          </a:p>
        </p:txBody>
      </p:sp>
      <p:sp>
        <p:nvSpPr>
          <p:cNvPr id="5" name="Text 3"/>
          <p:cNvSpPr/>
          <p:nvPr/>
        </p:nvSpPr>
        <p:spPr>
          <a:xfrm>
            <a:off x="777240" y="1691640"/>
            <a:ext cx="5486400" cy="274320"/>
          </a:xfrm>
          <a:prstGeom prst="rect">
            <a:avLst/>
          </a:prstGeom>
          <a:noFill/>
          <a:ln/>
        </p:spPr>
        <p:txBody>
          <a:bodyPr wrap="square" lIns="0" tIns="0" rIns="0" bIns="0" rtlCol="0" anchor="ctr"/>
          <a:lstStyle/>
          <a:p>
            <a:pPr indent="0" marL="0">
              <a:buNone/>
            </a:pPr>
            <a:r>
              <a:rPr lang="en-US" sz="1400" b="1" spc="200" kern="0" dirty="0">
                <a:solidFill>
                  <a:srgbClr val="5F7284"/>
                </a:solidFill>
                <a:latin typeface="Calibri" pitchFamily="34" charset="0"/>
                <a:ea typeface="Calibri" pitchFamily="34" charset="-122"/>
                <a:cs typeface="Calibri" pitchFamily="34" charset="-120"/>
              </a:rPr>
              <a:t>ISSUE</a:t>
            </a:r>
            <a:endParaRPr lang="en-US" sz="1400" dirty="0"/>
          </a:p>
        </p:txBody>
      </p:sp>
      <p:sp>
        <p:nvSpPr>
          <p:cNvPr id="6" name="Text 4"/>
          <p:cNvSpPr/>
          <p:nvPr/>
        </p:nvSpPr>
        <p:spPr>
          <a:xfrm>
            <a:off x="7315200" y="1691640"/>
            <a:ext cx="1005840" cy="274320"/>
          </a:xfrm>
          <a:prstGeom prst="rect">
            <a:avLst/>
          </a:prstGeom>
          <a:noFill/>
          <a:ln/>
        </p:spPr>
        <p:txBody>
          <a:bodyPr wrap="square" lIns="0" tIns="0" rIns="0" bIns="0" rtlCol="0" anchor="ctr"/>
          <a:lstStyle/>
          <a:p>
            <a:pPr algn="ctr" indent="0" marL="0">
              <a:buNone/>
            </a:pPr>
            <a:r>
              <a:rPr lang="en-US" sz="1400" b="1" spc="200" kern="0" dirty="0">
                <a:solidFill>
                  <a:srgbClr val="5F7284"/>
                </a:solidFill>
                <a:latin typeface="Calibri" pitchFamily="34" charset="0"/>
                <a:ea typeface="Calibri" pitchFamily="34" charset="-122"/>
                <a:cs typeface="Calibri" pitchFamily="34" charset="-120"/>
              </a:rPr>
              <a:t>SIZE</a:t>
            </a:r>
            <a:endParaRPr lang="en-US" sz="1400" dirty="0"/>
          </a:p>
        </p:txBody>
      </p:sp>
      <p:sp>
        <p:nvSpPr>
          <p:cNvPr id="7" name="Text 5"/>
          <p:cNvSpPr/>
          <p:nvPr/>
        </p:nvSpPr>
        <p:spPr>
          <a:xfrm>
            <a:off x="8412480" y="1691640"/>
            <a:ext cx="1097280" cy="274320"/>
          </a:xfrm>
          <a:prstGeom prst="rect">
            <a:avLst/>
          </a:prstGeom>
          <a:noFill/>
          <a:ln/>
        </p:spPr>
        <p:txBody>
          <a:bodyPr wrap="square" lIns="0" tIns="0" rIns="0" bIns="0" rtlCol="0" anchor="ctr"/>
          <a:lstStyle/>
          <a:p>
            <a:pPr algn="ctr" indent="0" marL="0">
              <a:buNone/>
            </a:pPr>
            <a:r>
              <a:rPr lang="en-US" sz="1400" b="1" spc="200" kern="0" dirty="0">
                <a:solidFill>
                  <a:srgbClr val="5F7284"/>
                </a:solidFill>
                <a:latin typeface="Calibri" pitchFamily="34" charset="0"/>
                <a:ea typeface="Calibri" pitchFamily="34" charset="-122"/>
                <a:cs typeface="Calibri" pitchFamily="34" charset="-120"/>
              </a:rPr>
              <a:t>HOURS</a:t>
            </a:r>
            <a:endParaRPr lang="en-US" sz="1400" dirty="0"/>
          </a:p>
        </p:txBody>
      </p:sp>
      <p:sp>
        <p:nvSpPr>
          <p:cNvPr id="8" name="Text 6"/>
          <p:cNvSpPr/>
          <p:nvPr/>
        </p:nvSpPr>
        <p:spPr>
          <a:xfrm>
            <a:off x="9692640" y="1691640"/>
            <a:ext cx="1645920" cy="274320"/>
          </a:xfrm>
          <a:prstGeom prst="rect">
            <a:avLst/>
          </a:prstGeom>
          <a:noFill/>
          <a:ln/>
        </p:spPr>
        <p:txBody>
          <a:bodyPr wrap="square" lIns="0" tIns="0" rIns="0" bIns="0" rtlCol="0" anchor="ctr"/>
          <a:lstStyle/>
          <a:p>
            <a:pPr algn="ctr" indent="0" marL="0">
              <a:buNone/>
            </a:pPr>
            <a:r>
              <a:rPr lang="en-US" sz="1400" b="1" spc="200" kern="0" dirty="0">
                <a:solidFill>
                  <a:srgbClr val="5F7284"/>
                </a:solidFill>
                <a:latin typeface="Calibri" pitchFamily="34" charset="0"/>
                <a:ea typeface="Calibri" pitchFamily="34" charset="-122"/>
                <a:cs typeface="Calibri" pitchFamily="34" charset="-120"/>
              </a:rPr>
              <a:t>SLICE?</a:t>
            </a:r>
            <a:endParaRPr lang="en-US" sz="1400" dirty="0"/>
          </a:p>
        </p:txBody>
      </p:sp>
      <p:sp>
        <p:nvSpPr>
          <p:cNvPr id="9" name="Shape 7"/>
          <p:cNvSpPr/>
          <p:nvPr/>
        </p:nvSpPr>
        <p:spPr>
          <a:xfrm>
            <a:off x="548640" y="2029968"/>
            <a:ext cx="11064240" cy="475488"/>
          </a:xfrm>
          <a:prstGeom prst="roundRect">
            <a:avLst>
              <a:gd name="adj" fmla="val 17308"/>
            </a:avLst>
          </a:prstGeom>
          <a:solidFill>
            <a:srgbClr val="F2F6F8"/>
          </a:solidFill>
          <a:ln/>
          <a:effectLst>
            <a:outerShdw sx="100000" sy="100000" kx="0" ky="0" algn="bl" rotWithShape="0" blurRad="88900" dist="38100" dir="5400000">
              <a:srgbClr val="000000">
                <a:alpha val="13000"/>
              </a:srgbClr>
            </a:outerShdw>
          </a:effectLst>
        </p:spPr>
      </p:sp>
      <p:sp>
        <p:nvSpPr>
          <p:cNvPr id="10" name="Text 8"/>
          <p:cNvSpPr/>
          <p:nvPr/>
        </p:nvSpPr>
        <p:spPr>
          <a:xfrm>
            <a:off x="777240" y="2029968"/>
            <a:ext cx="6400800" cy="475488"/>
          </a:xfrm>
          <a:prstGeom prst="rect">
            <a:avLst/>
          </a:prstGeom>
          <a:noFill/>
          <a:ln/>
        </p:spPr>
        <p:txBody>
          <a:bodyPr wrap="square" lIns="0" tIns="0" rIns="0" bIns="0" rtlCol="0" anchor="ctr"/>
          <a:lstStyle/>
          <a:p>
            <a:pPr indent="0" marL="0">
              <a:buNone/>
            </a:pPr>
            <a:r>
              <a:rPr lang="en-US" sz="1600" b="1" dirty="0">
                <a:solidFill>
                  <a:srgbClr val="1E2A36"/>
                </a:solidFill>
                <a:latin typeface="Calibri" pitchFamily="34" charset="0"/>
                <a:ea typeface="Calibri" pitchFamily="34" charset="-122"/>
                <a:cs typeface="Calibri" pitchFamily="34" charset="-120"/>
              </a:rPr>
              <a:t>Search items by name</a:t>
            </a:r>
            <a:endParaRPr lang="en-US" sz="1600" dirty="0"/>
          </a:p>
        </p:txBody>
      </p:sp>
      <p:sp>
        <p:nvSpPr>
          <p:cNvPr id="11" name="Text 9"/>
          <p:cNvSpPr/>
          <p:nvPr/>
        </p:nvSpPr>
        <p:spPr>
          <a:xfrm>
            <a:off x="7315200" y="2029968"/>
            <a:ext cx="1005840" cy="475488"/>
          </a:xfrm>
          <a:prstGeom prst="rect">
            <a:avLst/>
          </a:prstGeom>
          <a:noFill/>
          <a:ln/>
        </p:spPr>
        <p:txBody>
          <a:bodyPr wrap="square" lIns="0" tIns="0" rIns="0" bIns="0" rtlCol="0" anchor="ctr"/>
          <a:lstStyle/>
          <a:p>
            <a:pPr algn="ctr" indent="0" marL="0">
              <a:buNone/>
            </a:pPr>
            <a:r>
              <a:rPr lang="en-US" sz="1800" b="1" dirty="0">
                <a:solidFill>
                  <a:srgbClr val="0E6E6D"/>
                </a:solidFill>
                <a:latin typeface="Cambria" pitchFamily="34" charset="0"/>
                <a:ea typeface="Cambria" pitchFamily="34" charset="-122"/>
                <a:cs typeface="Cambria" pitchFamily="34" charset="-120"/>
              </a:rPr>
              <a:t>S</a:t>
            </a:r>
            <a:endParaRPr lang="en-US" sz="1800" dirty="0"/>
          </a:p>
        </p:txBody>
      </p:sp>
      <p:sp>
        <p:nvSpPr>
          <p:cNvPr id="12" name="Text 10"/>
          <p:cNvSpPr/>
          <p:nvPr/>
        </p:nvSpPr>
        <p:spPr>
          <a:xfrm>
            <a:off x="8412480" y="2029968"/>
            <a:ext cx="1097280" cy="475488"/>
          </a:xfrm>
          <a:prstGeom prst="rect">
            <a:avLst/>
          </a:prstGeom>
          <a:noFill/>
          <a:ln/>
        </p:spPr>
        <p:txBody>
          <a:bodyPr wrap="square" lIns="0" tIns="0" rIns="0" bIns="0" rtlCol="0" anchor="ctr"/>
          <a:lstStyle/>
          <a:p>
            <a:pPr algn="ctr" indent="0" marL="0">
              <a:buNone/>
            </a:pPr>
            <a:r>
              <a:rPr lang="en-US" sz="1700" dirty="0">
                <a:solidFill>
                  <a:srgbClr val="1E2A36"/>
                </a:solidFill>
                <a:latin typeface="Calibri" pitchFamily="34" charset="0"/>
                <a:ea typeface="Calibri" pitchFamily="34" charset="-122"/>
                <a:cs typeface="Calibri" pitchFamily="34" charset="-120"/>
              </a:rPr>
              <a:t>2</a:t>
            </a:r>
            <a:endParaRPr lang="en-US" sz="1700" dirty="0"/>
          </a:p>
        </p:txBody>
      </p:sp>
      <p:sp>
        <p:nvSpPr>
          <p:cNvPr id="13" name="Text 11"/>
          <p:cNvSpPr/>
          <p:nvPr/>
        </p:nvSpPr>
        <p:spPr>
          <a:xfrm>
            <a:off x="9509760" y="2029968"/>
            <a:ext cx="2011680" cy="475488"/>
          </a:xfrm>
          <a:prstGeom prst="rect">
            <a:avLst/>
          </a:prstGeom>
          <a:noFill/>
          <a:ln/>
        </p:spPr>
        <p:txBody>
          <a:bodyPr wrap="square" lIns="0" tIns="0" rIns="0" bIns="0" rtlCol="0" anchor="ctr"/>
          <a:lstStyle/>
          <a:p>
            <a:pPr algn="ctr" indent="0" marL="0">
              <a:buNone/>
            </a:pPr>
            <a:r>
              <a:rPr lang="en-US" sz="1500" b="1" dirty="0">
                <a:solidFill>
                  <a:srgbClr val="3E9C6B"/>
                </a:solidFill>
                <a:latin typeface="Calibri" pitchFamily="34" charset="0"/>
                <a:ea typeface="Calibri" pitchFamily="34" charset="-122"/>
                <a:cs typeface="Calibri" pitchFamily="34" charset="-120"/>
              </a:rPr>
              <a:t>yes</a:t>
            </a:r>
            <a:endParaRPr lang="en-US" sz="1500" dirty="0"/>
          </a:p>
        </p:txBody>
      </p:sp>
      <p:sp>
        <p:nvSpPr>
          <p:cNvPr id="14" name="Shape 12"/>
          <p:cNvSpPr/>
          <p:nvPr/>
        </p:nvSpPr>
        <p:spPr>
          <a:xfrm>
            <a:off x="548640" y="2578608"/>
            <a:ext cx="11064240" cy="475488"/>
          </a:xfrm>
          <a:prstGeom prst="roundRect">
            <a:avLst>
              <a:gd name="adj" fmla="val 17308"/>
            </a:avLst>
          </a:prstGeom>
          <a:solidFill>
            <a:srgbClr val="F2F6F8"/>
          </a:solidFill>
          <a:ln/>
          <a:effectLst>
            <a:outerShdw sx="100000" sy="100000" kx="0" ky="0" algn="bl" rotWithShape="0" blurRad="88900" dist="38100" dir="5400000">
              <a:srgbClr val="000000">
                <a:alpha val="13000"/>
              </a:srgbClr>
            </a:outerShdw>
          </a:effectLst>
        </p:spPr>
      </p:sp>
      <p:sp>
        <p:nvSpPr>
          <p:cNvPr id="15" name="Text 13"/>
          <p:cNvSpPr/>
          <p:nvPr/>
        </p:nvSpPr>
        <p:spPr>
          <a:xfrm>
            <a:off x="777240" y="2578608"/>
            <a:ext cx="6400800" cy="475488"/>
          </a:xfrm>
          <a:prstGeom prst="rect">
            <a:avLst/>
          </a:prstGeom>
          <a:noFill/>
          <a:ln/>
        </p:spPr>
        <p:txBody>
          <a:bodyPr wrap="square" lIns="0" tIns="0" rIns="0" bIns="0" rtlCol="0" anchor="ctr"/>
          <a:lstStyle/>
          <a:p>
            <a:pPr indent="0" marL="0">
              <a:buNone/>
            </a:pPr>
            <a:r>
              <a:rPr lang="en-US" sz="1600" b="1" dirty="0">
                <a:solidFill>
                  <a:srgbClr val="1E2A36"/>
                </a:solidFill>
                <a:latin typeface="Calibri" pitchFamily="34" charset="0"/>
                <a:ea typeface="Calibri" pitchFamily="34" charset="-122"/>
                <a:cs typeface="Calibri" pitchFamily="34" charset="-120"/>
              </a:rPr>
              <a:t>Show an item's detail page</a:t>
            </a:r>
            <a:endParaRPr lang="en-US" sz="1600" dirty="0"/>
          </a:p>
        </p:txBody>
      </p:sp>
      <p:sp>
        <p:nvSpPr>
          <p:cNvPr id="16" name="Text 14"/>
          <p:cNvSpPr/>
          <p:nvPr/>
        </p:nvSpPr>
        <p:spPr>
          <a:xfrm>
            <a:off x="7315200" y="2578608"/>
            <a:ext cx="1005840" cy="475488"/>
          </a:xfrm>
          <a:prstGeom prst="rect">
            <a:avLst/>
          </a:prstGeom>
          <a:noFill/>
          <a:ln/>
        </p:spPr>
        <p:txBody>
          <a:bodyPr wrap="square" lIns="0" tIns="0" rIns="0" bIns="0" rtlCol="0" anchor="ctr"/>
          <a:lstStyle/>
          <a:p>
            <a:pPr algn="ctr" indent="0" marL="0">
              <a:buNone/>
            </a:pPr>
            <a:r>
              <a:rPr lang="en-US" sz="1800" b="1" dirty="0">
                <a:solidFill>
                  <a:srgbClr val="0E6E6D"/>
                </a:solidFill>
                <a:latin typeface="Cambria" pitchFamily="34" charset="0"/>
                <a:ea typeface="Cambria" pitchFamily="34" charset="-122"/>
                <a:cs typeface="Cambria" pitchFamily="34" charset="-120"/>
              </a:rPr>
              <a:t>S</a:t>
            </a:r>
            <a:endParaRPr lang="en-US" sz="1800" dirty="0"/>
          </a:p>
        </p:txBody>
      </p:sp>
      <p:sp>
        <p:nvSpPr>
          <p:cNvPr id="17" name="Text 15"/>
          <p:cNvSpPr/>
          <p:nvPr/>
        </p:nvSpPr>
        <p:spPr>
          <a:xfrm>
            <a:off x="8412480" y="2578608"/>
            <a:ext cx="1097280" cy="475488"/>
          </a:xfrm>
          <a:prstGeom prst="rect">
            <a:avLst/>
          </a:prstGeom>
          <a:noFill/>
          <a:ln/>
        </p:spPr>
        <p:txBody>
          <a:bodyPr wrap="square" lIns="0" tIns="0" rIns="0" bIns="0" rtlCol="0" anchor="ctr"/>
          <a:lstStyle/>
          <a:p>
            <a:pPr algn="ctr" indent="0" marL="0">
              <a:buNone/>
            </a:pPr>
            <a:r>
              <a:rPr lang="en-US" sz="1700" dirty="0">
                <a:solidFill>
                  <a:srgbClr val="1E2A36"/>
                </a:solidFill>
                <a:latin typeface="Calibri" pitchFamily="34" charset="0"/>
                <a:ea typeface="Calibri" pitchFamily="34" charset="-122"/>
                <a:cs typeface="Calibri" pitchFamily="34" charset="-120"/>
              </a:rPr>
              <a:t>2</a:t>
            </a:r>
            <a:endParaRPr lang="en-US" sz="1700" dirty="0"/>
          </a:p>
        </p:txBody>
      </p:sp>
      <p:sp>
        <p:nvSpPr>
          <p:cNvPr id="18" name="Text 16"/>
          <p:cNvSpPr/>
          <p:nvPr/>
        </p:nvSpPr>
        <p:spPr>
          <a:xfrm>
            <a:off x="9509760" y="2578608"/>
            <a:ext cx="2011680" cy="475488"/>
          </a:xfrm>
          <a:prstGeom prst="rect">
            <a:avLst/>
          </a:prstGeom>
          <a:noFill/>
          <a:ln/>
        </p:spPr>
        <p:txBody>
          <a:bodyPr wrap="square" lIns="0" tIns="0" rIns="0" bIns="0" rtlCol="0" anchor="ctr"/>
          <a:lstStyle/>
          <a:p>
            <a:pPr algn="ctr" indent="0" marL="0">
              <a:buNone/>
            </a:pPr>
            <a:r>
              <a:rPr lang="en-US" sz="1500" b="1" dirty="0">
                <a:solidFill>
                  <a:srgbClr val="3E9C6B"/>
                </a:solidFill>
                <a:latin typeface="Calibri" pitchFamily="34" charset="0"/>
                <a:ea typeface="Calibri" pitchFamily="34" charset="-122"/>
                <a:cs typeface="Calibri" pitchFamily="34" charset="-120"/>
              </a:rPr>
              <a:t>yes</a:t>
            </a:r>
            <a:endParaRPr lang="en-US" sz="1500" dirty="0"/>
          </a:p>
        </p:txBody>
      </p:sp>
      <p:sp>
        <p:nvSpPr>
          <p:cNvPr id="19" name="Shape 17"/>
          <p:cNvSpPr/>
          <p:nvPr/>
        </p:nvSpPr>
        <p:spPr>
          <a:xfrm>
            <a:off x="548640" y="3127248"/>
            <a:ext cx="11064240" cy="475488"/>
          </a:xfrm>
          <a:prstGeom prst="roundRect">
            <a:avLst>
              <a:gd name="adj" fmla="val 17308"/>
            </a:avLst>
          </a:prstGeom>
          <a:solidFill>
            <a:srgbClr val="F2F6F8"/>
          </a:solidFill>
          <a:ln/>
          <a:effectLst>
            <a:outerShdw sx="100000" sy="100000" kx="0" ky="0" algn="bl" rotWithShape="0" blurRad="88900" dist="38100" dir="5400000">
              <a:srgbClr val="000000">
                <a:alpha val="13000"/>
              </a:srgbClr>
            </a:outerShdw>
          </a:effectLst>
        </p:spPr>
      </p:sp>
      <p:sp>
        <p:nvSpPr>
          <p:cNvPr id="20" name="Text 18"/>
          <p:cNvSpPr/>
          <p:nvPr/>
        </p:nvSpPr>
        <p:spPr>
          <a:xfrm>
            <a:off x="777240" y="3127248"/>
            <a:ext cx="6400800" cy="475488"/>
          </a:xfrm>
          <a:prstGeom prst="rect">
            <a:avLst/>
          </a:prstGeom>
          <a:noFill/>
          <a:ln/>
        </p:spPr>
        <p:txBody>
          <a:bodyPr wrap="square" lIns="0" tIns="0" rIns="0" bIns="0" rtlCol="0" anchor="ctr"/>
          <a:lstStyle/>
          <a:p>
            <a:pPr indent="0" marL="0">
              <a:buNone/>
            </a:pPr>
            <a:r>
              <a:rPr lang="en-US" sz="1600" b="1" dirty="0">
                <a:solidFill>
                  <a:srgbClr val="1E2A36"/>
                </a:solidFill>
                <a:latin typeface="Calibri" pitchFamily="34" charset="0"/>
                <a:ea typeface="Calibri" pitchFamily="34" charset="-122"/>
                <a:cs typeface="Calibri" pitchFamily="34" charset="-120"/>
              </a:rPr>
              <a:t>Record checkouts, at most one open per item</a:t>
            </a:r>
            <a:endParaRPr lang="en-US" sz="1600" dirty="0"/>
          </a:p>
        </p:txBody>
      </p:sp>
      <p:sp>
        <p:nvSpPr>
          <p:cNvPr id="21" name="Text 19"/>
          <p:cNvSpPr/>
          <p:nvPr/>
        </p:nvSpPr>
        <p:spPr>
          <a:xfrm>
            <a:off x="7315200" y="3127248"/>
            <a:ext cx="1005840" cy="475488"/>
          </a:xfrm>
          <a:prstGeom prst="rect">
            <a:avLst/>
          </a:prstGeom>
          <a:noFill/>
          <a:ln/>
        </p:spPr>
        <p:txBody>
          <a:bodyPr wrap="square" lIns="0" tIns="0" rIns="0" bIns="0" rtlCol="0" anchor="ctr"/>
          <a:lstStyle/>
          <a:p>
            <a:pPr algn="ctr" indent="0" marL="0">
              <a:buNone/>
            </a:pPr>
            <a:r>
              <a:rPr lang="en-US" sz="1800" b="1" dirty="0">
                <a:solidFill>
                  <a:srgbClr val="0E6E6D"/>
                </a:solidFill>
                <a:latin typeface="Cambria" pitchFamily="34" charset="0"/>
                <a:ea typeface="Cambria" pitchFamily="34" charset="-122"/>
                <a:cs typeface="Cambria" pitchFamily="34" charset="-120"/>
              </a:rPr>
              <a:t>M</a:t>
            </a:r>
            <a:endParaRPr lang="en-US" sz="1800" dirty="0"/>
          </a:p>
        </p:txBody>
      </p:sp>
      <p:sp>
        <p:nvSpPr>
          <p:cNvPr id="22" name="Text 20"/>
          <p:cNvSpPr/>
          <p:nvPr/>
        </p:nvSpPr>
        <p:spPr>
          <a:xfrm>
            <a:off x="8412480" y="3127248"/>
            <a:ext cx="1097280" cy="475488"/>
          </a:xfrm>
          <a:prstGeom prst="rect">
            <a:avLst/>
          </a:prstGeom>
          <a:noFill/>
          <a:ln/>
        </p:spPr>
        <p:txBody>
          <a:bodyPr wrap="square" lIns="0" tIns="0" rIns="0" bIns="0" rtlCol="0" anchor="ctr"/>
          <a:lstStyle/>
          <a:p>
            <a:pPr algn="ctr" indent="0" marL="0">
              <a:buNone/>
            </a:pPr>
            <a:r>
              <a:rPr lang="en-US" sz="1700" dirty="0">
                <a:solidFill>
                  <a:srgbClr val="1E2A36"/>
                </a:solidFill>
                <a:latin typeface="Calibri" pitchFamily="34" charset="0"/>
                <a:ea typeface="Calibri" pitchFamily="34" charset="-122"/>
                <a:cs typeface="Calibri" pitchFamily="34" charset="-120"/>
              </a:rPr>
              <a:t>4</a:t>
            </a:r>
            <a:endParaRPr lang="en-US" sz="1700" dirty="0"/>
          </a:p>
        </p:txBody>
      </p:sp>
      <p:sp>
        <p:nvSpPr>
          <p:cNvPr id="23" name="Text 21"/>
          <p:cNvSpPr/>
          <p:nvPr/>
        </p:nvSpPr>
        <p:spPr>
          <a:xfrm>
            <a:off x="9509760" y="3127248"/>
            <a:ext cx="2011680" cy="475488"/>
          </a:xfrm>
          <a:prstGeom prst="rect">
            <a:avLst/>
          </a:prstGeom>
          <a:noFill/>
          <a:ln/>
        </p:spPr>
        <p:txBody>
          <a:bodyPr wrap="square" lIns="0" tIns="0" rIns="0" bIns="0" rtlCol="0" anchor="ctr"/>
          <a:lstStyle/>
          <a:p>
            <a:pPr algn="ctr" indent="0" marL="0">
              <a:buNone/>
            </a:pPr>
            <a:r>
              <a:rPr lang="en-US" sz="1500" b="1" dirty="0">
                <a:solidFill>
                  <a:srgbClr val="3E9C6B"/>
                </a:solidFill>
                <a:latin typeface="Calibri" pitchFamily="34" charset="0"/>
                <a:ea typeface="Calibri" pitchFamily="34" charset="-122"/>
                <a:cs typeface="Calibri" pitchFamily="34" charset="-120"/>
              </a:rPr>
              <a:t>yes</a:t>
            </a:r>
            <a:endParaRPr lang="en-US" sz="1500" dirty="0"/>
          </a:p>
        </p:txBody>
      </p:sp>
      <p:sp>
        <p:nvSpPr>
          <p:cNvPr id="24" name="Shape 22"/>
          <p:cNvSpPr/>
          <p:nvPr/>
        </p:nvSpPr>
        <p:spPr>
          <a:xfrm>
            <a:off x="548640" y="3675888"/>
            <a:ext cx="11064240" cy="475488"/>
          </a:xfrm>
          <a:prstGeom prst="roundRect">
            <a:avLst>
              <a:gd name="adj" fmla="val 17308"/>
            </a:avLst>
          </a:prstGeom>
          <a:solidFill>
            <a:srgbClr val="F2F6F8"/>
          </a:solidFill>
          <a:ln/>
          <a:effectLst>
            <a:outerShdw sx="100000" sy="100000" kx="0" ky="0" algn="bl" rotWithShape="0" blurRad="88900" dist="38100" dir="5400000">
              <a:srgbClr val="000000">
                <a:alpha val="13000"/>
              </a:srgbClr>
            </a:outerShdw>
          </a:effectLst>
        </p:spPr>
      </p:sp>
      <p:sp>
        <p:nvSpPr>
          <p:cNvPr id="25" name="Text 23"/>
          <p:cNvSpPr/>
          <p:nvPr/>
        </p:nvSpPr>
        <p:spPr>
          <a:xfrm>
            <a:off x="777240" y="3675888"/>
            <a:ext cx="6400800" cy="475488"/>
          </a:xfrm>
          <a:prstGeom prst="rect">
            <a:avLst/>
          </a:prstGeom>
          <a:noFill/>
          <a:ln/>
        </p:spPr>
        <p:txBody>
          <a:bodyPr wrap="square" lIns="0" tIns="0" rIns="0" bIns="0" rtlCol="0" anchor="ctr"/>
          <a:lstStyle/>
          <a:p>
            <a:pPr indent="0" marL="0">
              <a:buNone/>
            </a:pPr>
            <a:r>
              <a:rPr lang="en-US" sz="1600" b="1" dirty="0">
                <a:solidFill>
                  <a:srgbClr val="1E2A36"/>
                </a:solidFill>
                <a:latin typeface="Calibri" pitchFamily="34" charset="0"/>
                <a:ea typeface="Calibri" pitchFamily="34" charset="-122"/>
                <a:cs typeface="Calibri" pitchFamily="34" charset="-120"/>
              </a:rPr>
              <a:t>Show who has an item and when it's due back</a:t>
            </a:r>
            <a:endParaRPr lang="en-US" sz="1600" dirty="0"/>
          </a:p>
        </p:txBody>
      </p:sp>
      <p:sp>
        <p:nvSpPr>
          <p:cNvPr id="26" name="Text 24"/>
          <p:cNvSpPr/>
          <p:nvPr/>
        </p:nvSpPr>
        <p:spPr>
          <a:xfrm>
            <a:off x="7315200" y="3675888"/>
            <a:ext cx="1005840" cy="475488"/>
          </a:xfrm>
          <a:prstGeom prst="rect">
            <a:avLst/>
          </a:prstGeom>
          <a:noFill/>
          <a:ln/>
        </p:spPr>
        <p:txBody>
          <a:bodyPr wrap="square" lIns="0" tIns="0" rIns="0" bIns="0" rtlCol="0" anchor="ctr"/>
          <a:lstStyle/>
          <a:p>
            <a:pPr algn="ctr" indent="0" marL="0">
              <a:buNone/>
            </a:pPr>
            <a:r>
              <a:rPr lang="en-US" sz="1800" b="1" dirty="0">
                <a:solidFill>
                  <a:srgbClr val="0E6E6D"/>
                </a:solidFill>
                <a:latin typeface="Cambria" pitchFamily="34" charset="0"/>
                <a:ea typeface="Cambria" pitchFamily="34" charset="-122"/>
                <a:cs typeface="Cambria" pitchFamily="34" charset="-120"/>
              </a:rPr>
              <a:t>S</a:t>
            </a:r>
            <a:endParaRPr lang="en-US" sz="1800" dirty="0"/>
          </a:p>
        </p:txBody>
      </p:sp>
      <p:sp>
        <p:nvSpPr>
          <p:cNvPr id="27" name="Text 25"/>
          <p:cNvSpPr/>
          <p:nvPr/>
        </p:nvSpPr>
        <p:spPr>
          <a:xfrm>
            <a:off x="8412480" y="3675888"/>
            <a:ext cx="1097280" cy="475488"/>
          </a:xfrm>
          <a:prstGeom prst="rect">
            <a:avLst/>
          </a:prstGeom>
          <a:noFill/>
          <a:ln/>
        </p:spPr>
        <p:txBody>
          <a:bodyPr wrap="square" lIns="0" tIns="0" rIns="0" bIns="0" rtlCol="0" anchor="ctr"/>
          <a:lstStyle/>
          <a:p>
            <a:pPr algn="ctr" indent="0" marL="0">
              <a:buNone/>
            </a:pPr>
            <a:r>
              <a:rPr lang="en-US" sz="1700" dirty="0">
                <a:solidFill>
                  <a:srgbClr val="1E2A36"/>
                </a:solidFill>
                <a:latin typeface="Calibri" pitchFamily="34" charset="0"/>
                <a:ea typeface="Calibri" pitchFamily="34" charset="-122"/>
                <a:cs typeface="Calibri" pitchFamily="34" charset="-120"/>
              </a:rPr>
              <a:t>2</a:t>
            </a:r>
            <a:endParaRPr lang="en-US" sz="1700" dirty="0"/>
          </a:p>
        </p:txBody>
      </p:sp>
      <p:sp>
        <p:nvSpPr>
          <p:cNvPr id="28" name="Text 26"/>
          <p:cNvSpPr/>
          <p:nvPr/>
        </p:nvSpPr>
        <p:spPr>
          <a:xfrm>
            <a:off x="9509760" y="3675888"/>
            <a:ext cx="2011680" cy="475488"/>
          </a:xfrm>
          <a:prstGeom prst="rect">
            <a:avLst/>
          </a:prstGeom>
          <a:noFill/>
          <a:ln/>
        </p:spPr>
        <p:txBody>
          <a:bodyPr wrap="square" lIns="0" tIns="0" rIns="0" bIns="0" rtlCol="0" anchor="ctr"/>
          <a:lstStyle/>
          <a:p>
            <a:pPr algn="ctr" indent="0" marL="0">
              <a:buNone/>
            </a:pPr>
            <a:r>
              <a:rPr lang="en-US" sz="1500" b="1" dirty="0">
                <a:solidFill>
                  <a:srgbClr val="3E9C6B"/>
                </a:solidFill>
                <a:latin typeface="Calibri" pitchFamily="34" charset="0"/>
                <a:ea typeface="Calibri" pitchFamily="34" charset="-122"/>
                <a:cs typeface="Calibri" pitchFamily="34" charset="-120"/>
              </a:rPr>
              <a:t>yes</a:t>
            </a:r>
            <a:endParaRPr lang="en-US" sz="1500" dirty="0"/>
          </a:p>
        </p:txBody>
      </p:sp>
      <p:sp>
        <p:nvSpPr>
          <p:cNvPr id="29" name="Shape 27"/>
          <p:cNvSpPr/>
          <p:nvPr/>
        </p:nvSpPr>
        <p:spPr>
          <a:xfrm>
            <a:off x="548640" y="4224528"/>
            <a:ext cx="11064240" cy="475488"/>
          </a:xfrm>
          <a:prstGeom prst="roundRect">
            <a:avLst>
              <a:gd name="adj" fmla="val 17308"/>
            </a:avLst>
          </a:prstGeom>
          <a:solidFill>
            <a:srgbClr val="F2F6F8"/>
          </a:solidFill>
          <a:ln/>
          <a:effectLst>
            <a:outerShdw sx="100000" sy="100000" kx="0" ky="0" algn="bl" rotWithShape="0" blurRad="88900" dist="38100" dir="5400000">
              <a:srgbClr val="000000">
                <a:alpha val="13000"/>
              </a:srgbClr>
            </a:outerShdw>
          </a:effectLst>
        </p:spPr>
      </p:sp>
      <p:sp>
        <p:nvSpPr>
          <p:cNvPr id="30" name="Text 28"/>
          <p:cNvSpPr/>
          <p:nvPr/>
        </p:nvSpPr>
        <p:spPr>
          <a:xfrm>
            <a:off x="777240" y="4224528"/>
            <a:ext cx="6400800" cy="475488"/>
          </a:xfrm>
          <a:prstGeom prst="rect">
            <a:avLst/>
          </a:prstGeom>
          <a:noFill/>
          <a:ln/>
        </p:spPr>
        <p:txBody>
          <a:bodyPr wrap="square" lIns="0" tIns="0" rIns="0" bIns="0" rtlCol="0" anchor="ctr"/>
          <a:lstStyle/>
          <a:p>
            <a:pPr indent="0" marL="0">
              <a:buNone/>
            </a:pPr>
            <a:r>
              <a:rPr lang="en-US" sz="1600" b="1" dirty="0">
                <a:solidFill>
                  <a:srgbClr val="1E2A36"/>
                </a:solidFill>
                <a:latin typeface="Calibri" pitchFamily="34" charset="0"/>
                <a:ea typeface="Calibri" pitchFamily="34" charset="-122"/>
                <a:cs typeface="Calibri" pitchFamily="34" charset="-120"/>
              </a:rPr>
              <a:t>Check an item out from its page (HTMX)</a:t>
            </a:r>
            <a:endParaRPr lang="en-US" sz="1600" dirty="0"/>
          </a:p>
        </p:txBody>
      </p:sp>
      <p:sp>
        <p:nvSpPr>
          <p:cNvPr id="31" name="Text 29"/>
          <p:cNvSpPr/>
          <p:nvPr/>
        </p:nvSpPr>
        <p:spPr>
          <a:xfrm>
            <a:off x="7315200" y="4224528"/>
            <a:ext cx="1005840" cy="475488"/>
          </a:xfrm>
          <a:prstGeom prst="rect">
            <a:avLst/>
          </a:prstGeom>
          <a:noFill/>
          <a:ln/>
        </p:spPr>
        <p:txBody>
          <a:bodyPr wrap="square" lIns="0" tIns="0" rIns="0" bIns="0" rtlCol="0" anchor="ctr"/>
          <a:lstStyle/>
          <a:p>
            <a:pPr algn="ctr" indent="0" marL="0">
              <a:buNone/>
            </a:pPr>
            <a:r>
              <a:rPr lang="en-US" sz="1800" b="1" dirty="0">
                <a:solidFill>
                  <a:srgbClr val="D9614C"/>
                </a:solidFill>
                <a:latin typeface="Cambria" pitchFamily="34" charset="0"/>
                <a:ea typeface="Cambria" pitchFamily="34" charset="-122"/>
                <a:cs typeface="Cambria" pitchFamily="34" charset="-120"/>
              </a:rPr>
              <a:t>L</a:t>
            </a:r>
            <a:endParaRPr lang="en-US" sz="1800" dirty="0"/>
          </a:p>
        </p:txBody>
      </p:sp>
      <p:sp>
        <p:nvSpPr>
          <p:cNvPr id="32" name="Text 30"/>
          <p:cNvSpPr/>
          <p:nvPr/>
        </p:nvSpPr>
        <p:spPr>
          <a:xfrm>
            <a:off x="8412480" y="4224528"/>
            <a:ext cx="1097280" cy="475488"/>
          </a:xfrm>
          <a:prstGeom prst="rect">
            <a:avLst/>
          </a:prstGeom>
          <a:noFill/>
          <a:ln/>
        </p:spPr>
        <p:txBody>
          <a:bodyPr wrap="square" lIns="0" tIns="0" rIns="0" bIns="0" rtlCol="0" anchor="ctr"/>
          <a:lstStyle/>
          <a:p>
            <a:pPr algn="ctr" indent="0" marL="0">
              <a:buNone/>
            </a:pPr>
            <a:r>
              <a:rPr lang="en-US" sz="1700" dirty="0">
                <a:solidFill>
                  <a:srgbClr val="1E2A36"/>
                </a:solidFill>
                <a:latin typeface="Calibri" pitchFamily="34" charset="0"/>
                <a:ea typeface="Calibri" pitchFamily="34" charset="-122"/>
                <a:cs typeface="Calibri" pitchFamily="34" charset="-120"/>
              </a:rPr>
              <a:t>7</a:t>
            </a:r>
            <a:endParaRPr lang="en-US" sz="1700" dirty="0"/>
          </a:p>
        </p:txBody>
      </p:sp>
      <p:sp>
        <p:nvSpPr>
          <p:cNvPr id="33" name="Text 31"/>
          <p:cNvSpPr/>
          <p:nvPr/>
        </p:nvSpPr>
        <p:spPr>
          <a:xfrm>
            <a:off x="9509760" y="4224528"/>
            <a:ext cx="2011680" cy="475488"/>
          </a:xfrm>
          <a:prstGeom prst="rect">
            <a:avLst/>
          </a:prstGeom>
          <a:noFill/>
          <a:ln/>
        </p:spPr>
        <p:txBody>
          <a:bodyPr wrap="square" lIns="0" tIns="0" rIns="0" bIns="0" rtlCol="0" anchor="ctr"/>
          <a:lstStyle/>
          <a:p>
            <a:pPr algn="ctr" indent="0" marL="0">
              <a:buNone/>
            </a:pPr>
            <a:r>
              <a:rPr lang="en-US" sz="1500" b="1" dirty="0">
                <a:solidFill>
                  <a:srgbClr val="3E9C6B"/>
                </a:solidFill>
                <a:latin typeface="Calibri" pitchFamily="34" charset="0"/>
                <a:ea typeface="Calibri" pitchFamily="34" charset="-122"/>
                <a:cs typeface="Calibri" pitchFamily="34" charset="-120"/>
              </a:rPr>
              <a:t>yes</a:t>
            </a:r>
            <a:endParaRPr lang="en-US" sz="1500" dirty="0"/>
          </a:p>
        </p:txBody>
      </p:sp>
      <p:sp>
        <p:nvSpPr>
          <p:cNvPr id="34" name="Shape 32"/>
          <p:cNvSpPr/>
          <p:nvPr/>
        </p:nvSpPr>
        <p:spPr>
          <a:xfrm>
            <a:off x="548640" y="4773168"/>
            <a:ext cx="11064240" cy="475488"/>
          </a:xfrm>
          <a:prstGeom prst="roundRect">
            <a:avLst>
              <a:gd name="adj" fmla="val 17308"/>
            </a:avLst>
          </a:prstGeom>
          <a:solidFill>
            <a:srgbClr val="F2F6F8"/>
          </a:solidFill>
          <a:ln/>
          <a:effectLst>
            <a:outerShdw sx="100000" sy="100000" kx="0" ky="0" algn="bl" rotWithShape="0" blurRad="88900" dist="38100" dir="5400000">
              <a:srgbClr val="000000">
                <a:alpha val="13000"/>
              </a:srgbClr>
            </a:outerShdw>
          </a:effectLst>
        </p:spPr>
      </p:sp>
      <p:sp>
        <p:nvSpPr>
          <p:cNvPr id="35" name="Text 33"/>
          <p:cNvSpPr/>
          <p:nvPr/>
        </p:nvSpPr>
        <p:spPr>
          <a:xfrm>
            <a:off x="777240" y="4773168"/>
            <a:ext cx="6400800" cy="475488"/>
          </a:xfrm>
          <a:prstGeom prst="rect">
            <a:avLst/>
          </a:prstGeom>
          <a:noFill/>
          <a:ln/>
        </p:spPr>
        <p:txBody>
          <a:bodyPr wrap="square" lIns="0" tIns="0" rIns="0" bIns="0" rtlCol="0" anchor="ctr"/>
          <a:lstStyle/>
          <a:p>
            <a:pPr indent="0" marL="0">
              <a:buNone/>
            </a:pPr>
            <a:r>
              <a:rPr lang="en-US" sz="1600" b="1" dirty="0">
                <a:solidFill>
                  <a:srgbClr val="1E2A36"/>
                </a:solidFill>
                <a:latin typeface="Calibri" pitchFamily="34" charset="0"/>
                <a:ea typeface="Calibri" pitchFamily="34" charset="-122"/>
                <a:cs typeface="Calibri" pitchFamily="34" charset="-120"/>
              </a:rPr>
              <a:t>Write a setup guide a newcomer can follow cold</a:t>
            </a:r>
            <a:endParaRPr lang="en-US" sz="1600" dirty="0"/>
          </a:p>
        </p:txBody>
      </p:sp>
      <p:sp>
        <p:nvSpPr>
          <p:cNvPr id="36" name="Text 34"/>
          <p:cNvSpPr/>
          <p:nvPr/>
        </p:nvSpPr>
        <p:spPr>
          <a:xfrm>
            <a:off x="7315200" y="4773168"/>
            <a:ext cx="1005840" cy="475488"/>
          </a:xfrm>
          <a:prstGeom prst="rect">
            <a:avLst/>
          </a:prstGeom>
          <a:noFill/>
          <a:ln/>
        </p:spPr>
        <p:txBody>
          <a:bodyPr wrap="square" lIns="0" tIns="0" rIns="0" bIns="0" rtlCol="0" anchor="ctr"/>
          <a:lstStyle/>
          <a:p>
            <a:pPr algn="ctr" indent="0" marL="0">
              <a:buNone/>
            </a:pPr>
            <a:r>
              <a:rPr lang="en-US" sz="1800" b="1" dirty="0">
                <a:solidFill>
                  <a:srgbClr val="0E6E6D"/>
                </a:solidFill>
                <a:latin typeface="Cambria" pitchFamily="34" charset="0"/>
                <a:ea typeface="Cambria" pitchFamily="34" charset="-122"/>
                <a:cs typeface="Cambria" pitchFamily="34" charset="-120"/>
              </a:rPr>
              <a:t>M</a:t>
            </a:r>
            <a:endParaRPr lang="en-US" sz="1800" dirty="0"/>
          </a:p>
        </p:txBody>
      </p:sp>
      <p:sp>
        <p:nvSpPr>
          <p:cNvPr id="37" name="Text 35"/>
          <p:cNvSpPr/>
          <p:nvPr/>
        </p:nvSpPr>
        <p:spPr>
          <a:xfrm>
            <a:off x="8412480" y="4773168"/>
            <a:ext cx="1097280" cy="475488"/>
          </a:xfrm>
          <a:prstGeom prst="rect">
            <a:avLst/>
          </a:prstGeom>
          <a:noFill/>
          <a:ln/>
        </p:spPr>
        <p:txBody>
          <a:bodyPr wrap="square" lIns="0" tIns="0" rIns="0" bIns="0" rtlCol="0" anchor="ctr"/>
          <a:lstStyle/>
          <a:p>
            <a:pPr algn="ctr" indent="0" marL="0">
              <a:buNone/>
            </a:pPr>
            <a:r>
              <a:rPr lang="en-US" sz="1700" dirty="0">
                <a:solidFill>
                  <a:srgbClr val="1E2A36"/>
                </a:solidFill>
                <a:latin typeface="Calibri" pitchFamily="34" charset="0"/>
                <a:ea typeface="Calibri" pitchFamily="34" charset="-122"/>
                <a:cs typeface="Calibri" pitchFamily="34" charset="-120"/>
              </a:rPr>
              <a:t>4</a:t>
            </a:r>
            <a:endParaRPr lang="en-US" sz="1700" dirty="0"/>
          </a:p>
        </p:txBody>
      </p:sp>
      <p:sp>
        <p:nvSpPr>
          <p:cNvPr id="38" name="Text 36"/>
          <p:cNvSpPr/>
          <p:nvPr/>
        </p:nvSpPr>
        <p:spPr>
          <a:xfrm>
            <a:off x="9509760" y="4773168"/>
            <a:ext cx="2011680" cy="475488"/>
          </a:xfrm>
          <a:prstGeom prst="rect">
            <a:avLst/>
          </a:prstGeom>
          <a:noFill/>
          <a:ln/>
        </p:spPr>
        <p:txBody>
          <a:bodyPr wrap="square" lIns="0" tIns="0" rIns="0" bIns="0" rtlCol="0" anchor="ctr"/>
          <a:lstStyle/>
          <a:p>
            <a:pPr algn="ctr" indent="0" marL="0">
              <a:buNone/>
            </a:pPr>
            <a:r>
              <a:rPr lang="en-US" sz="1500" dirty="0">
                <a:solidFill>
                  <a:srgbClr val="5F7284"/>
                </a:solidFill>
                <a:latin typeface="Calibri" pitchFamily="34" charset="0"/>
                <a:ea typeface="Calibri" pitchFamily="34" charset="-122"/>
                <a:cs typeface="Calibri" pitchFamily="34" charset="-120"/>
              </a:rPr>
              <a:t>no, but kept</a:t>
            </a:r>
            <a:endParaRPr lang="en-US" sz="1500" dirty="0"/>
          </a:p>
        </p:txBody>
      </p:sp>
      <p:sp>
        <p:nvSpPr>
          <p:cNvPr id="39" name="click-1"/>
          <p:cNvSpPr/>
          <p:nvPr/>
        </p:nvSpPr>
        <p:spPr>
          <a:xfrm>
            <a:off x="548640" y="5440680"/>
            <a:ext cx="11064240" cy="777240"/>
          </a:xfrm>
          <a:prstGeom prst="roundRect">
            <a:avLst>
              <a:gd name="adj" fmla="val 10588"/>
            </a:avLst>
          </a:prstGeom>
          <a:solidFill>
            <a:srgbClr val="14233A"/>
          </a:solidFill>
          <a:ln/>
          <a:effectLst>
            <a:outerShdw sx="100000" sy="100000" kx="0" ky="0" algn="bl" rotWithShape="0" blurRad="88900" dist="38100" dir="5400000">
              <a:srgbClr val="000000">
                <a:alpha val="13000"/>
              </a:srgbClr>
            </a:outerShdw>
          </a:effectLst>
        </p:spPr>
      </p:sp>
      <p:sp>
        <p:nvSpPr>
          <p:cNvPr id="40" name="click-1"/>
          <p:cNvSpPr/>
          <p:nvPr/>
        </p:nvSpPr>
        <p:spPr>
          <a:xfrm>
            <a:off x="868680" y="5440680"/>
            <a:ext cx="10424160" cy="777240"/>
          </a:xfrm>
          <a:prstGeom prst="rect">
            <a:avLst/>
          </a:prstGeom>
          <a:noFill/>
          <a:ln/>
        </p:spPr>
        <p:txBody>
          <a:bodyPr wrap="square" lIns="0" tIns="0" rIns="0" bIns="0" rtlCol="0" anchor="ctr"/>
          <a:lstStyle/>
          <a:p>
            <a:pPr indent="0" marL="0">
              <a:buNone/>
            </a:pPr>
            <a:r>
              <a:rPr lang="en-US" sz="2100" b="1" dirty="0">
                <a:solidFill>
                  <a:srgbClr val="E8A33D"/>
                </a:solidFill>
                <a:latin typeface="Calibri" pitchFamily="34" charset="0"/>
                <a:ea typeface="Calibri" pitchFamily="34" charset="-122"/>
                <a:cs typeface="Calibri" pitchFamily="34" charset="-120"/>
              </a:rPr>
              <a:t>21 hours against 20.  </a:t>
            </a:r>
            <a:pPr indent="0" marL="0">
              <a:buNone/>
            </a:pPr>
            <a:r>
              <a:rPr lang="en-US" sz="2100" dirty="0">
                <a:solidFill>
                  <a:srgbClr val="FFFFFF"/>
                </a:solidFill>
                <a:latin typeface="Calibri" pitchFamily="34" charset="0"/>
                <a:ea typeface="Calibri" pitchFamily="34" charset="-122"/>
                <a:cs typeface="Calibri" pitchFamily="34" charset="-120"/>
              </a:rPr>
              <a:t>Does it fit?</a:t>
            </a:r>
            <a:endParaRPr lang="en-US" sz="2100" dirty="0"/>
          </a:p>
        </p:txBody>
      </p:sp>
      <p:sp>
        <p:nvSpPr>
          <p:cNvPr id="41" name="Text 39"/>
          <p:cNvSpPr/>
          <p:nvPr/>
        </p:nvSpPr>
        <p:spPr>
          <a:xfrm>
            <a:off x="6217920" y="6437376"/>
            <a:ext cx="53949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18 · Estimation &amp; the Vertical Slice</a:t>
            </a:r>
            <a:endParaRPr lang="en-US" sz="1000" dirty="0"/>
          </a:p>
        </p:txBody>
      </p:sp>
      <p:sp>
        <p:nvSpPr>
          <p:cNvPr id="42" name="Text 40"/>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11</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 presetClass="entr" presetSubtype="0" fill="hold" grpId="0" nodeType="clickEffect">
                                  <p:stCondLst>
                                    <p:cond delay="0"/>
                                  </p:stCondLst>
                                  <p:childTnLst>
                                    <p:set>
                                      <p:cBhvr>
                                        <p:cTn id="5" dur="1" fill="hold">
                                          <p:stCondLst>
                                            <p:cond delay="0"/>
                                          </p:stCondLst>
                                        </p:cTn>
                                        <p:tgtEl>
                                          <p:spTgt spid="39"/>
                                        </p:tgtEl>
                                        <p:attrNameLst>
                                          <p:attrName>style.visibility</p:attrName>
                                        </p:attrNameLst>
                                      </p:cBhvr>
                                      <p:to>
                                        <p:strVal val="visible"/>
                                      </p:to>
                                    </p:set>
                                  </p:childTnLst>
                                </p:cTn>
                              </p:par>
                              <p:par>
                                <p:cTn id="8" presetID="1" presetClass="entr" presetSubtype="0" fill="hold" grpId="0" nodeType="withEffect">
                                  <p:stCondLst>
                                    <p:cond delay="0"/>
                                  </p:stCondLst>
                                  <p:childTnLst>
                                    <p:set>
                                      <p:cBhvr>
                                        <p:cTn id="7"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P spid="4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FITS ON PAPER MEANS IT DOESN'T</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Prop Loft's cut, and its next one</a:t>
            </a:r>
            <a:endParaRPr lang="en-US" sz="3100" dirty="0"/>
          </a:p>
        </p:txBody>
      </p:sp>
      <p:sp>
        <p:nvSpPr>
          <p:cNvPr id="5" name="Shape 3"/>
          <p:cNvSpPr/>
          <p:nvPr/>
        </p:nvSpPr>
        <p:spPr>
          <a:xfrm>
            <a:off x="548640" y="1783080"/>
            <a:ext cx="3474720" cy="2926080"/>
          </a:xfrm>
          <a:prstGeom prst="roundRect">
            <a:avLst>
              <a:gd name="adj" fmla="val 2813"/>
            </a:avLst>
          </a:prstGeom>
          <a:solidFill>
            <a:srgbClr val="FBECE8"/>
          </a:solidFill>
          <a:ln/>
          <a:effectLst>
            <a:outerShdw sx="100000" sy="100000" kx="0" ky="0" algn="bl" rotWithShape="0" blurRad="88900" dist="38100" dir="5400000">
              <a:srgbClr val="000000">
                <a:alpha val="13000"/>
              </a:srgbClr>
            </a:outerShdw>
          </a:effectLst>
        </p:spPr>
      </p:sp>
      <p:sp>
        <p:nvSpPr>
          <p:cNvPr id="6" name="Text 4"/>
          <p:cNvSpPr/>
          <p:nvPr/>
        </p:nvSpPr>
        <p:spPr>
          <a:xfrm>
            <a:off x="822960" y="1783080"/>
            <a:ext cx="2926080" cy="2926080"/>
          </a:xfrm>
          <a:prstGeom prst="rect">
            <a:avLst/>
          </a:prstGeom>
          <a:noFill/>
          <a:ln/>
        </p:spPr>
        <p:txBody>
          <a:bodyPr wrap="square" lIns="0" tIns="0" rIns="0" bIns="0" rtlCol="0" anchor="ctr"/>
          <a:lstStyle/>
          <a:p>
            <a:pPr indent="0" marL="0">
              <a:lnSpc>
                <a:spcPct val="105000"/>
              </a:lnSpc>
              <a:buNone/>
            </a:pPr>
            <a:r>
              <a:rPr lang="en-US" sz="3200" b="1" dirty="0">
                <a:solidFill>
                  <a:srgbClr val="D9614C"/>
                </a:solidFill>
                <a:latin typeface="Cambria" pitchFamily="34" charset="0"/>
                <a:ea typeface="Cambria" pitchFamily="34" charset="-122"/>
                <a:cs typeface="Cambria" pitchFamily="34" charset="-120"/>
              </a:rPr>
              <a:t>21 of 20</a:t>
            </a:r>
            <a:endParaRPr lang="en-US" sz="3200" dirty="0"/>
          </a:p>
          <a:p>
            <a:pPr indent="0" marL="0">
              <a:lnSpc>
                <a:spcPct val="105000"/>
              </a:lnSpc>
              <a:buNone/>
            </a:pPr>
            <a:r>
              <a:rPr lang="en-US" sz="1600" dirty="0">
                <a:solidFill>
                  <a:srgbClr val="1E2A36"/>
                </a:solidFill>
                <a:latin typeface="Calibri" pitchFamily="34" charset="0"/>
                <a:ea typeface="Calibri" pitchFamily="34" charset="-122"/>
                <a:cs typeface="Calibri" pitchFamily="34" charset="-120"/>
              </a:rPr>
              <a:t>And the written self-review every pull request gets isn't counted yet.</a:t>
            </a:r>
            <a:endParaRPr lang="en-US" sz="3200" dirty="0"/>
          </a:p>
          <a:p>
            <a:pPr indent="0" marL="0">
              <a:lnSpc>
                <a:spcPct val="105000"/>
              </a:lnSpc>
              <a:buNone/>
            </a:pPr>
            <a:r>
              <a:rPr lang="en-US" sz="800" dirty="0">
                <a:solidFill>
                  <a:srgbClr val="000000"/>
                </a:solidFill>
                <a:latin typeface="Calibri" pitchFamily="34" charset="0"/>
                <a:ea typeface="Calibri" pitchFamily="34" charset="-122"/>
                <a:cs typeface="Calibri" pitchFamily="34" charset="-120"/>
              </a:rPr>
              <a:t> </a:t>
            </a:r>
            <a:endParaRPr lang="en-US" sz="3200" dirty="0"/>
          </a:p>
          <a:p>
            <a:pPr indent="0" marL="0">
              <a:lnSpc>
                <a:spcPct val="105000"/>
              </a:lnSpc>
              <a:buNone/>
            </a:pPr>
            <a:r>
              <a:rPr lang="en-US" sz="1600" b="1" dirty="0">
                <a:solidFill>
                  <a:srgbClr val="1E2A36"/>
                </a:solidFill>
                <a:latin typeface="Calibri" pitchFamily="34" charset="0"/>
                <a:ea typeface="Calibri" pitchFamily="34" charset="-122"/>
                <a:cs typeface="Calibri" pitchFamily="34" charset="-120"/>
              </a:rPr>
              <a:t>Why not cut the setup guide? </a:t>
            </a:r>
            <a:pPr indent="0" marL="0">
              <a:lnSpc>
                <a:spcPct val="105000"/>
              </a:lnSpc>
              <a:buNone/>
            </a:pPr>
            <a:r>
              <a:rPr lang="en-US" sz="1600" dirty="0">
                <a:solidFill>
                  <a:srgbClr val="1E2A36"/>
                </a:solidFill>
                <a:latin typeface="Calibri" pitchFamily="34" charset="0"/>
                <a:ea typeface="Calibri" pitchFamily="34" charset="-122"/>
                <a:cs typeface="Calibri" pitchFamily="34" charset="-120"/>
              </a:rPr>
              <a:t>Its cold reader has a calendar, and contributors need it before the demo.</a:t>
            </a:r>
            <a:endParaRPr lang="en-US" sz="3200" dirty="0"/>
          </a:p>
        </p:txBody>
      </p:sp>
      <p:sp>
        <p:nvSpPr>
          <p:cNvPr id="7" name="click-1"/>
          <p:cNvSpPr/>
          <p:nvPr/>
        </p:nvSpPr>
        <p:spPr>
          <a:xfrm>
            <a:off x="4251960" y="1783080"/>
            <a:ext cx="3657600" cy="2926080"/>
          </a:xfrm>
          <a:prstGeom prst="roundRect">
            <a:avLst>
              <a:gd name="adj" fmla="val 2813"/>
            </a:avLst>
          </a:prstGeom>
          <a:solidFill>
            <a:srgbClr val="EAF4EE"/>
          </a:solidFill>
          <a:ln/>
          <a:effectLst>
            <a:outerShdw sx="100000" sy="100000" kx="0" ky="0" algn="bl" rotWithShape="0" blurRad="88900" dist="38100" dir="5400000">
              <a:srgbClr val="000000">
                <a:alpha val="13000"/>
              </a:srgbClr>
            </a:outerShdw>
          </a:effectLst>
        </p:spPr>
      </p:sp>
      <p:sp>
        <p:nvSpPr>
          <p:cNvPr id="8" name="click-1"/>
          <p:cNvSpPr/>
          <p:nvPr/>
        </p:nvSpPr>
        <p:spPr>
          <a:xfrm>
            <a:off x="4526280" y="1783080"/>
            <a:ext cx="3154680" cy="2926080"/>
          </a:xfrm>
          <a:prstGeom prst="rect">
            <a:avLst/>
          </a:prstGeom>
          <a:noFill/>
          <a:ln/>
        </p:spPr>
        <p:txBody>
          <a:bodyPr wrap="square" lIns="0" tIns="0" rIns="0" bIns="0" rtlCol="0" anchor="ctr"/>
          <a:lstStyle/>
          <a:p>
            <a:pPr indent="0" marL="0">
              <a:lnSpc>
                <a:spcPct val="105000"/>
              </a:lnSpc>
              <a:buNone/>
            </a:pPr>
            <a:r>
              <a:rPr lang="en-US" sz="1800" b="1" dirty="0">
                <a:solidFill>
                  <a:srgbClr val="3E9C6B"/>
                </a:solidFill>
                <a:latin typeface="Calibri" pitchFamily="34" charset="0"/>
                <a:ea typeface="Calibri" pitchFamily="34" charset="-122"/>
                <a:cs typeface="Calibri" pitchFamily="34" charset="-120"/>
              </a:rPr>
              <a:t>The cut: take the fallback</a:t>
            </a:r>
            <a:endParaRPr lang="en-US" sz="1800" dirty="0"/>
          </a:p>
          <a:p>
            <a:pPr indent="0" marL="0">
              <a:lnSpc>
                <a:spcPct val="105000"/>
              </a:lnSpc>
              <a:buNone/>
            </a:pPr>
            <a:r>
              <a:rPr lang="en-US" sz="1600" dirty="0">
                <a:solidFill>
                  <a:srgbClr val="1E2A36"/>
                </a:solidFill>
                <a:latin typeface="Calibri" pitchFamily="34" charset="0"/>
                <a:ea typeface="Calibri" pitchFamily="34" charset="-122"/>
                <a:cs typeface="Calibri" pitchFamily="34" charset="-120"/>
              </a:rPr>
              <a:t>Plain forms for the MVP; HTMX after it. Design §7 named this fallback already. The checkout form drops from L to M.</a:t>
            </a:r>
            <a:endParaRPr lang="en-US" sz="1800" dirty="0"/>
          </a:p>
          <a:p>
            <a:pPr indent="0" marL="0">
              <a:lnSpc>
                <a:spcPct val="105000"/>
              </a:lnSpc>
              <a:buNone/>
            </a:pPr>
            <a:r>
              <a:rPr lang="en-US" sz="2800" b="1" dirty="0">
                <a:solidFill>
                  <a:srgbClr val="3E9C6B"/>
                </a:solidFill>
                <a:latin typeface="Cambria" pitchFamily="34" charset="0"/>
                <a:ea typeface="Cambria" pitchFamily="34" charset="-122"/>
                <a:cs typeface="Cambria" pitchFamily="34" charset="-120"/>
              </a:rPr>
              <a:t>18 of 20</a:t>
            </a:r>
            <a:endParaRPr lang="en-US" sz="1800" dirty="0"/>
          </a:p>
        </p:txBody>
      </p:sp>
      <p:sp>
        <p:nvSpPr>
          <p:cNvPr id="9" name="click-2"/>
          <p:cNvSpPr/>
          <p:nvPr/>
        </p:nvSpPr>
        <p:spPr>
          <a:xfrm>
            <a:off x="8138160" y="1783080"/>
            <a:ext cx="3474720" cy="2926080"/>
          </a:xfrm>
          <a:prstGeom prst="roundRect">
            <a:avLst>
              <a:gd name="adj" fmla="val 2813"/>
            </a:avLst>
          </a:prstGeom>
          <a:solidFill>
            <a:srgbClr val="FBEEDA"/>
          </a:solidFill>
          <a:ln/>
          <a:effectLst>
            <a:outerShdw sx="100000" sy="100000" kx="0" ky="0" algn="bl" rotWithShape="0" blurRad="88900" dist="38100" dir="5400000">
              <a:srgbClr val="000000">
                <a:alpha val="13000"/>
              </a:srgbClr>
            </a:outerShdw>
          </a:effectLst>
        </p:spPr>
      </p:sp>
      <p:sp>
        <p:nvSpPr>
          <p:cNvPr id="10" name="click-2"/>
          <p:cNvSpPr/>
          <p:nvPr/>
        </p:nvSpPr>
        <p:spPr>
          <a:xfrm>
            <a:off x="8412480" y="1783080"/>
            <a:ext cx="2971800" cy="2926080"/>
          </a:xfrm>
          <a:prstGeom prst="rect">
            <a:avLst/>
          </a:prstGeom>
          <a:noFill/>
          <a:ln/>
        </p:spPr>
        <p:txBody>
          <a:bodyPr wrap="square" lIns="0" tIns="0" rIns="0" bIns="0" rtlCol="0" anchor="ctr"/>
          <a:lstStyle/>
          <a:p>
            <a:pPr indent="0" marL="0">
              <a:lnSpc>
                <a:spcPct val="105000"/>
              </a:lnSpc>
              <a:buNone/>
            </a:pPr>
            <a:r>
              <a:rPr lang="en-US" sz="1800" b="1" dirty="0">
                <a:solidFill>
                  <a:srgbClr val="0E6E6D"/>
                </a:solidFill>
                <a:latin typeface="Calibri" pitchFamily="34" charset="0"/>
                <a:ea typeface="Calibri" pitchFamily="34" charset="-122"/>
                <a:cs typeface="Calibri" pitchFamily="34" charset="-120"/>
              </a:rPr>
              <a:t>The next cut, named now</a:t>
            </a:r>
            <a:endParaRPr lang="en-US" sz="1800" dirty="0"/>
          </a:p>
          <a:p>
            <a:pPr indent="0" marL="0">
              <a:lnSpc>
                <a:spcPct val="105000"/>
              </a:lnSpc>
              <a:buNone/>
            </a:pPr>
            <a:r>
              <a:rPr lang="en-US" sz="1600" dirty="0">
                <a:solidFill>
                  <a:srgbClr val="1E2A36"/>
                </a:solidFill>
                <a:latin typeface="Calibri" pitchFamily="34" charset="0"/>
                <a:ea typeface="Calibri" pitchFamily="34" charset="-122"/>
                <a:cs typeface="Calibri" pitchFamily="34" charset="-120"/>
              </a:rPr>
              <a:t>If the midpoint check shows M1 behind: the list's "Out" marker moves to M2. The item page alone still walks the slice.</a:t>
            </a:r>
            <a:endParaRPr lang="en-US" sz="1800" dirty="0"/>
          </a:p>
        </p:txBody>
      </p:sp>
      <p:sp>
        <p:nvSpPr>
          <p:cNvPr id="11" name="click-3"/>
          <p:cNvSpPr/>
          <p:nvPr/>
        </p:nvSpPr>
        <p:spPr>
          <a:xfrm>
            <a:off x="548640" y="4983480"/>
            <a:ext cx="11064240" cy="1188720"/>
          </a:xfrm>
          <a:prstGeom prst="roundRect">
            <a:avLst>
              <a:gd name="adj" fmla="val 6923"/>
            </a:avLst>
          </a:prstGeom>
          <a:solidFill>
            <a:srgbClr val="14233A"/>
          </a:solidFill>
          <a:ln/>
          <a:effectLst>
            <a:outerShdw sx="100000" sy="100000" kx="0" ky="0" algn="bl" rotWithShape="0" blurRad="88900" dist="38100" dir="5400000">
              <a:srgbClr val="000000">
                <a:alpha val="13000"/>
              </a:srgbClr>
            </a:outerShdw>
          </a:effectLst>
        </p:spPr>
      </p:sp>
      <p:sp>
        <p:nvSpPr>
          <p:cNvPr id="12" name="click-3"/>
          <p:cNvSpPr/>
          <p:nvPr/>
        </p:nvSpPr>
        <p:spPr>
          <a:xfrm>
            <a:off x="868680" y="4983480"/>
            <a:ext cx="10424160" cy="1188720"/>
          </a:xfrm>
          <a:prstGeom prst="rect">
            <a:avLst/>
          </a:prstGeom>
          <a:noFill/>
          <a:ln/>
        </p:spPr>
        <p:txBody>
          <a:bodyPr wrap="square" lIns="0" tIns="0" rIns="0" bIns="0" rtlCol="0" anchor="ctr"/>
          <a:lstStyle/>
          <a:p>
            <a:pPr indent="0" marL="0">
              <a:lnSpc>
                <a:spcPct val="104000"/>
              </a:lnSpc>
              <a:buNone/>
            </a:pPr>
            <a:r>
              <a:rPr lang="en-US" sz="1700" b="1" dirty="0">
                <a:solidFill>
                  <a:srgbClr val="E8A33D"/>
                </a:solidFill>
                <a:latin typeface="Calibri" pitchFamily="34" charset="0"/>
                <a:ea typeface="Calibri" pitchFamily="34" charset="-122"/>
                <a:cs typeface="Calibri" pitchFamily="34" charset="-120"/>
              </a:rPr>
              <a:t>Notice what the cut didn't touch: the slice.  </a:t>
            </a:r>
            <a:pPr indent="0" marL="0">
              <a:lnSpc>
                <a:spcPct val="104000"/>
              </a:lnSpc>
              <a:buNone/>
            </a:pPr>
            <a:r>
              <a:rPr lang="en-US" sz="1700" dirty="0">
                <a:solidFill>
                  <a:srgbClr val="FFFFFF"/>
                </a:solidFill>
                <a:latin typeface="Calibri" pitchFamily="34" charset="0"/>
                <a:ea typeface="Calibri" pitchFamily="34" charset="-122"/>
                <a:cs typeface="Calibri" pitchFamily="34" charset="-120"/>
              </a:rPr>
              <a:t>Cuts come from what's off the demo's path and from how things get built, before they come from what the demo shows.</a:t>
            </a:r>
            <a:endParaRPr lang="en-US" sz="1700" dirty="0"/>
          </a:p>
        </p:txBody>
      </p:sp>
      <p:sp>
        <p:nvSpPr>
          <p:cNvPr id="13" name="Text 11"/>
          <p:cNvSpPr/>
          <p:nvPr/>
        </p:nvSpPr>
        <p:spPr>
          <a:xfrm>
            <a:off x="6217920" y="6437376"/>
            <a:ext cx="53949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18 · Estimation &amp; the Vertical Slice</a:t>
            </a:r>
            <a:endParaRPr lang="en-US" sz="1000" dirty="0"/>
          </a:p>
        </p:txBody>
      </p:sp>
      <p:sp>
        <p:nvSpPr>
          <p:cNvPr id="14" name="Text 12"/>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12</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 presetClass="entr" presetSubtype="0" fill="hold" grpId="0" nodeType="clickEffect">
                                  <p:stCondLst>
                                    <p:cond delay="0"/>
                                  </p:stCondLst>
                                  <p:childTnLst>
                                    <p:set>
                                      <p:cBhvr>
                                        <p:cTn id="5" dur="1" fill="hold">
                                          <p:stCondLst>
                                            <p:cond delay="0"/>
                                          </p:stCondLst>
                                        </p:cTn>
                                        <p:tgtEl>
                                          <p:spTgt spid="7"/>
                                        </p:tgtEl>
                                        <p:attrNameLst>
                                          <p:attrName>style.visibility</p:attrName>
                                        </p:attrNameLst>
                                      </p:cBhvr>
                                      <p:to>
                                        <p:strVal val="visible"/>
                                      </p:to>
                                    </p:set>
                                  </p:childTnLst>
                                </p:cTn>
                              </p:par>
                              <p:par>
                                <p:cTn id="8" presetID="1" presetClass="entr" presetSubtype="0" fill="hold" grpId="0" nodeType="withEffect">
                                  <p:stCondLst>
                                    <p:cond delay="0"/>
                                  </p:stCondLst>
                                  <p:childTnLst>
                                    <p:set>
                                      <p:cBhvr>
                                        <p:cTn id="7"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2" presetID="1"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8" presetID="1" presetClass="entr" presetSubtype="0"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19"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WRITE IT WHERE THE DESIGN LIVES · LIVE</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A cut that changes the design is a design change</a:t>
            </a:r>
            <a:endParaRPr lang="en-US" sz="3100" dirty="0"/>
          </a:p>
        </p:txBody>
      </p:sp>
      <p:sp>
        <p:nvSpPr>
          <p:cNvPr id="5" name="Text 3"/>
          <p:cNvSpPr/>
          <p:nvPr/>
        </p:nvSpPr>
        <p:spPr>
          <a:xfrm>
            <a:off x="548640" y="1691640"/>
            <a:ext cx="6309360" cy="320040"/>
          </a:xfrm>
          <a:prstGeom prst="rect">
            <a:avLst/>
          </a:prstGeom>
          <a:noFill/>
          <a:ln/>
        </p:spPr>
        <p:txBody>
          <a:bodyPr wrap="square" lIns="0" tIns="0" rIns="0" bIns="0" rtlCol="0" anchor="ctr"/>
          <a:lstStyle/>
          <a:p>
            <a:pPr indent="0" marL="0">
              <a:buNone/>
            </a:pPr>
            <a:r>
              <a:rPr lang="en-US" sz="1500" b="1" dirty="0">
                <a:solidFill>
                  <a:srgbClr val="5F7284"/>
                </a:solidFill>
                <a:latin typeface="Calibri" pitchFamily="34" charset="0"/>
                <a:ea typeface="Calibri" pitchFamily="34" charset="-122"/>
                <a:cs typeface="Calibri" pitchFamily="34" charset="-120"/>
              </a:rPr>
              <a:t>Prop Loft · docs/design.md §6, in the pull request</a:t>
            </a:r>
            <a:endParaRPr lang="en-US" sz="1500" dirty="0"/>
          </a:p>
        </p:txBody>
      </p:sp>
      <p:sp>
        <p:nvSpPr>
          <p:cNvPr id="6" name="Shape 4"/>
          <p:cNvSpPr/>
          <p:nvPr/>
        </p:nvSpPr>
        <p:spPr>
          <a:xfrm>
            <a:off x="548640" y="2057400"/>
            <a:ext cx="6309360" cy="4069080"/>
          </a:xfrm>
          <a:prstGeom prst="roundRect">
            <a:avLst>
              <a:gd name="adj" fmla="val 1798"/>
            </a:avLst>
          </a:prstGeom>
          <a:solidFill>
            <a:srgbClr val="1E3352"/>
          </a:solidFill>
          <a:ln/>
          <a:effectLst>
            <a:outerShdw sx="100000" sy="100000" kx="0" ky="0" algn="bl" rotWithShape="0" blurRad="88900" dist="38100" dir="5400000">
              <a:srgbClr val="000000">
                <a:alpha val="13000"/>
              </a:srgbClr>
            </a:outerShdw>
          </a:effectLst>
        </p:spPr>
      </p:sp>
      <p:sp>
        <p:nvSpPr>
          <p:cNvPr id="7" name="Text 5"/>
          <p:cNvSpPr/>
          <p:nvPr/>
        </p:nvSpPr>
        <p:spPr>
          <a:xfrm>
            <a:off x="822960" y="2221992"/>
            <a:ext cx="5760720" cy="3739896"/>
          </a:xfrm>
          <a:prstGeom prst="rect">
            <a:avLst/>
          </a:prstGeom>
          <a:noFill/>
          <a:ln/>
        </p:spPr>
        <p:txBody>
          <a:bodyPr wrap="square" lIns="0" tIns="0" rIns="0" bIns="0" rtlCol="0" anchor="t"/>
          <a:lstStyle/>
          <a:p>
            <a:pPr indent="0" marL="0">
              <a:lnSpc>
                <a:spcPct val="105000"/>
              </a:lnSpc>
              <a:buNone/>
            </a:pPr>
            <a:r>
              <a:rPr lang="en-US" sz="1450" dirty="0">
                <a:solidFill>
                  <a:srgbClr val="E8A33D"/>
                </a:solidFill>
                <a:latin typeface="Consolas" pitchFamily="34" charset="0"/>
                <a:ea typeface="Consolas" pitchFamily="34" charset="-122"/>
                <a:cs typeface="Consolas" pitchFamily="34" charset="-120"/>
              </a:rPr>
              <a:t>Decision: plain forms for the MVP,</a:t>
            </a:r>
            <a:endParaRPr lang="en-US" sz="1450" dirty="0"/>
          </a:p>
          <a:p>
            <a:pPr indent="0" marL="0">
              <a:lnSpc>
                <a:spcPct val="105000"/>
              </a:lnSpc>
              <a:buNone/>
            </a:pPr>
            <a:r>
              <a:rPr lang="en-US" sz="1450" dirty="0">
                <a:solidFill>
                  <a:srgbClr val="E8A33D"/>
                </a:solidFill>
                <a:latin typeface="Consolas" pitchFamily="34" charset="0"/>
                <a:ea typeface="Consolas" pitchFamily="34" charset="-122"/>
                <a:cs typeface="Consolas" pitchFamily="34" charset="-120"/>
              </a:rPr>
              <a:t>HTMX later</a:t>
            </a:r>
            <a:endParaRPr lang="en-US" sz="1450" dirty="0"/>
          </a:p>
          <a:p>
            <a:pPr indent="0" marL="0">
              <a:lnSpc>
                <a:spcPct val="105000"/>
              </a:lnSpc>
              <a:buNone/>
            </a:pPr>
            <a:r>
              <a:rPr lang="en-US" sz="1450" dirty="0">
                <a:solidFill>
                  <a:srgbClr val="E8EEF3"/>
                </a:solidFill>
                <a:latin typeface="Consolas" pitchFamily="34" charset="0"/>
                <a:ea typeface="Consolas" pitchFamily="34" charset="-122"/>
                <a:cs typeface="Consolas" pitchFamily="34" charset="-120"/>
              </a:rPr>
              <a:t> </a:t>
            </a:r>
            <a:endParaRPr lang="en-US" sz="1450" dirty="0"/>
          </a:p>
          <a:p>
            <a:pPr indent="0" marL="0">
              <a:lnSpc>
                <a:spcPct val="105000"/>
              </a:lnSpc>
              <a:buNone/>
            </a:pPr>
            <a:r>
              <a:rPr lang="en-US" sz="1450" dirty="0">
                <a:solidFill>
                  <a:srgbClr val="9FE0B5"/>
                </a:solidFill>
                <a:latin typeface="Consolas" pitchFamily="34" charset="0"/>
                <a:ea typeface="Consolas" pitchFamily="34" charset="-122"/>
                <a:cs typeface="Consolas" pitchFamily="34" charset="-120"/>
              </a:rPr>
              <a:t>+ Chosen: server-rendered forms with</a:t>
            </a:r>
            <a:endParaRPr lang="en-US" sz="1450" dirty="0"/>
          </a:p>
          <a:p>
            <a:pPr indent="0" marL="0">
              <a:lnSpc>
                <a:spcPct val="105000"/>
              </a:lnSpc>
              <a:buNone/>
            </a:pPr>
            <a:r>
              <a:rPr lang="en-US" sz="1450" dirty="0">
                <a:solidFill>
                  <a:srgbClr val="9FE0B5"/>
                </a:solidFill>
                <a:latin typeface="Consolas" pitchFamily="34" charset="0"/>
                <a:ea typeface="Consolas" pitchFamily="34" charset="-122"/>
                <a:cs typeface="Consolas" pitchFamily="34" charset="-120"/>
              </a:rPr>
              <a:t>  full-page reloads</a:t>
            </a:r>
            <a:endParaRPr lang="en-US" sz="1450" dirty="0"/>
          </a:p>
          <a:p>
            <a:pPr indent="0" marL="0">
              <a:lnSpc>
                <a:spcPct val="105000"/>
              </a:lnSpc>
              <a:buNone/>
            </a:pPr>
            <a:r>
              <a:rPr lang="en-US" sz="1450" dirty="0">
                <a:solidFill>
                  <a:srgbClr val="9FE0B5"/>
                </a:solidFill>
                <a:latin typeface="Consolas" pitchFamily="34" charset="0"/>
                <a:ea typeface="Consolas" pitchFamily="34" charset="-122"/>
                <a:cs typeface="Consolas" pitchFamily="34" charset="-120"/>
              </a:rPr>
              <a:t>+ Alternative: HTMX partial updates</a:t>
            </a:r>
            <a:endParaRPr lang="en-US" sz="1450" dirty="0"/>
          </a:p>
          <a:p>
            <a:pPr indent="0" marL="0">
              <a:lnSpc>
                <a:spcPct val="105000"/>
              </a:lnSpc>
              <a:buNone/>
            </a:pPr>
            <a:r>
              <a:rPr lang="en-US" sz="1450" dirty="0">
                <a:solidFill>
                  <a:srgbClr val="9FE0B5"/>
                </a:solidFill>
                <a:latin typeface="Consolas" pitchFamily="34" charset="0"/>
                <a:ea typeface="Consolas" pitchFamily="34" charset="-122"/>
                <a:cs typeface="Consolas" pitchFamily="34" charset="-120"/>
              </a:rPr>
              <a:t>+ Why: the first milestone didn't fit</a:t>
            </a:r>
            <a:endParaRPr lang="en-US" sz="1450" dirty="0"/>
          </a:p>
          <a:p>
            <a:pPr indent="0" marL="0">
              <a:lnSpc>
                <a:spcPct val="105000"/>
              </a:lnSpc>
              <a:buNone/>
            </a:pPr>
            <a:r>
              <a:rPr lang="en-US" sz="1450" dirty="0">
                <a:solidFill>
                  <a:srgbClr val="9FE0B5"/>
                </a:solidFill>
                <a:latin typeface="Consolas" pitchFamily="34" charset="0"/>
                <a:ea typeface="Consolas" pitchFamily="34" charset="-122"/>
                <a:cs typeface="Consolas" pitchFamily="34" charset="-120"/>
              </a:rPr>
              <a:t>+ Evidence: the Week 9 sizing</a:t>
            </a:r>
            <a:endParaRPr lang="en-US" sz="1450" dirty="0"/>
          </a:p>
          <a:p>
            <a:pPr indent="0" marL="0">
              <a:lnSpc>
                <a:spcPct val="105000"/>
              </a:lnSpc>
              <a:buNone/>
            </a:pPr>
            <a:r>
              <a:rPr lang="en-US" sz="1450" dirty="0">
                <a:solidFill>
                  <a:srgbClr val="9FE0B5"/>
                </a:solidFill>
                <a:latin typeface="Consolas" pitchFamily="34" charset="0"/>
                <a:ea typeface="Consolas" pitchFamily="34" charset="-122"/>
                <a:cs typeface="Consolas" pitchFamily="34" charset="-120"/>
              </a:rPr>
              <a:t>+ What would change our mind: slow</a:t>
            </a:r>
            <a:endParaRPr lang="en-US" sz="1450" dirty="0"/>
          </a:p>
          <a:p>
            <a:pPr indent="0" marL="0">
              <a:lnSpc>
                <a:spcPct val="105000"/>
              </a:lnSpc>
              <a:buNone/>
            </a:pPr>
            <a:r>
              <a:rPr lang="en-US" sz="1450" dirty="0">
                <a:solidFill>
                  <a:srgbClr val="9FE0B5"/>
                </a:solidFill>
                <a:latin typeface="Consolas" pitchFamily="34" charset="0"/>
                <a:ea typeface="Consolas" pitchFamily="34" charset="-122"/>
                <a:cs typeface="Consolas" pitchFamily="34" charset="-120"/>
              </a:rPr>
              <a:t>  reloads on the shop's wifi</a:t>
            </a:r>
            <a:endParaRPr lang="en-US" sz="1450" dirty="0"/>
          </a:p>
          <a:p>
            <a:pPr indent="0" marL="0">
              <a:lnSpc>
                <a:spcPct val="105000"/>
              </a:lnSpc>
              <a:buNone/>
            </a:pPr>
            <a:r>
              <a:rPr lang="en-US" sz="1450" dirty="0">
                <a:solidFill>
                  <a:srgbClr val="E8EEF3"/>
                </a:solidFill>
                <a:latin typeface="Consolas" pitchFamily="34" charset="0"/>
                <a:ea typeface="Consolas" pitchFamily="34" charset="-122"/>
                <a:cs typeface="Consolas" pitchFamily="34" charset="-120"/>
              </a:rPr>
              <a:t> </a:t>
            </a:r>
            <a:endParaRPr lang="en-US" sz="1450" dirty="0"/>
          </a:p>
          <a:p>
            <a:pPr indent="0" marL="0">
              <a:lnSpc>
                <a:spcPct val="105000"/>
              </a:lnSpc>
              <a:buNone/>
            </a:pPr>
            <a:r>
              <a:rPr lang="en-US" sz="1450" dirty="0">
                <a:solidFill>
                  <a:srgbClr val="F4A99A"/>
                </a:solidFill>
                <a:latin typeface="Consolas" pitchFamily="34" charset="0"/>
                <a:ea typeface="Consolas" pitchFamily="34" charset="-122"/>
                <a:cs typeface="Consolas" pitchFamily="34" charset="-120"/>
              </a:rPr>
              <a:t>- Django, HTMX for partial updates, ...</a:t>
            </a:r>
            <a:endParaRPr lang="en-US" sz="1450" dirty="0"/>
          </a:p>
        </p:txBody>
      </p:sp>
      <p:sp>
        <p:nvSpPr>
          <p:cNvPr id="8" name="Shape 6"/>
          <p:cNvSpPr/>
          <p:nvPr/>
        </p:nvSpPr>
        <p:spPr>
          <a:xfrm>
            <a:off x="7086600" y="1783080"/>
            <a:ext cx="4526280" cy="777240"/>
          </a:xfrm>
          <a:prstGeom prst="roundRect">
            <a:avLst>
              <a:gd name="adj" fmla="val 10588"/>
            </a:avLst>
          </a:prstGeom>
          <a:solidFill>
            <a:srgbClr val="F2F6F8"/>
          </a:solidFill>
          <a:ln/>
          <a:effectLst>
            <a:outerShdw sx="100000" sy="100000" kx="0" ky="0" algn="bl" rotWithShape="0" blurRad="88900" dist="38100" dir="5400000">
              <a:srgbClr val="000000">
                <a:alpha val="13000"/>
              </a:srgbClr>
            </a:outerShdw>
          </a:effectLst>
        </p:spPr>
      </p:sp>
      <p:sp>
        <p:nvSpPr>
          <p:cNvPr id="9" name="Shape 7"/>
          <p:cNvSpPr/>
          <p:nvPr/>
        </p:nvSpPr>
        <p:spPr>
          <a:xfrm>
            <a:off x="7242048" y="1938528"/>
            <a:ext cx="457200" cy="457200"/>
          </a:xfrm>
          <a:prstGeom prst="ellipse">
            <a:avLst/>
          </a:prstGeom>
          <a:solidFill>
            <a:srgbClr val="12908F"/>
          </a:solidFill>
          <a:ln/>
        </p:spPr>
      </p:sp>
      <p:sp>
        <p:nvSpPr>
          <p:cNvPr id="10" name="Text 8"/>
          <p:cNvSpPr/>
          <p:nvPr/>
        </p:nvSpPr>
        <p:spPr>
          <a:xfrm>
            <a:off x="7242048" y="1938528"/>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1</a:t>
            </a:r>
            <a:endParaRPr lang="en-US" sz="1700" dirty="0"/>
          </a:p>
        </p:txBody>
      </p:sp>
      <p:sp>
        <p:nvSpPr>
          <p:cNvPr id="11" name="Text 9"/>
          <p:cNvSpPr/>
          <p:nvPr/>
        </p:nvSpPr>
        <p:spPr>
          <a:xfrm>
            <a:off x="7863840" y="1783080"/>
            <a:ext cx="3657600" cy="777240"/>
          </a:xfrm>
          <a:prstGeom prst="rect">
            <a:avLst/>
          </a:prstGeom>
          <a:noFill/>
          <a:ln/>
        </p:spPr>
        <p:txBody>
          <a:bodyPr wrap="square" lIns="0" tIns="0" rIns="0" bIns="0" rtlCol="0" anchor="ctr"/>
          <a:lstStyle/>
          <a:p>
            <a:pPr indent="0" marL="0">
              <a:buNone/>
            </a:pPr>
            <a:r>
              <a:rPr lang="en-US" sz="1650" b="1" dirty="0">
                <a:solidFill>
                  <a:srgbClr val="1E2A36"/>
                </a:solidFill>
                <a:latin typeface="Calibri" pitchFamily="34" charset="0"/>
                <a:ea typeface="Calibri" pitchFamily="34" charset="-122"/>
                <a:cs typeface="Calibri" pitchFamily="34" charset="-120"/>
              </a:rPr>
              <a:t>Push the branch</a:t>
            </a:r>
            <a:endParaRPr lang="en-US" sz="1650" dirty="0"/>
          </a:p>
          <a:p>
            <a:pPr indent="0" marL="0">
              <a:buNone/>
            </a:pPr>
            <a:r>
              <a:rPr lang="en-US" sz="1500" dirty="0">
                <a:solidFill>
                  <a:srgbClr val="5F7284"/>
                </a:solidFill>
                <a:latin typeface="Calibri" pitchFamily="34" charset="0"/>
                <a:ea typeface="Calibri" pitchFamily="34" charset="-122"/>
                <a:cs typeface="Calibri" pitchFamily="34" charset="-120"/>
              </a:rPr>
              <a:t>docs/design-plain-forms</a:t>
            </a:r>
            <a:endParaRPr lang="en-US" sz="1650" dirty="0"/>
          </a:p>
        </p:txBody>
      </p:sp>
      <p:sp>
        <p:nvSpPr>
          <p:cNvPr id="12" name="Shape 10"/>
          <p:cNvSpPr/>
          <p:nvPr/>
        </p:nvSpPr>
        <p:spPr>
          <a:xfrm>
            <a:off x="7086600" y="2670048"/>
            <a:ext cx="4526280" cy="777240"/>
          </a:xfrm>
          <a:prstGeom prst="roundRect">
            <a:avLst>
              <a:gd name="adj" fmla="val 10588"/>
            </a:avLst>
          </a:prstGeom>
          <a:solidFill>
            <a:srgbClr val="F2F6F8"/>
          </a:solidFill>
          <a:ln/>
          <a:effectLst>
            <a:outerShdw sx="100000" sy="100000" kx="0" ky="0" algn="bl" rotWithShape="0" blurRad="88900" dist="38100" dir="5400000">
              <a:srgbClr val="000000">
                <a:alpha val="13000"/>
              </a:srgbClr>
            </a:outerShdw>
          </a:effectLst>
        </p:spPr>
      </p:sp>
      <p:sp>
        <p:nvSpPr>
          <p:cNvPr id="13" name="Shape 11"/>
          <p:cNvSpPr/>
          <p:nvPr/>
        </p:nvSpPr>
        <p:spPr>
          <a:xfrm>
            <a:off x="7242048" y="2825496"/>
            <a:ext cx="457200" cy="457200"/>
          </a:xfrm>
          <a:prstGeom prst="ellipse">
            <a:avLst/>
          </a:prstGeom>
          <a:solidFill>
            <a:srgbClr val="12908F"/>
          </a:solidFill>
          <a:ln/>
        </p:spPr>
      </p:sp>
      <p:sp>
        <p:nvSpPr>
          <p:cNvPr id="14" name="Text 12"/>
          <p:cNvSpPr/>
          <p:nvPr/>
        </p:nvSpPr>
        <p:spPr>
          <a:xfrm>
            <a:off x="7242048" y="2825496"/>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2</a:t>
            </a:r>
            <a:endParaRPr lang="en-US" sz="1700" dirty="0"/>
          </a:p>
        </p:txBody>
      </p:sp>
      <p:sp>
        <p:nvSpPr>
          <p:cNvPr id="15" name="Text 13"/>
          <p:cNvSpPr/>
          <p:nvPr/>
        </p:nvSpPr>
        <p:spPr>
          <a:xfrm>
            <a:off x="7863840" y="2670048"/>
            <a:ext cx="3657600" cy="777240"/>
          </a:xfrm>
          <a:prstGeom prst="rect">
            <a:avLst/>
          </a:prstGeom>
          <a:noFill/>
          <a:ln/>
        </p:spPr>
        <p:txBody>
          <a:bodyPr wrap="square" lIns="0" tIns="0" rIns="0" bIns="0" rtlCol="0" anchor="ctr"/>
          <a:lstStyle/>
          <a:p>
            <a:pPr indent="0" marL="0">
              <a:buNone/>
            </a:pPr>
            <a:r>
              <a:rPr lang="en-US" sz="1650" b="1" dirty="0">
                <a:solidFill>
                  <a:srgbClr val="1E2A36"/>
                </a:solidFill>
                <a:latin typeface="Calibri" pitchFamily="34" charset="0"/>
                <a:ea typeface="Calibri" pitchFamily="34" charset="-122"/>
                <a:cs typeface="Calibri" pitchFamily="34" charset="-120"/>
              </a:rPr>
              <a:t>Open the PR</a:t>
            </a:r>
            <a:endParaRPr lang="en-US" sz="1650" dirty="0"/>
          </a:p>
          <a:p>
            <a:pPr indent="0" marL="0">
              <a:buNone/>
            </a:pPr>
            <a:r>
              <a:rPr lang="en-US" sz="1500" dirty="0">
                <a:solidFill>
                  <a:srgbClr val="5F7284"/>
                </a:solidFill>
                <a:latin typeface="Calibri" pitchFamily="34" charset="0"/>
                <a:ea typeface="Calibri" pitchFamily="34" charset="-122"/>
                <a:cs typeface="Calibri" pitchFamily="34" charset="-120"/>
              </a:rPr>
              <a:t>Title: the commit subject, exactly</a:t>
            </a:r>
            <a:endParaRPr lang="en-US" sz="1650" dirty="0"/>
          </a:p>
        </p:txBody>
      </p:sp>
      <p:sp>
        <p:nvSpPr>
          <p:cNvPr id="16" name="Shape 14"/>
          <p:cNvSpPr/>
          <p:nvPr/>
        </p:nvSpPr>
        <p:spPr>
          <a:xfrm>
            <a:off x="7086600" y="3557016"/>
            <a:ext cx="4526280" cy="777240"/>
          </a:xfrm>
          <a:prstGeom prst="roundRect">
            <a:avLst>
              <a:gd name="adj" fmla="val 10588"/>
            </a:avLst>
          </a:prstGeom>
          <a:solidFill>
            <a:srgbClr val="F2F6F8"/>
          </a:solidFill>
          <a:ln/>
          <a:effectLst>
            <a:outerShdw sx="100000" sy="100000" kx="0" ky="0" algn="bl" rotWithShape="0" blurRad="88900" dist="38100" dir="5400000">
              <a:srgbClr val="000000">
                <a:alpha val="13000"/>
              </a:srgbClr>
            </a:outerShdw>
          </a:effectLst>
        </p:spPr>
      </p:sp>
      <p:sp>
        <p:nvSpPr>
          <p:cNvPr id="17" name="Shape 15"/>
          <p:cNvSpPr/>
          <p:nvPr/>
        </p:nvSpPr>
        <p:spPr>
          <a:xfrm>
            <a:off x="7242048" y="3712464"/>
            <a:ext cx="457200" cy="457200"/>
          </a:xfrm>
          <a:prstGeom prst="ellipse">
            <a:avLst/>
          </a:prstGeom>
          <a:solidFill>
            <a:srgbClr val="12908F"/>
          </a:solidFill>
          <a:ln/>
        </p:spPr>
      </p:sp>
      <p:sp>
        <p:nvSpPr>
          <p:cNvPr id="18" name="Text 16"/>
          <p:cNvSpPr/>
          <p:nvPr/>
        </p:nvSpPr>
        <p:spPr>
          <a:xfrm>
            <a:off x="7242048" y="3712464"/>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3</a:t>
            </a:r>
            <a:endParaRPr lang="en-US" sz="1700" dirty="0"/>
          </a:p>
        </p:txBody>
      </p:sp>
      <p:sp>
        <p:nvSpPr>
          <p:cNvPr id="19" name="Text 17"/>
          <p:cNvSpPr/>
          <p:nvPr/>
        </p:nvSpPr>
        <p:spPr>
          <a:xfrm>
            <a:off x="7863840" y="3557016"/>
            <a:ext cx="3657600" cy="777240"/>
          </a:xfrm>
          <a:prstGeom prst="rect">
            <a:avLst/>
          </a:prstGeom>
          <a:noFill/>
          <a:ln/>
        </p:spPr>
        <p:txBody>
          <a:bodyPr wrap="square" lIns="0" tIns="0" rIns="0" bIns="0" rtlCol="0" anchor="ctr"/>
          <a:lstStyle/>
          <a:p>
            <a:pPr indent="0" marL="0">
              <a:buNone/>
            </a:pPr>
            <a:r>
              <a:rPr lang="en-US" sz="1650" b="1" dirty="0">
                <a:solidFill>
                  <a:srgbClr val="1E2A36"/>
                </a:solidFill>
                <a:latin typeface="Calibri" pitchFamily="34" charset="0"/>
                <a:ea typeface="Calibri" pitchFamily="34" charset="-122"/>
                <a:cs typeface="Calibri" pitchFamily="34" charset="-120"/>
              </a:rPr>
              <a:t>Show Files changed</a:t>
            </a:r>
            <a:endParaRPr lang="en-US" sz="1650" dirty="0"/>
          </a:p>
          <a:p>
            <a:pPr indent="0" marL="0">
              <a:buNone/>
            </a:pPr>
            <a:r>
              <a:rPr lang="en-US" sz="1500" dirty="0">
                <a:solidFill>
                  <a:srgbClr val="5F7284"/>
                </a:solidFill>
                <a:latin typeface="Calibri" pitchFamily="34" charset="0"/>
                <a:ea typeface="Calibri" pitchFamily="34" charset="-122"/>
                <a:cs typeface="Calibri" pitchFamily="34" charset="-120"/>
              </a:rPr>
              <a:t>§6, §4's row, §7's risk, the history</a:t>
            </a:r>
            <a:endParaRPr lang="en-US" sz="1650" dirty="0"/>
          </a:p>
        </p:txBody>
      </p:sp>
      <p:sp>
        <p:nvSpPr>
          <p:cNvPr id="20" name="Shape 18"/>
          <p:cNvSpPr/>
          <p:nvPr/>
        </p:nvSpPr>
        <p:spPr>
          <a:xfrm>
            <a:off x="7086600" y="4443984"/>
            <a:ext cx="4526280" cy="777240"/>
          </a:xfrm>
          <a:prstGeom prst="roundRect">
            <a:avLst>
              <a:gd name="adj" fmla="val 10588"/>
            </a:avLst>
          </a:prstGeom>
          <a:solidFill>
            <a:srgbClr val="F2F6F8"/>
          </a:solidFill>
          <a:ln/>
          <a:effectLst>
            <a:outerShdw sx="100000" sy="100000" kx="0" ky="0" algn="bl" rotWithShape="0" blurRad="88900" dist="38100" dir="5400000">
              <a:srgbClr val="000000">
                <a:alpha val="13000"/>
              </a:srgbClr>
            </a:outerShdw>
          </a:effectLst>
        </p:spPr>
      </p:sp>
      <p:sp>
        <p:nvSpPr>
          <p:cNvPr id="21" name="Shape 19"/>
          <p:cNvSpPr/>
          <p:nvPr/>
        </p:nvSpPr>
        <p:spPr>
          <a:xfrm>
            <a:off x="7242048" y="4599432"/>
            <a:ext cx="457200" cy="457200"/>
          </a:xfrm>
          <a:prstGeom prst="ellipse">
            <a:avLst/>
          </a:prstGeom>
          <a:solidFill>
            <a:srgbClr val="12908F"/>
          </a:solidFill>
          <a:ln/>
        </p:spPr>
      </p:sp>
      <p:sp>
        <p:nvSpPr>
          <p:cNvPr id="22" name="Text 20"/>
          <p:cNvSpPr/>
          <p:nvPr/>
        </p:nvSpPr>
        <p:spPr>
          <a:xfrm>
            <a:off x="7242048" y="4599432"/>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4</a:t>
            </a:r>
            <a:endParaRPr lang="en-US" sz="1700" dirty="0"/>
          </a:p>
        </p:txBody>
      </p:sp>
      <p:sp>
        <p:nvSpPr>
          <p:cNvPr id="23" name="Text 21"/>
          <p:cNvSpPr/>
          <p:nvPr/>
        </p:nvSpPr>
        <p:spPr>
          <a:xfrm>
            <a:off x="7863840" y="4443984"/>
            <a:ext cx="3657600" cy="777240"/>
          </a:xfrm>
          <a:prstGeom prst="rect">
            <a:avLst/>
          </a:prstGeom>
          <a:noFill/>
          <a:ln/>
        </p:spPr>
        <p:txBody>
          <a:bodyPr wrap="square" lIns="0" tIns="0" rIns="0" bIns="0" rtlCol="0" anchor="ctr"/>
          <a:lstStyle/>
          <a:p>
            <a:pPr indent="0" marL="0">
              <a:buNone/>
            </a:pPr>
            <a:r>
              <a:rPr lang="en-US" sz="1650" b="1" dirty="0">
                <a:solidFill>
                  <a:srgbClr val="1E2A36"/>
                </a:solidFill>
                <a:latin typeface="Calibri" pitchFamily="34" charset="0"/>
                <a:ea typeface="Calibri" pitchFamily="34" charset="-122"/>
                <a:cs typeface="Calibri" pitchFamily="34" charset="-120"/>
              </a:rPr>
              <a:t>Post the self-review</a:t>
            </a:r>
            <a:endParaRPr lang="en-US" sz="1650" dirty="0"/>
          </a:p>
          <a:p>
            <a:pPr indent="0" marL="0">
              <a:buNone/>
            </a:pPr>
            <a:r>
              <a:rPr lang="en-US" sz="1500" dirty="0">
                <a:solidFill>
                  <a:srgbClr val="5F7284"/>
                </a:solidFill>
                <a:latin typeface="Calibri" pitchFamily="34" charset="0"/>
                <a:ea typeface="Calibri" pitchFamily="34" charset="-122"/>
                <a:cs typeface="Calibri" pitchFamily="34" charset="-120"/>
              </a:rPr>
              <a:t>One maintainer: say so, in writing</a:t>
            </a:r>
            <a:endParaRPr lang="en-US" sz="1650" dirty="0"/>
          </a:p>
        </p:txBody>
      </p:sp>
      <p:sp>
        <p:nvSpPr>
          <p:cNvPr id="24" name="Shape 22"/>
          <p:cNvSpPr/>
          <p:nvPr/>
        </p:nvSpPr>
        <p:spPr>
          <a:xfrm>
            <a:off x="7086600" y="5330952"/>
            <a:ext cx="4526280" cy="777240"/>
          </a:xfrm>
          <a:prstGeom prst="roundRect">
            <a:avLst>
              <a:gd name="adj" fmla="val 10588"/>
            </a:avLst>
          </a:prstGeom>
          <a:solidFill>
            <a:srgbClr val="F2F6F8"/>
          </a:solidFill>
          <a:ln/>
          <a:effectLst>
            <a:outerShdw sx="100000" sy="100000" kx="0" ky="0" algn="bl" rotWithShape="0" blurRad="88900" dist="38100" dir="5400000">
              <a:srgbClr val="000000">
                <a:alpha val="13000"/>
              </a:srgbClr>
            </a:outerShdw>
          </a:effectLst>
        </p:spPr>
      </p:sp>
      <p:sp>
        <p:nvSpPr>
          <p:cNvPr id="25" name="Shape 23"/>
          <p:cNvSpPr/>
          <p:nvPr/>
        </p:nvSpPr>
        <p:spPr>
          <a:xfrm>
            <a:off x="7242048" y="5486400"/>
            <a:ext cx="457200" cy="457200"/>
          </a:xfrm>
          <a:prstGeom prst="ellipse">
            <a:avLst/>
          </a:prstGeom>
          <a:solidFill>
            <a:srgbClr val="12908F"/>
          </a:solidFill>
          <a:ln/>
        </p:spPr>
      </p:sp>
      <p:sp>
        <p:nvSpPr>
          <p:cNvPr id="26" name="Text 24"/>
          <p:cNvSpPr/>
          <p:nvPr/>
        </p:nvSpPr>
        <p:spPr>
          <a:xfrm>
            <a:off x="7242048" y="548640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5</a:t>
            </a:r>
            <a:endParaRPr lang="en-US" sz="1700" dirty="0"/>
          </a:p>
        </p:txBody>
      </p:sp>
      <p:sp>
        <p:nvSpPr>
          <p:cNvPr id="27" name="Text 25"/>
          <p:cNvSpPr/>
          <p:nvPr/>
        </p:nvSpPr>
        <p:spPr>
          <a:xfrm>
            <a:off x="7863840" y="5330952"/>
            <a:ext cx="3657600" cy="777240"/>
          </a:xfrm>
          <a:prstGeom prst="rect">
            <a:avLst/>
          </a:prstGeom>
          <a:noFill/>
          <a:ln/>
        </p:spPr>
        <p:txBody>
          <a:bodyPr wrap="square" lIns="0" tIns="0" rIns="0" bIns="0" rtlCol="0" anchor="ctr"/>
          <a:lstStyle/>
          <a:p>
            <a:pPr indent="0" marL="0">
              <a:buNone/>
            </a:pPr>
            <a:r>
              <a:rPr lang="en-US" sz="1650" b="1" dirty="0">
                <a:solidFill>
                  <a:srgbClr val="1E2A36"/>
                </a:solidFill>
                <a:latin typeface="Calibri" pitchFamily="34" charset="0"/>
                <a:ea typeface="Calibri" pitchFamily="34" charset="-122"/>
                <a:cs typeface="Calibri" pitchFamily="34" charset="-120"/>
              </a:rPr>
              <a:t>Squash and merge</a:t>
            </a:r>
            <a:endParaRPr lang="en-US" sz="1650" dirty="0"/>
          </a:p>
          <a:p>
            <a:pPr indent="0" marL="0">
              <a:buNone/>
            </a:pPr>
            <a:r>
              <a:rPr lang="en-US" sz="1500" dirty="0">
                <a:solidFill>
                  <a:srgbClr val="5F7284"/>
                </a:solidFill>
                <a:latin typeface="Calibri" pitchFamily="34" charset="0"/>
                <a:ea typeface="Calibri" pitchFamily="34" charset="-122"/>
                <a:cs typeface="Calibri" pitchFamily="34" charset="-120"/>
              </a:rPr>
              <a:t>Then a note on the checkout-form issue</a:t>
            </a:r>
            <a:endParaRPr lang="en-US" sz="1650" dirty="0"/>
          </a:p>
        </p:txBody>
      </p:sp>
      <p:sp>
        <p:nvSpPr>
          <p:cNvPr id="28" name="Text 26"/>
          <p:cNvSpPr/>
          <p:nvPr/>
        </p:nvSpPr>
        <p:spPr>
          <a:xfrm>
            <a:off x="6217920" y="6437376"/>
            <a:ext cx="53949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18 · Estimation &amp; the Vertical Slice</a:t>
            </a:r>
            <a:endParaRPr lang="en-US" sz="1000" dirty="0"/>
          </a:p>
        </p:txBody>
      </p:sp>
      <p:sp>
        <p:nvSpPr>
          <p:cNvPr id="29" name="Text 27"/>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AND THE SECOND MILESTONE?</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Coarse sizes, same budget: 19 of 20</a:t>
            </a:r>
            <a:endParaRPr lang="en-US" sz="3100" dirty="0"/>
          </a:p>
        </p:txBody>
      </p:sp>
      <p:sp>
        <p:nvSpPr>
          <p:cNvPr id="5" name="Shape 3"/>
          <p:cNvSpPr/>
          <p:nvPr/>
        </p:nvSpPr>
        <p:spPr>
          <a:xfrm>
            <a:off x="548640" y="1783080"/>
            <a:ext cx="3429000" cy="548640"/>
          </a:xfrm>
          <a:prstGeom prst="roundRect">
            <a:avLst>
              <a:gd name="adj" fmla="val 15000"/>
            </a:avLst>
          </a:prstGeom>
          <a:solidFill>
            <a:srgbClr val="F2F6F8"/>
          </a:solidFill>
          <a:ln/>
          <a:effectLst>
            <a:outerShdw sx="100000" sy="100000" kx="0" ky="0" algn="bl" rotWithShape="0" blurRad="88900" dist="38100" dir="5400000">
              <a:srgbClr val="000000">
                <a:alpha val="13000"/>
              </a:srgbClr>
            </a:outerShdw>
          </a:effectLst>
        </p:spPr>
      </p:sp>
      <p:sp>
        <p:nvSpPr>
          <p:cNvPr id="6" name="Text 4"/>
          <p:cNvSpPr/>
          <p:nvPr/>
        </p:nvSpPr>
        <p:spPr>
          <a:xfrm>
            <a:off x="731520" y="1783080"/>
            <a:ext cx="2514600" cy="548640"/>
          </a:xfrm>
          <a:prstGeom prst="rect">
            <a:avLst/>
          </a:prstGeom>
          <a:noFill/>
          <a:ln/>
        </p:spPr>
        <p:txBody>
          <a:bodyPr wrap="square" lIns="0" tIns="0" rIns="0" bIns="0" rtlCol="0" anchor="ctr"/>
          <a:lstStyle/>
          <a:p>
            <a:pPr indent="0" marL="0">
              <a:buNone/>
            </a:pPr>
            <a:r>
              <a:rPr lang="en-US" sz="1500" b="1" dirty="0">
                <a:solidFill>
                  <a:srgbClr val="1E2A36"/>
                </a:solidFill>
                <a:latin typeface="Calibri" pitchFamily="34" charset="0"/>
                <a:ea typeface="Calibri" pitchFamily="34" charset="-122"/>
                <a:cs typeface="Calibri" pitchFamily="34" charset="-120"/>
              </a:rPr>
              <a:t>Filter by category and size</a:t>
            </a:r>
            <a:endParaRPr lang="en-US" sz="1500" dirty="0"/>
          </a:p>
        </p:txBody>
      </p:sp>
      <p:sp>
        <p:nvSpPr>
          <p:cNvPr id="7" name="Text 5"/>
          <p:cNvSpPr/>
          <p:nvPr/>
        </p:nvSpPr>
        <p:spPr>
          <a:xfrm>
            <a:off x="3246120" y="1783080"/>
            <a:ext cx="594360" cy="548640"/>
          </a:xfrm>
          <a:prstGeom prst="rect">
            <a:avLst/>
          </a:prstGeom>
          <a:noFill/>
          <a:ln/>
        </p:spPr>
        <p:txBody>
          <a:bodyPr wrap="square" lIns="0" tIns="0" rIns="0" bIns="0" rtlCol="0" anchor="ctr"/>
          <a:lstStyle/>
          <a:p>
            <a:pPr algn="ctr" indent="0" marL="0">
              <a:buNone/>
            </a:pPr>
            <a:r>
              <a:rPr lang="en-US" sz="1700" b="1" dirty="0">
                <a:solidFill>
                  <a:srgbClr val="0E6E6D"/>
                </a:solidFill>
                <a:latin typeface="Cambria" pitchFamily="34" charset="0"/>
                <a:ea typeface="Cambria" pitchFamily="34" charset="-122"/>
                <a:cs typeface="Cambria" pitchFamily="34" charset="-120"/>
              </a:rPr>
              <a:t>S</a:t>
            </a:r>
            <a:endParaRPr lang="en-US" sz="1700" dirty="0"/>
          </a:p>
        </p:txBody>
      </p:sp>
      <p:sp>
        <p:nvSpPr>
          <p:cNvPr id="8" name="Shape 6"/>
          <p:cNvSpPr/>
          <p:nvPr/>
        </p:nvSpPr>
        <p:spPr>
          <a:xfrm>
            <a:off x="548640" y="2441448"/>
            <a:ext cx="3429000" cy="548640"/>
          </a:xfrm>
          <a:prstGeom prst="roundRect">
            <a:avLst>
              <a:gd name="adj" fmla="val 15000"/>
            </a:avLst>
          </a:prstGeom>
          <a:solidFill>
            <a:srgbClr val="F2F6F8"/>
          </a:solidFill>
          <a:ln/>
          <a:effectLst>
            <a:outerShdw sx="100000" sy="100000" kx="0" ky="0" algn="bl" rotWithShape="0" blurRad="88900" dist="38100" dir="5400000">
              <a:srgbClr val="000000">
                <a:alpha val="13000"/>
              </a:srgbClr>
            </a:outerShdw>
          </a:effectLst>
        </p:spPr>
      </p:sp>
      <p:sp>
        <p:nvSpPr>
          <p:cNvPr id="9" name="Text 7"/>
          <p:cNvSpPr/>
          <p:nvPr/>
        </p:nvSpPr>
        <p:spPr>
          <a:xfrm>
            <a:off x="731520" y="2441448"/>
            <a:ext cx="2514600" cy="548640"/>
          </a:xfrm>
          <a:prstGeom prst="rect">
            <a:avLst/>
          </a:prstGeom>
          <a:noFill/>
          <a:ln/>
        </p:spPr>
        <p:txBody>
          <a:bodyPr wrap="square" lIns="0" tIns="0" rIns="0" bIns="0" rtlCol="0" anchor="ctr"/>
          <a:lstStyle/>
          <a:p>
            <a:pPr indent="0" marL="0">
              <a:buNone/>
            </a:pPr>
            <a:r>
              <a:rPr lang="en-US" sz="1500" b="1" dirty="0">
                <a:solidFill>
                  <a:srgbClr val="1E2A36"/>
                </a:solidFill>
                <a:latin typeface="Calibri" pitchFamily="34" charset="0"/>
                <a:ea typeface="Calibri" pitchFamily="34" charset="-122"/>
                <a:cs typeface="Calibri" pitchFamily="34" charset="-120"/>
              </a:rPr>
              <a:t>Say so when a search finds nothing</a:t>
            </a:r>
            <a:endParaRPr lang="en-US" sz="1500" dirty="0"/>
          </a:p>
        </p:txBody>
      </p:sp>
      <p:sp>
        <p:nvSpPr>
          <p:cNvPr id="10" name="Text 8"/>
          <p:cNvSpPr/>
          <p:nvPr/>
        </p:nvSpPr>
        <p:spPr>
          <a:xfrm>
            <a:off x="3246120" y="2441448"/>
            <a:ext cx="594360" cy="548640"/>
          </a:xfrm>
          <a:prstGeom prst="rect">
            <a:avLst/>
          </a:prstGeom>
          <a:noFill/>
          <a:ln/>
        </p:spPr>
        <p:txBody>
          <a:bodyPr wrap="square" lIns="0" tIns="0" rIns="0" bIns="0" rtlCol="0" anchor="ctr"/>
          <a:lstStyle/>
          <a:p>
            <a:pPr algn="ctr" indent="0" marL="0">
              <a:buNone/>
            </a:pPr>
            <a:r>
              <a:rPr lang="en-US" sz="1700" b="1" dirty="0">
                <a:solidFill>
                  <a:srgbClr val="0E6E6D"/>
                </a:solidFill>
                <a:latin typeface="Cambria" pitchFamily="34" charset="0"/>
                <a:ea typeface="Cambria" pitchFamily="34" charset="-122"/>
                <a:cs typeface="Cambria" pitchFamily="34" charset="-120"/>
              </a:rPr>
              <a:t>XS</a:t>
            </a:r>
            <a:endParaRPr lang="en-US" sz="1700" dirty="0"/>
          </a:p>
        </p:txBody>
      </p:sp>
      <p:sp>
        <p:nvSpPr>
          <p:cNvPr id="11" name="Shape 9"/>
          <p:cNvSpPr/>
          <p:nvPr/>
        </p:nvSpPr>
        <p:spPr>
          <a:xfrm>
            <a:off x="548640" y="3099816"/>
            <a:ext cx="3429000" cy="548640"/>
          </a:xfrm>
          <a:prstGeom prst="roundRect">
            <a:avLst>
              <a:gd name="adj" fmla="val 15000"/>
            </a:avLst>
          </a:prstGeom>
          <a:solidFill>
            <a:srgbClr val="F2F6F8"/>
          </a:solidFill>
          <a:ln/>
          <a:effectLst>
            <a:outerShdw sx="100000" sy="100000" kx="0" ky="0" algn="bl" rotWithShape="0" blurRad="88900" dist="38100" dir="5400000">
              <a:srgbClr val="000000">
                <a:alpha val="13000"/>
              </a:srgbClr>
            </a:outerShdw>
          </a:effectLst>
        </p:spPr>
      </p:sp>
      <p:sp>
        <p:nvSpPr>
          <p:cNvPr id="12" name="Text 10"/>
          <p:cNvSpPr/>
          <p:nvPr/>
        </p:nvSpPr>
        <p:spPr>
          <a:xfrm>
            <a:off x="731520" y="3099816"/>
            <a:ext cx="2514600" cy="548640"/>
          </a:xfrm>
          <a:prstGeom prst="rect">
            <a:avLst/>
          </a:prstGeom>
          <a:noFill/>
          <a:ln/>
        </p:spPr>
        <p:txBody>
          <a:bodyPr wrap="square" lIns="0" tIns="0" rIns="0" bIns="0" rtlCol="0" anchor="ctr"/>
          <a:lstStyle/>
          <a:p>
            <a:pPr indent="0" marL="0">
              <a:buNone/>
            </a:pPr>
            <a:r>
              <a:rPr lang="en-US" sz="1500" b="1" dirty="0">
                <a:solidFill>
                  <a:srgbClr val="1E2A36"/>
                </a:solidFill>
                <a:latin typeface="Calibri" pitchFamily="34" charset="0"/>
                <a:ea typeface="Calibri" pitchFamily="34" charset="-122"/>
                <a:cs typeface="Calibri" pitchFamily="34" charset="-120"/>
              </a:rPr>
              <a:t>Record a return</a:t>
            </a:r>
            <a:endParaRPr lang="en-US" sz="1500" dirty="0"/>
          </a:p>
        </p:txBody>
      </p:sp>
      <p:sp>
        <p:nvSpPr>
          <p:cNvPr id="13" name="Text 11"/>
          <p:cNvSpPr/>
          <p:nvPr/>
        </p:nvSpPr>
        <p:spPr>
          <a:xfrm>
            <a:off x="3246120" y="3099816"/>
            <a:ext cx="594360" cy="548640"/>
          </a:xfrm>
          <a:prstGeom prst="rect">
            <a:avLst/>
          </a:prstGeom>
          <a:noFill/>
          <a:ln/>
        </p:spPr>
        <p:txBody>
          <a:bodyPr wrap="square" lIns="0" tIns="0" rIns="0" bIns="0" rtlCol="0" anchor="ctr"/>
          <a:lstStyle/>
          <a:p>
            <a:pPr algn="ctr" indent="0" marL="0">
              <a:buNone/>
            </a:pPr>
            <a:r>
              <a:rPr lang="en-US" sz="1700" b="1" dirty="0">
                <a:solidFill>
                  <a:srgbClr val="0E6E6D"/>
                </a:solidFill>
                <a:latin typeface="Cambria" pitchFamily="34" charset="0"/>
                <a:ea typeface="Cambria" pitchFamily="34" charset="-122"/>
                <a:cs typeface="Cambria" pitchFamily="34" charset="-120"/>
              </a:rPr>
              <a:t>S</a:t>
            </a:r>
            <a:endParaRPr lang="en-US" sz="1700" dirty="0"/>
          </a:p>
        </p:txBody>
      </p:sp>
      <p:sp>
        <p:nvSpPr>
          <p:cNvPr id="14" name="Shape 12"/>
          <p:cNvSpPr/>
          <p:nvPr/>
        </p:nvSpPr>
        <p:spPr>
          <a:xfrm>
            <a:off x="548640" y="3758184"/>
            <a:ext cx="3429000" cy="548640"/>
          </a:xfrm>
          <a:prstGeom prst="roundRect">
            <a:avLst>
              <a:gd name="adj" fmla="val 15000"/>
            </a:avLst>
          </a:prstGeom>
          <a:solidFill>
            <a:srgbClr val="F2F6F8"/>
          </a:solidFill>
          <a:ln/>
          <a:effectLst>
            <a:outerShdw sx="100000" sy="100000" kx="0" ky="0" algn="bl" rotWithShape="0" blurRad="88900" dist="38100" dir="5400000">
              <a:srgbClr val="000000">
                <a:alpha val="13000"/>
              </a:srgbClr>
            </a:outerShdw>
          </a:effectLst>
        </p:spPr>
      </p:sp>
      <p:sp>
        <p:nvSpPr>
          <p:cNvPr id="15" name="Text 13"/>
          <p:cNvSpPr/>
          <p:nvPr/>
        </p:nvSpPr>
        <p:spPr>
          <a:xfrm>
            <a:off x="731520" y="3758184"/>
            <a:ext cx="2514600" cy="548640"/>
          </a:xfrm>
          <a:prstGeom prst="rect">
            <a:avLst/>
          </a:prstGeom>
          <a:noFill/>
          <a:ln/>
        </p:spPr>
        <p:txBody>
          <a:bodyPr wrap="square" lIns="0" tIns="0" rIns="0" bIns="0" rtlCol="0" anchor="ctr"/>
          <a:lstStyle/>
          <a:p>
            <a:pPr indent="0" marL="0">
              <a:buNone/>
            </a:pPr>
            <a:r>
              <a:rPr lang="en-US" sz="1500" b="1" dirty="0">
                <a:solidFill>
                  <a:srgbClr val="1E2A36"/>
                </a:solidFill>
                <a:latin typeface="Calibri" pitchFamily="34" charset="0"/>
                <a:ea typeface="Calibri" pitchFamily="34" charset="-122"/>
                <a:cs typeface="Calibri" pitchFamily="34" charset="-120"/>
              </a:rPr>
              <a:t>List overdue items</a:t>
            </a:r>
            <a:endParaRPr lang="en-US" sz="1500" dirty="0"/>
          </a:p>
        </p:txBody>
      </p:sp>
      <p:sp>
        <p:nvSpPr>
          <p:cNvPr id="16" name="Text 14"/>
          <p:cNvSpPr/>
          <p:nvPr/>
        </p:nvSpPr>
        <p:spPr>
          <a:xfrm>
            <a:off x="3246120" y="3758184"/>
            <a:ext cx="594360" cy="548640"/>
          </a:xfrm>
          <a:prstGeom prst="rect">
            <a:avLst/>
          </a:prstGeom>
          <a:noFill/>
          <a:ln/>
        </p:spPr>
        <p:txBody>
          <a:bodyPr wrap="square" lIns="0" tIns="0" rIns="0" bIns="0" rtlCol="0" anchor="ctr"/>
          <a:lstStyle/>
          <a:p>
            <a:pPr algn="ctr" indent="0" marL="0">
              <a:buNone/>
            </a:pPr>
            <a:r>
              <a:rPr lang="en-US" sz="1700" b="1" dirty="0">
                <a:solidFill>
                  <a:srgbClr val="0E6E6D"/>
                </a:solidFill>
                <a:latin typeface="Cambria" pitchFamily="34" charset="0"/>
                <a:ea typeface="Cambria" pitchFamily="34" charset="-122"/>
                <a:cs typeface="Cambria" pitchFamily="34" charset="-120"/>
              </a:rPr>
              <a:t>M</a:t>
            </a:r>
            <a:endParaRPr lang="en-US" sz="1700" dirty="0"/>
          </a:p>
        </p:txBody>
      </p:sp>
      <p:sp>
        <p:nvSpPr>
          <p:cNvPr id="17" name="Shape 15"/>
          <p:cNvSpPr/>
          <p:nvPr/>
        </p:nvSpPr>
        <p:spPr>
          <a:xfrm>
            <a:off x="4160520" y="1783080"/>
            <a:ext cx="3429000" cy="548640"/>
          </a:xfrm>
          <a:prstGeom prst="roundRect">
            <a:avLst>
              <a:gd name="adj" fmla="val 15000"/>
            </a:avLst>
          </a:prstGeom>
          <a:solidFill>
            <a:srgbClr val="F2F6F8"/>
          </a:solidFill>
          <a:ln/>
          <a:effectLst>
            <a:outerShdw sx="100000" sy="100000" kx="0" ky="0" algn="bl" rotWithShape="0" blurRad="88900" dist="38100" dir="5400000">
              <a:srgbClr val="000000">
                <a:alpha val="13000"/>
              </a:srgbClr>
            </a:outerShdw>
          </a:effectLst>
        </p:spPr>
      </p:sp>
      <p:sp>
        <p:nvSpPr>
          <p:cNvPr id="18" name="Text 16"/>
          <p:cNvSpPr/>
          <p:nvPr/>
        </p:nvSpPr>
        <p:spPr>
          <a:xfrm>
            <a:off x="4343400" y="1783080"/>
            <a:ext cx="2514600" cy="548640"/>
          </a:xfrm>
          <a:prstGeom prst="rect">
            <a:avLst/>
          </a:prstGeom>
          <a:noFill/>
          <a:ln/>
        </p:spPr>
        <p:txBody>
          <a:bodyPr wrap="square" lIns="0" tIns="0" rIns="0" bIns="0" rtlCol="0" anchor="ctr"/>
          <a:lstStyle/>
          <a:p>
            <a:pPr indent="0" marL="0">
              <a:buNone/>
            </a:pPr>
            <a:r>
              <a:rPr lang="en-US" sz="1500" b="1" dirty="0">
                <a:solidFill>
                  <a:srgbClr val="1E2A36"/>
                </a:solidFill>
                <a:latin typeface="Calibri" pitchFamily="34" charset="0"/>
                <a:ea typeface="Calibri" pitchFamily="34" charset="-122"/>
                <a:cs typeface="Calibri" pitchFamily="34" charset="-120"/>
              </a:rPr>
              <a:t>Add an item from a phone</a:t>
            </a:r>
            <a:endParaRPr lang="en-US" sz="1500" dirty="0"/>
          </a:p>
        </p:txBody>
      </p:sp>
      <p:sp>
        <p:nvSpPr>
          <p:cNvPr id="19" name="Text 17"/>
          <p:cNvSpPr/>
          <p:nvPr/>
        </p:nvSpPr>
        <p:spPr>
          <a:xfrm>
            <a:off x="6858000" y="1783080"/>
            <a:ext cx="594360" cy="548640"/>
          </a:xfrm>
          <a:prstGeom prst="rect">
            <a:avLst/>
          </a:prstGeom>
          <a:noFill/>
          <a:ln/>
        </p:spPr>
        <p:txBody>
          <a:bodyPr wrap="square" lIns="0" tIns="0" rIns="0" bIns="0" rtlCol="0" anchor="ctr"/>
          <a:lstStyle/>
          <a:p>
            <a:pPr algn="ctr" indent="0" marL="0">
              <a:buNone/>
            </a:pPr>
            <a:r>
              <a:rPr lang="en-US" sz="1700" b="1" dirty="0">
                <a:solidFill>
                  <a:srgbClr val="0E6E6D"/>
                </a:solidFill>
                <a:latin typeface="Cambria" pitchFamily="34" charset="0"/>
                <a:ea typeface="Cambria" pitchFamily="34" charset="-122"/>
                <a:cs typeface="Cambria" pitchFamily="34" charset="-120"/>
              </a:rPr>
              <a:t>M</a:t>
            </a:r>
            <a:endParaRPr lang="en-US" sz="1700" dirty="0"/>
          </a:p>
        </p:txBody>
      </p:sp>
      <p:sp>
        <p:nvSpPr>
          <p:cNvPr id="20" name="Shape 18"/>
          <p:cNvSpPr/>
          <p:nvPr/>
        </p:nvSpPr>
        <p:spPr>
          <a:xfrm>
            <a:off x="4160520" y="2441448"/>
            <a:ext cx="3429000" cy="548640"/>
          </a:xfrm>
          <a:prstGeom prst="roundRect">
            <a:avLst>
              <a:gd name="adj" fmla="val 15000"/>
            </a:avLst>
          </a:prstGeom>
          <a:solidFill>
            <a:srgbClr val="F2F6F8"/>
          </a:solidFill>
          <a:ln/>
          <a:effectLst>
            <a:outerShdw sx="100000" sy="100000" kx="0" ky="0" algn="bl" rotWithShape="0" blurRad="88900" dist="38100" dir="5400000">
              <a:srgbClr val="000000">
                <a:alpha val="13000"/>
              </a:srgbClr>
            </a:outerShdw>
          </a:effectLst>
        </p:spPr>
      </p:sp>
      <p:sp>
        <p:nvSpPr>
          <p:cNvPr id="21" name="Text 19"/>
          <p:cNvSpPr/>
          <p:nvPr/>
        </p:nvSpPr>
        <p:spPr>
          <a:xfrm>
            <a:off x="4343400" y="2441448"/>
            <a:ext cx="2514600" cy="548640"/>
          </a:xfrm>
          <a:prstGeom prst="rect">
            <a:avLst/>
          </a:prstGeom>
          <a:noFill/>
          <a:ln/>
        </p:spPr>
        <p:txBody>
          <a:bodyPr wrap="square" lIns="0" tIns="0" rIns="0" bIns="0" rtlCol="0" anchor="ctr"/>
          <a:lstStyle/>
          <a:p>
            <a:pPr indent="0" marL="0">
              <a:buNone/>
            </a:pPr>
            <a:r>
              <a:rPr lang="en-US" sz="1500" b="1" dirty="0">
                <a:solidFill>
                  <a:srgbClr val="1E2A36"/>
                </a:solidFill>
                <a:latin typeface="Calibri" pitchFamily="34" charset="0"/>
                <a:ea typeface="Calibri" pitchFamily="34" charset="-122"/>
                <a:cs typeface="Calibri" pitchFamily="34" charset="-120"/>
              </a:rPr>
              <a:t>Attach a photo</a:t>
            </a:r>
            <a:endParaRPr lang="en-US" sz="1500" dirty="0"/>
          </a:p>
        </p:txBody>
      </p:sp>
      <p:sp>
        <p:nvSpPr>
          <p:cNvPr id="22" name="Text 20"/>
          <p:cNvSpPr/>
          <p:nvPr/>
        </p:nvSpPr>
        <p:spPr>
          <a:xfrm>
            <a:off x="6858000" y="2441448"/>
            <a:ext cx="594360" cy="548640"/>
          </a:xfrm>
          <a:prstGeom prst="rect">
            <a:avLst/>
          </a:prstGeom>
          <a:noFill/>
          <a:ln/>
        </p:spPr>
        <p:txBody>
          <a:bodyPr wrap="square" lIns="0" tIns="0" rIns="0" bIns="0" rtlCol="0" anchor="ctr"/>
          <a:lstStyle/>
          <a:p>
            <a:pPr algn="ctr" indent="0" marL="0">
              <a:buNone/>
            </a:pPr>
            <a:r>
              <a:rPr lang="en-US" sz="1700" b="1" dirty="0">
                <a:solidFill>
                  <a:srgbClr val="0E6E6D"/>
                </a:solidFill>
                <a:latin typeface="Cambria" pitchFamily="34" charset="0"/>
                <a:ea typeface="Cambria" pitchFamily="34" charset="-122"/>
                <a:cs typeface="Cambria" pitchFamily="34" charset="-120"/>
              </a:rPr>
              <a:t>M</a:t>
            </a:r>
            <a:endParaRPr lang="en-US" sz="1700" dirty="0"/>
          </a:p>
        </p:txBody>
      </p:sp>
      <p:sp>
        <p:nvSpPr>
          <p:cNvPr id="23" name="Shape 21"/>
          <p:cNvSpPr/>
          <p:nvPr/>
        </p:nvSpPr>
        <p:spPr>
          <a:xfrm>
            <a:off x="4160520" y="3099816"/>
            <a:ext cx="3429000" cy="548640"/>
          </a:xfrm>
          <a:prstGeom prst="roundRect">
            <a:avLst>
              <a:gd name="adj" fmla="val 15000"/>
            </a:avLst>
          </a:prstGeom>
          <a:solidFill>
            <a:srgbClr val="F2F6F8"/>
          </a:solidFill>
          <a:ln/>
          <a:effectLst>
            <a:outerShdw sx="100000" sy="100000" kx="0" ky="0" algn="bl" rotWithShape="0" blurRad="88900" dist="38100" dir="5400000">
              <a:srgbClr val="000000">
                <a:alpha val="13000"/>
              </a:srgbClr>
            </a:outerShdw>
          </a:effectLst>
        </p:spPr>
      </p:sp>
      <p:sp>
        <p:nvSpPr>
          <p:cNvPr id="24" name="Text 22"/>
          <p:cNvSpPr/>
          <p:nvPr/>
        </p:nvSpPr>
        <p:spPr>
          <a:xfrm>
            <a:off x="4343400" y="3099816"/>
            <a:ext cx="2514600" cy="548640"/>
          </a:xfrm>
          <a:prstGeom prst="rect">
            <a:avLst/>
          </a:prstGeom>
          <a:noFill/>
          <a:ln/>
        </p:spPr>
        <p:txBody>
          <a:bodyPr wrap="square" lIns="0" tIns="0" rIns="0" bIns="0" rtlCol="0" anchor="ctr"/>
          <a:lstStyle/>
          <a:p>
            <a:pPr indent="0" marL="0">
              <a:buNone/>
            </a:pPr>
            <a:r>
              <a:rPr lang="en-US" sz="1500" b="1" dirty="0">
                <a:solidFill>
                  <a:srgbClr val="1E2A36"/>
                </a:solidFill>
                <a:latin typeface="Calibri" pitchFamily="34" charset="0"/>
                <a:ea typeface="Calibri" pitchFamily="34" charset="-122"/>
                <a:cs typeface="Calibri" pitchFamily="34" charset="-120"/>
              </a:rPr>
              <a:t>Test iPhone photos (HEIC)</a:t>
            </a:r>
            <a:endParaRPr lang="en-US" sz="1500" dirty="0"/>
          </a:p>
        </p:txBody>
      </p:sp>
      <p:sp>
        <p:nvSpPr>
          <p:cNvPr id="25" name="Text 23"/>
          <p:cNvSpPr/>
          <p:nvPr/>
        </p:nvSpPr>
        <p:spPr>
          <a:xfrm>
            <a:off x="6858000" y="3099816"/>
            <a:ext cx="594360" cy="548640"/>
          </a:xfrm>
          <a:prstGeom prst="rect">
            <a:avLst/>
          </a:prstGeom>
          <a:noFill/>
          <a:ln/>
        </p:spPr>
        <p:txBody>
          <a:bodyPr wrap="square" lIns="0" tIns="0" rIns="0" bIns="0" rtlCol="0" anchor="ctr"/>
          <a:lstStyle/>
          <a:p>
            <a:pPr algn="ctr" indent="0" marL="0">
              <a:buNone/>
            </a:pPr>
            <a:r>
              <a:rPr lang="en-US" sz="1700" b="1" dirty="0">
                <a:solidFill>
                  <a:srgbClr val="0E6E6D"/>
                </a:solidFill>
                <a:latin typeface="Cambria" pitchFamily="34" charset="0"/>
                <a:ea typeface="Cambria" pitchFamily="34" charset="-122"/>
                <a:cs typeface="Cambria" pitchFamily="34" charset="-120"/>
              </a:rPr>
              <a:t>S</a:t>
            </a:r>
            <a:endParaRPr lang="en-US" sz="1700" dirty="0"/>
          </a:p>
        </p:txBody>
      </p:sp>
      <p:sp>
        <p:nvSpPr>
          <p:cNvPr id="26" name="click-1"/>
          <p:cNvSpPr/>
          <p:nvPr/>
        </p:nvSpPr>
        <p:spPr>
          <a:xfrm>
            <a:off x="7863840" y="1783080"/>
            <a:ext cx="3749040" cy="2523744"/>
          </a:xfrm>
          <a:prstGeom prst="roundRect">
            <a:avLst>
              <a:gd name="adj" fmla="val 3261"/>
            </a:avLst>
          </a:prstGeom>
          <a:solidFill>
            <a:srgbClr val="14233A"/>
          </a:solidFill>
          <a:ln/>
          <a:effectLst>
            <a:outerShdw sx="100000" sy="100000" kx="0" ky="0" algn="bl" rotWithShape="0" blurRad="88900" dist="38100" dir="5400000">
              <a:srgbClr val="000000">
                <a:alpha val="13000"/>
              </a:srgbClr>
            </a:outerShdw>
          </a:effectLst>
        </p:spPr>
      </p:sp>
      <p:sp>
        <p:nvSpPr>
          <p:cNvPr id="27" name="click-1"/>
          <p:cNvSpPr/>
          <p:nvPr/>
        </p:nvSpPr>
        <p:spPr>
          <a:xfrm>
            <a:off x="8138160" y="1783080"/>
            <a:ext cx="3246120" cy="2523744"/>
          </a:xfrm>
          <a:prstGeom prst="rect">
            <a:avLst/>
          </a:prstGeom>
          <a:noFill/>
          <a:ln/>
        </p:spPr>
        <p:txBody>
          <a:bodyPr wrap="square" lIns="0" tIns="0" rIns="0" bIns="0" rtlCol="0" anchor="ctr"/>
          <a:lstStyle/>
          <a:p>
            <a:pPr indent="0" marL="0">
              <a:lnSpc>
                <a:spcPct val="105000"/>
              </a:lnSpc>
              <a:buNone/>
            </a:pPr>
            <a:r>
              <a:rPr lang="en-US" sz="1800" b="1" dirty="0">
                <a:solidFill>
                  <a:srgbClr val="E8A33D"/>
                </a:solidFill>
                <a:latin typeface="Calibri" pitchFamily="34" charset="0"/>
                <a:ea typeface="Calibri" pitchFamily="34" charset="-122"/>
                <a:cs typeface="Calibri" pitchFamily="34" charset="-120"/>
              </a:rPr>
              <a:t>Fits, with an hour to spare</a:t>
            </a:r>
            <a:endParaRPr lang="en-US" sz="1800" dirty="0"/>
          </a:p>
          <a:p>
            <a:pPr indent="0" marL="0">
              <a:lnSpc>
                <a:spcPct val="105000"/>
              </a:lnSpc>
              <a:buNone/>
            </a:pPr>
            <a:r>
              <a:rPr lang="en-US" sz="1600" dirty="0">
                <a:solidFill>
                  <a:srgbClr val="FFFFFF"/>
                </a:solidFill>
                <a:latin typeface="Calibri" pitchFamily="34" charset="0"/>
                <a:ea typeface="Calibri" pitchFamily="34" charset="-122"/>
                <a:cs typeface="Calibri" pitchFamily="34" charset="-120"/>
              </a:rPr>
              <a:t>and no room for M1 to slip into it. So name M2's next cut too: filters go to the roadmap.</a:t>
            </a:r>
            <a:endParaRPr lang="en-US" sz="1800" dirty="0"/>
          </a:p>
        </p:txBody>
      </p:sp>
      <p:sp>
        <p:nvSpPr>
          <p:cNvPr id="28" name="click-2"/>
          <p:cNvSpPr/>
          <p:nvPr/>
        </p:nvSpPr>
        <p:spPr>
          <a:xfrm>
            <a:off x="548640" y="4572000"/>
            <a:ext cx="11064240" cy="1417320"/>
          </a:xfrm>
          <a:prstGeom prst="roundRect">
            <a:avLst>
              <a:gd name="adj" fmla="val 5806"/>
            </a:avLst>
          </a:prstGeom>
          <a:solidFill>
            <a:srgbClr val="FBEEDA"/>
          </a:solidFill>
          <a:ln/>
          <a:effectLst>
            <a:outerShdw sx="100000" sy="100000" kx="0" ky="0" algn="bl" rotWithShape="0" blurRad="88900" dist="38100" dir="5400000">
              <a:srgbClr val="000000">
                <a:alpha val="13000"/>
              </a:srgbClr>
            </a:outerShdw>
          </a:effectLst>
        </p:spPr>
      </p:sp>
      <p:sp>
        <p:nvSpPr>
          <p:cNvPr id="29" name="click-2"/>
          <p:cNvSpPr/>
          <p:nvPr/>
        </p:nvSpPr>
        <p:spPr>
          <a:xfrm>
            <a:off x="868680" y="4572000"/>
            <a:ext cx="10424160" cy="1417320"/>
          </a:xfrm>
          <a:prstGeom prst="rect">
            <a:avLst/>
          </a:prstGeom>
          <a:noFill/>
          <a:ln/>
        </p:spPr>
        <p:txBody>
          <a:bodyPr wrap="square" lIns="0" tIns="0" rIns="0" bIns="0" rtlCol="0" anchor="ctr"/>
          <a:lstStyle/>
          <a:p>
            <a:pPr indent="0" marL="0">
              <a:lnSpc>
                <a:spcPct val="104000"/>
              </a:lnSpc>
              <a:buNone/>
            </a:pPr>
            <a:r>
              <a:rPr lang="en-US" sz="1700" b="1" dirty="0">
                <a:solidFill>
                  <a:srgbClr val="0E6E6D"/>
                </a:solidFill>
                <a:latin typeface="Calibri" pitchFamily="34" charset="0"/>
                <a:ea typeface="Calibri" pitchFamily="34" charset="-122"/>
                <a:cs typeface="Calibri" pitchFamily="34" charset="-120"/>
              </a:rPr>
              <a:t>Two people are hiding in M2.  </a:t>
            </a:r>
            <a:pPr indent="0" marL="0">
              <a:lnSpc>
                <a:spcPct val="104000"/>
              </a:lnSpc>
              <a:buNone/>
            </a:pPr>
            <a:r>
              <a:rPr lang="en-US" sz="1700" dirty="0">
                <a:solidFill>
                  <a:srgbClr val="1E2A36"/>
                </a:solidFill>
                <a:latin typeface="Calibri" pitchFamily="34" charset="0"/>
                <a:ea typeface="Calibri" pitchFamily="34" charset="-122"/>
                <a:cs typeface="Calibri" pitchFamily="34" charset="-120"/>
              </a:rPr>
              <a:t>The add-item form is designed with the wardrobe lead, and the iPhone test needs a borrowed iPhone. Ask them now, not when the issue comes up.</a:t>
            </a:r>
            <a:endParaRPr lang="en-US" sz="1700" dirty="0"/>
          </a:p>
        </p:txBody>
      </p:sp>
      <p:sp>
        <p:nvSpPr>
          <p:cNvPr id="30" name="Text 28"/>
          <p:cNvSpPr/>
          <p:nvPr/>
        </p:nvSpPr>
        <p:spPr>
          <a:xfrm>
            <a:off x="548640" y="6126480"/>
            <a:ext cx="11064240" cy="274320"/>
          </a:xfrm>
          <a:prstGeom prst="rect">
            <a:avLst/>
          </a:prstGeom>
          <a:noFill/>
          <a:ln/>
        </p:spPr>
        <p:txBody>
          <a:bodyPr wrap="square" lIns="0" tIns="0" rIns="0" bIns="0" rtlCol="0" anchor="ctr"/>
          <a:lstStyle/>
          <a:p>
            <a:pPr indent="0" marL="0">
              <a:buNone/>
            </a:pPr>
            <a:r>
              <a:rPr lang="en-US" sz="1500" i="1" dirty="0">
                <a:solidFill>
                  <a:srgbClr val="5F7284"/>
                </a:solidFill>
                <a:latin typeface="Calibri" pitchFamily="34" charset="0"/>
                <a:ea typeface="Calibri" pitchFamily="34" charset="-122"/>
                <a:cs typeface="Calibri" pitchFamily="34" charset="-120"/>
              </a:rPr>
              <a:t>The empty-search issue is a good first issue, but it's counted anyway: a contributor may not come.</a:t>
            </a:r>
            <a:endParaRPr lang="en-US" sz="1500" dirty="0"/>
          </a:p>
        </p:txBody>
      </p:sp>
      <p:sp>
        <p:nvSpPr>
          <p:cNvPr id="31" name="Text 29"/>
          <p:cNvSpPr/>
          <p:nvPr/>
        </p:nvSpPr>
        <p:spPr>
          <a:xfrm>
            <a:off x="6217920" y="6437376"/>
            <a:ext cx="53949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18 · Estimation &amp; the Vertical Slice</a:t>
            </a:r>
            <a:endParaRPr lang="en-US" sz="1000" dirty="0"/>
          </a:p>
        </p:txBody>
      </p:sp>
      <p:sp>
        <p:nvSpPr>
          <p:cNvPr id="32" name="Text 30"/>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14</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 presetClass="entr" presetSubtype="0" fill="hold" grpId="0" nodeType="clickEffect">
                                  <p:stCondLst>
                                    <p:cond delay="0"/>
                                  </p:stCondLst>
                                  <p:childTnLst>
                                    <p:set>
                                      <p:cBhvr>
                                        <p:cTn id="5" dur="1" fill="hold">
                                          <p:stCondLst>
                                            <p:cond delay="0"/>
                                          </p:stCondLst>
                                        </p:cTn>
                                        <p:tgtEl>
                                          <p:spTgt spid="26"/>
                                        </p:tgtEl>
                                        <p:attrNameLst>
                                          <p:attrName>style.visibility</p:attrName>
                                        </p:attrNameLst>
                                      </p:cBhvr>
                                      <p:to>
                                        <p:strVal val="visible"/>
                                      </p:to>
                                    </p:set>
                                  </p:childTnLst>
                                </p:cTn>
                              </p:par>
                              <p:par>
                                <p:cTn id="8" presetID="1" presetClass="entr" presetSubtype="0" fill="hold" grpId="0" nodeType="withEffect">
                                  <p:stCondLst>
                                    <p:cond delay="0"/>
                                  </p:stCondLst>
                                  <p:childTnLst>
                                    <p:set>
                                      <p:cBhvr>
                                        <p:cTn id="7" dur="1" fill="hold">
                                          <p:stCondLst>
                                            <p:cond delay="0"/>
                                          </p:stCondLst>
                                        </p:cTn>
                                        <p:tgtEl>
                                          <p:spTgt spid="2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2" presetID="1" presetClass="entr" presetSubtype="0" fill="hold" grpId="0" nodeType="clickEffect">
                                  <p:stCondLst>
                                    <p:cond delay="0"/>
                                  </p:stCondLst>
                                  <p:childTnLst>
                                    <p:set>
                                      <p:cBhvr>
                                        <p:cTn id="11" dur="1" fill="hold">
                                          <p:stCondLst>
                                            <p:cond delay="0"/>
                                          </p:stCondLst>
                                        </p:cTn>
                                        <p:tgtEl>
                                          <p:spTgt spid="28"/>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3"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animBg="1"/>
      <p:bldP spid="2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10424160" y="-1188720"/>
            <a:ext cx="3291840" cy="3291840"/>
          </a:xfrm>
          <a:prstGeom prst="ellipse">
            <a:avLst/>
          </a:prstGeom>
          <a:solidFill>
            <a:srgbClr val="1C3252"/>
          </a:solidFill>
          <a:ln/>
        </p:spPr>
      </p:sp>
      <p:sp>
        <p:nvSpPr>
          <p:cNvPr id="3" name="Shape 1"/>
          <p:cNvSpPr/>
          <p:nvPr/>
        </p:nvSpPr>
        <p:spPr>
          <a:xfrm>
            <a:off x="566928" y="548640"/>
            <a:ext cx="137160" cy="137160"/>
          </a:xfrm>
          <a:prstGeom prst="ellipse">
            <a:avLst/>
          </a:prstGeom>
          <a:solidFill>
            <a:srgbClr val="E8A33D"/>
          </a:solidFill>
          <a:ln/>
        </p:spPr>
      </p:sp>
      <p:sp>
        <p:nvSpPr>
          <p:cNvPr id="4" name="Text 2"/>
          <p:cNvSpPr/>
          <p:nvPr/>
        </p:nvSpPr>
        <p:spPr>
          <a:xfrm>
            <a:off x="795528" y="457200"/>
            <a:ext cx="10515600" cy="310896"/>
          </a:xfrm>
          <a:prstGeom prst="rect">
            <a:avLst/>
          </a:prstGeom>
          <a:noFill/>
          <a:ln/>
        </p:spPr>
        <p:txBody>
          <a:bodyPr wrap="square" lIns="0" tIns="0" rIns="0" bIns="0" rtlCol="0" anchor="ctr"/>
          <a:lstStyle/>
          <a:p>
            <a:pPr indent="0" marL="0">
              <a:buNone/>
            </a:pPr>
            <a:r>
              <a:rPr lang="en-US" sz="1400" b="1" spc="200" kern="0" dirty="0">
                <a:solidFill>
                  <a:srgbClr val="E8A33D"/>
                </a:solidFill>
                <a:latin typeface="Calibri" pitchFamily="34" charset="0"/>
                <a:ea typeface="Calibri" pitchFamily="34" charset="-122"/>
                <a:cs typeface="Calibri" pitchFamily="34" charset="-120"/>
              </a:rPr>
              <a:t>WORKSHOP · 11 MIN</a:t>
            </a:r>
            <a:endParaRPr lang="en-US" sz="1400" dirty="0"/>
          </a:p>
        </p:txBody>
      </p:sp>
      <p:sp>
        <p:nvSpPr>
          <p:cNvPr id="5" name="Text 3"/>
          <p:cNvSpPr/>
          <p:nvPr/>
        </p:nvSpPr>
        <p:spPr>
          <a:xfrm>
            <a:off x="548640" y="822960"/>
            <a:ext cx="1106424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Size your first milestone, then check that it fits</a:t>
            </a:r>
            <a:endParaRPr lang="en-US" sz="3200" dirty="0"/>
          </a:p>
        </p:txBody>
      </p:sp>
      <p:sp>
        <p:nvSpPr>
          <p:cNvPr id="6" name="Shape 4"/>
          <p:cNvSpPr/>
          <p:nvPr/>
        </p:nvSpPr>
        <p:spPr>
          <a:xfrm>
            <a:off x="548640" y="1783080"/>
            <a:ext cx="11064240" cy="804672"/>
          </a:xfrm>
          <a:prstGeom prst="roundRect">
            <a:avLst>
              <a:gd name="adj" fmla="val 10227"/>
            </a:avLst>
          </a:prstGeom>
          <a:solidFill>
            <a:srgbClr val="1E3352"/>
          </a:solidFill>
          <a:ln/>
          <a:effectLst>
            <a:outerShdw sx="100000" sy="100000" kx="0" ky="0" algn="bl" rotWithShape="0" blurRad="88900" dist="38100" dir="5400000">
              <a:srgbClr val="000000">
                <a:alpha val="13000"/>
              </a:srgbClr>
            </a:outerShdw>
          </a:effectLst>
        </p:spPr>
      </p:sp>
      <p:sp>
        <p:nvSpPr>
          <p:cNvPr id="7" name="Shape 5"/>
          <p:cNvSpPr/>
          <p:nvPr/>
        </p:nvSpPr>
        <p:spPr>
          <a:xfrm>
            <a:off x="731520" y="1956816"/>
            <a:ext cx="457200" cy="457200"/>
          </a:xfrm>
          <a:prstGeom prst="ellipse">
            <a:avLst/>
          </a:prstGeom>
          <a:solidFill>
            <a:srgbClr val="E8A33D"/>
          </a:solidFill>
          <a:ln/>
        </p:spPr>
      </p:sp>
      <p:sp>
        <p:nvSpPr>
          <p:cNvPr id="8" name="Text 6"/>
          <p:cNvSpPr/>
          <p:nvPr/>
        </p:nvSpPr>
        <p:spPr>
          <a:xfrm>
            <a:off x="731520" y="1956816"/>
            <a:ext cx="457200" cy="457200"/>
          </a:xfrm>
          <a:prstGeom prst="rect">
            <a:avLst/>
          </a:prstGeom>
          <a:noFill/>
          <a:ln/>
        </p:spPr>
        <p:txBody>
          <a:bodyPr wrap="square" lIns="0" tIns="0" rIns="0" bIns="0" rtlCol="0" anchor="ctr"/>
          <a:lstStyle/>
          <a:p>
            <a:pPr algn="ctr" indent="0" marL="0">
              <a:buNone/>
            </a:pPr>
            <a:r>
              <a:rPr lang="en-US" sz="1700" b="1" dirty="0">
                <a:solidFill>
                  <a:srgbClr val="14233A"/>
                </a:solidFill>
                <a:latin typeface="Cambria" pitchFamily="34" charset="0"/>
                <a:ea typeface="Cambria" pitchFamily="34" charset="-122"/>
                <a:cs typeface="Cambria" pitchFamily="34" charset="-120"/>
              </a:rPr>
              <a:t>1</a:t>
            </a:r>
            <a:endParaRPr lang="en-US" sz="1700" dirty="0"/>
          </a:p>
        </p:txBody>
      </p:sp>
      <p:sp>
        <p:nvSpPr>
          <p:cNvPr id="9" name="Text 7"/>
          <p:cNvSpPr/>
          <p:nvPr/>
        </p:nvSpPr>
        <p:spPr>
          <a:xfrm>
            <a:off x="1371600" y="1783080"/>
            <a:ext cx="3291840" cy="804672"/>
          </a:xfrm>
          <a:prstGeom prst="rect">
            <a:avLst/>
          </a:prstGeom>
          <a:noFill/>
          <a:ln/>
        </p:spPr>
        <p:txBody>
          <a:bodyPr wrap="square" lIns="0" tIns="0" rIns="0" bIns="0" rtlCol="0" anchor="ctr"/>
          <a:lstStyle/>
          <a:p>
            <a:pPr indent="0" marL="0">
              <a:buNone/>
            </a:pPr>
            <a:r>
              <a:rPr lang="en-US" sz="1750" b="1" dirty="0">
                <a:solidFill>
                  <a:srgbClr val="FFFFFF"/>
                </a:solidFill>
                <a:latin typeface="Calibri" pitchFamily="34" charset="0"/>
                <a:ea typeface="Calibri" pitchFamily="34" charset="-122"/>
                <a:cs typeface="Calibri" pitchFamily="34" charset="-120"/>
              </a:rPr>
              <a:t>Add a Size field</a:t>
            </a:r>
            <a:endParaRPr lang="en-US" sz="1750" dirty="0"/>
          </a:p>
        </p:txBody>
      </p:sp>
      <p:sp>
        <p:nvSpPr>
          <p:cNvPr id="10" name="Text 8"/>
          <p:cNvSpPr/>
          <p:nvPr/>
        </p:nvSpPr>
        <p:spPr>
          <a:xfrm>
            <a:off x="4663440" y="1783080"/>
            <a:ext cx="6766560" cy="804672"/>
          </a:xfrm>
          <a:prstGeom prst="rect">
            <a:avLst/>
          </a:prstGeom>
          <a:noFill/>
          <a:ln/>
        </p:spPr>
        <p:txBody>
          <a:bodyPr wrap="square" lIns="0" tIns="0" rIns="0" bIns="0" rtlCol="0" anchor="ctr"/>
          <a:lstStyle/>
          <a:p>
            <a:pPr indent="0" marL="0">
              <a:buNone/>
            </a:pPr>
            <a:r>
              <a:rPr lang="en-US" sz="1550" dirty="0">
                <a:solidFill>
                  <a:srgbClr val="CFE0E9"/>
                </a:solidFill>
                <a:latin typeface="Calibri" pitchFamily="34" charset="0"/>
                <a:ea typeface="Calibri" pitchFamily="34" charset="-122"/>
                <a:cs typeface="Calibri" pitchFamily="34" charset="-120"/>
              </a:rPr>
              <a:t>New view → Table; + → Add field → Create a project field → Single select, XS to XL. Or your own scheme, with its reason.</a:t>
            </a:r>
            <a:endParaRPr lang="en-US" sz="1550" dirty="0"/>
          </a:p>
        </p:txBody>
      </p:sp>
      <p:sp>
        <p:nvSpPr>
          <p:cNvPr id="11" name="Shape 9"/>
          <p:cNvSpPr/>
          <p:nvPr/>
        </p:nvSpPr>
        <p:spPr>
          <a:xfrm>
            <a:off x="548640" y="2697480"/>
            <a:ext cx="11064240" cy="804672"/>
          </a:xfrm>
          <a:prstGeom prst="roundRect">
            <a:avLst>
              <a:gd name="adj" fmla="val 10227"/>
            </a:avLst>
          </a:prstGeom>
          <a:solidFill>
            <a:srgbClr val="1E3352"/>
          </a:solidFill>
          <a:ln/>
          <a:effectLst>
            <a:outerShdw sx="100000" sy="100000" kx="0" ky="0" algn="bl" rotWithShape="0" blurRad="88900" dist="38100" dir="5400000">
              <a:srgbClr val="000000">
                <a:alpha val="13000"/>
              </a:srgbClr>
            </a:outerShdw>
          </a:effectLst>
        </p:spPr>
      </p:sp>
      <p:sp>
        <p:nvSpPr>
          <p:cNvPr id="12" name="Shape 10"/>
          <p:cNvSpPr/>
          <p:nvPr/>
        </p:nvSpPr>
        <p:spPr>
          <a:xfrm>
            <a:off x="731520" y="2871216"/>
            <a:ext cx="457200" cy="457200"/>
          </a:xfrm>
          <a:prstGeom prst="ellipse">
            <a:avLst/>
          </a:prstGeom>
          <a:solidFill>
            <a:srgbClr val="E8A33D"/>
          </a:solidFill>
          <a:ln/>
        </p:spPr>
      </p:sp>
      <p:sp>
        <p:nvSpPr>
          <p:cNvPr id="13" name="Text 11"/>
          <p:cNvSpPr/>
          <p:nvPr/>
        </p:nvSpPr>
        <p:spPr>
          <a:xfrm>
            <a:off x="731520" y="2871216"/>
            <a:ext cx="457200" cy="457200"/>
          </a:xfrm>
          <a:prstGeom prst="rect">
            <a:avLst/>
          </a:prstGeom>
          <a:noFill/>
          <a:ln/>
        </p:spPr>
        <p:txBody>
          <a:bodyPr wrap="square" lIns="0" tIns="0" rIns="0" bIns="0" rtlCol="0" anchor="ctr"/>
          <a:lstStyle/>
          <a:p>
            <a:pPr algn="ctr" indent="0" marL="0">
              <a:buNone/>
            </a:pPr>
            <a:r>
              <a:rPr lang="en-US" sz="1700" b="1" dirty="0">
                <a:solidFill>
                  <a:srgbClr val="14233A"/>
                </a:solidFill>
                <a:latin typeface="Cambria" pitchFamily="34" charset="0"/>
                <a:ea typeface="Cambria" pitchFamily="34" charset="-122"/>
                <a:cs typeface="Cambria" pitchFamily="34" charset="-120"/>
              </a:rPr>
              <a:t>2</a:t>
            </a:r>
            <a:endParaRPr lang="en-US" sz="1700" dirty="0"/>
          </a:p>
        </p:txBody>
      </p:sp>
      <p:sp>
        <p:nvSpPr>
          <p:cNvPr id="14" name="Text 12"/>
          <p:cNvSpPr/>
          <p:nvPr/>
        </p:nvSpPr>
        <p:spPr>
          <a:xfrm>
            <a:off x="1371600" y="2697480"/>
            <a:ext cx="3291840" cy="804672"/>
          </a:xfrm>
          <a:prstGeom prst="rect">
            <a:avLst/>
          </a:prstGeom>
          <a:noFill/>
          <a:ln/>
        </p:spPr>
        <p:txBody>
          <a:bodyPr wrap="square" lIns="0" tIns="0" rIns="0" bIns="0" rtlCol="0" anchor="ctr"/>
          <a:lstStyle/>
          <a:p>
            <a:pPr indent="0" marL="0">
              <a:buNone/>
            </a:pPr>
            <a:r>
              <a:rPr lang="en-US" sz="1750" b="1" dirty="0">
                <a:solidFill>
                  <a:srgbClr val="FFFFFF"/>
                </a:solidFill>
                <a:latin typeface="Calibri" pitchFamily="34" charset="0"/>
                <a:ea typeface="Calibri" pitchFamily="34" charset="-122"/>
                <a:cs typeface="Calibri" pitchFamily="34" charset="-120"/>
              </a:rPr>
              <a:t>Size silently, reveal together</a:t>
            </a:r>
            <a:endParaRPr lang="en-US" sz="1750" dirty="0"/>
          </a:p>
        </p:txBody>
      </p:sp>
      <p:sp>
        <p:nvSpPr>
          <p:cNvPr id="15" name="Text 13"/>
          <p:cNvSpPr/>
          <p:nvPr/>
        </p:nvSpPr>
        <p:spPr>
          <a:xfrm>
            <a:off x="4663440" y="2697480"/>
            <a:ext cx="6766560" cy="804672"/>
          </a:xfrm>
          <a:prstGeom prst="rect">
            <a:avLst/>
          </a:prstGeom>
          <a:noFill/>
          <a:ln/>
        </p:spPr>
        <p:txBody>
          <a:bodyPr wrap="square" lIns="0" tIns="0" rIns="0" bIns="0" rtlCol="0" anchor="ctr"/>
          <a:lstStyle/>
          <a:p>
            <a:pPr indent="0" marL="0">
              <a:buNone/>
            </a:pPr>
            <a:r>
              <a:rPr lang="en-US" sz="1550" dirty="0">
                <a:solidFill>
                  <a:srgbClr val="CFE0E9"/>
                </a:solidFill>
                <a:latin typeface="Calibri" pitchFamily="34" charset="0"/>
                <a:ea typeface="Calibri" pitchFamily="34" charset="-122"/>
                <a:cs typeface="Calibri" pitchFamily="34" charset="-120"/>
              </a:rPr>
              <a:t>Talk only about the disagreements. Solo: trade with your review partner and size each other's cold.</a:t>
            </a:r>
            <a:endParaRPr lang="en-US" sz="1550" dirty="0"/>
          </a:p>
        </p:txBody>
      </p:sp>
      <p:sp>
        <p:nvSpPr>
          <p:cNvPr id="16" name="Shape 14"/>
          <p:cNvSpPr/>
          <p:nvPr/>
        </p:nvSpPr>
        <p:spPr>
          <a:xfrm>
            <a:off x="548640" y="3611880"/>
            <a:ext cx="11064240" cy="804672"/>
          </a:xfrm>
          <a:prstGeom prst="roundRect">
            <a:avLst>
              <a:gd name="adj" fmla="val 10227"/>
            </a:avLst>
          </a:prstGeom>
          <a:solidFill>
            <a:srgbClr val="1E3352"/>
          </a:solidFill>
          <a:ln/>
          <a:effectLst>
            <a:outerShdw sx="100000" sy="100000" kx="0" ky="0" algn="bl" rotWithShape="0" blurRad="88900" dist="38100" dir="5400000">
              <a:srgbClr val="000000">
                <a:alpha val="13000"/>
              </a:srgbClr>
            </a:outerShdw>
          </a:effectLst>
        </p:spPr>
      </p:sp>
      <p:sp>
        <p:nvSpPr>
          <p:cNvPr id="17" name="Shape 15"/>
          <p:cNvSpPr/>
          <p:nvPr/>
        </p:nvSpPr>
        <p:spPr>
          <a:xfrm>
            <a:off x="731520" y="3785616"/>
            <a:ext cx="457200" cy="457200"/>
          </a:xfrm>
          <a:prstGeom prst="ellipse">
            <a:avLst/>
          </a:prstGeom>
          <a:solidFill>
            <a:srgbClr val="E8A33D"/>
          </a:solidFill>
          <a:ln/>
        </p:spPr>
      </p:sp>
      <p:sp>
        <p:nvSpPr>
          <p:cNvPr id="18" name="Text 16"/>
          <p:cNvSpPr/>
          <p:nvPr/>
        </p:nvSpPr>
        <p:spPr>
          <a:xfrm>
            <a:off x="731520" y="3785616"/>
            <a:ext cx="457200" cy="457200"/>
          </a:xfrm>
          <a:prstGeom prst="rect">
            <a:avLst/>
          </a:prstGeom>
          <a:noFill/>
          <a:ln/>
        </p:spPr>
        <p:txBody>
          <a:bodyPr wrap="square" lIns="0" tIns="0" rIns="0" bIns="0" rtlCol="0" anchor="ctr"/>
          <a:lstStyle/>
          <a:p>
            <a:pPr algn="ctr" indent="0" marL="0">
              <a:buNone/>
            </a:pPr>
            <a:r>
              <a:rPr lang="en-US" sz="1700" b="1" dirty="0">
                <a:solidFill>
                  <a:srgbClr val="14233A"/>
                </a:solidFill>
                <a:latin typeface="Cambria" pitchFamily="34" charset="0"/>
                <a:ea typeface="Cambria" pitchFamily="34" charset="-122"/>
                <a:cs typeface="Cambria" pitchFamily="34" charset="-120"/>
              </a:rPr>
              <a:t>3</a:t>
            </a:r>
            <a:endParaRPr lang="en-US" sz="1700" dirty="0"/>
          </a:p>
        </p:txBody>
      </p:sp>
      <p:sp>
        <p:nvSpPr>
          <p:cNvPr id="19" name="Text 17"/>
          <p:cNvSpPr/>
          <p:nvPr/>
        </p:nvSpPr>
        <p:spPr>
          <a:xfrm>
            <a:off x="1371600" y="3611880"/>
            <a:ext cx="3291840" cy="804672"/>
          </a:xfrm>
          <a:prstGeom prst="rect">
            <a:avLst/>
          </a:prstGeom>
          <a:noFill/>
          <a:ln/>
        </p:spPr>
        <p:txBody>
          <a:bodyPr wrap="square" lIns="0" tIns="0" rIns="0" bIns="0" rtlCol="0" anchor="ctr"/>
          <a:lstStyle/>
          <a:p>
            <a:pPr indent="0" marL="0">
              <a:buNone/>
            </a:pPr>
            <a:r>
              <a:rPr lang="en-US" sz="1750" b="1" dirty="0">
                <a:solidFill>
                  <a:srgbClr val="FFFFFF"/>
                </a:solidFill>
                <a:latin typeface="Calibri" pitchFamily="34" charset="0"/>
                <a:ea typeface="Calibri" pitchFamily="34" charset="-122"/>
                <a:cs typeface="Calibri" pitchFamily="34" charset="-120"/>
              </a:rPr>
              <a:t>Question every L, split every XL</a:t>
            </a:r>
            <a:endParaRPr lang="en-US" sz="1750" dirty="0"/>
          </a:p>
        </p:txBody>
      </p:sp>
      <p:sp>
        <p:nvSpPr>
          <p:cNvPr id="20" name="Text 18"/>
          <p:cNvSpPr/>
          <p:nvPr/>
        </p:nvSpPr>
        <p:spPr>
          <a:xfrm>
            <a:off x="4663440" y="3611880"/>
            <a:ext cx="6766560" cy="804672"/>
          </a:xfrm>
          <a:prstGeom prst="rect">
            <a:avLst/>
          </a:prstGeom>
          <a:noFill/>
          <a:ln/>
        </p:spPr>
        <p:txBody>
          <a:bodyPr wrap="square" lIns="0" tIns="0" rIns="0" bIns="0" rtlCol="0" anchor="ctr"/>
          <a:lstStyle/>
          <a:p>
            <a:pPr indent="0" marL="0">
              <a:buNone/>
            </a:pPr>
            <a:r>
              <a:rPr lang="en-US" sz="1550" dirty="0">
                <a:solidFill>
                  <a:srgbClr val="CFE0E9"/>
                </a:solidFill>
                <a:latin typeface="Calibri" pitchFamily="34" charset="0"/>
                <a:ea typeface="Calibri" pitchFamily="34" charset="-122"/>
                <a:cs typeface="Calibri" pitchFamily="34" charset="-120"/>
              </a:rPr>
              <a:t>An L: split it, or schedule it first?</a:t>
            </a:r>
            <a:endParaRPr lang="en-US" sz="1550" dirty="0"/>
          </a:p>
        </p:txBody>
      </p:sp>
      <p:sp>
        <p:nvSpPr>
          <p:cNvPr id="21" name="Shape 19"/>
          <p:cNvSpPr/>
          <p:nvPr/>
        </p:nvSpPr>
        <p:spPr>
          <a:xfrm>
            <a:off x="548640" y="4526280"/>
            <a:ext cx="11064240" cy="804672"/>
          </a:xfrm>
          <a:prstGeom prst="roundRect">
            <a:avLst>
              <a:gd name="adj" fmla="val 10227"/>
            </a:avLst>
          </a:prstGeom>
          <a:solidFill>
            <a:srgbClr val="1E3352"/>
          </a:solidFill>
          <a:ln/>
          <a:effectLst>
            <a:outerShdw sx="100000" sy="100000" kx="0" ky="0" algn="bl" rotWithShape="0" blurRad="88900" dist="38100" dir="5400000">
              <a:srgbClr val="000000">
                <a:alpha val="13000"/>
              </a:srgbClr>
            </a:outerShdw>
          </a:effectLst>
        </p:spPr>
      </p:sp>
      <p:sp>
        <p:nvSpPr>
          <p:cNvPr id="22" name="Shape 20"/>
          <p:cNvSpPr/>
          <p:nvPr/>
        </p:nvSpPr>
        <p:spPr>
          <a:xfrm>
            <a:off x="731520" y="4700016"/>
            <a:ext cx="457200" cy="457200"/>
          </a:xfrm>
          <a:prstGeom prst="ellipse">
            <a:avLst/>
          </a:prstGeom>
          <a:solidFill>
            <a:srgbClr val="E8A33D"/>
          </a:solidFill>
          <a:ln/>
        </p:spPr>
      </p:sp>
      <p:sp>
        <p:nvSpPr>
          <p:cNvPr id="23" name="Text 21"/>
          <p:cNvSpPr/>
          <p:nvPr/>
        </p:nvSpPr>
        <p:spPr>
          <a:xfrm>
            <a:off x="731520" y="4700016"/>
            <a:ext cx="457200" cy="457200"/>
          </a:xfrm>
          <a:prstGeom prst="rect">
            <a:avLst/>
          </a:prstGeom>
          <a:noFill/>
          <a:ln/>
        </p:spPr>
        <p:txBody>
          <a:bodyPr wrap="square" lIns="0" tIns="0" rIns="0" bIns="0" rtlCol="0" anchor="ctr"/>
          <a:lstStyle/>
          <a:p>
            <a:pPr algn="ctr" indent="0" marL="0">
              <a:buNone/>
            </a:pPr>
            <a:r>
              <a:rPr lang="en-US" sz="1700" b="1" dirty="0">
                <a:solidFill>
                  <a:srgbClr val="14233A"/>
                </a:solidFill>
                <a:latin typeface="Cambria" pitchFamily="34" charset="0"/>
                <a:ea typeface="Cambria" pitchFamily="34" charset="-122"/>
                <a:cs typeface="Cambria" pitchFamily="34" charset="-120"/>
              </a:rPr>
              <a:t>4</a:t>
            </a:r>
            <a:endParaRPr lang="en-US" sz="1700" dirty="0"/>
          </a:p>
        </p:txBody>
      </p:sp>
      <p:sp>
        <p:nvSpPr>
          <p:cNvPr id="24" name="Text 22"/>
          <p:cNvSpPr/>
          <p:nvPr/>
        </p:nvSpPr>
        <p:spPr>
          <a:xfrm>
            <a:off x="1371600" y="4526280"/>
            <a:ext cx="3291840" cy="804672"/>
          </a:xfrm>
          <a:prstGeom prst="rect">
            <a:avLst/>
          </a:prstGeom>
          <a:noFill/>
          <a:ln/>
        </p:spPr>
        <p:txBody>
          <a:bodyPr wrap="square" lIns="0" tIns="0" rIns="0" bIns="0" rtlCol="0" anchor="ctr"/>
          <a:lstStyle/>
          <a:p>
            <a:pPr indent="0" marL="0">
              <a:buNone/>
            </a:pPr>
            <a:r>
              <a:rPr lang="en-US" sz="1750" b="1" dirty="0">
                <a:solidFill>
                  <a:srgbClr val="FFFFFF"/>
                </a:solidFill>
                <a:latin typeface="Calibri" pitchFamily="34" charset="0"/>
                <a:ea typeface="Calibri" pitchFamily="34" charset="-122"/>
                <a:cs typeface="Calibri" pitchFamily="34" charset="-120"/>
              </a:rPr>
              <a:t>Tally against your budget</a:t>
            </a:r>
            <a:endParaRPr lang="en-US" sz="1750" dirty="0"/>
          </a:p>
        </p:txBody>
      </p:sp>
      <p:sp>
        <p:nvSpPr>
          <p:cNvPr id="25" name="Text 23"/>
          <p:cNvSpPr/>
          <p:nvPr/>
        </p:nvSpPr>
        <p:spPr>
          <a:xfrm>
            <a:off x="4663440" y="4526280"/>
            <a:ext cx="6766560" cy="804672"/>
          </a:xfrm>
          <a:prstGeom prst="rect">
            <a:avLst/>
          </a:prstGeom>
          <a:noFill/>
          <a:ln/>
        </p:spPr>
        <p:txBody>
          <a:bodyPr wrap="square" lIns="0" tIns="0" rIns="0" bIns="0" rtlCol="0" anchor="ctr"/>
          <a:lstStyle/>
          <a:p>
            <a:pPr indent="0" marL="0">
              <a:buNone/>
            </a:pPr>
            <a:r>
              <a:rPr lang="en-US" sz="1550" dirty="0">
                <a:solidFill>
                  <a:srgbClr val="CFE0E9"/>
                </a:solidFill>
                <a:latin typeface="Calibri" pitchFamily="34" charset="0"/>
                <a:ea typeface="Calibri" pitchFamily="34" charset="-122"/>
                <a:cs typeface="Calibri" pitchFamily="34" charset="-120"/>
              </a:rPr>
              <a:t>Sheet boxes 2 and 3. If it doesn't fit, cut now (box 5), then name your next cut.</a:t>
            </a:r>
            <a:endParaRPr lang="en-US" sz="1550" dirty="0"/>
          </a:p>
        </p:txBody>
      </p:sp>
      <p:sp>
        <p:nvSpPr>
          <p:cNvPr id="26" name="Shape 24"/>
          <p:cNvSpPr/>
          <p:nvPr/>
        </p:nvSpPr>
        <p:spPr>
          <a:xfrm>
            <a:off x="548640" y="5486400"/>
            <a:ext cx="11064240" cy="731520"/>
          </a:xfrm>
          <a:prstGeom prst="roundRect">
            <a:avLst>
              <a:gd name="adj" fmla="val 11250"/>
            </a:avLst>
          </a:prstGeom>
          <a:solidFill>
            <a:srgbClr val="E8A33D"/>
          </a:solidFill>
          <a:ln/>
          <a:effectLst>
            <a:outerShdw sx="100000" sy="100000" kx="0" ky="0" algn="bl" rotWithShape="0" blurRad="88900" dist="38100" dir="5400000">
              <a:srgbClr val="000000">
                <a:alpha val="13000"/>
              </a:srgbClr>
            </a:outerShdw>
          </a:effectLst>
        </p:spPr>
      </p:sp>
      <p:sp>
        <p:nvSpPr>
          <p:cNvPr id="27" name="Text 25"/>
          <p:cNvSpPr/>
          <p:nvPr/>
        </p:nvSpPr>
        <p:spPr>
          <a:xfrm>
            <a:off x="868680" y="5486400"/>
            <a:ext cx="10424160" cy="731520"/>
          </a:xfrm>
          <a:prstGeom prst="rect">
            <a:avLst/>
          </a:prstGeom>
          <a:noFill/>
          <a:ln/>
        </p:spPr>
        <p:txBody>
          <a:bodyPr wrap="square" lIns="0" tIns="0" rIns="0" bIns="0" rtlCol="0" anchor="ctr"/>
          <a:lstStyle/>
          <a:p>
            <a:pPr indent="0" marL="0">
              <a:buNone/>
            </a:pPr>
            <a:r>
              <a:rPr lang="en-US" sz="1650" b="1" dirty="0">
                <a:solidFill>
                  <a:srgbClr val="14233A"/>
                </a:solidFill>
                <a:latin typeface="Calibri" pitchFamily="34" charset="0"/>
                <a:ea typeface="Calibri" pitchFamily="34" charset="-122"/>
                <a:cs typeface="Calibri" pitchFamily="34" charset="-120"/>
              </a:rPr>
              <a:t>The cut moves, in order: off the slice first · take a fallback · shrink the criteria · defer to the roadmap</a:t>
            </a:r>
            <a:endParaRPr lang="en-US" sz="1650" dirty="0"/>
          </a:p>
        </p:txBody>
      </p:sp>
      <p:sp>
        <p:nvSpPr>
          <p:cNvPr id="28" name="Text 26"/>
          <p:cNvSpPr/>
          <p:nvPr/>
        </p:nvSpPr>
        <p:spPr>
          <a:xfrm>
            <a:off x="6217920" y="6437376"/>
            <a:ext cx="5394960" cy="274320"/>
          </a:xfrm>
          <a:prstGeom prst="rect">
            <a:avLst/>
          </a:prstGeom>
          <a:noFill/>
          <a:ln/>
        </p:spPr>
        <p:txBody>
          <a:bodyPr wrap="square" lIns="0" tIns="0" rIns="0" bIns="0" rtlCol="0" anchor="ctr"/>
          <a:lstStyle/>
          <a:p>
            <a:pPr algn="r" indent="0" marL="0">
              <a:buNone/>
            </a:pPr>
            <a:r>
              <a:rPr lang="en-US" sz="1000" dirty="0">
                <a:solidFill>
                  <a:srgbClr val="7E92A8"/>
                </a:solidFill>
                <a:latin typeface="Calibri" pitchFamily="34" charset="0"/>
                <a:ea typeface="Calibri" pitchFamily="34" charset="-122"/>
                <a:cs typeface="Calibri" pitchFamily="34" charset="-120"/>
              </a:rPr>
              <a:t>CS 301R · Session 18 · Estimation &amp; the Vertical Slice</a:t>
            </a:r>
            <a:endParaRPr lang="en-US" sz="1000" dirty="0"/>
          </a:p>
        </p:txBody>
      </p:sp>
      <p:sp>
        <p:nvSpPr>
          <p:cNvPr id="29" name="Text 27"/>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7E92A8"/>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SEQUENCING</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Five rules, strongest first</a:t>
            </a:r>
            <a:endParaRPr lang="en-US" sz="3100" dirty="0"/>
          </a:p>
        </p:txBody>
      </p:sp>
      <p:sp>
        <p:nvSpPr>
          <p:cNvPr id="5" name="click-1"/>
          <p:cNvSpPr/>
          <p:nvPr/>
        </p:nvSpPr>
        <p:spPr>
          <a:xfrm>
            <a:off x="548640" y="1783080"/>
            <a:ext cx="11064240" cy="749808"/>
          </a:xfrm>
          <a:prstGeom prst="roundRect">
            <a:avLst>
              <a:gd name="adj" fmla="val 10976"/>
            </a:avLst>
          </a:prstGeom>
          <a:solidFill>
            <a:srgbClr val="F2F6F8"/>
          </a:solidFill>
          <a:ln/>
          <a:effectLst>
            <a:outerShdw sx="100000" sy="100000" kx="0" ky="0" algn="bl" rotWithShape="0" blurRad="88900" dist="38100" dir="5400000">
              <a:srgbClr val="000000">
                <a:alpha val="13000"/>
              </a:srgbClr>
            </a:outerShdw>
          </a:effectLst>
        </p:spPr>
      </p:sp>
      <p:sp>
        <p:nvSpPr>
          <p:cNvPr id="6" name="click-1"/>
          <p:cNvSpPr/>
          <p:nvPr/>
        </p:nvSpPr>
        <p:spPr>
          <a:xfrm>
            <a:off x="777240" y="1901952"/>
            <a:ext cx="512064" cy="512064"/>
          </a:xfrm>
          <a:prstGeom prst="ellipse">
            <a:avLst/>
          </a:prstGeom>
          <a:solidFill>
            <a:srgbClr val="12908F"/>
          </a:solidFill>
          <a:ln/>
        </p:spPr>
      </p:sp>
      <p:pic>
        <p:nvPicPr>
          <p:cNvPr id="7" name="click-1" descr="preencoded.png">    </p:cNvPr>
          <p:cNvPicPr>
            <a:picLocks noChangeAspect="1"/>
          </p:cNvPicPr>
          <p:nvPr/>
        </p:nvPicPr>
        <p:blipFill>
          <a:blip r:embed="rId1"/>
          <a:stretch>
            <a:fillRect/>
          </a:stretch>
        </p:blipFill>
        <p:spPr>
          <a:xfrm>
            <a:off x="915497" y="2040209"/>
            <a:ext cx="235549" cy="235549"/>
          </a:xfrm>
          <a:prstGeom prst="rect">
            <a:avLst/>
          </a:prstGeom>
        </p:spPr>
      </p:pic>
      <p:sp>
        <p:nvSpPr>
          <p:cNvPr id="8" name="click-1"/>
          <p:cNvSpPr/>
          <p:nvPr/>
        </p:nvSpPr>
        <p:spPr>
          <a:xfrm>
            <a:off x="1508760" y="1783080"/>
            <a:ext cx="3108960" cy="749808"/>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Slice first</a:t>
            </a:r>
            <a:endParaRPr lang="en-US" sz="1800" dirty="0"/>
          </a:p>
        </p:txBody>
      </p:sp>
      <p:sp>
        <p:nvSpPr>
          <p:cNvPr id="9" name="click-1"/>
          <p:cNvSpPr/>
          <p:nvPr/>
        </p:nvSpPr>
        <p:spPr>
          <a:xfrm>
            <a:off x="4572000" y="1783080"/>
            <a:ext cx="6858000" cy="749808"/>
          </a:xfrm>
          <a:prstGeom prst="rect">
            <a:avLst/>
          </a:prstGeom>
          <a:noFill/>
          <a:ln/>
        </p:spPr>
        <p:txBody>
          <a:bodyPr wrap="square" lIns="0" tIns="0" rIns="0" bIns="0" rtlCol="0" anchor="ctr"/>
          <a:lstStyle/>
          <a:p>
            <a:pPr indent="0" marL="0">
              <a:buNone/>
            </a:pPr>
            <a:r>
              <a:rPr lang="en-US" sz="1600" dirty="0">
                <a:solidFill>
                  <a:srgbClr val="1E2A36"/>
                </a:solidFill>
                <a:latin typeface="Calibri" pitchFamily="34" charset="0"/>
                <a:ea typeface="Calibri" pitchFamily="34" charset="-122"/>
                <a:cs typeface="Calibri" pitchFamily="34" charset="-120"/>
              </a:rPr>
              <a:t>The one end-to-end path the demo walks, walkable as early as possible, then widened.</a:t>
            </a:r>
            <a:endParaRPr lang="en-US" sz="1600" dirty="0"/>
          </a:p>
        </p:txBody>
      </p:sp>
      <p:sp>
        <p:nvSpPr>
          <p:cNvPr id="10" name="click-2"/>
          <p:cNvSpPr/>
          <p:nvPr/>
        </p:nvSpPr>
        <p:spPr>
          <a:xfrm>
            <a:off x="548640" y="2651760"/>
            <a:ext cx="11064240" cy="749808"/>
          </a:xfrm>
          <a:prstGeom prst="roundRect">
            <a:avLst>
              <a:gd name="adj" fmla="val 10976"/>
            </a:avLst>
          </a:prstGeom>
          <a:solidFill>
            <a:srgbClr val="F2F6F8"/>
          </a:solidFill>
          <a:ln/>
          <a:effectLst>
            <a:outerShdw sx="100000" sy="100000" kx="0" ky="0" algn="bl" rotWithShape="0" blurRad="88900" dist="38100" dir="5400000">
              <a:srgbClr val="000000">
                <a:alpha val="13000"/>
              </a:srgbClr>
            </a:outerShdw>
          </a:effectLst>
        </p:spPr>
      </p:sp>
      <p:sp>
        <p:nvSpPr>
          <p:cNvPr id="11" name="click-2"/>
          <p:cNvSpPr/>
          <p:nvPr/>
        </p:nvSpPr>
        <p:spPr>
          <a:xfrm>
            <a:off x="777240" y="2770632"/>
            <a:ext cx="512064" cy="512064"/>
          </a:xfrm>
          <a:prstGeom prst="ellipse">
            <a:avLst/>
          </a:prstGeom>
          <a:solidFill>
            <a:srgbClr val="12908F"/>
          </a:solidFill>
          <a:ln/>
        </p:spPr>
      </p:sp>
      <p:pic>
        <p:nvPicPr>
          <p:cNvPr id="12" name="click-2" descr="preencoded.png">    </p:cNvPr>
          <p:cNvPicPr>
            <a:picLocks noChangeAspect="1"/>
          </p:cNvPicPr>
          <p:nvPr/>
        </p:nvPicPr>
        <p:blipFill>
          <a:blip r:embed="rId2"/>
          <a:stretch>
            <a:fillRect/>
          </a:stretch>
        </p:blipFill>
        <p:spPr>
          <a:xfrm>
            <a:off x="915497" y="2908889"/>
            <a:ext cx="235549" cy="235549"/>
          </a:xfrm>
          <a:prstGeom prst="rect">
            <a:avLst/>
          </a:prstGeom>
        </p:spPr>
      </p:pic>
      <p:sp>
        <p:nvSpPr>
          <p:cNvPr id="13" name="click-2"/>
          <p:cNvSpPr/>
          <p:nvPr/>
        </p:nvSpPr>
        <p:spPr>
          <a:xfrm>
            <a:off x="1508760" y="2651760"/>
            <a:ext cx="3108960" cy="749808"/>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Dependencies</a:t>
            </a:r>
            <a:endParaRPr lang="en-US" sz="1800" dirty="0"/>
          </a:p>
        </p:txBody>
      </p:sp>
      <p:sp>
        <p:nvSpPr>
          <p:cNvPr id="14" name="click-2"/>
          <p:cNvSpPr/>
          <p:nvPr/>
        </p:nvSpPr>
        <p:spPr>
          <a:xfrm>
            <a:off x="4572000" y="2651760"/>
            <a:ext cx="6858000" cy="749808"/>
          </a:xfrm>
          <a:prstGeom prst="rect">
            <a:avLst/>
          </a:prstGeom>
          <a:noFill/>
          <a:ln/>
        </p:spPr>
        <p:txBody>
          <a:bodyPr wrap="square" lIns="0" tIns="0" rIns="0" bIns="0" rtlCol="0" anchor="ctr"/>
          <a:lstStyle/>
          <a:p>
            <a:pPr indent="0" marL="0">
              <a:buNone/>
            </a:pPr>
            <a:r>
              <a:rPr lang="en-US" sz="1600" dirty="0">
                <a:solidFill>
                  <a:srgbClr val="1E2A36"/>
                </a:solidFill>
                <a:latin typeface="Calibri" pitchFamily="34" charset="0"/>
                <a:ea typeface="Calibri" pitchFamily="34" charset="-122"/>
                <a:cs typeface="Calibri" pitchFamily="34" charset="-120"/>
              </a:rPr>
              <a:t>Only the real edges. Write each as "Needs …" in the issue; the order follows.</a:t>
            </a:r>
            <a:endParaRPr lang="en-US" sz="1600" dirty="0"/>
          </a:p>
        </p:txBody>
      </p:sp>
      <p:sp>
        <p:nvSpPr>
          <p:cNvPr id="15" name="click-3"/>
          <p:cNvSpPr/>
          <p:nvPr/>
        </p:nvSpPr>
        <p:spPr>
          <a:xfrm>
            <a:off x="548640" y="3520440"/>
            <a:ext cx="11064240" cy="749808"/>
          </a:xfrm>
          <a:prstGeom prst="roundRect">
            <a:avLst>
              <a:gd name="adj" fmla="val 10976"/>
            </a:avLst>
          </a:prstGeom>
          <a:solidFill>
            <a:srgbClr val="F2F6F8"/>
          </a:solidFill>
          <a:ln/>
          <a:effectLst>
            <a:outerShdw sx="100000" sy="100000" kx="0" ky="0" algn="bl" rotWithShape="0" blurRad="88900" dist="38100" dir="5400000">
              <a:srgbClr val="000000">
                <a:alpha val="13000"/>
              </a:srgbClr>
            </a:outerShdw>
          </a:effectLst>
        </p:spPr>
      </p:sp>
      <p:sp>
        <p:nvSpPr>
          <p:cNvPr id="16" name="click-3"/>
          <p:cNvSpPr/>
          <p:nvPr/>
        </p:nvSpPr>
        <p:spPr>
          <a:xfrm>
            <a:off x="777240" y="3639312"/>
            <a:ext cx="512064" cy="512064"/>
          </a:xfrm>
          <a:prstGeom prst="ellipse">
            <a:avLst/>
          </a:prstGeom>
          <a:solidFill>
            <a:srgbClr val="12908F"/>
          </a:solidFill>
          <a:ln/>
        </p:spPr>
      </p:sp>
      <p:pic>
        <p:nvPicPr>
          <p:cNvPr id="17" name="click-3" descr="preencoded.png">    </p:cNvPr>
          <p:cNvPicPr>
            <a:picLocks noChangeAspect="1"/>
          </p:cNvPicPr>
          <p:nvPr/>
        </p:nvPicPr>
        <p:blipFill>
          <a:blip r:embed="rId3"/>
          <a:stretch>
            <a:fillRect/>
          </a:stretch>
        </p:blipFill>
        <p:spPr>
          <a:xfrm>
            <a:off x="915497" y="3777569"/>
            <a:ext cx="235549" cy="235549"/>
          </a:xfrm>
          <a:prstGeom prst="rect">
            <a:avLst/>
          </a:prstGeom>
        </p:spPr>
      </p:pic>
      <p:sp>
        <p:nvSpPr>
          <p:cNvPr id="18" name="click-3"/>
          <p:cNvSpPr/>
          <p:nvPr/>
        </p:nvSpPr>
        <p:spPr>
          <a:xfrm>
            <a:off x="1508760" y="3520440"/>
            <a:ext cx="3108960" cy="749808"/>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Risk early</a:t>
            </a:r>
            <a:endParaRPr lang="en-US" sz="1800" dirty="0"/>
          </a:p>
        </p:txBody>
      </p:sp>
      <p:sp>
        <p:nvSpPr>
          <p:cNvPr id="19" name="click-3"/>
          <p:cNvSpPr/>
          <p:nvPr/>
        </p:nvSpPr>
        <p:spPr>
          <a:xfrm>
            <a:off x="4572000" y="3520440"/>
            <a:ext cx="6858000" cy="749808"/>
          </a:xfrm>
          <a:prstGeom prst="rect">
            <a:avLst/>
          </a:prstGeom>
          <a:noFill/>
          <a:ln/>
        </p:spPr>
        <p:txBody>
          <a:bodyPr wrap="square" lIns="0" tIns="0" rIns="0" bIns="0" rtlCol="0" anchor="ctr"/>
          <a:lstStyle/>
          <a:p>
            <a:pPr indent="0" marL="0">
              <a:buNone/>
            </a:pPr>
            <a:r>
              <a:rPr lang="en-US" sz="1600" dirty="0">
                <a:solidFill>
                  <a:srgbClr val="1E2A36"/>
                </a:solidFill>
                <a:latin typeface="Calibri" pitchFamily="34" charset="0"/>
                <a:ea typeface="Calibri" pitchFamily="34" charset="-122"/>
                <a:cs typeface="Calibri" pitchFamily="34" charset="-120"/>
              </a:rPr>
              <a:t>The scariest issue goes first, while there's still time for it to be wrong.</a:t>
            </a:r>
            <a:endParaRPr lang="en-US" sz="1600" dirty="0"/>
          </a:p>
        </p:txBody>
      </p:sp>
      <p:sp>
        <p:nvSpPr>
          <p:cNvPr id="20" name="click-4"/>
          <p:cNvSpPr/>
          <p:nvPr/>
        </p:nvSpPr>
        <p:spPr>
          <a:xfrm>
            <a:off x="548640" y="4389120"/>
            <a:ext cx="11064240" cy="749808"/>
          </a:xfrm>
          <a:prstGeom prst="roundRect">
            <a:avLst>
              <a:gd name="adj" fmla="val 10976"/>
            </a:avLst>
          </a:prstGeom>
          <a:solidFill>
            <a:srgbClr val="F2F6F8"/>
          </a:solidFill>
          <a:ln/>
          <a:effectLst>
            <a:outerShdw sx="100000" sy="100000" kx="0" ky="0" algn="bl" rotWithShape="0" blurRad="88900" dist="38100" dir="5400000">
              <a:srgbClr val="000000">
                <a:alpha val="13000"/>
              </a:srgbClr>
            </a:outerShdw>
          </a:effectLst>
        </p:spPr>
      </p:sp>
      <p:sp>
        <p:nvSpPr>
          <p:cNvPr id="21" name="click-4"/>
          <p:cNvSpPr/>
          <p:nvPr/>
        </p:nvSpPr>
        <p:spPr>
          <a:xfrm>
            <a:off x="777240" y="4507992"/>
            <a:ext cx="512064" cy="512064"/>
          </a:xfrm>
          <a:prstGeom prst="ellipse">
            <a:avLst/>
          </a:prstGeom>
          <a:solidFill>
            <a:srgbClr val="12908F"/>
          </a:solidFill>
          <a:ln/>
        </p:spPr>
      </p:sp>
      <p:pic>
        <p:nvPicPr>
          <p:cNvPr id="22" name="click-4" descr="preencoded.png">    </p:cNvPr>
          <p:cNvPicPr>
            <a:picLocks noChangeAspect="1"/>
          </p:cNvPicPr>
          <p:nvPr/>
        </p:nvPicPr>
        <p:blipFill>
          <a:blip r:embed="rId4"/>
          <a:stretch>
            <a:fillRect/>
          </a:stretch>
        </p:blipFill>
        <p:spPr>
          <a:xfrm>
            <a:off x="915497" y="4646249"/>
            <a:ext cx="235549" cy="235549"/>
          </a:xfrm>
          <a:prstGeom prst="rect">
            <a:avLst/>
          </a:prstGeom>
        </p:spPr>
      </p:pic>
      <p:sp>
        <p:nvSpPr>
          <p:cNvPr id="23" name="click-4"/>
          <p:cNvSpPr/>
          <p:nvPr/>
        </p:nvSpPr>
        <p:spPr>
          <a:xfrm>
            <a:off x="1508760" y="4389120"/>
            <a:ext cx="3108960" cy="749808"/>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People are dependencies</a:t>
            </a:r>
            <a:endParaRPr lang="en-US" sz="1800" dirty="0"/>
          </a:p>
        </p:txBody>
      </p:sp>
      <p:sp>
        <p:nvSpPr>
          <p:cNvPr id="24" name="click-4"/>
          <p:cNvSpPr/>
          <p:nvPr/>
        </p:nvSpPr>
        <p:spPr>
          <a:xfrm>
            <a:off x="4572000" y="4389120"/>
            <a:ext cx="6858000" cy="749808"/>
          </a:xfrm>
          <a:prstGeom prst="rect">
            <a:avLst/>
          </a:prstGeom>
          <a:noFill/>
          <a:ln/>
        </p:spPr>
        <p:txBody>
          <a:bodyPr wrap="square" lIns="0" tIns="0" rIns="0" bIns="0" rtlCol="0" anchor="ctr"/>
          <a:lstStyle/>
          <a:p>
            <a:pPr indent="0" marL="0">
              <a:buNone/>
            </a:pPr>
            <a:r>
              <a:rPr lang="en-US" sz="1600" dirty="0">
                <a:solidFill>
                  <a:srgbClr val="1E2A36"/>
                </a:solidFill>
                <a:latin typeface="Calibri" pitchFamily="34" charset="0"/>
                <a:ea typeface="Calibri" pitchFamily="34" charset="-122"/>
                <a:cs typeface="Calibri" pitchFamily="34" charset="-120"/>
              </a:rPr>
              <a:t>A cold reader, a user to design with, a borrowed phone. Ask now; date it.</a:t>
            </a:r>
            <a:endParaRPr lang="en-US" sz="1600" dirty="0"/>
          </a:p>
        </p:txBody>
      </p:sp>
      <p:sp>
        <p:nvSpPr>
          <p:cNvPr id="25" name="click-5"/>
          <p:cNvSpPr/>
          <p:nvPr/>
        </p:nvSpPr>
        <p:spPr>
          <a:xfrm>
            <a:off x="548640" y="5257800"/>
            <a:ext cx="11064240" cy="749808"/>
          </a:xfrm>
          <a:prstGeom prst="roundRect">
            <a:avLst>
              <a:gd name="adj" fmla="val 10976"/>
            </a:avLst>
          </a:prstGeom>
          <a:solidFill>
            <a:srgbClr val="F2F6F8"/>
          </a:solidFill>
          <a:ln/>
          <a:effectLst>
            <a:outerShdw sx="100000" sy="100000" kx="0" ky="0" algn="bl" rotWithShape="0" blurRad="88900" dist="38100" dir="5400000">
              <a:srgbClr val="000000">
                <a:alpha val="13000"/>
              </a:srgbClr>
            </a:outerShdw>
          </a:effectLst>
        </p:spPr>
      </p:sp>
      <p:sp>
        <p:nvSpPr>
          <p:cNvPr id="26" name="click-5"/>
          <p:cNvSpPr/>
          <p:nvPr/>
        </p:nvSpPr>
        <p:spPr>
          <a:xfrm>
            <a:off x="777240" y="5376672"/>
            <a:ext cx="512064" cy="512064"/>
          </a:xfrm>
          <a:prstGeom prst="ellipse">
            <a:avLst/>
          </a:prstGeom>
          <a:solidFill>
            <a:srgbClr val="12908F"/>
          </a:solidFill>
          <a:ln/>
        </p:spPr>
      </p:sp>
      <p:pic>
        <p:nvPicPr>
          <p:cNvPr id="27" name="click-5" descr="preencoded.png">    </p:cNvPr>
          <p:cNvPicPr>
            <a:picLocks noChangeAspect="1"/>
          </p:cNvPicPr>
          <p:nvPr/>
        </p:nvPicPr>
        <p:blipFill>
          <a:blip r:embed="rId5"/>
          <a:stretch>
            <a:fillRect/>
          </a:stretch>
        </p:blipFill>
        <p:spPr>
          <a:xfrm>
            <a:off x="915497" y="5514929"/>
            <a:ext cx="235549" cy="235549"/>
          </a:xfrm>
          <a:prstGeom prst="rect">
            <a:avLst/>
          </a:prstGeom>
        </p:spPr>
      </p:pic>
      <p:sp>
        <p:nvSpPr>
          <p:cNvPr id="28" name="click-5"/>
          <p:cNvSpPr/>
          <p:nvPr/>
        </p:nvSpPr>
        <p:spPr>
          <a:xfrm>
            <a:off x="1508760" y="5257800"/>
            <a:ext cx="3108960" cy="749808"/>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Stagger the reviews</a:t>
            </a:r>
            <a:endParaRPr lang="en-US" sz="1800" dirty="0"/>
          </a:p>
        </p:txBody>
      </p:sp>
      <p:sp>
        <p:nvSpPr>
          <p:cNvPr id="29" name="click-5"/>
          <p:cNvSpPr/>
          <p:nvPr/>
        </p:nvSpPr>
        <p:spPr>
          <a:xfrm>
            <a:off x="4572000" y="5257800"/>
            <a:ext cx="6858000" cy="749808"/>
          </a:xfrm>
          <a:prstGeom prst="rect">
            <a:avLst/>
          </a:prstGeom>
          <a:noFill/>
          <a:ln/>
        </p:spPr>
        <p:txBody>
          <a:bodyPr wrap="square" lIns="0" tIns="0" rIns="0" bIns="0" rtlCol="0" anchor="ctr"/>
          <a:lstStyle/>
          <a:p>
            <a:pPr indent="0" marL="0">
              <a:buNone/>
            </a:pPr>
            <a:r>
              <a:rPr lang="en-US" sz="1600" dirty="0">
                <a:solidFill>
                  <a:srgbClr val="1E2A36"/>
                </a:solidFill>
                <a:latin typeface="Calibri" pitchFamily="34" charset="0"/>
                <a:ea typeface="Calibri" pitchFamily="34" charset="-122"/>
                <a:cs typeface="Calibri" pitchFamily="34" charset="-120"/>
              </a:rPr>
              <a:t>Two big pull requests in review at once stall a small project.</a:t>
            </a:r>
            <a:endParaRPr lang="en-US" sz="1600" dirty="0"/>
          </a:p>
        </p:txBody>
      </p:sp>
      <p:sp>
        <p:nvSpPr>
          <p:cNvPr id="30" name="Text 23"/>
          <p:cNvSpPr/>
          <p:nvPr/>
        </p:nvSpPr>
        <p:spPr>
          <a:xfrm>
            <a:off x="6217920" y="6437376"/>
            <a:ext cx="53949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18 · Estimation &amp; the Vertical Slice</a:t>
            </a:r>
            <a:endParaRPr lang="en-US" sz="1000" dirty="0"/>
          </a:p>
        </p:txBody>
      </p:sp>
      <p:sp>
        <p:nvSpPr>
          <p:cNvPr id="31" name="Text 24"/>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16</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childTnLst>
                                </p:cTn>
                              </p:par>
                              <p:par>
                                <p:cTn id="8" presetID="1" presetClass="entr" presetSubtype="0" fill="hold" grpId="0" nodeType="withEffect">
                                  <p:stCondLst>
                                    <p:cond delay="0"/>
                                  </p:stCondLst>
                                  <p:childTnLst>
                                    <p:set>
                                      <p:cBhvr>
                                        <p:cTn id="7" dur="1" fill="hold">
                                          <p:stCondLst>
                                            <p:cond delay="0"/>
                                          </p:stCondLst>
                                        </p:cTn>
                                        <p:tgtEl>
                                          <p:spTgt spid="6"/>
                                        </p:tgtEl>
                                        <p:attrNameLst>
                                          <p:attrName>style.visibility</p:attrName>
                                        </p:attrNameLst>
                                      </p:cBhvr>
                                      <p:to>
                                        <p:strVal val="visible"/>
                                      </p:to>
                                    </p:set>
                                  </p:childTnLst>
                                </p:cTn>
                              </p:par>
                              <p:par>
                                <p:cTn id="10" presetID="1"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8" presetID="1" presetClass="entr" presetSubtype="0"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19" dur="1" fill="hold">
                                          <p:stCondLst>
                                            <p:cond delay="0"/>
                                          </p:stCondLst>
                                        </p:cTn>
                                        <p:tgtEl>
                                          <p:spTgt spid="11"/>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1" dur="1" fill="hold">
                                          <p:stCondLst>
                                            <p:cond delay="0"/>
                                          </p:stCondLst>
                                        </p:cTn>
                                        <p:tgtEl>
                                          <p:spTgt spid="12"/>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5"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30" presetID="1" presetClass="entr" presetSubtype="0" fill="hold" grpId="0" nodeType="clickEffect">
                                  <p:stCondLst>
                                    <p:cond delay="0"/>
                                  </p:stCondLst>
                                  <p:childTnLst>
                                    <p:set>
                                      <p:cBhvr>
                                        <p:cTn id="29" dur="1" fill="hold">
                                          <p:stCondLst>
                                            <p:cond delay="0"/>
                                          </p:stCondLst>
                                        </p:cTn>
                                        <p:tgtEl>
                                          <p:spTgt spid="15"/>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1" dur="1" fill="hold">
                                          <p:stCondLst>
                                            <p:cond delay="0"/>
                                          </p:stCondLst>
                                        </p:cTn>
                                        <p:tgtEl>
                                          <p:spTgt spid="16"/>
                                        </p:tgtEl>
                                        <p:attrNameLst>
                                          <p:attrName>style.visibility</p:attrName>
                                        </p:attrNameLst>
                                      </p:cBhvr>
                                      <p:to>
                                        <p:strVal val="visible"/>
                                      </p:to>
                                    </p:set>
                                  </p:childTnLst>
                                </p:cTn>
                              </p:par>
                              <p:par>
                                <p:cTn id="34" presetID="1" presetClass="entr" presetSubtype="0" fill="hold" nodeType="withEffect">
                                  <p:stCondLst>
                                    <p:cond delay="0"/>
                                  </p:stCondLst>
                                  <p:childTnLst>
                                    <p:set>
                                      <p:cBhvr>
                                        <p:cTn id="33" dur="1" fill="hold">
                                          <p:stCondLst>
                                            <p:cond delay="0"/>
                                          </p:stCondLst>
                                        </p:cTn>
                                        <p:tgtEl>
                                          <p:spTgt spid="17"/>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5" dur="1" fill="hold">
                                          <p:stCondLst>
                                            <p:cond delay="0"/>
                                          </p:stCondLst>
                                        </p:cTn>
                                        <p:tgtEl>
                                          <p:spTgt spid="18"/>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7" dur="1" fill="hold">
                                          <p:stCondLst>
                                            <p:cond delay="0"/>
                                          </p:stCondLst>
                                        </p:cTn>
                                        <p:tgtEl>
                                          <p:spTgt spid="1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2" presetID="1" presetClass="entr" presetSubtype="0" fill="hold" grpId="0" nodeType="clickEffect">
                                  <p:stCondLst>
                                    <p:cond delay="0"/>
                                  </p:stCondLst>
                                  <p:childTnLst>
                                    <p:set>
                                      <p:cBhvr>
                                        <p:cTn id="41" dur="1" fill="hold">
                                          <p:stCondLst>
                                            <p:cond delay="0"/>
                                          </p:stCondLst>
                                        </p:cTn>
                                        <p:tgtEl>
                                          <p:spTgt spid="20"/>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3" dur="1" fill="hold">
                                          <p:stCondLst>
                                            <p:cond delay="0"/>
                                          </p:stCondLst>
                                        </p:cTn>
                                        <p:tgtEl>
                                          <p:spTgt spid="21"/>
                                        </p:tgtEl>
                                        <p:attrNameLst>
                                          <p:attrName>style.visibility</p:attrName>
                                        </p:attrNameLst>
                                      </p:cBhvr>
                                      <p:to>
                                        <p:strVal val="visible"/>
                                      </p:to>
                                    </p:set>
                                  </p:childTnLst>
                                </p:cTn>
                              </p:par>
                              <p:par>
                                <p:cTn id="46" presetID="1" presetClass="entr" presetSubtype="0" fill="hold" nodeType="withEffect">
                                  <p:stCondLst>
                                    <p:cond delay="0"/>
                                  </p:stCondLst>
                                  <p:childTnLst>
                                    <p:set>
                                      <p:cBhvr>
                                        <p:cTn id="45" dur="1" fill="hold">
                                          <p:stCondLst>
                                            <p:cond delay="0"/>
                                          </p:stCondLst>
                                        </p:cTn>
                                        <p:tgtEl>
                                          <p:spTgt spid="22"/>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7" dur="1" fill="hold">
                                          <p:stCondLst>
                                            <p:cond delay="0"/>
                                          </p:stCondLst>
                                        </p:cTn>
                                        <p:tgtEl>
                                          <p:spTgt spid="23"/>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49" dur="1" fill="hold">
                                          <p:stCondLst>
                                            <p:cond delay="0"/>
                                          </p:stCondLst>
                                        </p:cTn>
                                        <p:tgtEl>
                                          <p:spTgt spid="2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4" presetID="1" presetClass="entr" presetSubtype="0" fill="hold" grpId="0" nodeType="clickEffect">
                                  <p:stCondLst>
                                    <p:cond delay="0"/>
                                  </p:stCondLst>
                                  <p:childTnLst>
                                    <p:set>
                                      <p:cBhvr>
                                        <p:cTn id="53" dur="1" fill="hold">
                                          <p:stCondLst>
                                            <p:cond delay="0"/>
                                          </p:stCondLst>
                                        </p:cTn>
                                        <p:tgtEl>
                                          <p:spTgt spid="25"/>
                                        </p:tgtEl>
                                        <p:attrNameLst>
                                          <p:attrName>style.visibility</p:attrName>
                                        </p:attrNameLst>
                                      </p:cBhvr>
                                      <p:to>
                                        <p:strVal val="visible"/>
                                      </p:to>
                                    </p:set>
                                  </p:childTnLst>
                                </p:cTn>
                              </p:par>
                              <p:par>
                                <p:cTn id="56" presetID="1" presetClass="entr" presetSubtype="0" fill="hold" grpId="0" nodeType="withEffect">
                                  <p:stCondLst>
                                    <p:cond delay="0"/>
                                  </p:stCondLst>
                                  <p:childTnLst>
                                    <p:set>
                                      <p:cBhvr>
                                        <p:cTn id="55" dur="1" fill="hold">
                                          <p:stCondLst>
                                            <p:cond delay="0"/>
                                          </p:stCondLst>
                                        </p:cTn>
                                        <p:tgtEl>
                                          <p:spTgt spid="26"/>
                                        </p:tgtEl>
                                        <p:attrNameLst>
                                          <p:attrName>style.visibility</p:attrName>
                                        </p:attrNameLst>
                                      </p:cBhvr>
                                      <p:to>
                                        <p:strVal val="visible"/>
                                      </p:to>
                                    </p:set>
                                  </p:childTnLst>
                                </p:cTn>
                              </p:par>
                              <p:par>
                                <p:cTn id="58" presetID="1" presetClass="entr" presetSubtype="0" fill="hold" nodeType="withEffect">
                                  <p:stCondLst>
                                    <p:cond delay="0"/>
                                  </p:stCondLst>
                                  <p:childTnLst>
                                    <p:set>
                                      <p:cBhvr>
                                        <p:cTn id="57" dur="1" fill="hold">
                                          <p:stCondLst>
                                            <p:cond delay="0"/>
                                          </p:stCondLst>
                                        </p:cTn>
                                        <p:tgtEl>
                                          <p:spTgt spid="27"/>
                                        </p:tgtEl>
                                        <p:attrNameLst>
                                          <p:attrName>style.visibility</p:attrName>
                                        </p:attrNameLst>
                                      </p:cBhvr>
                                      <p:to>
                                        <p:strVal val="visible"/>
                                      </p:to>
                                    </p:set>
                                  </p:childTnLst>
                                </p:cTn>
                              </p:par>
                              <p:par>
                                <p:cTn id="60" presetID="1" presetClass="entr" presetSubtype="0" fill="hold" grpId="0" nodeType="withEffect">
                                  <p:stCondLst>
                                    <p:cond delay="0"/>
                                  </p:stCondLst>
                                  <p:childTnLst>
                                    <p:set>
                                      <p:cBhvr>
                                        <p:cTn id="59" dur="1" fill="hold">
                                          <p:stCondLst>
                                            <p:cond delay="0"/>
                                          </p:stCondLst>
                                        </p:cTn>
                                        <p:tgtEl>
                                          <p:spTgt spid="28"/>
                                        </p:tgtEl>
                                        <p:attrNameLst>
                                          <p:attrName>style.visibility</p:attrName>
                                        </p:attrNameLst>
                                      </p:cBhvr>
                                      <p:to>
                                        <p:strVal val="visible"/>
                                      </p:to>
                                    </p:set>
                                  </p:childTnLst>
                                </p:cTn>
                              </p:par>
                              <p:par>
                                <p:cTn id="62" presetID="1" presetClass="entr" presetSubtype="0" fill="hold" grpId="0" nodeType="withEffect">
                                  <p:stCondLst>
                                    <p:cond delay="0"/>
                                  </p:stCondLst>
                                  <p:childTnLst>
                                    <p:set>
                                      <p:cBhvr>
                                        <p:cTn id="61"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9" grpId="0" animBg="1"/>
      <p:bldP spid="10" grpId="0" animBg="1"/>
      <p:bldP spid="11" grpId="0" animBg="1"/>
      <p:bldP spid="13" grpId="0" animBg="1"/>
      <p:bldP spid="14" grpId="0" animBg="1"/>
      <p:bldP spid="15" grpId="0" animBg="1"/>
      <p:bldP spid="16" grpId="0" animBg="1"/>
      <p:bldP spid="18" grpId="0" animBg="1"/>
      <p:bldP spid="19" grpId="0" animBg="1"/>
      <p:bldP spid="20" grpId="0" animBg="1"/>
      <p:bldP spid="21" grpId="0" animBg="1"/>
      <p:bldP spid="23" grpId="0" animBg="1"/>
      <p:bldP spid="24" grpId="0" animBg="1"/>
      <p:bldP spid="25" grpId="0" animBg="1"/>
      <p:bldP spid="26" grpId="0" animBg="1"/>
      <p:bldP spid="28" grpId="0" animBg="1"/>
      <p:bldP spid="2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PROP LOFT'S ORDER</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Ready holds what can start now. Backlog's top is next.</a:t>
            </a:r>
            <a:endParaRPr lang="en-US" sz="3100" dirty="0"/>
          </a:p>
        </p:txBody>
      </p:sp>
      <p:sp>
        <p:nvSpPr>
          <p:cNvPr id="5" name="Shape 3"/>
          <p:cNvSpPr/>
          <p:nvPr/>
        </p:nvSpPr>
        <p:spPr>
          <a:xfrm>
            <a:off x="548640" y="1783080"/>
            <a:ext cx="3474720" cy="3017520"/>
          </a:xfrm>
          <a:prstGeom prst="roundRect">
            <a:avLst>
              <a:gd name="adj" fmla="val 2424"/>
            </a:avLst>
          </a:prstGeom>
          <a:solidFill>
            <a:srgbClr val="F2F6F8"/>
          </a:solidFill>
          <a:ln/>
        </p:spPr>
      </p:sp>
      <p:sp>
        <p:nvSpPr>
          <p:cNvPr id="6" name="Text 4"/>
          <p:cNvSpPr/>
          <p:nvPr/>
        </p:nvSpPr>
        <p:spPr>
          <a:xfrm>
            <a:off x="731520" y="1847088"/>
            <a:ext cx="3108960" cy="457200"/>
          </a:xfrm>
          <a:prstGeom prst="rect">
            <a:avLst/>
          </a:prstGeom>
          <a:noFill/>
          <a:ln/>
        </p:spPr>
        <p:txBody>
          <a:bodyPr wrap="square" lIns="0" tIns="0" rIns="0" bIns="0" rtlCol="0" anchor="ctr"/>
          <a:lstStyle/>
          <a:p>
            <a:pPr indent="0" marL="0">
              <a:buNone/>
            </a:pPr>
            <a:r>
              <a:rPr lang="en-US" sz="1800" b="1" dirty="0">
                <a:solidFill>
                  <a:srgbClr val="0E6E6D"/>
                </a:solidFill>
                <a:latin typeface="Calibri" pitchFamily="34" charset="0"/>
                <a:ea typeface="Calibri" pitchFamily="34" charset="-122"/>
                <a:cs typeface="Calibri" pitchFamily="34" charset="-120"/>
              </a:rPr>
              <a:t>In progress</a:t>
            </a:r>
            <a:endParaRPr lang="en-US" sz="1800" dirty="0"/>
          </a:p>
        </p:txBody>
      </p:sp>
      <p:sp>
        <p:nvSpPr>
          <p:cNvPr id="7" name="Shape 5"/>
          <p:cNvSpPr/>
          <p:nvPr/>
        </p:nvSpPr>
        <p:spPr>
          <a:xfrm>
            <a:off x="685800" y="2395728"/>
            <a:ext cx="3200400" cy="658368"/>
          </a:xfrm>
          <a:prstGeom prst="roundRect">
            <a:avLst>
              <a:gd name="adj" fmla="val 12500"/>
            </a:avLst>
          </a:prstGeom>
          <a:solidFill>
            <a:srgbClr val="FFFFFF"/>
          </a:solidFill>
          <a:ln/>
          <a:effectLst>
            <a:outerShdw sx="100000" sy="100000" kx="0" ky="0" algn="bl" rotWithShape="0" blurRad="88900" dist="38100" dir="5400000">
              <a:srgbClr val="000000">
                <a:alpha val="13000"/>
              </a:srgbClr>
            </a:outerShdw>
          </a:effectLst>
        </p:spPr>
      </p:sp>
      <p:sp>
        <p:nvSpPr>
          <p:cNvPr id="8" name="Shape 6"/>
          <p:cNvSpPr/>
          <p:nvPr/>
        </p:nvSpPr>
        <p:spPr>
          <a:xfrm>
            <a:off x="795528" y="2514600"/>
            <a:ext cx="420624" cy="420624"/>
          </a:xfrm>
          <a:prstGeom prst="ellipse">
            <a:avLst/>
          </a:prstGeom>
          <a:solidFill>
            <a:srgbClr val="12908F"/>
          </a:solidFill>
          <a:ln/>
        </p:spPr>
      </p:sp>
      <p:sp>
        <p:nvSpPr>
          <p:cNvPr id="9" name="Text 7"/>
          <p:cNvSpPr/>
          <p:nvPr/>
        </p:nvSpPr>
        <p:spPr>
          <a:xfrm>
            <a:off x="795528" y="251460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10" name="Text 8"/>
          <p:cNvSpPr/>
          <p:nvPr/>
        </p:nvSpPr>
        <p:spPr>
          <a:xfrm>
            <a:off x="1325880" y="2395728"/>
            <a:ext cx="2468880" cy="658368"/>
          </a:xfrm>
          <a:prstGeom prst="rect">
            <a:avLst/>
          </a:prstGeom>
          <a:noFill/>
          <a:ln/>
        </p:spPr>
        <p:txBody>
          <a:bodyPr wrap="square" lIns="0" tIns="0" rIns="0" bIns="0" rtlCol="0" anchor="ctr"/>
          <a:lstStyle/>
          <a:p>
            <a:pPr indent="0" marL="0">
              <a:buNone/>
            </a:pPr>
            <a:r>
              <a:rPr lang="en-US" sz="1500" dirty="0">
                <a:solidFill>
                  <a:srgbClr val="1E2A36"/>
                </a:solidFill>
                <a:latin typeface="Calibri" pitchFamily="34" charset="0"/>
                <a:ea typeface="Calibri" pitchFamily="34" charset="-122"/>
                <a:cs typeface="Calibri" pitchFamily="34" charset="-120"/>
              </a:rPr>
              <a:t>Search items by name</a:t>
            </a:r>
            <a:endParaRPr lang="en-US" sz="1500" dirty="0"/>
          </a:p>
        </p:txBody>
      </p:sp>
      <p:sp>
        <p:nvSpPr>
          <p:cNvPr id="11" name="Shape 9"/>
          <p:cNvSpPr/>
          <p:nvPr/>
        </p:nvSpPr>
        <p:spPr>
          <a:xfrm>
            <a:off x="4343400" y="1783080"/>
            <a:ext cx="3474720" cy="3017520"/>
          </a:xfrm>
          <a:prstGeom prst="roundRect">
            <a:avLst>
              <a:gd name="adj" fmla="val 2424"/>
            </a:avLst>
          </a:prstGeom>
          <a:solidFill>
            <a:srgbClr val="F2F6F8"/>
          </a:solidFill>
          <a:ln/>
        </p:spPr>
      </p:sp>
      <p:sp>
        <p:nvSpPr>
          <p:cNvPr id="12" name="Text 10"/>
          <p:cNvSpPr/>
          <p:nvPr/>
        </p:nvSpPr>
        <p:spPr>
          <a:xfrm>
            <a:off x="4526280" y="1847088"/>
            <a:ext cx="3108960" cy="457200"/>
          </a:xfrm>
          <a:prstGeom prst="rect">
            <a:avLst/>
          </a:prstGeom>
          <a:noFill/>
          <a:ln/>
        </p:spPr>
        <p:txBody>
          <a:bodyPr wrap="square" lIns="0" tIns="0" rIns="0" bIns="0" rtlCol="0" anchor="ctr"/>
          <a:lstStyle/>
          <a:p>
            <a:pPr indent="0" marL="0">
              <a:buNone/>
            </a:pPr>
            <a:r>
              <a:rPr lang="en-US" sz="1800" b="1" dirty="0">
                <a:solidFill>
                  <a:srgbClr val="0E6E6D"/>
                </a:solidFill>
                <a:latin typeface="Calibri" pitchFamily="34" charset="0"/>
                <a:ea typeface="Calibri" pitchFamily="34" charset="-122"/>
                <a:cs typeface="Calibri" pitchFamily="34" charset="-120"/>
              </a:rPr>
              <a:t>Ready</a:t>
            </a:r>
            <a:endParaRPr lang="en-US" sz="1800" dirty="0"/>
          </a:p>
        </p:txBody>
      </p:sp>
      <p:sp>
        <p:nvSpPr>
          <p:cNvPr id="13" name="Shape 11"/>
          <p:cNvSpPr/>
          <p:nvPr/>
        </p:nvSpPr>
        <p:spPr>
          <a:xfrm>
            <a:off x="4480560" y="2395728"/>
            <a:ext cx="3200400" cy="658368"/>
          </a:xfrm>
          <a:prstGeom prst="roundRect">
            <a:avLst>
              <a:gd name="adj" fmla="val 12500"/>
            </a:avLst>
          </a:prstGeom>
          <a:solidFill>
            <a:srgbClr val="FFFFFF"/>
          </a:solidFill>
          <a:ln/>
          <a:effectLst>
            <a:outerShdw sx="100000" sy="100000" kx="0" ky="0" algn="bl" rotWithShape="0" blurRad="88900" dist="38100" dir="5400000">
              <a:srgbClr val="000000">
                <a:alpha val="13000"/>
              </a:srgbClr>
            </a:outerShdw>
          </a:effectLst>
        </p:spPr>
      </p:sp>
      <p:sp>
        <p:nvSpPr>
          <p:cNvPr id="14" name="Shape 12"/>
          <p:cNvSpPr/>
          <p:nvPr/>
        </p:nvSpPr>
        <p:spPr>
          <a:xfrm>
            <a:off x="4590288" y="2514600"/>
            <a:ext cx="420624" cy="420624"/>
          </a:xfrm>
          <a:prstGeom prst="ellipse">
            <a:avLst/>
          </a:prstGeom>
          <a:solidFill>
            <a:srgbClr val="12908F"/>
          </a:solidFill>
          <a:ln/>
        </p:spPr>
      </p:sp>
      <p:sp>
        <p:nvSpPr>
          <p:cNvPr id="15" name="Text 13"/>
          <p:cNvSpPr/>
          <p:nvPr/>
        </p:nvSpPr>
        <p:spPr>
          <a:xfrm>
            <a:off x="4590288" y="251460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6" name="Text 14"/>
          <p:cNvSpPr/>
          <p:nvPr/>
        </p:nvSpPr>
        <p:spPr>
          <a:xfrm>
            <a:off x="5120640" y="2395728"/>
            <a:ext cx="2468880" cy="658368"/>
          </a:xfrm>
          <a:prstGeom prst="rect">
            <a:avLst/>
          </a:prstGeom>
          <a:noFill/>
          <a:ln/>
        </p:spPr>
        <p:txBody>
          <a:bodyPr wrap="square" lIns="0" tIns="0" rIns="0" bIns="0" rtlCol="0" anchor="ctr"/>
          <a:lstStyle/>
          <a:p>
            <a:pPr indent="0" marL="0">
              <a:buNone/>
            </a:pPr>
            <a:r>
              <a:rPr lang="en-US" sz="1500" dirty="0">
                <a:solidFill>
                  <a:srgbClr val="1E2A36"/>
                </a:solidFill>
                <a:latin typeface="Calibri" pitchFamily="34" charset="0"/>
                <a:ea typeface="Calibri" pitchFamily="34" charset="-122"/>
                <a:cs typeface="Calibri" pitchFamily="34" charset="-120"/>
              </a:rPr>
              <a:t>Record checkouts</a:t>
            </a:r>
            <a:endParaRPr lang="en-US" sz="1500" dirty="0"/>
          </a:p>
        </p:txBody>
      </p:sp>
      <p:sp>
        <p:nvSpPr>
          <p:cNvPr id="17" name="Shape 15"/>
          <p:cNvSpPr/>
          <p:nvPr/>
        </p:nvSpPr>
        <p:spPr>
          <a:xfrm>
            <a:off x="4480560" y="3172968"/>
            <a:ext cx="3200400" cy="658368"/>
          </a:xfrm>
          <a:prstGeom prst="roundRect">
            <a:avLst>
              <a:gd name="adj" fmla="val 12500"/>
            </a:avLst>
          </a:prstGeom>
          <a:solidFill>
            <a:srgbClr val="FFFFFF"/>
          </a:solidFill>
          <a:ln/>
          <a:effectLst>
            <a:outerShdw sx="100000" sy="100000" kx="0" ky="0" algn="bl" rotWithShape="0" blurRad="88900" dist="38100" dir="5400000">
              <a:srgbClr val="000000">
                <a:alpha val="13000"/>
              </a:srgbClr>
            </a:outerShdw>
          </a:effectLst>
        </p:spPr>
      </p:sp>
      <p:sp>
        <p:nvSpPr>
          <p:cNvPr id="18" name="Shape 16"/>
          <p:cNvSpPr/>
          <p:nvPr/>
        </p:nvSpPr>
        <p:spPr>
          <a:xfrm>
            <a:off x="4590288" y="3291840"/>
            <a:ext cx="420624" cy="420624"/>
          </a:xfrm>
          <a:prstGeom prst="ellipse">
            <a:avLst/>
          </a:prstGeom>
          <a:solidFill>
            <a:srgbClr val="12908F"/>
          </a:solidFill>
          <a:ln/>
        </p:spPr>
      </p:sp>
      <p:sp>
        <p:nvSpPr>
          <p:cNvPr id="19" name="Text 17"/>
          <p:cNvSpPr/>
          <p:nvPr/>
        </p:nvSpPr>
        <p:spPr>
          <a:xfrm>
            <a:off x="4590288" y="329184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20" name="Text 18"/>
          <p:cNvSpPr/>
          <p:nvPr/>
        </p:nvSpPr>
        <p:spPr>
          <a:xfrm>
            <a:off x="5120640" y="3172968"/>
            <a:ext cx="2468880" cy="658368"/>
          </a:xfrm>
          <a:prstGeom prst="rect">
            <a:avLst/>
          </a:prstGeom>
          <a:noFill/>
          <a:ln/>
        </p:spPr>
        <p:txBody>
          <a:bodyPr wrap="square" lIns="0" tIns="0" rIns="0" bIns="0" rtlCol="0" anchor="ctr"/>
          <a:lstStyle/>
          <a:p>
            <a:pPr indent="0" marL="0">
              <a:buNone/>
            </a:pPr>
            <a:r>
              <a:rPr lang="en-US" sz="1500" dirty="0">
                <a:solidFill>
                  <a:srgbClr val="1E2A36"/>
                </a:solidFill>
                <a:latin typeface="Calibri" pitchFamily="34" charset="0"/>
                <a:ea typeface="Calibri" pitchFamily="34" charset="-122"/>
                <a:cs typeface="Calibri" pitchFamily="34" charset="-120"/>
              </a:rPr>
              <a:t>Show an item's detail page</a:t>
            </a:r>
            <a:endParaRPr lang="en-US" sz="1500" dirty="0"/>
          </a:p>
        </p:txBody>
      </p:sp>
      <p:sp>
        <p:nvSpPr>
          <p:cNvPr id="21" name="Shape 19"/>
          <p:cNvSpPr/>
          <p:nvPr/>
        </p:nvSpPr>
        <p:spPr>
          <a:xfrm>
            <a:off x="4480560" y="3950208"/>
            <a:ext cx="3200400" cy="658368"/>
          </a:xfrm>
          <a:prstGeom prst="roundRect">
            <a:avLst>
              <a:gd name="adj" fmla="val 12500"/>
            </a:avLst>
          </a:prstGeom>
          <a:solidFill>
            <a:srgbClr val="FFFFFF"/>
          </a:solidFill>
          <a:ln/>
          <a:effectLst>
            <a:outerShdw sx="100000" sy="100000" kx="0" ky="0" algn="bl" rotWithShape="0" blurRad="88900" dist="38100" dir="5400000">
              <a:srgbClr val="000000">
                <a:alpha val="13000"/>
              </a:srgbClr>
            </a:outerShdw>
          </a:effectLst>
        </p:spPr>
      </p:sp>
      <p:sp>
        <p:nvSpPr>
          <p:cNvPr id="22" name="Shape 20"/>
          <p:cNvSpPr/>
          <p:nvPr/>
        </p:nvSpPr>
        <p:spPr>
          <a:xfrm>
            <a:off x="4590288" y="4069080"/>
            <a:ext cx="420624" cy="420624"/>
          </a:xfrm>
          <a:prstGeom prst="ellipse">
            <a:avLst/>
          </a:prstGeom>
          <a:solidFill>
            <a:srgbClr val="5F7284"/>
          </a:solidFill>
          <a:ln/>
        </p:spPr>
      </p:sp>
      <p:sp>
        <p:nvSpPr>
          <p:cNvPr id="23" name="Text 21"/>
          <p:cNvSpPr/>
          <p:nvPr/>
        </p:nvSpPr>
        <p:spPr>
          <a:xfrm>
            <a:off x="4590288" y="40690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24" name="Text 22"/>
          <p:cNvSpPr/>
          <p:nvPr/>
        </p:nvSpPr>
        <p:spPr>
          <a:xfrm>
            <a:off x="5120640" y="3950208"/>
            <a:ext cx="2468880" cy="658368"/>
          </a:xfrm>
          <a:prstGeom prst="rect">
            <a:avLst/>
          </a:prstGeom>
          <a:noFill/>
          <a:ln/>
        </p:spPr>
        <p:txBody>
          <a:bodyPr wrap="square" lIns="0" tIns="0" rIns="0" bIns="0" rtlCol="0" anchor="ctr"/>
          <a:lstStyle/>
          <a:p>
            <a:pPr indent="0" marL="0">
              <a:buNone/>
            </a:pPr>
            <a:r>
              <a:rPr lang="en-US" sz="1500" dirty="0">
                <a:solidFill>
                  <a:srgbClr val="1E2A36"/>
                </a:solidFill>
                <a:latin typeface="Calibri" pitchFamily="34" charset="0"/>
                <a:ea typeface="Calibri" pitchFamily="34" charset="-122"/>
                <a:cs typeface="Calibri" pitchFamily="34" charset="-120"/>
              </a:rPr>
              <a:t>Write a setup guide (alongside)</a:t>
            </a:r>
            <a:endParaRPr lang="en-US" sz="1500" dirty="0"/>
          </a:p>
        </p:txBody>
      </p:sp>
      <p:sp>
        <p:nvSpPr>
          <p:cNvPr id="25" name="Shape 23"/>
          <p:cNvSpPr/>
          <p:nvPr/>
        </p:nvSpPr>
        <p:spPr>
          <a:xfrm>
            <a:off x="8138160" y="1783080"/>
            <a:ext cx="3474720" cy="3017520"/>
          </a:xfrm>
          <a:prstGeom prst="roundRect">
            <a:avLst>
              <a:gd name="adj" fmla="val 2424"/>
            </a:avLst>
          </a:prstGeom>
          <a:solidFill>
            <a:srgbClr val="F2F6F8"/>
          </a:solidFill>
          <a:ln/>
        </p:spPr>
      </p:sp>
      <p:sp>
        <p:nvSpPr>
          <p:cNvPr id="26" name="Text 24"/>
          <p:cNvSpPr/>
          <p:nvPr/>
        </p:nvSpPr>
        <p:spPr>
          <a:xfrm>
            <a:off x="8321040" y="1847088"/>
            <a:ext cx="3108960" cy="457200"/>
          </a:xfrm>
          <a:prstGeom prst="rect">
            <a:avLst/>
          </a:prstGeom>
          <a:noFill/>
          <a:ln/>
        </p:spPr>
        <p:txBody>
          <a:bodyPr wrap="square" lIns="0" tIns="0" rIns="0" bIns="0" rtlCol="0" anchor="ctr"/>
          <a:lstStyle/>
          <a:p>
            <a:pPr indent="0" marL="0">
              <a:buNone/>
            </a:pPr>
            <a:r>
              <a:rPr lang="en-US" sz="1800" b="1" dirty="0">
                <a:solidFill>
                  <a:srgbClr val="0E6E6D"/>
                </a:solidFill>
                <a:latin typeface="Calibri" pitchFamily="34" charset="0"/>
                <a:ea typeface="Calibri" pitchFamily="34" charset="-122"/>
                <a:cs typeface="Calibri" pitchFamily="34" charset="-120"/>
              </a:rPr>
              <a:t>Backlog, top</a:t>
            </a:r>
            <a:endParaRPr lang="en-US" sz="1800" dirty="0"/>
          </a:p>
        </p:txBody>
      </p:sp>
      <p:sp>
        <p:nvSpPr>
          <p:cNvPr id="27" name="Shape 25"/>
          <p:cNvSpPr/>
          <p:nvPr/>
        </p:nvSpPr>
        <p:spPr>
          <a:xfrm>
            <a:off x="8275320" y="2395728"/>
            <a:ext cx="3200400" cy="658368"/>
          </a:xfrm>
          <a:prstGeom prst="roundRect">
            <a:avLst>
              <a:gd name="adj" fmla="val 12500"/>
            </a:avLst>
          </a:prstGeom>
          <a:solidFill>
            <a:srgbClr val="FFFFFF"/>
          </a:solidFill>
          <a:ln/>
          <a:effectLst>
            <a:outerShdw sx="100000" sy="100000" kx="0" ky="0" algn="bl" rotWithShape="0" blurRad="88900" dist="38100" dir="5400000">
              <a:srgbClr val="000000">
                <a:alpha val="13000"/>
              </a:srgbClr>
            </a:outerShdw>
          </a:effectLst>
        </p:spPr>
      </p:sp>
      <p:sp>
        <p:nvSpPr>
          <p:cNvPr id="28" name="Shape 26"/>
          <p:cNvSpPr/>
          <p:nvPr/>
        </p:nvSpPr>
        <p:spPr>
          <a:xfrm>
            <a:off x="8385048" y="2514600"/>
            <a:ext cx="420624" cy="420624"/>
          </a:xfrm>
          <a:prstGeom prst="ellipse">
            <a:avLst/>
          </a:prstGeom>
          <a:solidFill>
            <a:srgbClr val="12908F"/>
          </a:solidFill>
          <a:ln/>
        </p:spPr>
      </p:sp>
      <p:sp>
        <p:nvSpPr>
          <p:cNvPr id="29" name="Text 27"/>
          <p:cNvSpPr/>
          <p:nvPr/>
        </p:nvSpPr>
        <p:spPr>
          <a:xfrm>
            <a:off x="8385048" y="251460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30" name="Text 28"/>
          <p:cNvSpPr/>
          <p:nvPr/>
        </p:nvSpPr>
        <p:spPr>
          <a:xfrm>
            <a:off x="8915400" y="2395728"/>
            <a:ext cx="2468880" cy="658368"/>
          </a:xfrm>
          <a:prstGeom prst="rect">
            <a:avLst/>
          </a:prstGeom>
          <a:noFill/>
          <a:ln/>
        </p:spPr>
        <p:txBody>
          <a:bodyPr wrap="square" lIns="0" tIns="0" rIns="0" bIns="0" rtlCol="0" anchor="ctr"/>
          <a:lstStyle/>
          <a:p>
            <a:pPr indent="0" marL="0">
              <a:buNone/>
            </a:pPr>
            <a:r>
              <a:rPr lang="en-US" sz="1500" dirty="0">
                <a:solidFill>
                  <a:srgbClr val="1E2A36"/>
                </a:solidFill>
                <a:latin typeface="Calibri" pitchFamily="34" charset="0"/>
                <a:ea typeface="Calibri" pitchFamily="34" charset="-122"/>
                <a:cs typeface="Calibri" pitchFamily="34" charset="-120"/>
              </a:rPr>
              <a:t>Show who has an item</a:t>
            </a:r>
            <a:endParaRPr lang="en-US" sz="1500" dirty="0"/>
          </a:p>
        </p:txBody>
      </p:sp>
      <p:sp>
        <p:nvSpPr>
          <p:cNvPr id="31" name="Shape 29"/>
          <p:cNvSpPr/>
          <p:nvPr/>
        </p:nvSpPr>
        <p:spPr>
          <a:xfrm>
            <a:off x="8275320" y="3172968"/>
            <a:ext cx="3200400" cy="658368"/>
          </a:xfrm>
          <a:prstGeom prst="roundRect">
            <a:avLst>
              <a:gd name="adj" fmla="val 12500"/>
            </a:avLst>
          </a:prstGeom>
          <a:solidFill>
            <a:srgbClr val="FFFFFF"/>
          </a:solidFill>
          <a:ln/>
          <a:effectLst>
            <a:outerShdw sx="100000" sy="100000" kx="0" ky="0" algn="bl" rotWithShape="0" blurRad="88900" dist="38100" dir="5400000">
              <a:srgbClr val="000000">
                <a:alpha val="13000"/>
              </a:srgbClr>
            </a:outerShdw>
          </a:effectLst>
        </p:spPr>
      </p:sp>
      <p:sp>
        <p:nvSpPr>
          <p:cNvPr id="32" name="Shape 30"/>
          <p:cNvSpPr/>
          <p:nvPr/>
        </p:nvSpPr>
        <p:spPr>
          <a:xfrm>
            <a:off x="8385048" y="3291840"/>
            <a:ext cx="420624" cy="420624"/>
          </a:xfrm>
          <a:prstGeom prst="ellipse">
            <a:avLst/>
          </a:prstGeom>
          <a:solidFill>
            <a:srgbClr val="12908F"/>
          </a:solidFill>
          <a:ln/>
        </p:spPr>
      </p:sp>
      <p:sp>
        <p:nvSpPr>
          <p:cNvPr id="33" name="Text 31"/>
          <p:cNvSpPr/>
          <p:nvPr/>
        </p:nvSpPr>
        <p:spPr>
          <a:xfrm>
            <a:off x="8385048" y="329184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34" name="Text 32"/>
          <p:cNvSpPr/>
          <p:nvPr/>
        </p:nvSpPr>
        <p:spPr>
          <a:xfrm>
            <a:off x="8915400" y="3172968"/>
            <a:ext cx="2468880" cy="658368"/>
          </a:xfrm>
          <a:prstGeom prst="rect">
            <a:avLst/>
          </a:prstGeom>
          <a:noFill/>
          <a:ln/>
        </p:spPr>
        <p:txBody>
          <a:bodyPr wrap="square" lIns="0" tIns="0" rIns="0" bIns="0" rtlCol="0" anchor="ctr"/>
          <a:lstStyle/>
          <a:p>
            <a:pPr indent="0" marL="0">
              <a:buNone/>
            </a:pPr>
            <a:r>
              <a:rPr lang="en-US" sz="1500" dirty="0">
                <a:solidFill>
                  <a:srgbClr val="1E2A36"/>
                </a:solidFill>
                <a:latin typeface="Calibri" pitchFamily="34" charset="0"/>
                <a:ea typeface="Calibri" pitchFamily="34" charset="-122"/>
                <a:cs typeface="Calibri" pitchFamily="34" charset="-120"/>
              </a:rPr>
              <a:t>Check an item out</a:t>
            </a:r>
            <a:endParaRPr lang="en-US" sz="1500" dirty="0"/>
          </a:p>
        </p:txBody>
      </p:sp>
      <p:sp>
        <p:nvSpPr>
          <p:cNvPr id="35" name="click-1"/>
          <p:cNvSpPr/>
          <p:nvPr/>
        </p:nvSpPr>
        <p:spPr>
          <a:xfrm>
            <a:off x="548640" y="4983480"/>
            <a:ext cx="5440680" cy="1234440"/>
          </a:xfrm>
          <a:prstGeom prst="roundRect">
            <a:avLst>
              <a:gd name="adj" fmla="val 6667"/>
            </a:avLst>
          </a:prstGeom>
          <a:solidFill>
            <a:srgbClr val="EAF4EE"/>
          </a:solidFill>
          <a:ln/>
          <a:effectLst>
            <a:outerShdw sx="100000" sy="100000" kx="0" ky="0" algn="bl" rotWithShape="0" blurRad="88900" dist="38100" dir="5400000">
              <a:srgbClr val="000000">
                <a:alpha val="13000"/>
              </a:srgbClr>
            </a:outerShdw>
          </a:effectLst>
        </p:spPr>
      </p:sp>
      <p:sp>
        <p:nvSpPr>
          <p:cNvPr id="36" name="click-1"/>
          <p:cNvSpPr/>
          <p:nvPr/>
        </p:nvSpPr>
        <p:spPr>
          <a:xfrm>
            <a:off x="822960" y="4983480"/>
            <a:ext cx="4937760" cy="1234440"/>
          </a:xfrm>
          <a:prstGeom prst="rect">
            <a:avLst/>
          </a:prstGeom>
          <a:noFill/>
          <a:ln/>
        </p:spPr>
        <p:txBody>
          <a:bodyPr wrap="square" lIns="0" tIns="0" rIns="0" bIns="0" rtlCol="0" anchor="ctr"/>
          <a:lstStyle/>
          <a:p>
            <a:pPr indent="0" marL="0">
              <a:lnSpc>
                <a:spcPct val="103000"/>
              </a:lnSpc>
              <a:buNone/>
            </a:pPr>
            <a:r>
              <a:rPr lang="en-US" sz="1600" b="1" dirty="0">
                <a:solidFill>
                  <a:srgbClr val="3E9C6B"/>
                </a:solidFill>
                <a:latin typeface="Calibri" pitchFamily="34" charset="0"/>
                <a:ea typeface="Calibri" pitchFamily="34" charset="-122"/>
                <a:cs typeface="Calibri" pitchFamily="34" charset="-120"/>
              </a:rPr>
              <a:t>After 4, the slice walks: </a:t>
            </a:r>
            <a:pPr indent="0" marL="0">
              <a:lnSpc>
                <a:spcPct val="103000"/>
              </a:lnSpc>
              <a:buNone/>
            </a:pPr>
            <a:r>
              <a:rPr lang="en-US" sz="1600" dirty="0">
                <a:solidFill>
                  <a:srgbClr val="1E2A36"/>
                </a:solidFill>
                <a:latin typeface="Calibri" pitchFamily="34" charset="0"/>
                <a:ea typeface="Calibri" pitchFamily="34" charset="-122"/>
                <a:cs typeface="Calibri" pitchFamily="34" charset="-120"/>
              </a:rPr>
              <a:t>search, open, "out to Sam, due Dec 5," with the checkout entered in the admin. That's the skateboard.</a:t>
            </a:r>
            <a:endParaRPr lang="en-US" sz="1600" dirty="0"/>
          </a:p>
        </p:txBody>
      </p:sp>
      <p:sp>
        <p:nvSpPr>
          <p:cNvPr id="37" name="click-2"/>
          <p:cNvSpPr/>
          <p:nvPr/>
        </p:nvSpPr>
        <p:spPr>
          <a:xfrm>
            <a:off x="6172200" y="4983480"/>
            <a:ext cx="5440680" cy="1234440"/>
          </a:xfrm>
          <a:prstGeom prst="roundRect">
            <a:avLst>
              <a:gd name="adj" fmla="val 6667"/>
            </a:avLst>
          </a:prstGeom>
          <a:solidFill>
            <a:srgbClr val="FBEEDA"/>
          </a:solidFill>
          <a:ln/>
          <a:effectLst>
            <a:outerShdw sx="100000" sy="100000" kx="0" ky="0" algn="bl" rotWithShape="0" blurRad="88900" dist="38100" dir="5400000">
              <a:srgbClr val="000000">
                <a:alpha val="13000"/>
              </a:srgbClr>
            </a:outerShdw>
          </a:effectLst>
        </p:spPr>
      </p:sp>
      <p:sp>
        <p:nvSpPr>
          <p:cNvPr id="38" name="click-2"/>
          <p:cNvSpPr/>
          <p:nvPr/>
        </p:nvSpPr>
        <p:spPr>
          <a:xfrm>
            <a:off x="6446520" y="4983480"/>
            <a:ext cx="4937760" cy="1234440"/>
          </a:xfrm>
          <a:prstGeom prst="rect">
            <a:avLst/>
          </a:prstGeom>
          <a:noFill/>
          <a:ln/>
        </p:spPr>
        <p:txBody>
          <a:bodyPr wrap="square" lIns="0" tIns="0" rIns="0" bIns="0" rtlCol="0" anchor="ctr"/>
          <a:lstStyle/>
          <a:p>
            <a:pPr indent="0" marL="0">
              <a:lnSpc>
                <a:spcPct val="103000"/>
              </a:lnSpc>
              <a:buNone/>
            </a:pPr>
            <a:r>
              <a:rPr lang="en-US" sz="1600" b="1" dirty="0">
                <a:solidFill>
                  <a:srgbClr val="0E6E6D"/>
                </a:solidFill>
                <a:latin typeface="Calibri" pitchFamily="34" charset="0"/>
                <a:ea typeface="Calibri" pitchFamily="34" charset="-122"/>
                <a:cs typeface="Calibri" pitchFamily="34" charset="-120"/>
              </a:rPr>
              <a:t>Why the model is second: </a:t>
            </a:r>
            <a:pPr indent="0" marL="0">
              <a:lnSpc>
                <a:spcPct val="103000"/>
              </a:lnSpc>
              <a:buNone/>
            </a:pPr>
            <a:r>
              <a:rPr lang="en-US" sz="1600" dirty="0">
                <a:solidFill>
                  <a:srgbClr val="1E2A36"/>
                </a:solidFill>
                <a:latin typeface="Calibri" pitchFamily="34" charset="0"/>
                <a:ea typeface="Calibri" pitchFamily="34" charset="-122"/>
                <a:cs typeface="Calibri" pitchFamily="34" charset="-120"/>
              </a:rPr>
              <a:t>with HTMX cut, it's the riskiest thing left, and two issues need it.</a:t>
            </a:r>
            <a:endParaRPr lang="en-US" sz="1600" dirty="0"/>
          </a:p>
        </p:txBody>
      </p:sp>
      <p:sp>
        <p:nvSpPr>
          <p:cNvPr id="39" name="Text 37"/>
          <p:cNvSpPr/>
          <p:nvPr/>
        </p:nvSpPr>
        <p:spPr>
          <a:xfrm>
            <a:off x="6217920" y="6437376"/>
            <a:ext cx="53949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18 · Estimation &amp; the Vertical Slice</a:t>
            </a:r>
            <a:endParaRPr lang="en-US" sz="1000" dirty="0"/>
          </a:p>
        </p:txBody>
      </p:sp>
      <p:sp>
        <p:nvSpPr>
          <p:cNvPr id="40" name="Text 38"/>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17</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 presetClass="entr" presetSubtype="0" fill="hold" grpId="0" nodeType="clickEffect">
                                  <p:stCondLst>
                                    <p:cond delay="0"/>
                                  </p:stCondLst>
                                  <p:childTnLst>
                                    <p:set>
                                      <p:cBhvr>
                                        <p:cTn id="5" dur="1" fill="hold">
                                          <p:stCondLst>
                                            <p:cond delay="0"/>
                                          </p:stCondLst>
                                        </p:cTn>
                                        <p:tgtEl>
                                          <p:spTgt spid="35"/>
                                        </p:tgtEl>
                                        <p:attrNameLst>
                                          <p:attrName>style.visibility</p:attrName>
                                        </p:attrNameLst>
                                      </p:cBhvr>
                                      <p:to>
                                        <p:strVal val="visible"/>
                                      </p:to>
                                    </p:set>
                                  </p:childTnLst>
                                </p:cTn>
                              </p:par>
                              <p:par>
                                <p:cTn id="8" presetID="1" presetClass="entr" presetSubtype="0" fill="hold" grpId="0" nodeType="withEffect">
                                  <p:stCondLst>
                                    <p:cond delay="0"/>
                                  </p:stCondLst>
                                  <p:childTnLst>
                                    <p:set>
                                      <p:cBhvr>
                                        <p:cTn id="7" dur="1" fill="hold">
                                          <p:stCondLst>
                                            <p:cond delay="0"/>
                                          </p:stCondLst>
                                        </p:cTn>
                                        <p:tgtEl>
                                          <p:spTgt spid="3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2" presetID="1" presetClass="entr" presetSubtype="0" fill="hold" grpId="0" nodeType="clickEffect">
                                  <p:stCondLst>
                                    <p:cond delay="0"/>
                                  </p:stCondLst>
                                  <p:childTnLst>
                                    <p:set>
                                      <p:cBhvr>
                                        <p:cTn id="11" dur="1" fill="hold">
                                          <p:stCondLst>
                                            <p:cond delay="0"/>
                                          </p:stCondLst>
                                        </p:cTn>
                                        <p:tgtEl>
                                          <p:spTgt spid="37"/>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3"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36" grpId="0" animBg="1"/>
      <p:bldP spid="37" grpId="0" animBg="1"/>
      <p:bldP spid="3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WALKABLE AT EVERY STAGE</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The skateboard, not the pile of parts</a:t>
            </a:r>
            <a:endParaRPr lang="en-US" sz="3100" dirty="0"/>
          </a:p>
        </p:txBody>
      </p:sp>
      <p:sp>
        <p:nvSpPr>
          <p:cNvPr id="5" name="Shape 3"/>
          <p:cNvSpPr/>
          <p:nvPr/>
        </p:nvSpPr>
        <p:spPr>
          <a:xfrm>
            <a:off x="548640" y="1783080"/>
            <a:ext cx="5440680" cy="3246120"/>
          </a:xfrm>
          <a:prstGeom prst="roundRect">
            <a:avLst>
              <a:gd name="adj" fmla="val 2535"/>
            </a:avLst>
          </a:prstGeom>
          <a:solidFill>
            <a:srgbClr val="FBECE8"/>
          </a:solidFill>
          <a:ln/>
          <a:effectLst>
            <a:outerShdw sx="100000" sy="100000" kx="0" ky="0" algn="bl" rotWithShape="0" blurRad="88900" dist="38100" dir="5400000">
              <a:srgbClr val="000000">
                <a:alpha val="13000"/>
              </a:srgbClr>
            </a:outerShdw>
          </a:effectLst>
        </p:spPr>
      </p:sp>
      <p:sp>
        <p:nvSpPr>
          <p:cNvPr id="6" name="Shape 4"/>
          <p:cNvSpPr/>
          <p:nvPr/>
        </p:nvSpPr>
        <p:spPr>
          <a:xfrm>
            <a:off x="822960" y="1965960"/>
            <a:ext cx="566928" cy="566928"/>
          </a:xfrm>
          <a:prstGeom prst="ellipse">
            <a:avLst/>
          </a:prstGeom>
          <a:solidFill>
            <a:srgbClr val="D9614C"/>
          </a:solidFill>
          <a:ln/>
        </p:spPr>
      </p:sp>
      <p:pic>
        <p:nvPicPr>
          <p:cNvPr id="7" name="Image 0" descr="preencoded.png">    </p:cNvPr>
          <p:cNvPicPr>
            <a:picLocks noChangeAspect="1"/>
          </p:cNvPicPr>
          <p:nvPr/>
        </p:nvPicPr>
        <p:blipFill>
          <a:blip r:embed="rId1"/>
          <a:stretch>
            <a:fillRect/>
          </a:stretch>
        </p:blipFill>
        <p:spPr>
          <a:xfrm>
            <a:off x="976031" y="2119031"/>
            <a:ext cx="260787" cy="260787"/>
          </a:xfrm>
          <a:prstGeom prst="rect">
            <a:avLst/>
          </a:prstGeom>
        </p:spPr>
      </p:pic>
      <p:sp>
        <p:nvSpPr>
          <p:cNvPr id="8" name="Text 5"/>
          <p:cNvSpPr/>
          <p:nvPr/>
        </p:nvSpPr>
        <p:spPr>
          <a:xfrm>
            <a:off x="1554480" y="1965960"/>
            <a:ext cx="4206240" cy="566928"/>
          </a:xfrm>
          <a:prstGeom prst="rect">
            <a:avLst/>
          </a:prstGeom>
          <a:noFill/>
          <a:ln/>
        </p:spPr>
        <p:txBody>
          <a:bodyPr wrap="square" lIns="0" tIns="0" rIns="0" bIns="0" rtlCol="0" anchor="ctr"/>
          <a:lstStyle/>
          <a:p>
            <a:pPr indent="0" marL="0">
              <a:buNone/>
            </a:pPr>
            <a:r>
              <a:rPr lang="en-US" sz="2000" b="1" dirty="0">
                <a:solidFill>
                  <a:srgbClr val="D9614C"/>
                </a:solidFill>
                <a:latin typeface="Calibri" pitchFamily="34" charset="0"/>
                <a:ea typeface="Calibri" pitchFamily="34" charset="-122"/>
                <a:cs typeface="Calibri" pitchFamily="34" charset="-120"/>
              </a:rPr>
              <a:t>Broad and shallow</a:t>
            </a:r>
            <a:endParaRPr lang="en-US" sz="2000" dirty="0"/>
          </a:p>
        </p:txBody>
      </p:sp>
      <p:sp>
        <p:nvSpPr>
          <p:cNvPr id="9" name="Text 6"/>
          <p:cNvSpPr/>
          <p:nvPr/>
        </p:nvSpPr>
        <p:spPr>
          <a:xfrm>
            <a:off x="822960" y="2697480"/>
            <a:ext cx="4892040" cy="2194560"/>
          </a:xfrm>
          <a:prstGeom prst="rect">
            <a:avLst/>
          </a:prstGeom>
          <a:noFill/>
          <a:ln/>
        </p:spPr>
        <p:txBody>
          <a:bodyPr wrap="square" lIns="0" tIns="0" rIns="0" bIns="0" rtlCol="0" anchor="t"/>
          <a:lstStyle/>
          <a:p>
            <a:pPr indent="0" marL="0">
              <a:lnSpc>
                <a:spcPct val="104000"/>
              </a:lnSpc>
              <a:buNone/>
            </a:pPr>
            <a:r>
              <a:rPr lang="en-US" sz="1600" dirty="0">
                <a:solidFill>
                  <a:srgbClr val="1E2A36"/>
                </a:solidFill>
                <a:latin typeface="Calibri" pitchFamily="34" charset="0"/>
                <a:ea typeface="Calibri" pitchFamily="34" charset="-122"/>
                <a:cs typeface="Calibri" pitchFamily="34" charset="-120"/>
              </a:rPr>
              <a:t>A search page, a detail page, and a checkout form, all styled, with no checkout model behind them. Every screen exists; nothing works end to end. It demos badly and proves nothing.</a:t>
            </a:r>
            <a:endParaRPr lang="en-US" sz="1600" dirty="0"/>
          </a:p>
        </p:txBody>
      </p:sp>
      <p:sp>
        <p:nvSpPr>
          <p:cNvPr id="10" name="click-1"/>
          <p:cNvSpPr/>
          <p:nvPr/>
        </p:nvSpPr>
        <p:spPr>
          <a:xfrm>
            <a:off x="6172200" y="1783080"/>
            <a:ext cx="5440680" cy="3246120"/>
          </a:xfrm>
          <a:prstGeom prst="roundRect">
            <a:avLst>
              <a:gd name="adj" fmla="val 2535"/>
            </a:avLst>
          </a:prstGeom>
          <a:solidFill>
            <a:srgbClr val="EAF4EE"/>
          </a:solidFill>
          <a:ln/>
          <a:effectLst>
            <a:outerShdw sx="100000" sy="100000" kx="0" ky="0" algn="bl" rotWithShape="0" blurRad="88900" dist="38100" dir="5400000">
              <a:srgbClr val="000000">
                <a:alpha val="13000"/>
              </a:srgbClr>
            </a:outerShdw>
          </a:effectLst>
        </p:spPr>
      </p:sp>
      <p:sp>
        <p:nvSpPr>
          <p:cNvPr id="11" name="click-1"/>
          <p:cNvSpPr/>
          <p:nvPr/>
        </p:nvSpPr>
        <p:spPr>
          <a:xfrm>
            <a:off x="6446520" y="1965960"/>
            <a:ext cx="566928" cy="566928"/>
          </a:xfrm>
          <a:prstGeom prst="ellipse">
            <a:avLst/>
          </a:prstGeom>
          <a:solidFill>
            <a:srgbClr val="3E9C6B"/>
          </a:solidFill>
          <a:ln/>
        </p:spPr>
      </p:sp>
      <p:pic>
        <p:nvPicPr>
          <p:cNvPr id="12" name="click-1" descr="preencoded.png">    </p:cNvPr>
          <p:cNvPicPr>
            <a:picLocks noChangeAspect="1"/>
          </p:cNvPicPr>
          <p:nvPr/>
        </p:nvPicPr>
        <p:blipFill>
          <a:blip r:embed="rId2"/>
          <a:stretch>
            <a:fillRect/>
          </a:stretch>
        </p:blipFill>
        <p:spPr>
          <a:xfrm>
            <a:off x="6599591" y="2119031"/>
            <a:ext cx="260787" cy="260787"/>
          </a:xfrm>
          <a:prstGeom prst="rect">
            <a:avLst/>
          </a:prstGeom>
        </p:spPr>
      </p:pic>
      <p:sp>
        <p:nvSpPr>
          <p:cNvPr id="13" name="click-1"/>
          <p:cNvSpPr/>
          <p:nvPr/>
        </p:nvSpPr>
        <p:spPr>
          <a:xfrm>
            <a:off x="7178040" y="1965960"/>
            <a:ext cx="4206240" cy="566928"/>
          </a:xfrm>
          <a:prstGeom prst="rect">
            <a:avLst/>
          </a:prstGeom>
          <a:noFill/>
          <a:ln/>
        </p:spPr>
        <p:txBody>
          <a:bodyPr wrap="square" lIns="0" tIns="0" rIns="0" bIns="0" rtlCol="0" anchor="ctr"/>
          <a:lstStyle/>
          <a:p>
            <a:pPr indent="0" marL="0">
              <a:buNone/>
            </a:pPr>
            <a:r>
              <a:rPr lang="en-US" sz="2000" b="1" dirty="0">
                <a:solidFill>
                  <a:srgbClr val="3E9C6B"/>
                </a:solidFill>
                <a:latin typeface="Calibri" pitchFamily="34" charset="0"/>
                <a:ea typeface="Calibri" pitchFamily="34" charset="-122"/>
                <a:cs typeface="Calibri" pitchFamily="34" charset="-120"/>
              </a:rPr>
              <a:t>A thin slice</a:t>
            </a:r>
            <a:endParaRPr lang="en-US" sz="2000" dirty="0"/>
          </a:p>
        </p:txBody>
      </p:sp>
      <p:sp>
        <p:nvSpPr>
          <p:cNvPr id="14" name="click-1"/>
          <p:cNvSpPr/>
          <p:nvPr/>
        </p:nvSpPr>
        <p:spPr>
          <a:xfrm>
            <a:off x="6446520" y="2697480"/>
            <a:ext cx="4892040" cy="2194560"/>
          </a:xfrm>
          <a:prstGeom prst="rect">
            <a:avLst/>
          </a:prstGeom>
          <a:noFill/>
          <a:ln/>
        </p:spPr>
        <p:txBody>
          <a:bodyPr wrap="square" lIns="0" tIns="0" rIns="0" bIns="0" rtlCol="0" anchor="t"/>
          <a:lstStyle/>
          <a:p>
            <a:pPr indent="0" marL="0">
              <a:lnSpc>
                <a:spcPct val="104000"/>
              </a:lnSpc>
              <a:buNone/>
            </a:pPr>
            <a:r>
              <a:rPr lang="en-US" sz="1600" dirty="0">
                <a:solidFill>
                  <a:srgbClr val="1E2A36"/>
                </a:solidFill>
                <a:latin typeface="Calibri" pitchFamily="34" charset="0"/>
                <a:ea typeface="Calibri" pitchFamily="34" charset="-122"/>
                <a:cs typeface="Calibri" pitchFamily="34" charset="-120"/>
              </a:rPr>
              <a:t>Search, open, see who has it, check it out: plain pages, no photos, no styling. A volunteer could use it today. Each later issue widens something that already works.</a:t>
            </a:r>
            <a:endParaRPr lang="en-US" sz="1600" dirty="0"/>
          </a:p>
        </p:txBody>
      </p:sp>
      <p:sp>
        <p:nvSpPr>
          <p:cNvPr id="15" name="click-2"/>
          <p:cNvSpPr/>
          <p:nvPr/>
        </p:nvSpPr>
        <p:spPr>
          <a:xfrm>
            <a:off x="548640" y="5257800"/>
            <a:ext cx="11064240" cy="914400"/>
          </a:xfrm>
          <a:prstGeom prst="roundRect">
            <a:avLst>
              <a:gd name="adj" fmla="val 9000"/>
            </a:avLst>
          </a:prstGeom>
          <a:solidFill>
            <a:srgbClr val="14233A"/>
          </a:solidFill>
          <a:ln/>
          <a:effectLst>
            <a:outerShdw sx="100000" sy="100000" kx="0" ky="0" algn="bl" rotWithShape="0" blurRad="88900" dist="38100" dir="5400000">
              <a:srgbClr val="000000">
                <a:alpha val="13000"/>
              </a:srgbClr>
            </a:outerShdw>
          </a:effectLst>
        </p:spPr>
      </p:sp>
      <p:sp>
        <p:nvSpPr>
          <p:cNvPr id="16" name="click-2"/>
          <p:cNvSpPr/>
          <p:nvPr/>
        </p:nvSpPr>
        <p:spPr>
          <a:xfrm>
            <a:off x="868680" y="5257800"/>
            <a:ext cx="10424160" cy="914400"/>
          </a:xfrm>
          <a:prstGeom prst="rect">
            <a:avLst/>
          </a:prstGeom>
          <a:noFill/>
          <a:ln/>
        </p:spPr>
        <p:txBody>
          <a:bodyPr wrap="square" lIns="0" tIns="0" rIns="0" bIns="0" rtlCol="0" anchor="ctr"/>
          <a:lstStyle/>
          <a:p>
            <a:pPr indent="0" marL="0">
              <a:lnSpc>
                <a:spcPct val="104000"/>
              </a:lnSpc>
              <a:buNone/>
            </a:pPr>
            <a:r>
              <a:rPr lang="en-US" sz="1700" b="1" dirty="0">
                <a:solidFill>
                  <a:srgbClr val="E8A33D"/>
                </a:solidFill>
                <a:latin typeface="Calibri" pitchFamily="34" charset="0"/>
                <a:ea typeface="Calibri" pitchFamily="34" charset="-122"/>
                <a:cs typeface="Calibri" pitchFamily="34" charset="-120"/>
              </a:rPr>
              <a:t>Kniberg's point:  </a:t>
            </a:r>
            <a:pPr indent="0" marL="0">
              <a:lnSpc>
                <a:spcPct val="104000"/>
              </a:lnSpc>
              <a:buNone/>
            </a:pPr>
            <a:r>
              <a:rPr lang="en-US" sz="1700" dirty="0">
                <a:solidFill>
                  <a:srgbClr val="FFFFFF"/>
                </a:solidFill>
                <a:latin typeface="Calibri" pitchFamily="34" charset="0"/>
                <a:ea typeface="Calibri" pitchFamily="34" charset="-122"/>
                <a:cs typeface="Calibri" pitchFamily="34" charset="-120"/>
              </a:rPr>
              <a:t>each stage is something a person can use and learn from. Plain isn't the same as shoddy.</a:t>
            </a:r>
            <a:endParaRPr lang="en-US" sz="1700" dirty="0"/>
          </a:p>
        </p:txBody>
      </p:sp>
      <p:sp>
        <p:nvSpPr>
          <p:cNvPr id="17" name="Text 13"/>
          <p:cNvSpPr/>
          <p:nvPr/>
        </p:nvSpPr>
        <p:spPr>
          <a:xfrm>
            <a:off x="6217920" y="6437376"/>
            <a:ext cx="53949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18 · Estimation &amp; the Vertical Slice</a:t>
            </a:r>
            <a:endParaRPr lang="en-US" sz="1000" dirty="0"/>
          </a:p>
        </p:txBody>
      </p:sp>
      <p:sp>
        <p:nvSpPr>
          <p:cNvPr id="18" name="Text 14"/>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18</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 presetClass="entr" presetSubtype="0" fill="hold" grpId="0" nodeType="clickEffect">
                                  <p:stCondLst>
                                    <p:cond delay="0"/>
                                  </p:stCondLst>
                                  <p:childTnLst>
                                    <p:set>
                                      <p:cBhvr>
                                        <p:cTn id="5" dur="1" fill="hold">
                                          <p:stCondLst>
                                            <p:cond delay="0"/>
                                          </p:stCondLst>
                                        </p:cTn>
                                        <p:tgtEl>
                                          <p:spTgt spid="10"/>
                                        </p:tgtEl>
                                        <p:attrNameLst>
                                          <p:attrName>style.visibility</p:attrName>
                                        </p:attrNameLst>
                                      </p:cBhvr>
                                      <p:to>
                                        <p:strVal val="visible"/>
                                      </p:to>
                                    </p:set>
                                  </p:childTnLst>
                                </p:cTn>
                              </p:par>
                              <p:par>
                                <p:cTn id="8" presetID="1" presetClass="entr" presetSubtype="0" fill="hold" grpId="0" nodeType="withEffect">
                                  <p:stCondLst>
                                    <p:cond delay="0"/>
                                  </p:stCondLst>
                                  <p:childTnLst>
                                    <p:set>
                                      <p:cBhvr>
                                        <p:cTn id="7" dur="1" fill="hold">
                                          <p:stCondLst>
                                            <p:cond delay="0"/>
                                          </p:stCondLst>
                                        </p:cTn>
                                        <p:tgtEl>
                                          <p:spTgt spid="11"/>
                                        </p:tgtEl>
                                        <p:attrNameLst>
                                          <p:attrName>style.visibility</p:attrName>
                                        </p:attrNameLst>
                                      </p:cBhvr>
                                      <p:to>
                                        <p:strVal val="visible"/>
                                      </p:to>
                                    </p:set>
                                  </p:childTnLst>
                                </p:cTn>
                              </p:par>
                              <p:par>
                                <p:cTn id="10" presetID="1"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1" dur="1" fill="hold">
                                          <p:stCondLst>
                                            <p:cond delay="0"/>
                                          </p:stCondLst>
                                        </p:cTn>
                                        <p:tgtEl>
                                          <p:spTgt spid="13"/>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3"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8" presetID="1" presetClass="entr" presetSubtype="0" fill="hold" grpId="0" nodeType="clickEffect">
                                  <p:stCondLst>
                                    <p:cond delay="0"/>
                                  </p:stCondLst>
                                  <p:childTnLst>
                                    <p:set>
                                      <p:cBhvr>
                                        <p:cTn id="17" dur="1" fill="hold">
                                          <p:stCondLst>
                                            <p:cond delay="0"/>
                                          </p:stCondLst>
                                        </p:cTn>
                                        <p:tgtEl>
                                          <p:spTgt spid="15"/>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19"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3" grpId="0" animBg="1"/>
      <p:bldP spid="14" grpId="0" animBg="1"/>
      <p:bldP spid="15" grpId="0" animBg="1"/>
      <p:bldP spid="1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THE SLICE STATEMENT</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One sentence: the demo script and the exit test</a:t>
            </a:r>
            <a:endParaRPr lang="en-US" sz="3100" dirty="0"/>
          </a:p>
        </p:txBody>
      </p:sp>
      <p:sp>
        <p:nvSpPr>
          <p:cNvPr id="5" name="Shape 3"/>
          <p:cNvSpPr/>
          <p:nvPr/>
        </p:nvSpPr>
        <p:spPr>
          <a:xfrm>
            <a:off x="548640" y="1783080"/>
            <a:ext cx="11064240" cy="1234440"/>
          </a:xfrm>
          <a:prstGeom prst="roundRect">
            <a:avLst>
              <a:gd name="adj" fmla="val 6667"/>
            </a:avLst>
          </a:prstGeom>
          <a:solidFill>
            <a:srgbClr val="F2F6F8"/>
          </a:solidFill>
          <a:ln/>
          <a:effectLst>
            <a:outerShdw sx="100000" sy="100000" kx="0" ky="0" algn="bl" rotWithShape="0" blurRad="88900" dist="38100" dir="5400000">
              <a:srgbClr val="000000">
                <a:alpha val="13000"/>
              </a:srgbClr>
            </a:outerShdw>
          </a:effectLst>
        </p:spPr>
      </p:sp>
      <p:sp>
        <p:nvSpPr>
          <p:cNvPr id="6" name="Text 4"/>
          <p:cNvSpPr/>
          <p:nvPr/>
        </p:nvSpPr>
        <p:spPr>
          <a:xfrm>
            <a:off x="868680" y="1783080"/>
            <a:ext cx="10424160" cy="1234440"/>
          </a:xfrm>
          <a:prstGeom prst="rect">
            <a:avLst/>
          </a:prstGeom>
          <a:noFill/>
          <a:ln/>
        </p:spPr>
        <p:txBody>
          <a:bodyPr wrap="square" lIns="0" tIns="0" rIns="0" bIns="0" rtlCol="0" anchor="ctr"/>
          <a:lstStyle/>
          <a:p>
            <a:pPr indent="0" marL="0">
              <a:buNone/>
            </a:pPr>
            <a:r>
              <a:rPr lang="en-US" sz="2200" dirty="0">
                <a:solidFill>
                  <a:srgbClr val="5F7284"/>
                </a:solidFill>
                <a:latin typeface="Calibri" pitchFamily="34" charset="0"/>
                <a:ea typeface="Calibri" pitchFamily="34" charset="-122"/>
                <a:cs typeface="Calibri" pitchFamily="34" charset="-120"/>
              </a:rPr>
              <a:t>On the demo day we will demo: </a:t>
            </a:r>
            <a:pPr indent="0" marL="0">
              <a:buNone/>
            </a:pPr>
            <a:r>
              <a:rPr lang="en-US" sz="2200" b="1" dirty="0">
                <a:solidFill>
                  <a:srgbClr val="0E6E6D"/>
                </a:solidFill>
                <a:latin typeface="Calibri" pitchFamily="34" charset="0"/>
                <a:ea typeface="Calibri" pitchFamily="34" charset="-122"/>
                <a:cs typeface="Calibri" pitchFamily="34" charset="-120"/>
              </a:rPr>
              <a:t>[user]</a:t>
            </a:r>
            <a:pPr indent="0" marL="0">
              <a:buNone/>
            </a:pPr>
            <a:r>
              <a:rPr lang="en-US" sz="2200" dirty="0">
                <a:solidFill>
                  <a:srgbClr val="5F7284"/>
                </a:solidFill>
                <a:latin typeface="Calibri" pitchFamily="34" charset="0"/>
                <a:ea typeface="Calibri" pitchFamily="34" charset="-122"/>
                <a:cs typeface="Calibri" pitchFamily="34" charset="-120"/>
              </a:rPr>
              <a:t> does </a:t>
            </a:r>
            <a:pPr indent="0" marL="0">
              <a:buNone/>
            </a:pPr>
            <a:r>
              <a:rPr lang="en-US" sz="2200" b="1" dirty="0">
                <a:solidFill>
                  <a:srgbClr val="0E6E6D"/>
                </a:solidFill>
                <a:latin typeface="Calibri" pitchFamily="34" charset="0"/>
                <a:ea typeface="Calibri" pitchFamily="34" charset="-122"/>
                <a:cs typeface="Calibri" pitchFamily="34" charset="-120"/>
              </a:rPr>
              <a:t>[end-to-end action]</a:t>
            </a:r>
            <a:pPr indent="0" marL="0">
              <a:buNone/>
            </a:pPr>
            <a:r>
              <a:rPr lang="en-US" sz="2200" dirty="0">
                <a:solidFill>
                  <a:srgbClr val="5F7284"/>
                </a:solidFill>
                <a:latin typeface="Calibri" pitchFamily="34" charset="0"/>
                <a:ea typeface="Calibri" pitchFamily="34" charset="-122"/>
                <a:cs typeface="Calibri" pitchFamily="34" charset="-120"/>
              </a:rPr>
              <a:t> and sees </a:t>
            </a:r>
            <a:pPr indent="0" marL="0">
              <a:buNone/>
            </a:pPr>
            <a:r>
              <a:rPr lang="en-US" sz="2200" b="1" dirty="0">
                <a:solidFill>
                  <a:srgbClr val="0E6E6D"/>
                </a:solidFill>
                <a:latin typeface="Calibri" pitchFamily="34" charset="0"/>
                <a:ea typeface="Calibri" pitchFamily="34" charset="-122"/>
                <a:cs typeface="Calibri" pitchFamily="34" charset="-120"/>
              </a:rPr>
              <a:t>[result]</a:t>
            </a:r>
            <a:pPr indent="0" marL="0">
              <a:buNone/>
            </a:pPr>
            <a:r>
              <a:rPr lang="en-US" sz="2200" dirty="0">
                <a:solidFill>
                  <a:srgbClr val="5F7284"/>
                </a:solidFill>
                <a:latin typeface="Calibri" pitchFamily="34" charset="0"/>
                <a:ea typeface="Calibri" pitchFamily="34" charset="-122"/>
                <a:cs typeface="Calibri" pitchFamily="34" charset="-120"/>
              </a:rPr>
              <a:t>.</a:t>
            </a:r>
            <a:endParaRPr lang="en-US" sz="2200" dirty="0"/>
          </a:p>
        </p:txBody>
      </p:sp>
      <p:sp>
        <p:nvSpPr>
          <p:cNvPr id="7" name="click-1"/>
          <p:cNvSpPr/>
          <p:nvPr/>
        </p:nvSpPr>
        <p:spPr>
          <a:xfrm>
            <a:off x="548640" y="3200400"/>
            <a:ext cx="11064240" cy="320040"/>
          </a:xfrm>
          <a:prstGeom prst="rect">
            <a:avLst/>
          </a:prstGeom>
          <a:noFill/>
          <a:ln/>
        </p:spPr>
        <p:txBody>
          <a:bodyPr wrap="square" lIns="0" tIns="0" rIns="0" bIns="0" rtlCol="0" anchor="ctr"/>
          <a:lstStyle/>
          <a:p>
            <a:pPr indent="0" marL="0">
              <a:buNone/>
            </a:pPr>
            <a:r>
              <a:rPr lang="en-US" sz="1500" b="1" dirty="0">
                <a:solidFill>
                  <a:srgbClr val="5F7284"/>
                </a:solidFill>
                <a:latin typeface="Calibri" pitchFamily="34" charset="0"/>
                <a:ea typeface="Calibri" pitchFamily="34" charset="-122"/>
                <a:cs typeface="Calibri" pitchFamily="34" charset="-120"/>
              </a:rPr>
              <a:t>Prop Loft · M1's milestone description</a:t>
            </a:r>
            <a:endParaRPr lang="en-US" sz="1500" dirty="0"/>
          </a:p>
        </p:txBody>
      </p:sp>
      <p:sp>
        <p:nvSpPr>
          <p:cNvPr id="8" name="click-1"/>
          <p:cNvSpPr/>
          <p:nvPr/>
        </p:nvSpPr>
        <p:spPr>
          <a:xfrm>
            <a:off x="548640" y="3566160"/>
            <a:ext cx="11064240" cy="1417320"/>
          </a:xfrm>
          <a:prstGeom prst="roundRect">
            <a:avLst>
              <a:gd name="adj" fmla="val 5806"/>
            </a:avLst>
          </a:prstGeom>
          <a:solidFill>
            <a:srgbClr val="14233A"/>
          </a:solidFill>
          <a:ln/>
          <a:effectLst>
            <a:outerShdw sx="100000" sy="100000" kx="0" ky="0" algn="bl" rotWithShape="0" blurRad="88900" dist="38100" dir="5400000">
              <a:srgbClr val="000000">
                <a:alpha val="13000"/>
              </a:srgbClr>
            </a:outerShdw>
          </a:effectLst>
        </p:spPr>
      </p:sp>
      <p:sp>
        <p:nvSpPr>
          <p:cNvPr id="9" name="click-1"/>
          <p:cNvSpPr/>
          <p:nvPr/>
        </p:nvSpPr>
        <p:spPr>
          <a:xfrm>
            <a:off x="868680" y="3566160"/>
            <a:ext cx="10424160" cy="1417320"/>
          </a:xfrm>
          <a:prstGeom prst="rect">
            <a:avLst/>
          </a:prstGeom>
          <a:noFill/>
          <a:ln/>
        </p:spPr>
        <p:txBody>
          <a:bodyPr wrap="square" lIns="0" tIns="0" rIns="0" bIns="0" rtlCol="0" anchor="ctr"/>
          <a:lstStyle/>
          <a:p>
            <a:pPr indent="0" marL="0">
              <a:lnSpc>
                <a:spcPct val="106000"/>
              </a:lnSpc>
              <a:buNone/>
            </a:pPr>
            <a:r>
              <a:rPr lang="en-US" sz="2000" i="1" dirty="0">
                <a:solidFill>
                  <a:srgbClr val="FFFFFF"/>
                </a:solidFill>
                <a:latin typeface="Cambria" pitchFamily="34" charset="0"/>
                <a:ea typeface="Cambria" pitchFamily="34" charset="-122"/>
                <a:cs typeface="Cambria" pitchFamily="34" charset="-120"/>
              </a:rPr>
              <a:t>On Nov 18 we will demo: a wardrobe volunteer searches "waistcoat," opens the men's size M waistcoat, checks it out to an actor for the fall show, due back Dec 5, and sees it marked out to that actor.</a:t>
            </a:r>
            <a:endParaRPr lang="en-US" sz="2000" dirty="0"/>
          </a:p>
        </p:txBody>
      </p:sp>
      <p:sp>
        <p:nvSpPr>
          <p:cNvPr id="10" name="click-2"/>
          <p:cNvSpPr/>
          <p:nvPr/>
        </p:nvSpPr>
        <p:spPr>
          <a:xfrm>
            <a:off x="548640" y="5212080"/>
            <a:ext cx="11064240" cy="960120"/>
          </a:xfrm>
          <a:prstGeom prst="roundRect">
            <a:avLst>
              <a:gd name="adj" fmla="val 8571"/>
            </a:avLst>
          </a:prstGeom>
          <a:solidFill>
            <a:srgbClr val="E8A33D"/>
          </a:solidFill>
          <a:ln/>
          <a:effectLst>
            <a:outerShdw sx="100000" sy="100000" kx="0" ky="0" algn="bl" rotWithShape="0" blurRad="88900" dist="38100" dir="5400000">
              <a:srgbClr val="000000">
                <a:alpha val="13000"/>
              </a:srgbClr>
            </a:outerShdw>
          </a:effectLst>
        </p:spPr>
      </p:sp>
      <p:sp>
        <p:nvSpPr>
          <p:cNvPr id="11" name="click-2"/>
          <p:cNvSpPr/>
          <p:nvPr/>
        </p:nvSpPr>
        <p:spPr>
          <a:xfrm>
            <a:off x="868680" y="5212080"/>
            <a:ext cx="10424160" cy="960120"/>
          </a:xfrm>
          <a:prstGeom prst="rect">
            <a:avLst/>
          </a:prstGeom>
          <a:noFill/>
          <a:ln/>
        </p:spPr>
        <p:txBody>
          <a:bodyPr wrap="square" lIns="0" tIns="0" rIns="0" bIns="0" rtlCol="0" anchor="ctr"/>
          <a:lstStyle/>
          <a:p>
            <a:pPr indent="0" marL="0">
              <a:lnSpc>
                <a:spcPct val="104000"/>
              </a:lnSpc>
              <a:buNone/>
            </a:pPr>
            <a:r>
              <a:rPr lang="en-US" sz="1700" b="1" dirty="0">
                <a:solidFill>
                  <a:srgbClr val="14233A"/>
                </a:solidFill>
                <a:latin typeface="Calibri" pitchFamily="34" charset="0"/>
                <a:ea typeface="Calibri" pitchFamily="34" charset="-122"/>
                <a:cs typeface="Calibri" pitchFamily="34" charset="-120"/>
              </a:rPr>
              <a:t>Specific enough to rehearse: a real search term, a real item, a real date. If you can't rehearse it, it isn't done.</a:t>
            </a:r>
            <a:endParaRPr lang="en-US" sz="1700" dirty="0"/>
          </a:p>
        </p:txBody>
      </p:sp>
      <p:sp>
        <p:nvSpPr>
          <p:cNvPr id="12" name="Text 10"/>
          <p:cNvSpPr/>
          <p:nvPr/>
        </p:nvSpPr>
        <p:spPr>
          <a:xfrm>
            <a:off x="6217920" y="6437376"/>
            <a:ext cx="53949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18 · Estimation &amp; the Vertical Slice</a:t>
            </a:r>
            <a:endParaRPr lang="en-US" sz="1000" dirty="0"/>
          </a:p>
        </p:txBody>
      </p:sp>
      <p:sp>
        <p:nvSpPr>
          <p:cNvPr id="13" name="Text 11"/>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19</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 presetClass="entr" presetSubtype="0" fill="hold" grpId="0" nodeType="clickEffect">
                                  <p:stCondLst>
                                    <p:cond delay="0"/>
                                  </p:stCondLst>
                                  <p:childTnLst>
                                    <p:set>
                                      <p:cBhvr>
                                        <p:cTn id="5" dur="1" fill="hold">
                                          <p:stCondLst>
                                            <p:cond delay="0"/>
                                          </p:stCondLst>
                                        </p:cTn>
                                        <p:tgtEl>
                                          <p:spTgt spid="7"/>
                                        </p:tgtEl>
                                        <p:attrNameLst>
                                          <p:attrName>style.visibility</p:attrName>
                                        </p:attrNameLst>
                                      </p:cBhvr>
                                      <p:to>
                                        <p:strVal val="visible"/>
                                      </p:to>
                                    </p:set>
                                  </p:childTnLst>
                                </p:cTn>
                              </p:par>
                              <p:par>
                                <p:cTn id="8" presetID="1" presetClass="entr" presetSubtype="0" fill="hold" grpId="0" nodeType="withEffect">
                                  <p:stCondLst>
                                    <p:cond delay="0"/>
                                  </p:stCondLst>
                                  <p:childTnLst>
                                    <p:set>
                                      <p:cBhvr>
                                        <p:cTn id="7" dur="1" fill="hold">
                                          <p:stCondLst>
                                            <p:cond delay="0"/>
                                          </p:stCondLst>
                                        </p:cTn>
                                        <p:tgtEl>
                                          <p:spTgt spid="8"/>
                                        </p:tgtEl>
                                        <p:attrNameLst>
                                          <p:attrName>style.visibility</p:attrName>
                                        </p:attrNameLst>
                                      </p:cBhvr>
                                      <p:to>
                                        <p:strVal val="visible"/>
                                      </p:to>
                                    </p:set>
                                  </p:childTnLst>
                                </p:cTn>
                              </p:par>
                              <p:par>
                                <p:cTn id="10" presetID="1"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4" presetID="1"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ON THE BOARD · LIVE</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Five changes, then your turn</a:t>
            </a:r>
            <a:endParaRPr lang="en-US" sz="3100" dirty="0"/>
          </a:p>
        </p:txBody>
      </p:sp>
      <p:sp>
        <p:nvSpPr>
          <p:cNvPr id="5" name="Shape 3"/>
          <p:cNvSpPr/>
          <p:nvPr/>
        </p:nvSpPr>
        <p:spPr>
          <a:xfrm>
            <a:off x="548640" y="1783080"/>
            <a:ext cx="11064240" cy="694944"/>
          </a:xfrm>
          <a:prstGeom prst="roundRect">
            <a:avLst>
              <a:gd name="adj" fmla="val 11842"/>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731520" y="1901952"/>
            <a:ext cx="457200" cy="457200"/>
          </a:xfrm>
          <a:prstGeom prst="ellipse">
            <a:avLst/>
          </a:prstGeom>
          <a:solidFill>
            <a:srgbClr val="12908F"/>
          </a:solidFill>
          <a:ln/>
        </p:spPr>
      </p:sp>
      <p:sp>
        <p:nvSpPr>
          <p:cNvPr id="7" name="Text 5"/>
          <p:cNvSpPr/>
          <p:nvPr/>
        </p:nvSpPr>
        <p:spPr>
          <a:xfrm>
            <a:off x="731520" y="190195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8" name="Text 6"/>
          <p:cNvSpPr/>
          <p:nvPr/>
        </p:nvSpPr>
        <p:spPr>
          <a:xfrm>
            <a:off x="1371600" y="1783080"/>
            <a:ext cx="2743200" cy="694944"/>
          </a:xfrm>
          <a:prstGeom prst="rect">
            <a:avLst/>
          </a:prstGeom>
          <a:noFill/>
          <a:ln/>
        </p:spPr>
        <p:txBody>
          <a:bodyPr wrap="square" lIns="0" tIns="0" rIns="0" bIns="0" rtlCol="0" anchor="ctr"/>
          <a:lstStyle/>
          <a:p>
            <a:pPr indent="0" marL="0">
              <a:buNone/>
            </a:pPr>
            <a:r>
              <a:rPr lang="en-US" sz="1700" b="1" dirty="0">
                <a:solidFill>
                  <a:srgbClr val="0E6E6D"/>
                </a:solidFill>
                <a:latin typeface="Calibri" pitchFamily="34" charset="0"/>
                <a:ea typeface="Calibri" pitchFamily="34" charset="-122"/>
                <a:cs typeface="Calibri" pitchFamily="34" charset="-120"/>
              </a:rPr>
              <a:t>Size field</a:t>
            </a:r>
            <a:endParaRPr lang="en-US" sz="1700" dirty="0"/>
          </a:p>
        </p:txBody>
      </p:sp>
      <p:sp>
        <p:nvSpPr>
          <p:cNvPr id="9" name="Text 7"/>
          <p:cNvSpPr/>
          <p:nvPr/>
        </p:nvSpPr>
        <p:spPr>
          <a:xfrm>
            <a:off x="4114800" y="1783080"/>
            <a:ext cx="7315200" cy="694944"/>
          </a:xfrm>
          <a:prstGeom prst="rect">
            <a:avLst/>
          </a:prstGeom>
          <a:noFill/>
          <a:ln/>
        </p:spPr>
        <p:txBody>
          <a:bodyPr wrap="square" lIns="0" tIns="0" rIns="0" bIns="0" rtlCol="0" anchor="ctr"/>
          <a:lstStyle/>
          <a:p>
            <a:pPr indent="0" marL="0">
              <a:buNone/>
            </a:pPr>
            <a:r>
              <a:rPr lang="en-US" sz="1550" dirty="0">
                <a:solidFill>
                  <a:srgbClr val="1E2A36"/>
                </a:solidFill>
                <a:latin typeface="Calibri" pitchFamily="34" charset="0"/>
                <a:ea typeface="Calibri" pitchFamily="34" charset="-122"/>
                <a:cs typeface="Calibri" pitchFamily="34" charset="-120"/>
              </a:rPr>
              <a:t>Plan table: + → Add field → Create a project field → Single select: XS to XL</a:t>
            </a:r>
            <a:endParaRPr lang="en-US" sz="1550" dirty="0"/>
          </a:p>
        </p:txBody>
      </p:sp>
      <p:sp>
        <p:nvSpPr>
          <p:cNvPr id="10" name="Shape 8"/>
          <p:cNvSpPr/>
          <p:nvPr/>
        </p:nvSpPr>
        <p:spPr>
          <a:xfrm>
            <a:off x="548640" y="2569464"/>
            <a:ext cx="11064240" cy="694944"/>
          </a:xfrm>
          <a:prstGeom prst="roundRect">
            <a:avLst>
              <a:gd name="adj" fmla="val 11842"/>
            </a:avLst>
          </a:prstGeom>
          <a:solidFill>
            <a:srgbClr val="F2F6F8"/>
          </a:solidFill>
          <a:ln/>
          <a:effectLst>
            <a:outerShdw sx="100000" sy="100000" kx="0" ky="0" algn="bl" rotWithShape="0" blurRad="88900" dist="38100" dir="5400000">
              <a:srgbClr val="000000">
                <a:alpha val="13000"/>
              </a:srgbClr>
            </a:outerShdw>
          </a:effectLst>
        </p:spPr>
      </p:sp>
      <p:sp>
        <p:nvSpPr>
          <p:cNvPr id="11" name="Shape 9"/>
          <p:cNvSpPr/>
          <p:nvPr/>
        </p:nvSpPr>
        <p:spPr>
          <a:xfrm>
            <a:off x="731520" y="2688336"/>
            <a:ext cx="457200" cy="457200"/>
          </a:xfrm>
          <a:prstGeom prst="ellipse">
            <a:avLst/>
          </a:prstGeom>
          <a:solidFill>
            <a:srgbClr val="12908F"/>
          </a:solidFill>
          <a:ln/>
        </p:spPr>
      </p:sp>
      <p:sp>
        <p:nvSpPr>
          <p:cNvPr id="12" name="Text 10"/>
          <p:cNvSpPr/>
          <p:nvPr/>
        </p:nvSpPr>
        <p:spPr>
          <a:xfrm>
            <a:off x="731520" y="2688336"/>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3" name="Text 11"/>
          <p:cNvSpPr/>
          <p:nvPr/>
        </p:nvSpPr>
        <p:spPr>
          <a:xfrm>
            <a:off x="1371600" y="2569464"/>
            <a:ext cx="2743200" cy="694944"/>
          </a:xfrm>
          <a:prstGeom prst="rect">
            <a:avLst/>
          </a:prstGeom>
          <a:noFill/>
          <a:ln/>
        </p:spPr>
        <p:txBody>
          <a:bodyPr wrap="square" lIns="0" tIns="0" rIns="0" bIns="0" rtlCol="0" anchor="ctr"/>
          <a:lstStyle/>
          <a:p>
            <a:pPr indent="0" marL="0">
              <a:buNone/>
            </a:pPr>
            <a:r>
              <a:rPr lang="en-US" sz="1700" b="1" dirty="0">
                <a:solidFill>
                  <a:srgbClr val="0E6E6D"/>
                </a:solidFill>
                <a:latin typeface="Calibri" pitchFamily="34" charset="0"/>
                <a:ea typeface="Calibri" pitchFamily="34" charset="-122"/>
                <a:cs typeface="Calibri" pitchFamily="34" charset="-120"/>
              </a:rPr>
              <a:t>Sizes</a:t>
            </a:r>
            <a:endParaRPr lang="en-US" sz="1700" dirty="0"/>
          </a:p>
        </p:txBody>
      </p:sp>
      <p:sp>
        <p:nvSpPr>
          <p:cNvPr id="14" name="Text 12"/>
          <p:cNvSpPr/>
          <p:nvPr/>
        </p:nvSpPr>
        <p:spPr>
          <a:xfrm>
            <a:off x="4114800" y="2569464"/>
            <a:ext cx="7315200" cy="694944"/>
          </a:xfrm>
          <a:prstGeom prst="rect">
            <a:avLst/>
          </a:prstGeom>
          <a:noFill/>
          <a:ln/>
        </p:spPr>
        <p:txBody>
          <a:bodyPr wrap="square" lIns="0" tIns="0" rIns="0" bIns="0" rtlCol="0" anchor="ctr"/>
          <a:lstStyle/>
          <a:p>
            <a:pPr indent="0" marL="0">
              <a:buNone/>
            </a:pPr>
            <a:r>
              <a:rPr lang="en-US" sz="1550" dirty="0">
                <a:solidFill>
                  <a:srgbClr val="1E2A36"/>
                </a:solidFill>
                <a:latin typeface="Calibri" pitchFamily="34" charset="0"/>
                <a:ea typeface="Calibri" pitchFamily="34" charset="-122"/>
                <a:cs typeface="Calibri" pitchFamily="34" charset="-120"/>
              </a:rPr>
              <a:t>Fill them in from a table view; it's faster than opening each card</a:t>
            </a:r>
            <a:endParaRPr lang="en-US" sz="1550" dirty="0"/>
          </a:p>
        </p:txBody>
      </p:sp>
      <p:sp>
        <p:nvSpPr>
          <p:cNvPr id="15" name="Shape 13"/>
          <p:cNvSpPr/>
          <p:nvPr/>
        </p:nvSpPr>
        <p:spPr>
          <a:xfrm>
            <a:off x="548640" y="3355848"/>
            <a:ext cx="11064240" cy="694944"/>
          </a:xfrm>
          <a:prstGeom prst="roundRect">
            <a:avLst>
              <a:gd name="adj" fmla="val 11842"/>
            </a:avLst>
          </a:prstGeom>
          <a:solidFill>
            <a:srgbClr val="F2F6F8"/>
          </a:solidFill>
          <a:ln/>
          <a:effectLst>
            <a:outerShdw sx="100000" sy="100000" kx="0" ky="0" algn="bl" rotWithShape="0" blurRad="88900" dist="38100" dir="5400000">
              <a:srgbClr val="000000">
                <a:alpha val="13000"/>
              </a:srgbClr>
            </a:outerShdw>
          </a:effectLst>
        </p:spPr>
      </p:sp>
      <p:sp>
        <p:nvSpPr>
          <p:cNvPr id="16" name="Shape 14"/>
          <p:cNvSpPr/>
          <p:nvPr/>
        </p:nvSpPr>
        <p:spPr>
          <a:xfrm>
            <a:off x="731520" y="3474720"/>
            <a:ext cx="457200" cy="457200"/>
          </a:xfrm>
          <a:prstGeom prst="ellipse">
            <a:avLst/>
          </a:prstGeom>
          <a:solidFill>
            <a:srgbClr val="12908F"/>
          </a:solidFill>
          <a:ln/>
        </p:spPr>
      </p:sp>
      <p:sp>
        <p:nvSpPr>
          <p:cNvPr id="17" name="Text 15"/>
          <p:cNvSpPr/>
          <p:nvPr/>
        </p:nvSpPr>
        <p:spPr>
          <a:xfrm>
            <a:off x="731520" y="34747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8" name="Text 16"/>
          <p:cNvSpPr/>
          <p:nvPr/>
        </p:nvSpPr>
        <p:spPr>
          <a:xfrm>
            <a:off x="1371600" y="3355848"/>
            <a:ext cx="2743200" cy="694944"/>
          </a:xfrm>
          <a:prstGeom prst="rect">
            <a:avLst/>
          </a:prstGeom>
          <a:noFill/>
          <a:ln/>
        </p:spPr>
        <p:txBody>
          <a:bodyPr wrap="square" lIns="0" tIns="0" rIns="0" bIns="0" rtlCol="0" anchor="ctr"/>
          <a:lstStyle/>
          <a:p>
            <a:pPr indent="0" marL="0">
              <a:buNone/>
            </a:pPr>
            <a:r>
              <a:rPr lang="en-US" sz="1700" b="1" dirty="0">
                <a:solidFill>
                  <a:srgbClr val="0E6E6D"/>
                </a:solidFill>
                <a:latin typeface="Calibri" pitchFamily="34" charset="0"/>
                <a:ea typeface="Calibri" pitchFamily="34" charset="-122"/>
                <a:cs typeface="Calibri" pitchFamily="34" charset="-120"/>
              </a:rPr>
              <a:t>slice label</a:t>
            </a:r>
            <a:endParaRPr lang="en-US" sz="1700" dirty="0"/>
          </a:p>
        </p:txBody>
      </p:sp>
      <p:sp>
        <p:nvSpPr>
          <p:cNvPr id="19" name="Text 17"/>
          <p:cNvSpPr/>
          <p:nvPr/>
        </p:nvSpPr>
        <p:spPr>
          <a:xfrm>
            <a:off x="4114800" y="3355848"/>
            <a:ext cx="7315200" cy="694944"/>
          </a:xfrm>
          <a:prstGeom prst="rect">
            <a:avLst/>
          </a:prstGeom>
          <a:noFill/>
          <a:ln/>
        </p:spPr>
        <p:txBody>
          <a:bodyPr wrap="square" lIns="0" tIns="0" rIns="0" bIns="0" rtlCol="0" anchor="ctr"/>
          <a:lstStyle/>
          <a:p>
            <a:pPr indent="0" marL="0">
              <a:buNone/>
            </a:pPr>
            <a:r>
              <a:rPr lang="en-US" sz="1550" dirty="0">
                <a:solidFill>
                  <a:srgbClr val="1E2A36"/>
                </a:solidFill>
                <a:latin typeface="Calibri" pitchFamily="34" charset="0"/>
                <a:ea typeface="Calibri" pitchFamily="34" charset="-122"/>
                <a:cs typeface="Calibri" pitchFamily="34" charset="-120"/>
              </a:rPr>
              <a:t>Create it, then put it on the issues the demo walks, and only those</a:t>
            </a:r>
            <a:endParaRPr lang="en-US" sz="1550" dirty="0"/>
          </a:p>
        </p:txBody>
      </p:sp>
      <p:sp>
        <p:nvSpPr>
          <p:cNvPr id="20" name="Shape 18"/>
          <p:cNvSpPr/>
          <p:nvPr/>
        </p:nvSpPr>
        <p:spPr>
          <a:xfrm>
            <a:off x="548640" y="4142232"/>
            <a:ext cx="11064240" cy="694944"/>
          </a:xfrm>
          <a:prstGeom prst="roundRect">
            <a:avLst>
              <a:gd name="adj" fmla="val 11842"/>
            </a:avLst>
          </a:prstGeom>
          <a:solidFill>
            <a:srgbClr val="F2F6F8"/>
          </a:solidFill>
          <a:ln/>
          <a:effectLst>
            <a:outerShdw sx="100000" sy="100000" kx="0" ky="0" algn="bl" rotWithShape="0" blurRad="88900" dist="38100" dir="5400000">
              <a:srgbClr val="000000">
                <a:alpha val="13000"/>
              </a:srgbClr>
            </a:outerShdw>
          </a:effectLst>
        </p:spPr>
      </p:sp>
      <p:sp>
        <p:nvSpPr>
          <p:cNvPr id="21" name="Shape 19"/>
          <p:cNvSpPr/>
          <p:nvPr/>
        </p:nvSpPr>
        <p:spPr>
          <a:xfrm>
            <a:off x="731520" y="4261104"/>
            <a:ext cx="457200" cy="457200"/>
          </a:xfrm>
          <a:prstGeom prst="ellipse">
            <a:avLst/>
          </a:prstGeom>
          <a:solidFill>
            <a:srgbClr val="12908F"/>
          </a:solidFill>
          <a:ln/>
        </p:spPr>
      </p:sp>
      <p:sp>
        <p:nvSpPr>
          <p:cNvPr id="22" name="Text 20"/>
          <p:cNvSpPr/>
          <p:nvPr/>
        </p:nvSpPr>
        <p:spPr>
          <a:xfrm>
            <a:off x="731520" y="4261104"/>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3" name="Text 21"/>
          <p:cNvSpPr/>
          <p:nvPr/>
        </p:nvSpPr>
        <p:spPr>
          <a:xfrm>
            <a:off x="1371600" y="4142232"/>
            <a:ext cx="2743200" cy="694944"/>
          </a:xfrm>
          <a:prstGeom prst="rect">
            <a:avLst/>
          </a:prstGeom>
          <a:noFill/>
          <a:ln/>
        </p:spPr>
        <p:txBody>
          <a:bodyPr wrap="square" lIns="0" tIns="0" rIns="0" bIns="0" rtlCol="0" anchor="ctr"/>
          <a:lstStyle/>
          <a:p>
            <a:pPr indent="0" marL="0">
              <a:buNone/>
            </a:pPr>
            <a:r>
              <a:rPr lang="en-US" sz="1700" b="1" dirty="0">
                <a:solidFill>
                  <a:srgbClr val="0E6E6D"/>
                </a:solidFill>
                <a:latin typeface="Calibri" pitchFamily="34" charset="0"/>
                <a:ea typeface="Calibri" pitchFamily="34" charset="-122"/>
                <a:cs typeface="Calibri" pitchFamily="34" charset="-120"/>
              </a:rPr>
              <a:t>Order</a:t>
            </a:r>
            <a:endParaRPr lang="en-US" sz="1700" dirty="0"/>
          </a:p>
        </p:txBody>
      </p:sp>
      <p:sp>
        <p:nvSpPr>
          <p:cNvPr id="24" name="Text 22"/>
          <p:cNvSpPr/>
          <p:nvPr/>
        </p:nvSpPr>
        <p:spPr>
          <a:xfrm>
            <a:off x="4114800" y="4142232"/>
            <a:ext cx="7315200" cy="694944"/>
          </a:xfrm>
          <a:prstGeom prst="rect">
            <a:avLst/>
          </a:prstGeom>
          <a:noFill/>
          <a:ln/>
        </p:spPr>
        <p:txBody>
          <a:bodyPr wrap="square" lIns="0" tIns="0" rIns="0" bIns="0" rtlCol="0" anchor="ctr"/>
          <a:lstStyle/>
          <a:p>
            <a:pPr indent="0" marL="0">
              <a:buNone/>
            </a:pPr>
            <a:r>
              <a:rPr lang="en-US" sz="1550" dirty="0">
                <a:solidFill>
                  <a:srgbClr val="1E2A36"/>
                </a:solidFill>
                <a:latin typeface="Calibri" pitchFamily="34" charset="0"/>
                <a:ea typeface="Calibri" pitchFamily="34" charset="-122"/>
                <a:cs typeface="Calibri" pitchFamily="34" charset="-120"/>
              </a:rPr>
              <a:t>Ready top to bottom in sequence; what's blocked waits at the top of Backlog</a:t>
            </a:r>
            <a:endParaRPr lang="en-US" sz="1550" dirty="0"/>
          </a:p>
        </p:txBody>
      </p:sp>
      <p:sp>
        <p:nvSpPr>
          <p:cNvPr id="25" name="Shape 23"/>
          <p:cNvSpPr/>
          <p:nvPr/>
        </p:nvSpPr>
        <p:spPr>
          <a:xfrm>
            <a:off x="548640" y="4928616"/>
            <a:ext cx="11064240" cy="694944"/>
          </a:xfrm>
          <a:prstGeom prst="roundRect">
            <a:avLst>
              <a:gd name="adj" fmla="val 11842"/>
            </a:avLst>
          </a:prstGeom>
          <a:solidFill>
            <a:srgbClr val="F2F6F8"/>
          </a:solidFill>
          <a:ln/>
          <a:effectLst>
            <a:outerShdw sx="100000" sy="100000" kx="0" ky="0" algn="bl" rotWithShape="0" blurRad="88900" dist="38100" dir="5400000">
              <a:srgbClr val="000000">
                <a:alpha val="13000"/>
              </a:srgbClr>
            </a:outerShdw>
          </a:effectLst>
        </p:spPr>
      </p:sp>
      <p:sp>
        <p:nvSpPr>
          <p:cNvPr id="26" name="Shape 24"/>
          <p:cNvSpPr/>
          <p:nvPr/>
        </p:nvSpPr>
        <p:spPr>
          <a:xfrm>
            <a:off x="731520" y="5047488"/>
            <a:ext cx="457200" cy="457200"/>
          </a:xfrm>
          <a:prstGeom prst="ellipse">
            <a:avLst/>
          </a:prstGeom>
          <a:solidFill>
            <a:srgbClr val="12908F"/>
          </a:solidFill>
          <a:ln/>
        </p:spPr>
      </p:sp>
      <p:sp>
        <p:nvSpPr>
          <p:cNvPr id="27" name="Text 25"/>
          <p:cNvSpPr/>
          <p:nvPr/>
        </p:nvSpPr>
        <p:spPr>
          <a:xfrm>
            <a:off x="731520" y="504748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28" name="Text 26"/>
          <p:cNvSpPr/>
          <p:nvPr/>
        </p:nvSpPr>
        <p:spPr>
          <a:xfrm>
            <a:off x="1371600" y="4928616"/>
            <a:ext cx="2743200" cy="694944"/>
          </a:xfrm>
          <a:prstGeom prst="rect">
            <a:avLst/>
          </a:prstGeom>
          <a:noFill/>
          <a:ln/>
        </p:spPr>
        <p:txBody>
          <a:bodyPr wrap="square" lIns="0" tIns="0" rIns="0" bIns="0" rtlCol="0" anchor="ctr"/>
          <a:lstStyle/>
          <a:p>
            <a:pPr indent="0" marL="0">
              <a:buNone/>
            </a:pPr>
            <a:r>
              <a:rPr lang="en-US" sz="1700" b="1" dirty="0">
                <a:solidFill>
                  <a:srgbClr val="0E6E6D"/>
                </a:solidFill>
                <a:latin typeface="Calibri" pitchFamily="34" charset="0"/>
                <a:ea typeface="Calibri" pitchFamily="34" charset="-122"/>
                <a:cs typeface="Calibri" pitchFamily="34" charset="-120"/>
              </a:rPr>
              <a:t>Slice statement</a:t>
            </a:r>
            <a:endParaRPr lang="en-US" sz="1700" dirty="0"/>
          </a:p>
        </p:txBody>
      </p:sp>
      <p:sp>
        <p:nvSpPr>
          <p:cNvPr id="29" name="Text 27"/>
          <p:cNvSpPr/>
          <p:nvPr/>
        </p:nvSpPr>
        <p:spPr>
          <a:xfrm>
            <a:off x="4114800" y="4928616"/>
            <a:ext cx="7315200" cy="694944"/>
          </a:xfrm>
          <a:prstGeom prst="rect">
            <a:avLst/>
          </a:prstGeom>
          <a:noFill/>
          <a:ln/>
        </p:spPr>
        <p:txBody>
          <a:bodyPr wrap="square" lIns="0" tIns="0" rIns="0" bIns="0" rtlCol="0" anchor="ctr"/>
          <a:lstStyle/>
          <a:p>
            <a:pPr indent="0" marL="0">
              <a:buNone/>
            </a:pPr>
            <a:r>
              <a:rPr lang="en-US" sz="1550" dirty="0">
                <a:solidFill>
                  <a:srgbClr val="1E2A36"/>
                </a:solidFill>
                <a:latin typeface="Calibri" pitchFamily="34" charset="0"/>
                <a:ea typeface="Calibri" pitchFamily="34" charset="-122"/>
                <a:cs typeface="Calibri" pitchFamily="34" charset="-120"/>
              </a:rPr>
              <a:t>Milestones → M1 → Edit: replace the description with the sentence</a:t>
            </a:r>
            <a:endParaRPr lang="en-US" sz="1550" dirty="0"/>
          </a:p>
        </p:txBody>
      </p:sp>
      <p:sp>
        <p:nvSpPr>
          <p:cNvPr id="30" name="Text 28"/>
          <p:cNvSpPr/>
          <p:nvPr/>
        </p:nvSpPr>
        <p:spPr>
          <a:xfrm>
            <a:off x="548640" y="5779008"/>
            <a:ext cx="11064240" cy="457200"/>
          </a:xfrm>
          <a:prstGeom prst="rect">
            <a:avLst/>
          </a:prstGeom>
          <a:noFill/>
          <a:ln/>
        </p:spPr>
        <p:txBody>
          <a:bodyPr wrap="square" lIns="0" tIns="0" rIns="0" bIns="0" rtlCol="0" anchor="ctr"/>
          <a:lstStyle/>
          <a:p>
            <a:pPr indent="0" marL="0">
              <a:buNone/>
            </a:pPr>
            <a:r>
              <a:rPr lang="en-US" sz="1500" i="1" dirty="0">
                <a:solidFill>
                  <a:srgbClr val="5F7284"/>
                </a:solidFill>
                <a:latin typeface="Calibri" pitchFamily="34" charset="0"/>
                <a:ea typeface="Calibri" pitchFamily="34" charset="-122"/>
                <a:cs typeface="Calibri" pitchFamily="34" charset="-120"/>
              </a:rPr>
              <a:t>The Size field step is in Canvas → Course Resources → Setting Up Your Board, §5.</a:t>
            </a:r>
            <a:endParaRPr lang="en-US" sz="1500" dirty="0"/>
          </a:p>
        </p:txBody>
      </p:sp>
      <p:sp>
        <p:nvSpPr>
          <p:cNvPr id="31" name="Text 29"/>
          <p:cNvSpPr/>
          <p:nvPr/>
        </p:nvSpPr>
        <p:spPr>
          <a:xfrm>
            <a:off x="6217920" y="6437376"/>
            <a:ext cx="53949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18 · Estimation &amp; the Vertical Slice</a:t>
            </a:r>
            <a:endParaRPr lang="en-US" sz="1000" dirty="0"/>
          </a:p>
        </p:txBody>
      </p:sp>
      <p:sp>
        <p:nvSpPr>
          <p:cNvPr id="32" name="Text 30"/>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10424160" y="-1188720"/>
            <a:ext cx="3291840" cy="3291840"/>
          </a:xfrm>
          <a:prstGeom prst="ellipse">
            <a:avLst/>
          </a:prstGeom>
          <a:solidFill>
            <a:srgbClr val="1C3252"/>
          </a:solidFill>
          <a:ln/>
        </p:spPr>
      </p:sp>
      <p:sp>
        <p:nvSpPr>
          <p:cNvPr id="3" name="Shape 1"/>
          <p:cNvSpPr/>
          <p:nvPr/>
        </p:nvSpPr>
        <p:spPr>
          <a:xfrm>
            <a:off x="566928" y="548640"/>
            <a:ext cx="137160" cy="137160"/>
          </a:xfrm>
          <a:prstGeom prst="ellipse">
            <a:avLst/>
          </a:prstGeom>
          <a:solidFill>
            <a:srgbClr val="E8A33D"/>
          </a:solidFill>
          <a:ln/>
        </p:spPr>
      </p:sp>
      <p:sp>
        <p:nvSpPr>
          <p:cNvPr id="4" name="Text 2"/>
          <p:cNvSpPr/>
          <p:nvPr/>
        </p:nvSpPr>
        <p:spPr>
          <a:xfrm>
            <a:off x="795528" y="457200"/>
            <a:ext cx="10515600" cy="310896"/>
          </a:xfrm>
          <a:prstGeom prst="rect">
            <a:avLst/>
          </a:prstGeom>
          <a:noFill/>
          <a:ln/>
        </p:spPr>
        <p:txBody>
          <a:bodyPr wrap="square" lIns="0" tIns="0" rIns="0" bIns="0" rtlCol="0" anchor="ctr"/>
          <a:lstStyle/>
          <a:p>
            <a:pPr indent="0" marL="0">
              <a:buNone/>
            </a:pPr>
            <a:r>
              <a:rPr lang="en-US" sz="1400" b="1" spc="200" kern="0" dirty="0">
                <a:solidFill>
                  <a:srgbClr val="E8A33D"/>
                </a:solidFill>
                <a:latin typeface="Calibri" pitchFamily="34" charset="0"/>
                <a:ea typeface="Calibri" pitchFamily="34" charset="-122"/>
                <a:cs typeface="Calibri" pitchFamily="34" charset="-120"/>
              </a:rPr>
              <a:t>WORKSHOP · 13 MIN</a:t>
            </a:r>
            <a:endParaRPr lang="en-US" sz="1400" dirty="0"/>
          </a:p>
        </p:txBody>
      </p:sp>
      <p:sp>
        <p:nvSpPr>
          <p:cNvPr id="5" name="Text 3"/>
          <p:cNvSpPr/>
          <p:nvPr/>
        </p:nvSpPr>
        <p:spPr>
          <a:xfrm>
            <a:off x="548640" y="822960"/>
            <a:ext cx="1106424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Order your first milestone and commit the slice</a:t>
            </a:r>
            <a:endParaRPr lang="en-US" sz="3200" dirty="0"/>
          </a:p>
        </p:txBody>
      </p:sp>
      <p:sp>
        <p:nvSpPr>
          <p:cNvPr id="6" name="Shape 4"/>
          <p:cNvSpPr/>
          <p:nvPr/>
        </p:nvSpPr>
        <p:spPr>
          <a:xfrm>
            <a:off x="548640" y="1783080"/>
            <a:ext cx="11064240" cy="731520"/>
          </a:xfrm>
          <a:prstGeom prst="roundRect">
            <a:avLst>
              <a:gd name="adj" fmla="val 11250"/>
            </a:avLst>
          </a:prstGeom>
          <a:solidFill>
            <a:srgbClr val="1E3352"/>
          </a:solidFill>
          <a:ln/>
          <a:effectLst>
            <a:outerShdw sx="100000" sy="100000" kx="0" ky="0" algn="bl" rotWithShape="0" blurRad="88900" dist="38100" dir="5400000">
              <a:srgbClr val="000000">
                <a:alpha val="13000"/>
              </a:srgbClr>
            </a:outerShdw>
          </a:effectLst>
        </p:spPr>
      </p:sp>
      <p:sp>
        <p:nvSpPr>
          <p:cNvPr id="7" name="Text 5"/>
          <p:cNvSpPr/>
          <p:nvPr/>
        </p:nvSpPr>
        <p:spPr>
          <a:xfrm>
            <a:off x="822960" y="1783080"/>
            <a:ext cx="2926080" cy="7315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Order it</a:t>
            </a:r>
            <a:endParaRPr lang="en-US" sz="1800" dirty="0"/>
          </a:p>
        </p:txBody>
      </p:sp>
      <p:sp>
        <p:nvSpPr>
          <p:cNvPr id="8" name="Text 6"/>
          <p:cNvSpPr/>
          <p:nvPr/>
        </p:nvSpPr>
        <p:spPr>
          <a:xfrm>
            <a:off x="3749040" y="1783080"/>
            <a:ext cx="7680960" cy="731520"/>
          </a:xfrm>
          <a:prstGeom prst="rect">
            <a:avLst/>
          </a:prstGeom>
          <a:noFill/>
          <a:ln/>
        </p:spPr>
        <p:txBody>
          <a:bodyPr wrap="square" lIns="0" tIns="0" rIns="0" bIns="0" rtlCol="0" anchor="ctr"/>
          <a:lstStyle/>
          <a:p>
            <a:pPr indent="0" marL="0">
              <a:buNone/>
            </a:pPr>
            <a:r>
              <a:rPr lang="en-US" sz="1550" dirty="0">
                <a:solidFill>
                  <a:srgbClr val="CFE0E9"/>
                </a:solidFill>
                <a:latin typeface="Calibri" pitchFamily="34" charset="0"/>
                <a:ea typeface="Calibri" pitchFamily="34" charset="-122"/>
                <a:cs typeface="Calibri" pitchFamily="34" charset="-120"/>
              </a:rPr>
              <a:t>Ready in sequence; blocked issues at the top of Backlog; "Needs …" written into each issue that has one</a:t>
            </a:r>
            <a:endParaRPr lang="en-US" sz="1550" dirty="0"/>
          </a:p>
        </p:txBody>
      </p:sp>
      <p:sp>
        <p:nvSpPr>
          <p:cNvPr id="9" name="Shape 7"/>
          <p:cNvSpPr/>
          <p:nvPr/>
        </p:nvSpPr>
        <p:spPr>
          <a:xfrm>
            <a:off x="548640" y="2624328"/>
            <a:ext cx="11064240" cy="731520"/>
          </a:xfrm>
          <a:prstGeom prst="roundRect">
            <a:avLst>
              <a:gd name="adj" fmla="val 11250"/>
            </a:avLst>
          </a:prstGeom>
          <a:solidFill>
            <a:srgbClr val="1E3352"/>
          </a:solidFill>
          <a:ln/>
          <a:effectLst>
            <a:outerShdw sx="100000" sy="100000" kx="0" ky="0" algn="bl" rotWithShape="0" blurRad="88900" dist="38100" dir="5400000">
              <a:srgbClr val="000000">
                <a:alpha val="13000"/>
              </a:srgbClr>
            </a:outerShdw>
          </a:effectLst>
        </p:spPr>
      </p:sp>
      <p:sp>
        <p:nvSpPr>
          <p:cNvPr id="10" name="Text 8"/>
          <p:cNvSpPr/>
          <p:nvPr/>
        </p:nvSpPr>
        <p:spPr>
          <a:xfrm>
            <a:off x="822960" y="2624328"/>
            <a:ext cx="2926080" cy="7315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Label the slice</a:t>
            </a:r>
            <a:endParaRPr lang="en-US" sz="1800" dirty="0"/>
          </a:p>
        </p:txBody>
      </p:sp>
      <p:sp>
        <p:nvSpPr>
          <p:cNvPr id="11" name="Text 9"/>
          <p:cNvSpPr/>
          <p:nvPr/>
        </p:nvSpPr>
        <p:spPr>
          <a:xfrm>
            <a:off x="3749040" y="2624328"/>
            <a:ext cx="7680960" cy="731520"/>
          </a:xfrm>
          <a:prstGeom prst="rect">
            <a:avLst/>
          </a:prstGeom>
          <a:noFill/>
          <a:ln/>
        </p:spPr>
        <p:txBody>
          <a:bodyPr wrap="square" lIns="0" tIns="0" rIns="0" bIns="0" rtlCol="0" anchor="ctr"/>
          <a:lstStyle/>
          <a:p>
            <a:pPr indent="0" marL="0">
              <a:buNone/>
            </a:pPr>
            <a:r>
              <a:rPr lang="en-US" sz="1550" dirty="0">
                <a:solidFill>
                  <a:srgbClr val="CFE0E9"/>
                </a:solidFill>
                <a:latin typeface="Calibri" pitchFamily="34" charset="0"/>
                <a:ea typeface="Calibri" pitchFamily="34" charset="-122"/>
                <a:cs typeface="Calibri" pitchFamily="34" charset="-120"/>
              </a:rPr>
              <a:t>Create slice; put it on the issues the demo walks</a:t>
            </a:r>
            <a:endParaRPr lang="en-US" sz="1550" dirty="0"/>
          </a:p>
        </p:txBody>
      </p:sp>
      <p:sp>
        <p:nvSpPr>
          <p:cNvPr id="12" name="Shape 10"/>
          <p:cNvSpPr/>
          <p:nvPr/>
        </p:nvSpPr>
        <p:spPr>
          <a:xfrm>
            <a:off x="548640" y="3465576"/>
            <a:ext cx="11064240" cy="731520"/>
          </a:xfrm>
          <a:prstGeom prst="roundRect">
            <a:avLst>
              <a:gd name="adj" fmla="val 11250"/>
            </a:avLst>
          </a:prstGeom>
          <a:solidFill>
            <a:srgbClr val="1E3352"/>
          </a:solidFill>
          <a:ln/>
          <a:effectLst>
            <a:outerShdw sx="100000" sy="100000" kx="0" ky="0" algn="bl" rotWithShape="0" blurRad="88900" dist="38100" dir="5400000">
              <a:srgbClr val="000000">
                <a:alpha val="13000"/>
              </a:srgbClr>
            </a:outerShdw>
          </a:effectLst>
        </p:spPr>
      </p:sp>
      <p:sp>
        <p:nvSpPr>
          <p:cNvPr id="13" name="Text 11"/>
          <p:cNvSpPr/>
          <p:nvPr/>
        </p:nvSpPr>
        <p:spPr>
          <a:xfrm>
            <a:off x="822960" y="3465576"/>
            <a:ext cx="2926080" cy="7315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Owners and people</a:t>
            </a:r>
            <a:endParaRPr lang="en-US" sz="1800" dirty="0"/>
          </a:p>
        </p:txBody>
      </p:sp>
      <p:sp>
        <p:nvSpPr>
          <p:cNvPr id="14" name="Text 12"/>
          <p:cNvSpPr/>
          <p:nvPr/>
        </p:nvSpPr>
        <p:spPr>
          <a:xfrm>
            <a:off x="3749040" y="3465576"/>
            <a:ext cx="7680960" cy="731520"/>
          </a:xfrm>
          <a:prstGeom prst="rect">
            <a:avLst/>
          </a:prstGeom>
          <a:noFill/>
          <a:ln/>
        </p:spPr>
        <p:txBody>
          <a:bodyPr wrap="square" lIns="0" tIns="0" rIns="0" bIns="0" rtlCol="0" anchor="ctr"/>
          <a:lstStyle/>
          <a:p>
            <a:pPr indent="0" marL="0">
              <a:buNone/>
            </a:pPr>
            <a:r>
              <a:rPr lang="en-US" sz="1550" dirty="0">
                <a:solidFill>
                  <a:srgbClr val="CFE0E9"/>
                </a:solidFill>
                <a:latin typeface="Calibri" pitchFamily="34" charset="0"/>
                <a:ea typeface="Calibri" pitchFamily="34" charset="-122"/>
                <a:cs typeface="Calibri" pitchFamily="34" charset="-120"/>
              </a:rPr>
              <a:t>Assign the first week's issues; ask anyone you depend on, today</a:t>
            </a:r>
            <a:endParaRPr lang="en-US" sz="1550" dirty="0"/>
          </a:p>
        </p:txBody>
      </p:sp>
      <p:sp>
        <p:nvSpPr>
          <p:cNvPr id="15" name="Shape 13"/>
          <p:cNvSpPr/>
          <p:nvPr/>
        </p:nvSpPr>
        <p:spPr>
          <a:xfrm>
            <a:off x="548640" y="4306824"/>
            <a:ext cx="11064240" cy="731520"/>
          </a:xfrm>
          <a:prstGeom prst="roundRect">
            <a:avLst>
              <a:gd name="adj" fmla="val 11250"/>
            </a:avLst>
          </a:prstGeom>
          <a:solidFill>
            <a:srgbClr val="1E3352"/>
          </a:solidFill>
          <a:ln/>
          <a:effectLst>
            <a:outerShdw sx="100000" sy="100000" kx="0" ky="0" algn="bl" rotWithShape="0" blurRad="88900" dist="38100" dir="5400000">
              <a:srgbClr val="000000">
                <a:alpha val="13000"/>
              </a:srgbClr>
            </a:outerShdw>
          </a:effectLst>
        </p:spPr>
      </p:sp>
      <p:sp>
        <p:nvSpPr>
          <p:cNvPr id="16" name="Text 14"/>
          <p:cNvSpPr/>
          <p:nvPr/>
        </p:nvSpPr>
        <p:spPr>
          <a:xfrm>
            <a:off x="822960" y="4306824"/>
            <a:ext cx="2926080" cy="7315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Write the sentence</a:t>
            </a:r>
            <a:endParaRPr lang="en-US" sz="1800" dirty="0"/>
          </a:p>
        </p:txBody>
      </p:sp>
      <p:sp>
        <p:nvSpPr>
          <p:cNvPr id="17" name="Text 15"/>
          <p:cNvSpPr/>
          <p:nvPr/>
        </p:nvSpPr>
        <p:spPr>
          <a:xfrm>
            <a:off x="3749040" y="4306824"/>
            <a:ext cx="7680960" cy="731520"/>
          </a:xfrm>
          <a:prstGeom prst="rect">
            <a:avLst/>
          </a:prstGeom>
          <a:noFill/>
          <a:ln/>
        </p:spPr>
        <p:txBody>
          <a:bodyPr wrap="square" lIns="0" tIns="0" rIns="0" bIns="0" rtlCol="0" anchor="ctr"/>
          <a:lstStyle/>
          <a:p>
            <a:pPr indent="0" marL="0">
              <a:buNone/>
            </a:pPr>
            <a:r>
              <a:rPr lang="en-US" sz="1550" dirty="0">
                <a:solidFill>
                  <a:srgbClr val="CFE0E9"/>
                </a:solidFill>
                <a:latin typeface="Calibri" pitchFamily="34" charset="0"/>
                <a:ea typeface="Calibri" pitchFamily="34" charset="-122"/>
                <a:cs typeface="Calibri" pitchFamily="34" charset="-120"/>
              </a:rPr>
              <a:t>The slice statement, in your first milestone's description</a:t>
            </a:r>
            <a:endParaRPr lang="en-US" sz="1550" dirty="0"/>
          </a:p>
        </p:txBody>
      </p:sp>
      <p:sp>
        <p:nvSpPr>
          <p:cNvPr id="18" name="Shape 16"/>
          <p:cNvSpPr/>
          <p:nvPr/>
        </p:nvSpPr>
        <p:spPr>
          <a:xfrm>
            <a:off x="548640" y="5257800"/>
            <a:ext cx="11064240" cy="914400"/>
          </a:xfrm>
          <a:prstGeom prst="roundRect">
            <a:avLst>
              <a:gd name="adj" fmla="val 9000"/>
            </a:avLst>
          </a:prstGeom>
          <a:solidFill>
            <a:srgbClr val="E8A33D"/>
          </a:solidFill>
          <a:ln/>
          <a:effectLst>
            <a:outerShdw sx="100000" sy="100000" kx="0" ky="0" algn="bl" rotWithShape="0" blurRad="88900" dist="38100" dir="5400000">
              <a:srgbClr val="000000">
                <a:alpha val="13000"/>
              </a:srgbClr>
            </a:outerShdw>
          </a:effectLst>
        </p:spPr>
      </p:sp>
      <p:sp>
        <p:nvSpPr>
          <p:cNvPr id="19" name="Text 17"/>
          <p:cNvSpPr/>
          <p:nvPr/>
        </p:nvSpPr>
        <p:spPr>
          <a:xfrm>
            <a:off x="868680" y="5257800"/>
            <a:ext cx="10424160" cy="914400"/>
          </a:xfrm>
          <a:prstGeom prst="rect">
            <a:avLst/>
          </a:prstGeom>
          <a:noFill/>
          <a:ln/>
        </p:spPr>
        <p:txBody>
          <a:bodyPr wrap="square" lIns="0" tIns="0" rIns="0" bIns="0" rtlCol="0" anchor="ctr"/>
          <a:lstStyle/>
          <a:p>
            <a:pPr indent="0" marL="0">
              <a:buNone/>
            </a:pPr>
            <a:r>
              <a:rPr lang="en-US" sz="1800" b="1" dirty="0">
                <a:solidFill>
                  <a:srgbClr val="14233A"/>
                </a:solidFill>
                <a:latin typeface="Calibri" pitchFamily="34" charset="0"/>
                <a:ea typeface="Calibri" pitchFamily="34" charset="-122"/>
                <a:cs typeface="Calibri" pitchFamily="34" charset="-120"/>
              </a:rPr>
              <a:t>I'll ask:  </a:t>
            </a:r>
            <a:pPr indent="0" marL="0">
              <a:buNone/>
            </a:pPr>
            <a:r>
              <a:rPr lang="en-US" sz="1800" dirty="0">
                <a:solidFill>
                  <a:srgbClr val="14233A"/>
                </a:solidFill>
                <a:latin typeface="Calibri" pitchFamily="34" charset="0"/>
                <a:ea typeface="Calibri" pitchFamily="34" charset="-122"/>
                <a:cs typeface="Calibri" pitchFamily="34" charset="-120"/>
              </a:rPr>
              <a:t>If the demo were tomorrow, what breaks first? That issue goes earlier.</a:t>
            </a:r>
            <a:endParaRPr lang="en-US" sz="1800" dirty="0"/>
          </a:p>
        </p:txBody>
      </p:sp>
      <p:sp>
        <p:nvSpPr>
          <p:cNvPr id="20" name="Text 18"/>
          <p:cNvSpPr/>
          <p:nvPr/>
        </p:nvSpPr>
        <p:spPr>
          <a:xfrm>
            <a:off x="6217920" y="6437376"/>
            <a:ext cx="5394960" cy="274320"/>
          </a:xfrm>
          <a:prstGeom prst="rect">
            <a:avLst/>
          </a:prstGeom>
          <a:noFill/>
          <a:ln/>
        </p:spPr>
        <p:txBody>
          <a:bodyPr wrap="square" lIns="0" tIns="0" rIns="0" bIns="0" rtlCol="0" anchor="ctr"/>
          <a:lstStyle/>
          <a:p>
            <a:pPr algn="r" indent="0" marL="0">
              <a:buNone/>
            </a:pPr>
            <a:r>
              <a:rPr lang="en-US" sz="1000" dirty="0">
                <a:solidFill>
                  <a:srgbClr val="7E92A8"/>
                </a:solidFill>
                <a:latin typeface="Calibri" pitchFamily="34" charset="0"/>
                <a:ea typeface="Calibri" pitchFamily="34" charset="-122"/>
                <a:cs typeface="Calibri" pitchFamily="34" charset="-120"/>
              </a:rPr>
              <a:t>CS 301R · Session 18 · Estimation &amp; the Vertical Slice</a:t>
            </a:r>
            <a:endParaRPr lang="en-US" sz="1000" dirty="0"/>
          </a:p>
        </p:txBody>
      </p:sp>
      <p:sp>
        <p:nvSpPr>
          <p:cNvPr id="21" name="Text 19"/>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7E92A8"/>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CP8 · BEFORE YOU SUBMIT TONIGHT</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Check your board against Prop Loft's</a:t>
            </a:r>
            <a:endParaRPr lang="en-US" sz="3100" dirty="0"/>
          </a:p>
        </p:txBody>
      </p:sp>
      <p:sp>
        <p:nvSpPr>
          <p:cNvPr id="5" name="Shape 3"/>
          <p:cNvSpPr/>
          <p:nvPr/>
        </p:nvSpPr>
        <p:spPr>
          <a:xfrm>
            <a:off x="548640" y="1783080"/>
            <a:ext cx="5440680" cy="694944"/>
          </a:xfrm>
          <a:prstGeom prst="roundRect">
            <a:avLst>
              <a:gd name="adj" fmla="val 11842"/>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731520" y="1920240"/>
            <a:ext cx="420624" cy="420624"/>
          </a:xfrm>
          <a:prstGeom prst="ellipse">
            <a:avLst/>
          </a:prstGeom>
          <a:solidFill>
            <a:srgbClr val="12908F"/>
          </a:solidFill>
          <a:ln/>
        </p:spPr>
      </p:sp>
      <p:pic>
        <p:nvPicPr>
          <p:cNvPr id="7" name="Image 0" descr="preencoded.png">    </p:cNvPr>
          <p:cNvPicPr>
            <a:picLocks noChangeAspect="1"/>
          </p:cNvPicPr>
          <p:nvPr/>
        </p:nvPicPr>
        <p:blipFill>
          <a:blip r:embed="rId1"/>
          <a:stretch>
            <a:fillRect/>
          </a:stretch>
        </p:blipFill>
        <p:spPr>
          <a:xfrm>
            <a:off x="845088" y="2033808"/>
            <a:ext cx="193487" cy="193487"/>
          </a:xfrm>
          <a:prstGeom prst="rect">
            <a:avLst/>
          </a:prstGeom>
        </p:spPr>
      </p:pic>
      <p:sp>
        <p:nvSpPr>
          <p:cNvPr id="8" name="Text 5"/>
          <p:cNvSpPr/>
          <p:nvPr/>
        </p:nvSpPr>
        <p:spPr>
          <a:xfrm>
            <a:off x="1325880" y="1783080"/>
            <a:ext cx="4526280" cy="694944"/>
          </a:xfrm>
          <a:prstGeom prst="rect">
            <a:avLst/>
          </a:prstGeom>
          <a:noFill/>
          <a:ln/>
        </p:spPr>
        <p:txBody>
          <a:bodyPr wrap="square" lIns="0" tIns="0" rIns="0" bIns="0" rtlCol="0" anchor="ctr"/>
          <a:lstStyle/>
          <a:p>
            <a:pPr indent="0" marL="0">
              <a:buNone/>
            </a:pPr>
            <a:r>
              <a:rPr lang="en-US" sz="1600" b="1" dirty="0">
                <a:solidFill>
                  <a:srgbClr val="1E2A36"/>
                </a:solidFill>
                <a:latin typeface="Calibri" pitchFamily="34" charset="0"/>
                <a:ea typeface="Calibri" pitchFamily="34" charset="-122"/>
                <a:cs typeface="Calibri" pitchFamily="34" charset="-120"/>
              </a:rPr>
              <a:t>Milestones dated, M1 and M2</a:t>
            </a:r>
            <a:endParaRPr lang="en-US" sz="1600" dirty="0"/>
          </a:p>
        </p:txBody>
      </p:sp>
      <p:sp>
        <p:nvSpPr>
          <p:cNvPr id="9" name="Shape 6"/>
          <p:cNvSpPr/>
          <p:nvPr/>
        </p:nvSpPr>
        <p:spPr>
          <a:xfrm>
            <a:off x="6172200" y="1783080"/>
            <a:ext cx="5440680" cy="694944"/>
          </a:xfrm>
          <a:prstGeom prst="roundRect">
            <a:avLst>
              <a:gd name="adj" fmla="val 11842"/>
            </a:avLst>
          </a:prstGeom>
          <a:solidFill>
            <a:srgbClr val="F2F6F8"/>
          </a:solidFill>
          <a:ln/>
          <a:effectLst>
            <a:outerShdw sx="100000" sy="100000" kx="0" ky="0" algn="bl" rotWithShape="0" blurRad="88900" dist="38100" dir="5400000">
              <a:srgbClr val="000000">
                <a:alpha val="13000"/>
              </a:srgbClr>
            </a:outerShdw>
          </a:effectLst>
        </p:spPr>
      </p:sp>
      <p:sp>
        <p:nvSpPr>
          <p:cNvPr id="10" name="Shape 7"/>
          <p:cNvSpPr/>
          <p:nvPr/>
        </p:nvSpPr>
        <p:spPr>
          <a:xfrm>
            <a:off x="6355080" y="1920240"/>
            <a:ext cx="420624" cy="420624"/>
          </a:xfrm>
          <a:prstGeom prst="ellipse">
            <a:avLst/>
          </a:prstGeom>
          <a:solidFill>
            <a:srgbClr val="12908F"/>
          </a:solidFill>
          <a:ln/>
        </p:spPr>
      </p:sp>
      <p:pic>
        <p:nvPicPr>
          <p:cNvPr id="11" name="Image 1" descr="preencoded.png">    </p:cNvPr>
          <p:cNvPicPr>
            <a:picLocks noChangeAspect="1"/>
          </p:cNvPicPr>
          <p:nvPr/>
        </p:nvPicPr>
        <p:blipFill>
          <a:blip r:embed="rId2"/>
          <a:stretch>
            <a:fillRect/>
          </a:stretch>
        </p:blipFill>
        <p:spPr>
          <a:xfrm>
            <a:off x="6468648" y="2033808"/>
            <a:ext cx="193487" cy="193487"/>
          </a:xfrm>
          <a:prstGeom prst="rect">
            <a:avLst/>
          </a:prstGeom>
        </p:spPr>
      </p:pic>
      <p:sp>
        <p:nvSpPr>
          <p:cNvPr id="12" name="Text 8"/>
          <p:cNvSpPr/>
          <p:nvPr/>
        </p:nvSpPr>
        <p:spPr>
          <a:xfrm>
            <a:off x="6949440" y="1783080"/>
            <a:ext cx="4526280" cy="694944"/>
          </a:xfrm>
          <a:prstGeom prst="rect">
            <a:avLst/>
          </a:prstGeom>
          <a:noFill/>
          <a:ln/>
        </p:spPr>
        <p:txBody>
          <a:bodyPr wrap="square" lIns="0" tIns="0" rIns="0" bIns="0" rtlCol="0" anchor="ctr"/>
          <a:lstStyle/>
          <a:p>
            <a:pPr indent="0" marL="0">
              <a:buNone/>
            </a:pPr>
            <a:r>
              <a:rPr lang="en-US" sz="1600" b="1" dirty="0">
                <a:solidFill>
                  <a:srgbClr val="1E2A36"/>
                </a:solidFill>
                <a:latin typeface="Calibri" pitchFamily="34" charset="0"/>
                <a:ea typeface="Calibri" pitchFamily="34" charset="-122"/>
                <a:cs typeface="Calibri" pitchFamily="34" charset="-120"/>
              </a:rPr>
              <a:t>Epics, with their issues as sub-issues</a:t>
            </a:r>
            <a:endParaRPr lang="en-US" sz="1600" dirty="0"/>
          </a:p>
        </p:txBody>
      </p:sp>
      <p:sp>
        <p:nvSpPr>
          <p:cNvPr id="13" name="Shape 9"/>
          <p:cNvSpPr/>
          <p:nvPr/>
        </p:nvSpPr>
        <p:spPr>
          <a:xfrm>
            <a:off x="548640" y="2587752"/>
            <a:ext cx="5440680" cy="694944"/>
          </a:xfrm>
          <a:prstGeom prst="roundRect">
            <a:avLst>
              <a:gd name="adj" fmla="val 11842"/>
            </a:avLst>
          </a:prstGeom>
          <a:solidFill>
            <a:srgbClr val="F2F6F8"/>
          </a:solidFill>
          <a:ln/>
          <a:effectLst>
            <a:outerShdw sx="100000" sy="100000" kx="0" ky="0" algn="bl" rotWithShape="0" blurRad="88900" dist="38100" dir="5400000">
              <a:srgbClr val="000000">
                <a:alpha val="13000"/>
              </a:srgbClr>
            </a:outerShdw>
          </a:effectLst>
        </p:spPr>
      </p:sp>
      <p:sp>
        <p:nvSpPr>
          <p:cNvPr id="14" name="Shape 10"/>
          <p:cNvSpPr/>
          <p:nvPr/>
        </p:nvSpPr>
        <p:spPr>
          <a:xfrm>
            <a:off x="731520" y="2724912"/>
            <a:ext cx="420624" cy="420624"/>
          </a:xfrm>
          <a:prstGeom prst="ellipse">
            <a:avLst/>
          </a:prstGeom>
          <a:solidFill>
            <a:srgbClr val="12908F"/>
          </a:solidFill>
          <a:ln/>
        </p:spPr>
      </p:sp>
      <p:pic>
        <p:nvPicPr>
          <p:cNvPr id="15" name="Image 2" descr="preencoded.png">    </p:cNvPr>
          <p:cNvPicPr>
            <a:picLocks noChangeAspect="1"/>
          </p:cNvPicPr>
          <p:nvPr/>
        </p:nvPicPr>
        <p:blipFill>
          <a:blip r:embed="rId3"/>
          <a:stretch>
            <a:fillRect/>
          </a:stretch>
        </p:blipFill>
        <p:spPr>
          <a:xfrm>
            <a:off x="845088" y="2838480"/>
            <a:ext cx="193487" cy="193487"/>
          </a:xfrm>
          <a:prstGeom prst="rect">
            <a:avLst/>
          </a:prstGeom>
        </p:spPr>
      </p:pic>
      <p:sp>
        <p:nvSpPr>
          <p:cNvPr id="16" name="Text 11"/>
          <p:cNvSpPr/>
          <p:nvPr/>
        </p:nvSpPr>
        <p:spPr>
          <a:xfrm>
            <a:off x="1325880" y="2587752"/>
            <a:ext cx="4526280" cy="694944"/>
          </a:xfrm>
          <a:prstGeom prst="rect">
            <a:avLst/>
          </a:prstGeom>
          <a:noFill/>
          <a:ln/>
        </p:spPr>
        <p:txBody>
          <a:bodyPr wrap="square" lIns="0" tIns="0" rIns="0" bIns="0" rtlCol="0" anchor="ctr"/>
          <a:lstStyle/>
          <a:p>
            <a:pPr indent="0" marL="0">
              <a:buNone/>
            </a:pPr>
            <a:r>
              <a:rPr lang="en-US" sz="1600" b="1" dirty="0">
                <a:solidFill>
                  <a:srgbClr val="1E2A36"/>
                </a:solidFill>
                <a:latin typeface="Calibri" pitchFamily="34" charset="0"/>
                <a:ea typeface="Calibri" pitchFamily="34" charset="-122"/>
                <a:cs typeface="Calibri" pitchFamily="34" charset="-120"/>
              </a:rPr>
              <a:t>M1 sized, ordered, and the slice labeled</a:t>
            </a:r>
            <a:endParaRPr lang="en-US" sz="1600" dirty="0"/>
          </a:p>
        </p:txBody>
      </p:sp>
      <p:sp>
        <p:nvSpPr>
          <p:cNvPr id="17" name="Shape 12"/>
          <p:cNvSpPr/>
          <p:nvPr/>
        </p:nvSpPr>
        <p:spPr>
          <a:xfrm>
            <a:off x="6172200" y="2587752"/>
            <a:ext cx="5440680" cy="694944"/>
          </a:xfrm>
          <a:prstGeom prst="roundRect">
            <a:avLst>
              <a:gd name="adj" fmla="val 11842"/>
            </a:avLst>
          </a:prstGeom>
          <a:solidFill>
            <a:srgbClr val="F2F6F8"/>
          </a:solidFill>
          <a:ln/>
          <a:effectLst>
            <a:outerShdw sx="100000" sy="100000" kx="0" ky="0" algn="bl" rotWithShape="0" blurRad="88900" dist="38100" dir="5400000">
              <a:srgbClr val="000000">
                <a:alpha val="13000"/>
              </a:srgbClr>
            </a:outerShdw>
          </a:effectLst>
        </p:spPr>
      </p:sp>
      <p:sp>
        <p:nvSpPr>
          <p:cNvPr id="18" name="Shape 13"/>
          <p:cNvSpPr/>
          <p:nvPr/>
        </p:nvSpPr>
        <p:spPr>
          <a:xfrm>
            <a:off x="6355080" y="2724912"/>
            <a:ext cx="420624" cy="420624"/>
          </a:xfrm>
          <a:prstGeom prst="ellipse">
            <a:avLst/>
          </a:prstGeom>
          <a:solidFill>
            <a:srgbClr val="12908F"/>
          </a:solidFill>
          <a:ln/>
        </p:spPr>
      </p:sp>
      <p:pic>
        <p:nvPicPr>
          <p:cNvPr id="19" name="Image 3" descr="preencoded.png">    </p:cNvPr>
          <p:cNvPicPr>
            <a:picLocks noChangeAspect="1"/>
          </p:cNvPicPr>
          <p:nvPr/>
        </p:nvPicPr>
        <p:blipFill>
          <a:blip r:embed="rId4"/>
          <a:stretch>
            <a:fillRect/>
          </a:stretch>
        </p:blipFill>
        <p:spPr>
          <a:xfrm>
            <a:off x="6468648" y="2838480"/>
            <a:ext cx="193487" cy="193487"/>
          </a:xfrm>
          <a:prstGeom prst="rect">
            <a:avLst/>
          </a:prstGeom>
        </p:spPr>
      </p:pic>
      <p:sp>
        <p:nvSpPr>
          <p:cNvPr id="20" name="Text 14"/>
          <p:cNvSpPr/>
          <p:nvPr/>
        </p:nvSpPr>
        <p:spPr>
          <a:xfrm>
            <a:off x="6949440" y="2587752"/>
            <a:ext cx="4526280" cy="694944"/>
          </a:xfrm>
          <a:prstGeom prst="rect">
            <a:avLst/>
          </a:prstGeom>
          <a:noFill/>
          <a:ln/>
        </p:spPr>
        <p:txBody>
          <a:bodyPr wrap="square" lIns="0" tIns="0" rIns="0" bIns="0" rtlCol="0" anchor="ctr"/>
          <a:lstStyle/>
          <a:p>
            <a:pPr indent="0" marL="0">
              <a:buNone/>
            </a:pPr>
            <a:r>
              <a:rPr lang="en-US" sz="1600" b="1" dirty="0">
                <a:solidFill>
                  <a:srgbClr val="1E2A36"/>
                </a:solidFill>
                <a:latin typeface="Calibri" pitchFamily="34" charset="0"/>
                <a:ea typeface="Calibri" pitchFamily="34" charset="-122"/>
                <a:cs typeface="Calibri" pitchFamily="34" charset="-120"/>
              </a:rPr>
              <a:t>The slice statement on M1</a:t>
            </a:r>
            <a:endParaRPr lang="en-US" sz="1600" dirty="0"/>
          </a:p>
        </p:txBody>
      </p:sp>
      <p:sp>
        <p:nvSpPr>
          <p:cNvPr id="21" name="Shape 15"/>
          <p:cNvSpPr/>
          <p:nvPr/>
        </p:nvSpPr>
        <p:spPr>
          <a:xfrm>
            <a:off x="548640" y="3392424"/>
            <a:ext cx="5440680" cy="694944"/>
          </a:xfrm>
          <a:prstGeom prst="roundRect">
            <a:avLst>
              <a:gd name="adj" fmla="val 11842"/>
            </a:avLst>
          </a:prstGeom>
          <a:solidFill>
            <a:srgbClr val="F2F6F8"/>
          </a:solidFill>
          <a:ln/>
          <a:effectLst>
            <a:outerShdw sx="100000" sy="100000" kx="0" ky="0" algn="bl" rotWithShape="0" blurRad="88900" dist="38100" dir="5400000">
              <a:srgbClr val="000000">
                <a:alpha val="13000"/>
              </a:srgbClr>
            </a:outerShdw>
          </a:effectLst>
        </p:spPr>
      </p:sp>
      <p:sp>
        <p:nvSpPr>
          <p:cNvPr id="22" name="Shape 16"/>
          <p:cNvSpPr/>
          <p:nvPr/>
        </p:nvSpPr>
        <p:spPr>
          <a:xfrm>
            <a:off x="731520" y="3529584"/>
            <a:ext cx="420624" cy="420624"/>
          </a:xfrm>
          <a:prstGeom prst="ellipse">
            <a:avLst/>
          </a:prstGeom>
          <a:solidFill>
            <a:srgbClr val="12908F"/>
          </a:solidFill>
          <a:ln/>
        </p:spPr>
      </p:sp>
      <p:pic>
        <p:nvPicPr>
          <p:cNvPr id="23" name="Image 4" descr="preencoded.png">    </p:cNvPr>
          <p:cNvPicPr>
            <a:picLocks noChangeAspect="1"/>
          </p:cNvPicPr>
          <p:nvPr/>
        </p:nvPicPr>
        <p:blipFill>
          <a:blip r:embed="rId5"/>
          <a:stretch>
            <a:fillRect/>
          </a:stretch>
        </p:blipFill>
        <p:spPr>
          <a:xfrm>
            <a:off x="845088" y="3643152"/>
            <a:ext cx="193487" cy="193487"/>
          </a:xfrm>
          <a:prstGeom prst="rect">
            <a:avLst/>
          </a:prstGeom>
        </p:spPr>
      </p:pic>
      <p:sp>
        <p:nvSpPr>
          <p:cNvPr id="24" name="Text 17"/>
          <p:cNvSpPr/>
          <p:nvPr/>
        </p:nvSpPr>
        <p:spPr>
          <a:xfrm>
            <a:off x="1325880" y="3392424"/>
            <a:ext cx="4526280" cy="694944"/>
          </a:xfrm>
          <a:prstGeom prst="rect">
            <a:avLst/>
          </a:prstGeom>
          <a:noFill/>
          <a:ln/>
        </p:spPr>
        <p:txBody>
          <a:bodyPr wrap="square" lIns="0" tIns="0" rIns="0" bIns="0" rtlCol="0" anchor="ctr"/>
          <a:lstStyle/>
          <a:p>
            <a:pPr indent="0" marL="0">
              <a:buNone/>
            </a:pPr>
            <a:r>
              <a:rPr lang="en-US" sz="1600" b="1" dirty="0">
                <a:solidFill>
                  <a:srgbClr val="1E2A36"/>
                </a:solidFill>
                <a:latin typeface="Calibri" pitchFamily="34" charset="0"/>
                <a:ea typeface="Calibri" pitchFamily="34" charset="-122"/>
                <a:cs typeface="Calibri" pitchFamily="34" charset="-120"/>
              </a:rPr>
              <a:t>The fit check done, and the cut made if needed</a:t>
            </a:r>
            <a:endParaRPr lang="en-US" sz="1600" dirty="0"/>
          </a:p>
        </p:txBody>
      </p:sp>
      <p:sp>
        <p:nvSpPr>
          <p:cNvPr id="25" name="Shape 18"/>
          <p:cNvSpPr/>
          <p:nvPr/>
        </p:nvSpPr>
        <p:spPr>
          <a:xfrm>
            <a:off x="6172200" y="3392424"/>
            <a:ext cx="5440680" cy="694944"/>
          </a:xfrm>
          <a:prstGeom prst="roundRect">
            <a:avLst>
              <a:gd name="adj" fmla="val 11842"/>
            </a:avLst>
          </a:prstGeom>
          <a:solidFill>
            <a:srgbClr val="F2F6F8"/>
          </a:solidFill>
          <a:ln/>
          <a:effectLst>
            <a:outerShdw sx="100000" sy="100000" kx="0" ky="0" algn="bl" rotWithShape="0" blurRad="88900" dist="38100" dir="5400000">
              <a:srgbClr val="000000">
                <a:alpha val="13000"/>
              </a:srgbClr>
            </a:outerShdw>
          </a:effectLst>
        </p:spPr>
      </p:sp>
      <p:sp>
        <p:nvSpPr>
          <p:cNvPr id="26" name="Shape 19"/>
          <p:cNvSpPr/>
          <p:nvPr/>
        </p:nvSpPr>
        <p:spPr>
          <a:xfrm>
            <a:off x="6355080" y="3529584"/>
            <a:ext cx="420624" cy="420624"/>
          </a:xfrm>
          <a:prstGeom prst="ellipse">
            <a:avLst/>
          </a:prstGeom>
          <a:solidFill>
            <a:srgbClr val="12908F"/>
          </a:solidFill>
          <a:ln/>
        </p:spPr>
      </p:sp>
      <p:pic>
        <p:nvPicPr>
          <p:cNvPr id="27" name="Image 5" descr="preencoded.png">    </p:cNvPr>
          <p:cNvPicPr>
            <a:picLocks noChangeAspect="1"/>
          </p:cNvPicPr>
          <p:nvPr/>
        </p:nvPicPr>
        <p:blipFill>
          <a:blip r:embed="rId6"/>
          <a:stretch>
            <a:fillRect/>
          </a:stretch>
        </p:blipFill>
        <p:spPr>
          <a:xfrm>
            <a:off x="6468648" y="3643152"/>
            <a:ext cx="193487" cy="193487"/>
          </a:xfrm>
          <a:prstGeom prst="rect">
            <a:avLst/>
          </a:prstGeom>
        </p:spPr>
      </p:pic>
      <p:sp>
        <p:nvSpPr>
          <p:cNvPr id="28" name="Text 20"/>
          <p:cNvSpPr/>
          <p:nvPr/>
        </p:nvSpPr>
        <p:spPr>
          <a:xfrm>
            <a:off x="6949440" y="3392424"/>
            <a:ext cx="4526280" cy="694944"/>
          </a:xfrm>
          <a:prstGeom prst="rect">
            <a:avLst/>
          </a:prstGeom>
          <a:noFill/>
          <a:ln/>
        </p:spPr>
        <p:txBody>
          <a:bodyPr wrap="square" lIns="0" tIns="0" rIns="0" bIns="0" rtlCol="0" anchor="ctr"/>
          <a:lstStyle/>
          <a:p>
            <a:pPr indent="0" marL="0">
              <a:buNone/>
            </a:pPr>
            <a:r>
              <a:rPr lang="en-US" sz="1600" b="1" dirty="0">
                <a:solidFill>
                  <a:srgbClr val="1E2A36"/>
                </a:solidFill>
                <a:latin typeface="Calibri" pitchFamily="34" charset="0"/>
                <a:ea typeface="Calibri" pitchFamily="34" charset="-122"/>
                <a:cs typeface="Calibri" pitchFamily="34" charset="-120"/>
              </a:rPr>
              <a:t>good first issue × 2–3, each with Where to start</a:t>
            </a:r>
            <a:endParaRPr lang="en-US" sz="1600" dirty="0"/>
          </a:p>
        </p:txBody>
      </p:sp>
      <p:sp>
        <p:nvSpPr>
          <p:cNvPr id="29" name="Shape 21"/>
          <p:cNvSpPr/>
          <p:nvPr/>
        </p:nvSpPr>
        <p:spPr>
          <a:xfrm>
            <a:off x="548640" y="4197096"/>
            <a:ext cx="5440680" cy="694944"/>
          </a:xfrm>
          <a:prstGeom prst="roundRect">
            <a:avLst>
              <a:gd name="adj" fmla="val 11842"/>
            </a:avLst>
          </a:prstGeom>
          <a:solidFill>
            <a:srgbClr val="F2F6F8"/>
          </a:solidFill>
          <a:ln/>
          <a:effectLst>
            <a:outerShdw sx="100000" sy="100000" kx="0" ky="0" algn="bl" rotWithShape="0" blurRad="88900" dist="38100" dir="5400000">
              <a:srgbClr val="000000">
                <a:alpha val="13000"/>
              </a:srgbClr>
            </a:outerShdw>
          </a:effectLst>
        </p:spPr>
      </p:sp>
      <p:sp>
        <p:nvSpPr>
          <p:cNvPr id="30" name="Shape 22"/>
          <p:cNvSpPr/>
          <p:nvPr/>
        </p:nvSpPr>
        <p:spPr>
          <a:xfrm>
            <a:off x="731520" y="4334256"/>
            <a:ext cx="420624" cy="420624"/>
          </a:xfrm>
          <a:prstGeom prst="ellipse">
            <a:avLst/>
          </a:prstGeom>
          <a:solidFill>
            <a:srgbClr val="12908F"/>
          </a:solidFill>
          <a:ln/>
        </p:spPr>
      </p:sp>
      <p:pic>
        <p:nvPicPr>
          <p:cNvPr id="31" name="Image 6" descr="preencoded.png">    </p:cNvPr>
          <p:cNvPicPr>
            <a:picLocks noChangeAspect="1"/>
          </p:cNvPicPr>
          <p:nvPr/>
        </p:nvPicPr>
        <p:blipFill>
          <a:blip r:embed="rId7"/>
          <a:stretch>
            <a:fillRect/>
          </a:stretch>
        </p:blipFill>
        <p:spPr>
          <a:xfrm>
            <a:off x="845088" y="4447824"/>
            <a:ext cx="193487" cy="193487"/>
          </a:xfrm>
          <a:prstGeom prst="rect">
            <a:avLst/>
          </a:prstGeom>
        </p:spPr>
      </p:pic>
      <p:sp>
        <p:nvSpPr>
          <p:cNvPr id="32" name="Text 23"/>
          <p:cNvSpPr/>
          <p:nvPr/>
        </p:nvSpPr>
        <p:spPr>
          <a:xfrm>
            <a:off x="1325880" y="4197096"/>
            <a:ext cx="4526280" cy="694944"/>
          </a:xfrm>
          <a:prstGeom prst="rect">
            <a:avLst/>
          </a:prstGeom>
          <a:noFill/>
          <a:ln/>
        </p:spPr>
        <p:txBody>
          <a:bodyPr wrap="square" lIns="0" tIns="0" rIns="0" bIns="0" rtlCol="0" anchor="ctr"/>
          <a:lstStyle/>
          <a:p>
            <a:pPr indent="0" marL="0">
              <a:buNone/>
            </a:pPr>
            <a:r>
              <a:rPr lang="en-US" sz="1600" b="1" dirty="0">
                <a:solidFill>
                  <a:srgbClr val="1E2A36"/>
                </a:solidFill>
                <a:latin typeface="Calibri" pitchFamily="34" charset="0"/>
                <a:ea typeface="Calibri" pitchFamily="34" charset="-122"/>
                <a:cs typeface="Calibri" pitchFamily="34" charset="-120"/>
              </a:rPr>
              <a:t>Definition of done revisited in your git standards</a:t>
            </a:r>
            <a:endParaRPr lang="en-US" sz="1600" dirty="0"/>
          </a:p>
        </p:txBody>
      </p:sp>
      <p:sp>
        <p:nvSpPr>
          <p:cNvPr id="33" name="Shape 24"/>
          <p:cNvSpPr/>
          <p:nvPr/>
        </p:nvSpPr>
        <p:spPr>
          <a:xfrm>
            <a:off x="6172200" y="4197096"/>
            <a:ext cx="5440680" cy="694944"/>
          </a:xfrm>
          <a:prstGeom prst="roundRect">
            <a:avLst>
              <a:gd name="adj" fmla="val 11842"/>
            </a:avLst>
          </a:prstGeom>
          <a:solidFill>
            <a:srgbClr val="F2F6F8"/>
          </a:solidFill>
          <a:ln/>
          <a:effectLst>
            <a:outerShdw sx="100000" sy="100000" kx="0" ky="0" algn="bl" rotWithShape="0" blurRad="88900" dist="38100" dir="5400000">
              <a:srgbClr val="000000">
                <a:alpha val="13000"/>
              </a:srgbClr>
            </a:outerShdw>
          </a:effectLst>
        </p:spPr>
      </p:sp>
      <p:sp>
        <p:nvSpPr>
          <p:cNvPr id="34" name="Shape 25"/>
          <p:cNvSpPr/>
          <p:nvPr/>
        </p:nvSpPr>
        <p:spPr>
          <a:xfrm>
            <a:off x="6355080" y="4334256"/>
            <a:ext cx="420624" cy="420624"/>
          </a:xfrm>
          <a:prstGeom prst="ellipse">
            <a:avLst/>
          </a:prstGeom>
          <a:solidFill>
            <a:srgbClr val="12908F"/>
          </a:solidFill>
          <a:ln/>
        </p:spPr>
      </p:sp>
      <p:pic>
        <p:nvPicPr>
          <p:cNvPr id="35" name="Image 7" descr="preencoded.png">    </p:cNvPr>
          <p:cNvPicPr>
            <a:picLocks noChangeAspect="1"/>
          </p:cNvPicPr>
          <p:nvPr/>
        </p:nvPicPr>
        <p:blipFill>
          <a:blip r:embed="rId8"/>
          <a:stretch>
            <a:fillRect/>
          </a:stretch>
        </p:blipFill>
        <p:spPr>
          <a:xfrm>
            <a:off x="6468648" y="4447824"/>
            <a:ext cx="193487" cy="193487"/>
          </a:xfrm>
          <a:prstGeom prst="rect">
            <a:avLst/>
          </a:prstGeom>
        </p:spPr>
      </p:pic>
      <p:sp>
        <p:nvSpPr>
          <p:cNvPr id="36" name="Text 26"/>
          <p:cNvSpPr/>
          <p:nvPr/>
        </p:nvSpPr>
        <p:spPr>
          <a:xfrm>
            <a:off x="6949440" y="4197096"/>
            <a:ext cx="4526280" cy="694944"/>
          </a:xfrm>
          <a:prstGeom prst="rect">
            <a:avLst/>
          </a:prstGeom>
          <a:noFill/>
          <a:ln/>
        </p:spPr>
        <p:txBody>
          <a:bodyPr wrap="square" lIns="0" tIns="0" rIns="0" bIns="0" rtlCol="0" anchor="ctr"/>
          <a:lstStyle/>
          <a:p>
            <a:pPr indent="0" marL="0">
              <a:buNone/>
            </a:pPr>
            <a:r>
              <a:rPr lang="en-US" sz="1600" b="1" dirty="0">
                <a:solidFill>
                  <a:srgbClr val="1E2A36"/>
                </a:solidFill>
                <a:latin typeface="Calibri" pitchFamily="34" charset="0"/>
                <a:ea typeface="Calibri" pitchFamily="34" charset="-122"/>
                <a:cs typeface="Calibri" pitchFamily="34" charset="-120"/>
              </a:rPr>
              <a:t>docs/roadmap.md: past December, and the cut said out loud</a:t>
            </a:r>
            <a:endParaRPr lang="en-US" sz="1600" dirty="0"/>
          </a:p>
        </p:txBody>
      </p:sp>
      <p:sp>
        <p:nvSpPr>
          <p:cNvPr id="37" name="Shape 27"/>
          <p:cNvSpPr/>
          <p:nvPr/>
        </p:nvSpPr>
        <p:spPr>
          <a:xfrm>
            <a:off x="548640" y="5212080"/>
            <a:ext cx="11064240" cy="960120"/>
          </a:xfrm>
          <a:prstGeom prst="roundRect">
            <a:avLst>
              <a:gd name="adj" fmla="val 8571"/>
            </a:avLst>
          </a:prstGeom>
          <a:solidFill>
            <a:srgbClr val="E8A33D"/>
          </a:solidFill>
          <a:ln/>
          <a:effectLst>
            <a:outerShdw sx="100000" sy="100000" kx="0" ky="0" algn="bl" rotWithShape="0" blurRad="88900" dist="38100" dir="5400000">
              <a:srgbClr val="000000">
                <a:alpha val="13000"/>
              </a:srgbClr>
            </a:outerShdw>
          </a:effectLst>
        </p:spPr>
      </p:sp>
      <p:sp>
        <p:nvSpPr>
          <p:cNvPr id="38" name="Text 28"/>
          <p:cNvSpPr/>
          <p:nvPr/>
        </p:nvSpPr>
        <p:spPr>
          <a:xfrm>
            <a:off x="868680" y="5212080"/>
            <a:ext cx="10424160" cy="960120"/>
          </a:xfrm>
          <a:prstGeom prst="rect">
            <a:avLst/>
          </a:prstGeom>
          <a:noFill/>
          <a:ln/>
        </p:spPr>
        <p:txBody>
          <a:bodyPr wrap="square" lIns="0" tIns="0" rIns="0" bIns="0" rtlCol="0" anchor="ctr"/>
          <a:lstStyle/>
          <a:p>
            <a:pPr indent="0" marL="0">
              <a:lnSpc>
                <a:spcPct val="104000"/>
              </a:lnSpc>
              <a:buNone/>
            </a:pPr>
            <a:r>
              <a:rPr lang="en-US" sz="1700" b="1" dirty="0">
                <a:solidFill>
                  <a:srgbClr val="14233A"/>
                </a:solidFill>
                <a:latin typeface="Calibri" pitchFamily="34" charset="0"/>
                <a:ea typeface="Calibri" pitchFamily="34" charset="-122"/>
                <a:cs typeface="Calibri" pitchFamily="34" charset="-120"/>
              </a:rPr>
              <a:t>Submit your public board's URL. Open it in a logged-out window first: a private board can't be graded.</a:t>
            </a:r>
            <a:endParaRPr lang="en-US" sz="1700" dirty="0"/>
          </a:p>
        </p:txBody>
      </p:sp>
      <p:sp>
        <p:nvSpPr>
          <p:cNvPr id="39" name="Text 29"/>
          <p:cNvSpPr/>
          <p:nvPr/>
        </p:nvSpPr>
        <p:spPr>
          <a:xfrm>
            <a:off x="6217920" y="6437376"/>
            <a:ext cx="53949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18 · Estimation &amp; the Vertical Slice</a:t>
            </a:r>
            <a:endParaRPr lang="en-US" sz="1000" dirty="0"/>
          </a:p>
        </p:txBody>
      </p:sp>
      <p:sp>
        <p:nvSpPr>
          <p:cNvPr id="40" name="Text 30"/>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1188720" y="4754880"/>
            <a:ext cx="3291840" cy="3291840"/>
          </a:xfrm>
          <a:prstGeom prst="ellipse">
            <a:avLst/>
          </a:prstGeom>
          <a:solidFill>
            <a:srgbClr val="1C3252"/>
          </a:solidFill>
          <a:ln/>
        </p:spPr>
      </p:sp>
      <p:sp>
        <p:nvSpPr>
          <p:cNvPr id="3" name="Shape 1"/>
          <p:cNvSpPr/>
          <p:nvPr/>
        </p:nvSpPr>
        <p:spPr>
          <a:xfrm>
            <a:off x="822960" y="1051560"/>
            <a:ext cx="777240" cy="777240"/>
          </a:xfrm>
          <a:prstGeom prst="ellipse">
            <a:avLst/>
          </a:prstGeom>
          <a:solidFill>
            <a:srgbClr val="E8A33D"/>
          </a:solidFill>
          <a:ln/>
        </p:spPr>
      </p:sp>
      <p:pic>
        <p:nvPicPr>
          <p:cNvPr id="4" name="Image 0" descr="preencoded.png">    </p:cNvPr>
          <p:cNvPicPr>
            <a:picLocks noChangeAspect="1"/>
          </p:cNvPicPr>
          <p:nvPr/>
        </p:nvPicPr>
        <p:blipFill>
          <a:blip r:embed="rId1"/>
          <a:stretch>
            <a:fillRect/>
          </a:stretch>
        </p:blipFill>
        <p:spPr>
          <a:xfrm>
            <a:off x="1032815" y="1261415"/>
            <a:ext cx="357530" cy="357530"/>
          </a:xfrm>
          <a:prstGeom prst="rect">
            <a:avLst/>
          </a:prstGeom>
        </p:spPr>
      </p:pic>
      <p:sp>
        <p:nvSpPr>
          <p:cNvPr id="5" name="Text 2"/>
          <p:cNvSpPr/>
          <p:nvPr/>
        </p:nvSpPr>
        <p:spPr>
          <a:xfrm>
            <a:off x="822960" y="1965960"/>
            <a:ext cx="10881360" cy="1051560"/>
          </a:xfrm>
          <a:prstGeom prst="rect">
            <a:avLst/>
          </a:prstGeom>
          <a:noFill/>
          <a:ln/>
        </p:spPr>
        <p:txBody>
          <a:bodyPr wrap="square" lIns="0" tIns="0" rIns="0" bIns="0" rtlCol="0" anchor="ctr"/>
          <a:lstStyle/>
          <a:p>
            <a:pPr indent="0" marL="0">
              <a:lnSpc>
                <a:spcPct val="106000"/>
              </a:lnSpc>
              <a:buNone/>
            </a:pPr>
            <a:r>
              <a:rPr lang="en-US" sz="2500" b="1" i="1" dirty="0">
                <a:solidFill>
                  <a:srgbClr val="FFFFFF"/>
                </a:solidFill>
                <a:latin typeface="Cambria" pitchFamily="34" charset="0"/>
                <a:ea typeface="Cambria" pitchFamily="34" charset="-122"/>
                <a:cs typeface="Cambria" pitchFamily="34" charset="-120"/>
              </a:rPr>
              <a:t>Sizing surfaces assumptions. The fit check makes you cut while it's cheap. The order protects the slice.</a:t>
            </a:r>
            <a:endParaRPr lang="en-US" sz="2500" dirty="0"/>
          </a:p>
        </p:txBody>
      </p:sp>
      <p:sp>
        <p:nvSpPr>
          <p:cNvPr id="6" name="Text 3"/>
          <p:cNvSpPr/>
          <p:nvPr/>
        </p:nvSpPr>
        <p:spPr>
          <a:xfrm>
            <a:off x="841248" y="3200400"/>
            <a:ext cx="10058400" cy="320040"/>
          </a:xfrm>
          <a:prstGeom prst="rect">
            <a:avLst/>
          </a:prstGeom>
          <a:noFill/>
          <a:ln/>
        </p:spPr>
        <p:txBody>
          <a:bodyPr wrap="square" lIns="0" tIns="0" rIns="0" bIns="0" rtlCol="0" anchor="ctr"/>
          <a:lstStyle/>
          <a:p>
            <a:pPr indent="0" marL="0">
              <a:buNone/>
            </a:pPr>
            <a:r>
              <a:rPr lang="en-US" sz="1400" b="1" spc="200" kern="0" dirty="0">
                <a:solidFill>
                  <a:srgbClr val="E8A33D"/>
                </a:solidFill>
                <a:latin typeface="Calibri" pitchFamily="34" charset="0"/>
                <a:ea typeface="Calibri" pitchFamily="34" charset="-122"/>
                <a:cs typeface="Calibri" pitchFamily="34" charset="-120"/>
              </a:rPr>
              <a:t>BEFORE MONDAY, NOV 9</a:t>
            </a:r>
            <a:endParaRPr lang="en-US" sz="1400" dirty="0"/>
          </a:p>
        </p:txBody>
      </p:sp>
      <p:sp>
        <p:nvSpPr>
          <p:cNvPr id="7" name="Text 4"/>
          <p:cNvSpPr/>
          <p:nvPr/>
        </p:nvSpPr>
        <p:spPr>
          <a:xfrm>
            <a:off x="868680" y="3611880"/>
            <a:ext cx="10698480" cy="1691640"/>
          </a:xfrm>
          <a:prstGeom prst="rect">
            <a:avLst/>
          </a:prstGeom>
          <a:noFill/>
          <a:ln/>
        </p:spPr>
        <p:txBody>
          <a:bodyPr wrap="square" lIns="0" tIns="0" rIns="0" bIns="0" rtlCol="0" anchor="t"/>
          <a:lstStyle/>
          <a:p>
            <a:pPr marL="203200" indent="-203200">
              <a:spcAft>
                <a:spcPts val="700"/>
              </a:spcAft>
              <a:buSzPct val="100000"/>
              <a:buChar char="•"/>
            </a:pPr>
            <a:r>
              <a:rPr lang="en-US" sz="1700" dirty="0">
                <a:solidFill>
                  <a:srgbClr val="CBD8E6"/>
                </a:solidFill>
                <a:latin typeface="Calibri" pitchFamily="34" charset="0"/>
                <a:ea typeface="Calibri" pitchFamily="34" charset="-122"/>
                <a:cs typeface="Calibri" pitchFamily="34" charset="-120"/>
              </a:rPr>
              <a:t>Start the first slice issue; have it in progress before Monday</a:t>
            </a:r>
            <a:endParaRPr lang="en-US" sz="1700" dirty="0"/>
          </a:p>
          <a:p>
            <a:pPr marL="203200" indent="-203200">
              <a:spcAft>
                <a:spcPts val="700"/>
              </a:spcAft>
              <a:buSzPct val="100000"/>
              <a:buChar char="•"/>
            </a:pPr>
            <a:r>
              <a:rPr lang="en-US" sz="1700" dirty="0">
                <a:solidFill>
                  <a:srgbClr val="CBD8E6"/>
                </a:solidFill>
                <a:latin typeface="Calibri" pitchFamily="34" charset="0"/>
                <a:ea typeface="Calibri" pitchFamily="34" charset="-122"/>
                <a:cs typeface="Calibri" pitchFamily="34" charset="-120"/>
              </a:rPr>
              <a:t>Send every ask to a person you depend on, with a date</a:t>
            </a:r>
            <a:endParaRPr lang="en-US" sz="1700" dirty="0"/>
          </a:p>
          <a:p>
            <a:pPr marL="203200" indent="-203200">
              <a:buSzPct val="100000"/>
              <a:buChar char="•"/>
            </a:pPr>
            <a:r>
              <a:rPr lang="en-US" sz="1700" dirty="0">
                <a:solidFill>
                  <a:srgbClr val="CBD8E6"/>
                </a:solidFill>
                <a:latin typeface="Calibri" pitchFamily="34" charset="0"/>
                <a:ea typeface="Calibri" pitchFamily="34" charset="-122"/>
                <a:cs typeface="Calibri" pitchFamily="34" charset="-120"/>
              </a:rPr>
              <a:t>Monday: what must v1 prove, and a method for debugging. Kniberg carries over.</a:t>
            </a:r>
            <a:endParaRPr lang="en-US" sz="1700" dirty="0"/>
          </a:p>
        </p:txBody>
      </p:sp>
      <p:sp>
        <p:nvSpPr>
          <p:cNvPr id="8" name="Shape 5"/>
          <p:cNvSpPr/>
          <p:nvPr/>
        </p:nvSpPr>
        <p:spPr>
          <a:xfrm>
            <a:off x="548640" y="5440680"/>
            <a:ext cx="11064240" cy="731520"/>
          </a:xfrm>
          <a:prstGeom prst="roundRect">
            <a:avLst>
              <a:gd name="adj" fmla="val 11250"/>
            </a:avLst>
          </a:prstGeom>
          <a:solidFill>
            <a:srgbClr val="E8A33D"/>
          </a:solidFill>
          <a:ln/>
          <a:effectLst>
            <a:outerShdw sx="100000" sy="100000" kx="0" ky="0" algn="bl" rotWithShape="0" blurRad="88900" dist="38100" dir="5400000">
              <a:srgbClr val="000000">
                <a:alpha val="13000"/>
              </a:srgbClr>
            </a:outerShdw>
          </a:effectLst>
        </p:spPr>
      </p:sp>
      <p:sp>
        <p:nvSpPr>
          <p:cNvPr id="9" name="Text 6"/>
          <p:cNvSpPr/>
          <p:nvPr/>
        </p:nvSpPr>
        <p:spPr>
          <a:xfrm>
            <a:off x="822960" y="5440680"/>
            <a:ext cx="10515600" cy="731520"/>
          </a:xfrm>
          <a:prstGeom prst="rect">
            <a:avLst/>
          </a:prstGeom>
          <a:noFill/>
          <a:ln/>
        </p:spPr>
        <p:txBody>
          <a:bodyPr wrap="square" lIns="0" tIns="0" rIns="0" bIns="0" rtlCol="0" anchor="ctr"/>
          <a:lstStyle/>
          <a:p>
            <a:pPr algn="ctr" indent="0" marL="0">
              <a:buNone/>
            </a:pPr>
            <a:r>
              <a:rPr lang="en-US" sz="1600" b="1" dirty="0">
                <a:solidFill>
                  <a:srgbClr val="14233A"/>
                </a:solidFill>
                <a:latin typeface="Calibri" pitchFamily="34" charset="0"/>
                <a:ea typeface="Calibri" pitchFamily="34" charset="-122"/>
                <a:cs typeface="Calibri" pitchFamily="34" charset="-120"/>
              </a:rPr>
              <a:t>CP8 Project Plan &amp; Roadmap is due end of day today. Submit your public board's URL.</a:t>
            </a:r>
            <a:endParaRPr lang="en-US" sz="1600" dirty="0"/>
          </a:p>
        </p:txBody>
      </p:sp>
      <p:sp>
        <p:nvSpPr>
          <p:cNvPr id="10" name="Text 7"/>
          <p:cNvSpPr/>
          <p:nvPr/>
        </p:nvSpPr>
        <p:spPr>
          <a:xfrm>
            <a:off x="6217920" y="6437376"/>
            <a:ext cx="5394960" cy="274320"/>
          </a:xfrm>
          <a:prstGeom prst="rect">
            <a:avLst/>
          </a:prstGeom>
          <a:noFill/>
          <a:ln/>
        </p:spPr>
        <p:txBody>
          <a:bodyPr wrap="square" lIns="0" tIns="0" rIns="0" bIns="0" rtlCol="0" anchor="ctr"/>
          <a:lstStyle/>
          <a:p>
            <a:pPr algn="r" indent="0" marL="0">
              <a:buNone/>
            </a:pPr>
            <a:r>
              <a:rPr lang="en-US" sz="1000" dirty="0">
                <a:solidFill>
                  <a:srgbClr val="7E92A8"/>
                </a:solidFill>
                <a:latin typeface="Calibri" pitchFamily="34" charset="0"/>
                <a:ea typeface="Calibri" pitchFamily="34" charset="-122"/>
                <a:cs typeface="Calibri" pitchFamily="34" charset="-120"/>
              </a:rPr>
              <a:t>CS 301R · Session 18 · Estimation &amp; the Vertical Slice</a:t>
            </a:r>
            <a:endParaRPr lang="en-US" sz="1000" dirty="0"/>
          </a:p>
        </p:txBody>
      </p:sp>
      <p:sp>
        <p:nvSpPr>
          <p:cNvPr id="11" name="Text 8"/>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7E92A8"/>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301R — Session 18 — Estimation, Sequencing &amp; the Vertical Slice</dc:title>
  <dc:subject>PptxGenJS Presentation</dc:subject>
  <dc:creator>CS 301R</dc:creator>
  <cp:lastModifiedBy>CS 301R</cp:lastModifiedBy>
  <cp:revision>1</cp:revision>
  <dcterms:created xsi:type="dcterms:W3CDTF">2026-10-29T21:21:04Z</dcterms:created>
  <dcterms:modified xsi:type="dcterms:W3CDTF">2026-10-29T21:21:04Z</dcterms:modified>
</cp:coreProperties>
</file>