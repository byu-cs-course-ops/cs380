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7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43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of Week 8. Session 3 was why governance matters; Session 13 set the workflow. Today it all becomes files a stranger reads. Before class: open tabs for Textualize/rich, dagorym/SSW, and (optional) prop-loft/prop-loft, plus the bug-report bank in the outline's Appendix. Have the CP7 Checklist printed, one per student, and the License Cheat Sheet page up. Wednesday is the build workshop; CP7 is due end of day Friday, Oct 30.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Name the shape of the day: look at two real repositories through a stranger's eyes, settle each project's license, learn what makes an issue usable, then turn the same eyes on your own repo. The last block produces a punch list, and that punch list is Wednesday's work. The highlighted row is live, in the browser, not slides. Keep moving.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question. Ask the room to answer each from the stranger's side before you click: what would you look for first? The order matters, because a stranger who can't tell what the project is never gets as far as the license. This is true of any repository: an open-source project, a team repo at work, a library you're evaluating. These six questions are the frame for the live walk-through and for your own audit later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left card is the reading's central idea; ask someone for an example of a question they've answered more than once on their own project already. First click: the stakes. The Week-11 audit is a classmate following your docs with no help from you, for a grade. Second click is the line to say slowly: the author is the worst possible tester of their own docs, because they already know everything. That's why CP7 requires a cold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you switch to the browser. Walk Rich first, about seven minutes, then SSW, about five, using the six questions from slide 3 in order. The next two slides summarize what to point at; use them to recap after each tab, not instead of the tabs. Say plainly that SSW is yours, so nobody else's work is the bad example. Prop Loft is optional: it's the 'you are here' between the two, and it sets up Wednesday.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after the Rich tab, or use it as your checklist while you're in it. The point to land: almost everything here is cheap. A template, a policy file, a few labels: an hour each, and they shape every interaction the project will ever have. The README weakness is deliberate: ask how far they scrolled before learning what Rich is. A strong front door isn't a perfect one; it's one where the questions get answered.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it: this is my repository. The missing LICENSE is the one to dwell on. Without one, the default is all rights reserved, so the honest answer to 'may I use it?' is no, whatever I intended. Then the right column: the documentation exists, it's just aimed at coding agents or hidden in a folder a stranger won't open. Click for the punchline. The fix is cheap, because the content already exists; that's the gap CP7 closes.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Five parts, in this order, because it's the order of the stranger's questions. The highlighted two do the most work: the first line, and a quickstart that works on a machine that isn't yours. Their repos have nothing to run until the build starts, so for CP7 the honest version is a status line and a pointer to a setup placeholder, docs/setup.md: the stack, 'instructions arrive with the first runnable build,' and a link to the issue tracking it. The real setup guide is written and partner-tested in Session 20. A broken quickstart is worse than an honest 'not yet.' Read Prop Loft's first sentence aloud as an example if you opened the tab. The amber card sets up the self-audit: every project will write its first sentence before leaving today, and most will rewrite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These are the pieces a stranger rarely notices when they're present and always notices when they're missing. Contributor Covenant is the most widely adopted open-source code of conduct; GitHub offers it when you add a CODE_OF_CONDUCT.md file. Adopt it rather than write your own, but fill in the reporting contact, which the text leaves as a placeholder. The amber rule is from the CP7 handout and is worth saying aloud.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Both are real, and both are unusual choices made honestly. Rich says no once, in the template, instead of in a hundred threads. lazygit goes further than you will, and the reason to show it isn't to copy it: its maintainer wrote down a boundary he could keep, explained it without apology, and pointed people at what he does want. Second click: this is the CP7 requirement that promises be keepable. Credibility is graded.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3 short response was individual and provisional; this is the project's real decision. Each project answers the three questions, picks, and writes the paragraph now, with the License Cheat Sheet page open. Circulate for edge cases: copyleft dependencies, datasets with their own terms, app-store distribution, and any project whose stack already carries a license. Background, not legal advice. Most projects will land on MIT or Apache-2.0; the paragraph is what's graded.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minutes for this section. The vocabulary is from IEEE 1044, used in the prior version of this course. One click per term. The precision isn't pedantry: the reporter sees only the failure, so that's what a report can describe reliably. Everything to the left is investigation. The fifth click is the habit to break: a report that opens with 'the problem is in dialog.py' has skipped the one part only the reporter could supply.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 from SSW. One click per level, top down, which is the order a reporter knows them. The failure is verbatim, which is what makes it searchable. The fault is something the reporter happened to observe in a debugger; most reporters won't have it, and that's fine. The defect wasn't known when the issue was filed, and the fix was partly a workaround. The last click: narrowing. Knowing where the failure doesn't happen is often worth more than any guess about the cause.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they read Mozilla's guidelines, so recall rather than teach. Ask which part they think is skipped most. Usually it's expected versus actual: reporters describe what happened and assume everyone knows what should have happened. Then say where the next reports come from: my own repositories and BYU course-tools repositories I work in. They're real, and they're shown for the report, not the person. The bank in the outline has more if there's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is mine; #16 is from a BYU course-tools repository. Give the room thirty seconds to list what's missing against the six parts before you click. The point of #11: it was fine for me, because I was going to fix it myself and I remembered what I'd seen. The moment anyone else is on the project, that stops working. #16 ties back to the vocabulary: it names a suspected defect and never states the failure, the one part only the reporter could supply.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BYU course-tools repository; shown for the report, not the person. This one is close, and that's why it's useful: the template did its job, and the reporter still left out what happened. Ask the room what a maintainer's first reply would be. It would be 'which version, and what did you see?', a round trip that costs a day. The template asks; only the writer can answer. Expected without actual is half a report.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 again. This is the best example of why the vocabulary matters. The question mark in the body admits the cause is a guess, but the title states it as fact, and titles are what people search and triage by. If the guess is wrong, the issue is misfiled forever. The 403 from CloudFront actually suggests something upstream blocked the request, not that the tool followed a link. Title: the failure. Body: the evidence, then the hypothesis, marked as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issue in the browser if you can; the screenshots make the point better than a description. Every part of the anatomy is here, and the reporter did more: they found the probable fix and put it under Additional context, separate from the failure. That's the difference from #139. The hypothesis is offered, not asserted, so if it's wrong, the report is still right. This is the bar for the two bug reports in CP9.</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BYU course-tools repository; shown for the report, not the person. Pairs, three minutes, against the six parts. Credit what's there: the last clause is real narrowing, which is the most useful sentence in it. Take two rewrites aloud, then click. The reveal is a skeleton, not an answer; every blank is a question a maintainer would otherwise have to ask. Point at the last line: a secondhand report should say it's secondhand, so the maintainer knows nothing is confirmed yet.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or four minutes. Each project rereads the starter issues it filed in the Session 14 lab, written cold. Most will be missing expected-versus-actual or steps; that's the expected result, not a failure. Have each project edit its weakest one now. Mention CP9: the portfolio wants your best bug reports and a feature request, with links, so a rewritten issue today can be one of them. Circulate and read a few.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the bridge to the self-audit. Everything in the last fifteen minutes becomes a template field. The feature template is the one projects forget: a feature request that states the need and who has it can be weighed; 'add dark mode' can't. Labels make triage possible once issues pile up, and good first issue is how a newcomer finds a way in. Click for SSW #6, mine: a placeholder reminding me a feature isn't built, filed as if it were a bug. Placeholders are fine; the fix is the right type, the enhancement label, and a sentence on what should happen. A bug template would have asked it for steps that don't exist. They'll sketch all three in the next block.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CP7 Checklist if you haven't. Keep time out loud at each step. In the audit, push them to open the repo in a private browser window, logged out, so they see what a stranger sees. Circulate during the sketch; most first-draft templates ask for too little. The README sentence is the one to insist on. Every project writes it before leaving, and you should hear a few read aloud. Expect rewrites.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a few minutes. Say the one-liner, then the logistics. Wednesday starts every piece of CP7 and finishes the quick ones; the rest is due Friday, so nobody has to build the whole front door alone in 75 minutes. The review partner matters: after the fast items, partners read each other's README and CONTRIBUTING cold. The setup guide is only a placeholder for now; say so, so nobody spends Tuesday night writing setup steps for code that doesn't exist. CP9 opens today: anything good they write from now on can go in the portfolio, so tell them to save links as they go.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txBody>
          <a:bodyPr/>
          <a:lstStyle/>
          <a:p>
            <a:endParaRPr lang="en-US"/>
          </a:p>
        </p:txBody>
      </p:sp>
      <p:sp>
        <p:nvSpPr>
          <p:cNvPr id="3" name="Shape 1"/>
          <p:cNvSpPr/>
          <p:nvPr/>
        </p:nvSpPr>
        <p:spPr>
          <a:xfrm>
            <a:off x="10972800" y="4663440"/>
            <a:ext cx="2743200" cy="2743200"/>
          </a:xfrm>
          <a:prstGeom prst="ellipse">
            <a:avLst/>
          </a:prstGeom>
          <a:solidFill>
            <a:srgbClr val="1C3252"/>
          </a:solidFill>
          <a:ln/>
        </p:spPr>
        <p:txBody>
          <a:bodyPr/>
          <a:lstStyle/>
          <a:p>
            <a:endParaRPr lang="en-US"/>
          </a:p>
        </p:txBody>
      </p:sp>
      <p:sp>
        <p:nvSpPr>
          <p:cNvPr id="4" name="Shape 2"/>
          <p:cNvSpPr/>
          <p:nvPr/>
        </p:nvSpPr>
        <p:spPr>
          <a:xfrm>
            <a:off x="822960" y="1325880"/>
            <a:ext cx="914400" cy="914400"/>
          </a:xfrm>
          <a:prstGeom prst="ellipse">
            <a:avLst/>
          </a:prstGeom>
          <a:solidFill>
            <a:srgbClr val="E8A33D"/>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marL="0" indent="0">
              <a:buNone/>
            </a:pPr>
            <a:r>
              <a:rPr lang="en-US" sz="1500" b="1" kern="0" spc="20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The Front Door of Your Project</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marL="0" indent="0">
              <a:lnSpc>
                <a:spcPct val="120000"/>
              </a:lnSpc>
              <a:buNone/>
            </a:pPr>
            <a:r>
              <a:rPr lang="en-US" sz="1900" b="1" dirty="0">
                <a:solidFill>
                  <a:srgbClr val="E8A33D"/>
                </a:solidFill>
                <a:latin typeface="Calibri" pitchFamily="34" charset="0"/>
                <a:ea typeface="Calibri" pitchFamily="34" charset="-122"/>
                <a:cs typeface="Calibri" pitchFamily="34" charset="-120"/>
              </a:rPr>
              <a:t>Session 15 — repo infrastructure</a:t>
            </a:r>
            <a:endParaRPr lang="en-US" sz="1900" dirty="0"/>
          </a:p>
          <a:p>
            <a:pPr marL="0" indent="0">
              <a:lnSpc>
                <a:spcPct val="120000"/>
              </a:lnSpc>
              <a:buNone/>
            </a:pPr>
            <a:r>
              <a:rPr lang="en-US" sz="1900" dirty="0">
                <a:solidFill>
                  <a:srgbClr val="9FB4C7"/>
                </a:solidFill>
                <a:latin typeface="Calibri" pitchFamily="34" charset="0"/>
                <a:ea typeface="Calibri" pitchFamily="34" charset="-122"/>
                <a:cs typeface="Calibri" pitchFamily="34" charset="-120"/>
              </a:rPr>
              <a:t>Monday, October 26,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Compare two front doors, then design yours</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04672" y="1874520"/>
            <a:ext cx="438912" cy="438912"/>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23178" y="1993026"/>
            <a:ext cx="201900" cy="201900"/>
          </a:xfrm>
          <a:prstGeom prst="rect">
            <a:avLst/>
          </a:prstGeom>
        </p:spPr>
      </p:pic>
      <p:sp>
        <p:nvSpPr>
          <p:cNvPr id="8" name="Text 5"/>
          <p:cNvSpPr/>
          <p:nvPr/>
        </p:nvSpPr>
        <p:spPr>
          <a:xfrm>
            <a:off x="1463040" y="1783080"/>
            <a:ext cx="8229600" cy="6217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The stranger at the door</a:t>
            </a:r>
            <a:endParaRPr lang="en-US" sz="1800" dirty="0"/>
          </a:p>
        </p:txBody>
      </p:sp>
      <p:sp>
        <p:nvSpPr>
          <p:cNvPr id="9" name="Text 6"/>
          <p:cNvSpPr/>
          <p:nvPr/>
        </p:nvSpPr>
        <p:spPr>
          <a:xfrm>
            <a:off x="9692640" y="1783080"/>
            <a:ext cx="1645920" cy="621792"/>
          </a:xfrm>
          <a:prstGeom prst="rect">
            <a:avLst/>
          </a:prstGeom>
          <a:noFill/>
          <a:ln/>
        </p:spPr>
        <p:txBody>
          <a:bodyPr wrap="square" lIns="0" tIns="0" rIns="0" bIns="0" rtlCol="0" anchor="ctr"/>
          <a:lstStyle/>
          <a:p>
            <a:pPr marL="0" indent="0" algn="r">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10" name="Shape 7"/>
          <p:cNvSpPr/>
          <p:nvPr/>
        </p:nvSpPr>
        <p:spPr>
          <a:xfrm>
            <a:off x="548640" y="2514600"/>
            <a:ext cx="11064240" cy="621792"/>
          </a:xfrm>
          <a:prstGeom prst="roundRect">
            <a:avLst>
              <a:gd name="adj" fmla="val 13235"/>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804672" y="2606040"/>
            <a:ext cx="438912" cy="438912"/>
          </a:xfrm>
          <a:prstGeom prst="ellipse">
            <a:avLst/>
          </a:prstGeom>
          <a:solidFill>
            <a:srgbClr val="E8A33D"/>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923178" y="2724546"/>
            <a:ext cx="201900" cy="201900"/>
          </a:xfrm>
          <a:prstGeom prst="rect">
            <a:avLst/>
          </a:prstGeom>
        </p:spPr>
      </p:pic>
      <p:sp>
        <p:nvSpPr>
          <p:cNvPr id="13" name="Text 9"/>
          <p:cNvSpPr/>
          <p:nvPr/>
        </p:nvSpPr>
        <p:spPr>
          <a:xfrm>
            <a:off x="1463040" y="2514600"/>
            <a:ext cx="8229600" cy="6217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Two front doors, walked live</a:t>
            </a:r>
            <a:endParaRPr lang="en-US" sz="1800" dirty="0"/>
          </a:p>
        </p:txBody>
      </p:sp>
      <p:sp>
        <p:nvSpPr>
          <p:cNvPr id="14" name="Text 10"/>
          <p:cNvSpPr/>
          <p:nvPr/>
        </p:nvSpPr>
        <p:spPr>
          <a:xfrm>
            <a:off x="9692640" y="2514600"/>
            <a:ext cx="1645920" cy="621792"/>
          </a:xfrm>
          <a:prstGeom prst="rect">
            <a:avLst/>
          </a:prstGeom>
          <a:noFill/>
          <a:ln/>
        </p:spPr>
        <p:txBody>
          <a:bodyPr wrap="square" lIns="0" tIns="0" rIns="0" bIns="0" rtlCol="0" anchor="ctr"/>
          <a:lstStyle/>
          <a:p>
            <a:pPr marL="0" indent="0" algn="r">
              <a:buNone/>
            </a:pPr>
            <a:r>
              <a:rPr lang="en-US" sz="1600" b="1" dirty="0">
                <a:solidFill>
                  <a:srgbClr val="E8A33D"/>
                </a:solidFill>
                <a:latin typeface="Calibri" pitchFamily="34" charset="0"/>
                <a:ea typeface="Calibri" pitchFamily="34" charset="-122"/>
                <a:cs typeface="Calibri" pitchFamily="34" charset="-120"/>
              </a:rPr>
              <a:t>15 min</a:t>
            </a:r>
            <a:endParaRPr lang="en-US" sz="1600" dirty="0"/>
          </a:p>
        </p:txBody>
      </p:sp>
      <p:sp>
        <p:nvSpPr>
          <p:cNvPr id="15" name="Shape 11"/>
          <p:cNvSpPr/>
          <p:nvPr/>
        </p:nvSpPr>
        <p:spPr>
          <a:xfrm>
            <a:off x="548640" y="3246120"/>
            <a:ext cx="11064240" cy="621792"/>
          </a:xfrm>
          <a:prstGeom prst="roundRect">
            <a:avLst>
              <a:gd name="adj" fmla="val 132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04672" y="3337560"/>
            <a:ext cx="438912" cy="438912"/>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23178" y="3456066"/>
            <a:ext cx="201900" cy="201900"/>
          </a:xfrm>
          <a:prstGeom prst="rect">
            <a:avLst/>
          </a:prstGeom>
        </p:spPr>
      </p:pic>
      <p:sp>
        <p:nvSpPr>
          <p:cNvPr id="18" name="Text 13"/>
          <p:cNvSpPr/>
          <p:nvPr/>
        </p:nvSpPr>
        <p:spPr>
          <a:xfrm>
            <a:off x="1463040" y="3246120"/>
            <a:ext cx="8229600" cy="6217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License clinic: decide for real</a:t>
            </a:r>
            <a:endParaRPr lang="en-US" sz="1800" dirty="0"/>
          </a:p>
        </p:txBody>
      </p:sp>
      <p:sp>
        <p:nvSpPr>
          <p:cNvPr id="19" name="Text 14"/>
          <p:cNvSpPr/>
          <p:nvPr/>
        </p:nvSpPr>
        <p:spPr>
          <a:xfrm>
            <a:off x="9692640" y="3246120"/>
            <a:ext cx="1645920" cy="621792"/>
          </a:xfrm>
          <a:prstGeom prst="rect">
            <a:avLst/>
          </a:prstGeom>
          <a:noFill/>
          <a:ln/>
        </p:spPr>
        <p:txBody>
          <a:bodyPr wrap="square" lIns="0" tIns="0" rIns="0" bIns="0" rtlCol="0" anchor="ctr"/>
          <a:lstStyle/>
          <a:p>
            <a:pPr marL="0" indent="0" algn="r">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0" name="Shape 15"/>
          <p:cNvSpPr/>
          <p:nvPr/>
        </p:nvSpPr>
        <p:spPr>
          <a:xfrm>
            <a:off x="548640" y="3977640"/>
            <a:ext cx="11064240" cy="621792"/>
          </a:xfrm>
          <a:prstGeom prst="roundRect">
            <a:avLst>
              <a:gd name="adj" fmla="val 132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804672" y="4069080"/>
            <a:ext cx="438912" cy="438912"/>
          </a:xfrm>
          <a:prstGeom prst="ellipse">
            <a:avLst/>
          </a:prstGeom>
          <a:solidFill>
            <a:srgbClr val="12908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923178" y="4187586"/>
            <a:ext cx="201900" cy="201900"/>
          </a:xfrm>
          <a:prstGeom prst="rect">
            <a:avLst/>
          </a:prstGeom>
        </p:spPr>
      </p:pic>
      <p:sp>
        <p:nvSpPr>
          <p:cNvPr id="23" name="Text 17"/>
          <p:cNvSpPr/>
          <p:nvPr/>
        </p:nvSpPr>
        <p:spPr>
          <a:xfrm>
            <a:off x="1463040" y="3977640"/>
            <a:ext cx="8229600" cy="6217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Anatomy of a good issue</a:t>
            </a:r>
            <a:endParaRPr lang="en-US" sz="1800" dirty="0"/>
          </a:p>
        </p:txBody>
      </p:sp>
      <p:sp>
        <p:nvSpPr>
          <p:cNvPr id="24" name="Text 18"/>
          <p:cNvSpPr/>
          <p:nvPr/>
        </p:nvSpPr>
        <p:spPr>
          <a:xfrm>
            <a:off x="9692640" y="3977640"/>
            <a:ext cx="1645920" cy="621792"/>
          </a:xfrm>
          <a:prstGeom prst="rect">
            <a:avLst/>
          </a:prstGeom>
          <a:noFill/>
          <a:ln/>
        </p:spPr>
        <p:txBody>
          <a:bodyPr wrap="square" lIns="0" tIns="0" rIns="0" bIns="0" rtlCol="0" anchor="ctr"/>
          <a:lstStyle/>
          <a:p>
            <a:pPr marL="0" indent="0" algn="r">
              <a:buNone/>
            </a:pPr>
            <a:r>
              <a:rPr lang="en-US" sz="1600" b="1" dirty="0">
                <a:solidFill>
                  <a:srgbClr val="5F7284"/>
                </a:solidFill>
                <a:latin typeface="Calibri" pitchFamily="34" charset="0"/>
                <a:ea typeface="Calibri" pitchFamily="34" charset="-122"/>
                <a:cs typeface="Calibri" pitchFamily="34" charset="-120"/>
              </a:rPr>
              <a:t>18 min</a:t>
            </a:r>
            <a:endParaRPr lang="en-US" sz="1600" dirty="0"/>
          </a:p>
        </p:txBody>
      </p:sp>
      <p:sp>
        <p:nvSpPr>
          <p:cNvPr id="25" name="Shape 19"/>
          <p:cNvSpPr/>
          <p:nvPr/>
        </p:nvSpPr>
        <p:spPr>
          <a:xfrm>
            <a:off x="548640" y="4709160"/>
            <a:ext cx="11064240" cy="621792"/>
          </a:xfrm>
          <a:prstGeom prst="roundRect">
            <a:avLst>
              <a:gd name="adj" fmla="val 132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0"/>
          <p:cNvSpPr/>
          <p:nvPr/>
        </p:nvSpPr>
        <p:spPr>
          <a:xfrm>
            <a:off x="804672" y="4800600"/>
            <a:ext cx="438912" cy="438912"/>
          </a:xfrm>
          <a:prstGeom prst="ellipse">
            <a:avLst/>
          </a:prstGeom>
          <a:solidFill>
            <a:srgbClr val="12908F"/>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923178" y="4919106"/>
            <a:ext cx="201900" cy="201900"/>
          </a:xfrm>
          <a:prstGeom prst="rect">
            <a:avLst/>
          </a:prstGeom>
        </p:spPr>
      </p:pic>
      <p:sp>
        <p:nvSpPr>
          <p:cNvPr id="28" name="Text 21"/>
          <p:cNvSpPr/>
          <p:nvPr/>
        </p:nvSpPr>
        <p:spPr>
          <a:xfrm>
            <a:off x="1463040" y="4709160"/>
            <a:ext cx="8229600" cy="6217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Audit your own repo, sketch your templates</a:t>
            </a:r>
            <a:endParaRPr lang="en-US" sz="1800" dirty="0"/>
          </a:p>
        </p:txBody>
      </p:sp>
      <p:sp>
        <p:nvSpPr>
          <p:cNvPr id="29" name="Text 22"/>
          <p:cNvSpPr/>
          <p:nvPr/>
        </p:nvSpPr>
        <p:spPr>
          <a:xfrm>
            <a:off x="9692640" y="4709160"/>
            <a:ext cx="1645920" cy="621792"/>
          </a:xfrm>
          <a:prstGeom prst="rect">
            <a:avLst/>
          </a:prstGeom>
          <a:noFill/>
          <a:ln/>
        </p:spPr>
        <p:txBody>
          <a:bodyPr wrap="square" lIns="0" tIns="0" rIns="0" bIns="0" rtlCol="0" anchor="ctr"/>
          <a:lstStyle/>
          <a:p>
            <a:pPr marL="0" indent="0" algn="r">
              <a:buNone/>
            </a:pPr>
            <a:r>
              <a:rPr lang="en-US" sz="1600" b="1" dirty="0">
                <a:solidFill>
                  <a:srgbClr val="5F7284"/>
                </a:solidFill>
                <a:latin typeface="Calibri" pitchFamily="34" charset="0"/>
                <a:ea typeface="Calibri" pitchFamily="34" charset="-122"/>
                <a:cs typeface="Calibri" pitchFamily="34" charset="-120"/>
              </a:rPr>
              <a:t>18 min</a:t>
            </a:r>
            <a:endParaRPr lang="en-US" sz="1600" dirty="0"/>
          </a:p>
        </p:txBody>
      </p:sp>
      <p:sp>
        <p:nvSpPr>
          <p:cNvPr id="30" name="Shape 23"/>
          <p:cNvSpPr/>
          <p:nvPr/>
        </p:nvSpPr>
        <p:spPr>
          <a:xfrm>
            <a:off x="548640" y="5440680"/>
            <a:ext cx="11064240" cy="621792"/>
          </a:xfrm>
          <a:prstGeom prst="roundRect">
            <a:avLst>
              <a:gd name="adj" fmla="val 132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31" name="Shape 24"/>
          <p:cNvSpPr/>
          <p:nvPr/>
        </p:nvSpPr>
        <p:spPr>
          <a:xfrm>
            <a:off x="804672" y="5532120"/>
            <a:ext cx="438912" cy="438912"/>
          </a:xfrm>
          <a:prstGeom prst="ellipse">
            <a:avLst/>
          </a:prstGeom>
          <a:solidFill>
            <a:srgbClr val="12908F"/>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923178" y="5650626"/>
            <a:ext cx="201900" cy="201900"/>
          </a:xfrm>
          <a:prstGeom prst="rect">
            <a:avLst/>
          </a:prstGeom>
        </p:spPr>
      </p:pic>
      <p:sp>
        <p:nvSpPr>
          <p:cNvPr id="33" name="Text 25"/>
          <p:cNvSpPr/>
          <p:nvPr/>
        </p:nvSpPr>
        <p:spPr>
          <a:xfrm>
            <a:off x="1463040" y="5440680"/>
            <a:ext cx="8229600" cy="6217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Wednesday: the build</a:t>
            </a:r>
            <a:endParaRPr lang="en-US" sz="1800" dirty="0"/>
          </a:p>
        </p:txBody>
      </p:sp>
      <p:sp>
        <p:nvSpPr>
          <p:cNvPr id="34" name="Text 26"/>
          <p:cNvSpPr/>
          <p:nvPr/>
        </p:nvSpPr>
        <p:spPr>
          <a:xfrm>
            <a:off x="9692640" y="5440680"/>
            <a:ext cx="1645920" cy="621792"/>
          </a:xfrm>
          <a:prstGeom prst="rect">
            <a:avLst/>
          </a:prstGeom>
          <a:noFill/>
          <a:ln/>
        </p:spPr>
        <p:txBody>
          <a:bodyPr wrap="square" lIns="0" tIns="0" rIns="0" bIns="0" rtlCol="0" anchor="ctr"/>
          <a:lstStyle/>
          <a:p>
            <a:pPr marL="0" indent="0" algn="r">
              <a:buNone/>
            </a:pPr>
            <a:r>
              <a:rPr lang="en-US" sz="1600" b="1" dirty="0">
                <a:solidFill>
                  <a:srgbClr val="5F7284"/>
                </a:solidFill>
                <a:latin typeface="Calibri" pitchFamily="34" charset="0"/>
                <a:ea typeface="Calibri" pitchFamily="34" charset="-122"/>
                <a:cs typeface="Calibri" pitchFamily="34" charset="-120"/>
              </a:rPr>
              <a:t>7 min</a:t>
            </a:r>
            <a:endParaRPr lang="en-US" sz="1600" dirty="0"/>
          </a:p>
        </p:txBody>
      </p:sp>
      <p:sp>
        <p:nvSpPr>
          <p:cNvPr id="35" name="Text 2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STRANGER AT THE DOOR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Six questions, asked in this order</a:t>
            </a:r>
            <a:endParaRPr lang="en-US" sz="3100" dirty="0"/>
          </a:p>
        </p:txBody>
      </p:sp>
      <p:sp>
        <p:nvSpPr>
          <p:cNvPr id="5" name="click-1"/>
          <p:cNvSpPr/>
          <p:nvPr/>
        </p:nvSpPr>
        <p:spPr>
          <a:xfrm>
            <a:off x="548640"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click-1"/>
          <p:cNvSpPr/>
          <p:nvPr/>
        </p:nvSpPr>
        <p:spPr>
          <a:xfrm>
            <a:off x="1083564" y="2057400"/>
            <a:ext cx="658368" cy="658368"/>
          </a:xfrm>
          <a:prstGeom prst="ellipse">
            <a:avLst/>
          </a:prstGeom>
          <a:solidFill>
            <a:srgbClr val="12908F"/>
          </a:solidFill>
          <a:ln/>
        </p:spPr>
        <p:txBody>
          <a:bodyPr/>
          <a:lstStyle/>
          <a:p>
            <a:endParaRPr lang="en-US"/>
          </a:p>
        </p:txBody>
      </p:sp>
      <p:pic>
        <p:nvPicPr>
          <p:cNvPr id="7" name="click-1" descr="preencoded.png"/>
          <p:cNvPicPr>
            <a:picLocks noChangeAspect="1"/>
          </p:cNvPicPr>
          <p:nvPr/>
        </p:nvPicPr>
        <p:blipFill>
          <a:blip r:embed="rId3"/>
          <a:stretch>
            <a:fillRect/>
          </a:stretch>
        </p:blipFill>
        <p:spPr>
          <a:xfrm>
            <a:off x="1261323" y="2235159"/>
            <a:ext cx="302849" cy="302849"/>
          </a:xfrm>
          <a:prstGeom prst="rect">
            <a:avLst/>
          </a:prstGeom>
        </p:spPr>
      </p:pic>
      <p:sp>
        <p:nvSpPr>
          <p:cNvPr id="8" name="click-1"/>
          <p:cNvSpPr/>
          <p:nvPr/>
        </p:nvSpPr>
        <p:spPr>
          <a:xfrm>
            <a:off x="640080"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What is this?</a:t>
            </a:r>
            <a:endParaRPr lang="en-US" sz="1800" dirty="0"/>
          </a:p>
        </p:txBody>
      </p:sp>
      <p:sp>
        <p:nvSpPr>
          <p:cNvPr id="9" name="click-1"/>
          <p:cNvSpPr/>
          <p:nvPr/>
        </p:nvSpPr>
        <p:spPr>
          <a:xfrm>
            <a:off x="658368"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README, first paragraph</a:t>
            </a:r>
            <a:endParaRPr lang="en-US" sz="1500" dirty="0"/>
          </a:p>
        </p:txBody>
      </p:sp>
      <p:sp>
        <p:nvSpPr>
          <p:cNvPr id="10" name="click-2"/>
          <p:cNvSpPr/>
          <p:nvPr/>
        </p:nvSpPr>
        <p:spPr>
          <a:xfrm>
            <a:off x="2414016"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click-2"/>
          <p:cNvSpPr/>
          <p:nvPr/>
        </p:nvSpPr>
        <p:spPr>
          <a:xfrm>
            <a:off x="2948940" y="2057400"/>
            <a:ext cx="658368" cy="658368"/>
          </a:xfrm>
          <a:prstGeom prst="ellipse">
            <a:avLst/>
          </a:prstGeom>
          <a:solidFill>
            <a:srgbClr val="12908F"/>
          </a:solidFill>
          <a:ln/>
        </p:spPr>
        <p:txBody>
          <a:bodyPr/>
          <a:lstStyle/>
          <a:p>
            <a:endParaRPr lang="en-US"/>
          </a:p>
        </p:txBody>
      </p:sp>
      <p:pic>
        <p:nvPicPr>
          <p:cNvPr id="12" name="click-2" descr="preencoded.png"/>
          <p:cNvPicPr>
            <a:picLocks noChangeAspect="1"/>
          </p:cNvPicPr>
          <p:nvPr/>
        </p:nvPicPr>
        <p:blipFill>
          <a:blip r:embed="rId4"/>
          <a:stretch>
            <a:fillRect/>
          </a:stretch>
        </p:blipFill>
        <p:spPr>
          <a:xfrm>
            <a:off x="3126699" y="2235159"/>
            <a:ext cx="302849" cy="302849"/>
          </a:xfrm>
          <a:prstGeom prst="rect">
            <a:avLst/>
          </a:prstGeom>
        </p:spPr>
      </p:pic>
      <p:sp>
        <p:nvSpPr>
          <p:cNvPr id="13" name="click-2"/>
          <p:cNvSpPr/>
          <p:nvPr/>
        </p:nvSpPr>
        <p:spPr>
          <a:xfrm>
            <a:off x="2505456"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Can I run it?</a:t>
            </a:r>
            <a:endParaRPr lang="en-US" sz="1800" dirty="0"/>
          </a:p>
        </p:txBody>
      </p:sp>
      <p:sp>
        <p:nvSpPr>
          <p:cNvPr id="14" name="click-2"/>
          <p:cNvSpPr/>
          <p:nvPr/>
        </p:nvSpPr>
        <p:spPr>
          <a:xfrm>
            <a:off x="2523744"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Quickstart, setup guide</a:t>
            </a:r>
            <a:endParaRPr lang="en-US" sz="1500" dirty="0"/>
          </a:p>
        </p:txBody>
      </p:sp>
      <p:sp>
        <p:nvSpPr>
          <p:cNvPr id="15" name="click-3"/>
          <p:cNvSpPr/>
          <p:nvPr/>
        </p:nvSpPr>
        <p:spPr>
          <a:xfrm>
            <a:off x="4279392"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click-3"/>
          <p:cNvSpPr/>
          <p:nvPr/>
        </p:nvSpPr>
        <p:spPr>
          <a:xfrm>
            <a:off x="4814316" y="2057400"/>
            <a:ext cx="658368" cy="658368"/>
          </a:xfrm>
          <a:prstGeom prst="ellipse">
            <a:avLst/>
          </a:prstGeom>
          <a:solidFill>
            <a:srgbClr val="12908F"/>
          </a:solidFill>
          <a:ln/>
        </p:spPr>
        <p:txBody>
          <a:bodyPr/>
          <a:lstStyle/>
          <a:p>
            <a:endParaRPr lang="en-US"/>
          </a:p>
        </p:txBody>
      </p:sp>
      <p:pic>
        <p:nvPicPr>
          <p:cNvPr id="17" name="click-3" descr="preencoded.png"/>
          <p:cNvPicPr>
            <a:picLocks noChangeAspect="1"/>
          </p:cNvPicPr>
          <p:nvPr/>
        </p:nvPicPr>
        <p:blipFill>
          <a:blip r:embed="rId5"/>
          <a:stretch>
            <a:fillRect/>
          </a:stretch>
        </p:blipFill>
        <p:spPr>
          <a:xfrm>
            <a:off x="4992075" y="2235159"/>
            <a:ext cx="302849" cy="302849"/>
          </a:xfrm>
          <a:prstGeom prst="rect">
            <a:avLst/>
          </a:prstGeom>
        </p:spPr>
      </p:pic>
      <p:sp>
        <p:nvSpPr>
          <p:cNvPr id="18" name="click-3"/>
          <p:cNvSpPr/>
          <p:nvPr/>
        </p:nvSpPr>
        <p:spPr>
          <a:xfrm>
            <a:off x="4370832"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May I use it?</a:t>
            </a:r>
            <a:endParaRPr lang="en-US" sz="1800" dirty="0"/>
          </a:p>
        </p:txBody>
      </p:sp>
      <p:sp>
        <p:nvSpPr>
          <p:cNvPr id="19" name="click-3"/>
          <p:cNvSpPr/>
          <p:nvPr/>
        </p:nvSpPr>
        <p:spPr>
          <a:xfrm>
            <a:off x="4389120"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LICENSE</a:t>
            </a:r>
            <a:endParaRPr lang="en-US" sz="1500" dirty="0"/>
          </a:p>
        </p:txBody>
      </p:sp>
      <p:sp>
        <p:nvSpPr>
          <p:cNvPr id="20" name="click-4"/>
          <p:cNvSpPr/>
          <p:nvPr/>
        </p:nvSpPr>
        <p:spPr>
          <a:xfrm>
            <a:off x="6144768"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click-4"/>
          <p:cNvSpPr/>
          <p:nvPr/>
        </p:nvSpPr>
        <p:spPr>
          <a:xfrm>
            <a:off x="6679692" y="2057400"/>
            <a:ext cx="658368" cy="658368"/>
          </a:xfrm>
          <a:prstGeom prst="ellipse">
            <a:avLst/>
          </a:prstGeom>
          <a:solidFill>
            <a:srgbClr val="12908F"/>
          </a:solidFill>
          <a:ln/>
        </p:spPr>
        <p:txBody>
          <a:bodyPr/>
          <a:lstStyle/>
          <a:p>
            <a:endParaRPr lang="en-US"/>
          </a:p>
        </p:txBody>
      </p:sp>
      <p:pic>
        <p:nvPicPr>
          <p:cNvPr id="22" name="click-4" descr="preencoded.png"/>
          <p:cNvPicPr>
            <a:picLocks noChangeAspect="1"/>
          </p:cNvPicPr>
          <p:nvPr/>
        </p:nvPicPr>
        <p:blipFill>
          <a:blip r:embed="rId6"/>
          <a:stretch>
            <a:fillRect/>
          </a:stretch>
        </p:blipFill>
        <p:spPr>
          <a:xfrm>
            <a:off x="6857451" y="2235159"/>
            <a:ext cx="302849" cy="302849"/>
          </a:xfrm>
          <a:prstGeom prst="rect">
            <a:avLst/>
          </a:prstGeom>
        </p:spPr>
      </p:pic>
      <p:sp>
        <p:nvSpPr>
          <p:cNvPr id="23" name="click-4"/>
          <p:cNvSpPr/>
          <p:nvPr/>
        </p:nvSpPr>
        <p:spPr>
          <a:xfrm>
            <a:off x="6236208"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How do I help?</a:t>
            </a:r>
            <a:endParaRPr lang="en-US" sz="1800" dirty="0"/>
          </a:p>
        </p:txBody>
      </p:sp>
      <p:sp>
        <p:nvSpPr>
          <p:cNvPr id="24" name="click-4"/>
          <p:cNvSpPr/>
          <p:nvPr/>
        </p:nvSpPr>
        <p:spPr>
          <a:xfrm>
            <a:off x="6254496"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CONTRIBUTING, templates</a:t>
            </a:r>
            <a:endParaRPr lang="en-US" sz="1500" dirty="0"/>
          </a:p>
        </p:txBody>
      </p:sp>
      <p:sp>
        <p:nvSpPr>
          <p:cNvPr id="25" name="click-5"/>
          <p:cNvSpPr/>
          <p:nvPr/>
        </p:nvSpPr>
        <p:spPr>
          <a:xfrm>
            <a:off x="8010144"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click-5"/>
          <p:cNvSpPr/>
          <p:nvPr/>
        </p:nvSpPr>
        <p:spPr>
          <a:xfrm>
            <a:off x="8545068" y="2057400"/>
            <a:ext cx="658368" cy="658368"/>
          </a:xfrm>
          <a:prstGeom prst="ellipse">
            <a:avLst/>
          </a:prstGeom>
          <a:solidFill>
            <a:srgbClr val="12908F"/>
          </a:solidFill>
          <a:ln/>
        </p:spPr>
        <p:txBody>
          <a:bodyPr/>
          <a:lstStyle/>
          <a:p>
            <a:endParaRPr lang="en-US"/>
          </a:p>
        </p:txBody>
      </p:sp>
      <p:pic>
        <p:nvPicPr>
          <p:cNvPr id="27" name="click-5" descr="preencoded.png"/>
          <p:cNvPicPr>
            <a:picLocks noChangeAspect="1"/>
          </p:cNvPicPr>
          <p:nvPr/>
        </p:nvPicPr>
        <p:blipFill>
          <a:blip r:embed="rId7"/>
          <a:stretch>
            <a:fillRect/>
          </a:stretch>
        </p:blipFill>
        <p:spPr>
          <a:xfrm>
            <a:off x="8722827" y="2235159"/>
            <a:ext cx="302849" cy="302849"/>
          </a:xfrm>
          <a:prstGeom prst="rect">
            <a:avLst/>
          </a:prstGeom>
        </p:spPr>
      </p:pic>
      <p:sp>
        <p:nvSpPr>
          <p:cNvPr id="28" name="click-5"/>
          <p:cNvSpPr/>
          <p:nvPr/>
        </p:nvSpPr>
        <p:spPr>
          <a:xfrm>
            <a:off x="8101584"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What's it like here?</a:t>
            </a:r>
            <a:endParaRPr lang="en-US" sz="1800" dirty="0"/>
          </a:p>
        </p:txBody>
      </p:sp>
      <p:sp>
        <p:nvSpPr>
          <p:cNvPr id="29" name="click-5"/>
          <p:cNvSpPr/>
          <p:nvPr/>
        </p:nvSpPr>
        <p:spPr>
          <a:xfrm>
            <a:off x="8119872"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Code of conduct, issue tone</a:t>
            </a:r>
            <a:endParaRPr lang="en-US" sz="1500" dirty="0"/>
          </a:p>
        </p:txBody>
      </p:sp>
      <p:sp>
        <p:nvSpPr>
          <p:cNvPr id="30" name="click-6"/>
          <p:cNvSpPr/>
          <p:nvPr/>
        </p:nvSpPr>
        <p:spPr>
          <a:xfrm>
            <a:off x="9875520" y="1828800"/>
            <a:ext cx="1728216" cy="3063240"/>
          </a:xfrm>
          <a:prstGeom prst="roundRect">
            <a:avLst>
              <a:gd name="adj" fmla="val 476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31" name="click-6"/>
          <p:cNvSpPr/>
          <p:nvPr/>
        </p:nvSpPr>
        <p:spPr>
          <a:xfrm>
            <a:off x="10410444" y="2057400"/>
            <a:ext cx="658368" cy="658368"/>
          </a:xfrm>
          <a:prstGeom prst="ellipse">
            <a:avLst/>
          </a:prstGeom>
          <a:solidFill>
            <a:srgbClr val="12908F"/>
          </a:solidFill>
          <a:ln/>
        </p:spPr>
        <p:txBody>
          <a:bodyPr/>
          <a:lstStyle/>
          <a:p>
            <a:endParaRPr lang="en-US"/>
          </a:p>
        </p:txBody>
      </p:sp>
      <p:pic>
        <p:nvPicPr>
          <p:cNvPr id="32" name="click-6" descr="preencoded.png"/>
          <p:cNvPicPr>
            <a:picLocks noChangeAspect="1"/>
          </p:cNvPicPr>
          <p:nvPr/>
        </p:nvPicPr>
        <p:blipFill>
          <a:blip r:embed="rId8"/>
          <a:stretch>
            <a:fillRect/>
          </a:stretch>
        </p:blipFill>
        <p:spPr>
          <a:xfrm>
            <a:off x="10588203" y="2235159"/>
            <a:ext cx="302849" cy="302849"/>
          </a:xfrm>
          <a:prstGeom prst="rect">
            <a:avLst/>
          </a:prstGeom>
        </p:spPr>
      </p:pic>
      <p:sp>
        <p:nvSpPr>
          <p:cNvPr id="33" name="click-6"/>
          <p:cNvSpPr/>
          <p:nvPr/>
        </p:nvSpPr>
        <p:spPr>
          <a:xfrm>
            <a:off x="9966960" y="2880360"/>
            <a:ext cx="1545336" cy="86868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Where's it going?</a:t>
            </a:r>
            <a:endParaRPr lang="en-US" sz="1800" dirty="0"/>
          </a:p>
        </p:txBody>
      </p:sp>
      <p:sp>
        <p:nvSpPr>
          <p:cNvPr id="34" name="click-6"/>
          <p:cNvSpPr/>
          <p:nvPr/>
        </p:nvSpPr>
        <p:spPr>
          <a:xfrm>
            <a:off x="9985248" y="3794760"/>
            <a:ext cx="1508760" cy="960120"/>
          </a:xfrm>
          <a:prstGeom prst="rect">
            <a:avLst/>
          </a:prstGeom>
          <a:noFill/>
          <a:ln/>
        </p:spPr>
        <p:txBody>
          <a:bodyPr wrap="square" lIns="0" tIns="0" rIns="0" bIns="0" rtlCol="0" anchor="t"/>
          <a:lstStyle/>
          <a:p>
            <a:pPr marL="0" indent="0" algn="ctr">
              <a:buNone/>
            </a:pPr>
            <a:r>
              <a:rPr lang="en-US" sz="1500" dirty="0">
                <a:solidFill>
                  <a:srgbClr val="0E6E6D"/>
                </a:solidFill>
                <a:latin typeface="Calibri" pitchFamily="34" charset="0"/>
                <a:ea typeface="Calibri" pitchFamily="34" charset="-122"/>
                <a:cs typeface="Calibri" pitchFamily="34" charset="-120"/>
              </a:rPr>
              <a:t>Roadmap</a:t>
            </a:r>
            <a:endParaRPr lang="en-US" sz="1500" dirty="0"/>
          </a:p>
        </p:txBody>
      </p:sp>
      <p:sp>
        <p:nvSpPr>
          <p:cNvPr id="35" name="click-7"/>
          <p:cNvSpPr/>
          <p:nvPr/>
        </p:nvSpPr>
        <p:spPr>
          <a:xfrm>
            <a:off x="548640" y="5166360"/>
            <a:ext cx="11064240" cy="1005840"/>
          </a:xfrm>
          <a:prstGeom prst="roundRect">
            <a:avLst>
              <a:gd name="adj" fmla="val 8182"/>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36" name="click-7"/>
          <p:cNvSpPr/>
          <p:nvPr/>
        </p:nvSpPr>
        <p:spPr>
          <a:xfrm>
            <a:off x="868680" y="5166360"/>
            <a:ext cx="10424160" cy="1005840"/>
          </a:xfrm>
          <a:prstGeom prst="rect">
            <a:avLst/>
          </a:prstGeom>
          <a:noFill/>
          <a:ln/>
        </p:spPr>
        <p:txBody>
          <a:bodyPr wrap="square" lIns="0" tIns="0" rIns="0" bIns="0" rtlCol="0" anchor="ctr"/>
          <a:lstStyle/>
          <a:p>
            <a:pPr marL="0" indent="0">
              <a:lnSpc>
                <a:spcPct val="104000"/>
              </a:lnSpc>
              <a:buNone/>
            </a:pPr>
            <a:r>
              <a:rPr lang="en-US" sz="1700" dirty="0">
                <a:solidFill>
                  <a:srgbClr val="FFFFFF"/>
                </a:solidFill>
                <a:latin typeface="Calibri" pitchFamily="34" charset="0"/>
                <a:ea typeface="Calibri" pitchFamily="34" charset="-122"/>
                <a:cs typeface="Calibri" pitchFamily="34" charset="-120"/>
              </a:rPr>
              <a:t>A stranger gives a project about ninety seconds. Every question they can't answer in that time is a reason to leave.</a:t>
            </a:r>
            <a:endParaRPr lang="en-US" sz="1700" dirty="0"/>
          </a:p>
        </p:txBody>
      </p:sp>
      <p:sp>
        <p:nvSpPr>
          <p:cNvPr id="37" name="Text 29"/>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WHY IT MATTERS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Writing things down is how you scale yourself</a:t>
            </a:r>
            <a:endParaRPr lang="en-US" sz="3100" dirty="0"/>
          </a:p>
        </p:txBody>
      </p:sp>
      <p:sp>
        <p:nvSpPr>
          <p:cNvPr id="5" name="Shape 3"/>
          <p:cNvSpPr/>
          <p:nvPr/>
        </p:nvSpPr>
        <p:spPr>
          <a:xfrm>
            <a:off x="548640" y="1828800"/>
            <a:ext cx="5440680" cy="3108960"/>
          </a:xfrm>
          <a:prstGeom prst="roundRect">
            <a:avLst>
              <a:gd name="adj" fmla="val 2647"/>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68680" y="210312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626" y="2266066"/>
            <a:ext cx="277612" cy="277612"/>
          </a:xfrm>
          <a:prstGeom prst="rect">
            <a:avLst/>
          </a:prstGeom>
        </p:spPr>
      </p:pic>
      <p:sp>
        <p:nvSpPr>
          <p:cNvPr id="8" name="Text 5"/>
          <p:cNvSpPr/>
          <p:nvPr/>
        </p:nvSpPr>
        <p:spPr>
          <a:xfrm>
            <a:off x="1645920" y="2167128"/>
            <a:ext cx="4206240" cy="457200"/>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From the reading</a:t>
            </a:r>
            <a:endParaRPr lang="en-US" sz="1900" dirty="0"/>
          </a:p>
        </p:txBody>
      </p:sp>
      <p:sp>
        <p:nvSpPr>
          <p:cNvPr id="9" name="Text 6"/>
          <p:cNvSpPr/>
          <p:nvPr/>
        </p:nvSpPr>
        <p:spPr>
          <a:xfrm>
            <a:off x="914400" y="2926080"/>
            <a:ext cx="4846320" cy="1920240"/>
          </a:xfrm>
          <a:prstGeom prst="rect">
            <a:avLst/>
          </a:prstGeom>
          <a:noFill/>
          <a:ln/>
        </p:spPr>
        <p:txBody>
          <a:bodyPr wrap="square" lIns="0" tIns="0" rIns="0" bIns="0" rtlCol="0" anchor="t"/>
          <a:lstStyle/>
          <a:p>
            <a:pPr marL="0" indent="0">
              <a:lnSpc>
                <a:spcPct val="106000"/>
              </a:lnSpc>
              <a:buNone/>
            </a:pPr>
            <a:r>
              <a:rPr lang="en-US" sz="1700" dirty="0">
                <a:solidFill>
                  <a:srgbClr val="1E2A36"/>
                </a:solidFill>
                <a:latin typeface="Calibri" pitchFamily="34" charset="0"/>
                <a:ea typeface="Calibri" pitchFamily="34" charset="-122"/>
                <a:cs typeface="Calibri" pitchFamily="34" charset="-120"/>
              </a:rPr>
              <a:t>Documented processes answer questions before anyone asks them, and they make "no" less personal. A founder who writes things down can step away without the project stalling.</a:t>
            </a:r>
            <a:endParaRPr lang="en-US" sz="1700" dirty="0"/>
          </a:p>
        </p:txBody>
      </p:sp>
      <p:sp>
        <p:nvSpPr>
          <p:cNvPr id="10" name="click-1"/>
          <p:cNvSpPr/>
          <p:nvPr/>
        </p:nvSpPr>
        <p:spPr>
          <a:xfrm>
            <a:off x="6172200" y="1828800"/>
            <a:ext cx="5440680" cy="3108960"/>
          </a:xfrm>
          <a:prstGeom prst="roundRect">
            <a:avLst>
              <a:gd name="adj" fmla="val 2647"/>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1" name="click-1"/>
          <p:cNvSpPr/>
          <p:nvPr/>
        </p:nvSpPr>
        <p:spPr>
          <a:xfrm>
            <a:off x="6492240" y="2103120"/>
            <a:ext cx="603504" cy="603504"/>
          </a:xfrm>
          <a:prstGeom prst="ellipse">
            <a:avLst/>
          </a:prstGeom>
          <a:solidFill>
            <a:srgbClr val="E8A33D"/>
          </a:solidFill>
          <a:ln/>
        </p:spPr>
        <p:txBody>
          <a:bodyPr/>
          <a:lstStyle/>
          <a:p>
            <a:endParaRPr lang="en-US"/>
          </a:p>
        </p:txBody>
      </p:sp>
      <p:pic>
        <p:nvPicPr>
          <p:cNvPr id="12" name="click-1" descr="preencoded.png"/>
          <p:cNvPicPr>
            <a:picLocks noChangeAspect="1"/>
          </p:cNvPicPr>
          <p:nvPr/>
        </p:nvPicPr>
        <p:blipFill>
          <a:blip r:embed="rId4"/>
          <a:stretch>
            <a:fillRect/>
          </a:stretch>
        </p:blipFill>
        <p:spPr>
          <a:xfrm>
            <a:off x="6655186" y="2266066"/>
            <a:ext cx="277612" cy="277612"/>
          </a:xfrm>
          <a:prstGeom prst="rect">
            <a:avLst/>
          </a:prstGeom>
        </p:spPr>
      </p:pic>
      <p:sp>
        <p:nvSpPr>
          <p:cNvPr id="13" name="click-1"/>
          <p:cNvSpPr/>
          <p:nvPr/>
        </p:nvSpPr>
        <p:spPr>
          <a:xfrm>
            <a:off x="7269480" y="2167128"/>
            <a:ext cx="42062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stakes, Nov 18</a:t>
            </a:r>
            <a:endParaRPr lang="en-US" sz="1900" dirty="0"/>
          </a:p>
        </p:txBody>
      </p:sp>
      <p:sp>
        <p:nvSpPr>
          <p:cNvPr id="14" name="click-1"/>
          <p:cNvSpPr/>
          <p:nvPr/>
        </p:nvSpPr>
        <p:spPr>
          <a:xfrm>
            <a:off x="6537960" y="2926080"/>
            <a:ext cx="4846320" cy="1920240"/>
          </a:xfrm>
          <a:prstGeom prst="rect">
            <a:avLst/>
          </a:prstGeom>
          <a:noFill/>
          <a:ln/>
        </p:spPr>
        <p:txBody>
          <a:bodyPr wrap="square" lIns="0" tIns="0" rIns="0" bIns="0" rtlCol="0" anchor="t"/>
          <a:lstStyle/>
          <a:p>
            <a:pPr marL="0" indent="0">
              <a:lnSpc>
                <a:spcPct val="106000"/>
              </a:lnSpc>
              <a:buNone/>
            </a:pPr>
            <a:r>
              <a:rPr lang="en-US" sz="1700" dirty="0">
                <a:solidFill>
                  <a:srgbClr val="CFE0E9"/>
                </a:solidFill>
                <a:latin typeface="Calibri" pitchFamily="34" charset="0"/>
                <a:ea typeface="Calibri" pitchFamily="34" charset="-122"/>
                <a:cs typeface="Calibri" pitchFamily="34" charset="-120"/>
              </a:rPr>
              <a:t>A classmate audits your repo cold: clones it, builds it, runs it, and tries to find a way in, using only what you wrote. Today decides what they find.</a:t>
            </a:r>
            <a:endParaRPr lang="en-US" sz="1700" dirty="0"/>
          </a:p>
        </p:txBody>
      </p:sp>
      <p:sp>
        <p:nvSpPr>
          <p:cNvPr id="15" name="click-2"/>
          <p:cNvSpPr/>
          <p:nvPr/>
        </p:nvSpPr>
        <p:spPr>
          <a:xfrm>
            <a:off x="548640" y="5166360"/>
            <a:ext cx="11064240" cy="1005840"/>
          </a:xfrm>
          <a:prstGeom prst="roundRect">
            <a:avLst>
              <a:gd name="adj" fmla="val 8182"/>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16" name="click-2"/>
          <p:cNvSpPr/>
          <p:nvPr/>
        </p:nvSpPr>
        <p:spPr>
          <a:xfrm>
            <a:off x="868680" y="5166360"/>
            <a:ext cx="10424160" cy="1005840"/>
          </a:xfrm>
          <a:prstGeom prst="rect">
            <a:avLst/>
          </a:prstGeom>
          <a:noFill/>
          <a:ln/>
        </p:spPr>
        <p:txBody>
          <a:bodyPr wrap="square" lIns="0" tIns="0" rIns="0" bIns="0" rtlCol="0" anchor="ctr"/>
          <a:lstStyle/>
          <a:p>
            <a:pPr marL="0" indent="0">
              <a:lnSpc>
                <a:spcPct val="104000"/>
              </a:lnSpc>
              <a:buNone/>
            </a:pPr>
            <a:r>
              <a:rPr lang="en-US" sz="1700" b="1" dirty="0">
                <a:solidFill>
                  <a:srgbClr val="14233A"/>
                </a:solidFill>
                <a:latin typeface="Calibri" pitchFamily="34" charset="0"/>
                <a:ea typeface="Calibri" pitchFamily="34" charset="-122"/>
                <a:cs typeface="Calibri" pitchFamily="34" charset="-120"/>
              </a:rPr>
              <a:t>The honest test of documentation isn't whether the author is satisfied. It's whether a cold reader succeeds.</a:t>
            </a:r>
            <a:endParaRPr lang="en-US" sz="170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LIVE · 15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Two front doors, walked as a stranger</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marL="0" indent="0">
              <a:buNone/>
            </a:pPr>
            <a:r>
              <a:rPr lang="en-US" sz="1600" i="1" dirty="0">
                <a:solidFill>
                  <a:srgbClr val="CFE0E9"/>
                </a:solidFill>
                <a:latin typeface="Calibri" pitchFamily="34" charset="0"/>
                <a:ea typeface="Calibri" pitchFamily="34" charset="-122"/>
                <a:cs typeface="Calibri" pitchFamily="34" charset="-120"/>
              </a:rPr>
              <a:t>Ask the six questions of each, in order. Narrate what you find, and what you can't.</a:t>
            </a:r>
            <a:endParaRPr lang="en-US" sz="1600" dirty="0"/>
          </a:p>
        </p:txBody>
      </p:sp>
      <p:sp>
        <p:nvSpPr>
          <p:cNvPr id="7" name="Shape 5"/>
          <p:cNvSpPr/>
          <p:nvPr/>
        </p:nvSpPr>
        <p:spPr>
          <a:xfrm>
            <a:off x="548640" y="2240280"/>
            <a:ext cx="5440680" cy="2697480"/>
          </a:xfrm>
          <a:prstGeom prst="roundRect">
            <a:avLst>
              <a:gd name="adj" fmla="val 305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Shape 6"/>
          <p:cNvSpPr/>
          <p:nvPr/>
        </p:nvSpPr>
        <p:spPr>
          <a:xfrm>
            <a:off x="868680" y="2468880"/>
            <a:ext cx="603504" cy="603504"/>
          </a:xfrm>
          <a:prstGeom prst="ellipse">
            <a:avLst/>
          </a:prstGeom>
          <a:solidFill>
            <a:srgbClr val="3E9C6B"/>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031626" y="2631826"/>
            <a:ext cx="277612" cy="277612"/>
          </a:xfrm>
          <a:prstGeom prst="rect">
            <a:avLst/>
          </a:prstGeom>
        </p:spPr>
      </p:pic>
      <p:sp>
        <p:nvSpPr>
          <p:cNvPr id="10" name="Text 7"/>
          <p:cNvSpPr/>
          <p:nvPr/>
        </p:nvSpPr>
        <p:spPr>
          <a:xfrm>
            <a:off x="1645920" y="2468880"/>
            <a:ext cx="4023360" cy="603504"/>
          </a:xfrm>
          <a:prstGeom prst="rect">
            <a:avLst/>
          </a:prstGeom>
          <a:noFill/>
          <a:ln/>
        </p:spPr>
        <p:txBody>
          <a:bodyPr wrap="square" lIns="0" tIns="0" rIns="0" bIns="0" rtlCol="0" anchor="ctr"/>
          <a:lstStyle/>
          <a:p>
            <a:pPr marL="0" indent="0">
              <a:buNone/>
            </a:pPr>
            <a:r>
              <a:rPr lang="en-US" sz="1900" b="1" dirty="0">
                <a:solidFill>
                  <a:srgbClr val="E8A33D"/>
                </a:solidFill>
                <a:latin typeface="Calibri" pitchFamily="34" charset="0"/>
                <a:ea typeface="Calibri" pitchFamily="34" charset="-122"/>
                <a:cs typeface="Calibri" pitchFamily="34" charset="-120"/>
              </a:rPr>
              <a:t>Strong</a:t>
            </a:r>
            <a:endParaRPr lang="en-US" sz="1900" dirty="0"/>
          </a:p>
        </p:txBody>
      </p:sp>
      <p:sp>
        <p:nvSpPr>
          <p:cNvPr id="11" name="Text 8"/>
          <p:cNvSpPr/>
          <p:nvPr/>
        </p:nvSpPr>
        <p:spPr>
          <a:xfrm>
            <a:off x="868680" y="3246120"/>
            <a:ext cx="4846320" cy="457200"/>
          </a:xfrm>
          <a:prstGeom prst="rect">
            <a:avLst/>
          </a:prstGeom>
          <a:noFill/>
          <a:ln/>
        </p:spPr>
        <p:txBody>
          <a:bodyPr wrap="square" lIns="0" tIns="0" rIns="0" bIns="0" rtlCol="0" anchor="ctr"/>
          <a:lstStyle/>
          <a:p>
            <a:pPr marL="0" indent="0">
              <a:buNone/>
            </a:pPr>
            <a:r>
              <a:rPr lang="en-US" sz="1900" b="1" dirty="0">
                <a:solidFill>
                  <a:srgbClr val="FFFFFF"/>
                </a:solidFill>
                <a:latin typeface="Consolas" pitchFamily="34" charset="0"/>
                <a:ea typeface="Consolas" pitchFamily="34" charset="-122"/>
                <a:cs typeface="Consolas" pitchFamily="34" charset="-120"/>
              </a:rPr>
              <a:t>Textualize/rich</a:t>
            </a:r>
            <a:endParaRPr lang="en-US" sz="1900" dirty="0"/>
          </a:p>
        </p:txBody>
      </p:sp>
      <p:sp>
        <p:nvSpPr>
          <p:cNvPr id="12" name="Text 9"/>
          <p:cNvSpPr/>
          <p:nvPr/>
        </p:nvSpPr>
        <p:spPr>
          <a:xfrm>
            <a:off x="868680" y="3749040"/>
            <a:ext cx="4846320" cy="1051560"/>
          </a:xfrm>
          <a:prstGeom prst="rect">
            <a:avLst/>
          </a:prstGeom>
          <a:noFill/>
          <a:ln/>
        </p:spPr>
        <p:txBody>
          <a:bodyPr wrap="square" lIns="0" tIns="0" rIns="0" bIns="0" rtlCol="0" anchor="t"/>
          <a:lstStyle/>
          <a:p>
            <a:pPr marL="0" indent="0">
              <a:lnSpc>
                <a:spcPct val="104000"/>
              </a:lnSpc>
              <a:buNone/>
            </a:pPr>
            <a:r>
              <a:rPr lang="en-US" sz="1600" dirty="0">
                <a:solidFill>
                  <a:srgbClr val="CFE0E9"/>
                </a:solidFill>
                <a:latin typeface="Calibri" pitchFamily="34" charset="0"/>
                <a:ea typeface="Calibri" pitchFamily="34" charset="-122"/>
                <a:cs typeface="Calibri" pitchFamily="34" charset="-120"/>
              </a:rPr>
              <a:t>A Python library for rich text in the terminal. Maintainer-led, widely used, readable.</a:t>
            </a:r>
            <a:endParaRPr lang="en-US" sz="1600" dirty="0"/>
          </a:p>
        </p:txBody>
      </p:sp>
      <p:sp>
        <p:nvSpPr>
          <p:cNvPr id="13" name="Shape 10"/>
          <p:cNvSpPr/>
          <p:nvPr/>
        </p:nvSpPr>
        <p:spPr>
          <a:xfrm>
            <a:off x="6172200" y="2240280"/>
            <a:ext cx="5440680" cy="2697480"/>
          </a:xfrm>
          <a:prstGeom prst="roundRect">
            <a:avLst>
              <a:gd name="adj" fmla="val 305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4" name="Shape 11"/>
          <p:cNvSpPr/>
          <p:nvPr/>
        </p:nvSpPr>
        <p:spPr>
          <a:xfrm>
            <a:off x="6492240" y="2468880"/>
            <a:ext cx="603504" cy="603504"/>
          </a:xfrm>
          <a:prstGeom prst="ellipse">
            <a:avLst/>
          </a:prstGeom>
          <a:solidFill>
            <a:srgbClr val="D9614C"/>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655186" y="2631826"/>
            <a:ext cx="277612" cy="277612"/>
          </a:xfrm>
          <a:prstGeom prst="rect">
            <a:avLst/>
          </a:prstGeom>
        </p:spPr>
      </p:pic>
      <p:sp>
        <p:nvSpPr>
          <p:cNvPr id="16" name="Text 12"/>
          <p:cNvSpPr/>
          <p:nvPr/>
        </p:nvSpPr>
        <p:spPr>
          <a:xfrm>
            <a:off x="7269480" y="2468880"/>
            <a:ext cx="4023360" cy="603504"/>
          </a:xfrm>
          <a:prstGeom prst="rect">
            <a:avLst/>
          </a:prstGeom>
          <a:noFill/>
          <a:ln/>
        </p:spPr>
        <p:txBody>
          <a:bodyPr wrap="square" lIns="0" tIns="0" rIns="0" bIns="0" rtlCol="0" anchor="ctr"/>
          <a:lstStyle/>
          <a:p>
            <a:pPr marL="0" indent="0">
              <a:buNone/>
            </a:pPr>
            <a:r>
              <a:rPr lang="en-US" sz="1900" b="1" dirty="0">
                <a:solidFill>
                  <a:srgbClr val="E8A33D"/>
                </a:solidFill>
                <a:latin typeface="Calibri" pitchFamily="34" charset="0"/>
                <a:ea typeface="Calibri" pitchFamily="34" charset="-122"/>
                <a:cs typeface="Calibri" pitchFamily="34" charset="-120"/>
              </a:rPr>
              <a:t>Weak</a:t>
            </a:r>
            <a:endParaRPr lang="en-US" sz="1900" dirty="0"/>
          </a:p>
        </p:txBody>
      </p:sp>
      <p:sp>
        <p:nvSpPr>
          <p:cNvPr id="17" name="Text 13"/>
          <p:cNvSpPr/>
          <p:nvPr/>
        </p:nvSpPr>
        <p:spPr>
          <a:xfrm>
            <a:off x="6492240" y="3246120"/>
            <a:ext cx="4846320" cy="457200"/>
          </a:xfrm>
          <a:prstGeom prst="rect">
            <a:avLst/>
          </a:prstGeom>
          <a:noFill/>
          <a:ln/>
        </p:spPr>
        <p:txBody>
          <a:bodyPr wrap="square" lIns="0" tIns="0" rIns="0" bIns="0" rtlCol="0" anchor="ctr"/>
          <a:lstStyle/>
          <a:p>
            <a:pPr marL="0" indent="0">
              <a:buNone/>
            </a:pPr>
            <a:r>
              <a:rPr lang="en-US" sz="1900" b="1" dirty="0">
                <a:solidFill>
                  <a:srgbClr val="FFFFFF"/>
                </a:solidFill>
                <a:latin typeface="Consolas" pitchFamily="34" charset="0"/>
                <a:ea typeface="Consolas" pitchFamily="34" charset="-122"/>
                <a:cs typeface="Consolas" pitchFamily="34" charset="-120"/>
              </a:rPr>
              <a:t>dagorym/SSW</a:t>
            </a:r>
            <a:endParaRPr lang="en-US" sz="1900" dirty="0"/>
          </a:p>
        </p:txBody>
      </p:sp>
      <p:sp>
        <p:nvSpPr>
          <p:cNvPr id="18" name="Text 14"/>
          <p:cNvSpPr/>
          <p:nvPr/>
        </p:nvSpPr>
        <p:spPr>
          <a:xfrm>
            <a:off x="6492240" y="3749040"/>
            <a:ext cx="4846320" cy="1051560"/>
          </a:xfrm>
          <a:prstGeom prst="rect">
            <a:avLst/>
          </a:prstGeom>
          <a:noFill/>
          <a:ln/>
        </p:spPr>
        <p:txBody>
          <a:bodyPr wrap="square" lIns="0" tIns="0" rIns="0" bIns="0" rtlCol="0" anchor="t"/>
          <a:lstStyle/>
          <a:p>
            <a:pPr marL="0" indent="0">
              <a:lnSpc>
                <a:spcPct val="104000"/>
              </a:lnSpc>
              <a:buNone/>
            </a:pPr>
            <a:r>
              <a:rPr lang="en-US" sz="1600" dirty="0">
                <a:solidFill>
                  <a:srgbClr val="CFE0E9"/>
                </a:solidFill>
                <a:latin typeface="Calibri" pitchFamily="34" charset="0"/>
                <a:ea typeface="Calibri" pitchFamily="34" charset="-122"/>
                <a:cs typeface="Calibri" pitchFamily="34" charset="-120"/>
              </a:rPr>
              <a:t>The instructor's own game project. Real code, real history, and no front door.</a:t>
            </a:r>
            <a:endParaRPr lang="en-US" sz="1600" dirty="0"/>
          </a:p>
        </p:txBody>
      </p:sp>
      <p:sp>
        <p:nvSpPr>
          <p:cNvPr id="19" name="Shape 15"/>
          <p:cNvSpPr/>
          <p:nvPr/>
        </p:nvSpPr>
        <p:spPr>
          <a:xfrm>
            <a:off x="548640" y="5166360"/>
            <a:ext cx="11064240" cy="1005840"/>
          </a:xfrm>
          <a:prstGeom prst="roundRect">
            <a:avLst>
              <a:gd name="adj" fmla="val 8182"/>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20" name="Text 16"/>
          <p:cNvSpPr/>
          <p:nvPr/>
        </p:nvSpPr>
        <p:spPr>
          <a:xfrm>
            <a:off x="868680" y="5166360"/>
            <a:ext cx="10424160" cy="1005840"/>
          </a:xfrm>
          <a:prstGeom prst="rect">
            <a:avLst/>
          </a:prstGeom>
          <a:noFill/>
          <a:ln/>
        </p:spPr>
        <p:txBody>
          <a:bodyPr wrap="square" lIns="0" tIns="0" rIns="0" bIns="0" rtlCol="0" anchor="ctr"/>
          <a:lstStyle/>
          <a:p>
            <a:pPr marL="0" indent="0">
              <a:lnSpc>
                <a:spcPct val="104000"/>
              </a:lnSpc>
              <a:buNone/>
            </a:pPr>
            <a:r>
              <a:rPr lang="en-US" sz="1650" b="1" dirty="0">
                <a:solidFill>
                  <a:srgbClr val="14233A"/>
                </a:solidFill>
                <a:latin typeface="Calibri" pitchFamily="34" charset="0"/>
                <a:ea typeface="Calibri" pitchFamily="34" charset="-122"/>
                <a:cs typeface="Calibri" pitchFamily="34" charset="-120"/>
              </a:rPr>
              <a:t>Optional third tab, prop-loft/prop-loft: a README and a LICENSE, nothing else yet. (Open the </a:t>
            </a:r>
            <a:r>
              <a:rPr lang="en-US" sz="1650" b="1">
                <a:solidFill>
                  <a:srgbClr val="14233A"/>
                </a:solidFill>
                <a:latin typeface="Calibri" pitchFamily="34" charset="0"/>
                <a:ea typeface="Calibri" pitchFamily="34" charset="-122"/>
                <a:cs typeface="Calibri" pitchFamily="34" charset="-120"/>
              </a:rPr>
              <a:t>session-13 tag) That's </a:t>
            </a:r>
            <a:r>
              <a:rPr lang="en-US" sz="1650" b="1" dirty="0">
                <a:solidFill>
                  <a:srgbClr val="14233A"/>
                </a:solidFill>
                <a:latin typeface="Calibri" pitchFamily="34" charset="0"/>
                <a:ea typeface="Calibri" pitchFamily="34" charset="-122"/>
                <a:cs typeface="Calibri" pitchFamily="34" charset="-120"/>
              </a:rPr>
              <a:t>probably where your repo is today.</a:t>
            </a:r>
            <a:endParaRPr lang="en-US" sz="1650" dirty="0"/>
          </a:p>
        </p:txBody>
      </p:sp>
      <p:sp>
        <p:nvSpPr>
          <p:cNvPr id="21" name="Text 1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15 · The Front Door</a:t>
            </a:r>
            <a:endParaRPr lang="en-US" sz="1000" dirty="0"/>
          </a:p>
        </p:txBody>
      </p:sp>
      <p:sp>
        <p:nvSpPr>
          <p:cNvPr id="22" name="Text 1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STRONG · TEXTUALIZE/RICH</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What a stranger finds, and what it costs</a:t>
            </a:r>
            <a:endParaRPr lang="en-US" sz="3100" dirty="0"/>
          </a:p>
        </p:txBody>
      </p:sp>
      <p:sp>
        <p:nvSpPr>
          <p:cNvPr id="5" name="Shape 3"/>
          <p:cNvSpPr/>
          <p:nvPr/>
        </p:nvSpPr>
        <p:spPr>
          <a:xfrm>
            <a:off x="548640" y="178308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777240" y="189280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README</a:t>
            </a:r>
            <a:endParaRPr lang="en-US" sz="1800" dirty="0"/>
          </a:p>
        </p:txBody>
      </p:sp>
      <p:sp>
        <p:nvSpPr>
          <p:cNvPr id="7" name="Text 5"/>
          <p:cNvSpPr/>
          <p:nvPr/>
        </p:nvSpPr>
        <p:spPr>
          <a:xfrm>
            <a:off x="777240" y="235000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One line on what it is, then a screenshot. But it sits under twenty lines of badges and translations. Even a strong door has a weak spot.</a:t>
            </a:r>
            <a:endParaRPr lang="en-US" sz="1500" dirty="0"/>
          </a:p>
        </p:txBody>
      </p:sp>
      <p:sp>
        <p:nvSpPr>
          <p:cNvPr id="8" name="Shape 6"/>
          <p:cNvSpPr/>
          <p:nvPr/>
        </p:nvSpPr>
        <p:spPr>
          <a:xfrm>
            <a:off x="4297680" y="178308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4526280" y="189280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CONTRIBUTING</a:t>
            </a:r>
            <a:endParaRPr lang="en-US" sz="1800" dirty="0"/>
          </a:p>
        </p:txBody>
      </p:sp>
      <p:sp>
        <p:nvSpPr>
          <p:cNvPr id="10" name="Text 8"/>
          <p:cNvSpPr/>
          <p:nvPr/>
        </p:nvSpPr>
        <p:spPr>
          <a:xfrm>
            <a:off x="4526280" y="235000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Opens with a welcome and a rule: typo fixes go straight to a PR, features start as an issue. Then setup, step by step.</a:t>
            </a:r>
            <a:endParaRPr lang="en-US" sz="1500" dirty="0"/>
          </a:p>
        </p:txBody>
      </p:sp>
      <p:sp>
        <p:nvSpPr>
          <p:cNvPr id="11" name="Shape 9"/>
          <p:cNvSpPr/>
          <p:nvPr/>
        </p:nvSpPr>
        <p:spPr>
          <a:xfrm>
            <a:off x="8046720" y="178308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275320" y="189280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AI_POLICY.md</a:t>
            </a:r>
            <a:endParaRPr lang="en-US" sz="1800" dirty="0"/>
          </a:p>
        </p:txBody>
      </p:sp>
      <p:sp>
        <p:nvSpPr>
          <p:cNvPr id="13" name="Text 11"/>
          <p:cNvSpPr/>
          <p:nvPr/>
        </p:nvSpPr>
        <p:spPr>
          <a:xfrm>
            <a:off x="8275320" y="235000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Three rules for AI-generated PRs: fill in the template, name the agent, link an approved issue. Decided once, in writing.</a:t>
            </a:r>
            <a:endParaRPr lang="en-US" sz="1500" dirty="0"/>
          </a:p>
        </p:txBody>
      </p:sp>
      <p:sp>
        <p:nvSpPr>
          <p:cNvPr id="14" name="Shape 12"/>
          <p:cNvSpPr/>
          <p:nvPr/>
        </p:nvSpPr>
        <p:spPr>
          <a:xfrm>
            <a:off x="548640" y="402336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777240" y="413308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Bug template</a:t>
            </a:r>
            <a:endParaRPr lang="en-US" sz="1800" dirty="0"/>
          </a:p>
        </p:txBody>
      </p:sp>
      <p:sp>
        <p:nvSpPr>
          <p:cNvPr id="16" name="Text 14"/>
          <p:cNvSpPr/>
          <p:nvPr/>
        </p:nvSpPr>
        <p:spPr>
          <a:xfrm>
            <a:off x="777240" y="459028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Search closed issues first. Give a runnable example. Run one command, python -m rich.diagnose, to capture the environment.</a:t>
            </a:r>
            <a:endParaRPr lang="en-US" sz="1500" dirty="0"/>
          </a:p>
        </p:txBody>
      </p:sp>
      <p:sp>
        <p:nvSpPr>
          <p:cNvPr id="17" name="Shape 15"/>
          <p:cNvSpPr/>
          <p:nvPr/>
        </p:nvSpPr>
        <p:spPr>
          <a:xfrm>
            <a:off x="4297680" y="402336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4526280" y="413308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Saying no</a:t>
            </a:r>
            <a:endParaRPr lang="en-US" sz="1800" dirty="0"/>
          </a:p>
        </p:txBody>
      </p:sp>
      <p:sp>
        <p:nvSpPr>
          <p:cNvPr id="19" name="Text 17"/>
          <p:cNvSpPr/>
          <p:nvPr/>
        </p:nvSpPr>
        <p:spPr>
          <a:xfrm>
            <a:off x="4526280" y="459028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The template says Rich isn't taking new features. The reading's "learning to say no," done once instead of in every thread.</a:t>
            </a:r>
            <a:endParaRPr lang="en-US" sz="1500" dirty="0"/>
          </a:p>
        </p:txBody>
      </p:sp>
      <p:sp>
        <p:nvSpPr>
          <p:cNvPr id="20" name="Shape 18"/>
          <p:cNvSpPr/>
          <p:nvPr/>
        </p:nvSpPr>
        <p:spPr>
          <a:xfrm>
            <a:off x="8046720" y="4023360"/>
            <a:ext cx="3566160" cy="20574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8275320" y="4133088"/>
            <a:ext cx="310896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Triage labels</a:t>
            </a:r>
            <a:endParaRPr lang="en-US" sz="1800" dirty="0"/>
          </a:p>
        </p:txBody>
      </p:sp>
      <p:sp>
        <p:nvSpPr>
          <p:cNvPr id="22" name="Text 20"/>
          <p:cNvSpPr/>
          <p:nvPr/>
        </p:nvSpPr>
        <p:spPr>
          <a:xfrm>
            <a:off x="8275320" y="4590288"/>
            <a:ext cx="3108960" cy="1371600"/>
          </a:xfrm>
          <a:prstGeom prst="rect">
            <a:avLst/>
          </a:prstGeom>
          <a:noFill/>
          <a:ln/>
        </p:spPr>
        <p:txBody>
          <a:bodyPr wrap="square" lIns="0" tIns="0" rIns="0" bIns="0" rtlCol="0" anchor="t"/>
          <a:lstStyle/>
          <a:p>
            <a:pPr marL="0" indent="0">
              <a:lnSpc>
                <a:spcPct val="103000"/>
              </a:lnSpc>
              <a:buNone/>
            </a:pPr>
            <a:r>
              <a:rPr lang="en-US" sz="1500" dirty="0">
                <a:solidFill>
                  <a:srgbClr val="1E2A36"/>
                </a:solidFill>
                <a:latin typeface="Calibri" pitchFamily="34" charset="0"/>
                <a:ea typeface="Calibri" pitchFamily="34" charset="-122"/>
                <a:cs typeface="Calibri" pitchFamily="34" charset="-120"/>
              </a:rPr>
              <a:t>Needs triage · more information needed · Can't reproduce · good first issue</a:t>
            </a:r>
            <a:endParaRPr lang="en-US" sz="150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WEAK · DAGORYM/SSW</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content exists. The front door doesn't.</a:t>
            </a:r>
            <a:endParaRPr lang="en-US" sz="3100" dirty="0"/>
          </a:p>
        </p:txBody>
      </p:sp>
      <p:sp>
        <p:nvSpPr>
          <p:cNvPr id="5" name="Shape 3"/>
          <p:cNvSpPr/>
          <p:nvPr/>
        </p:nvSpPr>
        <p:spPr>
          <a:xfrm>
            <a:off x="548640" y="1783080"/>
            <a:ext cx="5440680" cy="3246120"/>
          </a:xfrm>
          <a:prstGeom prst="roundRect">
            <a:avLst>
              <a:gd name="adj" fmla="val 2535"/>
            </a:avLst>
          </a:prstGeom>
          <a:solidFill>
            <a:srgbClr val="FBECE8"/>
          </a:solidFill>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68680" y="1920240"/>
            <a:ext cx="4846320" cy="457200"/>
          </a:xfrm>
          <a:prstGeom prst="rect">
            <a:avLst/>
          </a:prstGeom>
          <a:noFill/>
          <a:ln/>
        </p:spPr>
        <p:txBody>
          <a:bodyPr wrap="square" lIns="0" tIns="0" rIns="0" bIns="0" rtlCol="0" anchor="ctr"/>
          <a:lstStyle/>
          <a:p>
            <a:pPr marL="0" indent="0">
              <a:buNone/>
            </a:pPr>
            <a:r>
              <a:rPr lang="en-US" sz="1900" b="1" dirty="0">
                <a:solidFill>
                  <a:srgbClr val="D9614C"/>
                </a:solidFill>
                <a:latin typeface="Calibri" pitchFamily="34" charset="0"/>
                <a:ea typeface="Calibri" pitchFamily="34" charset="-122"/>
                <a:cs typeface="Calibri" pitchFamily="34" charset="-120"/>
              </a:rPr>
              <a:t>What a stranger can't find</a:t>
            </a:r>
            <a:endParaRPr lang="en-US" sz="1900" dirty="0"/>
          </a:p>
        </p:txBody>
      </p:sp>
      <p:sp>
        <p:nvSpPr>
          <p:cNvPr id="7" name="Text 5"/>
          <p:cNvSpPr/>
          <p:nvPr/>
        </p:nvSpPr>
        <p:spPr>
          <a:xfrm>
            <a:off x="868680" y="2468880"/>
            <a:ext cx="4892040" cy="2468880"/>
          </a:xfrm>
          <a:prstGeom prst="rect">
            <a:avLst/>
          </a:prstGeom>
          <a:noFill/>
          <a:ln/>
        </p:spPr>
        <p:txBody>
          <a:bodyPr wrap="square" lIns="0" tIns="0" rIns="0" bIns="0" rtlCol="0" anchor="t"/>
          <a:lstStyle/>
          <a:p>
            <a:pPr marL="203200" indent="-203200">
              <a:spcAft>
                <a:spcPts val="700"/>
              </a:spcAft>
              <a:buSzPct val="100000"/>
              <a:buChar char="•"/>
            </a:pPr>
            <a:r>
              <a:rPr lang="en-US" sz="1650" dirty="0">
                <a:solidFill>
                  <a:srgbClr val="1E2A36"/>
                </a:solidFill>
                <a:latin typeface="Calibri" pitchFamily="34" charset="0"/>
                <a:ea typeface="Calibri" pitchFamily="34" charset="-122"/>
                <a:cs typeface="Calibri" pitchFamily="34" charset="-120"/>
              </a:rPr>
              <a:t>No README: GitHub shows a file list as the front page</a:t>
            </a:r>
            <a:endParaRPr lang="en-US" sz="1650" dirty="0"/>
          </a:p>
          <a:p>
            <a:pPr marL="203200" indent="-203200">
              <a:spcAft>
                <a:spcPts val="700"/>
              </a:spcAft>
              <a:buSzPct val="100000"/>
              <a:buChar char="•"/>
            </a:pPr>
            <a:r>
              <a:rPr lang="en-US" sz="1650" dirty="0">
                <a:solidFill>
                  <a:srgbClr val="1E2A36"/>
                </a:solidFill>
                <a:latin typeface="Calibri" pitchFamily="34" charset="0"/>
                <a:ea typeface="Calibri" pitchFamily="34" charset="-122"/>
                <a:cs typeface="Calibri" pitchFamily="34" charset="-120"/>
              </a:rPr>
              <a:t>No LICENSE: legally, all rights reserved. Nobody may use it.</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No CONTRIBUTING, code of conduct, or templates</a:t>
            </a:r>
            <a:endParaRPr lang="en-US" sz="1650" dirty="0"/>
          </a:p>
        </p:txBody>
      </p:sp>
      <p:sp>
        <p:nvSpPr>
          <p:cNvPr id="8" name="Shape 6"/>
          <p:cNvSpPr/>
          <p:nvPr/>
        </p:nvSpPr>
        <p:spPr>
          <a:xfrm>
            <a:off x="6172200" y="1783080"/>
            <a:ext cx="5440680" cy="3246120"/>
          </a:xfrm>
          <a:prstGeom prst="roundRect">
            <a:avLst>
              <a:gd name="adj" fmla="val 2535"/>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6492240" y="1920240"/>
            <a:ext cx="4846320" cy="457200"/>
          </a:xfrm>
          <a:prstGeom prst="rect">
            <a:avLst/>
          </a:prstGeom>
          <a:noFill/>
          <a:ln/>
        </p:spPr>
        <p:txBody>
          <a:bodyPr wrap="square" lIns="0" tIns="0" rIns="0" bIns="0" rtlCol="0" anchor="ctr"/>
          <a:lstStyle/>
          <a:p>
            <a:pPr marL="0" indent="0">
              <a:buNone/>
            </a:pPr>
            <a:r>
              <a:rPr lang="en-US" sz="1900" b="1" dirty="0">
                <a:solidFill>
                  <a:srgbClr val="0E6E6D"/>
                </a:solidFill>
                <a:latin typeface="Calibri" pitchFamily="34" charset="0"/>
                <a:ea typeface="Calibri" pitchFamily="34" charset="-122"/>
                <a:cs typeface="Calibri" pitchFamily="34" charset="-120"/>
              </a:rPr>
              <a:t>What's committed instead</a:t>
            </a:r>
            <a:endParaRPr lang="en-US" sz="1900" dirty="0"/>
          </a:p>
        </p:txBody>
      </p:sp>
      <p:sp>
        <p:nvSpPr>
          <p:cNvPr id="10" name="Text 8"/>
          <p:cNvSpPr/>
          <p:nvPr/>
        </p:nvSpPr>
        <p:spPr>
          <a:xfrm>
            <a:off x="6492240" y="2468880"/>
            <a:ext cx="4892040" cy="2468880"/>
          </a:xfrm>
          <a:prstGeom prst="rect">
            <a:avLst/>
          </a:prstGeom>
          <a:noFill/>
          <a:ln/>
        </p:spPr>
        <p:txBody>
          <a:bodyPr wrap="square" lIns="0" tIns="0" rIns="0" bIns="0" rtlCol="0" anchor="t"/>
          <a:lstStyle/>
          <a:p>
            <a:pPr marL="203200" indent="-203200">
              <a:spcAft>
                <a:spcPts val="700"/>
              </a:spcAft>
              <a:buSzPct val="100000"/>
              <a:buChar char="•"/>
            </a:pPr>
            <a:r>
              <a:rPr lang="en-US" sz="1650" dirty="0">
                <a:solidFill>
                  <a:srgbClr val="1E2A36"/>
                </a:solidFill>
                <a:latin typeface="Calibri" pitchFamily="34" charset="0"/>
                <a:ea typeface="Calibri" pitchFamily="34" charset="-122"/>
                <a:cs typeface="Calibri" pitchFamily="34" charset="-120"/>
              </a:rPr>
              <a:t>AGENTS.md, CLAUDE.md, and Copilot instructions</a:t>
            </a:r>
            <a:endParaRPr lang="en-US" sz="1650" dirty="0"/>
          </a:p>
          <a:p>
            <a:pPr marL="203200" indent="-203200">
              <a:spcAft>
                <a:spcPts val="700"/>
              </a:spcAft>
              <a:buSzPct val="100000"/>
              <a:buChar char="•"/>
            </a:pPr>
            <a:r>
              <a:rPr lang="en-US" sz="1650" dirty="0">
                <a:solidFill>
                  <a:srgbClr val="1E2A36"/>
                </a:solidFill>
                <a:latin typeface="Calibri" pitchFamily="34" charset="0"/>
                <a:ea typeface="Calibri" pitchFamily="34" charset="-122"/>
                <a:cs typeface="Calibri" pitchFamily="34" charset="-120"/>
              </a:rPr>
              <a:t>An IDE settings folder, .idea/</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A real user's guide and roadmap, buried in doc/</a:t>
            </a:r>
            <a:endParaRPr lang="en-US" sz="1650" dirty="0"/>
          </a:p>
        </p:txBody>
      </p:sp>
      <p:sp>
        <p:nvSpPr>
          <p:cNvPr id="11" name="click-1"/>
          <p:cNvSpPr/>
          <p:nvPr/>
        </p:nvSpPr>
        <p:spPr>
          <a:xfrm>
            <a:off x="548640" y="5257800"/>
            <a:ext cx="11064240" cy="914400"/>
          </a:xfrm>
          <a:prstGeom prst="roundRect">
            <a:avLst>
              <a:gd name="adj" fmla="val 9000"/>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2" name="click-1"/>
          <p:cNvSpPr/>
          <p:nvPr/>
        </p:nvSpPr>
        <p:spPr>
          <a:xfrm>
            <a:off x="868680" y="5257800"/>
            <a:ext cx="10424160" cy="9144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The AI agents get a better front door than the humans do.</a:t>
            </a:r>
            <a:endParaRPr lang="en-US" sz="21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README ANATOMY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An onboarding document, not a spec</a:t>
            </a:r>
            <a:endParaRPr lang="en-US" sz="3100" dirty="0"/>
          </a:p>
        </p:txBody>
      </p:sp>
      <p:sp>
        <p:nvSpPr>
          <p:cNvPr id="5" name="Shape 3"/>
          <p:cNvSpPr/>
          <p:nvPr/>
        </p:nvSpPr>
        <p:spPr>
          <a:xfrm>
            <a:off x="548640" y="1783080"/>
            <a:ext cx="6949440" cy="667512"/>
          </a:xfrm>
          <a:prstGeom prst="roundRect">
            <a:avLst>
              <a:gd name="adj" fmla="val 12329"/>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685800" y="1783080"/>
            <a:ext cx="457200" cy="667512"/>
          </a:xfrm>
          <a:prstGeom prst="rect">
            <a:avLst/>
          </a:prstGeom>
          <a:noFill/>
          <a:ln/>
        </p:spPr>
        <p:txBody>
          <a:bodyPr wrap="square" lIns="0" tIns="0" rIns="0" bIns="0"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34440" y="1783080"/>
            <a:ext cx="6126480" cy="66751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One line: what it is, and who it's for</a:t>
            </a:r>
            <a:endParaRPr lang="en-US" sz="1700" dirty="0"/>
          </a:p>
          <a:p>
            <a:pPr marL="0" indent="0">
              <a:buNone/>
            </a:pPr>
            <a:r>
              <a:rPr lang="en-US" sz="1500" dirty="0">
                <a:solidFill>
                  <a:srgbClr val="CFE0E9"/>
                </a:solidFill>
                <a:latin typeface="Calibri" pitchFamily="34" charset="0"/>
                <a:ea typeface="Calibri" pitchFamily="34" charset="-122"/>
                <a:cs typeface="Calibri" pitchFamily="34" charset="-120"/>
              </a:rPr>
              <a:t>If a stranger can't repeat it, rewrite it</a:t>
            </a:r>
            <a:endParaRPr lang="en-US" sz="1700" dirty="0"/>
          </a:p>
        </p:txBody>
      </p:sp>
      <p:sp>
        <p:nvSpPr>
          <p:cNvPr id="8" name="Shape 6"/>
          <p:cNvSpPr/>
          <p:nvPr/>
        </p:nvSpPr>
        <p:spPr>
          <a:xfrm>
            <a:off x="548640" y="2560320"/>
            <a:ext cx="6949440" cy="667512"/>
          </a:xfrm>
          <a:prstGeom prst="roundRect">
            <a:avLst>
              <a:gd name="adj" fmla="val 123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685800" y="2560320"/>
            <a:ext cx="457200" cy="667512"/>
          </a:xfrm>
          <a:prstGeom prst="rect">
            <a:avLst/>
          </a:prstGeom>
          <a:noFill/>
          <a:ln/>
        </p:spPr>
        <p:txBody>
          <a:bodyPr wrap="square" lIns="0" tIns="0" rIns="0" bIns="0" rtlCol="0" anchor="ctr"/>
          <a:lstStyle/>
          <a:p>
            <a:pPr marL="0" indent="0" algn="ctr">
              <a:buNone/>
            </a:pPr>
            <a:r>
              <a:rPr lang="en-US" sz="2000" b="1" dirty="0">
                <a:solidFill>
                  <a:srgbClr val="12908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234440" y="2560320"/>
            <a:ext cx="6126480" cy="667512"/>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A screenshot or demo, if it's visual</a:t>
            </a:r>
            <a:endParaRPr lang="en-US" sz="1700" dirty="0"/>
          </a:p>
          <a:p>
            <a:pPr marL="0" indent="0">
              <a:buNone/>
            </a:pPr>
            <a:r>
              <a:rPr lang="en-US" sz="1500" dirty="0">
                <a:solidFill>
                  <a:srgbClr val="5F7284"/>
                </a:solidFill>
                <a:latin typeface="Calibri" pitchFamily="34" charset="0"/>
                <a:ea typeface="Calibri" pitchFamily="34" charset="-122"/>
                <a:cs typeface="Calibri" pitchFamily="34" charset="-120"/>
              </a:rPr>
              <a:t>Showing beats describing</a:t>
            </a:r>
            <a:endParaRPr lang="en-US" sz="1700" dirty="0"/>
          </a:p>
        </p:txBody>
      </p:sp>
      <p:sp>
        <p:nvSpPr>
          <p:cNvPr id="11" name="Shape 9"/>
          <p:cNvSpPr/>
          <p:nvPr/>
        </p:nvSpPr>
        <p:spPr>
          <a:xfrm>
            <a:off x="548640" y="3337560"/>
            <a:ext cx="6949440" cy="667512"/>
          </a:xfrm>
          <a:prstGeom prst="roundRect">
            <a:avLst>
              <a:gd name="adj" fmla="val 12329"/>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685800" y="3337560"/>
            <a:ext cx="457200" cy="667512"/>
          </a:xfrm>
          <a:prstGeom prst="rect">
            <a:avLst/>
          </a:prstGeom>
          <a:noFill/>
          <a:ln/>
        </p:spPr>
        <p:txBody>
          <a:bodyPr wrap="square" lIns="0" tIns="0" rIns="0" bIns="0"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234440" y="3337560"/>
            <a:ext cx="6126480" cy="66751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quickstart that actually works</a:t>
            </a:r>
            <a:endParaRPr lang="en-US" sz="1700" dirty="0"/>
          </a:p>
          <a:p>
            <a:pPr marL="0" indent="0">
              <a:buNone/>
            </a:pPr>
            <a:r>
              <a:rPr lang="en-US" sz="1500" dirty="0">
                <a:solidFill>
                  <a:srgbClr val="CFE0E9"/>
                </a:solidFill>
                <a:latin typeface="Calibri" pitchFamily="34" charset="0"/>
                <a:ea typeface="Calibri" pitchFamily="34" charset="-122"/>
                <a:cs typeface="Calibri" pitchFamily="34" charset="-120"/>
              </a:rPr>
              <a:t>Nothing runs yet? Say so, and point to docs/setup.md</a:t>
            </a:r>
            <a:endParaRPr lang="en-US" sz="1700" dirty="0"/>
          </a:p>
        </p:txBody>
      </p:sp>
      <p:sp>
        <p:nvSpPr>
          <p:cNvPr id="14" name="Shape 12"/>
          <p:cNvSpPr/>
          <p:nvPr/>
        </p:nvSpPr>
        <p:spPr>
          <a:xfrm>
            <a:off x="548640" y="4114800"/>
            <a:ext cx="6949440" cy="667512"/>
          </a:xfrm>
          <a:prstGeom prst="roundRect">
            <a:avLst>
              <a:gd name="adj" fmla="val 123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685800" y="4114800"/>
            <a:ext cx="457200" cy="667512"/>
          </a:xfrm>
          <a:prstGeom prst="rect">
            <a:avLst/>
          </a:prstGeom>
          <a:noFill/>
          <a:ln/>
        </p:spPr>
        <p:txBody>
          <a:bodyPr wrap="square" lIns="0" tIns="0" rIns="0" bIns="0" rtlCol="0" anchor="ctr"/>
          <a:lstStyle/>
          <a:p>
            <a:pPr marL="0" indent="0" algn="ctr">
              <a:buNone/>
            </a:pPr>
            <a:r>
              <a:rPr lang="en-US" sz="2000" b="1" dirty="0">
                <a:solidFill>
                  <a:srgbClr val="12908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234440" y="4114800"/>
            <a:ext cx="6126480" cy="667512"/>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How to contribute</a:t>
            </a:r>
            <a:endParaRPr lang="en-US" sz="1700" dirty="0"/>
          </a:p>
          <a:p>
            <a:pPr marL="0" indent="0">
              <a:buNone/>
            </a:pPr>
            <a:r>
              <a:rPr lang="en-US" sz="1500" dirty="0">
                <a:solidFill>
                  <a:srgbClr val="5F7284"/>
                </a:solidFill>
                <a:latin typeface="Calibri" pitchFamily="34" charset="0"/>
                <a:ea typeface="Calibri" pitchFamily="34" charset="-122"/>
                <a:cs typeface="Calibri" pitchFamily="34" charset="-120"/>
              </a:rPr>
              <a:t>One line and a link to CONTRIBUTING</a:t>
            </a:r>
            <a:endParaRPr lang="en-US" sz="1700" dirty="0"/>
          </a:p>
        </p:txBody>
      </p:sp>
      <p:sp>
        <p:nvSpPr>
          <p:cNvPr id="17" name="Shape 15"/>
          <p:cNvSpPr/>
          <p:nvPr/>
        </p:nvSpPr>
        <p:spPr>
          <a:xfrm>
            <a:off x="548640" y="4892040"/>
            <a:ext cx="6949440" cy="667512"/>
          </a:xfrm>
          <a:prstGeom prst="roundRect">
            <a:avLst>
              <a:gd name="adj" fmla="val 123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685800" y="4892040"/>
            <a:ext cx="457200" cy="667512"/>
          </a:xfrm>
          <a:prstGeom prst="rect">
            <a:avLst/>
          </a:prstGeom>
          <a:noFill/>
          <a:ln/>
        </p:spPr>
        <p:txBody>
          <a:bodyPr wrap="square" lIns="0" tIns="0" rIns="0" bIns="0" rtlCol="0" anchor="ctr"/>
          <a:lstStyle/>
          <a:p>
            <a:pPr marL="0" indent="0" algn="ctr">
              <a:buNone/>
            </a:pPr>
            <a:r>
              <a:rPr lang="en-US" sz="2000" b="1" dirty="0">
                <a:solidFill>
                  <a:srgbClr val="12908F"/>
                </a:solidFill>
                <a:latin typeface="Cambria" pitchFamily="34" charset="0"/>
                <a:ea typeface="Cambria" pitchFamily="34" charset="-122"/>
                <a:cs typeface="Cambria" pitchFamily="34" charset="-120"/>
              </a:rPr>
              <a:t>5</a:t>
            </a:r>
            <a:endParaRPr lang="en-US" sz="2000" dirty="0"/>
          </a:p>
        </p:txBody>
      </p:sp>
      <p:sp>
        <p:nvSpPr>
          <p:cNvPr id="19" name="Text 17"/>
          <p:cNvSpPr/>
          <p:nvPr/>
        </p:nvSpPr>
        <p:spPr>
          <a:xfrm>
            <a:off x="1234440" y="4892040"/>
            <a:ext cx="6126480" cy="667512"/>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The license</a:t>
            </a:r>
            <a:endParaRPr lang="en-US" sz="1700" dirty="0"/>
          </a:p>
          <a:p>
            <a:pPr marL="0" indent="0">
              <a:buNone/>
            </a:pPr>
            <a:r>
              <a:rPr lang="en-US" sz="1500" dirty="0">
                <a:solidFill>
                  <a:srgbClr val="5F7284"/>
                </a:solidFill>
                <a:latin typeface="Calibri" pitchFamily="34" charset="0"/>
                <a:ea typeface="Calibri" pitchFamily="34" charset="-122"/>
                <a:cs typeface="Calibri" pitchFamily="34" charset="-120"/>
              </a:rPr>
              <a:t>One line and a link to LICENSE</a:t>
            </a:r>
            <a:endParaRPr lang="en-US" sz="1700" dirty="0"/>
          </a:p>
        </p:txBody>
      </p:sp>
      <p:sp>
        <p:nvSpPr>
          <p:cNvPr id="20" name="Shape 18"/>
          <p:cNvSpPr/>
          <p:nvPr/>
        </p:nvSpPr>
        <p:spPr>
          <a:xfrm>
            <a:off x="7726680" y="1783080"/>
            <a:ext cx="3886200" cy="3776472"/>
          </a:xfrm>
          <a:prstGeom prst="roundRect">
            <a:avLst>
              <a:gd name="adj" fmla="val 2179"/>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21" name="Shape 19"/>
          <p:cNvSpPr/>
          <p:nvPr/>
        </p:nvSpPr>
        <p:spPr>
          <a:xfrm>
            <a:off x="8001000" y="2011680"/>
            <a:ext cx="603504" cy="603504"/>
          </a:xfrm>
          <a:prstGeom prst="ellipse">
            <a:avLst/>
          </a:prstGeom>
          <a:solidFill>
            <a:srgbClr val="E8A33D"/>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8163946" y="2174626"/>
            <a:ext cx="277612" cy="277612"/>
          </a:xfrm>
          <a:prstGeom prst="rect">
            <a:avLst/>
          </a:prstGeom>
        </p:spPr>
      </p:pic>
      <p:sp>
        <p:nvSpPr>
          <p:cNvPr id="23" name="Text 20"/>
          <p:cNvSpPr/>
          <p:nvPr/>
        </p:nvSpPr>
        <p:spPr>
          <a:xfrm>
            <a:off x="8001000" y="2743200"/>
            <a:ext cx="3383280" cy="731520"/>
          </a:xfrm>
          <a:prstGeom prst="rect">
            <a:avLst/>
          </a:prstGeom>
          <a:noFill/>
          <a:ln/>
        </p:spPr>
        <p:txBody>
          <a:bodyPr wrap="square" lIns="0" tIns="0" rIns="0" bIns="0" rtlCol="0" anchor="t"/>
          <a:lstStyle/>
          <a:p>
            <a:pPr marL="0" indent="0">
              <a:buNone/>
            </a:pPr>
            <a:r>
              <a:rPr lang="en-US" sz="1800" b="1" dirty="0">
                <a:solidFill>
                  <a:srgbClr val="0E6E6D"/>
                </a:solidFill>
                <a:latin typeface="Calibri" pitchFamily="34" charset="0"/>
                <a:ea typeface="Calibri" pitchFamily="34" charset="-122"/>
                <a:cs typeface="Calibri" pitchFamily="34" charset="-120"/>
              </a:rPr>
              <a:t>The hardest sentence of the week</a:t>
            </a:r>
            <a:endParaRPr lang="en-US" sz="1800" dirty="0"/>
          </a:p>
        </p:txBody>
      </p:sp>
      <p:sp>
        <p:nvSpPr>
          <p:cNvPr id="24" name="Text 21"/>
          <p:cNvSpPr/>
          <p:nvPr/>
        </p:nvSpPr>
        <p:spPr>
          <a:xfrm>
            <a:off x="8001000" y="3520440"/>
            <a:ext cx="3383280" cy="1920240"/>
          </a:xfrm>
          <a:prstGeom prst="rect">
            <a:avLst/>
          </a:prstGeom>
          <a:noFill/>
          <a:ln/>
        </p:spPr>
        <p:txBody>
          <a:bodyPr wrap="square" lIns="0" tIns="0" rIns="0" bIns="0" rtlCol="0" anchor="t"/>
          <a:lstStyle/>
          <a:p>
            <a:pPr marL="0" indent="0">
              <a:lnSpc>
                <a:spcPct val="105000"/>
              </a:lnSpc>
              <a:buNone/>
            </a:pPr>
            <a:r>
              <a:rPr lang="en-US" sz="1600" dirty="0">
                <a:solidFill>
                  <a:srgbClr val="1E2A36"/>
                </a:solidFill>
                <a:latin typeface="Calibri" pitchFamily="34" charset="0"/>
                <a:ea typeface="Calibri" pitchFamily="34" charset="-122"/>
                <a:cs typeface="Calibri" pitchFamily="34" charset="-120"/>
              </a:rPr>
              <a:t>Your README's first sentence. Most first drafts describe the technology. A stranger needs the problem and who has it.</a:t>
            </a:r>
            <a:endParaRPr lang="en-US" sz="1600" dirty="0"/>
          </a:p>
        </p:txBody>
      </p:sp>
      <p:sp>
        <p:nvSpPr>
          <p:cNvPr id="25" name="Text 2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6" name="Text 2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PROCESS CAPITAL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Cheap to build now, expensive to retrofit</a:t>
            </a:r>
            <a:endParaRPr lang="en-US" sz="3100" dirty="0"/>
          </a:p>
        </p:txBody>
      </p:sp>
      <p:sp>
        <p:nvSpPr>
          <p:cNvPr id="5" name="Shape 3"/>
          <p:cNvSpPr/>
          <p:nvPr/>
        </p:nvSpPr>
        <p:spPr>
          <a:xfrm>
            <a:off x="548640" y="1783080"/>
            <a:ext cx="2103120" cy="3200400"/>
          </a:xfrm>
          <a:prstGeom prst="roundRect">
            <a:avLst>
              <a:gd name="adj" fmla="val 391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1271016" y="2011680"/>
            <a:ext cx="658368" cy="658368"/>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448775" y="2189439"/>
            <a:ext cx="302849" cy="302849"/>
          </a:xfrm>
          <a:prstGeom prst="rect">
            <a:avLst/>
          </a:prstGeom>
        </p:spPr>
      </p:pic>
      <p:sp>
        <p:nvSpPr>
          <p:cNvPr id="8" name="Text 5"/>
          <p:cNvSpPr/>
          <p:nvPr/>
        </p:nvSpPr>
        <p:spPr>
          <a:xfrm>
            <a:off x="640080" y="2834640"/>
            <a:ext cx="1920240" cy="68580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Issue templates</a:t>
            </a:r>
            <a:endParaRPr lang="en-US" sz="1800" dirty="0"/>
          </a:p>
        </p:txBody>
      </p:sp>
      <p:sp>
        <p:nvSpPr>
          <p:cNvPr id="9" name="Text 6"/>
          <p:cNvSpPr/>
          <p:nvPr/>
        </p:nvSpPr>
        <p:spPr>
          <a:xfrm>
            <a:off x="685800" y="3520440"/>
            <a:ext cx="1828800" cy="1371600"/>
          </a:xfrm>
          <a:prstGeom prst="rect">
            <a:avLst/>
          </a:prstGeom>
          <a:noFill/>
          <a:ln/>
        </p:spPr>
        <p:txBody>
          <a:bodyPr wrap="square" lIns="0" tIns="0" rIns="0" bIns="0" rtlCol="0" anchor="t"/>
          <a:lstStyle/>
          <a:p>
            <a:pPr marL="0" indent="0" algn="ctr">
              <a:buNone/>
            </a:pPr>
            <a:r>
              <a:rPr lang="en-US" sz="1500" dirty="0">
                <a:solidFill>
                  <a:srgbClr val="5F7284"/>
                </a:solidFill>
                <a:latin typeface="Calibri" pitchFamily="34" charset="0"/>
                <a:ea typeface="Calibri" pitchFamily="34" charset="-122"/>
                <a:cs typeface="Calibri" pitchFamily="34" charset="-120"/>
              </a:rPr>
              <a:t>Every report arrives in the shape you asked for</a:t>
            </a:r>
            <a:endParaRPr lang="en-US" sz="1500" dirty="0"/>
          </a:p>
        </p:txBody>
      </p:sp>
      <p:sp>
        <p:nvSpPr>
          <p:cNvPr id="10" name="Shape 7"/>
          <p:cNvSpPr/>
          <p:nvPr/>
        </p:nvSpPr>
        <p:spPr>
          <a:xfrm>
            <a:off x="2788920" y="1783080"/>
            <a:ext cx="2103120" cy="3200400"/>
          </a:xfrm>
          <a:prstGeom prst="roundRect">
            <a:avLst>
              <a:gd name="adj" fmla="val 391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3511296" y="2011680"/>
            <a:ext cx="658368" cy="658368"/>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689055" y="2189439"/>
            <a:ext cx="302849" cy="302849"/>
          </a:xfrm>
          <a:prstGeom prst="rect">
            <a:avLst/>
          </a:prstGeom>
        </p:spPr>
      </p:pic>
      <p:sp>
        <p:nvSpPr>
          <p:cNvPr id="13" name="Text 9"/>
          <p:cNvSpPr/>
          <p:nvPr/>
        </p:nvSpPr>
        <p:spPr>
          <a:xfrm>
            <a:off x="2880360" y="2834640"/>
            <a:ext cx="1920240" cy="68580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A PR template</a:t>
            </a:r>
            <a:endParaRPr lang="en-US" sz="1800" dirty="0"/>
          </a:p>
        </p:txBody>
      </p:sp>
      <p:sp>
        <p:nvSpPr>
          <p:cNvPr id="14" name="Text 10"/>
          <p:cNvSpPr/>
          <p:nvPr/>
        </p:nvSpPr>
        <p:spPr>
          <a:xfrm>
            <a:off x="2926080" y="3520440"/>
            <a:ext cx="1828800" cy="1371600"/>
          </a:xfrm>
          <a:prstGeom prst="rect">
            <a:avLst/>
          </a:prstGeom>
          <a:noFill/>
          <a:ln/>
        </p:spPr>
        <p:txBody>
          <a:bodyPr wrap="square" lIns="0" tIns="0" rIns="0" bIns="0" rtlCol="0" anchor="t"/>
          <a:lstStyle/>
          <a:p>
            <a:pPr marL="0" indent="0" algn="ctr">
              <a:buNone/>
            </a:pPr>
            <a:r>
              <a:rPr lang="en-US" sz="1500" dirty="0">
                <a:solidFill>
                  <a:srgbClr val="5F7284"/>
                </a:solidFill>
                <a:latin typeface="Calibri" pitchFamily="34" charset="0"/>
                <a:ea typeface="Calibri" pitchFamily="34" charset="-122"/>
                <a:cs typeface="Calibri" pitchFamily="34" charset="-120"/>
              </a:rPr>
              <a:t>Your git standards, as a checklist the author sees</a:t>
            </a:r>
            <a:endParaRPr lang="en-US" sz="1500" dirty="0"/>
          </a:p>
        </p:txBody>
      </p:sp>
      <p:sp>
        <p:nvSpPr>
          <p:cNvPr id="15" name="Shape 11"/>
          <p:cNvSpPr/>
          <p:nvPr/>
        </p:nvSpPr>
        <p:spPr>
          <a:xfrm>
            <a:off x="5029200" y="1783080"/>
            <a:ext cx="2103120" cy="3200400"/>
          </a:xfrm>
          <a:prstGeom prst="roundRect">
            <a:avLst>
              <a:gd name="adj" fmla="val 391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5751576" y="2011680"/>
            <a:ext cx="658368" cy="658368"/>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5929335" y="2189439"/>
            <a:ext cx="302849" cy="302849"/>
          </a:xfrm>
          <a:prstGeom prst="rect">
            <a:avLst/>
          </a:prstGeom>
        </p:spPr>
      </p:pic>
      <p:sp>
        <p:nvSpPr>
          <p:cNvPr id="18" name="Text 13"/>
          <p:cNvSpPr/>
          <p:nvPr/>
        </p:nvSpPr>
        <p:spPr>
          <a:xfrm>
            <a:off x="5120640" y="2834640"/>
            <a:ext cx="1920240" cy="68580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Labels</a:t>
            </a:r>
            <a:endParaRPr lang="en-US" sz="1800" dirty="0"/>
          </a:p>
        </p:txBody>
      </p:sp>
      <p:sp>
        <p:nvSpPr>
          <p:cNvPr id="19" name="Text 14"/>
          <p:cNvSpPr/>
          <p:nvPr/>
        </p:nvSpPr>
        <p:spPr>
          <a:xfrm>
            <a:off x="5166360" y="3520440"/>
            <a:ext cx="1828800" cy="1371600"/>
          </a:xfrm>
          <a:prstGeom prst="rect">
            <a:avLst/>
          </a:prstGeom>
          <a:noFill/>
          <a:ln/>
        </p:spPr>
        <p:txBody>
          <a:bodyPr wrap="square" lIns="0" tIns="0" rIns="0" bIns="0" rtlCol="0" anchor="t"/>
          <a:lstStyle/>
          <a:p>
            <a:pPr marL="0" indent="0" algn="ctr">
              <a:buNone/>
            </a:pPr>
            <a:r>
              <a:rPr lang="en-US" sz="1500" dirty="0">
                <a:solidFill>
                  <a:srgbClr val="5F7284"/>
                </a:solidFill>
                <a:latin typeface="Calibri" pitchFamily="34" charset="0"/>
                <a:ea typeface="Calibri" pitchFamily="34" charset="-122"/>
                <a:cs typeface="Calibri" pitchFamily="34" charset="-120"/>
              </a:rPr>
              <a:t>bug · enhancement · good first issue: triage becomes possible</a:t>
            </a:r>
            <a:endParaRPr lang="en-US" sz="1500" dirty="0"/>
          </a:p>
        </p:txBody>
      </p:sp>
      <p:sp>
        <p:nvSpPr>
          <p:cNvPr id="20" name="Shape 15"/>
          <p:cNvSpPr/>
          <p:nvPr/>
        </p:nvSpPr>
        <p:spPr>
          <a:xfrm>
            <a:off x="7269480" y="1783080"/>
            <a:ext cx="2103120" cy="3200400"/>
          </a:xfrm>
          <a:prstGeom prst="roundRect">
            <a:avLst>
              <a:gd name="adj" fmla="val 391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7991856" y="2011680"/>
            <a:ext cx="658368" cy="658368"/>
          </a:xfrm>
          <a:prstGeom prst="ellipse">
            <a:avLst/>
          </a:prstGeom>
          <a:solidFill>
            <a:srgbClr val="12908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169615" y="2189439"/>
            <a:ext cx="302849" cy="302849"/>
          </a:xfrm>
          <a:prstGeom prst="rect">
            <a:avLst/>
          </a:prstGeom>
        </p:spPr>
      </p:pic>
      <p:sp>
        <p:nvSpPr>
          <p:cNvPr id="23" name="Text 17"/>
          <p:cNvSpPr/>
          <p:nvPr/>
        </p:nvSpPr>
        <p:spPr>
          <a:xfrm>
            <a:off x="7360920" y="2834640"/>
            <a:ext cx="1920240" cy="68580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Code of conduct</a:t>
            </a:r>
            <a:endParaRPr lang="en-US" sz="1800" dirty="0"/>
          </a:p>
        </p:txBody>
      </p:sp>
      <p:sp>
        <p:nvSpPr>
          <p:cNvPr id="24" name="Text 18"/>
          <p:cNvSpPr/>
          <p:nvPr/>
        </p:nvSpPr>
        <p:spPr>
          <a:xfrm>
            <a:off x="7406640" y="3520440"/>
            <a:ext cx="1828800" cy="1371600"/>
          </a:xfrm>
          <a:prstGeom prst="rect">
            <a:avLst/>
          </a:prstGeom>
          <a:noFill/>
          <a:ln/>
        </p:spPr>
        <p:txBody>
          <a:bodyPr wrap="square" lIns="0" tIns="0" rIns="0" bIns="0" rtlCol="0" anchor="t"/>
          <a:lstStyle/>
          <a:p>
            <a:pPr marL="0" indent="0" algn="ctr">
              <a:buNone/>
            </a:pPr>
            <a:r>
              <a:rPr lang="en-US" sz="1500" dirty="0">
                <a:solidFill>
                  <a:srgbClr val="5F7284"/>
                </a:solidFill>
                <a:latin typeface="Calibri" pitchFamily="34" charset="0"/>
                <a:ea typeface="Calibri" pitchFamily="34" charset="-122"/>
                <a:cs typeface="Calibri" pitchFamily="34" charset="-120"/>
              </a:rPr>
              <a:t>Adopt Contributor Covenant 3.0; fill in how to report</a:t>
            </a:r>
            <a:endParaRPr lang="en-US" sz="1500" dirty="0"/>
          </a:p>
        </p:txBody>
      </p:sp>
      <p:sp>
        <p:nvSpPr>
          <p:cNvPr id="25" name="Shape 19"/>
          <p:cNvSpPr/>
          <p:nvPr/>
        </p:nvSpPr>
        <p:spPr>
          <a:xfrm>
            <a:off x="9509760" y="1783080"/>
            <a:ext cx="2103120" cy="3200400"/>
          </a:xfrm>
          <a:prstGeom prst="roundRect">
            <a:avLst>
              <a:gd name="adj" fmla="val 391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0"/>
          <p:cNvSpPr/>
          <p:nvPr/>
        </p:nvSpPr>
        <p:spPr>
          <a:xfrm>
            <a:off x="10232136" y="2011680"/>
            <a:ext cx="658368" cy="658368"/>
          </a:xfrm>
          <a:prstGeom prst="ellipse">
            <a:avLst/>
          </a:prstGeom>
          <a:solidFill>
            <a:srgbClr val="12908F"/>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10409895" y="2189439"/>
            <a:ext cx="302849" cy="302849"/>
          </a:xfrm>
          <a:prstGeom prst="rect">
            <a:avLst/>
          </a:prstGeom>
        </p:spPr>
      </p:pic>
      <p:sp>
        <p:nvSpPr>
          <p:cNvPr id="28" name="Text 21"/>
          <p:cNvSpPr/>
          <p:nvPr/>
        </p:nvSpPr>
        <p:spPr>
          <a:xfrm>
            <a:off x="9601200" y="2834640"/>
            <a:ext cx="1920240" cy="685800"/>
          </a:xfrm>
          <a:prstGeom prst="rect">
            <a:avLst/>
          </a:prstGeom>
          <a:noFill/>
          <a:ln/>
        </p:spPr>
        <p:txBody>
          <a:bodyPr wrap="square" lIns="0" tIns="0" rIns="0" bIns="0" rtlCol="0" anchor="t"/>
          <a:lstStyle/>
          <a:p>
            <a:pPr marL="0" indent="0" algn="ctr">
              <a:buNone/>
            </a:pPr>
            <a:r>
              <a:rPr lang="en-US" sz="1800" b="1" dirty="0">
                <a:solidFill>
                  <a:srgbClr val="1E2A36"/>
                </a:solidFill>
                <a:latin typeface="Calibri" pitchFamily="34" charset="0"/>
                <a:ea typeface="Calibri" pitchFamily="34" charset="-122"/>
                <a:cs typeface="Calibri" pitchFamily="34" charset="-120"/>
              </a:rPr>
              <a:t>A roadmap</a:t>
            </a:r>
            <a:endParaRPr lang="en-US" sz="1800" dirty="0"/>
          </a:p>
        </p:txBody>
      </p:sp>
      <p:sp>
        <p:nvSpPr>
          <p:cNvPr id="29" name="Text 22"/>
          <p:cNvSpPr/>
          <p:nvPr/>
        </p:nvSpPr>
        <p:spPr>
          <a:xfrm>
            <a:off x="9646920" y="3520440"/>
            <a:ext cx="1828800" cy="1371600"/>
          </a:xfrm>
          <a:prstGeom prst="rect">
            <a:avLst/>
          </a:prstGeom>
          <a:noFill/>
          <a:ln/>
        </p:spPr>
        <p:txBody>
          <a:bodyPr wrap="square" lIns="0" tIns="0" rIns="0" bIns="0" rtlCol="0" anchor="t"/>
          <a:lstStyle/>
          <a:p>
            <a:pPr marL="0" indent="0" algn="ctr">
              <a:buNone/>
            </a:pPr>
            <a:r>
              <a:rPr lang="en-US" sz="1500" dirty="0">
                <a:solidFill>
                  <a:srgbClr val="5F7284"/>
                </a:solidFill>
                <a:latin typeface="Calibri" pitchFamily="34" charset="0"/>
                <a:ea typeface="Calibri" pitchFamily="34" charset="-122"/>
                <a:cs typeface="Calibri" pitchFamily="34" charset="-120"/>
              </a:rPr>
              <a:t>Where it's going, so newcomers can find a place in it</a:t>
            </a:r>
            <a:endParaRPr lang="en-US" sz="1500" dirty="0"/>
          </a:p>
        </p:txBody>
      </p:sp>
      <p:sp>
        <p:nvSpPr>
          <p:cNvPr id="30" name="Shape 23"/>
          <p:cNvSpPr/>
          <p:nvPr/>
        </p:nvSpPr>
        <p:spPr>
          <a:xfrm>
            <a:off x="548640" y="5212080"/>
            <a:ext cx="11064240" cy="960120"/>
          </a:xfrm>
          <a:prstGeom prst="roundRect">
            <a:avLst>
              <a:gd name="adj" fmla="val 8571"/>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31" name="Text 24"/>
          <p:cNvSpPr/>
          <p:nvPr/>
        </p:nvSpPr>
        <p:spPr>
          <a:xfrm>
            <a:off x="868680" y="5212080"/>
            <a:ext cx="10424160" cy="960120"/>
          </a:xfrm>
          <a:prstGeom prst="rect">
            <a:avLst/>
          </a:prstGeom>
          <a:noFill/>
          <a:ln/>
        </p:spPr>
        <p:txBody>
          <a:bodyPr wrap="square" lIns="0" tIns="0" rIns="0" bIns="0" rtlCol="0" anchor="ctr"/>
          <a:lstStyle/>
          <a:p>
            <a:pPr marL="0" indent="0">
              <a:lnSpc>
                <a:spcPct val="104000"/>
              </a:lnSpc>
              <a:buNone/>
            </a:pPr>
            <a:r>
              <a:rPr lang="en-US" sz="1600" b="1" dirty="0">
                <a:solidFill>
                  <a:srgbClr val="14233A"/>
                </a:solidFill>
                <a:latin typeface="Calibri" pitchFamily="34" charset="0"/>
                <a:ea typeface="Calibri" pitchFamily="34" charset="-122"/>
                <a:cs typeface="Calibri" pitchFamily="34" charset="-120"/>
              </a:rPr>
              <a:t>Adapt, don't invent, where a standard exists: license text, code of conduct. Write, don't copy, where your project is the content: README, setup, norms.</a:t>
            </a:r>
            <a:endParaRPr lang="en-US" sz="1600" dirty="0"/>
          </a:p>
        </p:txBody>
      </p:sp>
      <p:sp>
        <p:nvSpPr>
          <p:cNvPr id="32" name="Text 25"/>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33" name="Text 26"/>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LEARNING TO SAY NO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A written boundary is a promise you can keep</a:t>
            </a:r>
            <a:endParaRPr lang="en-US" sz="3100" dirty="0"/>
          </a:p>
        </p:txBody>
      </p:sp>
      <p:sp>
        <p:nvSpPr>
          <p:cNvPr id="5" name="Shape 3"/>
          <p:cNvSpPr/>
          <p:nvPr/>
        </p:nvSpPr>
        <p:spPr>
          <a:xfrm>
            <a:off x="548640" y="1783080"/>
            <a:ext cx="5440680" cy="3200400"/>
          </a:xfrm>
          <a:prstGeom prst="roundRect">
            <a:avLst>
              <a:gd name="adj" fmla="val 2571"/>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68680" y="1920240"/>
            <a:ext cx="484632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Rich, in its issue template</a:t>
            </a:r>
            <a:endParaRPr lang="en-US" sz="1800" dirty="0"/>
          </a:p>
        </p:txBody>
      </p:sp>
      <p:sp>
        <p:nvSpPr>
          <p:cNvPr id="7" name="Text 5"/>
          <p:cNvSpPr/>
          <p:nvPr/>
        </p:nvSpPr>
        <p:spPr>
          <a:xfrm>
            <a:off x="868680" y="2514600"/>
            <a:ext cx="4846320" cy="2286000"/>
          </a:xfrm>
          <a:prstGeom prst="rect">
            <a:avLst/>
          </a:prstGeom>
          <a:noFill/>
          <a:ln/>
        </p:spPr>
        <p:txBody>
          <a:bodyPr wrap="square" lIns="0" tIns="0" rIns="0" bIns="0" rtlCol="0" anchor="t"/>
          <a:lstStyle/>
          <a:p>
            <a:pPr marL="0" indent="0">
              <a:lnSpc>
                <a:spcPct val="106000"/>
              </a:lnSpc>
              <a:buNone/>
            </a:pPr>
            <a:r>
              <a:rPr lang="en-US" sz="1800" i="1" dirty="0">
                <a:solidFill>
                  <a:srgbClr val="1E2A36"/>
                </a:solidFill>
                <a:latin typeface="Cambria" pitchFamily="34" charset="0"/>
                <a:ea typeface="Cambria" pitchFamily="34" charset="-122"/>
                <a:cs typeface="Cambria" pitchFamily="34" charset="-120"/>
              </a:rPr>
              <a:t>"Rich isn't accepting new features. If it can be implemented in a third-party library, then that is what I recommend."</a:t>
            </a:r>
            <a:endParaRPr lang="en-US" sz="1800" dirty="0"/>
          </a:p>
        </p:txBody>
      </p:sp>
      <p:sp>
        <p:nvSpPr>
          <p:cNvPr id="8" name="click-1"/>
          <p:cNvSpPr/>
          <p:nvPr/>
        </p:nvSpPr>
        <p:spPr>
          <a:xfrm>
            <a:off x="6172200" y="1783080"/>
            <a:ext cx="5440680" cy="3200400"/>
          </a:xfrm>
          <a:prstGeom prst="roundRect">
            <a:avLst>
              <a:gd name="adj" fmla="val 2571"/>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9" name="click-1"/>
          <p:cNvSpPr/>
          <p:nvPr/>
        </p:nvSpPr>
        <p:spPr>
          <a:xfrm>
            <a:off x="6492240" y="1920240"/>
            <a:ext cx="4846320" cy="45720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lazygit, first line of CONTRIBUTING</a:t>
            </a:r>
            <a:endParaRPr lang="en-US" sz="1800" dirty="0"/>
          </a:p>
        </p:txBody>
      </p:sp>
      <p:sp>
        <p:nvSpPr>
          <p:cNvPr id="10" name="click-1"/>
          <p:cNvSpPr/>
          <p:nvPr/>
        </p:nvSpPr>
        <p:spPr>
          <a:xfrm>
            <a:off x="6492240" y="2514600"/>
            <a:ext cx="4846320" cy="914400"/>
          </a:xfrm>
          <a:prstGeom prst="rect">
            <a:avLst/>
          </a:prstGeom>
          <a:noFill/>
          <a:ln/>
        </p:spPr>
        <p:txBody>
          <a:bodyPr wrap="square" lIns="0" tIns="0" rIns="0" bIns="0" rtlCol="0" anchor="t"/>
          <a:lstStyle/>
          <a:p>
            <a:pPr marL="0" indent="0">
              <a:buNone/>
            </a:pPr>
            <a:r>
              <a:rPr lang="en-US" sz="1800" i="1" dirty="0">
                <a:solidFill>
                  <a:srgbClr val="1E2A36"/>
                </a:solidFill>
                <a:latin typeface="Cambria" pitchFamily="34" charset="0"/>
                <a:ea typeface="Cambria" pitchFamily="34" charset="-122"/>
                <a:cs typeface="Cambria" pitchFamily="34" charset="-120"/>
              </a:rPr>
              <a:t>"This project does not accept pull requests."</a:t>
            </a:r>
            <a:endParaRPr lang="en-US" sz="1800" dirty="0"/>
          </a:p>
        </p:txBody>
      </p:sp>
      <p:sp>
        <p:nvSpPr>
          <p:cNvPr id="11" name="click-1"/>
          <p:cNvSpPr/>
          <p:nvPr/>
        </p:nvSpPr>
        <p:spPr>
          <a:xfrm>
            <a:off x="6492240" y="3474720"/>
            <a:ext cx="4846320" cy="1371600"/>
          </a:xfrm>
          <a:prstGeom prst="rect">
            <a:avLst/>
          </a:prstGeom>
          <a:noFill/>
          <a:ln/>
        </p:spPr>
        <p:txBody>
          <a:bodyPr wrap="square" lIns="0" tIns="0" rIns="0" bIns="0" rtlCol="0" anchor="t"/>
          <a:lstStyle/>
          <a:p>
            <a:pPr marL="0" indent="0">
              <a:buNone/>
            </a:pPr>
            <a:r>
              <a:rPr lang="en-US" sz="1600" dirty="0">
                <a:solidFill>
                  <a:srgbClr val="5F7284"/>
                </a:solidFill>
                <a:latin typeface="Calibri" pitchFamily="34" charset="0"/>
                <a:ea typeface="Calibri" pitchFamily="34" charset="-122"/>
                <a:cs typeface="Calibri" pitchFamily="34" charset="-120"/>
              </a:rPr>
              <a:t>Then it explains why, honestly, and lists the contributions it does want: bug reports, feature ideas.</a:t>
            </a:r>
            <a:endParaRPr lang="en-US" sz="1600" dirty="0"/>
          </a:p>
        </p:txBody>
      </p:sp>
      <p:sp>
        <p:nvSpPr>
          <p:cNvPr id="12" name="click-2"/>
          <p:cNvSpPr/>
          <p:nvPr/>
        </p:nvSpPr>
        <p:spPr>
          <a:xfrm>
            <a:off x="548640" y="5212080"/>
            <a:ext cx="11064240" cy="960120"/>
          </a:xfrm>
          <a:prstGeom prst="roundRect">
            <a:avLst>
              <a:gd name="adj" fmla="val 8571"/>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3" name="click-2"/>
          <p:cNvSpPr/>
          <p:nvPr/>
        </p:nvSpPr>
        <p:spPr>
          <a:xfrm>
            <a:off x="868680" y="5212080"/>
            <a:ext cx="10424160" cy="9601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"Reviews within a week" is credible from a student project. "24/7 support" isn't. Promise only what you'll actually do.</a:t>
            </a:r>
            <a:endParaRPr lang="en-US" sz="17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LICENSE CLINIC · 12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Decide for real, as a project</a:t>
            </a:r>
            <a:endParaRPr lang="en-US" sz="3100" dirty="0"/>
          </a:p>
        </p:txBody>
      </p:sp>
      <p:sp>
        <p:nvSpPr>
          <p:cNvPr id="5" name="Shape 3"/>
          <p:cNvSpPr/>
          <p:nvPr/>
        </p:nvSpPr>
        <p:spPr>
          <a:xfrm>
            <a:off x="548640" y="1783080"/>
            <a:ext cx="3566160" cy="3154680"/>
          </a:xfrm>
          <a:prstGeom prst="roundRect">
            <a:avLst>
              <a:gd name="adj" fmla="val 260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01168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5906" y="2174626"/>
            <a:ext cx="277612" cy="277612"/>
          </a:xfrm>
          <a:prstGeom prst="rect">
            <a:avLst/>
          </a:prstGeom>
        </p:spPr>
      </p:pic>
      <p:sp>
        <p:nvSpPr>
          <p:cNvPr id="8" name="Text 5"/>
          <p:cNvSpPr/>
          <p:nvPr/>
        </p:nvSpPr>
        <p:spPr>
          <a:xfrm>
            <a:off x="822960" y="2743200"/>
            <a:ext cx="3017520" cy="777240"/>
          </a:xfrm>
          <a:prstGeom prst="rect">
            <a:avLst/>
          </a:prstGeom>
          <a:noFill/>
          <a:ln/>
        </p:spPr>
        <p:txBody>
          <a:bodyPr wrap="square" lIns="0" tIns="0" rIns="0" bIns="0" rtlCol="0" anchor="t"/>
          <a:lstStyle/>
          <a:p>
            <a:pPr marL="0" indent="0">
              <a:buNone/>
            </a:pPr>
            <a:r>
              <a:rPr lang="en-US" sz="1800" b="1" dirty="0">
                <a:solidFill>
                  <a:srgbClr val="1E2A36"/>
                </a:solidFill>
                <a:latin typeface="Calibri" pitchFamily="34" charset="0"/>
                <a:ea typeface="Calibri" pitchFamily="34" charset="-122"/>
                <a:cs typeface="Calibri" pitchFamily="34" charset="-120"/>
              </a:rPr>
              <a:t>Who should be able to use it?</a:t>
            </a:r>
            <a:endParaRPr lang="en-US" sz="1800" dirty="0"/>
          </a:p>
        </p:txBody>
      </p:sp>
      <p:sp>
        <p:nvSpPr>
          <p:cNvPr id="9" name="Text 6"/>
          <p:cNvSpPr/>
          <p:nvPr/>
        </p:nvSpPr>
        <p:spPr>
          <a:xfrm>
            <a:off x="822960" y="3566160"/>
            <a:ext cx="3017520" cy="1280160"/>
          </a:xfrm>
          <a:prstGeom prst="rect">
            <a:avLst/>
          </a:prstGeom>
          <a:noFill/>
          <a:ln/>
        </p:spPr>
        <p:txBody>
          <a:bodyPr wrap="square" lIns="0" tIns="0" rIns="0" bIns="0" rtlCol="0" anchor="t"/>
          <a:lstStyle/>
          <a:p>
            <a:pPr marL="0" indent="0">
              <a:lnSpc>
                <a:spcPct val="104000"/>
              </a:lnSpc>
              <a:buNone/>
            </a:pPr>
            <a:r>
              <a:rPr lang="en-US" sz="1550" dirty="0">
                <a:solidFill>
                  <a:srgbClr val="1E2A36"/>
                </a:solidFill>
                <a:latin typeface="Calibri" pitchFamily="34" charset="0"/>
                <a:ea typeface="Calibri" pitchFamily="34" charset="-122"/>
                <a:cs typeface="Calibri" pitchFamily="34" charset="-120"/>
              </a:rPr>
              <a:t>Anyone, freely, even in closed products: permissive. Improvements must come back: copyleft.</a:t>
            </a:r>
            <a:endParaRPr lang="en-US" sz="1550" dirty="0"/>
          </a:p>
        </p:txBody>
      </p:sp>
      <p:sp>
        <p:nvSpPr>
          <p:cNvPr id="10" name="Shape 7"/>
          <p:cNvSpPr/>
          <p:nvPr/>
        </p:nvSpPr>
        <p:spPr>
          <a:xfrm>
            <a:off x="4297680" y="1783080"/>
            <a:ext cx="3566160" cy="3154680"/>
          </a:xfrm>
          <a:prstGeom prst="roundRect">
            <a:avLst>
              <a:gd name="adj" fmla="val 260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4572000" y="2011680"/>
            <a:ext cx="603504" cy="603504"/>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734946" y="2174626"/>
            <a:ext cx="277612" cy="277612"/>
          </a:xfrm>
          <a:prstGeom prst="rect">
            <a:avLst/>
          </a:prstGeom>
        </p:spPr>
      </p:pic>
      <p:sp>
        <p:nvSpPr>
          <p:cNvPr id="13" name="Text 9"/>
          <p:cNvSpPr/>
          <p:nvPr/>
        </p:nvSpPr>
        <p:spPr>
          <a:xfrm>
            <a:off x="4572000" y="2743200"/>
            <a:ext cx="3017520" cy="777240"/>
          </a:xfrm>
          <a:prstGeom prst="rect">
            <a:avLst/>
          </a:prstGeom>
          <a:noFill/>
          <a:ln/>
        </p:spPr>
        <p:txBody>
          <a:bodyPr wrap="square" lIns="0" tIns="0" rIns="0" bIns="0" rtlCol="0" anchor="t"/>
          <a:lstStyle/>
          <a:p>
            <a:pPr marL="0" indent="0">
              <a:buNone/>
            </a:pPr>
            <a:r>
              <a:rPr lang="en-US" sz="1800" b="1" dirty="0">
                <a:solidFill>
                  <a:srgbClr val="1E2A36"/>
                </a:solidFill>
                <a:latin typeface="Calibri" pitchFamily="34" charset="0"/>
                <a:ea typeface="Calibri" pitchFamily="34" charset="-122"/>
                <a:cs typeface="Calibri" pitchFamily="34" charset="-120"/>
              </a:rPr>
              <a:t>Do you want a patent grant?</a:t>
            </a:r>
            <a:endParaRPr lang="en-US" sz="1800" dirty="0"/>
          </a:p>
        </p:txBody>
      </p:sp>
      <p:sp>
        <p:nvSpPr>
          <p:cNvPr id="14" name="Text 10"/>
          <p:cNvSpPr/>
          <p:nvPr/>
        </p:nvSpPr>
        <p:spPr>
          <a:xfrm>
            <a:off x="4572000" y="3566160"/>
            <a:ext cx="3017520" cy="1280160"/>
          </a:xfrm>
          <a:prstGeom prst="rect">
            <a:avLst/>
          </a:prstGeom>
          <a:noFill/>
          <a:ln/>
        </p:spPr>
        <p:txBody>
          <a:bodyPr wrap="square" lIns="0" tIns="0" rIns="0" bIns="0" rtlCol="0" anchor="t"/>
          <a:lstStyle/>
          <a:p>
            <a:pPr marL="0" indent="0">
              <a:lnSpc>
                <a:spcPct val="104000"/>
              </a:lnSpc>
              <a:buNone/>
            </a:pPr>
            <a:r>
              <a:rPr lang="en-US" sz="1550" dirty="0">
                <a:solidFill>
                  <a:srgbClr val="1E2A36"/>
                </a:solidFill>
                <a:latin typeface="Calibri" pitchFamily="34" charset="0"/>
                <a:ea typeface="Calibri" pitchFamily="34" charset="-122"/>
                <a:cs typeface="Calibri" pitchFamily="34" charset="-120"/>
              </a:rPr>
              <a:t>Apache-2.0 is permissive with explicit patent protection. MIT is silent on patents.</a:t>
            </a:r>
            <a:endParaRPr lang="en-US" sz="1550" dirty="0"/>
          </a:p>
        </p:txBody>
      </p:sp>
      <p:sp>
        <p:nvSpPr>
          <p:cNvPr id="15" name="Shape 11"/>
          <p:cNvSpPr/>
          <p:nvPr/>
        </p:nvSpPr>
        <p:spPr>
          <a:xfrm>
            <a:off x="8046720" y="1783080"/>
            <a:ext cx="3566160" cy="3154680"/>
          </a:xfrm>
          <a:prstGeom prst="roundRect">
            <a:avLst>
              <a:gd name="adj" fmla="val 260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321040" y="2011680"/>
            <a:ext cx="603504" cy="603504"/>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483986" y="2174626"/>
            <a:ext cx="277612" cy="277612"/>
          </a:xfrm>
          <a:prstGeom prst="rect">
            <a:avLst/>
          </a:prstGeom>
        </p:spPr>
      </p:pic>
      <p:sp>
        <p:nvSpPr>
          <p:cNvPr id="18" name="Text 13"/>
          <p:cNvSpPr/>
          <p:nvPr/>
        </p:nvSpPr>
        <p:spPr>
          <a:xfrm>
            <a:off x="8321040" y="2743200"/>
            <a:ext cx="3017520" cy="777240"/>
          </a:xfrm>
          <a:prstGeom prst="rect">
            <a:avLst/>
          </a:prstGeom>
          <a:noFill/>
          <a:ln/>
        </p:spPr>
        <p:txBody>
          <a:bodyPr wrap="square" lIns="0" tIns="0" rIns="0" bIns="0" rtlCol="0" anchor="t"/>
          <a:lstStyle/>
          <a:p>
            <a:pPr marL="0" indent="0">
              <a:buNone/>
            </a:pPr>
            <a:r>
              <a:rPr lang="en-US" sz="1800" b="1" dirty="0">
                <a:solidFill>
                  <a:srgbClr val="1E2A36"/>
                </a:solidFill>
                <a:latin typeface="Calibri" pitchFamily="34" charset="0"/>
                <a:ea typeface="Calibri" pitchFamily="34" charset="-122"/>
                <a:cs typeface="Calibri" pitchFamily="34" charset="-120"/>
              </a:rPr>
              <a:t>What do your dependencies require?</a:t>
            </a:r>
            <a:endParaRPr lang="en-US" sz="1800" dirty="0"/>
          </a:p>
        </p:txBody>
      </p:sp>
      <p:sp>
        <p:nvSpPr>
          <p:cNvPr id="19" name="Text 14"/>
          <p:cNvSpPr/>
          <p:nvPr/>
        </p:nvSpPr>
        <p:spPr>
          <a:xfrm>
            <a:off x="8321040" y="3566160"/>
            <a:ext cx="3017520" cy="1280160"/>
          </a:xfrm>
          <a:prstGeom prst="rect">
            <a:avLst/>
          </a:prstGeom>
          <a:noFill/>
          <a:ln/>
        </p:spPr>
        <p:txBody>
          <a:bodyPr wrap="square" lIns="0" tIns="0" rIns="0" bIns="0" rtlCol="0" anchor="t"/>
          <a:lstStyle/>
          <a:p>
            <a:pPr marL="0" indent="0">
              <a:lnSpc>
                <a:spcPct val="104000"/>
              </a:lnSpc>
              <a:buNone/>
            </a:pPr>
            <a:r>
              <a:rPr lang="en-US" sz="1550" dirty="0">
                <a:solidFill>
                  <a:srgbClr val="1E2A36"/>
                </a:solidFill>
                <a:latin typeface="Calibri" pitchFamily="34" charset="0"/>
                <a:ea typeface="Calibri" pitchFamily="34" charset="-122"/>
                <a:cs typeface="Calibri" pitchFamily="34" charset="-120"/>
              </a:rPr>
              <a:t>A GPL dependency brings GPL obligations with it. Check before you choose.</a:t>
            </a:r>
            <a:endParaRPr lang="en-US" sz="1550" dirty="0"/>
          </a:p>
        </p:txBody>
      </p:sp>
      <p:sp>
        <p:nvSpPr>
          <p:cNvPr id="20" name="Shape 15"/>
          <p:cNvSpPr/>
          <p:nvPr/>
        </p:nvSpPr>
        <p:spPr>
          <a:xfrm>
            <a:off x="548640" y="5166360"/>
            <a:ext cx="11064240" cy="1005840"/>
          </a:xfrm>
          <a:prstGeom prst="roundRect">
            <a:avLst>
              <a:gd name="adj" fmla="val 8182"/>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21" name="Text 16"/>
          <p:cNvSpPr/>
          <p:nvPr/>
        </p:nvSpPr>
        <p:spPr>
          <a:xfrm>
            <a:off x="868680" y="5166360"/>
            <a:ext cx="10424160" cy="1005840"/>
          </a:xfrm>
          <a:prstGeom prst="rect">
            <a:avLst/>
          </a:prstGeom>
          <a:noFill/>
          <a:ln/>
        </p:spPr>
        <p:txBody>
          <a:bodyPr wrap="square" lIns="0" tIns="0" rIns="0" bIns="0" rtlCol="0" anchor="ctr"/>
          <a:lstStyle/>
          <a:p>
            <a:pPr marL="0" indent="0">
              <a:buNone/>
            </a:pPr>
            <a:r>
              <a:rPr lang="en-US" sz="1700" b="1" dirty="0">
                <a:solidFill>
                  <a:srgbClr val="E8A33D"/>
                </a:solidFill>
                <a:latin typeface="Calibri" pitchFamily="34" charset="0"/>
                <a:ea typeface="Calibri" pitchFamily="34" charset="-122"/>
                <a:cs typeface="Calibri" pitchFamily="34" charset="-120"/>
              </a:rPr>
              <a:t>Write it down: </a:t>
            </a:r>
            <a:r>
              <a:rPr lang="en-US" sz="1700" dirty="0">
                <a:solidFill>
                  <a:srgbClr val="FFFFFF"/>
                </a:solidFill>
                <a:latin typeface="Calibri" pitchFamily="34" charset="0"/>
                <a:ea typeface="Calibri" pitchFamily="34" charset="-122"/>
                <a:cs typeface="Calibri" pitchFamily="34" charset="-120"/>
              </a:rPr>
              <a:t>the license, and one paragraph on why it fits this project's goals. It goes in CP7. Not MIT by reflex.</a:t>
            </a:r>
            <a:endParaRPr lang="en-US" sz="1700" dirty="0"/>
          </a:p>
        </p:txBody>
      </p:sp>
      <p:sp>
        <p:nvSpPr>
          <p:cNvPr id="22" name="Text 1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ANATOMY OF A GOOD ISSUE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Four words that make reports precise</a:t>
            </a:r>
            <a:endParaRPr lang="en-US" sz="3100" dirty="0"/>
          </a:p>
        </p:txBody>
      </p:sp>
      <p:sp>
        <p:nvSpPr>
          <p:cNvPr id="5" name="click-1"/>
          <p:cNvSpPr/>
          <p:nvPr/>
        </p:nvSpPr>
        <p:spPr>
          <a:xfrm>
            <a:off x="548640" y="1828800"/>
            <a:ext cx="2514600" cy="288036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click-1"/>
          <p:cNvSpPr/>
          <p:nvPr/>
        </p:nvSpPr>
        <p:spPr>
          <a:xfrm>
            <a:off x="548640" y="2011680"/>
            <a:ext cx="2514600" cy="548640"/>
          </a:xfrm>
          <a:prstGeom prst="rect">
            <a:avLst/>
          </a:prstGeom>
          <a:noFill/>
          <a:ln/>
        </p:spPr>
        <p:txBody>
          <a:bodyPr wrap="square" lIns="0" tIns="0" rIns="0" bIns="0" rtlCol="0" anchor="ctr"/>
          <a:lstStyle/>
          <a:p>
            <a:pPr marL="0" indent="0" algn="ctr">
              <a:buNone/>
            </a:pPr>
            <a:r>
              <a:rPr lang="en-US" sz="2400" b="1" dirty="0">
                <a:solidFill>
                  <a:srgbClr val="0E6E6D"/>
                </a:solidFill>
                <a:latin typeface="Cambria" pitchFamily="34" charset="0"/>
                <a:ea typeface="Cambria" pitchFamily="34" charset="-122"/>
                <a:cs typeface="Cambria" pitchFamily="34" charset="-120"/>
              </a:rPr>
              <a:t>Error</a:t>
            </a:r>
            <a:endParaRPr lang="en-US" sz="2400" dirty="0"/>
          </a:p>
        </p:txBody>
      </p:sp>
      <p:sp>
        <p:nvSpPr>
          <p:cNvPr id="7" name="click-1"/>
          <p:cNvSpPr/>
          <p:nvPr/>
        </p:nvSpPr>
        <p:spPr>
          <a:xfrm>
            <a:off x="731520" y="2743200"/>
            <a:ext cx="2148840" cy="1005840"/>
          </a:xfrm>
          <a:prstGeom prst="rect">
            <a:avLst/>
          </a:prstGeom>
          <a:noFill/>
          <a:ln/>
        </p:spPr>
        <p:txBody>
          <a:bodyPr wrap="square" lIns="0" tIns="0" rIns="0" bIns="0" rtlCol="0" anchor="t"/>
          <a:lstStyle/>
          <a:p>
            <a:pPr marL="0" indent="0" algn="ctr">
              <a:buNone/>
            </a:pPr>
            <a:r>
              <a:rPr lang="en-US" sz="1700" b="1" dirty="0">
                <a:solidFill>
                  <a:srgbClr val="1E2A36"/>
                </a:solidFill>
                <a:latin typeface="Calibri" pitchFamily="34" charset="0"/>
                <a:ea typeface="Calibri" pitchFamily="34" charset="-122"/>
                <a:cs typeface="Calibri" pitchFamily="34" charset="-120"/>
              </a:rPr>
              <a:t>A human mistake</a:t>
            </a:r>
            <a:endParaRPr lang="en-US" sz="1700" dirty="0"/>
          </a:p>
        </p:txBody>
      </p:sp>
      <p:sp>
        <p:nvSpPr>
          <p:cNvPr id="8" name="click-1"/>
          <p:cNvSpPr/>
          <p:nvPr/>
        </p:nvSpPr>
        <p:spPr>
          <a:xfrm>
            <a:off x="731520" y="3794760"/>
            <a:ext cx="2148840" cy="777240"/>
          </a:xfrm>
          <a:prstGeom prst="rect">
            <a:avLst/>
          </a:prstGeom>
          <a:noFill/>
          <a:ln/>
        </p:spPr>
        <p:txBody>
          <a:bodyPr wrap="square" lIns="0" tIns="0" rIns="0" bIns="0" rtlCol="0" anchor="t"/>
          <a:lstStyle/>
          <a:p>
            <a:pPr marL="0" indent="0" algn="ctr">
              <a:buNone/>
            </a:pPr>
            <a:r>
              <a:rPr lang="en-US" sz="1500" i="1" dirty="0">
                <a:solidFill>
                  <a:srgbClr val="5F7284"/>
                </a:solidFill>
                <a:latin typeface="Calibri" pitchFamily="34" charset="0"/>
                <a:ea typeface="Calibri" pitchFamily="34" charset="-122"/>
                <a:cs typeface="Calibri" pitchFamily="34" charset="-120"/>
              </a:rPr>
              <a:t>misreading the spec</a:t>
            </a:r>
            <a:endParaRPr lang="en-US" sz="1500" dirty="0"/>
          </a:p>
        </p:txBody>
      </p:sp>
      <p:sp>
        <p:nvSpPr>
          <p:cNvPr id="9" name="click-2"/>
          <p:cNvSpPr/>
          <p:nvPr/>
        </p:nvSpPr>
        <p:spPr>
          <a:xfrm>
            <a:off x="3063240" y="2926080"/>
            <a:ext cx="338328" cy="548640"/>
          </a:xfrm>
          <a:prstGeom prst="rect">
            <a:avLst/>
          </a:prstGeom>
          <a:noFill/>
          <a:ln/>
        </p:spPr>
        <p:txBody>
          <a:bodyPr wrap="square" lIns="0" tIns="0" rIns="0" bIns="0" rtlCol="0" anchor="ctr"/>
          <a:lstStyle/>
          <a:p>
            <a:pPr marL="0" indent="0" algn="ctr">
              <a:buNone/>
            </a:pPr>
            <a:r>
              <a:rPr lang="en-US" sz="2400" b="1" dirty="0">
                <a:solidFill>
                  <a:srgbClr val="12908F"/>
                </a:solidFill>
                <a:latin typeface="Calibri" pitchFamily="34" charset="0"/>
                <a:ea typeface="Calibri" pitchFamily="34" charset="-122"/>
                <a:cs typeface="Calibri" pitchFamily="34" charset="-120"/>
              </a:rPr>
              <a:t>→</a:t>
            </a:r>
            <a:endParaRPr lang="en-US" sz="2400" dirty="0"/>
          </a:p>
        </p:txBody>
      </p:sp>
      <p:sp>
        <p:nvSpPr>
          <p:cNvPr id="10" name="click-2"/>
          <p:cNvSpPr/>
          <p:nvPr/>
        </p:nvSpPr>
        <p:spPr>
          <a:xfrm>
            <a:off x="3401568" y="1828800"/>
            <a:ext cx="2514600" cy="288036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click-2"/>
          <p:cNvSpPr/>
          <p:nvPr/>
        </p:nvSpPr>
        <p:spPr>
          <a:xfrm>
            <a:off x="3401568" y="2011680"/>
            <a:ext cx="2514600" cy="548640"/>
          </a:xfrm>
          <a:prstGeom prst="rect">
            <a:avLst/>
          </a:prstGeom>
          <a:noFill/>
          <a:ln/>
        </p:spPr>
        <p:txBody>
          <a:bodyPr wrap="square" lIns="0" tIns="0" rIns="0" bIns="0" rtlCol="0" anchor="ctr"/>
          <a:lstStyle/>
          <a:p>
            <a:pPr marL="0" indent="0" algn="ctr">
              <a:buNone/>
            </a:pPr>
            <a:r>
              <a:rPr lang="en-US" sz="2400" b="1" dirty="0">
                <a:solidFill>
                  <a:srgbClr val="0E6E6D"/>
                </a:solidFill>
                <a:latin typeface="Cambria" pitchFamily="34" charset="0"/>
                <a:ea typeface="Cambria" pitchFamily="34" charset="-122"/>
                <a:cs typeface="Cambria" pitchFamily="34" charset="-120"/>
              </a:rPr>
              <a:t>Defect</a:t>
            </a:r>
            <a:endParaRPr lang="en-US" sz="2400" dirty="0"/>
          </a:p>
        </p:txBody>
      </p:sp>
      <p:sp>
        <p:nvSpPr>
          <p:cNvPr id="12" name="click-2"/>
          <p:cNvSpPr/>
          <p:nvPr/>
        </p:nvSpPr>
        <p:spPr>
          <a:xfrm>
            <a:off x="3584448" y="2743200"/>
            <a:ext cx="2148840" cy="1005840"/>
          </a:xfrm>
          <a:prstGeom prst="rect">
            <a:avLst/>
          </a:prstGeom>
          <a:noFill/>
          <a:ln/>
        </p:spPr>
        <p:txBody>
          <a:bodyPr wrap="square" lIns="0" tIns="0" rIns="0" bIns="0" rtlCol="0" anchor="t"/>
          <a:lstStyle/>
          <a:p>
            <a:pPr marL="0" indent="0" algn="ctr">
              <a:buNone/>
            </a:pPr>
            <a:r>
              <a:rPr lang="en-US" sz="1700" b="1" dirty="0">
                <a:solidFill>
                  <a:srgbClr val="1E2A36"/>
                </a:solidFill>
                <a:latin typeface="Calibri" pitchFamily="34" charset="0"/>
                <a:ea typeface="Calibri" pitchFamily="34" charset="-122"/>
                <a:cs typeface="Calibri" pitchFamily="34" charset="-120"/>
              </a:rPr>
              <a:t>The flaw it leaves in the artifact</a:t>
            </a:r>
            <a:endParaRPr lang="en-US" sz="1700" dirty="0"/>
          </a:p>
        </p:txBody>
      </p:sp>
      <p:sp>
        <p:nvSpPr>
          <p:cNvPr id="13" name="click-2"/>
          <p:cNvSpPr/>
          <p:nvPr/>
        </p:nvSpPr>
        <p:spPr>
          <a:xfrm>
            <a:off x="3584448" y="3794760"/>
            <a:ext cx="2148840" cy="777240"/>
          </a:xfrm>
          <a:prstGeom prst="rect">
            <a:avLst/>
          </a:prstGeom>
          <a:noFill/>
          <a:ln/>
        </p:spPr>
        <p:txBody>
          <a:bodyPr wrap="square" lIns="0" tIns="0" rIns="0" bIns="0" rtlCol="0" anchor="t"/>
          <a:lstStyle/>
          <a:p>
            <a:pPr marL="0" indent="0" algn="ctr">
              <a:buNone/>
            </a:pPr>
            <a:r>
              <a:rPr lang="en-US" sz="1500" i="1" dirty="0">
                <a:solidFill>
                  <a:srgbClr val="5F7284"/>
                </a:solidFill>
                <a:latin typeface="Calibri" pitchFamily="34" charset="0"/>
                <a:ea typeface="Calibri" pitchFamily="34" charset="-122"/>
                <a:cs typeface="Calibri" pitchFamily="34" charset="-120"/>
              </a:rPr>
              <a:t>the bug in the code</a:t>
            </a:r>
            <a:endParaRPr lang="en-US" sz="1500" dirty="0"/>
          </a:p>
        </p:txBody>
      </p:sp>
      <p:sp>
        <p:nvSpPr>
          <p:cNvPr id="14" name="click-3"/>
          <p:cNvSpPr/>
          <p:nvPr/>
        </p:nvSpPr>
        <p:spPr>
          <a:xfrm>
            <a:off x="5916168" y="2926080"/>
            <a:ext cx="338328" cy="548640"/>
          </a:xfrm>
          <a:prstGeom prst="rect">
            <a:avLst/>
          </a:prstGeom>
          <a:noFill/>
          <a:ln/>
        </p:spPr>
        <p:txBody>
          <a:bodyPr wrap="square" lIns="0" tIns="0" rIns="0" bIns="0" rtlCol="0" anchor="ctr"/>
          <a:lstStyle/>
          <a:p>
            <a:pPr marL="0" indent="0" algn="ctr">
              <a:buNone/>
            </a:pPr>
            <a:r>
              <a:rPr lang="en-US" sz="2400" b="1" dirty="0">
                <a:solidFill>
                  <a:srgbClr val="12908F"/>
                </a:solidFill>
                <a:latin typeface="Calibri" pitchFamily="34" charset="0"/>
                <a:ea typeface="Calibri" pitchFamily="34" charset="-122"/>
                <a:cs typeface="Calibri" pitchFamily="34" charset="-120"/>
              </a:rPr>
              <a:t>→</a:t>
            </a:r>
            <a:endParaRPr lang="en-US" sz="2400" dirty="0"/>
          </a:p>
        </p:txBody>
      </p:sp>
      <p:sp>
        <p:nvSpPr>
          <p:cNvPr id="15" name="click-3"/>
          <p:cNvSpPr/>
          <p:nvPr/>
        </p:nvSpPr>
        <p:spPr>
          <a:xfrm>
            <a:off x="6254496" y="1828800"/>
            <a:ext cx="2514600" cy="288036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click-3"/>
          <p:cNvSpPr/>
          <p:nvPr/>
        </p:nvSpPr>
        <p:spPr>
          <a:xfrm>
            <a:off x="6254496" y="2011680"/>
            <a:ext cx="2514600" cy="548640"/>
          </a:xfrm>
          <a:prstGeom prst="rect">
            <a:avLst/>
          </a:prstGeom>
          <a:noFill/>
          <a:ln/>
        </p:spPr>
        <p:txBody>
          <a:bodyPr wrap="square" lIns="0" tIns="0" rIns="0" bIns="0" rtlCol="0" anchor="ctr"/>
          <a:lstStyle/>
          <a:p>
            <a:pPr marL="0" indent="0" algn="ctr">
              <a:buNone/>
            </a:pPr>
            <a:r>
              <a:rPr lang="en-US" sz="2400" b="1" dirty="0">
                <a:solidFill>
                  <a:srgbClr val="0E6E6D"/>
                </a:solidFill>
                <a:latin typeface="Cambria" pitchFamily="34" charset="0"/>
                <a:ea typeface="Cambria" pitchFamily="34" charset="-122"/>
                <a:cs typeface="Cambria" pitchFamily="34" charset="-120"/>
              </a:rPr>
              <a:t>Fault</a:t>
            </a:r>
            <a:endParaRPr lang="en-US" sz="2400" dirty="0"/>
          </a:p>
        </p:txBody>
      </p:sp>
      <p:sp>
        <p:nvSpPr>
          <p:cNvPr id="17" name="click-3"/>
          <p:cNvSpPr/>
          <p:nvPr/>
        </p:nvSpPr>
        <p:spPr>
          <a:xfrm>
            <a:off x="6437376" y="2743200"/>
            <a:ext cx="2148840" cy="1005840"/>
          </a:xfrm>
          <a:prstGeom prst="rect">
            <a:avLst/>
          </a:prstGeom>
          <a:noFill/>
          <a:ln/>
        </p:spPr>
        <p:txBody>
          <a:bodyPr wrap="square" lIns="0" tIns="0" rIns="0" bIns="0" rtlCol="0" anchor="t"/>
          <a:lstStyle/>
          <a:p>
            <a:pPr marL="0" indent="0" algn="ctr">
              <a:buNone/>
            </a:pPr>
            <a:r>
              <a:rPr lang="en-US" sz="1700" b="1" dirty="0">
                <a:solidFill>
                  <a:srgbClr val="1E2A36"/>
                </a:solidFill>
                <a:latin typeface="Calibri" pitchFamily="34" charset="0"/>
                <a:ea typeface="Calibri" pitchFamily="34" charset="-122"/>
                <a:cs typeface="Calibri" pitchFamily="34" charset="-120"/>
              </a:rPr>
              <a:t>What goes wrong inside, at runtime</a:t>
            </a:r>
            <a:endParaRPr lang="en-US" sz="1700" dirty="0"/>
          </a:p>
        </p:txBody>
      </p:sp>
      <p:sp>
        <p:nvSpPr>
          <p:cNvPr id="18" name="click-3"/>
          <p:cNvSpPr/>
          <p:nvPr/>
        </p:nvSpPr>
        <p:spPr>
          <a:xfrm>
            <a:off x="6437376" y="3794760"/>
            <a:ext cx="2148840" cy="777240"/>
          </a:xfrm>
          <a:prstGeom prst="rect">
            <a:avLst/>
          </a:prstGeom>
          <a:noFill/>
          <a:ln/>
        </p:spPr>
        <p:txBody>
          <a:bodyPr wrap="square" lIns="0" tIns="0" rIns="0" bIns="0" rtlCol="0" anchor="t"/>
          <a:lstStyle/>
          <a:p>
            <a:pPr marL="0" indent="0" algn="ctr">
              <a:buNone/>
            </a:pPr>
            <a:r>
              <a:rPr lang="en-US" sz="1500" i="1" dirty="0">
                <a:solidFill>
                  <a:srgbClr val="5F7284"/>
                </a:solidFill>
                <a:latin typeface="Calibri" pitchFamily="34" charset="0"/>
                <a:ea typeface="Calibri" pitchFamily="34" charset="-122"/>
                <a:cs typeface="Calibri" pitchFamily="34" charset="-120"/>
              </a:rPr>
              <a:t>bad data, a wrong branch</a:t>
            </a:r>
            <a:endParaRPr lang="en-US" sz="1500" dirty="0"/>
          </a:p>
        </p:txBody>
      </p:sp>
      <p:sp>
        <p:nvSpPr>
          <p:cNvPr id="19" name="click-4"/>
          <p:cNvSpPr/>
          <p:nvPr/>
        </p:nvSpPr>
        <p:spPr>
          <a:xfrm>
            <a:off x="8769096" y="2926080"/>
            <a:ext cx="338328" cy="548640"/>
          </a:xfrm>
          <a:prstGeom prst="rect">
            <a:avLst/>
          </a:prstGeom>
          <a:noFill/>
          <a:ln/>
        </p:spPr>
        <p:txBody>
          <a:bodyPr wrap="square" lIns="0" tIns="0" rIns="0" bIns="0" rtlCol="0" anchor="ctr"/>
          <a:lstStyle/>
          <a:p>
            <a:pPr marL="0" indent="0" algn="ctr">
              <a:buNone/>
            </a:pPr>
            <a:r>
              <a:rPr lang="en-US" sz="2400" b="1" dirty="0">
                <a:solidFill>
                  <a:srgbClr val="12908F"/>
                </a:solidFill>
                <a:latin typeface="Calibri" pitchFamily="34" charset="0"/>
                <a:ea typeface="Calibri" pitchFamily="34" charset="-122"/>
                <a:cs typeface="Calibri" pitchFamily="34" charset="-120"/>
              </a:rPr>
              <a:t>→</a:t>
            </a:r>
            <a:endParaRPr lang="en-US" sz="2400" dirty="0"/>
          </a:p>
        </p:txBody>
      </p:sp>
      <p:sp>
        <p:nvSpPr>
          <p:cNvPr id="20" name="click-4"/>
          <p:cNvSpPr/>
          <p:nvPr/>
        </p:nvSpPr>
        <p:spPr>
          <a:xfrm>
            <a:off x="9107424" y="1828800"/>
            <a:ext cx="2514600" cy="2880360"/>
          </a:xfrm>
          <a:prstGeom prst="roundRect">
            <a:avLst>
              <a:gd name="adj" fmla="val 3273"/>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21" name="click-4"/>
          <p:cNvSpPr/>
          <p:nvPr/>
        </p:nvSpPr>
        <p:spPr>
          <a:xfrm>
            <a:off x="9107424" y="2011680"/>
            <a:ext cx="2514600" cy="548640"/>
          </a:xfrm>
          <a:prstGeom prst="rect">
            <a:avLst/>
          </a:prstGeom>
          <a:noFill/>
          <a:ln/>
        </p:spPr>
        <p:txBody>
          <a:bodyPr wrap="square" lIns="0" tIns="0" rIns="0" bIns="0" rtlCol="0" anchor="ctr"/>
          <a:lstStyle/>
          <a:p>
            <a:pPr marL="0" indent="0" algn="ctr">
              <a:buNone/>
            </a:pPr>
            <a:r>
              <a:rPr lang="en-US" sz="2400" b="1" dirty="0">
                <a:solidFill>
                  <a:srgbClr val="E8A33D"/>
                </a:solidFill>
                <a:latin typeface="Cambria" pitchFamily="34" charset="0"/>
                <a:ea typeface="Cambria" pitchFamily="34" charset="-122"/>
                <a:cs typeface="Cambria" pitchFamily="34" charset="-120"/>
              </a:rPr>
              <a:t>Failure</a:t>
            </a:r>
            <a:endParaRPr lang="en-US" sz="2400" dirty="0"/>
          </a:p>
        </p:txBody>
      </p:sp>
      <p:sp>
        <p:nvSpPr>
          <p:cNvPr id="22" name="click-4"/>
          <p:cNvSpPr/>
          <p:nvPr/>
        </p:nvSpPr>
        <p:spPr>
          <a:xfrm>
            <a:off x="9290304" y="2743200"/>
            <a:ext cx="2148840" cy="1005840"/>
          </a:xfrm>
          <a:prstGeom prst="rect">
            <a:avLst/>
          </a:prstGeom>
          <a:noFill/>
          <a:ln/>
        </p:spPr>
        <p:txBody>
          <a:bodyPr wrap="square" lIns="0" tIns="0" rIns="0" bIns="0" rtlCol="0" anchor="t"/>
          <a:lstStyle/>
          <a:p>
            <a:pPr marL="0" indent="0" algn="ctr">
              <a:buNone/>
            </a:pPr>
            <a:r>
              <a:rPr lang="en-US" sz="1700" b="1" dirty="0">
                <a:solidFill>
                  <a:srgbClr val="FFFFFF"/>
                </a:solidFill>
                <a:latin typeface="Calibri" pitchFamily="34" charset="0"/>
                <a:ea typeface="Calibri" pitchFamily="34" charset="-122"/>
                <a:cs typeface="Calibri" pitchFamily="34" charset="-120"/>
              </a:rPr>
              <a:t>What someone can observe</a:t>
            </a:r>
            <a:endParaRPr lang="en-US" sz="1700" dirty="0"/>
          </a:p>
        </p:txBody>
      </p:sp>
      <p:sp>
        <p:nvSpPr>
          <p:cNvPr id="23" name="click-4"/>
          <p:cNvSpPr/>
          <p:nvPr/>
        </p:nvSpPr>
        <p:spPr>
          <a:xfrm>
            <a:off x="9290304" y="3794760"/>
            <a:ext cx="2148840" cy="777240"/>
          </a:xfrm>
          <a:prstGeom prst="rect">
            <a:avLst/>
          </a:prstGeom>
          <a:noFill/>
          <a:ln/>
        </p:spPr>
        <p:txBody>
          <a:bodyPr wrap="square" lIns="0" tIns="0" rIns="0" bIns="0" rtlCol="0" anchor="t"/>
          <a:lstStyle/>
          <a:p>
            <a:pPr marL="0" indent="0" algn="ctr">
              <a:buNone/>
            </a:pPr>
            <a:r>
              <a:rPr lang="en-US" sz="1500" i="1" dirty="0">
                <a:solidFill>
                  <a:srgbClr val="CFE0E9"/>
                </a:solidFill>
                <a:latin typeface="Calibri" pitchFamily="34" charset="0"/>
                <a:ea typeface="Calibri" pitchFamily="34" charset="-122"/>
                <a:cs typeface="Calibri" pitchFamily="34" charset="-120"/>
              </a:rPr>
              <a:t>the crash, the wrong output</a:t>
            </a:r>
            <a:endParaRPr lang="en-US" sz="1500" dirty="0"/>
          </a:p>
        </p:txBody>
      </p:sp>
      <p:sp>
        <p:nvSpPr>
          <p:cNvPr id="24" name="click-5"/>
          <p:cNvSpPr/>
          <p:nvPr/>
        </p:nvSpPr>
        <p:spPr>
          <a:xfrm>
            <a:off x="548640" y="4983480"/>
            <a:ext cx="11064240" cy="1188720"/>
          </a:xfrm>
          <a:prstGeom prst="roundRect">
            <a:avLst>
              <a:gd name="adj" fmla="val 6923"/>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25" name="click-5"/>
          <p:cNvSpPr/>
          <p:nvPr/>
        </p:nvSpPr>
        <p:spPr>
          <a:xfrm>
            <a:off x="868680" y="4983480"/>
            <a:ext cx="10424160" cy="1188720"/>
          </a:xfrm>
          <a:prstGeom prst="rect">
            <a:avLst/>
          </a:prstGeom>
          <a:noFill/>
          <a:ln/>
        </p:spPr>
        <p:txBody>
          <a:bodyPr wrap="square" lIns="0" tIns="0" rIns="0" bIns="0" rtlCol="0" anchor="ctr"/>
          <a:lstStyle/>
          <a:p>
            <a:pPr marL="0" indent="0">
              <a:lnSpc>
                <a:spcPct val="104000"/>
              </a:lnSpc>
              <a:buNone/>
            </a:pPr>
            <a:r>
              <a:rPr lang="en-US" sz="1700" b="1" dirty="0">
                <a:solidFill>
                  <a:srgbClr val="14233A"/>
                </a:solidFill>
                <a:latin typeface="Calibri" pitchFamily="34" charset="0"/>
                <a:ea typeface="Calibri" pitchFamily="34" charset="-122"/>
                <a:cs typeface="Calibri" pitchFamily="34" charset="-120"/>
              </a:rPr>
              <a:t>A report describes the failure. Investigation walks the chain backward. Most bad reports skip straight to a guess about the defect.</a:t>
            </a:r>
            <a:endParaRPr lang="en-US" sz="170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CHAIN IN A REAL REPORT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SSW #14: "Data corruption when conducting battle"</a:t>
            </a:r>
            <a:endParaRPr lang="en-US" sz="3100" dirty="0"/>
          </a:p>
        </p:txBody>
      </p:sp>
      <p:sp>
        <p:nvSpPr>
          <p:cNvPr id="5" name="click-1"/>
          <p:cNvSpPr/>
          <p:nvPr/>
        </p:nvSpPr>
        <p:spPr>
          <a:xfrm>
            <a:off x="548640" y="1783080"/>
            <a:ext cx="11064240" cy="896112"/>
          </a:xfrm>
          <a:prstGeom prst="roundRect">
            <a:avLst>
              <a:gd name="adj" fmla="val 9184"/>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6" name="click-1"/>
          <p:cNvSpPr/>
          <p:nvPr/>
        </p:nvSpPr>
        <p:spPr>
          <a:xfrm>
            <a:off x="777240" y="1979676"/>
            <a:ext cx="1463040" cy="502920"/>
          </a:xfrm>
          <a:prstGeom prst="roundRect">
            <a:avLst>
              <a:gd name="adj" fmla="val 14545"/>
            </a:avLst>
          </a:prstGeom>
          <a:solidFill>
            <a:srgbClr val="E8A33D"/>
          </a:solidFill>
          <a:ln/>
        </p:spPr>
        <p:txBody>
          <a:bodyPr/>
          <a:lstStyle/>
          <a:p>
            <a:endParaRPr lang="en-US"/>
          </a:p>
        </p:txBody>
      </p:sp>
      <p:sp>
        <p:nvSpPr>
          <p:cNvPr id="7" name="click-1"/>
          <p:cNvSpPr/>
          <p:nvPr/>
        </p:nvSpPr>
        <p:spPr>
          <a:xfrm>
            <a:off x="777240" y="1979676"/>
            <a:ext cx="1463040" cy="502920"/>
          </a:xfrm>
          <a:prstGeom prst="rect">
            <a:avLst/>
          </a:prstGeom>
          <a:noFill/>
          <a:ln/>
        </p:spPr>
        <p:txBody>
          <a:bodyPr wrap="square" lIns="0" tIns="0" rIns="0" bIns="0" rtlCol="0" anchor="ctr"/>
          <a:lstStyle/>
          <a:p>
            <a:pPr marL="0" indent="0" algn="ctr">
              <a:buNone/>
            </a:pPr>
            <a:r>
              <a:rPr lang="en-US" sz="1600" b="1" dirty="0">
                <a:solidFill>
                  <a:srgbClr val="14233A"/>
                </a:solidFill>
                <a:latin typeface="Calibri" pitchFamily="34" charset="0"/>
                <a:ea typeface="Calibri" pitchFamily="34" charset="-122"/>
                <a:cs typeface="Calibri" pitchFamily="34" charset="-120"/>
              </a:rPr>
              <a:t>Failure</a:t>
            </a:r>
            <a:endParaRPr lang="en-US" sz="1600" dirty="0"/>
          </a:p>
        </p:txBody>
      </p:sp>
      <p:sp>
        <p:nvSpPr>
          <p:cNvPr id="8" name="click-1"/>
          <p:cNvSpPr/>
          <p:nvPr/>
        </p:nvSpPr>
        <p:spPr>
          <a:xfrm>
            <a:off x="2468880" y="1783080"/>
            <a:ext cx="8915400" cy="896112"/>
          </a:xfrm>
          <a:prstGeom prst="rect">
            <a:avLst/>
          </a:prstGeom>
          <a:noFill/>
          <a:ln/>
        </p:spPr>
        <p:txBody>
          <a:bodyPr wrap="square" lIns="0" tIns="0" rIns="0" bIns="0" rtlCol="0" anchor="ctr"/>
          <a:lstStyle/>
          <a:p>
            <a:pPr marL="0" indent="0">
              <a:lnSpc>
                <a:spcPct val="103000"/>
              </a:lnSpc>
              <a:buNone/>
            </a:pPr>
            <a:r>
              <a:rPr lang="en-US" sz="1600" dirty="0">
                <a:solidFill>
                  <a:srgbClr val="FFFFFF"/>
                </a:solidFill>
                <a:latin typeface="Calibri" pitchFamily="34" charset="0"/>
                <a:ea typeface="Calibri" pitchFamily="34" charset="-122"/>
                <a:cs typeface="Calibri" pitchFamily="34" charset="-120"/>
              </a:rPr>
              <a:t>The program stops: "Run-Time Check Failure #0 — The value of ESP was not properly saved across a function call." On Linux it just crashes.</a:t>
            </a:r>
            <a:endParaRPr lang="en-US" sz="1600" dirty="0"/>
          </a:p>
        </p:txBody>
      </p:sp>
      <p:sp>
        <p:nvSpPr>
          <p:cNvPr id="9" name="click-2"/>
          <p:cNvSpPr/>
          <p:nvPr/>
        </p:nvSpPr>
        <p:spPr>
          <a:xfrm>
            <a:off x="548640" y="2788920"/>
            <a:ext cx="11064240" cy="896112"/>
          </a:xfrm>
          <a:prstGeom prst="roundRect">
            <a:avLst>
              <a:gd name="adj" fmla="val 9184"/>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0" name="click-2"/>
          <p:cNvSpPr/>
          <p:nvPr/>
        </p:nvSpPr>
        <p:spPr>
          <a:xfrm>
            <a:off x="777240" y="2985516"/>
            <a:ext cx="1463040" cy="502920"/>
          </a:xfrm>
          <a:prstGeom prst="roundRect">
            <a:avLst>
              <a:gd name="adj" fmla="val 14545"/>
            </a:avLst>
          </a:prstGeom>
          <a:solidFill>
            <a:srgbClr val="12908F"/>
          </a:solidFill>
          <a:ln/>
        </p:spPr>
        <p:txBody>
          <a:bodyPr/>
          <a:lstStyle/>
          <a:p>
            <a:endParaRPr lang="en-US"/>
          </a:p>
        </p:txBody>
      </p:sp>
      <p:sp>
        <p:nvSpPr>
          <p:cNvPr id="11" name="click-2"/>
          <p:cNvSpPr/>
          <p:nvPr/>
        </p:nvSpPr>
        <p:spPr>
          <a:xfrm>
            <a:off x="777240" y="2985516"/>
            <a:ext cx="146304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Fault</a:t>
            </a:r>
            <a:endParaRPr lang="en-US" sz="1600" dirty="0"/>
          </a:p>
        </p:txBody>
      </p:sp>
      <p:sp>
        <p:nvSpPr>
          <p:cNvPr id="12" name="click-2"/>
          <p:cNvSpPr/>
          <p:nvPr/>
        </p:nvSpPr>
        <p:spPr>
          <a:xfrm>
            <a:off x="2468880" y="2788920"/>
            <a:ext cx="8915400" cy="896112"/>
          </a:xfrm>
          <a:prstGeom prst="rect">
            <a:avLst/>
          </a:prstGeom>
          <a:noFill/>
          <a:ln/>
        </p:spPr>
        <p:txBody>
          <a:bodyPr wrap="square" lIns="0" tIns="0" rIns="0" bIns="0" rtlCol="0" anchor="ctr"/>
          <a:lstStyle/>
          <a:p>
            <a:pPr marL="0" indent="0">
              <a:lnSpc>
                <a:spcPct val="103000"/>
              </a:lnSpc>
              <a:buNone/>
            </a:pPr>
            <a:r>
              <a:rPr lang="en-US" sz="1600" dirty="0">
                <a:solidFill>
                  <a:srgbClr val="1E2A36"/>
                </a:solidFill>
                <a:latin typeface="Calibri" pitchFamily="34" charset="0"/>
                <a:ea typeface="Calibri" pitchFamily="34" charset="-122"/>
                <a:cs typeface="Calibri" pitchFamily="34" charset="-120"/>
              </a:rPr>
              <a:t>In memory, the ships' defenses read as garbage. Everything else in the object looks fine.</a:t>
            </a:r>
            <a:endParaRPr lang="en-US" sz="1600" dirty="0"/>
          </a:p>
        </p:txBody>
      </p:sp>
      <p:sp>
        <p:nvSpPr>
          <p:cNvPr id="13" name="click-3"/>
          <p:cNvSpPr/>
          <p:nvPr/>
        </p:nvSpPr>
        <p:spPr>
          <a:xfrm>
            <a:off x="548640" y="3794760"/>
            <a:ext cx="11064240" cy="896112"/>
          </a:xfrm>
          <a:prstGeom prst="roundRect">
            <a:avLst>
              <a:gd name="adj" fmla="val 9184"/>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4" name="click-3"/>
          <p:cNvSpPr/>
          <p:nvPr/>
        </p:nvSpPr>
        <p:spPr>
          <a:xfrm>
            <a:off x="777240" y="3991356"/>
            <a:ext cx="1463040" cy="502920"/>
          </a:xfrm>
          <a:prstGeom prst="roundRect">
            <a:avLst>
              <a:gd name="adj" fmla="val 14545"/>
            </a:avLst>
          </a:prstGeom>
          <a:solidFill>
            <a:srgbClr val="12908F"/>
          </a:solidFill>
          <a:ln/>
        </p:spPr>
        <p:txBody>
          <a:bodyPr/>
          <a:lstStyle/>
          <a:p>
            <a:endParaRPr lang="en-US"/>
          </a:p>
        </p:txBody>
      </p:sp>
      <p:sp>
        <p:nvSpPr>
          <p:cNvPr id="15" name="click-3"/>
          <p:cNvSpPr/>
          <p:nvPr/>
        </p:nvSpPr>
        <p:spPr>
          <a:xfrm>
            <a:off x="777240" y="3991356"/>
            <a:ext cx="146304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Defect</a:t>
            </a:r>
            <a:endParaRPr lang="en-US" sz="1600" dirty="0"/>
          </a:p>
        </p:txBody>
      </p:sp>
      <p:sp>
        <p:nvSpPr>
          <p:cNvPr id="16" name="click-3"/>
          <p:cNvSpPr/>
          <p:nvPr/>
        </p:nvSpPr>
        <p:spPr>
          <a:xfrm>
            <a:off x="2468880" y="3794760"/>
            <a:ext cx="8915400" cy="896112"/>
          </a:xfrm>
          <a:prstGeom prst="rect">
            <a:avLst/>
          </a:prstGeom>
          <a:noFill/>
          <a:ln/>
        </p:spPr>
        <p:txBody>
          <a:bodyPr wrap="square" lIns="0" tIns="0" rIns="0" bIns="0" rtlCol="0" anchor="ctr"/>
          <a:lstStyle/>
          <a:p>
            <a:pPr marL="0" indent="0">
              <a:lnSpc>
                <a:spcPct val="103000"/>
              </a:lnSpc>
              <a:buNone/>
            </a:pPr>
            <a:r>
              <a:rPr lang="en-US" sz="1600" dirty="0">
                <a:solidFill>
                  <a:srgbClr val="1E2A36"/>
                </a:solidFill>
                <a:latin typeface="Calibri" pitchFamily="34" charset="0"/>
                <a:ea typeface="Calibri" pitchFamily="34" charset="-122"/>
                <a:cs typeface="Calibri" pitchFamily="34" charset="-120"/>
              </a:rPr>
              <a:t>Not known when filed. The closing comment suspects a bad save file: a clean game didn't reproduce it.</a:t>
            </a:r>
            <a:endParaRPr lang="en-US" sz="1600" dirty="0"/>
          </a:p>
        </p:txBody>
      </p:sp>
      <p:sp>
        <p:nvSpPr>
          <p:cNvPr id="17" name="click-4"/>
          <p:cNvSpPr/>
          <p:nvPr/>
        </p:nvSpPr>
        <p:spPr>
          <a:xfrm>
            <a:off x="548640" y="4800600"/>
            <a:ext cx="11064240" cy="896112"/>
          </a:xfrm>
          <a:prstGeom prst="roundRect">
            <a:avLst>
              <a:gd name="adj" fmla="val 9184"/>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8" name="click-4"/>
          <p:cNvSpPr/>
          <p:nvPr/>
        </p:nvSpPr>
        <p:spPr>
          <a:xfrm>
            <a:off x="777240" y="4997196"/>
            <a:ext cx="1463040" cy="502920"/>
          </a:xfrm>
          <a:prstGeom prst="roundRect">
            <a:avLst>
              <a:gd name="adj" fmla="val 14545"/>
            </a:avLst>
          </a:prstGeom>
          <a:solidFill>
            <a:srgbClr val="12908F"/>
          </a:solidFill>
          <a:ln/>
        </p:spPr>
        <p:txBody>
          <a:bodyPr/>
          <a:lstStyle/>
          <a:p>
            <a:endParaRPr lang="en-US"/>
          </a:p>
        </p:txBody>
      </p:sp>
      <p:sp>
        <p:nvSpPr>
          <p:cNvPr id="19" name="click-4"/>
          <p:cNvSpPr/>
          <p:nvPr/>
        </p:nvSpPr>
        <p:spPr>
          <a:xfrm>
            <a:off x="777240" y="4997196"/>
            <a:ext cx="146304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Error</a:t>
            </a:r>
            <a:endParaRPr lang="en-US" sz="1600" dirty="0"/>
          </a:p>
        </p:txBody>
      </p:sp>
      <p:sp>
        <p:nvSpPr>
          <p:cNvPr id="20" name="click-4"/>
          <p:cNvSpPr/>
          <p:nvPr/>
        </p:nvSpPr>
        <p:spPr>
          <a:xfrm>
            <a:off x="2468880" y="4800600"/>
            <a:ext cx="8915400" cy="896112"/>
          </a:xfrm>
          <a:prstGeom prst="rect">
            <a:avLst/>
          </a:prstGeom>
          <a:noFill/>
          <a:ln/>
        </p:spPr>
        <p:txBody>
          <a:bodyPr wrap="square" lIns="0" tIns="0" rIns="0" bIns="0" rtlCol="0" anchor="ctr"/>
          <a:lstStyle/>
          <a:p>
            <a:pPr marL="0" indent="0">
              <a:lnSpc>
                <a:spcPct val="103000"/>
              </a:lnSpc>
              <a:buNone/>
            </a:pPr>
            <a:r>
              <a:rPr lang="en-US" sz="1600" dirty="0">
                <a:solidFill>
                  <a:srgbClr val="1E2A36"/>
                </a:solidFill>
                <a:latin typeface="Calibri" pitchFamily="34" charset="0"/>
                <a:ea typeface="Calibri" pitchFamily="34" charset="-122"/>
                <a:cs typeface="Calibri" pitchFamily="34" charset="-120"/>
              </a:rPr>
              <a:t>Unknown, and a report doesn't need it.</a:t>
            </a:r>
            <a:endParaRPr lang="en-US" sz="1600" dirty="0"/>
          </a:p>
        </p:txBody>
      </p:sp>
      <p:sp>
        <p:nvSpPr>
          <p:cNvPr id="21" name="click-5"/>
          <p:cNvSpPr/>
          <p:nvPr/>
        </p:nvSpPr>
        <p:spPr>
          <a:xfrm>
            <a:off x="548640" y="5788152"/>
            <a:ext cx="11064240" cy="548640"/>
          </a:xfrm>
          <a:prstGeom prst="rect">
            <a:avLst/>
          </a:prstGeom>
          <a:noFill/>
          <a:ln/>
        </p:spPr>
        <p:txBody>
          <a:bodyPr wrap="square" lIns="0" tIns="0" rIns="0" bIns="0" rtlCol="0" anchor="ctr"/>
          <a:lstStyle/>
          <a:p>
            <a:pPr marL="0" indent="0">
              <a:buNone/>
            </a:pPr>
            <a:r>
              <a:rPr lang="en-US" sz="1500" i="1" dirty="0">
                <a:solidFill>
                  <a:srgbClr val="5F7284"/>
                </a:solidFill>
                <a:latin typeface="Calibri" pitchFamily="34" charset="0"/>
                <a:ea typeface="Calibri" pitchFamily="34" charset="-122"/>
                <a:cs typeface="Calibri" pitchFamily="34" charset="-120"/>
              </a:rPr>
              <a:t>Also in the report: "If you start up the tactical game directly, there is no issue." That one sentence of narrowing saves the fixer an hour.</a:t>
            </a:r>
            <a:endParaRPr lang="en-US" sz="15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MOZILLA-GRADE REPORT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Six parts, from the reading</a:t>
            </a:r>
            <a:endParaRPr lang="en-US" sz="3100" dirty="0"/>
          </a:p>
        </p:txBody>
      </p:sp>
      <p:sp>
        <p:nvSpPr>
          <p:cNvPr id="5" name="Shape 3"/>
          <p:cNvSpPr/>
          <p:nvPr/>
        </p:nvSpPr>
        <p:spPr>
          <a:xfrm>
            <a:off x="548640" y="17830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777240" y="2011680"/>
            <a:ext cx="548640" cy="548640"/>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25373" y="2159813"/>
            <a:ext cx="252374" cy="252374"/>
          </a:xfrm>
          <a:prstGeom prst="rect">
            <a:avLst/>
          </a:prstGeom>
        </p:spPr>
      </p:pic>
      <p:sp>
        <p:nvSpPr>
          <p:cNvPr id="8" name="Text 5"/>
          <p:cNvSpPr/>
          <p:nvPr/>
        </p:nvSpPr>
        <p:spPr>
          <a:xfrm>
            <a:off x="1463040" y="19476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One failure per report</a:t>
            </a:r>
            <a:endParaRPr lang="en-US" sz="1700" dirty="0"/>
          </a:p>
        </p:txBody>
      </p:sp>
      <p:sp>
        <p:nvSpPr>
          <p:cNvPr id="9" name="Text 6"/>
          <p:cNvSpPr/>
          <p:nvPr/>
        </p:nvSpPr>
        <p:spPr>
          <a:xfrm>
            <a:off x="777240" y="26974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Two failures, two issues: each can be fixed and closed alone</a:t>
            </a:r>
            <a:endParaRPr lang="en-US" sz="1500" dirty="0"/>
          </a:p>
        </p:txBody>
      </p:sp>
      <p:sp>
        <p:nvSpPr>
          <p:cNvPr id="10" name="Shape 7"/>
          <p:cNvSpPr/>
          <p:nvPr/>
        </p:nvSpPr>
        <p:spPr>
          <a:xfrm>
            <a:off x="4297680" y="17830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4526280" y="2011680"/>
            <a:ext cx="548640" cy="548640"/>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674413" y="2159813"/>
            <a:ext cx="252374" cy="252374"/>
          </a:xfrm>
          <a:prstGeom prst="rect">
            <a:avLst/>
          </a:prstGeom>
        </p:spPr>
      </p:pic>
      <p:sp>
        <p:nvSpPr>
          <p:cNvPr id="13" name="Text 9"/>
          <p:cNvSpPr/>
          <p:nvPr/>
        </p:nvSpPr>
        <p:spPr>
          <a:xfrm>
            <a:off x="5212080" y="19476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A title that names the failure</a:t>
            </a:r>
            <a:endParaRPr lang="en-US" sz="1700" dirty="0"/>
          </a:p>
        </p:txBody>
      </p:sp>
      <p:sp>
        <p:nvSpPr>
          <p:cNvPr id="14" name="Text 10"/>
          <p:cNvSpPr/>
          <p:nvPr/>
        </p:nvSpPr>
        <p:spPr>
          <a:xfrm>
            <a:off x="4526280" y="26974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What a person sees, not a guess at why</a:t>
            </a:r>
            <a:endParaRPr lang="en-US" sz="1500" dirty="0"/>
          </a:p>
        </p:txBody>
      </p:sp>
      <p:sp>
        <p:nvSpPr>
          <p:cNvPr id="15" name="Shape 11"/>
          <p:cNvSpPr/>
          <p:nvPr/>
        </p:nvSpPr>
        <p:spPr>
          <a:xfrm>
            <a:off x="8046720" y="17830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275320" y="2011680"/>
            <a:ext cx="548640" cy="548640"/>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423453" y="2159813"/>
            <a:ext cx="252374" cy="252374"/>
          </a:xfrm>
          <a:prstGeom prst="rect">
            <a:avLst/>
          </a:prstGeom>
        </p:spPr>
      </p:pic>
      <p:sp>
        <p:nvSpPr>
          <p:cNvPr id="18" name="Text 13"/>
          <p:cNvSpPr/>
          <p:nvPr/>
        </p:nvSpPr>
        <p:spPr>
          <a:xfrm>
            <a:off x="8961120" y="19476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Steps to reproduce</a:t>
            </a:r>
            <a:endParaRPr lang="en-US" sz="1700" dirty="0"/>
          </a:p>
        </p:txBody>
      </p:sp>
      <p:sp>
        <p:nvSpPr>
          <p:cNvPr id="19" name="Text 14"/>
          <p:cNvSpPr/>
          <p:nvPr/>
        </p:nvSpPr>
        <p:spPr>
          <a:xfrm>
            <a:off x="8275320" y="26974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Numbered, minimal, from a known starting point</a:t>
            </a:r>
            <a:endParaRPr lang="en-US" sz="1500" dirty="0"/>
          </a:p>
        </p:txBody>
      </p:sp>
      <p:sp>
        <p:nvSpPr>
          <p:cNvPr id="20" name="Shape 15"/>
          <p:cNvSpPr/>
          <p:nvPr/>
        </p:nvSpPr>
        <p:spPr>
          <a:xfrm>
            <a:off x="548640" y="38404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777240" y="4069080"/>
            <a:ext cx="548640" cy="548640"/>
          </a:xfrm>
          <a:prstGeom prst="ellipse">
            <a:avLst/>
          </a:prstGeom>
          <a:solidFill>
            <a:srgbClr val="12908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925373" y="4217213"/>
            <a:ext cx="252374" cy="252374"/>
          </a:xfrm>
          <a:prstGeom prst="rect">
            <a:avLst/>
          </a:prstGeom>
        </p:spPr>
      </p:pic>
      <p:sp>
        <p:nvSpPr>
          <p:cNvPr id="23" name="Text 17"/>
          <p:cNvSpPr/>
          <p:nvPr/>
        </p:nvSpPr>
        <p:spPr>
          <a:xfrm>
            <a:off x="1463040" y="40050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Expected vs. actual</a:t>
            </a:r>
            <a:endParaRPr lang="en-US" sz="1700" dirty="0"/>
          </a:p>
        </p:txBody>
      </p:sp>
      <p:sp>
        <p:nvSpPr>
          <p:cNvPr id="24" name="Text 18"/>
          <p:cNvSpPr/>
          <p:nvPr/>
        </p:nvSpPr>
        <p:spPr>
          <a:xfrm>
            <a:off x="777240" y="47548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Both. "It's broken" is only half</a:t>
            </a:r>
            <a:endParaRPr lang="en-US" sz="1500" dirty="0"/>
          </a:p>
        </p:txBody>
      </p:sp>
      <p:sp>
        <p:nvSpPr>
          <p:cNvPr id="25" name="Shape 19"/>
          <p:cNvSpPr/>
          <p:nvPr/>
        </p:nvSpPr>
        <p:spPr>
          <a:xfrm>
            <a:off x="4297680" y="38404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0"/>
          <p:cNvSpPr/>
          <p:nvPr/>
        </p:nvSpPr>
        <p:spPr>
          <a:xfrm>
            <a:off x="4526280" y="4069080"/>
            <a:ext cx="548640" cy="548640"/>
          </a:xfrm>
          <a:prstGeom prst="ellipse">
            <a:avLst/>
          </a:prstGeom>
          <a:solidFill>
            <a:srgbClr val="12908F"/>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674413" y="4217213"/>
            <a:ext cx="252374" cy="252374"/>
          </a:xfrm>
          <a:prstGeom prst="rect">
            <a:avLst/>
          </a:prstGeom>
        </p:spPr>
      </p:pic>
      <p:sp>
        <p:nvSpPr>
          <p:cNvPr id="28" name="Text 21"/>
          <p:cNvSpPr/>
          <p:nvPr/>
        </p:nvSpPr>
        <p:spPr>
          <a:xfrm>
            <a:off x="5212080" y="40050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Environment and version</a:t>
            </a:r>
            <a:endParaRPr lang="en-US" sz="1700" dirty="0"/>
          </a:p>
        </p:txBody>
      </p:sp>
      <p:sp>
        <p:nvSpPr>
          <p:cNvPr id="29" name="Text 22"/>
          <p:cNvSpPr/>
          <p:nvPr/>
        </p:nvSpPr>
        <p:spPr>
          <a:xfrm>
            <a:off x="4526280" y="47548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OS, browser, version, commit</a:t>
            </a:r>
            <a:endParaRPr lang="en-US" sz="1500" dirty="0"/>
          </a:p>
        </p:txBody>
      </p:sp>
      <p:sp>
        <p:nvSpPr>
          <p:cNvPr id="30" name="Shape 23"/>
          <p:cNvSpPr/>
          <p:nvPr/>
        </p:nvSpPr>
        <p:spPr>
          <a:xfrm>
            <a:off x="8046720" y="3840480"/>
            <a:ext cx="3566160" cy="1874520"/>
          </a:xfrm>
          <a:prstGeom prst="roundRect">
            <a:avLst>
              <a:gd name="adj" fmla="val 439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31" name="Shape 24"/>
          <p:cNvSpPr/>
          <p:nvPr/>
        </p:nvSpPr>
        <p:spPr>
          <a:xfrm>
            <a:off x="8275320" y="4069080"/>
            <a:ext cx="548640" cy="548640"/>
          </a:xfrm>
          <a:prstGeom prst="ellipse">
            <a:avLst/>
          </a:prstGeom>
          <a:solidFill>
            <a:srgbClr val="12908F"/>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423453" y="4217213"/>
            <a:ext cx="252374" cy="252374"/>
          </a:xfrm>
          <a:prstGeom prst="rect">
            <a:avLst/>
          </a:prstGeom>
        </p:spPr>
      </p:pic>
      <p:sp>
        <p:nvSpPr>
          <p:cNvPr id="33" name="Text 25"/>
          <p:cNvSpPr/>
          <p:nvPr/>
        </p:nvSpPr>
        <p:spPr>
          <a:xfrm>
            <a:off x="8961120" y="4005072"/>
            <a:ext cx="2468880" cy="685800"/>
          </a:xfrm>
          <a:prstGeom prst="rect">
            <a:avLst/>
          </a:prstGeom>
          <a:noFill/>
          <a:ln/>
        </p:spPr>
        <p:txBody>
          <a:bodyPr wrap="square" lIns="0" tIns="0" rIns="0" bIns="0" rtlCol="0" anchor="ctr"/>
          <a:lstStyle/>
          <a:p>
            <a:pPr marL="0" indent="0">
              <a:buNone/>
            </a:pPr>
            <a:r>
              <a:rPr lang="en-US" sz="1700" b="1" dirty="0">
                <a:solidFill>
                  <a:srgbClr val="1E2A36"/>
                </a:solidFill>
                <a:latin typeface="Calibri" pitchFamily="34" charset="0"/>
                <a:ea typeface="Calibri" pitchFamily="34" charset="-122"/>
                <a:cs typeface="Calibri" pitchFamily="34" charset="-120"/>
              </a:rPr>
              <a:t>Evidence</a:t>
            </a:r>
            <a:endParaRPr lang="en-US" sz="1700" dirty="0"/>
          </a:p>
        </p:txBody>
      </p:sp>
      <p:sp>
        <p:nvSpPr>
          <p:cNvPr id="34" name="Text 26"/>
          <p:cNvSpPr/>
          <p:nvPr/>
        </p:nvSpPr>
        <p:spPr>
          <a:xfrm>
            <a:off x="8275320" y="4754880"/>
            <a:ext cx="3108960" cy="868680"/>
          </a:xfrm>
          <a:prstGeom prst="rect">
            <a:avLst/>
          </a:prstGeom>
          <a:noFill/>
          <a:ln/>
        </p:spPr>
        <p:txBody>
          <a:bodyPr wrap="square" lIns="0" tIns="0" rIns="0" bIns="0" rtlCol="0" anchor="t"/>
          <a:lstStyle/>
          <a:p>
            <a:pPr marL="0" indent="0">
              <a:buNone/>
            </a:pPr>
            <a:r>
              <a:rPr lang="en-US" sz="1500" dirty="0">
                <a:solidFill>
                  <a:srgbClr val="5F7284"/>
                </a:solidFill>
                <a:latin typeface="Calibri" pitchFamily="34" charset="0"/>
                <a:ea typeface="Calibri" pitchFamily="34" charset="-122"/>
                <a:cs typeface="Calibri" pitchFamily="34" charset="-120"/>
              </a:rPr>
              <a:t>The verbatim error, a log, a screenshot, a file</a:t>
            </a:r>
            <a:endParaRPr lang="en-US" sz="1500" dirty="0"/>
          </a:p>
        </p:txBody>
      </p:sp>
      <p:sp>
        <p:nvSpPr>
          <p:cNvPr id="35" name="Text 27"/>
          <p:cNvSpPr/>
          <p:nvPr/>
        </p:nvSpPr>
        <p:spPr>
          <a:xfrm>
            <a:off x="548640" y="5943600"/>
            <a:ext cx="11064240" cy="365760"/>
          </a:xfrm>
          <a:prstGeom prst="rect">
            <a:avLst/>
          </a:prstGeom>
          <a:noFill/>
          <a:ln/>
        </p:spPr>
        <p:txBody>
          <a:bodyPr wrap="square" lIns="0" tIns="0" rIns="0" bIns="0" rtlCol="0" anchor="ctr"/>
          <a:lstStyle/>
          <a:p>
            <a:pPr marL="0" indent="0" algn="ctr">
              <a:buNone/>
            </a:pPr>
            <a:r>
              <a:rPr lang="en-US" sz="1500" i="1" dirty="0">
                <a:solidFill>
                  <a:srgbClr val="5F7284"/>
                </a:solidFill>
                <a:latin typeface="Calibri" pitchFamily="34" charset="0"/>
                <a:ea typeface="Calibri" pitchFamily="34" charset="-122"/>
                <a:cs typeface="Calibri" pitchFamily="34" charset="-120"/>
              </a:rPr>
              <a:t>Next: real reports, weakest first, from repositories the instructor works in.</a:t>
            </a:r>
            <a:endParaRPr lang="en-US" sz="1500" dirty="0"/>
          </a:p>
        </p:txBody>
      </p:sp>
      <p:sp>
        <p:nvSpPr>
          <p:cNvPr id="36" name="Text 28"/>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37" name="Text 29"/>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WEAK</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failure never makes it onto the page</a:t>
            </a:r>
            <a:endParaRPr lang="en-US" sz="3100" dirty="0"/>
          </a:p>
        </p:txBody>
      </p:sp>
      <p:sp>
        <p:nvSpPr>
          <p:cNvPr id="5" name="Text 3"/>
          <p:cNvSpPr/>
          <p:nvPr/>
        </p:nvSpPr>
        <p:spPr>
          <a:xfrm>
            <a:off x="548640" y="1691640"/>
            <a:ext cx="5440680" cy="365760"/>
          </a:xfrm>
          <a:prstGeom prst="rect">
            <a:avLst/>
          </a:prstGeom>
          <a:noFill/>
          <a:ln/>
        </p:spPr>
        <p:txBody>
          <a:bodyPr wrap="square" lIns="0" tIns="0" rIns="0" bIns="0" rtlCol="0" anchor="ctr"/>
          <a:lstStyle/>
          <a:p>
            <a:pPr marL="0" indent="0">
              <a:buNone/>
            </a:pPr>
            <a:r>
              <a:rPr lang="en-US" sz="1500" b="1" dirty="0">
                <a:solidFill>
                  <a:srgbClr val="5F7284"/>
                </a:solidFill>
                <a:latin typeface="Calibri" pitchFamily="34" charset="0"/>
                <a:ea typeface="Calibri" pitchFamily="34" charset="-122"/>
                <a:cs typeface="Calibri" pitchFamily="34" charset="-120"/>
              </a:rPr>
              <a:t>SSW #11</a:t>
            </a:r>
            <a:endParaRPr lang="en-US" sz="1500" dirty="0"/>
          </a:p>
        </p:txBody>
      </p:sp>
      <p:sp>
        <p:nvSpPr>
          <p:cNvPr id="6" name="Shape 4"/>
          <p:cNvSpPr/>
          <p:nvPr/>
        </p:nvSpPr>
        <p:spPr>
          <a:xfrm>
            <a:off x="548640" y="2057400"/>
            <a:ext cx="5440680" cy="1508760"/>
          </a:xfrm>
          <a:prstGeom prst="roundRect">
            <a:avLst>
              <a:gd name="adj" fmla="val 4848"/>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822960" y="2221992"/>
            <a:ext cx="4892040" cy="1179576"/>
          </a:xfrm>
          <a:prstGeom prst="rect">
            <a:avLst/>
          </a:prstGeom>
          <a:noFill/>
          <a:ln/>
        </p:spPr>
        <p:txBody>
          <a:bodyPr wrap="square" lIns="0" tIns="0" rIns="0" bIns="0" rtlCol="0" anchor="t"/>
          <a:lstStyle/>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Map occasionally vanished from</a:t>
            </a:r>
            <a:endParaRPr lang="en-US" sz="1600" dirty="0"/>
          </a:p>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frame on Windows</a:t>
            </a:r>
            <a:endParaRPr lang="en-US" sz="1600" dirty="0"/>
          </a:p>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marL="0" indent="0">
              <a:lnSpc>
                <a:spcPct val="105000"/>
              </a:lnSpc>
              <a:buNone/>
            </a:pPr>
            <a:r>
              <a:rPr lang="en-US" sz="1600" dirty="0">
                <a:solidFill>
                  <a:srgbClr val="9FB4C7"/>
                </a:solidFill>
                <a:latin typeface="Consolas" pitchFamily="34" charset="0"/>
                <a:ea typeface="Consolas" pitchFamily="34" charset="-122"/>
                <a:cs typeface="Consolas" pitchFamily="34" charset="-120"/>
              </a:rPr>
              <a:t>(no description)</a:t>
            </a:r>
            <a:endParaRPr lang="en-US" sz="1600" dirty="0"/>
          </a:p>
        </p:txBody>
      </p:sp>
      <p:sp>
        <p:nvSpPr>
          <p:cNvPr id="8" name="Text 6"/>
          <p:cNvSpPr/>
          <p:nvPr/>
        </p:nvSpPr>
        <p:spPr>
          <a:xfrm>
            <a:off x="6172200" y="1691640"/>
            <a:ext cx="5440680" cy="365760"/>
          </a:xfrm>
          <a:prstGeom prst="rect">
            <a:avLst/>
          </a:prstGeom>
          <a:noFill/>
          <a:ln/>
        </p:spPr>
        <p:txBody>
          <a:bodyPr wrap="square" lIns="0" tIns="0" rIns="0" bIns="0" rtlCol="0" anchor="ctr"/>
          <a:lstStyle/>
          <a:p>
            <a:pPr marL="0" indent="0">
              <a:buNone/>
            </a:pPr>
            <a:r>
              <a:rPr lang="en-US" sz="1500" b="1" dirty="0">
                <a:solidFill>
                  <a:srgbClr val="5F7284"/>
                </a:solidFill>
                <a:latin typeface="Calibri" pitchFamily="34" charset="0"/>
                <a:ea typeface="Calibri" pitchFamily="34" charset="-122"/>
                <a:cs typeface="Calibri" pitchFamily="34" charset="-120"/>
              </a:rPr>
              <a:t>byu_pytest_utils #16</a:t>
            </a:r>
            <a:endParaRPr lang="en-US" sz="1500" dirty="0"/>
          </a:p>
        </p:txBody>
      </p:sp>
      <p:sp>
        <p:nvSpPr>
          <p:cNvPr id="9" name="Shape 7"/>
          <p:cNvSpPr/>
          <p:nvPr/>
        </p:nvSpPr>
        <p:spPr>
          <a:xfrm>
            <a:off x="6172200" y="2057400"/>
            <a:ext cx="5440680" cy="1508760"/>
          </a:xfrm>
          <a:prstGeom prst="roundRect">
            <a:avLst>
              <a:gd name="adj" fmla="val 4848"/>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6446520" y="2221992"/>
            <a:ext cx="4892040" cy="1179576"/>
          </a:xfrm>
          <a:prstGeom prst="rect">
            <a:avLst/>
          </a:prstGeom>
          <a:noFill/>
          <a:ln/>
        </p:spPr>
        <p:txBody>
          <a:bodyPr wrap="square" lIns="0" tIns="0" rIns="0" bIns="0" rtlCol="0" anchor="t"/>
          <a:lstStyle/>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Not including error when output</a:t>
            </a:r>
            <a:endParaRPr lang="en-US" sz="1600" dirty="0"/>
          </a:p>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file is not found.</a:t>
            </a:r>
            <a:endParaRPr lang="en-US" sz="1600" dirty="0"/>
          </a:p>
          <a:p>
            <a:pPr marL="0" indent="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marL="0" indent="0">
              <a:lnSpc>
                <a:spcPct val="105000"/>
              </a:lnSpc>
              <a:buNone/>
            </a:pPr>
            <a:r>
              <a:rPr lang="en-US" sz="1600" dirty="0">
                <a:solidFill>
                  <a:srgbClr val="9FB4C7"/>
                </a:solidFill>
                <a:latin typeface="Consolas" pitchFamily="34" charset="0"/>
                <a:ea typeface="Consolas" pitchFamily="34" charset="-122"/>
                <a:cs typeface="Consolas" pitchFamily="34" charset="-120"/>
              </a:rPr>
              <a:t>See dialog.py line 216</a:t>
            </a:r>
            <a:endParaRPr lang="en-US" sz="1600" dirty="0"/>
          </a:p>
        </p:txBody>
      </p:sp>
      <p:sp>
        <p:nvSpPr>
          <p:cNvPr id="11" name="click-1"/>
          <p:cNvSpPr/>
          <p:nvPr/>
        </p:nvSpPr>
        <p:spPr>
          <a:xfrm>
            <a:off x="548640" y="3840480"/>
            <a:ext cx="11064240" cy="2331720"/>
          </a:xfrm>
          <a:prstGeom prst="roundRect">
            <a:avLst>
              <a:gd name="adj" fmla="val 3529"/>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12" name="click-1"/>
          <p:cNvSpPr/>
          <p:nvPr/>
        </p:nvSpPr>
        <p:spPr>
          <a:xfrm>
            <a:off x="868680" y="3840480"/>
            <a:ext cx="10424160" cy="2331720"/>
          </a:xfrm>
          <a:prstGeom prst="rect">
            <a:avLst/>
          </a:prstGeom>
          <a:noFill/>
          <a:ln/>
        </p:spPr>
        <p:txBody>
          <a:bodyPr wrap="square" lIns="0" tIns="0" rIns="0" bIns="0" rtlCol="0" anchor="ctr"/>
          <a:lstStyle/>
          <a:p>
            <a:pPr marL="0" indent="0">
              <a:lnSpc>
                <a:spcPct val="105000"/>
              </a:lnSpc>
              <a:buNone/>
            </a:pPr>
            <a:r>
              <a:rPr lang="en-US" sz="1700" b="1" dirty="0">
                <a:solidFill>
                  <a:srgbClr val="0E6E6D"/>
                </a:solidFill>
                <a:latin typeface="Calibri" pitchFamily="34" charset="0"/>
                <a:ea typeface="Calibri" pitchFamily="34" charset="-122"/>
                <a:cs typeface="Calibri" pitchFamily="34" charset="-120"/>
              </a:rPr>
              <a:t>What's missing:  </a:t>
            </a:r>
            <a:r>
              <a:rPr lang="en-US" sz="1700" dirty="0">
                <a:solidFill>
                  <a:srgbClr val="1E2A36"/>
                </a:solidFill>
                <a:latin typeface="Calibri" pitchFamily="34" charset="0"/>
                <a:ea typeface="Calibri" pitchFamily="34" charset="-122"/>
                <a:cs typeface="Calibri" pitchFamily="34" charset="-120"/>
              </a:rPr>
              <a:t>#11: which window, doing what, and how often is "occasionally"? It got fixed only because the reporter was also the fixer. #16 never says what a user sees; it points at a line of code. The reporter skipped the failure and went straight to where they thought the defect was.</a:t>
            </a:r>
            <a:endParaRPr lang="en-US" sz="17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MIDDLE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template is filled in. The report still isn't written.</a:t>
            </a:r>
            <a:endParaRPr lang="en-US" sz="3100" dirty="0"/>
          </a:p>
        </p:txBody>
      </p:sp>
      <p:sp>
        <p:nvSpPr>
          <p:cNvPr id="5" name="Text 3"/>
          <p:cNvSpPr/>
          <p:nvPr/>
        </p:nvSpPr>
        <p:spPr>
          <a:xfrm>
            <a:off x="548640" y="1691640"/>
            <a:ext cx="11064240" cy="365760"/>
          </a:xfrm>
          <a:prstGeom prst="rect">
            <a:avLst/>
          </a:prstGeom>
          <a:noFill/>
          <a:ln/>
        </p:spPr>
        <p:txBody>
          <a:bodyPr wrap="square" lIns="0" tIns="0" rIns="0" bIns="0" rtlCol="0" anchor="ctr"/>
          <a:lstStyle/>
          <a:p>
            <a:pPr marL="0" indent="0">
              <a:buNone/>
            </a:pPr>
            <a:r>
              <a:rPr lang="en-US" sz="1500" b="1" dirty="0">
                <a:solidFill>
                  <a:srgbClr val="5F7284"/>
                </a:solidFill>
                <a:latin typeface="Calibri" pitchFamily="34" charset="0"/>
                <a:ea typeface="Calibri" pitchFamily="34" charset="-122"/>
                <a:cs typeface="Calibri" pitchFamily="34" charset="-120"/>
              </a:rPr>
              <a:t>mdx-canvas #93 · "Cannot link to syllabus"</a:t>
            </a:r>
            <a:endParaRPr lang="en-US" sz="1500" dirty="0"/>
          </a:p>
        </p:txBody>
      </p:sp>
      <p:sp>
        <p:nvSpPr>
          <p:cNvPr id="6" name="Shape 4"/>
          <p:cNvSpPr/>
          <p:nvPr/>
        </p:nvSpPr>
        <p:spPr>
          <a:xfrm>
            <a:off x="548640" y="2057400"/>
            <a:ext cx="11064240" cy="2331720"/>
          </a:xfrm>
          <a:prstGeom prst="roundRect">
            <a:avLst>
              <a:gd name="adj" fmla="val 3137"/>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822960" y="2221992"/>
            <a:ext cx="10515600" cy="2002536"/>
          </a:xfrm>
          <a:prstGeom prst="rect">
            <a:avLst/>
          </a:prstGeom>
          <a:noFill/>
          <a:ln/>
        </p:spPr>
        <p:txBody>
          <a:bodyPr wrap="square" lIns="0" tIns="0" rIns="0" bIns="0" rtlCol="0" anchor="t"/>
          <a:lstStyle/>
          <a:p>
            <a:pPr marL="0" indent="0">
              <a:lnSpc>
                <a:spcPct val="105000"/>
              </a:lnSpc>
              <a:buNone/>
            </a:pPr>
            <a:r>
              <a:rPr lang="en-US" sz="1450" dirty="0">
                <a:solidFill>
                  <a:srgbClr val="9FB4C7"/>
                </a:solidFill>
                <a:latin typeface="Consolas" pitchFamily="34" charset="0"/>
                <a:ea typeface="Consolas" pitchFamily="34" charset="-122"/>
                <a:cs typeface="Consolas" pitchFamily="34" charset="-120"/>
              </a:rPr>
              <a:t>Describe the bug</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With the latest update to mdx-canvas, you cannot link to a syllabus using the &lt;course-link&gt; tag</a:t>
            </a:r>
            <a:endParaRPr lang="en-US" sz="1450" dirty="0"/>
          </a:p>
          <a:p>
            <a:pPr marL="0" indent="0">
              <a:lnSpc>
                <a:spcPct val="105000"/>
              </a:lnSpc>
              <a:buNone/>
            </a:pPr>
            <a:r>
              <a:rPr lang="en-US" sz="1450" dirty="0">
                <a:solidFill>
                  <a:srgbClr val="9FB4C7"/>
                </a:solidFill>
                <a:latin typeface="Consolas" pitchFamily="34" charset="0"/>
                <a:ea typeface="Consolas" pitchFamily="34" charset="-122"/>
                <a:cs typeface="Consolas" pitchFamily="34" charset="-120"/>
              </a:rPr>
              <a:t>To Reproduce</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Attempt to deploy any file with a &lt;course-link type="syllabus" title="Syllabus"/&gt; tag in it.</a:t>
            </a:r>
            <a:endParaRPr lang="en-US" sz="1450" dirty="0"/>
          </a:p>
          <a:p>
            <a:pPr marL="0" indent="0">
              <a:lnSpc>
                <a:spcPct val="105000"/>
              </a:lnSpc>
              <a:buNone/>
            </a:pPr>
            <a:r>
              <a:rPr lang="en-US" sz="1450" dirty="0">
                <a:solidFill>
                  <a:srgbClr val="9FB4C7"/>
                </a:solidFill>
                <a:latin typeface="Consolas" pitchFamily="34" charset="0"/>
                <a:ea typeface="Consolas" pitchFamily="34" charset="-122"/>
                <a:cs typeface="Consolas" pitchFamily="34" charset="-120"/>
              </a:rPr>
              <a:t>Expected behavior</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We should be able to link to it in the above fashion as before, or something similar.</a:t>
            </a:r>
            <a:endParaRPr lang="en-US" sz="1450" dirty="0"/>
          </a:p>
        </p:txBody>
      </p:sp>
      <p:sp>
        <p:nvSpPr>
          <p:cNvPr id="8" name="click-1"/>
          <p:cNvSpPr/>
          <p:nvPr/>
        </p:nvSpPr>
        <p:spPr>
          <a:xfrm>
            <a:off x="548640" y="4617720"/>
            <a:ext cx="11064240" cy="1554480"/>
          </a:xfrm>
          <a:prstGeom prst="roundRect">
            <a:avLst>
              <a:gd name="adj" fmla="val 5294"/>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9" name="click-1"/>
          <p:cNvSpPr/>
          <p:nvPr/>
        </p:nvSpPr>
        <p:spPr>
          <a:xfrm>
            <a:off x="868680" y="4617720"/>
            <a:ext cx="10424160" cy="1554480"/>
          </a:xfrm>
          <a:prstGeom prst="rect">
            <a:avLst/>
          </a:prstGeom>
          <a:noFill/>
          <a:ln/>
        </p:spPr>
        <p:txBody>
          <a:bodyPr wrap="square" lIns="0" tIns="0" rIns="0" bIns="0" rtlCol="0" anchor="ctr"/>
          <a:lstStyle/>
          <a:p>
            <a:pPr marL="0" indent="0">
              <a:lnSpc>
                <a:spcPct val="105000"/>
              </a:lnSpc>
              <a:buNone/>
            </a:pPr>
            <a:r>
              <a:rPr lang="en-US" sz="1700" b="1" dirty="0">
                <a:solidFill>
                  <a:srgbClr val="0E6E6D"/>
                </a:solidFill>
                <a:latin typeface="Calibri" pitchFamily="34" charset="0"/>
                <a:ea typeface="Calibri" pitchFamily="34" charset="-122"/>
                <a:cs typeface="Calibri" pitchFamily="34" charset="-120"/>
              </a:rPr>
              <a:t>What to notice:  </a:t>
            </a:r>
            <a:r>
              <a:rPr lang="en-US" sz="1700" dirty="0">
                <a:solidFill>
                  <a:srgbClr val="1E2A36"/>
                </a:solidFill>
                <a:latin typeface="Calibri" pitchFamily="34" charset="0"/>
                <a:ea typeface="Calibri" pitchFamily="34" charset="-122"/>
                <a:cs typeface="Calibri" pitchFamily="34" charset="-120"/>
              </a:rPr>
              <a:t>Every heading is there, and the reproduction step is good. But "the latest update" isn't a version, and "cannot" doesn't say what happened: an error? A broken link? Nothing at all? Actual behavior is the missing half.</a:t>
            </a:r>
            <a:endParaRPr lang="en-US" sz="17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MIDDLE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title names the failure, not a guess</a:t>
            </a:r>
            <a:endParaRPr lang="en-US" sz="3100" dirty="0"/>
          </a:p>
        </p:txBody>
      </p:sp>
      <p:sp>
        <p:nvSpPr>
          <p:cNvPr id="5" name="Text 3"/>
          <p:cNvSpPr/>
          <p:nvPr/>
        </p:nvSpPr>
        <p:spPr>
          <a:xfrm>
            <a:off x="548640" y="1691640"/>
            <a:ext cx="11064240" cy="365760"/>
          </a:xfrm>
          <a:prstGeom prst="rect">
            <a:avLst/>
          </a:prstGeom>
          <a:noFill/>
          <a:ln/>
        </p:spPr>
        <p:txBody>
          <a:bodyPr wrap="square" lIns="0" tIns="0" rIns="0" bIns="0" rtlCol="0" anchor="ctr"/>
          <a:lstStyle/>
          <a:p>
            <a:pPr marL="0" indent="0">
              <a:buNone/>
            </a:pPr>
            <a:r>
              <a:rPr lang="en-US" sz="1500" b="1" dirty="0">
                <a:solidFill>
                  <a:srgbClr val="5F7284"/>
                </a:solidFill>
                <a:latin typeface="Calibri" pitchFamily="34" charset="0"/>
                <a:ea typeface="Calibri" pitchFamily="34" charset="-122"/>
                <a:cs typeface="Calibri" pitchFamily="34" charset="-120"/>
              </a:rPr>
              <a:t>mdx-canvas #139 · mine</a:t>
            </a:r>
            <a:endParaRPr lang="en-US" sz="1500" dirty="0"/>
          </a:p>
        </p:txBody>
      </p:sp>
      <p:sp>
        <p:nvSpPr>
          <p:cNvPr id="6" name="Shape 4"/>
          <p:cNvSpPr/>
          <p:nvPr/>
        </p:nvSpPr>
        <p:spPr>
          <a:xfrm>
            <a:off x="548640" y="2057400"/>
            <a:ext cx="11064240" cy="2331720"/>
          </a:xfrm>
          <a:prstGeom prst="roundRect">
            <a:avLst>
              <a:gd name="adj" fmla="val 3137"/>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822960" y="2221992"/>
            <a:ext cx="10515600" cy="2002536"/>
          </a:xfrm>
          <a:prstGeom prst="rect">
            <a:avLst/>
          </a:prstGeom>
          <a:noFill/>
          <a:ln/>
        </p:spPr>
        <p:txBody>
          <a:bodyPr wrap="square" lIns="0" tIns="0" rIns="0" bIns="0" rtlCol="0" anchor="t"/>
          <a:lstStyle/>
          <a:p>
            <a:pPr marL="0" indent="0">
              <a:lnSpc>
                <a:spcPct val="105000"/>
              </a:lnSpc>
              <a:buNone/>
            </a:pPr>
            <a:r>
              <a:rPr lang="en-US" sz="1450" dirty="0">
                <a:solidFill>
                  <a:srgbClr val="E8A33D"/>
                </a:solidFill>
                <a:latin typeface="Consolas" pitchFamily="34" charset="0"/>
                <a:ea typeface="Consolas" pitchFamily="34" charset="-122"/>
                <a:cs typeface="Consolas" pitchFamily="34" charset="-120"/>
              </a:rPr>
              <a:t>deploy fails when answer contains a URL with an IP address</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Apparently mdxcanvas can't handle URLs with IP addresses in them and tries to</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follow the link and fails?</a:t>
            </a:r>
            <a:endParaRPr lang="en-US" sz="1450" dirty="0"/>
          </a:p>
          <a:p>
            <a:pPr marL="0" indent="0">
              <a:lnSpc>
                <a:spcPct val="105000"/>
              </a:lnSpc>
              <a:buNone/>
            </a:pPr>
            <a:r>
              <a:rPr lang="en-US" sz="1450" dirty="0">
                <a:solidFill>
                  <a:srgbClr val="9FB4C7"/>
                </a:solidFill>
                <a:latin typeface="Consolas" pitchFamily="34" charset="0"/>
                <a:ea typeface="Consolas" pitchFamily="34" charset="-122"/>
                <a:cs typeface="Consolas" pitchFamily="34" charset="-120"/>
              </a:rPr>
              <a:t>  … the question's full source …</a:t>
            </a:r>
            <a:endParaRPr lang="en-US" sz="1450" dirty="0"/>
          </a:p>
          <a:p>
            <a:pPr marL="0" indent="0">
              <a:lnSpc>
                <a:spcPct val="105000"/>
              </a:lnSpc>
              <a:buNone/>
            </a:pPr>
            <a:r>
              <a:rPr lang="en-US" sz="1450" dirty="0">
                <a:solidFill>
                  <a:srgbClr val="F4A99A"/>
                </a:solidFill>
                <a:latin typeface="Consolas" pitchFamily="34" charset="0"/>
                <a:ea typeface="Consolas" pitchFamily="34" charset="-122"/>
                <a:cs typeface="Consolas" pitchFamily="34" charset="-120"/>
              </a:rPr>
              <a:t>ERROR - Error deploying quiz_question RQ_HYP|q18  Forbidden: 403 ERROR … cloudfront</a:t>
            </a:r>
            <a:endParaRPr lang="en-US" sz="1450" dirty="0"/>
          </a:p>
        </p:txBody>
      </p:sp>
      <p:sp>
        <p:nvSpPr>
          <p:cNvPr id="8" name="click-1"/>
          <p:cNvSpPr/>
          <p:nvPr/>
        </p:nvSpPr>
        <p:spPr>
          <a:xfrm>
            <a:off x="548640" y="4617720"/>
            <a:ext cx="11064240" cy="1554480"/>
          </a:xfrm>
          <a:prstGeom prst="roundRect">
            <a:avLst>
              <a:gd name="adj" fmla="val 5294"/>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9" name="click-1"/>
          <p:cNvSpPr/>
          <p:nvPr/>
        </p:nvSpPr>
        <p:spPr>
          <a:xfrm>
            <a:off x="868680" y="4617720"/>
            <a:ext cx="10424160" cy="1554480"/>
          </a:xfrm>
          <a:prstGeom prst="rect">
            <a:avLst/>
          </a:prstGeom>
          <a:noFill/>
          <a:ln/>
        </p:spPr>
        <p:txBody>
          <a:bodyPr wrap="square" lIns="0" tIns="0" rIns="0" bIns="0" rtlCol="0" anchor="ctr"/>
          <a:lstStyle/>
          <a:p>
            <a:pPr marL="0" indent="0">
              <a:lnSpc>
                <a:spcPct val="105000"/>
              </a:lnSpc>
              <a:buNone/>
            </a:pPr>
            <a:r>
              <a:rPr lang="en-US" sz="1700" b="1" dirty="0">
                <a:solidFill>
                  <a:srgbClr val="0E6E6D"/>
                </a:solidFill>
                <a:latin typeface="Calibri" pitchFamily="34" charset="0"/>
                <a:ea typeface="Calibri" pitchFamily="34" charset="-122"/>
                <a:cs typeface="Calibri" pitchFamily="34" charset="-120"/>
              </a:rPr>
              <a:t>What to notice:  </a:t>
            </a:r>
            <a:r>
              <a:rPr lang="en-US" sz="1700" dirty="0">
                <a:solidFill>
                  <a:srgbClr val="1E2A36"/>
                </a:solidFill>
                <a:latin typeface="Calibri" pitchFamily="34" charset="0"/>
                <a:ea typeface="Calibri" pitchFamily="34" charset="-122"/>
                <a:cs typeface="Calibri" pitchFamily="34" charset="-120"/>
              </a:rPr>
              <a:t>Full input and the verbatim error: good. But the title asserts a cause the reporter was guessing at. The failure is "deploy returns 403 Forbidden." The guess goes in the body, labelled as a guess.</a:t>
            </a:r>
            <a:endParaRPr lang="en-US" sz="17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STRONG · MDX-CANVAS #74 · TABLES WITH &lt;BR/&gt; FAIL TO RENDER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Every part present, and the guess kept apart</a:t>
            </a:r>
            <a:endParaRPr lang="en-US" sz="3100" dirty="0"/>
          </a:p>
        </p:txBody>
      </p:sp>
      <p:sp>
        <p:nvSpPr>
          <p:cNvPr id="5" name="Shape 3"/>
          <p:cNvSpPr/>
          <p:nvPr/>
        </p:nvSpPr>
        <p:spPr>
          <a:xfrm>
            <a:off x="548640" y="1783080"/>
            <a:ext cx="11064240" cy="548640"/>
          </a:xfrm>
          <a:prstGeom prst="roundRect">
            <a:avLst>
              <a:gd name="adj" fmla="val 15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731520" y="1874520"/>
            <a:ext cx="365760" cy="365760"/>
          </a:xfrm>
          <a:prstGeom prst="ellipse">
            <a:avLst/>
          </a:prstGeom>
          <a:solidFill>
            <a:srgbClr val="3E9C6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30275" y="1973275"/>
            <a:ext cx="168250" cy="168250"/>
          </a:xfrm>
          <a:prstGeom prst="rect">
            <a:avLst/>
          </a:prstGeom>
        </p:spPr>
      </p:pic>
      <p:sp>
        <p:nvSpPr>
          <p:cNvPr id="8" name="Text 5"/>
          <p:cNvSpPr/>
          <p:nvPr/>
        </p:nvSpPr>
        <p:spPr>
          <a:xfrm>
            <a:off x="1280160" y="1783080"/>
            <a:ext cx="2926080" cy="548640"/>
          </a:xfrm>
          <a:prstGeom prst="rect">
            <a:avLst/>
          </a:prstGeom>
          <a:noFill/>
          <a:ln/>
        </p:spPr>
        <p:txBody>
          <a:bodyPr wrap="square" lIns="0" tIns="0" rIns="0" bIns="0" rtlCol="0" anchor="ctr"/>
          <a:lstStyle/>
          <a:p>
            <a:pPr marL="0" indent="0">
              <a:buNone/>
            </a:pPr>
            <a:r>
              <a:rPr lang="en-US" sz="1600" b="1" dirty="0">
                <a:solidFill>
                  <a:srgbClr val="0E6E6D"/>
                </a:solidFill>
                <a:latin typeface="Calibri" pitchFamily="34" charset="0"/>
                <a:ea typeface="Calibri" pitchFamily="34" charset="-122"/>
                <a:cs typeface="Calibri" pitchFamily="34" charset="-120"/>
              </a:rPr>
              <a:t>The input</a:t>
            </a:r>
            <a:endParaRPr lang="en-US" sz="1600" dirty="0"/>
          </a:p>
        </p:txBody>
      </p:sp>
      <p:sp>
        <p:nvSpPr>
          <p:cNvPr id="9" name="Text 6"/>
          <p:cNvSpPr/>
          <p:nvPr/>
        </p:nvSpPr>
        <p:spPr>
          <a:xfrm>
            <a:off x="4206240" y="1783080"/>
            <a:ext cx="7223760" cy="54864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The exact Markdown table that fails, pasted in full</a:t>
            </a:r>
            <a:endParaRPr lang="en-US" sz="1550" dirty="0"/>
          </a:p>
        </p:txBody>
      </p:sp>
      <p:sp>
        <p:nvSpPr>
          <p:cNvPr id="10" name="Shape 7"/>
          <p:cNvSpPr/>
          <p:nvPr/>
        </p:nvSpPr>
        <p:spPr>
          <a:xfrm>
            <a:off x="548640" y="2441448"/>
            <a:ext cx="11064240" cy="548640"/>
          </a:xfrm>
          <a:prstGeom prst="roundRect">
            <a:avLst>
              <a:gd name="adj" fmla="val 15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731520" y="2532888"/>
            <a:ext cx="365760" cy="365760"/>
          </a:xfrm>
          <a:prstGeom prst="ellipse">
            <a:avLst/>
          </a:prstGeom>
          <a:solidFill>
            <a:srgbClr val="3E9C6B"/>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830275" y="2631643"/>
            <a:ext cx="168250" cy="168250"/>
          </a:xfrm>
          <a:prstGeom prst="rect">
            <a:avLst/>
          </a:prstGeom>
        </p:spPr>
      </p:pic>
      <p:sp>
        <p:nvSpPr>
          <p:cNvPr id="13" name="Text 9"/>
          <p:cNvSpPr/>
          <p:nvPr/>
        </p:nvSpPr>
        <p:spPr>
          <a:xfrm>
            <a:off x="1280160" y="2441448"/>
            <a:ext cx="2926080" cy="548640"/>
          </a:xfrm>
          <a:prstGeom prst="rect">
            <a:avLst/>
          </a:prstGeom>
          <a:noFill/>
          <a:ln/>
        </p:spPr>
        <p:txBody>
          <a:bodyPr wrap="square" lIns="0" tIns="0" rIns="0" bIns="0" rtlCol="0" anchor="ctr"/>
          <a:lstStyle/>
          <a:p>
            <a:pPr marL="0" indent="0">
              <a:buNone/>
            </a:pPr>
            <a:r>
              <a:rPr lang="en-US" sz="1600" b="1" dirty="0">
                <a:solidFill>
                  <a:srgbClr val="0E6E6D"/>
                </a:solidFill>
                <a:latin typeface="Calibri" pitchFamily="34" charset="0"/>
                <a:ea typeface="Calibri" pitchFamily="34" charset="-122"/>
                <a:cs typeface="Calibri" pitchFamily="34" charset="-120"/>
              </a:rPr>
              <a:t>Actual</a:t>
            </a:r>
            <a:endParaRPr lang="en-US" sz="1600" dirty="0"/>
          </a:p>
        </p:txBody>
      </p:sp>
      <p:sp>
        <p:nvSpPr>
          <p:cNvPr id="14" name="Text 10"/>
          <p:cNvSpPr/>
          <p:nvPr/>
        </p:nvSpPr>
        <p:spPr>
          <a:xfrm>
            <a:off x="4206240" y="2441448"/>
            <a:ext cx="7223760" cy="54864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A screenshot of what Canvas rendered</a:t>
            </a:r>
            <a:endParaRPr lang="en-US" sz="1550" dirty="0"/>
          </a:p>
        </p:txBody>
      </p:sp>
      <p:sp>
        <p:nvSpPr>
          <p:cNvPr id="15" name="Shape 11"/>
          <p:cNvSpPr/>
          <p:nvPr/>
        </p:nvSpPr>
        <p:spPr>
          <a:xfrm>
            <a:off x="548640" y="3099816"/>
            <a:ext cx="11064240" cy="548640"/>
          </a:xfrm>
          <a:prstGeom prst="roundRect">
            <a:avLst>
              <a:gd name="adj" fmla="val 15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731520" y="3191256"/>
            <a:ext cx="365760" cy="365760"/>
          </a:xfrm>
          <a:prstGeom prst="ellipse">
            <a:avLst/>
          </a:prstGeom>
          <a:solidFill>
            <a:srgbClr val="3E9C6B"/>
          </a:solidFill>
          <a:ln/>
        </p:spPr>
        <p:txBody>
          <a:bodyPr/>
          <a:lstStyle/>
          <a:p>
            <a:endParaRPr lang="en-US"/>
          </a:p>
        </p:txBody>
      </p:sp>
      <p:pic>
        <p:nvPicPr>
          <p:cNvPr id="17" name="Image 2" descr="preencoded.png"/>
          <p:cNvPicPr>
            <a:picLocks noChangeAspect="1"/>
          </p:cNvPicPr>
          <p:nvPr/>
        </p:nvPicPr>
        <p:blipFill>
          <a:blip r:embed="rId3"/>
          <a:stretch>
            <a:fillRect/>
          </a:stretch>
        </p:blipFill>
        <p:spPr>
          <a:xfrm>
            <a:off x="830275" y="3290011"/>
            <a:ext cx="168250" cy="168250"/>
          </a:xfrm>
          <a:prstGeom prst="rect">
            <a:avLst/>
          </a:prstGeom>
        </p:spPr>
      </p:pic>
      <p:sp>
        <p:nvSpPr>
          <p:cNvPr id="18" name="Text 13"/>
          <p:cNvSpPr/>
          <p:nvPr/>
        </p:nvSpPr>
        <p:spPr>
          <a:xfrm>
            <a:off x="1280160" y="3099816"/>
            <a:ext cx="2926080" cy="548640"/>
          </a:xfrm>
          <a:prstGeom prst="rect">
            <a:avLst/>
          </a:prstGeom>
          <a:noFill/>
          <a:ln/>
        </p:spPr>
        <p:txBody>
          <a:bodyPr wrap="square" lIns="0" tIns="0" rIns="0" bIns="0" rtlCol="0" anchor="ctr"/>
          <a:lstStyle/>
          <a:p>
            <a:pPr marL="0" indent="0">
              <a:buNone/>
            </a:pPr>
            <a:r>
              <a:rPr lang="en-US" sz="1600" b="1" dirty="0">
                <a:solidFill>
                  <a:srgbClr val="0E6E6D"/>
                </a:solidFill>
                <a:latin typeface="Calibri" pitchFamily="34" charset="0"/>
                <a:ea typeface="Calibri" pitchFamily="34" charset="-122"/>
                <a:cs typeface="Calibri" pitchFamily="34" charset="-120"/>
              </a:rPr>
              <a:t>Steps</a:t>
            </a:r>
            <a:endParaRPr lang="en-US" sz="1600" dirty="0"/>
          </a:p>
        </p:txBody>
      </p:sp>
      <p:sp>
        <p:nvSpPr>
          <p:cNvPr id="19" name="Text 14"/>
          <p:cNvSpPr/>
          <p:nvPr/>
        </p:nvSpPr>
        <p:spPr>
          <a:xfrm>
            <a:off x="4206240" y="3099816"/>
            <a:ext cx="7223760" cy="54864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Push this table with mdxcanvas, view the result</a:t>
            </a:r>
            <a:endParaRPr lang="en-US" sz="1550" dirty="0"/>
          </a:p>
        </p:txBody>
      </p:sp>
      <p:sp>
        <p:nvSpPr>
          <p:cNvPr id="20" name="Shape 15"/>
          <p:cNvSpPr/>
          <p:nvPr/>
        </p:nvSpPr>
        <p:spPr>
          <a:xfrm>
            <a:off x="548640" y="3758184"/>
            <a:ext cx="11064240" cy="548640"/>
          </a:xfrm>
          <a:prstGeom prst="roundRect">
            <a:avLst>
              <a:gd name="adj" fmla="val 15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731520" y="3849624"/>
            <a:ext cx="365760" cy="365760"/>
          </a:xfrm>
          <a:prstGeom prst="ellipse">
            <a:avLst/>
          </a:prstGeom>
          <a:solidFill>
            <a:srgbClr val="3E9C6B"/>
          </a:solidFill>
          <a:ln/>
        </p:spPr>
        <p:txBody>
          <a:bodyPr/>
          <a:lstStyle/>
          <a:p>
            <a:endParaRPr lang="en-US"/>
          </a:p>
        </p:txBody>
      </p:sp>
      <p:pic>
        <p:nvPicPr>
          <p:cNvPr id="22" name="Image 3" descr="preencoded.png"/>
          <p:cNvPicPr>
            <a:picLocks noChangeAspect="1"/>
          </p:cNvPicPr>
          <p:nvPr/>
        </p:nvPicPr>
        <p:blipFill>
          <a:blip r:embed="rId3"/>
          <a:stretch>
            <a:fillRect/>
          </a:stretch>
        </p:blipFill>
        <p:spPr>
          <a:xfrm>
            <a:off x="830275" y="3948379"/>
            <a:ext cx="168250" cy="168250"/>
          </a:xfrm>
          <a:prstGeom prst="rect">
            <a:avLst/>
          </a:prstGeom>
        </p:spPr>
      </p:pic>
      <p:sp>
        <p:nvSpPr>
          <p:cNvPr id="23" name="Text 17"/>
          <p:cNvSpPr/>
          <p:nvPr/>
        </p:nvSpPr>
        <p:spPr>
          <a:xfrm>
            <a:off x="1280160" y="3758184"/>
            <a:ext cx="2926080" cy="548640"/>
          </a:xfrm>
          <a:prstGeom prst="rect">
            <a:avLst/>
          </a:prstGeom>
          <a:noFill/>
          <a:ln/>
        </p:spPr>
        <p:txBody>
          <a:bodyPr wrap="square" lIns="0" tIns="0" rIns="0" bIns="0" rtlCol="0" anchor="ctr"/>
          <a:lstStyle/>
          <a:p>
            <a:pPr marL="0" indent="0">
              <a:buNone/>
            </a:pPr>
            <a:r>
              <a:rPr lang="en-US" sz="1600" b="1" dirty="0">
                <a:solidFill>
                  <a:srgbClr val="0E6E6D"/>
                </a:solidFill>
                <a:latin typeface="Calibri" pitchFamily="34" charset="0"/>
                <a:ea typeface="Calibri" pitchFamily="34" charset="-122"/>
                <a:cs typeface="Calibri" pitchFamily="34" charset="-120"/>
              </a:rPr>
              <a:t>Expected</a:t>
            </a:r>
            <a:endParaRPr lang="en-US" sz="1600" dirty="0"/>
          </a:p>
        </p:txBody>
      </p:sp>
      <p:sp>
        <p:nvSpPr>
          <p:cNvPr id="24" name="Text 18"/>
          <p:cNvSpPr/>
          <p:nvPr/>
        </p:nvSpPr>
        <p:spPr>
          <a:xfrm>
            <a:off x="4206240" y="3758184"/>
            <a:ext cx="7223760" cy="54864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A screenshot of the table it should have been</a:t>
            </a:r>
            <a:endParaRPr lang="en-US" sz="1550" dirty="0"/>
          </a:p>
        </p:txBody>
      </p:sp>
      <p:sp>
        <p:nvSpPr>
          <p:cNvPr id="25" name="Shape 19"/>
          <p:cNvSpPr/>
          <p:nvPr/>
        </p:nvSpPr>
        <p:spPr>
          <a:xfrm>
            <a:off x="548640" y="4416552"/>
            <a:ext cx="11064240" cy="548640"/>
          </a:xfrm>
          <a:prstGeom prst="roundRect">
            <a:avLst>
              <a:gd name="adj" fmla="val 15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0"/>
          <p:cNvSpPr/>
          <p:nvPr/>
        </p:nvSpPr>
        <p:spPr>
          <a:xfrm>
            <a:off x="731520" y="4507992"/>
            <a:ext cx="365760" cy="365760"/>
          </a:xfrm>
          <a:prstGeom prst="ellipse">
            <a:avLst/>
          </a:prstGeom>
          <a:solidFill>
            <a:srgbClr val="3E9C6B"/>
          </a:solidFill>
          <a:ln/>
        </p:spPr>
        <p:txBody>
          <a:bodyPr/>
          <a:lstStyle/>
          <a:p>
            <a:endParaRPr lang="en-US"/>
          </a:p>
        </p:txBody>
      </p:sp>
      <p:pic>
        <p:nvPicPr>
          <p:cNvPr id="27" name="Image 4" descr="preencoded.png"/>
          <p:cNvPicPr>
            <a:picLocks noChangeAspect="1"/>
          </p:cNvPicPr>
          <p:nvPr/>
        </p:nvPicPr>
        <p:blipFill>
          <a:blip r:embed="rId3"/>
          <a:stretch>
            <a:fillRect/>
          </a:stretch>
        </p:blipFill>
        <p:spPr>
          <a:xfrm>
            <a:off x="830275" y="4606747"/>
            <a:ext cx="168250" cy="168250"/>
          </a:xfrm>
          <a:prstGeom prst="rect">
            <a:avLst/>
          </a:prstGeom>
        </p:spPr>
      </p:pic>
      <p:sp>
        <p:nvSpPr>
          <p:cNvPr id="28" name="Text 21"/>
          <p:cNvSpPr/>
          <p:nvPr/>
        </p:nvSpPr>
        <p:spPr>
          <a:xfrm>
            <a:off x="1280160" y="4416552"/>
            <a:ext cx="2926080" cy="548640"/>
          </a:xfrm>
          <a:prstGeom prst="rect">
            <a:avLst/>
          </a:prstGeom>
          <a:noFill/>
          <a:ln/>
        </p:spPr>
        <p:txBody>
          <a:bodyPr wrap="square" lIns="0" tIns="0" rIns="0" bIns="0" rtlCol="0" anchor="ctr"/>
          <a:lstStyle/>
          <a:p>
            <a:pPr marL="0" indent="0">
              <a:buNone/>
            </a:pPr>
            <a:r>
              <a:rPr lang="en-US" sz="1600" b="1" dirty="0">
                <a:solidFill>
                  <a:srgbClr val="0E6E6D"/>
                </a:solidFill>
                <a:latin typeface="Calibri" pitchFamily="34" charset="0"/>
                <a:ea typeface="Calibri" pitchFamily="34" charset="-122"/>
                <a:cs typeface="Calibri" pitchFamily="34" charset="-120"/>
              </a:rPr>
              <a:t>Environment</a:t>
            </a:r>
            <a:endParaRPr lang="en-US" sz="1600" dirty="0"/>
          </a:p>
        </p:txBody>
      </p:sp>
      <p:sp>
        <p:nvSpPr>
          <p:cNvPr id="29" name="Text 22"/>
          <p:cNvSpPr/>
          <p:nvPr/>
        </p:nvSpPr>
        <p:spPr>
          <a:xfrm>
            <a:off x="4206240" y="4416552"/>
            <a:ext cx="7223760" cy="54864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OS, browser, version</a:t>
            </a:r>
            <a:endParaRPr lang="en-US" sz="1550" dirty="0"/>
          </a:p>
        </p:txBody>
      </p:sp>
      <p:sp>
        <p:nvSpPr>
          <p:cNvPr id="30" name="Shape 23"/>
          <p:cNvSpPr/>
          <p:nvPr/>
        </p:nvSpPr>
        <p:spPr>
          <a:xfrm>
            <a:off x="548640" y="5074920"/>
            <a:ext cx="11064240" cy="868680"/>
          </a:xfrm>
          <a:prstGeom prst="roundRect">
            <a:avLst>
              <a:gd name="adj" fmla="val 9474"/>
            </a:avLst>
          </a:prstGeom>
          <a:solidFill>
            <a:srgbClr val="EAF4EE"/>
          </a:solidFill>
          <a:ln/>
          <a:effectLst>
            <a:outerShdw blurRad="88900" dist="38100" dir="5400000" algn="bl" rotWithShape="0">
              <a:srgbClr val="000000">
                <a:alpha val="13000"/>
              </a:srgbClr>
            </a:outerShdw>
          </a:effectLst>
        </p:spPr>
        <p:txBody>
          <a:bodyPr/>
          <a:lstStyle/>
          <a:p>
            <a:endParaRPr lang="en-US"/>
          </a:p>
        </p:txBody>
      </p:sp>
      <p:sp>
        <p:nvSpPr>
          <p:cNvPr id="31" name="Shape 24"/>
          <p:cNvSpPr/>
          <p:nvPr/>
        </p:nvSpPr>
        <p:spPr>
          <a:xfrm>
            <a:off x="731520" y="5326380"/>
            <a:ext cx="365760" cy="365760"/>
          </a:xfrm>
          <a:prstGeom prst="ellipse">
            <a:avLst/>
          </a:prstGeom>
          <a:solidFill>
            <a:srgbClr val="3E9C6B"/>
          </a:solidFill>
          <a:ln/>
        </p:spPr>
        <p:txBody>
          <a:bodyPr/>
          <a:lstStyle/>
          <a:p>
            <a:endParaRPr lang="en-US"/>
          </a:p>
        </p:txBody>
      </p:sp>
      <p:pic>
        <p:nvPicPr>
          <p:cNvPr id="32" name="Image 5" descr="preencoded.png"/>
          <p:cNvPicPr>
            <a:picLocks noChangeAspect="1"/>
          </p:cNvPicPr>
          <p:nvPr/>
        </p:nvPicPr>
        <p:blipFill>
          <a:blip r:embed="rId3"/>
          <a:stretch>
            <a:fillRect/>
          </a:stretch>
        </p:blipFill>
        <p:spPr>
          <a:xfrm>
            <a:off x="830275" y="5425135"/>
            <a:ext cx="168250" cy="168250"/>
          </a:xfrm>
          <a:prstGeom prst="rect">
            <a:avLst/>
          </a:prstGeom>
        </p:spPr>
      </p:pic>
      <p:sp>
        <p:nvSpPr>
          <p:cNvPr id="33" name="Text 25"/>
          <p:cNvSpPr/>
          <p:nvPr/>
        </p:nvSpPr>
        <p:spPr>
          <a:xfrm>
            <a:off x="1280160" y="5074920"/>
            <a:ext cx="2926080" cy="868680"/>
          </a:xfrm>
          <a:prstGeom prst="rect">
            <a:avLst/>
          </a:prstGeom>
          <a:noFill/>
          <a:ln/>
        </p:spPr>
        <p:txBody>
          <a:bodyPr wrap="square" lIns="0" tIns="0" rIns="0" bIns="0" rtlCol="0" anchor="ctr"/>
          <a:lstStyle/>
          <a:p>
            <a:pPr marL="0" indent="0">
              <a:buNone/>
            </a:pPr>
            <a:r>
              <a:rPr lang="en-US" sz="1600" b="1" dirty="0">
                <a:solidFill>
                  <a:srgbClr val="3E9C6B"/>
                </a:solidFill>
                <a:latin typeface="Calibri" pitchFamily="34" charset="0"/>
                <a:ea typeface="Calibri" pitchFamily="34" charset="-122"/>
                <a:cs typeface="Calibri" pitchFamily="34" charset="-120"/>
              </a:rPr>
              <a:t>A hypothesis, kept apart</a:t>
            </a:r>
            <a:endParaRPr lang="en-US" sz="1600" dirty="0"/>
          </a:p>
        </p:txBody>
      </p:sp>
      <p:sp>
        <p:nvSpPr>
          <p:cNvPr id="34" name="Text 26"/>
          <p:cNvSpPr/>
          <p:nvPr/>
        </p:nvSpPr>
        <p:spPr>
          <a:xfrm>
            <a:off x="4206240" y="5074920"/>
            <a:ext cx="7223760" cy="868680"/>
          </a:xfrm>
          <a:prstGeom prst="rect">
            <a:avLst/>
          </a:prstGeom>
          <a:noFill/>
          <a:ln/>
        </p:spPr>
        <p:txBody>
          <a:bodyPr wrap="square" lIns="0" tIns="0" rIns="0" bIns="0" rtlCol="0" anchor="ctr"/>
          <a:lstStyle/>
          <a:p>
            <a:pPr marL="0" indent="0">
              <a:buNone/>
            </a:pPr>
            <a:r>
              <a:rPr lang="en-US" sz="1550" dirty="0">
                <a:solidFill>
                  <a:srgbClr val="1E2A36"/>
                </a:solidFill>
                <a:latin typeface="Calibri" pitchFamily="34" charset="0"/>
                <a:ea typeface="Calibri" pitchFamily="34" charset="-122"/>
                <a:cs typeface="Calibri" pitchFamily="34" charset="-120"/>
              </a:rPr>
              <a:t>Under Additional context: "In my personal testing, this is fixed by adding br to…" with a link to the line</a:t>
            </a:r>
            <a:endParaRPr lang="en-US" sz="1550" dirty="0"/>
          </a:p>
        </p:txBody>
      </p:sp>
      <p:sp>
        <p:nvSpPr>
          <p:cNvPr id="35" name="Text 2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YOUR TURN · PAIRS, 3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Rewrite jetbrains-recorder #3 so a stranger could act on it</a:t>
            </a:r>
            <a:endParaRPr lang="en-US" sz="3100" dirty="0"/>
          </a:p>
        </p:txBody>
      </p:sp>
      <p:sp>
        <p:nvSpPr>
          <p:cNvPr id="5" name="Shape 3"/>
          <p:cNvSpPr/>
          <p:nvPr/>
        </p:nvSpPr>
        <p:spPr>
          <a:xfrm>
            <a:off x="548640" y="1783080"/>
            <a:ext cx="11064240" cy="1188720"/>
          </a:xfrm>
          <a:prstGeom prst="roundRect">
            <a:avLst>
              <a:gd name="adj" fmla="val 6154"/>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47672"/>
            <a:ext cx="10515600" cy="859536"/>
          </a:xfrm>
          <a:prstGeom prst="rect">
            <a:avLst/>
          </a:prstGeom>
          <a:noFill/>
          <a:ln/>
        </p:spPr>
        <p:txBody>
          <a:bodyPr wrap="square" lIns="0" tIns="0" rIns="0" bIns="0" rtlCol="0" anchor="t"/>
          <a:lstStyle/>
          <a:p>
            <a:pPr marL="0" indent="0">
              <a:lnSpc>
                <a:spcPct val="105000"/>
              </a:lnSpc>
              <a:buNone/>
            </a:pPr>
            <a:r>
              <a:rPr lang="en-US" sz="1500" dirty="0">
                <a:solidFill>
                  <a:srgbClr val="E8EEF3"/>
                </a:solidFill>
                <a:latin typeface="Consolas" pitchFamily="34" charset="0"/>
                <a:ea typeface="Consolas" pitchFamily="34" charset="-122"/>
                <a:cs typeface="Consolas" pitchFamily="34" charset="-120"/>
              </a:rPr>
              <a:t>No recording generated when file is nested in subdirectories</a:t>
            </a:r>
            <a:endParaRPr lang="en-US" sz="1500" dirty="0"/>
          </a:p>
          <a:p>
            <a:pPr marL="0" indent="0">
              <a:lnSpc>
                <a:spcPct val="105000"/>
              </a:lnSpc>
              <a:buNone/>
            </a:pPr>
            <a:r>
              <a:rPr lang="en-US" sz="1500" dirty="0">
                <a:solidFill>
                  <a:srgbClr val="9FB4C7"/>
                </a:solidFill>
                <a:latin typeface="Consolas" pitchFamily="34" charset="0"/>
                <a:ea typeface="Consolas" pitchFamily="34" charset="-122"/>
                <a:cs typeface="Consolas" pitchFamily="34" charset="-120"/>
              </a:rPr>
              <a:t>I had a student who observed no recording file generated unless she was</a:t>
            </a:r>
            <a:endParaRPr lang="en-US" sz="1500" dirty="0"/>
          </a:p>
          <a:p>
            <a:pPr marL="0" indent="0">
              <a:lnSpc>
                <a:spcPct val="105000"/>
              </a:lnSpc>
              <a:buNone/>
            </a:pPr>
            <a:r>
              <a:rPr lang="en-US" sz="1500" dirty="0">
                <a:solidFill>
                  <a:srgbClr val="9FB4C7"/>
                </a:solidFill>
                <a:latin typeface="Consolas" pitchFamily="34" charset="0"/>
                <a:ea typeface="Consolas" pitchFamily="34" charset="-122"/>
                <a:cs typeface="Consolas" pitchFamily="34" charset="-120"/>
              </a:rPr>
              <a:t>in the directory that the file she was editing was in.</a:t>
            </a:r>
            <a:endParaRPr lang="en-US" sz="1500" dirty="0"/>
          </a:p>
        </p:txBody>
      </p:sp>
      <p:sp>
        <p:nvSpPr>
          <p:cNvPr id="7" name="click-1"/>
          <p:cNvSpPr/>
          <p:nvPr/>
        </p:nvSpPr>
        <p:spPr>
          <a:xfrm>
            <a:off x="548640" y="3154680"/>
            <a:ext cx="11064240" cy="3017520"/>
          </a:xfrm>
          <a:prstGeom prst="roundRect">
            <a:avLst>
              <a:gd name="adj" fmla="val 2424"/>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click-1"/>
          <p:cNvSpPr/>
          <p:nvPr/>
        </p:nvSpPr>
        <p:spPr>
          <a:xfrm>
            <a:off x="822960" y="3319272"/>
            <a:ext cx="10515600" cy="2688336"/>
          </a:xfrm>
          <a:prstGeom prst="rect">
            <a:avLst/>
          </a:prstGeom>
          <a:noFill/>
          <a:ln/>
        </p:spPr>
        <p:txBody>
          <a:bodyPr wrap="square" lIns="0" tIns="0" rIns="0" bIns="0" rtlCol="0" anchor="t"/>
          <a:lstStyle/>
          <a:p>
            <a:pPr marL="0" indent="0">
              <a:lnSpc>
                <a:spcPct val="105000"/>
              </a:lnSpc>
              <a:buNone/>
            </a:pPr>
            <a:r>
              <a:rPr lang="en-US" sz="1450" dirty="0">
                <a:solidFill>
                  <a:srgbClr val="9FE0B5"/>
                </a:solidFill>
                <a:latin typeface="Consolas" pitchFamily="34" charset="0"/>
                <a:ea typeface="Consolas" pitchFamily="34" charset="-122"/>
                <a:cs typeface="Consolas" pitchFamily="34" charset="-120"/>
              </a:rPr>
              <a:t>No recording file created when the edited file is in a subdirectory</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1. Open a project in [IDE + version] with the recorder [version] installed</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2. Open [project]/[subdirectory]/[file] and edit it</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3. Save, then look for the recording in [where it should appear]</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Expected     [a recording for that file, at that location]</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Actual       [no recording anywhere? or somewhere unexpected?]</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Narrowing    Works when [the file is in the directory you opened]</a:t>
            </a:r>
            <a:endParaRPr lang="en-US" sz="1450" dirty="0"/>
          </a:p>
          <a:p>
            <a:pPr marL="0" indent="0">
              <a:lnSpc>
                <a:spcPct val="105000"/>
              </a:lnSpc>
              <a:buNone/>
            </a:pPr>
            <a:r>
              <a:rPr lang="en-US" sz="1450" dirty="0">
                <a:solidFill>
                  <a:srgbClr val="E8EEF3"/>
                </a:solidFill>
                <a:latin typeface="Consolas" pitchFamily="34" charset="0"/>
                <a:ea typeface="Consolas" pitchFamily="34" charset="-122"/>
                <a:cs typeface="Consolas" pitchFamily="34" charset="-120"/>
              </a:rPr>
              <a:t>Note         Reported secondhand; not yet reproduced by me</a:t>
            </a:r>
            <a:endParaRPr lang="en-US" sz="1450" dirty="0"/>
          </a:p>
        </p:txBody>
      </p:sp>
      <p:sp>
        <p:nvSpPr>
          <p:cNvPr id="9" name="Text 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0" name="Text 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NOW YOURS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starter issues from Wednesday's lab</a:t>
            </a:r>
            <a:endParaRPr lang="en-US" sz="3100" dirty="0"/>
          </a:p>
        </p:txBody>
      </p:sp>
      <p:sp>
        <p:nvSpPr>
          <p:cNvPr id="5" name="Shape 3"/>
          <p:cNvSpPr/>
          <p:nvPr/>
        </p:nvSpPr>
        <p:spPr>
          <a:xfrm>
            <a:off x="548640" y="1783080"/>
            <a:ext cx="6675120" cy="3200400"/>
          </a:xfrm>
          <a:prstGeom prst="roundRect">
            <a:avLst>
              <a:gd name="adj" fmla="val 2571"/>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01168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5906" y="2174626"/>
            <a:ext cx="277612" cy="277612"/>
          </a:xfrm>
          <a:prstGeom prst="rect">
            <a:avLst/>
          </a:prstGeom>
        </p:spPr>
      </p:pic>
      <p:sp>
        <p:nvSpPr>
          <p:cNvPr id="8" name="Text 5"/>
          <p:cNvSpPr/>
          <p:nvPr/>
        </p:nvSpPr>
        <p:spPr>
          <a:xfrm>
            <a:off x="1600200" y="2011680"/>
            <a:ext cx="5486400" cy="603504"/>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Open your project's issues</a:t>
            </a:r>
            <a:endParaRPr lang="en-US" sz="1900" dirty="0"/>
          </a:p>
        </p:txBody>
      </p:sp>
      <p:sp>
        <p:nvSpPr>
          <p:cNvPr id="9" name="Text 6"/>
          <p:cNvSpPr/>
          <p:nvPr/>
        </p:nvSpPr>
        <p:spPr>
          <a:xfrm>
            <a:off x="914400" y="2834640"/>
            <a:ext cx="6126480" cy="201168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You wrote these before any of this was taught</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Hold each one against the six parts</a:t>
            </a:r>
            <a:endParaRPr lang="en-US" sz="1700" dirty="0"/>
          </a:p>
          <a:p>
            <a:pPr marL="203200" indent="-203200">
              <a:buSzPct val="100000"/>
              <a:buChar char="•"/>
            </a:pPr>
            <a:r>
              <a:rPr lang="en-US" sz="1700" dirty="0">
                <a:solidFill>
                  <a:srgbClr val="1E2A36"/>
                </a:solidFill>
                <a:latin typeface="Calibri" pitchFamily="34" charset="0"/>
                <a:ea typeface="Calibri" pitchFamily="34" charset="-122"/>
                <a:cs typeface="Calibri" pitchFamily="34" charset="-120"/>
              </a:rPr>
              <a:t>Which part is missing most often?</a:t>
            </a:r>
            <a:endParaRPr lang="en-US" sz="1700" dirty="0"/>
          </a:p>
        </p:txBody>
      </p:sp>
      <p:sp>
        <p:nvSpPr>
          <p:cNvPr id="10" name="Shape 7"/>
          <p:cNvSpPr/>
          <p:nvPr/>
        </p:nvSpPr>
        <p:spPr>
          <a:xfrm>
            <a:off x="7452360" y="1783080"/>
            <a:ext cx="4160520" cy="3200400"/>
          </a:xfrm>
          <a:prstGeom prst="roundRect">
            <a:avLst>
              <a:gd name="adj" fmla="val 2571"/>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1" name="Text 8"/>
          <p:cNvSpPr/>
          <p:nvPr/>
        </p:nvSpPr>
        <p:spPr>
          <a:xfrm>
            <a:off x="7726680" y="1965960"/>
            <a:ext cx="3657600" cy="457200"/>
          </a:xfrm>
          <a:prstGeom prst="rect">
            <a:avLst/>
          </a:prstGeom>
          <a:noFill/>
          <a:ln/>
        </p:spPr>
        <p:txBody>
          <a:bodyPr wrap="square" lIns="0" tIns="0" rIns="0" bIns="0" rtlCol="0" anchor="ctr"/>
          <a:lstStyle/>
          <a:p>
            <a:pPr marL="0" indent="0">
              <a:buNone/>
            </a:pPr>
            <a:r>
              <a:rPr lang="en-US" sz="1900" b="1" dirty="0">
                <a:solidFill>
                  <a:srgbClr val="E8A33D"/>
                </a:solidFill>
                <a:latin typeface="Calibri" pitchFamily="34" charset="0"/>
                <a:ea typeface="Calibri" pitchFamily="34" charset="-122"/>
                <a:cs typeface="Calibri" pitchFamily="34" charset="-120"/>
              </a:rPr>
              <a:t>Fix one now</a:t>
            </a:r>
            <a:endParaRPr lang="en-US" sz="1900" dirty="0"/>
          </a:p>
        </p:txBody>
      </p:sp>
      <p:sp>
        <p:nvSpPr>
          <p:cNvPr id="12" name="Text 9"/>
          <p:cNvSpPr/>
          <p:nvPr/>
        </p:nvSpPr>
        <p:spPr>
          <a:xfrm>
            <a:off x="7726680" y="2560320"/>
            <a:ext cx="3657600" cy="2286000"/>
          </a:xfrm>
          <a:prstGeom prst="rect">
            <a:avLst/>
          </a:prstGeom>
          <a:noFill/>
          <a:ln/>
        </p:spPr>
        <p:txBody>
          <a:bodyPr wrap="square" lIns="0" tIns="0" rIns="0" bIns="0" rtlCol="0" anchor="t"/>
          <a:lstStyle/>
          <a:p>
            <a:pPr marL="0" indent="0">
              <a:lnSpc>
                <a:spcPct val="105000"/>
              </a:lnSpc>
              <a:buNone/>
            </a:pPr>
            <a:r>
              <a:rPr lang="en-US" sz="1650" dirty="0">
                <a:solidFill>
                  <a:srgbClr val="FFFFFF"/>
                </a:solidFill>
                <a:latin typeface="Calibri" pitchFamily="34" charset="0"/>
                <a:ea typeface="Calibri" pitchFamily="34" charset="-122"/>
                <a:cs typeface="Calibri" pitchFamily="34" charset="-120"/>
              </a:rPr>
              <a:t>Edit the weakest issue until a stranger could act on it. Editing your own issue is normal, and nobody loses anything.</a:t>
            </a:r>
            <a:endParaRPr lang="en-US" sz="1650" dirty="0"/>
          </a:p>
        </p:txBody>
      </p:sp>
      <p:sp>
        <p:nvSpPr>
          <p:cNvPr id="13" name="Shape 10"/>
          <p:cNvSpPr/>
          <p:nvPr/>
        </p:nvSpPr>
        <p:spPr>
          <a:xfrm>
            <a:off x="548640" y="5212080"/>
            <a:ext cx="11064240" cy="960120"/>
          </a:xfrm>
          <a:prstGeom prst="roundRect">
            <a:avLst>
              <a:gd name="adj" fmla="val 8571"/>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14" name="Text 11"/>
          <p:cNvSpPr/>
          <p:nvPr/>
        </p:nvSpPr>
        <p:spPr>
          <a:xfrm>
            <a:off x="868680" y="5212080"/>
            <a:ext cx="10424160" cy="960120"/>
          </a:xfrm>
          <a:prstGeom prst="rect">
            <a:avLst/>
          </a:prstGeom>
          <a:noFill/>
          <a:ln/>
        </p:spPr>
        <p:txBody>
          <a:bodyPr wrap="square" lIns="0" tIns="0" rIns="0" bIns="0" rtlCol="0" anchor="ctr"/>
          <a:lstStyle/>
          <a:p>
            <a:pPr marL="0" indent="0">
              <a:buNone/>
            </a:pPr>
            <a:r>
              <a:rPr lang="en-US" sz="1650" dirty="0">
                <a:solidFill>
                  <a:srgbClr val="1E2A36"/>
                </a:solidFill>
                <a:latin typeface="Calibri" pitchFamily="34" charset="0"/>
                <a:ea typeface="Calibri" pitchFamily="34" charset="-122"/>
                <a:cs typeface="Calibri" pitchFamily="34" charset="-120"/>
              </a:rPr>
              <a:t>Start saving links now. CP9 asks for your two best bug reports and your best feature request, from this semester.</a:t>
            </a:r>
            <a:endParaRPr lang="en-US" sz="1650" dirty="0"/>
          </a:p>
        </p:txBody>
      </p:sp>
      <p:sp>
        <p:nvSpPr>
          <p:cNvPr id="15" name="Text 1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16" name="Text 1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FOUNDER'S MOVE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You don't just write reports. You design the norms.</a:t>
            </a:r>
            <a:endParaRPr lang="en-US" sz="3100" dirty="0"/>
          </a:p>
        </p:txBody>
      </p:sp>
      <p:sp>
        <p:nvSpPr>
          <p:cNvPr id="5" name="Shape 3"/>
          <p:cNvSpPr/>
          <p:nvPr/>
        </p:nvSpPr>
        <p:spPr>
          <a:xfrm>
            <a:off x="548640" y="1783080"/>
            <a:ext cx="3566160" cy="2331720"/>
          </a:xfrm>
          <a:prstGeom prst="roundRect">
            <a:avLst>
              <a:gd name="adj" fmla="val 35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01168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5906" y="2174626"/>
            <a:ext cx="277612" cy="277612"/>
          </a:xfrm>
          <a:prstGeom prst="rect">
            <a:avLst/>
          </a:prstGeom>
        </p:spPr>
      </p:pic>
      <p:sp>
        <p:nvSpPr>
          <p:cNvPr id="8" name="Text 5"/>
          <p:cNvSpPr/>
          <p:nvPr/>
        </p:nvSpPr>
        <p:spPr>
          <a:xfrm>
            <a:off x="1600200" y="2011680"/>
            <a:ext cx="2331720" cy="603504"/>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Bug template</a:t>
            </a:r>
            <a:endParaRPr lang="en-US" sz="1900" dirty="0"/>
          </a:p>
        </p:txBody>
      </p:sp>
      <p:sp>
        <p:nvSpPr>
          <p:cNvPr id="9" name="Text 6"/>
          <p:cNvSpPr/>
          <p:nvPr/>
        </p:nvSpPr>
        <p:spPr>
          <a:xfrm>
            <a:off x="822960" y="2743200"/>
            <a:ext cx="3017520" cy="1325880"/>
          </a:xfrm>
          <a:prstGeom prst="rect">
            <a:avLst/>
          </a:prstGeom>
          <a:noFill/>
          <a:ln/>
        </p:spPr>
        <p:txBody>
          <a:bodyPr wrap="square" lIns="0" tIns="0" rIns="0" bIns="0" rtlCol="0" anchor="t"/>
          <a:lstStyle/>
          <a:p>
            <a:pPr marL="0" indent="0">
              <a:lnSpc>
                <a:spcPct val="103000"/>
              </a:lnSpc>
              <a:buNone/>
            </a:pPr>
            <a:r>
              <a:rPr lang="en-US" sz="1550" dirty="0">
                <a:solidFill>
                  <a:srgbClr val="1E2A36"/>
                </a:solidFill>
                <a:latin typeface="Calibri" pitchFamily="34" charset="0"/>
                <a:ea typeface="Calibri" pitchFamily="34" charset="-122"/>
                <a:cs typeface="Calibri" pitchFamily="34" charset="-120"/>
              </a:rPr>
              <a:t>Asks for the six parts. Borrow Rich's trick: if one command can capture the environment, put it in the template.</a:t>
            </a:r>
            <a:endParaRPr lang="en-US" sz="1550" dirty="0"/>
          </a:p>
        </p:txBody>
      </p:sp>
      <p:sp>
        <p:nvSpPr>
          <p:cNvPr id="10" name="Shape 7"/>
          <p:cNvSpPr/>
          <p:nvPr/>
        </p:nvSpPr>
        <p:spPr>
          <a:xfrm>
            <a:off x="4297680" y="1783080"/>
            <a:ext cx="3566160" cy="2331720"/>
          </a:xfrm>
          <a:prstGeom prst="roundRect">
            <a:avLst>
              <a:gd name="adj" fmla="val 35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4572000" y="2011680"/>
            <a:ext cx="603504" cy="603504"/>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734946" y="2174626"/>
            <a:ext cx="277612" cy="277612"/>
          </a:xfrm>
          <a:prstGeom prst="rect">
            <a:avLst/>
          </a:prstGeom>
        </p:spPr>
      </p:pic>
      <p:sp>
        <p:nvSpPr>
          <p:cNvPr id="13" name="Text 9"/>
          <p:cNvSpPr/>
          <p:nvPr/>
        </p:nvSpPr>
        <p:spPr>
          <a:xfrm>
            <a:off x="5349240" y="2011680"/>
            <a:ext cx="2331720" cy="603504"/>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Feature template</a:t>
            </a:r>
            <a:endParaRPr lang="en-US" sz="1900" dirty="0"/>
          </a:p>
        </p:txBody>
      </p:sp>
      <p:sp>
        <p:nvSpPr>
          <p:cNvPr id="14" name="Text 10"/>
          <p:cNvSpPr/>
          <p:nvPr/>
        </p:nvSpPr>
        <p:spPr>
          <a:xfrm>
            <a:off x="4572000" y="2743200"/>
            <a:ext cx="3017520" cy="1325880"/>
          </a:xfrm>
          <a:prstGeom prst="rect">
            <a:avLst/>
          </a:prstGeom>
          <a:noFill/>
          <a:ln/>
        </p:spPr>
        <p:txBody>
          <a:bodyPr wrap="square" lIns="0" tIns="0" rIns="0" bIns="0" rtlCol="0" anchor="t"/>
          <a:lstStyle/>
          <a:p>
            <a:pPr marL="0" indent="0">
              <a:lnSpc>
                <a:spcPct val="103000"/>
              </a:lnSpc>
              <a:buNone/>
            </a:pPr>
            <a:r>
              <a:rPr lang="en-US" sz="1550" dirty="0">
                <a:solidFill>
                  <a:srgbClr val="1E2A36"/>
                </a:solidFill>
                <a:latin typeface="Calibri" pitchFamily="34" charset="0"/>
                <a:ea typeface="Calibri" pitchFamily="34" charset="-122"/>
                <a:cs typeface="Calibri" pitchFamily="34" charset="-120"/>
              </a:rPr>
              <a:t>The need, the user, today's workaround. Your product-definition thinking, in miniature.</a:t>
            </a:r>
            <a:endParaRPr lang="en-US" sz="1550" dirty="0"/>
          </a:p>
        </p:txBody>
      </p:sp>
      <p:sp>
        <p:nvSpPr>
          <p:cNvPr id="15" name="Shape 11"/>
          <p:cNvSpPr/>
          <p:nvPr/>
        </p:nvSpPr>
        <p:spPr>
          <a:xfrm>
            <a:off x="8046720" y="1783080"/>
            <a:ext cx="3566160" cy="2331720"/>
          </a:xfrm>
          <a:prstGeom prst="roundRect">
            <a:avLst>
              <a:gd name="adj" fmla="val 3529"/>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321040" y="2011680"/>
            <a:ext cx="603504" cy="603504"/>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483986" y="2174626"/>
            <a:ext cx="277612" cy="277612"/>
          </a:xfrm>
          <a:prstGeom prst="rect">
            <a:avLst/>
          </a:prstGeom>
        </p:spPr>
      </p:pic>
      <p:sp>
        <p:nvSpPr>
          <p:cNvPr id="18" name="Text 13"/>
          <p:cNvSpPr/>
          <p:nvPr/>
        </p:nvSpPr>
        <p:spPr>
          <a:xfrm>
            <a:off x="9098280" y="2011680"/>
            <a:ext cx="2331720" cy="603504"/>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Labels</a:t>
            </a:r>
            <a:endParaRPr lang="en-US" sz="1900" dirty="0"/>
          </a:p>
        </p:txBody>
      </p:sp>
      <p:sp>
        <p:nvSpPr>
          <p:cNvPr id="19" name="Text 14"/>
          <p:cNvSpPr/>
          <p:nvPr/>
        </p:nvSpPr>
        <p:spPr>
          <a:xfrm>
            <a:off x="8321040" y="2743200"/>
            <a:ext cx="3017520" cy="1325880"/>
          </a:xfrm>
          <a:prstGeom prst="rect">
            <a:avLst/>
          </a:prstGeom>
          <a:noFill/>
          <a:ln/>
        </p:spPr>
        <p:txBody>
          <a:bodyPr wrap="square" lIns="0" tIns="0" rIns="0" bIns="0" rtlCol="0" anchor="t"/>
          <a:lstStyle/>
          <a:p>
            <a:pPr marL="0" indent="0">
              <a:lnSpc>
                <a:spcPct val="103000"/>
              </a:lnSpc>
              <a:buNone/>
            </a:pPr>
            <a:r>
              <a:rPr lang="en-US" sz="1550" dirty="0">
                <a:solidFill>
                  <a:srgbClr val="1E2A36"/>
                </a:solidFill>
                <a:latin typeface="Calibri" pitchFamily="34" charset="0"/>
                <a:ea typeface="Calibri" pitchFamily="34" charset="-122"/>
                <a:cs typeface="Calibri" pitchFamily="34" charset="-120"/>
              </a:rPr>
              <a:t>bug · enhancement · good first issue, plus one or two your project needs to triage.</a:t>
            </a:r>
            <a:endParaRPr lang="en-US" sz="1550" dirty="0"/>
          </a:p>
        </p:txBody>
      </p:sp>
      <p:sp>
        <p:nvSpPr>
          <p:cNvPr id="20" name="click-1"/>
          <p:cNvSpPr/>
          <p:nvPr/>
        </p:nvSpPr>
        <p:spPr>
          <a:xfrm>
            <a:off x="548640" y="5257800"/>
            <a:ext cx="11064240" cy="914400"/>
          </a:xfrm>
          <a:prstGeom prst="roundRect">
            <a:avLst>
              <a:gd name="adj" fmla="val 9000"/>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21" name="click-1"/>
          <p:cNvSpPr/>
          <p:nvPr/>
        </p:nvSpPr>
        <p:spPr>
          <a:xfrm>
            <a:off x="868680" y="5257800"/>
            <a:ext cx="10424160" cy="914400"/>
          </a:xfrm>
          <a:prstGeom prst="rect">
            <a:avLst/>
          </a:prstGeom>
          <a:noFill/>
          <a:ln/>
        </p:spPr>
        <p:txBody>
          <a:bodyPr wrap="square" lIns="0" tIns="0" rIns="0" bIns="0" rtlCol="0" anchor="ctr"/>
          <a:lstStyle/>
          <a:p>
            <a:pPr marL="0" indent="0">
              <a:lnSpc>
                <a:spcPct val="103000"/>
              </a:lnSpc>
              <a:buNone/>
            </a:pPr>
            <a:r>
              <a:rPr lang="en-US" sz="1600" b="1" dirty="0">
                <a:solidFill>
                  <a:srgbClr val="E8A33D"/>
                </a:solidFill>
                <a:latin typeface="Calibri" pitchFamily="34" charset="0"/>
                <a:ea typeface="Calibri" pitchFamily="34" charset="-122"/>
                <a:cs typeface="Calibri" pitchFamily="34" charset="-120"/>
              </a:rPr>
              <a:t>Not every issue is a bug.  </a:t>
            </a:r>
            <a:r>
              <a:rPr lang="en-US" sz="1600" dirty="0">
                <a:solidFill>
                  <a:srgbClr val="FFFFFF"/>
                </a:solidFill>
                <a:latin typeface="Calibri" pitchFamily="34" charset="0"/>
                <a:ea typeface="Calibri" pitchFamily="34" charset="-122"/>
                <a:cs typeface="Calibri" pitchFamily="34" charset="-120"/>
              </a:rPr>
              <a:t>SSW #6, "Can't move off the map," is a reminder that a feature isn't built yet, filed in bug language. As a feature, it would say what the rules call for at the map edge.</a:t>
            </a:r>
            <a:endParaRPr lang="en-US" sz="1600" dirty="0"/>
          </a:p>
        </p:txBody>
      </p:sp>
      <p:sp>
        <p:nvSpPr>
          <p:cNvPr id="22" name="Shape 17"/>
          <p:cNvSpPr/>
          <p:nvPr/>
        </p:nvSpPr>
        <p:spPr>
          <a:xfrm>
            <a:off x="548640" y="4297680"/>
            <a:ext cx="11064240" cy="777240"/>
          </a:xfrm>
          <a:prstGeom prst="roundRect">
            <a:avLst>
              <a:gd name="adj" fmla="val 10588"/>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23" name="Text 18"/>
          <p:cNvSpPr/>
          <p:nvPr/>
        </p:nvSpPr>
        <p:spPr>
          <a:xfrm>
            <a:off x="868680" y="4297680"/>
            <a:ext cx="10424160" cy="777240"/>
          </a:xfrm>
          <a:prstGeom prst="rect">
            <a:avLst/>
          </a:prstGeom>
          <a:noFill/>
          <a:ln/>
        </p:spPr>
        <p:txBody>
          <a:bodyPr wrap="square" lIns="0" tIns="0" rIns="0" bIns="0" rtlCol="0" anchor="ctr"/>
          <a:lstStyle/>
          <a:p>
            <a:pPr marL="0" indent="0">
              <a:buNone/>
            </a:pPr>
            <a:r>
              <a:rPr lang="en-US" sz="1700" b="1" dirty="0">
                <a:solidFill>
                  <a:srgbClr val="14233A"/>
                </a:solidFill>
                <a:latin typeface="Calibri" pitchFamily="34" charset="0"/>
                <a:ea typeface="Calibri" pitchFamily="34" charset="-122"/>
                <a:cs typeface="Calibri" pitchFamily="34" charset="-120"/>
              </a:rPr>
              <a:t>Whatever your template asks for is what you'll get. Ask for reproduction steps now, or beg for them forever.</a:t>
            </a:r>
            <a:endParaRPr lang="en-US" sz="170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21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YOUR REPO · 18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Audit it as a stranger, then sketch the fixes</a:t>
            </a:r>
            <a:endParaRPr lang="en-US" sz="3100" dirty="0"/>
          </a:p>
        </p:txBody>
      </p:sp>
      <p:sp>
        <p:nvSpPr>
          <p:cNvPr id="5" name="Shape 3"/>
          <p:cNvSpPr/>
          <p:nvPr/>
        </p:nvSpPr>
        <p:spPr>
          <a:xfrm>
            <a:off x="548640" y="1783080"/>
            <a:ext cx="11064240" cy="1051560"/>
          </a:xfrm>
          <a:prstGeom prst="roundRect">
            <a:avLst>
              <a:gd name="adj" fmla="val 782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777240" y="2048256"/>
            <a:ext cx="521208" cy="521208"/>
          </a:xfrm>
          <a:prstGeom prst="ellipse">
            <a:avLst/>
          </a:prstGeom>
          <a:solidFill>
            <a:srgbClr val="12908F"/>
          </a:solidFill>
          <a:ln/>
        </p:spPr>
        <p:txBody>
          <a:bodyPr/>
          <a:lstStyle/>
          <a:p>
            <a:endParaRPr lang="en-US"/>
          </a:p>
        </p:txBody>
      </p:sp>
      <p:sp>
        <p:nvSpPr>
          <p:cNvPr id="7" name="Text 5"/>
          <p:cNvSpPr/>
          <p:nvPr/>
        </p:nvSpPr>
        <p:spPr>
          <a:xfrm>
            <a:off x="777240" y="2048256"/>
            <a:ext cx="521208" cy="5212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508760" y="1783080"/>
            <a:ext cx="2286000" cy="105156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Audit · 8 min</a:t>
            </a:r>
            <a:endParaRPr lang="en-US" sz="1800" dirty="0"/>
          </a:p>
        </p:txBody>
      </p:sp>
      <p:sp>
        <p:nvSpPr>
          <p:cNvPr id="9" name="Text 7"/>
          <p:cNvSpPr/>
          <p:nvPr/>
        </p:nvSpPr>
        <p:spPr>
          <a:xfrm>
            <a:off x="3840480" y="1783080"/>
            <a:ext cx="7543800" cy="1051560"/>
          </a:xfrm>
          <a:prstGeom prst="rect">
            <a:avLst/>
          </a:prstGeom>
          <a:noFill/>
          <a:ln/>
        </p:spPr>
        <p:txBody>
          <a:bodyPr wrap="square" lIns="0" tIns="0" rIns="0" bIns="0" rtlCol="0" anchor="ctr"/>
          <a:lstStyle/>
          <a:p>
            <a:pPr marL="0" indent="0">
              <a:lnSpc>
                <a:spcPct val="104000"/>
              </a:lnSpc>
              <a:buNone/>
            </a:pPr>
            <a:r>
              <a:rPr lang="en-US" sz="1600" dirty="0">
                <a:solidFill>
                  <a:srgbClr val="1E2A36"/>
                </a:solidFill>
                <a:latin typeface="Calibri" pitchFamily="34" charset="0"/>
                <a:ea typeface="Calibri" pitchFamily="34" charset="-122"/>
                <a:cs typeface="Calibri" pitchFamily="34" charset="-120"/>
              </a:rPr>
              <a:t>Walk your repo with the CP7 Checklist. Mark each item done, weak, or missing. Write the punch list at the bottom, in the order you'll fix it.</a:t>
            </a:r>
            <a:endParaRPr lang="en-US" sz="1600" dirty="0"/>
          </a:p>
        </p:txBody>
      </p:sp>
      <p:sp>
        <p:nvSpPr>
          <p:cNvPr id="10" name="Shape 8"/>
          <p:cNvSpPr/>
          <p:nvPr/>
        </p:nvSpPr>
        <p:spPr>
          <a:xfrm>
            <a:off x="548640" y="2971800"/>
            <a:ext cx="11064240" cy="1051560"/>
          </a:xfrm>
          <a:prstGeom prst="roundRect">
            <a:avLst>
              <a:gd name="adj" fmla="val 782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9"/>
          <p:cNvSpPr/>
          <p:nvPr/>
        </p:nvSpPr>
        <p:spPr>
          <a:xfrm>
            <a:off x="777240" y="3236976"/>
            <a:ext cx="521208" cy="521208"/>
          </a:xfrm>
          <a:prstGeom prst="ellipse">
            <a:avLst/>
          </a:prstGeom>
          <a:solidFill>
            <a:srgbClr val="12908F"/>
          </a:solidFill>
          <a:ln/>
        </p:spPr>
        <p:txBody>
          <a:bodyPr/>
          <a:lstStyle/>
          <a:p>
            <a:endParaRPr lang="en-US"/>
          </a:p>
        </p:txBody>
      </p:sp>
      <p:sp>
        <p:nvSpPr>
          <p:cNvPr id="12" name="Text 10"/>
          <p:cNvSpPr/>
          <p:nvPr/>
        </p:nvSpPr>
        <p:spPr>
          <a:xfrm>
            <a:off x="777240" y="3236976"/>
            <a:ext cx="521208" cy="5212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508760" y="2971800"/>
            <a:ext cx="2286000" cy="1051560"/>
          </a:xfrm>
          <a:prstGeom prst="rect">
            <a:avLst/>
          </a:prstGeom>
          <a:noFill/>
          <a:ln/>
        </p:spPr>
        <p:txBody>
          <a:bodyPr wrap="square" lIns="0" tIns="0" rIns="0" bIns="0" rtlCol="0" anchor="ctr"/>
          <a:lstStyle/>
          <a:p>
            <a:pPr marL="0" indent="0">
              <a:buNone/>
            </a:pPr>
            <a:r>
              <a:rPr lang="en-US" sz="1800" b="1" dirty="0">
                <a:solidFill>
                  <a:srgbClr val="0E6E6D"/>
                </a:solidFill>
                <a:latin typeface="Calibri" pitchFamily="34" charset="0"/>
                <a:ea typeface="Calibri" pitchFamily="34" charset="-122"/>
                <a:cs typeface="Calibri" pitchFamily="34" charset="-120"/>
              </a:rPr>
              <a:t>Sketch · 7 min</a:t>
            </a:r>
            <a:endParaRPr lang="en-US" sz="1800" dirty="0"/>
          </a:p>
        </p:txBody>
      </p:sp>
      <p:sp>
        <p:nvSpPr>
          <p:cNvPr id="14" name="Text 12"/>
          <p:cNvSpPr/>
          <p:nvPr/>
        </p:nvSpPr>
        <p:spPr>
          <a:xfrm>
            <a:off x="3840480" y="2971800"/>
            <a:ext cx="7543800" cy="1051560"/>
          </a:xfrm>
          <a:prstGeom prst="rect">
            <a:avLst/>
          </a:prstGeom>
          <a:noFill/>
          <a:ln/>
        </p:spPr>
        <p:txBody>
          <a:bodyPr wrap="square" lIns="0" tIns="0" rIns="0" bIns="0" rtlCol="0" anchor="ctr"/>
          <a:lstStyle/>
          <a:p>
            <a:pPr marL="0" indent="0">
              <a:lnSpc>
                <a:spcPct val="104000"/>
              </a:lnSpc>
              <a:buNone/>
            </a:pPr>
            <a:r>
              <a:rPr lang="en-US" sz="1600" dirty="0">
                <a:solidFill>
                  <a:srgbClr val="1E2A36"/>
                </a:solidFill>
                <a:latin typeface="Calibri" pitchFamily="34" charset="0"/>
                <a:ea typeface="Calibri" pitchFamily="34" charset="-122"/>
                <a:cs typeface="Calibri" pitchFamily="34" charset="-120"/>
              </a:rPr>
              <a:t>Your bug template's fields. Your PR template's checklist, pulled from your git standards. The 3–5 labels you'll start with.</a:t>
            </a:r>
            <a:endParaRPr lang="en-US" sz="1600" dirty="0"/>
          </a:p>
        </p:txBody>
      </p:sp>
      <p:sp>
        <p:nvSpPr>
          <p:cNvPr id="15" name="Shape 13"/>
          <p:cNvSpPr/>
          <p:nvPr/>
        </p:nvSpPr>
        <p:spPr>
          <a:xfrm>
            <a:off x="548640" y="4160520"/>
            <a:ext cx="11064240" cy="1051560"/>
          </a:xfrm>
          <a:prstGeom prst="roundRect">
            <a:avLst>
              <a:gd name="adj" fmla="val 7826"/>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6" name="Shape 14"/>
          <p:cNvSpPr/>
          <p:nvPr/>
        </p:nvSpPr>
        <p:spPr>
          <a:xfrm>
            <a:off x="777240" y="4425696"/>
            <a:ext cx="521208" cy="521208"/>
          </a:xfrm>
          <a:prstGeom prst="ellipse">
            <a:avLst/>
          </a:prstGeom>
          <a:solidFill>
            <a:srgbClr val="E8A33D"/>
          </a:solidFill>
          <a:ln/>
        </p:spPr>
        <p:txBody>
          <a:bodyPr/>
          <a:lstStyle/>
          <a:p>
            <a:endParaRPr lang="en-US"/>
          </a:p>
        </p:txBody>
      </p:sp>
      <p:sp>
        <p:nvSpPr>
          <p:cNvPr id="17" name="Text 15"/>
          <p:cNvSpPr/>
          <p:nvPr/>
        </p:nvSpPr>
        <p:spPr>
          <a:xfrm>
            <a:off x="777240" y="4425696"/>
            <a:ext cx="521208" cy="521208"/>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508760" y="4160520"/>
            <a:ext cx="2286000" cy="1051560"/>
          </a:xfrm>
          <a:prstGeom prst="rect">
            <a:avLst/>
          </a:prstGeom>
          <a:noFill/>
          <a:ln/>
        </p:spPr>
        <p:txBody>
          <a:bodyPr wrap="square" lIns="0" tIns="0" rIns="0" bIns="0" rtlCol="0" anchor="ctr"/>
          <a:lstStyle/>
          <a:p>
            <a:pPr marL="0" indent="0">
              <a:buNone/>
            </a:pPr>
            <a:r>
              <a:rPr lang="en-US" sz="1800" b="1" dirty="0">
                <a:solidFill>
                  <a:srgbClr val="E8A33D"/>
                </a:solidFill>
                <a:latin typeface="Calibri" pitchFamily="34" charset="0"/>
                <a:ea typeface="Calibri" pitchFamily="34" charset="-122"/>
                <a:cs typeface="Calibri" pitchFamily="34" charset="-120"/>
              </a:rPr>
              <a:t>Write · 3 min</a:t>
            </a:r>
            <a:endParaRPr lang="en-US" sz="1800" dirty="0"/>
          </a:p>
        </p:txBody>
      </p:sp>
      <p:sp>
        <p:nvSpPr>
          <p:cNvPr id="19" name="Text 17"/>
          <p:cNvSpPr/>
          <p:nvPr/>
        </p:nvSpPr>
        <p:spPr>
          <a:xfrm>
            <a:off x="3840480" y="4160520"/>
            <a:ext cx="7543800" cy="1051560"/>
          </a:xfrm>
          <a:prstGeom prst="rect">
            <a:avLst/>
          </a:prstGeom>
          <a:noFill/>
          <a:ln/>
        </p:spPr>
        <p:txBody>
          <a:bodyPr wrap="square" lIns="0" tIns="0" rIns="0" bIns="0" rtlCol="0" anchor="ctr"/>
          <a:lstStyle/>
          <a:p>
            <a:pPr marL="0" indent="0">
              <a:lnSpc>
                <a:spcPct val="104000"/>
              </a:lnSpc>
              <a:buNone/>
            </a:pPr>
            <a:r>
              <a:rPr lang="en-US" sz="1600" dirty="0">
                <a:solidFill>
                  <a:srgbClr val="FFFFFF"/>
                </a:solidFill>
                <a:latin typeface="Calibri" pitchFamily="34" charset="0"/>
                <a:ea typeface="Calibri" pitchFamily="34" charset="-122"/>
                <a:cs typeface="Calibri" pitchFamily="34" charset="-120"/>
              </a:rPr>
              <a:t>Your README's first sentence. Read it to someone outside your project. Can they repeat back what it is?</a:t>
            </a:r>
            <a:endParaRPr lang="en-US" sz="1600" dirty="0"/>
          </a:p>
        </p:txBody>
      </p:sp>
      <p:sp>
        <p:nvSpPr>
          <p:cNvPr id="20" name="Shape 18"/>
          <p:cNvSpPr/>
          <p:nvPr/>
        </p:nvSpPr>
        <p:spPr>
          <a:xfrm>
            <a:off x="548640" y="5440680"/>
            <a:ext cx="11064240" cy="731520"/>
          </a:xfrm>
          <a:prstGeom prst="roundRect">
            <a:avLst>
              <a:gd name="adj" fmla="val 11250"/>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868680" y="5440680"/>
            <a:ext cx="10424160" cy="731520"/>
          </a:xfrm>
          <a:prstGeom prst="rect">
            <a:avLst/>
          </a:prstGeom>
          <a:noFill/>
          <a:ln/>
        </p:spPr>
        <p:txBody>
          <a:bodyPr wrap="square" lIns="0" tIns="0" rIns="0" bIns="0" rtlCol="0" anchor="ctr"/>
          <a:lstStyle/>
          <a:p>
            <a:pPr marL="0" indent="0" algn="ctr">
              <a:buNone/>
            </a:pPr>
            <a:r>
              <a:rPr lang="en-US" sz="1700" b="1" dirty="0">
                <a:solidFill>
                  <a:srgbClr val="1E2A36"/>
                </a:solidFill>
                <a:latin typeface="Calibri" pitchFamily="34" charset="0"/>
                <a:ea typeface="Calibri" pitchFamily="34" charset="-122"/>
                <a:cs typeface="Calibri" pitchFamily="34" charset="-120"/>
              </a:rPr>
              <a:t>The punch list is Wednesday's agenda. Bring it.</a:t>
            </a:r>
            <a:endParaRPr lang="en-US" sz="17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15 · The Front Door</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txBody>
          <a:bodyPr/>
          <a:lstStyle/>
          <a:p>
            <a:endParaRPr lang="en-US"/>
          </a:p>
        </p:txBody>
      </p:sp>
      <p:sp>
        <p:nvSpPr>
          <p:cNvPr id="3" name="Shape 1"/>
          <p:cNvSpPr/>
          <p:nvPr/>
        </p:nvSpPr>
        <p:spPr>
          <a:xfrm>
            <a:off x="822960" y="1051560"/>
            <a:ext cx="777240" cy="777240"/>
          </a:xfrm>
          <a:prstGeom prst="ellipse">
            <a:avLst/>
          </a:prstGeom>
          <a:solidFill>
            <a:srgbClr val="E8A33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marL="0" indent="0">
              <a:lnSpc>
                <a:spcPct val="106000"/>
              </a:lnSpc>
              <a:buNone/>
            </a:pPr>
            <a:r>
              <a:rPr lang="en-US" sz="2600" b="1" i="1" dirty="0">
                <a:solidFill>
                  <a:srgbClr val="FFFFFF"/>
                </a:solidFill>
                <a:latin typeface="Cambria" pitchFamily="34" charset="0"/>
                <a:ea typeface="Cambria" pitchFamily="34" charset="-122"/>
                <a:cs typeface="Cambria" pitchFamily="34" charset="-120"/>
              </a:rPr>
              <a:t>Governance became files. Issues have an anatomy. The front door is something you design.</a:t>
            </a:r>
            <a:endParaRPr lang="en-US" sz="26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BEFORE WEDNESDAY, OCT 28</a:t>
            </a:r>
            <a:endParaRPr lang="en-US" sz="1400" dirty="0"/>
          </a:p>
        </p:txBody>
      </p:sp>
      <p:sp>
        <p:nvSpPr>
          <p:cNvPr id="7" name="Text 4"/>
          <p:cNvSpPr/>
          <p:nvPr/>
        </p:nvSpPr>
        <p:spPr>
          <a:xfrm>
            <a:off x="868680" y="352044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Bring your punch list: Wednesday is a build workshop</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Bring your review partner's repo link: you'll read each other's README cold</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Start saving links for CP9: bug reports, feature requests, PR descriptions, review comments, replies</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822960" y="5440680"/>
            <a:ext cx="10515600" cy="731520"/>
          </a:xfrm>
          <a:prstGeom prst="rect">
            <a:avLst/>
          </a:prstGeom>
          <a:noFill/>
          <a:ln/>
        </p:spPr>
        <p:txBody>
          <a:bodyPr wrap="square" lIns="0" tIns="0" rIns="0" bIns="0" rtlCol="0" anchor="ctr"/>
          <a:lstStyle/>
          <a:p>
            <a:pPr marL="0" indent="0" algn="ctr">
              <a:buNone/>
            </a:pPr>
            <a:r>
              <a:rPr lang="en-US" sz="1600" b="1" dirty="0">
                <a:solidFill>
                  <a:srgbClr val="14233A"/>
                </a:solidFill>
                <a:latin typeface="Calibri" pitchFamily="34" charset="0"/>
                <a:ea typeface="Calibri" pitchFamily="34" charset="-122"/>
                <a:cs typeface="Calibri" pitchFamily="34" charset="-120"/>
              </a:rPr>
              <a:t>CP7 is due end of day Friday, Oct 30, merged to main. CP9 (eight artifacts) is due Nov 18.</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15 · The Front Door</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4931</Words>
  <Application>Microsoft Office PowerPoint</Application>
  <PresentationFormat>Custom</PresentationFormat>
  <Paragraphs>356</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15 — The Front Door of Your Project</dc:title>
  <dc:subject>PptxGenJS Presentation</dc:subject>
  <dc:creator>CS 301R</dc:creator>
  <cp:lastModifiedBy>Tom Stephens</cp:lastModifiedBy>
  <cp:revision>2</cp:revision>
  <dcterms:created xsi:type="dcterms:W3CDTF">2026-10-16T16:26:34Z</dcterms:created>
  <dcterms:modified xsi:type="dcterms:W3CDTF">2026-10-26T14:32:57Z</dcterms:modified>
</cp:coreProperties>
</file>