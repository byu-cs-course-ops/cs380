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61520" cy="6858000"/>
  <p:notesSz cx="6858000" cy="1216152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of opening up; today we deliberately narrow down. Frame the goal in one breath: leave with one or two ideas you can defend, and a written rationale for them. Convergence done well is a discipline, not a gut call — a shared yardstick, honest feedback, then commit. CP1 Idea Briefs turn in today; the idea you converge on becomes CP2, written over the weekend and due Mon, Sep 28. Keep energy up — most of today is hands-on.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Two-minute bridge. The pile of candidate ideas is raw material; today we choose a working direction. Set the destination — 1–2 defensible ideas plus a one-line rationale each. Make the deliverable split explicit and say why the gap is deliberate: CP1 turns in now, but CP2 is written after they've converged and gotten feedback, so it reflects a real decision rather than a rushed guess made the same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minutes. The failure mode is emotional: people converge on the idea they already love and reverse-justify it. The five moves come from the CPS reading — read them as habits, not rules. Emphasize 'improve, don't only kill': a promising-but-flawed idea often beats a safe-but-thin one once narrowed. Land the bottom line hard — a working direction is defensible and revisable; you are not signing a marriage certificate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reframe that makes the whole session portable. These five moves are how you evaluate ANY idea — a feature proposal at work, a startup concept, a side project. The move people skip is the first: deciding what 'good' means before you score. Say it plainly — today we aim these moves at this course's criteria, but the method is what transfers and outlasts the class. The next slides hand you the tools for moves 1 and 3; moves 2, 4, and 5 are the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name what "good" means for THIS course. Walk the seven, dwelling on the two highlighted — real need and richness — the ones students under-weight, chasing what's fun to build. A fatal flaw on real need or feasibility outweighs a high total, so this is a conversation-starter, not an average. The amber bar is the reframe in one line: these criteria are a deliberate choice tied to our goal; another setting lists different criteria and runs the exact same method. Same sheet in their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minutes and the key conceptual move of the day. Feasibility (Monday) and richness (today) are different axes: an idea can be perfectly buildable and still too thin to found a project on. Name both failure modes — the weekend script that's over the moment it's done, and the fantasy with no shippable slice. The target is the middle: a rich core with a vertical slice, deep enough that finishing your slice leaves real work for the people who join.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CPS convergence tool, and the same value/effort 2x2 the product world uses. Have them physically place each idea. The teaching point is the top-left: a high-value idea with low do-ability is not a reject — it's a 'narrow the scope or run a spike' idea, the exact move we'll demo on the two calibration candidates next. Low value is a drop regardless of how easy it is. This is the picture printed on their scoring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calibration candidate, scored live rather than revealed. Read the idea, then ask the room for each verdict before you click it in: value, then do-ability, then richness — three clicks, one card each, and the ratings come up in plain ink so nobody reads the answer off the color. Click four colors all three at once, which is the moment the shape of the thing shows: one green in the middle, red on both sides. Then the last click lands the conclusion. It's tempting because it's easy and finishable, which is exactly the trap — high do-ability seduces. Low value means drop regardless of how quick it is. Set up the contrast: the next candidate is the opposite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candidate — the opposite shape, and the one that teaches the lesson. Same live scoring as the last slide: read the six build components first, then take each verdict from the room before clicking it in — value, do-ability, richness — and click the conclusion last. Don't describe it by scope or team size; describe it by the work. Read the six build components: each is a serious subsystem, which is exactly why richness is very high and do-ability, as-is, is low — no single team ships all of that soon. High value plus low do-ability lands top-left: the 2x2 says narrow or spike, not drop. Next slide does the narrowing.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payoff slide. The better founding bet was the scary one — but only after narrowing. Show the cut: v1 is one low-stakes case type with intake, document assembly, and a human review queue. Everything else — AI, funding, integrations — is deferred, and that's a feature, not a bug: it's the on-ramp for contributors. This is the shape you want them hunting for in their own ideas in the next 12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framing before hands-on. Two reminders that change how they score: first, don't just sum the columns — a fatal flaw on real need or feasibility kills an idea a high total can't rescue. Second, have them circle a provisional favorite before the feedback round, so they can actually observe whether peer input moves them. Then flip to the task slide and start the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while they work — 12 minutes, solo, on the Idea Scoring Sheet. Circulate: the most common miss is scoring for do-ability and forgetting real need and richness. Nudge anyone whose top pick is the easiest idea to re-check value. Keep the clock visible; call the last two minutes so everyone has a circled top 1–2 before the peer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the process before starting the clock — it's printed in Part 3 of their scoring sheet. Three fixed challenges keep feedback substantive instead of vague praise. The protocol — affirm, concern, suggestion — keeps it constructive. The hardest rule to hold is 'capture, don't defend': presenters instinctively argue. Name it explicitly; their job is to collect, not to win. Put solo-track students in a group too so no one skips the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the full 16 minutes. Enforce the round-robin so quieter students present too. Circulate and add the instructor read where it helps most — especially real need and richness. Watch the clock: ~4 minutes per person; give groups a nudge to rotate so the last presenter isn't rushed. Keep presenters capturing rather than debating.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Bring the room back together for the decision. The rationale sentence is the deliverable — it forces them to name the user, the need, the feasibility read, and the richness in one breath. If they can't fill the blanks, they haven't converged yet. Reassure the anxious: this is a working direction they'll keep refining, not a vow — but from here their effort concentrates, which is the whole point of converging.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the final 8 minutes. The rationale is the checkpoint — if the blanks won't fill, they haven't really converged; nudge them to pick anyway and note what they'd verify. Collect one or two rationales aloud, especially one where peer feedback changed the pick. Remind them this exact idea becomes CP2 over the weekend.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shape so no one leaves unsure what to write. Emphasize it's a definition of problem and user, not a solution — no architecture yet. The evidence tags [E]/[A] matter: honesty about what came from a real conversation vs. an assumption is graded as heavily as the findings. Point them to the PRD reference handout. The weekend gap is the point — the brief should reflect today's converged pick and the feedback, not a same-hour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rubric so students write toward it, not blind. The highlighted row is where the grade concentrates — needfinding quality and honesty at 30 points. Say plainly that a brief built honestly on thin evidence beats one that dresses guesses as facts: honesty about method is graded as heavily as the findings. PRD mapping means it reads as a problem/user definition, not a design. Every criterion must clear Developing to stay on a passing track.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one-liner — the whole session in a sentence: you narrowed on purpose, so you can defend the choice. Make the actions concrete: CP1 in today, CP2 written this weekend from the converged pick, discovery continues. Preview Week 4 briefly — proposal anatomy and arguing feasibility without overpromising; CP3 Written Proposal is due Mon, Oct 5. Send them off to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9966960" y="-1280160"/>
            <a:ext cx="3840480" cy="3840480"/>
          </a:xfrm>
          <a:prstGeom prst="ellipse">
            <a:avLst/>
          </a:prstGeom>
          <a:solidFill>
            <a:srgbClr val="1C3252"/>
          </a:solidFill>
          <a:ln/>
        </p:spPr>
      </p:sp>
      <p:sp>
        <p:nvSpPr>
          <p:cNvPr id="3" name="Shape 1"/>
          <p:cNvSpPr/>
          <p:nvPr/>
        </p:nvSpPr>
        <p:spPr>
          <a:xfrm>
            <a:off x="10972800" y="4663440"/>
            <a:ext cx="2743200" cy="2743200"/>
          </a:xfrm>
          <a:prstGeom prst="ellipse">
            <a:avLst/>
          </a:prstGeom>
          <a:solidFill>
            <a:srgbClr val="1C3252"/>
          </a:solidFill>
          <a:ln/>
        </p:spPr>
      </p:sp>
      <p:sp>
        <p:nvSpPr>
          <p:cNvPr id="4" name="Shape 2"/>
          <p:cNvSpPr/>
          <p:nvPr/>
        </p:nvSpPr>
        <p:spPr>
          <a:xfrm>
            <a:off x="822960" y="1325880"/>
            <a:ext cx="914400" cy="914400"/>
          </a:xfrm>
          <a:prstGeom prst="ellipse">
            <a:avLst/>
          </a:prstGeom>
          <a:solidFill>
            <a:srgbClr val="E8A33D"/>
          </a:solidFill>
          <a:ln/>
        </p:spPr>
      </p:sp>
      <p:pic>
        <p:nvPicPr>
          <p:cNvPr id="5" name="Image 0" descr="preencoded.png">    </p:cNvPr>
          <p:cNvPicPr>
            <a:picLocks noChangeAspect="1"/>
          </p:cNvPicPr>
          <p:nvPr/>
        </p:nvPicPr>
        <p:blipFill>
          <a:blip r:embed="rId1"/>
          <a:stretch>
            <a:fillRect/>
          </a:stretch>
        </p:blipFill>
        <p:spPr>
          <a:xfrm>
            <a:off x="1069848" y="1572768"/>
            <a:ext cx="420624" cy="420624"/>
          </a:xfrm>
          <a:prstGeom prst="rect">
            <a:avLst/>
          </a:prstGeom>
        </p:spPr>
      </p:pic>
      <p:sp>
        <p:nvSpPr>
          <p:cNvPr id="6" name="Text 3"/>
          <p:cNvSpPr/>
          <p:nvPr/>
        </p:nvSpPr>
        <p:spPr>
          <a:xfrm>
            <a:off x="841248" y="2514600"/>
            <a:ext cx="10058400" cy="320040"/>
          </a:xfrm>
          <a:prstGeom prst="rect">
            <a:avLst/>
          </a:prstGeom>
          <a:noFill/>
          <a:ln/>
        </p:spPr>
        <p:txBody>
          <a:bodyPr wrap="square" lIns="0" tIns="0" rIns="0" bIns="0" rtlCol="0" anchor="ctr"/>
          <a:lstStyle/>
          <a:p>
            <a:pPr indent="0" marL="0">
              <a:buNone/>
            </a:pPr>
            <a:r>
              <a:rPr lang="en-US" sz="1500" b="1" spc="200" kern="0" dirty="0">
                <a:solidFill>
                  <a:srgbClr val="9FB4C7"/>
                </a:solidFill>
                <a:latin typeface="Calibri" pitchFamily="34" charset="0"/>
                <a:ea typeface="Calibri" pitchFamily="34" charset="-122"/>
                <a:cs typeface="Calibri" pitchFamily="34" charset="-120"/>
              </a:rPr>
              <a:t>CS 301R · SOFTWARE ENGINEERING STUDIO I</a:t>
            </a:r>
            <a:endParaRPr lang="en-US" sz="1500" dirty="0"/>
          </a:p>
        </p:txBody>
      </p:sp>
      <p:sp>
        <p:nvSpPr>
          <p:cNvPr id="7" name="Text 4"/>
          <p:cNvSpPr/>
          <p:nvPr/>
        </p:nvSpPr>
        <p:spPr>
          <a:xfrm>
            <a:off x="822960" y="2880360"/>
            <a:ext cx="11064240" cy="11887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Narrowing to a Defensible Idea</a:t>
            </a:r>
            <a:endParaRPr lang="en-US" sz="4200" dirty="0"/>
          </a:p>
        </p:txBody>
      </p:sp>
      <p:sp>
        <p:nvSpPr>
          <p:cNvPr id="8" name="Text 5"/>
          <p:cNvSpPr/>
          <p:nvPr/>
        </p:nvSpPr>
        <p:spPr>
          <a:xfrm>
            <a:off x="841248" y="4297680"/>
            <a:ext cx="10058400" cy="822960"/>
          </a:xfrm>
          <a:prstGeom prst="rect">
            <a:avLst/>
          </a:prstGeom>
          <a:noFill/>
          <a:ln/>
        </p:spPr>
        <p:txBody>
          <a:bodyPr wrap="square" lIns="0" tIns="0" rIns="0" bIns="0" rtlCol="0" anchor="ctr"/>
          <a:lstStyle/>
          <a:p>
            <a:pPr indent="0" marL="0">
              <a:lnSpc>
                <a:spcPct val="120000"/>
              </a:lnSpc>
              <a:buNone/>
            </a:pPr>
            <a:r>
              <a:rPr lang="en-US" sz="1900" b="1" dirty="0">
                <a:solidFill>
                  <a:srgbClr val="E8A33D"/>
                </a:solidFill>
                <a:latin typeface="Calibri" pitchFamily="34" charset="0"/>
                <a:ea typeface="Calibri" pitchFamily="34" charset="-122"/>
                <a:cs typeface="Calibri" pitchFamily="34" charset="-120"/>
              </a:rPr>
              <a:t>Session 6 — the convergence workshop</a:t>
            </a:r>
            <a:endParaRPr lang="en-US" sz="1900" dirty="0"/>
          </a:p>
          <a:p>
            <a:pPr indent="0" marL="0">
              <a:lnSpc>
                <a:spcPct val="120000"/>
              </a:lnSpc>
              <a:buNone/>
            </a:pPr>
            <a:r>
              <a:rPr lang="en-US" sz="1900" dirty="0">
                <a:solidFill>
                  <a:srgbClr val="9FB4C7"/>
                </a:solidFill>
                <a:latin typeface="Calibri" pitchFamily="34" charset="0"/>
                <a:ea typeface="Calibri" pitchFamily="34" charset="-122"/>
                <a:cs typeface="Calibri" pitchFamily="34" charset="-120"/>
              </a:rPr>
              <a:t>Wednesday, September 23, 2026</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WHERE WE ARE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Three weeks diverging — today you converge</a:t>
            </a:r>
            <a:endParaRPr lang="en-US" sz="3100" dirty="0"/>
          </a:p>
        </p:txBody>
      </p:sp>
      <p:sp>
        <p:nvSpPr>
          <p:cNvPr id="5" name="Shape 3"/>
          <p:cNvSpPr/>
          <p:nvPr/>
        </p:nvSpPr>
        <p:spPr>
          <a:xfrm>
            <a:off x="548640" y="1874520"/>
            <a:ext cx="5440680" cy="3200400"/>
          </a:xfrm>
          <a:prstGeom prst="roundRect">
            <a:avLst>
              <a:gd name="adj" fmla="val 2571"/>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148840"/>
            <a:ext cx="603504" cy="603504"/>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85906" y="2311786"/>
            <a:ext cx="277612" cy="277612"/>
          </a:xfrm>
          <a:prstGeom prst="rect">
            <a:avLst/>
          </a:prstGeom>
        </p:spPr>
      </p:pic>
      <p:sp>
        <p:nvSpPr>
          <p:cNvPr id="8" name="Text 5"/>
          <p:cNvSpPr/>
          <p:nvPr/>
        </p:nvSpPr>
        <p:spPr>
          <a:xfrm>
            <a:off x="1572768" y="2212848"/>
            <a:ext cx="4206240" cy="457200"/>
          </a:xfrm>
          <a:prstGeom prst="rect">
            <a:avLst/>
          </a:prstGeom>
          <a:noFill/>
          <a:ln/>
        </p:spPr>
        <p:txBody>
          <a:bodyPr wrap="square" lIns="0" tIns="0" rIns="0" bIns="0" rtlCol="0" anchor="ctr"/>
          <a:lstStyle/>
          <a:p>
            <a:pPr indent="0" marL="0">
              <a:buNone/>
            </a:pPr>
            <a:r>
              <a:rPr lang="en-US" sz="2000" b="1" dirty="0">
                <a:solidFill>
                  <a:srgbClr val="1E2A36"/>
                </a:solidFill>
                <a:latin typeface="Calibri" pitchFamily="34" charset="0"/>
                <a:ea typeface="Calibri" pitchFamily="34" charset="-122"/>
                <a:cs typeface="Calibri" pitchFamily="34" charset="-120"/>
              </a:rPr>
              <a:t>Weeks 1–3 · diverging</a:t>
            </a:r>
            <a:endParaRPr lang="en-US" sz="2000" dirty="0"/>
          </a:p>
        </p:txBody>
      </p:sp>
      <p:sp>
        <p:nvSpPr>
          <p:cNvPr id="9" name="Text 6"/>
          <p:cNvSpPr/>
          <p:nvPr/>
        </p:nvSpPr>
        <p:spPr>
          <a:xfrm>
            <a:off x="896112" y="3017520"/>
            <a:ext cx="4892040" cy="1920240"/>
          </a:xfrm>
          <a:prstGeom prst="rect">
            <a:avLst/>
          </a:prstGeom>
          <a:noFill/>
          <a:ln/>
        </p:spPr>
        <p:txBody>
          <a:bodyPr wrap="square" lIns="0" tIns="0" rIns="0" bIns="0" rtlCol="0" anchor="t"/>
          <a:lstStyle/>
          <a:p>
            <a:pPr indent="0" marL="0">
              <a:lnSpc>
                <a:spcPct val="106000"/>
              </a:lnSpc>
              <a:buNone/>
            </a:pPr>
            <a:r>
              <a:rPr lang="en-US" sz="1650" dirty="0">
                <a:solidFill>
                  <a:srgbClr val="1E2A36"/>
                </a:solidFill>
                <a:latin typeface="Calibri" pitchFamily="34" charset="0"/>
                <a:ea typeface="Calibri" pitchFamily="34" charset="-122"/>
                <a:cs typeface="Calibri" pitchFamily="34" charset="-120"/>
              </a:rPr>
              <a:t>You explored the problem space, did discovery, and read feasibility. You arrive with 2–3 candidate ideas.</a:t>
            </a:r>
            <a:endParaRPr lang="en-US" sz="1650" dirty="0"/>
          </a:p>
        </p:txBody>
      </p:sp>
      <p:sp>
        <p:nvSpPr>
          <p:cNvPr id="10" name="Shape 7"/>
          <p:cNvSpPr/>
          <p:nvPr/>
        </p:nvSpPr>
        <p:spPr>
          <a:xfrm>
            <a:off x="6172200" y="1874520"/>
            <a:ext cx="5440680" cy="3200400"/>
          </a:xfrm>
          <a:prstGeom prst="roundRect">
            <a:avLst>
              <a:gd name="adj" fmla="val 2571"/>
            </a:avLst>
          </a:prstGeom>
          <a:solidFill>
            <a:srgbClr val="14233A"/>
          </a:solidFill>
          <a:ln/>
          <a:effectLst>
            <a:outerShdw sx="100000" sy="100000" kx="0" ky="0" algn="bl" rotWithShape="0" blurRad="88900" dist="38100" dir="5400000">
              <a:srgbClr val="000000">
                <a:alpha val="13000"/>
              </a:srgbClr>
            </a:outerShdw>
          </a:effectLst>
        </p:spPr>
      </p:sp>
      <p:sp>
        <p:nvSpPr>
          <p:cNvPr id="11" name="Shape 8"/>
          <p:cNvSpPr/>
          <p:nvPr/>
        </p:nvSpPr>
        <p:spPr>
          <a:xfrm>
            <a:off x="6446520" y="2148840"/>
            <a:ext cx="603504" cy="603504"/>
          </a:xfrm>
          <a:prstGeom prst="ellipse">
            <a:avLst/>
          </a:prstGeom>
          <a:solidFill>
            <a:srgbClr val="E8A33D"/>
          </a:solidFill>
          <a:ln/>
        </p:spPr>
      </p:sp>
      <p:pic>
        <p:nvPicPr>
          <p:cNvPr id="12" name="Image 1" descr="preencoded.png">    </p:cNvPr>
          <p:cNvPicPr>
            <a:picLocks noChangeAspect="1"/>
          </p:cNvPicPr>
          <p:nvPr/>
        </p:nvPicPr>
        <p:blipFill>
          <a:blip r:embed="rId2"/>
          <a:stretch>
            <a:fillRect/>
          </a:stretch>
        </p:blipFill>
        <p:spPr>
          <a:xfrm>
            <a:off x="6609466" y="2311786"/>
            <a:ext cx="277612" cy="277612"/>
          </a:xfrm>
          <a:prstGeom prst="rect">
            <a:avLst/>
          </a:prstGeom>
        </p:spPr>
      </p:pic>
      <p:sp>
        <p:nvSpPr>
          <p:cNvPr id="13" name="Text 9"/>
          <p:cNvSpPr/>
          <p:nvPr/>
        </p:nvSpPr>
        <p:spPr>
          <a:xfrm>
            <a:off x="7196328" y="2212848"/>
            <a:ext cx="420624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Today · converging</a:t>
            </a:r>
            <a:endParaRPr lang="en-US" sz="2000" dirty="0"/>
          </a:p>
        </p:txBody>
      </p:sp>
      <p:sp>
        <p:nvSpPr>
          <p:cNvPr id="14" name="Text 10"/>
          <p:cNvSpPr/>
          <p:nvPr/>
        </p:nvSpPr>
        <p:spPr>
          <a:xfrm>
            <a:off x="6492240" y="3017520"/>
            <a:ext cx="4892040" cy="1920240"/>
          </a:xfrm>
          <a:prstGeom prst="rect">
            <a:avLst/>
          </a:prstGeom>
          <a:noFill/>
          <a:ln/>
        </p:spPr>
        <p:txBody>
          <a:bodyPr wrap="square" lIns="0" tIns="0" rIns="0" bIns="0" rtlCol="0" anchor="t"/>
          <a:lstStyle/>
          <a:p>
            <a:pPr indent="0" marL="0">
              <a:lnSpc>
                <a:spcPct val="106000"/>
              </a:lnSpc>
              <a:buNone/>
            </a:pPr>
            <a:r>
              <a:rPr lang="en-US" sz="1650" dirty="0">
                <a:solidFill>
                  <a:srgbClr val="CFE0E9"/>
                </a:solidFill>
                <a:latin typeface="Calibri" pitchFamily="34" charset="0"/>
                <a:ea typeface="Calibri" pitchFamily="34" charset="-122"/>
                <a:cs typeface="Calibri" pitchFamily="34" charset="-120"/>
              </a:rPr>
              <a:t>Score against a shared yardstick, pressure-test with peers, and leave with 1–2 ideas you can defend.</a:t>
            </a:r>
            <a:endParaRPr lang="en-US" sz="1650" dirty="0"/>
          </a:p>
        </p:txBody>
      </p:sp>
      <p:sp>
        <p:nvSpPr>
          <p:cNvPr id="15" name="Shape 11"/>
          <p:cNvSpPr/>
          <p:nvPr/>
        </p:nvSpPr>
        <p:spPr>
          <a:xfrm>
            <a:off x="548640" y="5285232"/>
            <a:ext cx="11064240" cy="896112"/>
          </a:xfrm>
          <a:prstGeom prst="roundRect">
            <a:avLst>
              <a:gd name="adj" fmla="val 9184"/>
            </a:avLst>
          </a:prstGeom>
          <a:solidFill>
            <a:srgbClr val="E8A33D"/>
          </a:solidFill>
          <a:ln/>
          <a:effectLst>
            <a:outerShdw sx="100000" sy="100000" kx="0" ky="0" algn="bl" rotWithShape="0" blurRad="88900" dist="38100" dir="5400000">
              <a:srgbClr val="000000">
                <a:alpha val="13000"/>
              </a:srgbClr>
            </a:outerShdw>
          </a:effectLst>
        </p:spPr>
      </p:sp>
      <p:sp>
        <p:nvSpPr>
          <p:cNvPr id="16" name="Shape 12"/>
          <p:cNvSpPr/>
          <p:nvPr/>
        </p:nvSpPr>
        <p:spPr>
          <a:xfrm>
            <a:off x="841248" y="5504688"/>
            <a:ext cx="457200" cy="457200"/>
          </a:xfrm>
          <a:prstGeom prst="ellipse">
            <a:avLst/>
          </a:prstGeom>
          <a:solidFill>
            <a:srgbClr val="14233A"/>
          </a:solidFill>
          <a:ln/>
        </p:spPr>
      </p:sp>
      <p:pic>
        <p:nvPicPr>
          <p:cNvPr id="17" name="Image 2" descr="preencoded.png">    </p:cNvPr>
          <p:cNvPicPr>
            <a:picLocks noChangeAspect="1"/>
          </p:cNvPicPr>
          <p:nvPr/>
        </p:nvPicPr>
        <p:blipFill>
          <a:blip r:embed="rId3"/>
          <a:stretch>
            <a:fillRect/>
          </a:stretch>
        </p:blipFill>
        <p:spPr>
          <a:xfrm>
            <a:off x="964692" y="5628132"/>
            <a:ext cx="210312" cy="210312"/>
          </a:xfrm>
          <a:prstGeom prst="rect">
            <a:avLst/>
          </a:prstGeom>
        </p:spPr>
      </p:pic>
      <p:sp>
        <p:nvSpPr>
          <p:cNvPr id="18" name="Text 13"/>
          <p:cNvSpPr/>
          <p:nvPr/>
        </p:nvSpPr>
        <p:spPr>
          <a:xfrm>
            <a:off x="1463040" y="5285232"/>
            <a:ext cx="9875520" cy="896112"/>
          </a:xfrm>
          <a:prstGeom prst="rect">
            <a:avLst/>
          </a:prstGeom>
          <a:noFill/>
          <a:ln/>
        </p:spPr>
        <p:txBody>
          <a:bodyPr wrap="square" lIns="0" tIns="0" rIns="0" bIns="0" rtlCol="0" anchor="ctr"/>
          <a:lstStyle/>
          <a:p>
            <a:pPr indent="0" marL="0">
              <a:lnSpc>
                <a:spcPct val="103000"/>
              </a:lnSpc>
              <a:buNone/>
            </a:pPr>
            <a:r>
              <a:rPr lang="en-US" sz="1550" b="1" dirty="0">
                <a:solidFill>
                  <a:srgbClr val="14233A"/>
                </a:solidFill>
                <a:latin typeface="Calibri" pitchFamily="34" charset="0"/>
                <a:ea typeface="Calibri" pitchFamily="34" charset="-122"/>
                <a:cs typeface="Calibri" pitchFamily="34" charset="-120"/>
              </a:rPr>
              <a:t>Due today: CP1 Idea Briefs.  </a:t>
            </a:r>
            <a:pPr indent="0" marL="0">
              <a:lnSpc>
                <a:spcPct val="103000"/>
              </a:lnSpc>
              <a:buNone/>
            </a:pPr>
            <a:r>
              <a:rPr lang="en-US" sz="1550" dirty="0">
                <a:solidFill>
                  <a:srgbClr val="14233A"/>
                </a:solidFill>
                <a:latin typeface="Calibri" pitchFamily="34" charset="0"/>
                <a:ea typeface="Calibri" pitchFamily="34" charset="-122"/>
                <a:cs typeface="Calibri" pitchFamily="34" charset="-120"/>
              </a:rPr>
              <a:t>The idea you converge on becomes CP2 — written this weekend, due Mon, Sep 28.</a:t>
            </a:r>
            <a:endParaRPr lang="en-US" sz="1550" dirty="0"/>
          </a:p>
        </p:txBody>
      </p:sp>
      <p:sp>
        <p:nvSpPr>
          <p:cNvPr id="19" name="Text 14"/>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6 · Convergence Workshop</a:t>
            </a:r>
            <a:endParaRPr lang="en-US" sz="1000" dirty="0"/>
          </a:p>
        </p:txBody>
      </p:sp>
      <p:sp>
        <p:nvSpPr>
          <p:cNvPr id="20" name="Text 1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CONVERGENCE, DONE WELL</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Choose deliberately — don't just grab a favorite</a:t>
            </a:r>
            <a:endParaRPr lang="en-US" sz="3100" dirty="0"/>
          </a:p>
        </p:txBody>
      </p:sp>
      <p:sp>
        <p:nvSpPr>
          <p:cNvPr id="5" name="Shape 3"/>
          <p:cNvSpPr/>
          <p:nvPr/>
        </p:nvSpPr>
        <p:spPr>
          <a:xfrm>
            <a:off x="548640" y="1828800"/>
            <a:ext cx="3977640" cy="3291840"/>
          </a:xfrm>
          <a:prstGeom prst="roundRect">
            <a:avLst>
              <a:gd name="adj" fmla="val 2500"/>
            </a:avLst>
          </a:prstGeom>
          <a:solidFill>
            <a:srgbClr val="FBECE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103120"/>
            <a:ext cx="566928" cy="566928"/>
          </a:xfrm>
          <a:prstGeom prst="ellipse">
            <a:avLst/>
          </a:prstGeom>
          <a:solidFill>
            <a:srgbClr val="D9614C"/>
          </a:solidFill>
          <a:ln/>
        </p:spPr>
      </p:sp>
      <p:pic>
        <p:nvPicPr>
          <p:cNvPr id="7" name="Image 0" descr="preencoded.png">    </p:cNvPr>
          <p:cNvPicPr>
            <a:picLocks noChangeAspect="1"/>
          </p:cNvPicPr>
          <p:nvPr/>
        </p:nvPicPr>
        <p:blipFill>
          <a:blip r:embed="rId1"/>
          <a:stretch>
            <a:fillRect/>
          </a:stretch>
        </p:blipFill>
        <p:spPr>
          <a:xfrm>
            <a:off x="976031" y="2256191"/>
            <a:ext cx="260787" cy="260787"/>
          </a:xfrm>
          <a:prstGeom prst="rect">
            <a:avLst/>
          </a:prstGeom>
        </p:spPr>
      </p:pic>
      <p:sp>
        <p:nvSpPr>
          <p:cNvPr id="8" name="Text 5"/>
          <p:cNvSpPr/>
          <p:nvPr/>
        </p:nvSpPr>
        <p:spPr>
          <a:xfrm>
            <a:off x="1517904" y="2139696"/>
            <a:ext cx="2743200" cy="457200"/>
          </a:xfrm>
          <a:prstGeom prst="rect">
            <a:avLst/>
          </a:prstGeom>
          <a:noFill/>
          <a:ln/>
        </p:spPr>
        <p:txBody>
          <a:bodyPr wrap="square" lIns="0" tIns="0" rIns="0" bIns="0" rtlCol="0" anchor="ctr"/>
          <a:lstStyle/>
          <a:p>
            <a:pPr indent="0" marL="0">
              <a:buNone/>
            </a:pPr>
            <a:r>
              <a:rPr lang="en-US" sz="1900" b="1" dirty="0">
                <a:solidFill>
                  <a:srgbClr val="D9614C"/>
                </a:solidFill>
                <a:latin typeface="Calibri" pitchFamily="34" charset="0"/>
                <a:ea typeface="Calibri" pitchFamily="34" charset="-122"/>
                <a:cs typeface="Calibri" pitchFamily="34" charset="-120"/>
              </a:rPr>
              <a:t>The trap</a:t>
            </a:r>
            <a:endParaRPr lang="en-US" sz="1900" dirty="0"/>
          </a:p>
        </p:txBody>
      </p:sp>
      <p:sp>
        <p:nvSpPr>
          <p:cNvPr id="9" name="Text 6"/>
          <p:cNvSpPr/>
          <p:nvPr/>
        </p:nvSpPr>
        <p:spPr>
          <a:xfrm>
            <a:off x="868680" y="2880360"/>
            <a:ext cx="3383280" cy="2103120"/>
          </a:xfrm>
          <a:prstGeom prst="rect">
            <a:avLst/>
          </a:prstGeom>
          <a:noFill/>
          <a:ln/>
        </p:spPr>
        <p:txBody>
          <a:bodyPr wrap="square" lIns="0" tIns="0" rIns="0" bIns="0" rtlCol="0" anchor="t"/>
          <a:lstStyle/>
          <a:p>
            <a:pPr indent="0" marL="0">
              <a:lnSpc>
                <a:spcPct val="107000"/>
              </a:lnSpc>
              <a:buNone/>
            </a:pPr>
            <a:r>
              <a:rPr lang="en-US" sz="1550" dirty="0">
                <a:solidFill>
                  <a:srgbClr val="1E2A36"/>
                </a:solidFill>
                <a:latin typeface="Calibri" pitchFamily="34" charset="0"/>
                <a:ea typeface="Calibri" pitchFamily="34" charset="-122"/>
                <a:cs typeface="Calibri" pitchFamily="34" charset="-120"/>
              </a:rPr>
              <a:t>Premature convergence — grabbing the first or favorite idea and stopping. Scoring exists to make the choice defensible, not just decisive.</a:t>
            </a:r>
            <a:endParaRPr lang="en-US" sz="1550" dirty="0"/>
          </a:p>
        </p:txBody>
      </p:sp>
      <p:sp>
        <p:nvSpPr>
          <p:cNvPr id="10" name="Shape 7"/>
          <p:cNvSpPr/>
          <p:nvPr/>
        </p:nvSpPr>
        <p:spPr>
          <a:xfrm>
            <a:off x="4709160" y="1828800"/>
            <a:ext cx="6903720" cy="3291840"/>
          </a:xfrm>
          <a:prstGeom prst="roundRect">
            <a:avLst>
              <a:gd name="adj" fmla="val 2500"/>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4983480" y="2103120"/>
            <a:ext cx="566928" cy="566928"/>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5136551" y="2256191"/>
            <a:ext cx="260787" cy="260787"/>
          </a:xfrm>
          <a:prstGeom prst="rect">
            <a:avLst/>
          </a:prstGeom>
        </p:spPr>
      </p:pic>
      <p:sp>
        <p:nvSpPr>
          <p:cNvPr id="13" name="Text 9"/>
          <p:cNvSpPr/>
          <p:nvPr/>
        </p:nvSpPr>
        <p:spPr>
          <a:xfrm>
            <a:off x="5678424" y="2139696"/>
            <a:ext cx="5669280" cy="45720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The discipline — five moves</a:t>
            </a:r>
            <a:endParaRPr lang="en-US" sz="1900" dirty="0"/>
          </a:p>
        </p:txBody>
      </p:sp>
      <p:sp>
        <p:nvSpPr>
          <p:cNvPr id="14" name="Text 10"/>
          <p:cNvSpPr/>
          <p:nvPr/>
        </p:nvSpPr>
        <p:spPr>
          <a:xfrm>
            <a:off x="5029200" y="2852928"/>
            <a:ext cx="6309360" cy="2148840"/>
          </a:xfrm>
          <a:prstGeom prst="rect">
            <a:avLst/>
          </a:prstGeom>
          <a:noFill/>
          <a:ln/>
        </p:spPr>
        <p:txBody>
          <a:bodyPr wrap="square" lIns="0" tIns="0" rIns="0" bIns="0" rtlCol="0" anchor="t"/>
          <a:lstStyle/>
          <a:p>
            <a:pPr marL="177800" indent="-177800">
              <a:spcAft>
                <a:spcPts val="800"/>
              </a:spcAft>
              <a:buSzPct val="100000"/>
              <a:buChar char="•"/>
            </a:pPr>
            <a:r>
              <a:rPr lang="en-US" sz="1550" dirty="0">
                <a:solidFill>
                  <a:srgbClr val="1E2A36"/>
                </a:solidFill>
                <a:latin typeface="Calibri" pitchFamily="34" charset="0"/>
                <a:ea typeface="Calibri" pitchFamily="34" charset="-122"/>
                <a:cs typeface="Calibri" pitchFamily="34" charset="-120"/>
              </a:rPr>
              <a:t>Be deliberate — decide on the criteria, not on vibes.</a:t>
            </a:r>
            <a:endParaRPr lang="en-US" sz="1550" dirty="0"/>
          </a:p>
          <a:p>
            <a:pPr marL="177800" indent="-177800">
              <a:spcAft>
                <a:spcPts val="800"/>
              </a:spcAft>
              <a:buSzPct val="100000"/>
              <a:buChar char="•"/>
            </a:pPr>
            <a:r>
              <a:rPr lang="en-US" sz="1550" dirty="0">
                <a:solidFill>
                  <a:srgbClr val="1E2A36"/>
                </a:solidFill>
                <a:latin typeface="Calibri" pitchFamily="34" charset="0"/>
                <a:ea typeface="Calibri" pitchFamily="34" charset="-122"/>
                <a:cs typeface="Calibri" pitchFamily="34" charset="-120"/>
              </a:rPr>
              <a:t>Check your objective — does it serve a real need?</a:t>
            </a:r>
            <a:endParaRPr lang="en-US" sz="1550" dirty="0"/>
          </a:p>
          <a:p>
            <a:pPr marL="177800" indent="-177800">
              <a:spcAft>
                <a:spcPts val="800"/>
              </a:spcAft>
              <a:buSzPct val="100000"/>
              <a:buChar char="•"/>
            </a:pPr>
            <a:r>
              <a:rPr lang="en-US" sz="1550" dirty="0">
                <a:solidFill>
                  <a:srgbClr val="1E2A36"/>
                </a:solidFill>
                <a:latin typeface="Calibri" pitchFamily="34" charset="0"/>
                <a:ea typeface="Calibri" pitchFamily="34" charset="-122"/>
                <a:cs typeface="Calibri" pitchFamily="34" charset="-120"/>
              </a:rPr>
              <a:t>Improve promising ideas — don't only kill weak ones.</a:t>
            </a:r>
            <a:endParaRPr lang="en-US" sz="1550" dirty="0"/>
          </a:p>
          <a:p>
            <a:pPr marL="177800" indent="-177800">
              <a:spcAft>
                <a:spcPts val="800"/>
              </a:spcAft>
              <a:buSzPct val="100000"/>
              <a:buChar char="•"/>
            </a:pPr>
            <a:r>
              <a:rPr lang="en-US" sz="1550" dirty="0">
                <a:solidFill>
                  <a:srgbClr val="1E2A36"/>
                </a:solidFill>
                <a:latin typeface="Calibri" pitchFamily="34" charset="0"/>
                <a:ea typeface="Calibri" pitchFamily="34" charset="-122"/>
                <a:cs typeface="Calibri" pitchFamily="34" charset="-120"/>
              </a:rPr>
              <a:t>Keep the novelty alive — don't default to the safest.</a:t>
            </a:r>
            <a:endParaRPr lang="en-US" sz="1550" dirty="0"/>
          </a:p>
          <a:p>
            <a:pPr marL="177800" indent="-177800">
              <a:buSzPct val="100000"/>
              <a:buChar char="•"/>
            </a:pPr>
            <a:r>
              <a:rPr lang="en-US" sz="1550" dirty="0">
                <a:solidFill>
                  <a:srgbClr val="1E2A36"/>
                </a:solidFill>
                <a:latin typeface="Calibri" pitchFamily="34" charset="0"/>
                <a:ea typeface="Calibri" pitchFamily="34" charset="-122"/>
                <a:cs typeface="Calibri" pitchFamily="34" charset="-120"/>
              </a:rPr>
              <a:t>Stay affirmative — narrowing isn't tearing down.</a:t>
            </a:r>
            <a:endParaRPr lang="en-US" sz="1550" dirty="0"/>
          </a:p>
        </p:txBody>
      </p:sp>
      <p:sp>
        <p:nvSpPr>
          <p:cNvPr id="15" name="Shape 11"/>
          <p:cNvSpPr/>
          <p:nvPr/>
        </p:nvSpPr>
        <p:spPr>
          <a:xfrm>
            <a:off x="548640" y="5349240"/>
            <a:ext cx="11064240" cy="822960"/>
          </a:xfrm>
          <a:prstGeom prst="roundRect">
            <a:avLst>
              <a:gd name="adj" fmla="val 10000"/>
            </a:avLst>
          </a:prstGeom>
          <a:solidFill>
            <a:srgbClr val="14233A"/>
          </a:solidFill>
          <a:ln/>
          <a:effectLst>
            <a:outerShdw sx="100000" sy="100000" kx="0" ky="0" algn="bl" rotWithShape="0" blurRad="88900" dist="38100" dir="5400000">
              <a:srgbClr val="000000">
                <a:alpha val="13000"/>
              </a:srgbClr>
            </a:outerShdw>
          </a:effectLst>
        </p:spPr>
      </p:sp>
      <p:sp>
        <p:nvSpPr>
          <p:cNvPr id="16" name="Text 12"/>
          <p:cNvSpPr/>
          <p:nvPr/>
        </p:nvSpPr>
        <p:spPr>
          <a:xfrm>
            <a:off x="822960" y="5349240"/>
            <a:ext cx="10515600" cy="822960"/>
          </a:xfrm>
          <a:prstGeom prst="rect">
            <a:avLst/>
          </a:prstGeom>
          <a:noFill/>
          <a:ln/>
        </p:spPr>
        <p:txBody>
          <a:bodyPr wrap="square" lIns="0" tIns="0" rIns="0" bIns="0" rtlCol="0" anchor="ctr"/>
          <a:lstStyle/>
          <a:p>
            <a:pPr algn="ctr" indent="0" marL="0">
              <a:buNone/>
            </a:pPr>
            <a:r>
              <a:rPr lang="en-US" sz="1550" b="1" dirty="0">
                <a:solidFill>
                  <a:srgbClr val="E8A33D"/>
                </a:solidFill>
                <a:latin typeface="Calibri" pitchFamily="34" charset="0"/>
                <a:ea typeface="Calibri" pitchFamily="34" charset="-122"/>
                <a:cs typeface="Calibri" pitchFamily="34" charset="-120"/>
              </a:rPr>
              <a:t>Converging means choosing a working direction you can defend and revise</a:t>
            </a:r>
            <a:pPr algn="ctr" indent="0" marL="0">
              <a:buNone/>
            </a:pPr>
            <a:r>
              <a:rPr lang="en-US" sz="1550" dirty="0">
                <a:solidFill>
                  <a:srgbClr val="FFFFFF"/>
                </a:solidFill>
                <a:latin typeface="Calibri" pitchFamily="34" charset="0"/>
                <a:ea typeface="Calibri" pitchFamily="34" charset="-122"/>
                <a:cs typeface="Calibri" pitchFamily="34" charset="-120"/>
              </a:rPr>
              <a:t> — not marrying an idea.</a:t>
            </a:r>
            <a:endParaRPr lang="en-US" sz="1550" dirty="0"/>
          </a:p>
        </p:txBody>
      </p:sp>
      <p:sp>
        <p:nvSpPr>
          <p:cNvPr id="17" name="Text 13"/>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6 · Convergence Workshop</a:t>
            </a:r>
            <a:endParaRPr lang="en-US" sz="1000" dirty="0"/>
          </a:p>
        </p:txBody>
      </p:sp>
      <p:sp>
        <p:nvSpPr>
          <p:cNvPr id="18" name="Text 1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SKILL UNDER CONVERGENCE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Evaluating an idea — a portable toolkit</a:t>
            </a:r>
            <a:endParaRPr lang="en-US" sz="3100" dirty="0"/>
          </a:p>
        </p:txBody>
      </p:sp>
      <p:sp>
        <p:nvSpPr>
          <p:cNvPr id="5" name="Shape 3"/>
          <p:cNvSpPr/>
          <p:nvPr/>
        </p:nvSpPr>
        <p:spPr>
          <a:xfrm>
            <a:off x="548640" y="1664208"/>
            <a:ext cx="11064240" cy="658368"/>
          </a:xfrm>
          <a:prstGeom prst="roundRect">
            <a:avLst>
              <a:gd name="adj" fmla="val 12500"/>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777240" y="1764792"/>
            <a:ext cx="457200" cy="457200"/>
          </a:xfrm>
          <a:prstGeom prst="ellipse">
            <a:avLst/>
          </a:prstGeom>
          <a:solidFill>
            <a:srgbClr val="12908F"/>
          </a:solidFill>
          <a:ln/>
        </p:spPr>
      </p:sp>
      <p:sp>
        <p:nvSpPr>
          <p:cNvPr id="7" name="Text 5"/>
          <p:cNvSpPr/>
          <p:nvPr/>
        </p:nvSpPr>
        <p:spPr>
          <a:xfrm>
            <a:off x="777240" y="1764792"/>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417320" y="1700784"/>
            <a:ext cx="3977640" cy="585216"/>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Decide what "good" means here</a:t>
            </a:r>
            <a:endParaRPr lang="en-US" sz="1650" dirty="0"/>
          </a:p>
        </p:txBody>
      </p:sp>
      <p:sp>
        <p:nvSpPr>
          <p:cNvPr id="9" name="Text 7"/>
          <p:cNvSpPr/>
          <p:nvPr/>
        </p:nvSpPr>
        <p:spPr>
          <a:xfrm>
            <a:off x="5486400" y="1700784"/>
            <a:ext cx="5943600" cy="585216"/>
          </a:xfrm>
          <a:prstGeom prst="rect">
            <a:avLst/>
          </a:prstGeom>
          <a:noFill/>
          <a:ln/>
        </p:spPr>
        <p:txBody>
          <a:bodyPr wrap="square" lIns="0" tIns="0" rIns="0" bIns="0" rtlCol="0" anchor="ctr"/>
          <a:lstStyle/>
          <a:p>
            <a:pPr indent="0" marL="0">
              <a:lnSpc>
                <a:spcPct val="102000"/>
              </a:lnSpc>
              <a:buNone/>
            </a:pPr>
            <a:r>
              <a:rPr lang="en-US" sz="1350" dirty="0">
                <a:solidFill>
                  <a:srgbClr val="5F7284"/>
                </a:solidFill>
                <a:latin typeface="Calibri" pitchFamily="34" charset="0"/>
                <a:ea typeface="Calibri" pitchFamily="34" charset="-122"/>
                <a:cs typeface="Calibri" pitchFamily="34" charset="-120"/>
              </a:rPr>
              <a:t>Pick the criteria that fit your goal — the step most people skip.</a:t>
            </a:r>
            <a:endParaRPr lang="en-US" sz="1350" dirty="0"/>
          </a:p>
        </p:txBody>
      </p:sp>
      <p:sp>
        <p:nvSpPr>
          <p:cNvPr id="10" name="Shape 8"/>
          <p:cNvSpPr/>
          <p:nvPr/>
        </p:nvSpPr>
        <p:spPr>
          <a:xfrm>
            <a:off x="548640" y="2441448"/>
            <a:ext cx="11064240" cy="658368"/>
          </a:xfrm>
          <a:prstGeom prst="roundRect">
            <a:avLst>
              <a:gd name="adj" fmla="val 12500"/>
            </a:avLst>
          </a:prstGeom>
          <a:solidFill>
            <a:srgbClr val="F2F6F8"/>
          </a:solidFill>
          <a:ln/>
          <a:effectLst>
            <a:outerShdw sx="100000" sy="100000" kx="0" ky="0" algn="bl" rotWithShape="0" blurRad="88900" dist="38100" dir="5400000">
              <a:srgbClr val="000000">
                <a:alpha val="13000"/>
              </a:srgbClr>
            </a:outerShdw>
          </a:effectLst>
        </p:spPr>
      </p:sp>
      <p:sp>
        <p:nvSpPr>
          <p:cNvPr id="11" name="Shape 9"/>
          <p:cNvSpPr/>
          <p:nvPr/>
        </p:nvSpPr>
        <p:spPr>
          <a:xfrm>
            <a:off x="777240" y="2542032"/>
            <a:ext cx="457200" cy="457200"/>
          </a:xfrm>
          <a:prstGeom prst="ellipse">
            <a:avLst/>
          </a:prstGeom>
          <a:solidFill>
            <a:srgbClr val="12908F"/>
          </a:solidFill>
          <a:ln/>
        </p:spPr>
      </p:sp>
      <p:sp>
        <p:nvSpPr>
          <p:cNvPr id="12" name="Text 10"/>
          <p:cNvSpPr/>
          <p:nvPr/>
        </p:nvSpPr>
        <p:spPr>
          <a:xfrm>
            <a:off x="777240" y="2542032"/>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1417320" y="2478024"/>
            <a:ext cx="3977640" cy="585216"/>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Score candidates against them</a:t>
            </a:r>
            <a:endParaRPr lang="en-US" sz="1650" dirty="0"/>
          </a:p>
        </p:txBody>
      </p:sp>
      <p:sp>
        <p:nvSpPr>
          <p:cNvPr id="14" name="Text 12"/>
          <p:cNvSpPr/>
          <p:nvPr/>
        </p:nvSpPr>
        <p:spPr>
          <a:xfrm>
            <a:off x="5486400" y="2478024"/>
            <a:ext cx="5943600" cy="585216"/>
          </a:xfrm>
          <a:prstGeom prst="rect">
            <a:avLst/>
          </a:prstGeom>
          <a:noFill/>
          <a:ln/>
        </p:spPr>
        <p:txBody>
          <a:bodyPr wrap="square" lIns="0" tIns="0" rIns="0" bIns="0" rtlCol="0" anchor="ctr"/>
          <a:lstStyle/>
          <a:p>
            <a:pPr indent="0" marL="0">
              <a:lnSpc>
                <a:spcPct val="102000"/>
              </a:lnSpc>
              <a:buNone/>
            </a:pPr>
            <a:r>
              <a:rPr lang="en-US" sz="1350" dirty="0">
                <a:solidFill>
                  <a:srgbClr val="5F7284"/>
                </a:solidFill>
                <a:latin typeface="Calibri" pitchFamily="34" charset="0"/>
                <a:ea typeface="Calibri" pitchFamily="34" charset="-122"/>
                <a:cs typeface="Calibri" pitchFamily="34" charset="-120"/>
              </a:rPr>
              <a:t>Deliberately, not by attachment — a fatal flaw beats a high total.</a:t>
            </a:r>
            <a:endParaRPr lang="en-US" sz="1350" dirty="0"/>
          </a:p>
        </p:txBody>
      </p:sp>
      <p:sp>
        <p:nvSpPr>
          <p:cNvPr id="15" name="Shape 13"/>
          <p:cNvSpPr/>
          <p:nvPr/>
        </p:nvSpPr>
        <p:spPr>
          <a:xfrm>
            <a:off x="548640" y="3218688"/>
            <a:ext cx="11064240" cy="658368"/>
          </a:xfrm>
          <a:prstGeom prst="roundRect">
            <a:avLst>
              <a:gd name="adj" fmla="val 12500"/>
            </a:avLst>
          </a:prstGeom>
          <a:solidFill>
            <a:srgbClr val="F2F6F8"/>
          </a:solidFill>
          <a:ln/>
          <a:effectLst>
            <a:outerShdw sx="100000" sy="100000" kx="0" ky="0" algn="bl" rotWithShape="0" blurRad="88900" dist="38100" dir="5400000">
              <a:srgbClr val="000000">
                <a:alpha val="13000"/>
              </a:srgbClr>
            </a:outerShdw>
          </a:effectLst>
        </p:spPr>
      </p:sp>
      <p:sp>
        <p:nvSpPr>
          <p:cNvPr id="16" name="Shape 14"/>
          <p:cNvSpPr/>
          <p:nvPr/>
        </p:nvSpPr>
        <p:spPr>
          <a:xfrm>
            <a:off x="777240" y="3319272"/>
            <a:ext cx="457200" cy="457200"/>
          </a:xfrm>
          <a:prstGeom prst="ellipse">
            <a:avLst/>
          </a:prstGeom>
          <a:solidFill>
            <a:srgbClr val="12908F"/>
          </a:solidFill>
          <a:ln/>
        </p:spPr>
      </p:sp>
      <p:sp>
        <p:nvSpPr>
          <p:cNvPr id="17" name="Text 15"/>
          <p:cNvSpPr/>
          <p:nvPr/>
        </p:nvSpPr>
        <p:spPr>
          <a:xfrm>
            <a:off x="777240" y="3319272"/>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8" name="Text 16"/>
          <p:cNvSpPr/>
          <p:nvPr/>
        </p:nvSpPr>
        <p:spPr>
          <a:xfrm>
            <a:off x="1417320" y="3255264"/>
            <a:ext cx="3977640" cy="585216"/>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Weigh value against do-ability</a:t>
            </a:r>
            <a:endParaRPr lang="en-US" sz="1650" dirty="0"/>
          </a:p>
        </p:txBody>
      </p:sp>
      <p:sp>
        <p:nvSpPr>
          <p:cNvPr id="19" name="Text 17"/>
          <p:cNvSpPr/>
          <p:nvPr/>
        </p:nvSpPr>
        <p:spPr>
          <a:xfrm>
            <a:off x="5486400" y="3255264"/>
            <a:ext cx="5943600" cy="585216"/>
          </a:xfrm>
          <a:prstGeom prst="rect">
            <a:avLst/>
          </a:prstGeom>
          <a:noFill/>
          <a:ln/>
        </p:spPr>
        <p:txBody>
          <a:bodyPr wrap="square" lIns="0" tIns="0" rIns="0" bIns="0" rtlCol="0" anchor="ctr"/>
          <a:lstStyle/>
          <a:p>
            <a:pPr indent="0" marL="0">
              <a:lnSpc>
                <a:spcPct val="102000"/>
              </a:lnSpc>
              <a:buNone/>
            </a:pPr>
            <a:r>
              <a:rPr lang="en-US" sz="1350" dirty="0">
                <a:solidFill>
                  <a:srgbClr val="5F7284"/>
                </a:solidFill>
                <a:latin typeface="Calibri" pitchFamily="34" charset="0"/>
                <a:ea typeface="Calibri" pitchFamily="34" charset="-122"/>
                <a:cs typeface="Calibri" pitchFamily="34" charset="-120"/>
              </a:rPr>
              <a:t>Is the payoff worth the effort? Plot it; don't guess.</a:t>
            </a:r>
            <a:endParaRPr lang="en-US" sz="1350" dirty="0"/>
          </a:p>
        </p:txBody>
      </p:sp>
      <p:sp>
        <p:nvSpPr>
          <p:cNvPr id="20" name="Shape 18"/>
          <p:cNvSpPr/>
          <p:nvPr/>
        </p:nvSpPr>
        <p:spPr>
          <a:xfrm>
            <a:off x="548640" y="3995928"/>
            <a:ext cx="11064240" cy="658368"/>
          </a:xfrm>
          <a:prstGeom prst="roundRect">
            <a:avLst>
              <a:gd name="adj" fmla="val 12500"/>
            </a:avLst>
          </a:prstGeom>
          <a:solidFill>
            <a:srgbClr val="F2F6F8"/>
          </a:solidFill>
          <a:ln/>
          <a:effectLst>
            <a:outerShdw sx="100000" sy="100000" kx="0" ky="0" algn="bl" rotWithShape="0" blurRad="88900" dist="38100" dir="5400000">
              <a:srgbClr val="000000">
                <a:alpha val="13000"/>
              </a:srgbClr>
            </a:outerShdw>
          </a:effectLst>
        </p:spPr>
      </p:sp>
      <p:sp>
        <p:nvSpPr>
          <p:cNvPr id="21" name="Shape 19"/>
          <p:cNvSpPr/>
          <p:nvPr/>
        </p:nvSpPr>
        <p:spPr>
          <a:xfrm>
            <a:off x="777240" y="4096512"/>
            <a:ext cx="457200" cy="457200"/>
          </a:xfrm>
          <a:prstGeom prst="ellipse">
            <a:avLst/>
          </a:prstGeom>
          <a:solidFill>
            <a:srgbClr val="12908F"/>
          </a:solidFill>
          <a:ln/>
        </p:spPr>
      </p:sp>
      <p:sp>
        <p:nvSpPr>
          <p:cNvPr id="22" name="Text 20"/>
          <p:cNvSpPr/>
          <p:nvPr/>
        </p:nvSpPr>
        <p:spPr>
          <a:xfrm>
            <a:off x="777240" y="4096512"/>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23" name="Text 21"/>
          <p:cNvSpPr/>
          <p:nvPr/>
        </p:nvSpPr>
        <p:spPr>
          <a:xfrm>
            <a:off x="1417320" y="4032504"/>
            <a:ext cx="3977640" cy="585216"/>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Pressure-test with others</a:t>
            </a:r>
            <a:endParaRPr lang="en-US" sz="1650" dirty="0"/>
          </a:p>
        </p:txBody>
      </p:sp>
      <p:sp>
        <p:nvSpPr>
          <p:cNvPr id="24" name="Text 22"/>
          <p:cNvSpPr/>
          <p:nvPr/>
        </p:nvSpPr>
        <p:spPr>
          <a:xfrm>
            <a:off x="5486400" y="4032504"/>
            <a:ext cx="5943600" cy="585216"/>
          </a:xfrm>
          <a:prstGeom prst="rect">
            <a:avLst/>
          </a:prstGeom>
          <a:noFill/>
          <a:ln/>
        </p:spPr>
        <p:txBody>
          <a:bodyPr wrap="square" lIns="0" tIns="0" rIns="0" bIns="0" rtlCol="0" anchor="ctr"/>
          <a:lstStyle/>
          <a:p>
            <a:pPr indent="0" marL="0">
              <a:lnSpc>
                <a:spcPct val="102000"/>
              </a:lnSpc>
              <a:buNone/>
            </a:pPr>
            <a:r>
              <a:rPr lang="en-US" sz="1350" dirty="0">
                <a:solidFill>
                  <a:srgbClr val="5F7284"/>
                </a:solidFill>
                <a:latin typeface="Calibri" pitchFamily="34" charset="0"/>
                <a:ea typeface="Calibri" pitchFamily="34" charset="-122"/>
                <a:cs typeface="Calibri" pitchFamily="34" charset="-120"/>
              </a:rPr>
              <a:t>Structured feedback — challenge the idea, not the person.</a:t>
            </a:r>
            <a:endParaRPr lang="en-US" sz="1350" dirty="0"/>
          </a:p>
        </p:txBody>
      </p:sp>
      <p:sp>
        <p:nvSpPr>
          <p:cNvPr id="25" name="Shape 23"/>
          <p:cNvSpPr/>
          <p:nvPr/>
        </p:nvSpPr>
        <p:spPr>
          <a:xfrm>
            <a:off x="548640" y="4773168"/>
            <a:ext cx="11064240" cy="658368"/>
          </a:xfrm>
          <a:prstGeom prst="roundRect">
            <a:avLst>
              <a:gd name="adj" fmla="val 12500"/>
            </a:avLst>
          </a:prstGeom>
          <a:solidFill>
            <a:srgbClr val="F2F6F8"/>
          </a:solidFill>
          <a:ln/>
          <a:effectLst>
            <a:outerShdw sx="100000" sy="100000" kx="0" ky="0" algn="bl" rotWithShape="0" blurRad="88900" dist="38100" dir="5400000">
              <a:srgbClr val="000000">
                <a:alpha val="13000"/>
              </a:srgbClr>
            </a:outerShdw>
          </a:effectLst>
        </p:spPr>
      </p:sp>
      <p:sp>
        <p:nvSpPr>
          <p:cNvPr id="26" name="Shape 24"/>
          <p:cNvSpPr/>
          <p:nvPr/>
        </p:nvSpPr>
        <p:spPr>
          <a:xfrm>
            <a:off x="777240" y="4873752"/>
            <a:ext cx="457200" cy="457200"/>
          </a:xfrm>
          <a:prstGeom prst="ellipse">
            <a:avLst/>
          </a:prstGeom>
          <a:solidFill>
            <a:srgbClr val="12908F"/>
          </a:solidFill>
          <a:ln/>
        </p:spPr>
      </p:sp>
      <p:sp>
        <p:nvSpPr>
          <p:cNvPr id="27" name="Text 25"/>
          <p:cNvSpPr/>
          <p:nvPr/>
        </p:nvSpPr>
        <p:spPr>
          <a:xfrm>
            <a:off x="777240" y="4873752"/>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28" name="Text 26"/>
          <p:cNvSpPr/>
          <p:nvPr/>
        </p:nvSpPr>
        <p:spPr>
          <a:xfrm>
            <a:off x="1417320" y="4809744"/>
            <a:ext cx="3977640" cy="585216"/>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Commit — with a rationale</a:t>
            </a:r>
            <a:endParaRPr lang="en-US" sz="1650" dirty="0"/>
          </a:p>
        </p:txBody>
      </p:sp>
      <p:sp>
        <p:nvSpPr>
          <p:cNvPr id="29" name="Text 27"/>
          <p:cNvSpPr/>
          <p:nvPr/>
        </p:nvSpPr>
        <p:spPr>
          <a:xfrm>
            <a:off x="5486400" y="4809744"/>
            <a:ext cx="5943600" cy="585216"/>
          </a:xfrm>
          <a:prstGeom prst="rect">
            <a:avLst/>
          </a:prstGeom>
          <a:noFill/>
          <a:ln/>
        </p:spPr>
        <p:txBody>
          <a:bodyPr wrap="square" lIns="0" tIns="0" rIns="0" bIns="0" rtlCol="0" anchor="ctr"/>
          <a:lstStyle/>
          <a:p>
            <a:pPr indent="0" marL="0">
              <a:lnSpc>
                <a:spcPct val="102000"/>
              </a:lnSpc>
              <a:buNone/>
            </a:pPr>
            <a:r>
              <a:rPr lang="en-US" sz="1350" dirty="0">
                <a:solidFill>
                  <a:srgbClr val="5F7284"/>
                </a:solidFill>
                <a:latin typeface="Calibri" pitchFamily="34" charset="0"/>
                <a:ea typeface="Calibri" pitchFamily="34" charset="-122"/>
                <a:cs typeface="Calibri" pitchFamily="34" charset="-120"/>
              </a:rPr>
              <a:t>Choose a working direction you can defend and revise.</a:t>
            </a:r>
            <a:endParaRPr lang="en-US" sz="1350" dirty="0"/>
          </a:p>
        </p:txBody>
      </p:sp>
      <p:sp>
        <p:nvSpPr>
          <p:cNvPr id="30" name="Shape 28"/>
          <p:cNvSpPr/>
          <p:nvPr/>
        </p:nvSpPr>
        <p:spPr>
          <a:xfrm>
            <a:off x="548640" y="5541264"/>
            <a:ext cx="11064240" cy="658368"/>
          </a:xfrm>
          <a:prstGeom prst="roundRect">
            <a:avLst>
              <a:gd name="adj" fmla="val 12500"/>
            </a:avLst>
          </a:prstGeom>
          <a:solidFill>
            <a:srgbClr val="E8A33D"/>
          </a:solidFill>
          <a:ln/>
          <a:effectLst>
            <a:outerShdw sx="100000" sy="100000" kx="0" ky="0" algn="bl" rotWithShape="0" blurRad="88900" dist="38100" dir="5400000">
              <a:srgbClr val="000000">
                <a:alpha val="13000"/>
              </a:srgbClr>
            </a:outerShdw>
          </a:effectLst>
        </p:spPr>
      </p:sp>
      <p:sp>
        <p:nvSpPr>
          <p:cNvPr id="31" name="Shape 29"/>
          <p:cNvSpPr/>
          <p:nvPr/>
        </p:nvSpPr>
        <p:spPr>
          <a:xfrm>
            <a:off x="841248" y="5660136"/>
            <a:ext cx="420624" cy="420624"/>
          </a:xfrm>
          <a:prstGeom prst="ellipse">
            <a:avLst/>
          </a:prstGeom>
          <a:solidFill>
            <a:srgbClr val="14233A"/>
          </a:solidFill>
          <a:ln/>
        </p:spPr>
      </p:sp>
      <p:pic>
        <p:nvPicPr>
          <p:cNvPr id="32" name="Image 0" descr="preencoded.png">    </p:cNvPr>
          <p:cNvPicPr>
            <a:picLocks noChangeAspect="1"/>
          </p:cNvPicPr>
          <p:nvPr/>
        </p:nvPicPr>
        <p:blipFill>
          <a:blip r:embed="rId1"/>
          <a:stretch>
            <a:fillRect/>
          </a:stretch>
        </p:blipFill>
        <p:spPr>
          <a:xfrm>
            <a:off x="954816" y="5773704"/>
            <a:ext cx="193487" cy="193487"/>
          </a:xfrm>
          <a:prstGeom prst="rect">
            <a:avLst/>
          </a:prstGeom>
        </p:spPr>
      </p:pic>
      <p:sp>
        <p:nvSpPr>
          <p:cNvPr id="33" name="Text 30"/>
          <p:cNvSpPr/>
          <p:nvPr/>
        </p:nvSpPr>
        <p:spPr>
          <a:xfrm>
            <a:off x="1444752" y="5541264"/>
            <a:ext cx="9966960" cy="658368"/>
          </a:xfrm>
          <a:prstGeom prst="rect">
            <a:avLst/>
          </a:prstGeom>
          <a:noFill/>
          <a:ln/>
        </p:spPr>
        <p:txBody>
          <a:bodyPr wrap="square" lIns="0" tIns="0" rIns="0" bIns="0" rtlCol="0" anchor="ctr"/>
          <a:lstStyle/>
          <a:p>
            <a:pPr indent="0" marL="0">
              <a:lnSpc>
                <a:spcPct val="103000"/>
              </a:lnSpc>
              <a:buNone/>
            </a:pPr>
            <a:r>
              <a:rPr lang="en-US" sz="1500" b="1" dirty="0">
                <a:solidFill>
                  <a:srgbClr val="14233A"/>
                </a:solidFill>
                <a:latin typeface="Calibri" pitchFamily="34" charset="0"/>
                <a:ea typeface="Calibri" pitchFamily="34" charset="-122"/>
                <a:cs typeface="Calibri" pitchFamily="34" charset="-120"/>
              </a:rPr>
              <a:t>Portable:  </a:t>
            </a:r>
            <a:pPr indent="0" marL="0">
              <a:lnSpc>
                <a:spcPct val="103000"/>
              </a:lnSpc>
              <a:buNone/>
            </a:pPr>
            <a:r>
              <a:rPr lang="en-US" sz="1500" dirty="0">
                <a:solidFill>
                  <a:srgbClr val="14233A"/>
                </a:solidFill>
                <a:latin typeface="Calibri" pitchFamily="34" charset="0"/>
                <a:ea typeface="Calibri" pitchFamily="34" charset="-122"/>
                <a:cs typeface="Calibri" pitchFamily="34" charset="-120"/>
              </a:rPr>
              <a:t>this works on any idea — a feature at work, a startup, a side project. Only step 1 changes — the criteria you choose.</a:t>
            </a:r>
            <a:endParaRPr lang="en-US" sz="1500" dirty="0"/>
          </a:p>
        </p:txBody>
      </p:sp>
      <p:sp>
        <p:nvSpPr>
          <p:cNvPr id="34" name="Text 31"/>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6 · Convergence Workshop</a:t>
            </a:r>
            <a:endParaRPr lang="en-US" sz="1000" dirty="0"/>
          </a:p>
        </p:txBody>
      </p:sp>
      <p:sp>
        <p:nvSpPr>
          <p:cNvPr id="35" name="Text 3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CRITERIA WE CHOSE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selection criteria</a:t>
            </a:r>
            <a:endParaRPr lang="en-US" sz="3100" dirty="0"/>
          </a:p>
        </p:txBody>
      </p:sp>
      <p:sp>
        <p:nvSpPr>
          <p:cNvPr id="5" name="Text 3"/>
          <p:cNvSpPr/>
          <p:nvPr/>
        </p:nvSpPr>
        <p:spPr>
          <a:xfrm>
            <a:off x="548640" y="1517904"/>
            <a:ext cx="11064240" cy="310896"/>
          </a:xfrm>
          <a:prstGeom prst="rect">
            <a:avLst/>
          </a:prstGeom>
          <a:noFill/>
          <a:ln/>
        </p:spPr>
        <p:txBody>
          <a:bodyPr wrap="square" lIns="0" tIns="0" rIns="0" bIns="0" rtlCol="0" anchor="ctr"/>
          <a:lstStyle/>
          <a:p>
            <a:pPr indent="0" marL="0">
              <a:buNone/>
            </a:pPr>
            <a:r>
              <a:rPr lang="en-US" sz="1450" i="1" dirty="0">
                <a:solidFill>
                  <a:srgbClr val="5F7284"/>
                </a:solidFill>
                <a:latin typeface="Calibri" pitchFamily="34" charset="0"/>
                <a:ea typeface="Calibri" pitchFamily="34" charset="-122"/>
                <a:cs typeface="Calibri" pitchFamily="34" charset="-120"/>
              </a:rPr>
              <a:t>Score each candidate 1–3 on each. The two most-missed — real need and richness (highlighted) — carry the most weight.</a:t>
            </a:r>
            <a:endParaRPr lang="en-US" sz="14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847088"/>
          <a:ext cx="11064240" cy="914400"/>
        </p:xfrm>
        <a:graphic>
          <a:graphicData uri="http://schemas.openxmlformats.org/drawingml/2006/table">
            <a:tbl>
              <a:tblPr/>
              <a:tblGrid>
                <a:gridCol w="3383280"/>
                <a:gridCol w="7680960"/>
              </a:tblGrid>
              <a:tr h="457200">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Criterion</a:t>
                      </a:r>
                      <a:endParaRPr lang="en-US" sz="1450" dirty="0">
                        <a:latin typeface="Calibri" charset="0"/>
                        <a:ea typeface="Calibri" charset="0"/>
                        <a:cs typeface="Calibri" charset="0"/>
                      </a:endParaRPr>
                    </a:p>
                  </a:txBody>
                  <a:tcPr marL="114300" marR="1143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4233A"/>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What a strong idea shows</a:t>
                      </a:r>
                      <a:endParaRPr lang="en-US" sz="1450" dirty="0">
                        <a:latin typeface="Calibri" charset="0"/>
                        <a:ea typeface="Calibri" charset="0"/>
                        <a:cs typeface="Calibri" charset="0"/>
                      </a:endParaRPr>
                    </a:p>
                  </a:txBody>
                  <a:tcPr marL="114300" marR="1143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4233A"/>
                    </a:solidFill>
                  </a:tcPr>
                </a:tc>
              </a:tr>
              <a:tr h="457200">
                <a:tc>
                  <a:txBody>
                    <a:bodyPr/>
                    <a:lstStyle/>
                    <a:p>
                      <a:pPr indent="0" marL="0">
                        <a:buNone/>
                      </a:pPr>
                      <a:r>
                        <a:rPr lang="en-US" sz="1450" b="1" dirty="0">
                          <a:solidFill>
                            <a:srgbClr val="1E2A36"/>
                          </a:solidFill>
                          <a:latin typeface="Calibri" pitchFamily="34" charset="0"/>
                          <a:ea typeface="Calibri" pitchFamily="34" charset="-122"/>
                          <a:cs typeface="Calibri" pitchFamily="34" charset="-120"/>
                        </a:rPr>
                        <a:t>Real need, reachable users</a:t>
                      </a:r>
                      <a:endParaRPr lang="en-US" sz="1450" dirty="0">
                        <a:latin typeface="Calibri" charset="0"/>
                        <a:ea typeface="Calibri" charset="0"/>
                        <a:cs typeface="Calibri" charset="0"/>
                      </a:endParaRPr>
                    </a:p>
                  </a:txBody>
                  <a:tcPr marL="114300" marR="1143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AD2"/>
                    </a:solidFill>
                  </a:tcPr>
                </a:tc>
                <a:tc>
                  <a:txBody>
                    <a:bodyPr/>
                    <a:lstStyle/>
                    <a:p>
                      <a:pPr indent="0" marL="0">
                        <a:buNone/>
                      </a:pPr>
                      <a:r>
                        <a:rPr lang="en-US" sz="1400" dirty="0">
                          <a:solidFill>
                            <a:srgbClr val="1E2A36"/>
                          </a:solidFill>
                          <a:latin typeface="Calibri" pitchFamily="34" charset="0"/>
                          <a:ea typeface="Calibri" pitchFamily="34" charset="-122"/>
                          <a:cs typeface="Calibri" pitchFamily="34" charset="-120"/>
                        </a:rPr>
                        <a:t>A specific userbase with a felt, evidenced need — not a toy.</a:t>
                      </a:r>
                      <a:endParaRPr lang="en-US" sz="1400" dirty="0">
                        <a:latin typeface="Calibri" charset="0"/>
                        <a:ea typeface="Calibri" charset="0"/>
                        <a:cs typeface="Calibri" charset="0"/>
                      </a:endParaRPr>
                    </a:p>
                  </a:txBody>
                  <a:tcPr marL="114300" marR="1143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AD2"/>
                    </a:solidFill>
                  </a:tcPr>
                </a:tc>
              </a:tr>
              <a:tr h="457200">
                <a:tc>
                  <a:txBody>
                    <a:bodyPr/>
                    <a:lstStyle/>
                    <a:p>
                      <a:pPr indent="0" marL="0">
                        <a:buNone/>
                      </a:pPr>
                      <a:r>
                        <a:rPr lang="en-US" sz="1450" b="1" dirty="0">
                          <a:solidFill>
                            <a:srgbClr val="1E2A36"/>
                          </a:solidFill>
                          <a:latin typeface="Calibri" pitchFamily="34" charset="0"/>
                          <a:ea typeface="Calibri" pitchFamily="34" charset="-122"/>
                          <a:cs typeface="Calibri" pitchFamily="34" charset="-120"/>
                        </a:rPr>
                        <a:t>Richness / breadth</a:t>
                      </a:r>
                      <a:endParaRPr lang="en-US" sz="1450" dirty="0">
                        <a:latin typeface="Calibri" charset="0"/>
                        <a:ea typeface="Calibri" charset="0"/>
                        <a:cs typeface="Calibri" charset="0"/>
                      </a:endParaRPr>
                    </a:p>
                  </a:txBody>
                  <a:tcPr marL="114300" marR="1143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AD2"/>
                    </a:solidFill>
                  </a:tcPr>
                </a:tc>
                <a:tc>
                  <a:txBody>
                    <a:bodyPr/>
                    <a:lstStyle/>
                    <a:p>
                      <a:pPr indent="0" marL="0">
                        <a:buNone/>
                      </a:pPr>
                      <a:r>
                        <a:rPr lang="en-US" sz="1400" dirty="0">
                          <a:solidFill>
                            <a:srgbClr val="1E2A36"/>
                          </a:solidFill>
                          <a:latin typeface="Calibri" pitchFamily="34" charset="0"/>
                          <a:ea typeface="Calibri" pitchFamily="34" charset="-122"/>
                          <a:cs typeface="Calibri" pitchFamily="34" charset="-120"/>
                        </a:rPr>
                        <a:t>Exercises multiple engineering dimensions; room for a team to grow.</a:t>
                      </a:r>
                      <a:endParaRPr lang="en-US" sz="1400" dirty="0">
                        <a:latin typeface="Calibri" charset="0"/>
                        <a:ea typeface="Calibri" charset="0"/>
                        <a:cs typeface="Calibri" charset="0"/>
                      </a:endParaRPr>
                    </a:p>
                  </a:txBody>
                  <a:tcPr marL="114300" marR="1143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AD2"/>
                    </a:solidFill>
                  </a:tcPr>
                </a:tc>
              </a:tr>
              <a:tr h="457200">
                <a:tc>
                  <a:txBody>
                    <a:bodyPr/>
                    <a:lstStyle/>
                    <a:p>
                      <a:pPr indent="0" marL="0">
                        <a:buNone/>
                      </a:pPr>
                      <a:r>
                        <a:rPr lang="en-US" sz="1450" b="1" dirty="0">
                          <a:solidFill>
                            <a:srgbClr val="1E2A36"/>
                          </a:solidFill>
                          <a:latin typeface="Calibri" pitchFamily="34" charset="0"/>
                          <a:ea typeface="Calibri" pitchFamily="34" charset="-122"/>
                          <a:cs typeface="Calibri" pitchFamily="34" charset="-120"/>
                        </a:rPr>
                        <a:t>One-semester MVP</a:t>
                      </a:r>
                      <a:endParaRPr lang="en-US" sz="1450" dirty="0">
                        <a:latin typeface="Calibri" charset="0"/>
                        <a:ea typeface="Calibri" charset="0"/>
                        <a:cs typeface="Calibri" charset="0"/>
                      </a:endParaRPr>
                    </a:p>
                  </a:txBody>
                  <a:tcPr marL="114300" marR="1143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5F7284"/>
                          </a:solidFill>
                          <a:latin typeface="Calibri" pitchFamily="34" charset="0"/>
                          <a:ea typeface="Calibri" pitchFamily="34" charset="-122"/>
                          <a:cs typeface="Calibri" pitchFamily="34" charset="-120"/>
                        </a:rPr>
                        <a:t>A coherent vertical slice fits the real build window — about five weeks.</a:t>
                      </a:r>
                      <a:endParaRPr lang="en-US" sz="1400" dirty="0">
                        <a:latin typeface="Calibri" charset="0"/>
                        <a:ea typeface="Calibri" charset="0"/>
                        <a:cs typeface="Calibri" charset="0"/>
                      </a:endParaRPr>
                    </a:p>
                  </a:txBody>
                  <a:tcPr marL="114300" marR="1143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r h="457200">
                <a:tc>
                  <a:txBody>
                    <a:bodyPr/>
                    <a:lstStyle/>
                    <a:p>
                      <a:pPr indent="0" marL="0">
                        <a:buNone/>
                      </a:pPr>
                      <a:r>
                        <a:rPr lang="en-US" sz="1450" b="1" dirty="0">
                          <a:solidFill>
                            <a:srgbClr val="1E2A36"/>
                          </a:solidFill>
                          <a:latin typeface="Calibri" pitchFamily="34" charset="0"/>
                          <a:ea typeface="Calibri" pitchFamily="34" charset="-122"/>
                          <a:cs typeface="Calibri" pitchFamily="34" charset="-120"/>
                        </a:rPr>
                        <a:t>Feasibility</a:t>
                      </a:r>
                      <a:endParaRPr lang="en-US" sz="1450" dirty="0">
                        <a:latin typeface="Calibri" charset="0"/>
                        <a:ea typeface="Calibri" charset="0"/>
                        <a:cs typeface="Calibri" charset="0"/>
                      </a:endParaRPr>
                    </a:p>
                  </a:txBody>
                  <a:tcPr marL="114300" marR="1143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5F7284"/>
                          </a:solidFill>
                          <a:latin typeface="Calibri" pitchFamily="34" charset="0"/>
                          <a:ea typeface="Calibri" pitchFamily="34" charset="-122"/>
                          <a:cs typeface="Calibri" pitchFamily="34" charset="-120"/>
                        </a:rPr>
                        <a:t>Risks named and reducible — the Session-5 read.</a:t>
                      </a:r>
                      <a:endParaRPr lang="en-US" sz="1400" dirty="0">
                        <a:latin typeface="Calibri" charset="0"/>
                        <a:ea typeface="Calibri" charset="0"/>
                        <a:cs typeface="Calibri" charset="0"/>
                      </a:endParaRPr>
                    </a:p>
                  </a:txBody>
                  <a:tcPr marL="114300" marR="1143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r h="457200">
                <a:tc>
                  <a:txBody>
                    <a:bodyPr/>
                    <a:lstStyle/>
                    <a:p>
                      <a:pPr indent="0" marL="0">
                        <a:buNone/>
                      </a:pPr>
                      <a:r>
                        <a:rPr lang="en-US" sz="1450" b="1" dirty="0">
                          <a:solidFill>
                            <a:srgbClr val="1E2A36"/>
                          </a:solidFill>
                          <a:latin typeface="Calibri" pitchFamily="34" charset="0"/>
                          <a:ea typeface="Calibri" pitchFamily="34" charset="-122"/>
                          <a:cs typeface="Calibri" pitchFamily="34" charset="-120"/>
                        </a:rPr>
                        <a:t>Extensible / room to grow</a:t>
                      </a:r>
                      <a:endParaRPr lang="en-US" sz="1450" dirty="0">
                        <a:latin typeface="Calibri" charset="0"/>
                        <a:ea typeface="Calibri" charset="0"/>
                        <a:cs typeface="Calibri" charset="0"/>
                      </a:endParaRPr>
                    </a:p>
                  </a:txBody>
                  <a:tcPr marL="114300" marR="1143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5F7284"/>
                          </a:solidFill>
                          <a:latin typeface="Calibri" pitchFamily="34" charset="0"/>
                          <a:ea typeface="Calibri" pitchFamily="34" charset="-122"/>
                          <a:cs typeface="Calibri" pitchFamily="34" charset="-120"/>
                        </a:rPr>
                        <a:t>Others can credibly keep building on it as the team grows.</a:t>
                      </a:r>
                      <a:endParaRPr lang="en-US" sz="1400" dirty="0">
                        <a:latin typeface="Calibri" charset="0"/>
                        <a:ea typeface="Calibri" charset="0"/>
                        <a:cs typeface="Calibri" charset="0"/>
                      </a:endParaRPr>
                    </a:p>
                  </a:txBody>
                  <a:tcPr marL="114300" marR="1143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r h="457200">
                <a:tc>
                  <a:txBody>
                    <a:bodyPr/>
                    <a:lstStyle/>
                    <a:p>
                      <a:pPr indent="0" marL="0">
                        <a:buNone/>
                      </a:pPr>
                      <a:r>
                        <a:rPr lang="en-US" sz="1450" b="1" dirty="0">
                          <a:solidFill>
                            <a:srgbClr val="1E2A36"/>
                          </a:solidFill>
                          <a:latin typeface="Calibri" pitchFamily="34" charset="0"/>
                          <a:ea typeface="Calibri" pitchFamily="34" charset="-122"/>
                          <a:cs typeface="Calibri" pitchFamily="34" charset="-120"/>
                        </a:rPr>
                        <a:t>Open-source-worthy</a:t>
                      </a:r>
                      <a:endParaRPr lang="en-US" sz="1450" dirty="0">
                        <a:latin typeface="Calibri" charset="0"/>
                        <a:ea typeface="Calibri" charset="0"/>
                        <a:cs typeface="Calibri" charset="0"/>
                      </a:endParaRPr>
                    </a:p>
                  </a:txBody>
                  <a:tcPr marL="114300" marR="1143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5F7284"/>
                          </a:solidFill>
                          <a:latin typeface="Calibri" pitchFamily="34" charset="0"/>
                          <a:ea typeface="Calibri" pitchFamily="34" charset="-122"/>
                          <a:cs typeface="Calibri" pitchFamily="34" charset="-120"/>
                        </a:rPr>
                        <a:t>Appropriate to develop and release in the open.</a:t>
                      </a:r>
                      <a:endParaRPr lang="en-US" sz="1400" dirty="0">
                        <a:latin typeface="Calibri" charset="0"/>
                        <a:ea typeface="Calibri" charset="0"/>
                        <a:cs typeface="Calibri" charset="0"/>
                      </a:endParaRPr>
                    </a:p>
                  </a:txBody>
                  <a:tcPr marL="114300" marR="1143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r h="457200">
                <a:tc>
                  <a:txBody>
                    <a:bodyPr/>
                    <a:lstStyle/>
                    <a:p>
                      <a:pPr indent="0" marL="0">
                        <a:buNone/>
                      </a:pPr>
                      <a:r>
                        <a:rPr lang="en-US" sz="1450" b="1" dirty="0">
                          <a:solidFill>
                            <a:srgbClr val="1E2A36"/>
                          </a:solidFill>
                          <a:latin typeface="Calibri" pitchFamily="34" charset="0"/>
                          <a:ea typeface="Calibri" pitchFamily="34" charset="-122"/>
                          <a:cs typeface="Calibri" pitchFamily="34" charset="-120"/>
                        </a:rPr>
                        <a:t>Tractable stack</a:t>
                      </a:r>
                      <a:endParaRPr lang="en-US" sz="1450" dirty="0">
                        <a:latin typeface="Calibri" charset="0"/>
                        <a:ea typeface="Calibri" charset="0"/>
                        <a:cs typeface="Calibri" charset="0"/>
                      </a:endParaRPr>
                    </a:p>
                  </a:txBody>
                  <a:tcPr marL="114300" marR="1143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5F7284"/>
                          </a:solidFill>
                          <a:latin typeface="Calibri" pitchFamily="34" charset="0"/>
                          <a:ea typeface="Calibri" pitchFamily="34" charset="-122"/>
                          <a:cs typeface="Calibri" pitchFamily="34" charset="-120"/>
                        </a:rPr>
                        <a:t>Tech you can own, explain, and support.</a:t>
                      </a:r>
                      <a:endParaRPr lang="en-US" sz="1400" dirty="0">
                        <a:latin typeface="Calibri" charset="0"/>
                        <a:ea typeface="Calibri" charset="0"/>
                        <a:cs typeface="Calibri" charset="0"/>
                      </a:endParaRPr>
                    </a:p>
                  </a:txBody>
                  <a:tcPr marL="114300" marR="1143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bl>
          </a:graphicData>
        </a:graphic>
      </p:graphicFrame>
      <p:sp>
        <p:nvSpPr>
          <p:cNvPr id="7" name="Shape 4"/>
          <p:cNvSpPr/>
          <p:nvPr/>
        </p:nvSpPr>
        <p:spPr>
          <a:xfrm>
            <a:off x="548640" y="5577840"/>
            <a:ext cx="11064240" cy="603504"/>
          </a:xfrm>
          <a:prstGeom prst="roundRect">
            <a:avLst>
              <a:gd name="adj" fmla="val 13636"/>
            </a:avLst>
          </a:prstGeom>
          <a:solidFill>
            <a:srgbClr val="E8A33D"/>
          </a:solidFill>
          <a:ln/>
          <a:effectLst>
            <a:outerShdw sx="100000" sy="100000" kx="0" ky="0" algn="bl" rotWithShape="0" blurRad="88900" dist="38100" dir="5400000">
              <a:srgbClr val="000000">
                <a:alpha val="13000"/>
              </a:srgbClr>
            </a:outerShdw>
          </a:effectLst>
        </p:spPr>
      </p:sp>
      <p:sp>
        <p:nvSpPr>
          <p:cNvPr id="8" name="Text 5"/>
          <p:cNvSpPr/>
          <p:nvPr/>
        </p:nvSpPr>
        <p:spPr>
          <a:xfrm>
            <a:off x="822960" y="5577840"/>
            <a:ext cx="10515600" cy="603504"/>
          </a:xfrm>
          <a:prstGeom prst="rect">
            <a:avLst/>
          </a:prstGeom>
          <a:noFill/>
          <a:ln/>
        </p:spPr>
        <p:txBody>
          <a:bodyPr wrap="square" lIns="0" tIns="0" rIns="0" bIns="0" rtlCol="0" anchor="ctr"/>
          <a:lstStyle/>
          <a:p>
            <a:pPr algn="ctr" indent="0" marL="0">
              <a:lnSpc>
                <a:spcPct val="102000"/>
              </a:lnSpc>
              <a:buNone/>
            </a:pPr>
            <a:r>
              <a:rPr lang="en-US" sz="1350" b="1" dirty="0">
                <a:solidFill>
                  <a:srgbClr val="14233A"/>
                </a:solidFill>
                <a:latin typeface="Calibri" pitchFamily="34" charset="0"/>
                <a:ea typeface="Calibri" pitchFamily="34" charset="-122"/>
                <a:cs typeface="Calibri" pitchFamily="34" charset="-120"/>
              </a:rPr>
              <a:t>Different goal, different list — same method.  </a:t>
            </a:r>
            <a:pPr algn="ctr" indent="0" marL="0">
              <a:lnSpc>
                <a:spcPct val="102000"/>
              </a:lnSpc>
              <a:buNone/>
            </a:pPr>
            <a:r>
              <a:rPr lang="en-US" sz="1350" dirty="0">
                <a:solidFill>
                  <a:srgbClr val="14233A"/>
                </a:solidFill>
                <a:latin typeface="Calibri" pitchFamily="34" charset="0"/>
                <a:ea typeface="Calibri" pitchFamily="34" charset="-122"/>
                <a:cs typeface="Calibri" pitchFamily="34" charset="-120"/>
              </a:rPr>
              <a:t>These are our criteria because we're founding lasting open-source projects; another context would score on other things.</a:t>
            </a:r>
            <a:endParaRPr lang="en-US" sz="1350" dirty="0"/>
          </a:p>
        </p:txBody>
      </p:sp>
      <p:sp>
        <p:nvSpPr>
          <p:cNvPr id="9" name="Text 6"/>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6 · Convergence Workshop</a:t>
            </a:r>
            <a:endParaRPr lang="en-US" sz="1000" dirty="0"/>
          </a:p>
        </p:txBody>
      </p:sp>
      <p:sp>
        <p:nvSpPr>
          <p:cNvPr id="10" name="Text 7"/>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ONE OF OUR CRITERIA, UP CLOSE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richness test — feasible isn't enough</a:t>
            </a:r>
            <a:endParaRPr lang="en-US" sz="3100" dirty="0"/>
          </a:p>
        </p:txBody>
      </p:sp>
      <p:sp>
        <p:nvSpPr>
          <p:cNvPr id="5" name="Shape 3"/>
          <p:cNvSpPr/>
          <p:nvPr/>
        </p:nvSpPr>
        <p:spPr>
          <a:xfrm>
            <a:off x="548640" y="1737360"/>
            <a:ext cx="11064240" cy="932688"/>
          </a:xfrm>
          <a:prstGeom prst="roundRect">
            <a:avLst>
              <a:gd name="adj" fmla="val 8824"/>
            </a:avLst>
          </a:prstGeom>
          <a:solidFill>
            <a:srgbClr val="14233A"/>
          </a:solidFill>
          <a:ln/>
          <a:effectLst>
            <a:outerShdw sx="100000" sy="100000" kx="0" ky="0" algn="bl" rotWithShape="0" blurRad="88900" dist="38100" dir="5400000">
              <a:srgbClr val="000000">
                <a:alpha val="13000"/>
              </a:srgbClr>
            </a:outerShdw>
          </a:effectLst>
        </p:spPr>
      </p:sp>
      <p:sp>
        <p:nvSpPr>
          <p:cNvPr id="6" name="Shape 4"/>
          <p:cNvSpPr/>
          <p:nvPr/>
        </p:nvSpPr>
        <p:spPr>
          <a:xfrm>
            <a:off x="841248" y="1929384"/>
            <a:ext cx="548640" cy="548640"/>
          </a:xfrm>
          <a:prstGeom prst="ellipse">
            <a:avLst/>
          </a:prstGeom>
          <a:solidFill>
            <a:srgbClr val="E8A33D"/>
          </a:solidFill>
          <a:ln/>
        </p:spPr>
      </p:sp>
      <p:pic>
        <p:nvPicPr>
          <p:cNvPr id="7" name="Image 0" descr="preencoded.png">    </p:cNvPr>
          <p:cNvPicPr>
            <a:picLocks noChangeAspect="1"/>
          </p:cNvPicPr>
          <p:nvPr/>
        </p:nvPicPr>
        <p:blipFill>
          <a:blip r:embed="rId1"/>
          <a:stretch>
            <a:fillRect/>
          </a:stretch>
        </p:blipFill>
        <p:spPr>
          <a:xfrm>
            <a:off x="989381" y="2077517"/>
            <a:ext cx="252374" cy="252374"/>
          </a:xfrm>
          <a:prstGeom prst="rect">
            <a:avLst/>
          </a:prstGeom>
        </p:spPr>
      </p:pic>
      <p:sp>
        <p:nvSpPr>
          <p:cNvPr id="8" name="Text 5"/>
          <p:cNvSpPr/>
          <p:nvPr/>
        </p:nvSpPr>
        <p:spPr>
          <a:xfrm>
            <a:off x="1600200" y="1737360"/>
            <a:ext cx="9738360" cy="932688"/>
          </a:xfrm>
          <a:prstGeom prst="rect">
            <a:avLst/>
          </a:prstGeom>
          <a:noFill/>
          <a:ln/>
        </p:spPr>
        <p:txBody>
          <a:bodyPr wrap="square" lIns="0" tIns="0" rIns="0" bIns="0" rtlCol="0" anchor="ctr"/>
          <a:lstStyle/>
          <a:p>
            <a:pPr indent="0" marL="0">
              <a:lnSpc>
                <a:spcPct val="105000"/>
              </a:lnSpc>
              <a:buNone/>
            </a:pPr>
            <a:r>
              <a:rPr lang="en-US" sz="1500" b="1" dirty="0">
                <a:solidFill>
                  <a:srgbClr val="E8A33D"/>
                </a:solidFill>
                <a:latin typeface="Calibri" pitchFamily="34" charset="0"/>
                <a:ea typeface="Calibri" pitchFamily="34" charset="-122"/>
                <a:cs typeface="Calibri" pitchFamily="34" charset="-120"/>
              </a:rPr>
              <a:t>The check:  </a:t>
            </a:r>
            <a:pPr indent="0" marL="0">
              <a:lnSpc>
                <a:spcPct val="105000"/>
              </a:lnSpc>
              <a:buNone/>
            </a:pPr>
            <a:r>
              <a:rPr lang="en-US" sz="1500" dirty="0">
                <a:solidFill>
                  <a:srgbClr val="CFE0E9"/>
                </a:solidFill>
                <a:latin typeface="Calibri" pitchFamily="34" charset="0"/>
                <a:ea typeface="Calibri" pitchFamily="34" charset="-122"/>
                <a:cs typeface="Calibri" pitchFamily="34" charset="-120"/>
              </a:rPr>
              <a:t>does it exercise multiple engineering dimensions (data, interfaces, logic, integration) — and leave room to grow after your slice ships?</a:t>
            </a:r>
            <a:endParaRPr lang="en-US" sz="1500" dirty="0"/>
          </a:p>
        </p:txBody>
      </p:sp>
      <p:sp>
        <p:nvSpPr>
          <p:cNvPr id="9" name="Shape 6"/>
          <p:cNvSpPr/>
          <p:nvPr/>
        </p:nvSpPr>
        <p:spPr>
          <a:xfrm>
            <a:off x="548640" y="2852928"/>
            <a:ext cx="3511296" cy="2606040"/>
          </a:xfrm>
          <a:prstGeom prst="roundRect">
            <a:avLst>
              <a:gd name="adj" fmla="val 3158"/>
            </a:avLst>
          </a:prstGeom>
          <a:solidFill>
            <a:srgbClr val="FBECE8"/>
          </a:solidFill>
          <a:ln/>
          <a:effectLst>
            <a:outerShdw sx="100000" sy="100000" kx="0" ky="0" algn="bl" rotWithShape="0" blurRad="88900" dist="38100" dir="5400000">
              <a:srgbClr val="000000">
                <a:alpha val="13000"/>
              </a:srgbClr>
            </a:outerShdw>
          </a:effectLst>
        </p:spPr>
      </p:sp>
      <p:sp>
        <p:nvSpPr>
          <p:cNvPr id="10" name="Shape 7"/>
          <p:cNvSpPr/>
          <p:nvPr/>
        </p:nvSpPr>
        <p:spPr>
          <a:xfrm>
            <a:off x="822960" y="3127248"/>
            <a:ext cx="566928" cy="566928"/>
          </a:xfrm>
          <a:prstGeom prst="ellipse">
            <a:avLst/>
          </a:prstGeom>
          <a:solidFill>
            <a:srgbClr val="D9614C"/>
          </a:solidFill>
          <a:ln/>
        </p:spPr>
      </p:sp>
      <p:pic>
        <p:nvPicPr>
          <p:cNvPr id="11" name="Image 1" descr="preencoded.png">    </p:cNvPr>
          <p:cNvPicPr>
            <a:picLocks noChangeAspect="1"/>
          </p:cNvPicPr>
          <p:nvPr/>
        </p:nvPicPr>
        <p:blipFill>
          <a:blip r:embed="rId2"/>
          <a:stretch>
            <a:fillRect/>
          </a:stretch>
        </p:blipFill>
        <p:spPr>
          <a:xfrm>
            <a:off x="976031" y="3280319"/>
            <a:ext cx="260787" cy="260787"/>
          </a:xfrm>
          <a:prstGeom prst="rect">
            <a:avLst/>
          </a:prstGeom>
        </p:spPr>
      </p:pic>
      <p:sp>
        <p:nvSpPr>
          <p:cNvPr id="12" name="Text 8"/>
          <p:cNvSpPr/>
          <p:nvPr/>
        </p:nvSpPr>
        <p:spPr>
          <a:xfrm>
            <a:off x="1499616" y="3163824"/>
            <a:ext cx="2414016" cy="512064"/>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Too thin</a:t>
            </a:r>
            <a:endParaRPr lang="en-US" sz="1800" dirty="0"/>
          </a:p>
        </p:txBody>
      </p:sp>
      <p:sp>
        <p:nvSpPr>
          <p:cNvPr id="13" name="Text 9"/>
          <p:cNvSpPr/>
          <p:nvPr/>
        </p:nvSpPr>
        <p:spPr>
          <a:xfrm>
            <a:off x="822960" y="3840480"/>
            <a:ext cx="2962656" cy="1463040"/>
          </a:xfrm>
          <a:prstGeom prst="rect">
            <a:avLst/>
          </a:prstGeom>
          <a:noFill/>
          <a:ln/>
        </p:spPr>
        <p:txBody>
          <a:bodyPr wrap="square" lIns="0" tIns="0" rIns="0" bIns="0" rtlCol="0" anchor="t"/>
          <a:lstStyle/>
          <a:p>
            <a:pPr indent="0" marL="0">
              <a:lnSpc>
                <a:spcPct val="106000"/>
              </a:lnSpc>
              <a:buNone/>
            </a:pPr>
            <a:r>
              <a:rPr lang="en-US" sz="1450" dirty="0">
                <a:solidFill>
                  <a:srgbClr val="1E2A36"/>
                </a:solidFill>
                <a:latin typeface="Calibri" pitchFamily="34" charset="0"/>
                <a:ea typeface="Calibri" pitchFamily="34" charset="-122"/>
                <a:cs typeface="Calibri" pitchFamily="34" charset="-120"/>
              </a:rPr>
              <a:t>A weekend script. Finish it and there's nothing left to found — nothing for a contributor to do.</a:t>
            </a:r>
            <a:endParaRPr lang="en-US" sz="1450" dirty="0"/>
          </a:p>
        </p:txBody>
      </p:sp>
      <p:sp>
        <p:nvSpPr>
          <p:cNvPr id="14" name="Shape 10"/>
          <p:cNvSpPr/>
          <p:nvPr/>
        </p:nvSpPr>
        <p:spPr>
          <a:xfrm>
            <a:off x="4233672" y="2852928"/>
            <a:ext cx="3511296" cy="2606040"/>
          </a:xfrm>
          <a:prstGeom prst="roundRect">
            <a:avLst>
              <a:gd name="adj" fmla="val 3158"/>
            </a:avLst>
          </a:prstGeom>
          <a:solidFill>
            <a:srgbClr val="FBEEDA"/>
          </a:solidFill>
          <a:ln/>
          <a:effectLst>
            <a:outerShdw sx="100000" sy="100000" kx="0" ky="0" algn="bl" rotWithShape="0" blurRad="88900" dist="38100" dir="5400000">
              <a:srgbClr val="000000">
                <a:alpha val="13000"/>
              </a:srgbClr>
            </a:outerShdw>
          </a:effectLst>
        </p:spPr>
      </p:sp>
      <p:sp>
        <p:nvSpPr>
          <p:cNvPr id="15" name="Shape 11"/>
          <p:cNvSpPr/>
          <p:nvPr/>
        </p:nvSpPr>
        <p:spPr>
          <a:xfrm>
            <a:off x="4507992" y="3127248"/>
            <a:ext cx="566928" cy="566928"/>
          </a:xfrm>
          <a:prstGeom prst="ellipse">
            <a:avLst/>
          </a:prstGeom>
          <a:solidFill>
            <a:srgbClr val="E8A33D"/>
          </a:solidFill>
          <a:ln/>
        </p:spPr>
      </p:sp>
      <p:pic>
        <p:nvPicPr>
          <p:cNvPr id="16" name="Image 2" descr="preencoded.png">    </p:cNvPr>
          <p:cNvPicPr>
            <a:picLocks noChangeAspect="1"/>
          </p:cNvPicPr>
          <p:nvPr/>
        </p:nvPicPr>
        <p:blipFill>
          <a:blip r:embed="rId3"/>
          <a:stretch>
            <a:fillRect/>
          </a:stretch>
        </p:blipFill>
        <p:spPr>
          <a:xfrm>
            <a:off x="4661063" y="3280319"/>
            <a:ext cx="260787" cy="260787"/>
          </a:xfrm>
          <a:prstGeom prst="rect">
            <a:avLst/>
          </a:prstGeom>
        </p:spPr>
      </p:pic>
      <p:sp>
        <p:nvSpPr>
          <p:cNvPr id="17" name="Text 12"/>
          <p:cNvSpPr/>
          <p:nvPr/>
        </p:nvSpPr>
        <p:spPr>
          <a:xfrm>
            <a:off x="5184648" y="3163824"/>
            <a:ext cx="2414016" cy="512064"/>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Too big</a:t>
            </a:r>
            <a:endParaRPr lang="en-US" sz="1800" dirty="0"/>
          </a:p>
        </p:txBody>
      </p:sp>
      <p:sp>
        <p:nvSpPr>
          <p:cNvPr id="18" name="Text 13"/>
          <p:cNvSpPr/>
          <p:nvPr/>
        </p:nvSpPr>
        <p:spPr>
          <a:xfrm>
            <a:off x="4507992" y="3840480"/>
            <a:ext cx="2962656" cy="1463040"/>
          </a:xfrm>
          <a:prstGeom prst="rect">
            <a:avLst/>
          </a:prstGeom>
          <a:noFill/>
          <a:ln/>
        </p:spPr>
        <p:txBody>
          <a:bodyPr wrap="square" lIns="0" tIns="0" rIns="0" bIns="0" rtlCol="0" anchor="t"/>
          <a:lstStyle/>
          <a:p>
            <a:pPr indent="0" marL="0">
              <a:lnSpc>
                <a:spcPct val="106000"/>
              </a:lnSpc>
              <a:buNone/>
            </a:pPr>
            <a:r>
              <a:rPr lang="en-US" sz="1450" dirty="0">
                <a:solidFill>
                  <a:srgbClr val="1E2A36"/>
                </a:solidFill>
                <a:latin typeface="Calibri" pitchFamily="34" charset="0"/>
                <a:ea typeface="Calibri" pitchFamily="34" charset="-122"/>
                <a:cs typeface="Calibri" pitchFamily="34" charset="-120"/>
              </a:rPr>
              <a:t>Feasible only as a fantasy — no vertical slice you could actually ship this semester.</a:t>
            </a:r>
            <a:endParaRPr lang="en-US" sz="1450" dirty="0"/>
          </a:p>
        </p:txBody>
      </p:sp>
      <p:sp>
        <p:nvSpPr>
          <p:cNvPr id="19" name="Shape 14"/>
          <p:cNvSpPr/>
          <p:nvPr/>
        </p:nvSpPr>
        <p:spPr>
          <a:xfrm>
            <a:off x="7918704" y="2852928"/>
            <a:ext cx="3511296" cy="2606040"/>
          </a:xfrm>
          <a:prstGeom prst="roundRect">
            <a:avLst>
              <a:gd name="adj" fmla="val 3158"/>
            </a:avLst>
          </a:prstGeom>
          <a:solidFill>
            <a:srgbClr val="EAF4EE"/>
          </a:solidFill>
          <a:ln/>
          <a:effectLst>
            <a:outerShdw sx="100000" sy="100000" kx="0" ky="0" algn="bl" rotWithShape="0" blurRad="88900" dist="38100" dir="5400000">
              <a:srgbClr val="000000">
                <a:alpha val="13000"/>
              </a:srgbClr>
            </a:outerShdw>
          </a:effectLst>
        </p:spPr>
      </p:sp>
      <p:sp>
        <p:nvSpPr>
          <p:cNvPr id="20" name="Shape 15"/>
          <p:cNvSpPr/>
          <p:nvPr/>
        </p:nvSpPr>
        <p:spPr>
          <a:xfrm>
            <a:off x="8193024" y="3127248"/>
            <a:ext cx="566928" cy="566928"/>
          </a:xfrm>
          <a:prstGeom prst="ellipse">
            <a:avLst/>
          </a:prstGeom>
          <a:solidFill>
            <a:srgbClr val="3E9C6B"/>
          </a:solidFill>
          <a:ln/>
        </p:spPr>
      </p:sp>
      <p:pic>
        <p:nvPicPr>
          <p:cNvPr id="21" name="Image 3" descr="preencoded.png">    </p:cNvPr>
          <p:cNvPicPr>
            <a:picLocks noChangeAspect="1"/>
          </p:cNvPicPr>
          <p:nvPr/>
        </p:nvPicPr>
        <p:blipFill>
          <a:blip r:embed="rId4"/>
          <a:stretch>
            <a:fillRect/>
          </a:stretch>
        </p:blipFill>
        <p:spPr>
          <a:xfrm>
            <a:off x="8346095" y="3280319"/>
            <a:ext cx="260787" cy="260787"/>
          </a:xfrm>
          <a:prstGeom prst="rect">
            <a:avLst/>
          </a:prstGeom>
        </p:spPr>
      </p:pic>
      <p:sp>
        <p:nvSpPr>
          <p:cNvPr id="22" name="Text 16"/>
          <p:cNvSpPr/>
          <p:nvPr/>
        </p:nvSpPr>
        <p:spPr>
          <a:xfrm>
            <a:off x="8869680" y="3163824"/>
            <a:ext cx="2414016" cy="512064"/>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The sweet spot</a:t>
            </a:r>
            <a:endParaRPr lang="en-US" sz="1800" dirty="0"/>
          </a:p>
        </p:txBody>
      </p:sp>
      <p:sp>
        <p:nvSpPr>
          <p:cNvPr id="23" name="Text 17"/>
          <p:cNvSpPr/>
          <p:nvPr/>
        </p:nvSpPr>
        <p:spPr>
          <a:xfrm>
            <a:off x="8193024" y="3840480"/>
            <a:ext cx="2962656" cy="1463040"/>
          </a:xfrm>
          <a:prstGeom prst="rect">
            <a:avLst/>
          </a:prstGeom>
          <a:noFill/>
          <a:ln/>
        </p:spPr>
        <p:txBody>
          <a:bodyPr wrap="square" lIns="0" tIns="0" rIns="0" bIns="0" rtlCol="0" anchor="t"/>
          <a:lstStyle/>
          <a:p>
            <a:pPr indent="0" marL="0">
              <a:lnSpc>
                <a:spcPct val="106000"/>
              </a:lnSpc>
              <a:buNone/>
            </a:pPr>
            <a:r>
              <a:rPr lang="en-US" sz="1450" dirty="0">
                <a:solidFill>
                  <a:srgbClr val="1E2A36"/>
                </a:solidFill>
                <a:latin typeface="Calibri" pitchFamily="34" charset="0"/>
                <a:ea typeface="Calibri" pitchFamily="34" charset="-122"/>
                <a:cs typeface="Calibri" pitchFamily="34" charset="-120"/>
              </a:rPr>
              <a:t>A rich core with a buildable slice — finishing it leaves obvious, valuable next work for others.</a:t>
            </a:r>
            <a:endParaRPr lang="en-US" sz="1450" dirty="0"/>
          </a:p>
        </p:txBody>
      </p:sp>
      <p:sp>
        <p:nvSpPr>
          <p:cNvPr id="24" name="Shape 18"/>
          <p:cNvSpPr/>
          <p:nvPr/>
        </p:nvSpPr>
        <p:spPr>
          <a:xfrm>
            <a:off x="548640" y="5632704"/>
            <a:ext cx="1106424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25" name="Text 19"/>
          <p:cNvSpPr/>
          <p:nvPr/>
        </p:nvSpPr>
        <p:spPr>
          <a:xfrm>
            <a:off x="822960" y="5632704"/>
            <a:ext cx="10515600" cy="548640"/>
          </a:xfrm>
          <a:prstGeom prst="rect">
            <a:avLst/>
          </a:prstGeom>
          <a:noFill/>
          <a:ln/>
        </p:spPr>
        <p:txBody>
          <a:bodyPr wrap="square" lIns="0" tIns="0" rIns="0" bIns="0" rtlCol="0" anchor="ctr"/>
          <a:lstStyle/>
          <a:p>
            <a:pPr algn="ctr" indent="0" marL="0">
              <a:buNone/>
            </a:pPr>
            <a:r>
              <a:rPr lang="en-US" sz="1350" b="1" dirty="0">
                <a:solidFill>
                  <a:srgbClr val="0E6E6D"/>
                </a:solidFill>
                <a:latin typeface="Calibri" pitchFamily="34" charset="0"/>
                <a:ea typeface="Calibri" pitchFamily="34" charset="-122"/>
                <a:cs typeface="Calibri" pitchFamily="34" charset="-120"/>
              </a:rPr>
              <a:t>Monday asked "can I build it?"  </a:t>
            </a:r>
            <a:pPr algn="ctr" indent="0" marL="0">
              <a:buNone/>
            </a:pPr>
            <a:r>
              <a:rPr lang="en-US" sz="1350" dirty="0">
                <a:solidFill>
                  <a:srgbClr val="1E2A36"/>
                </a:solidFill>
                <a:latin typeface="Calibri" pitchFamily="34" charset="0"/>
                <a:ea typeface="Calibri" pitchFamily="34" charset="-122"/>
                <a:cs typeface="Calibri" pitchFamily="34" charset="-120"/>
              </a:rPr>
              <a:t>Richness asks "is it worth building?" — both can pass on the feasibility worksheet, which is why this is a separate test.</a:t>
            </a:r>
            <a:endParaRPr lang="en-US" sz="1350" dirty="0"/>
          </a:p>
        </p:txBody>
      </p:sp>
      <p:sp>
        <p:nvSpPr>
          <p:cNvPr id="26" name="Text 20"/>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6 · Convergence Workshop</a:t>
            </a:r>
            <a:endParaRPr lang="en-US" sz="1000" dirty="0"/>
          </a:p>
        </p:txBody>
      </p:sp>
      <p:sp>
        <p:nvSpPr>
          <p:cNvPr id="27" name="Text 21"/>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A GENERAL-PURPOSE TOOL</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Plot each idea, then act by quadrant</a:t>
            </a:r>
            <a:endParaRPr lang="en-US" sz="3100" dirty="0"/>
          </a:p>
        </p:txBody>
      </p:sp>
      <p:pic>
        <p:nvPicPr>
          <p:cNvPr id="5" name="Image 0" descr="/mnt/c/Users/steph26/Documents/Classes/CS301R/CS380/canvas_material/resources/img/value-doability.png">    </p:cNvPr>
          <p:cNvPicPr>
            <a:picLocks noChangeAspect="1"/>
          </p:cNvPicPr>
          <p:nvPr/>
        </p:nvPicPr>
        <p:blipFill>
          <a:blip r:embed="rId1"/>
          <a:stretch>
            <a:fillRect/>
          </a:stretch>
        </p:blipFill>
        <p:spPr>
          <a:xfrm>
            <a:off x="502920" y="1783080"/>
            <a:ext cx="5577840" cy="4599432"/>
          </a:xfrm>
          <a:prstGeom prst="rect">
            <a:avLst/>
          </a:prstGeom>
        </p:spPr>
      </p:pic>
      <p:sp>
        <p:nvSpPr>
          <p:cNvPr id="6" name="Shape 3"/>
          <p:cNvSpPr/>
          <p:nvPr/>
        </p:nvSpPr>
        <p:spPr>
          <a:xfrm>
            <a:off x="6355080" y="1810512"/>
            <a:ext cx="5257800" cy="1353312"/>
          </a:xfrm>
          <a:prstGeom prst="roundRect">
            <a:avLst>
              <a:gd name="adj" fmla="val 6081"/>
            </a:avLst>
          </a:prstGeom>
          <a:solidFill>
            <a:srgbClr val="EAF4EE"/>
          </a:solidFill>
          <a:ln/>
          <a:effectLst>
            <a:outerShdw sx="100000" sy="100000" kx="0" ky="0" algn="bl" rotWithShape="0" blurRad="88900" dist="38100" dir="5400000">
              <a:srgbClr val="000000">
                <a:alpha val="13000"/>
              </a:srgbClr>
            </a:outerShdw>
          </a:effectLst>
        </p:spPr>
      </p:sp>
      <p:sp>
        <p:nvSpPr>
          <p:cNvPr id="7" name="Text 4"/>
          <p:cNvSpPr/>
          <p:nvPr/>
        </p:nvSpPr>
        <p:spPr>
          <a:xfrm>
            <a:off x="6583680" y="1956816"/>
            <a:ext cx="4846320" cy="402336"/>
          </a:xfrm>
          <a:prstGeom prst="rect">
            <a:avLst/>
          </a:prstGeom>
          <a:noFill/>
          <a:ln/>
        </p:spPr>
        <p:txBody>
          <a:bodyPr wrap="square" lIns="0" tIns="0" rIns="0" bIns="0" rtlCol="0" anchor="ctr"/>
          <a:lstStyle/>
          <a:p>
            <a:pPr indent="0" marL="0">
              <a:buNone/>
            </a:pPr>
            <a:r>
              <a:rPr lang="en-US" sz="1700" b="1" dirty="0">
                <a:solidFill>
                  <a:srgbClr val="3E9C6B"/>
                </a:solidFill>
                <a:latin typeface="Calibri" pitchFamily="34" charset="0"/>
                <a:ea typeface="Calibri" pitchFamily="34" charset="-122"/>
                <a:cs typeface="Calibri" pitchFamily="34" charset="-120"/>
              </a:rPr>
              <a:t>Pursue</a:t>
            </a:r>
            <a:endParaRPr lang="en-US" sz="1700" dirty="0"/>
          </a:p>
        </p:txBody>
      </p:sp>
      <p:sp>
        <p:nvSpPr>
          <p:cNvPr id="8" name="Text 5"/>
          <p:cNvSpPr/>
          <p:nvPr/>
        </p:nvSpPr>
        <p:spPr>
          <a:xfrm>
            <a:off x="6583680" y="2377440"/>
            <a:ext cx="4892040" cy="713232"/>
          </a:xfrm>
          <a:prstGeom prst="rect">
            <a:avLst/>
          </a:prstGeom>
          <a:noFill/>
          <a:ln/>
        </p:spPr>
        <p:txBody>
          <a:bodyPr wrap="square" lIns="0" tIns="0" rIns="0" bIns="0" rtlCol="0" anchor="t"/>
          <a:lstStyle/>
          <a:p>
            <a:pPr indent="0" marL="0">
              <a:lnSpc>
                <a:spcPct val="105000"/>
              </a:lnSpc>
              <a:buNone/>
            </a:pPr>
            <a:r>
              <a:rPr lang="en-US" sz="1400" dirty="0">
                <a:solidFill>
                  <a:srgbClr val="1E2A36"/>
                </a:solidFill>
                <a:latin typeface="Calibri" pitchFamily="34" charset="0"/>
                <a:ea typeface="Calibri" pitchFamily="34" charset="-122"/>
                <a:cs typeface="Calibri" pitchFamily="34" charset="-120"/>
              </a:rPr>
              <a:t>High value + high do-ability — your best candidates.</a:t>
            </a:r>
            <a:endParaRPr lang="en-US" sz="1400" dirty="0"/>
          </a:p>
        </p:txBody>
      </p:sp>
      <p:sp>
        <p:nvSpPr>
          <p:cNvPr id="9" name="Shape 6"/>
          <p:cNvSpPr/>
          <p:nvPr/>
        </p:nvSpPr>
        <p:spPr>
          <a:xfrm>
            <a:off x="6355080" y="3300984"/>
            <a:ext cx="5257800" cy="1353312"/>
          </a:xfrm>
          <a:prstGeom prst="roundRect">
            <a:avLst>
              <a:gd name="adj" fmla="val 6081"/>
            </a:avLst>
          </a:prstGeom>
          <a:solidFill>
            <a:srgbClr val="FBEEDA"/>
          </a:solidFill>
          <a:ln/>
          <a:effectLst>
            <a:outerShdw sx="100000" sy="100000" kx="0" ky="0" algn="bl" rotWithShape="0" blurRad="88900" dist="38100" dir="5400000">
              <a:srgbClr val="000000">
                <a:alpha val="13000"/>
              </a:srgbClr>
            </a:outerShdw>
          </a:effectLst>
        </p:spPr>
      </p:sp>
      <p:sp>
        <p:nvSpPr>
          <p:cNvPr id="10" name="Text 7"/>
          <p:cNvSpPr/>
          <p:nvPr/>
        </p:nvSpPr>
        <p:spPr>
          <a:xfrm>
            <a:off x="6583680" y="3447288"/>
            <a:ext cx="4846320" cy="402336"/>
          </a:xfrm>
          <a:prstGeom prst="rect">
            <a:avLst/>
          </a:prstGeom>
          <a:noFill/>
          <a:ln/>
        </p:spPr>
        <p:txBody>
          <a:bodyPr wrap="square" lIns="0" tIns="0" rIns="0" bIns="0" rtlCol="0" anchor="ctr"/>
          <a:lstStyle/>
          <a:p>
            <a:pPr indent="0" marL="0">
              <a:buNone/>
            </a:pPr>
            <a:r>
              <a:rPr lang="en-US" sz="1700" b="1" dirty="0">
                <a:solidFill>
                  <a:srgbClr val="B9781C"/>
                </a:solidFill>
                <a:latin typeface="Calibri" pitchFamily="34" charset="0"/>
                <a:ea typeface="Calibri" pitchFamily="34" charset="-122"/>
                <a:cs typeface="Calibri" pitchFamily="34" charset="-120"/>
              </a:rPr>
              <a:t>Narrow or spike</a:t>
            </a:r>
            <a:endParaRPr lang="en-US" sz="1700" dirty="0"/>
          </a:p>
        </p:txBody>
      </p:sp>
      <p:sp>
        <p:nvSpPr>
          <p:cNvPr id="11" name="Text 8"/>
          <p:cNvSpPr/>
          <p:nvPr/>
        </p:nvSpPr>
        <p:spPr>
          <a:xfrm>
            <a:off x="6583680" y="3867912"/>
            <a:ext cx="4892040" cy="713232"/>
          </a:xfrm>
          <a:prstGeom prst="rect">
            <a:avLst/>
          </a:prstGeom>
          <a:noFill/>
          <a:ln/>
        </p:spPr>
        <p:txBody>
          <a:bodyPr wrap="square" lIns="0" tIns="0" rIns="0" bIns="0" rtlCol="0" anchor="t"/>
          <a:lstStyle/>
          <a:p>
            <a:pPr indent="0" marL="0">
              <a:lnSpc>
                <a:spcPct val="105000"/>
              </a:lnSpc>
              <a:buNone/>
            </a:pPr>
            <a:r>
              <a:rPr lang="en-US" sz="1400" dirty="0">
                <a:solidFill>
                  <a:srgbClr val="1E2A36"/>
                </a:solidFill>
                <a:latin typeface="Calibri" pitchFamily="34" charset="0"/>
                <a:ea typeface="Calibri" pitchFamily="34" charset="-122"/>
                <a:cs typeface="Calibri" pitchFamily="34" charset="-120"/>
              </a:rPr>
              <a:t>High value + low do-ability — shrink the scope or run a spike to raise do-ability.</a:t>
            </a:r>
            <a:endParaRPr lang="en-US" sz="1400" dirty="0"/>
          </a:p>
        </p:txBody>
      </p:sp>
      <p:sp>
        <p:nvSpPr>
          <p:cNvPr id="12" name="Shape 9"/>
          <p:cNvSpPr/>
          <p:nvPr/>
        </p:nvSpPr>
        <p:spPr>
          <a:xfrm>
            <a:off x="6355080" y="4791456"/>
            <a:ext cx="5257800" cy="1353312"/>
          </a:xfrm>
          <a:prstGeom prst="roundRect">
            <a:avLst>
              <a:gd name="adj" fmla="val 6081"/>
            </a:avLst>
          </a:prstGeom>
          <a:solidFill>
            <a:srgbClr val="FBECE8"/>
          </a:solidFill>
          <a:ln/>
          <a:effectLst>
            <a:outerShdw sx="100000" sy="100000" kx="0" ky="0" algn="bl" rotWithShape="0" blurRad="88900" dist="38100" dir="5400000">
              <a:srgbClr val="000000">
                <a:alpha val="13000"/>
              </a:srgbClr>
            </a:outerShdw>
          </a:effectLst>
        </p:spPr>
      </p:sp>
      <p:sp>
        <p:nvSpPr>
          <p:cNvPr id="13" name="Text 10"/>
          <p:cNvSpPr/>
          <p:nvPr/>
        </p:nvSpPr>
        <p:spPr>
          <a:xfrm>
            <a:off x="6583680" y="4937760"/>
            <a:ext cx="4846320" cy="402336"/>
          </a:xfrm>
          <a:prstGeom prst="rect">
            <a:avLst/>
          </a:prstGeom>
          <a:noFill/>
          <a:ln/>
        </p:spPr>
        <p:txBody>
          <a:bodyPr wrap="square" lIns="0" tIns="0" rIns="0" bIns="0" rtlCol="0" anchor="ctr"/>
          <a:lstStyle/>
          <a:p>
            <a:pPr indent="0" marL="0">
              <a:buNone/>
            </a:pPr>
            <a:r>
              <a:rPr lang="en-US" sz="1700" b="1" dirty="0">
                <a:solidFill>
                  <a:srgbClr val="D9614C"/>
                </a:solidFill>
                <a:latin typeface="Calibri" pitchFamily="34" charset="0"/>
                <a:ea typeface="Calibri" pitchFamily="34" charset="-122"/>
                <a:cs typeface="Calibri" pitchFamily="34" charset="-120"/>
              </a:rPr>
              <a:t>Drop</a:t>
            </a:r>
            <a:endParaRPr lang="en-US" sz="1700" dirty="0"/>
          </a:p>
        </p:txBody>
      </p:sp>
      <p:sp>
        <p:nvSpPr>
          <p:cNvPr id="14" name="Text 11"/>
          <p:cNvSpPr/>
          <p:nvPr/>
        </p:nvSpPr>
        <p:spPr>
          <a:xfrm>
            <a:off x="6583680" y="5358384"/>
            <a:ext cx="4892040" cy="713232"/>
          </a:xfrm>
          <a:prstGeom prst="rect">
            <a:avLst/>
          </a:prstGeom>
          <a:noFill/>
          <a:ln/>
        </p:spPr>
        <p:txBody>
          <a:bodyPr wrap="square" lIns="0" tIns="0" rIns="0" bIns="0" rtlCol="0" anchor="t"/>
          <a:lstStyle/>
          <a:p>
            <a:pPr indent="0" marL="0">
              <a:lnSpc>
                <a:spcPct val="105000"/>
              </a:lnSpc>
              <a:buNone/>
            </a:pPr>
            <a:r>
              <a:rPr lang="en-US" sz="1400" dirty="0">
                <a:solidFill>
                  <a:srgbClr val="1E2A36"/>
                </a:solidFill>
                <a:latin typeface="Calibri" pitchFamily="34" charset="0"/>
                <a:ea typeface="Calibri" pitchFamily="34" charset="-122"/>
                <a:cs typeface="Calibri" pitchFamily="34" charset="-120"/>
              </a:rPr>
              <a:t>Low value — drop it, however easy. Easy-but-pointless is still pointless.</a:t>
            </a:r>
            <a:endParaRPr lang="en-US" sz="1400" dirty="0"/>
          </a:p>
        </p:txBody>
      </p:sp>
      <p:sp>
        <p:nvSpPr>
          <p:cNvPr id="15" name="Text 12"/>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6 · Convergence Workshop</a:t>
            </a:r>
            <a:endParaRPr lang="en-US" sz="1000" dirty="0"/>
          </a:p>
        </p:txBody>
      </p:sp>
      <p:sp>
        <p:nvSpPr>
          <p:cNvPr id="16" name="Text 13"/>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CALIBRATION · CANDIDATE A</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ClassClock</a:t>
            </a:r>
            <a:endParaRPr lang="en-US" sz="3100" dirty="0"/>
          </a:p>
        </p:txBody>
      </p:sp>
      <p:sp>
        <p:nvSpPr>
          <p:cNvPr id="5" name="Shape 3"/>
          <p:cNvSpPr/>
          <p:nvPr/>
        </p:nvSpPr>
        <p:spPr>
          <a:xfrm>
            <a:off x="548640" y="1737360"/>
            <a:ext cx="11064240" cy="914400"/>
          </a:xfrm>
          <a:prstGeom prst="roundRect">
            <a:avLst>
              <a:gd name="adj" fmla="val 9000"/>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68680" y="1956816"/>
            <a:ext cx="512064" cy="512064"/>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1006937" y="2095073"/>
            <a:ext cx="235549" cy="235549"/>
          </a:xfrm>
          <a:prstGeom prst="rect">
            <a:avLst/>
          </a:prstGeom>
        </p:spPr>
      </p:pic>
      <p:sp>
        <p:nvSpPr>
          <p:cNvPr id="8" name="Text 5"/>
          <p:cNvSpPr/>
          <p:nvPr/>
        </p:nvSpPr>
        <p:spPr>
          <a:xfrm>
            <a:off x="1600200" y="1737360"/>
            <a:ext cx="9784080" cy="914400"/>
          </a:xfrm>
          <a:prstGeom prst="rect">
            <a:avLst/>
          </a:prstGeom>
          <a:noFill/>
          <a:ln/>
        </p:spPr>
        <p:txBody>
          <a:bodyPr wrap="square" lIns="0" tIns="0" rIns="0" bIns="0" rtlCol="0" anchor="ctr"/>
          <a:lstStyle/>
          <a:p>
            <a:pPr indent="0" marL="0">
              <a:lnSpc>
                <a:spcPct val="104000"/>
              </a:lnSpc>
              <a:buNone/>
            </a:pPr>
            <a:r>
              <a:rPr lang="en-US" sz="1650" dirty="0">
                <a:solidFill>
                  <a:srgbClr val="1E2A36"/>
                </a:solidFill>
                <a:latin typeface="Calibri" pitchFamily="34" charset="0"/>
                <a:ea typeface="Calibri" pitchFamily="34" charset="-122"/>
                <a:cs typeface="Calibri" pitchFamily="34" charset="-120"/>
              </a:rPr>
              <a:t>A browser extension that reads your class schedule and counts down to your next class.</a:t>
            </a:r>
            <a:endParaRPr lang="en-US" sz="1650" dirty="0"/>
          </a:p>
        </p:txBody>
      </p:sp>
      <p:sp>
        <p:nvSpPr>
          <p:cNvPr id="9" name="Shape 6"/>
          <p:cNvSpPr/>
          <p:nvPr/>
        </p:nvSpPr>
        <p:spPr>
          <a:xfrm>
            <a:off x="548640" y="2834640"/>
            <a:ext cx="3511296" cy="2286000"/>
          </a:xfrm>
          <a:prstGeom prst="roundRect">
            <a:avLst>
              <a:gd name="adj" fmla="val 3600"/>
            </a:avLst>
          </a:prstGeom>
          <a:solidFill>
            <a:srgbClr val="F2F6F8"/>
          </a:solidFill>
          <a:ln/>
          <a:effectLst>
            <a:outerShdw sx="100000" sy="100000" kx="0" ky="0" algn="bl" rotWithShape="0" blurRad="88900" dist="38100" dir="5400000">
              <a:srgbClr val="000000">
                <a:alpha val="13000"/>
              </a:srgbClr>
            </a:outerShdw>
          </a:effectLst>
        </p:spPr>
      </p:sp>
      <p:sp>
        <p:nvSpPr>
          <p:cNvPr id="10" name="Text 7"/>
          <p:cNvSpPr/>
          <p:nvPr/>
        </p:nvSpPr>
        <p:spPr>
          <a:xfrm>
            <a:off x="804672" y="3035808"/>
            <a:ext cx="2999232" cy="402336"/>
          </a:xfrm>
          <a:prstGeom prst="rect">
            <a:avLst/>
          </a:prstGeom>
          <a:noFill/>
          <a:ln/>
        </p:spPr>
        <p:txBody>
          <a:bodyPr wrap="square" lIns="0" tIns="0" rIns="0" bIns="0" rtlCol="0" anchor="ctr"/>
          <a:lstStyle/>
          <a:p>
            <a:pPr indent="0" marL="0">
              <a:buNone/>
            </a:pPr>
            <a:r>
              <a:rPr lang="en-US" sz="1400" b="1" spc="100" kern="0" dirty="0">
                <a:solidFill>
                  <a:srgbClr val="5F7284"/>
                </a:solidFill>
                <a:latin typeface="Calibri" pitchFamily="34" charset="0"/>
                <a:ea typeface="Calibri" pitchFamily="34" charset="-122"/>
                <a:cs typeface="Calibri" pitchFamily="34" charset="-120"/>
              </a:rPr>
              <a:t>Value</a:t>
            </a:r>
            <a:endParaRPr lang="en-US" sz="1400" dirty="0"/>
          </a:p>
        </p:txBody>
      </p:sp>
      <p:sp>
        <p:nvSpPr>
          <p:cNvPr id="11" name="click-1"/>
          <p:cNvSpPr/>
          <p:nvPr/>
        </p:nvSpPr>
        <p:spPr>
          <a:xfrm>
            <a:off x="804672" y="3419856"/>
            <a:ext cx="2999232" cy="548640"/>
          </a:xfrm>
          <a:prstGeom prst="rect">
            <a:avLst/>
          </a:prstGeom>
          <a:noFill/>
          <a:ln/>
        </p:spPr>
        <p:txBody>
          <a:bodyPr wrap="square" lIns="0" tIns="0" rIns="0" bIns="0" rtlCol="0" anchor="ctr"/>
          <a:lstStyle/>
          <a:p>
            <a:pPr indent="0" marL="0">
              <a:buNone/>
            </a:pPr>
            <a:r>
              <a:rPr lang="en-US" sz="2600" b="1" dirty="0">
                <a:solidFill>
                  <a:srgbClr val="1E2A36"/>
                </a:solidFill>
                <a:latin typeface="Cambria" pitchFamily="34" charset="0"/>
                <a:ea typeface="Cambria" pitchFamily="34" charset="-122"/>
                <a:cs typeface="Cambria" pitchFamily="34" charset="-120"/>
              </a:rPr>
              <a:t>LOW</a:t>
            </a:r>
            <a:endParaRPr lang="en-US" sz="2600" dirty="0"/>
          </a:p>
        </p:txBody>
      </p:sp>
      <p:sp>
        <p:nvSpPr>
          <p:cNvPr id="12" name="click-1"/>
          <p:cNvSpPr/>
          <p:nvPr/>
        </p:nvSpPr>
        <p:spPr>
          <a:xfrm>
            <a:off x="804672" y="4041648"/>
            <a:ext cx="2999232" cy="960120"/>
          </a:xfrm>
          <a:prstGeom prst="rect">
            <a:avLst/>
          </a:prstGeom>
          <a:noFill/>
          <a:ln/>
        </p:spPr>
        <p:txBody>
          <a:bodyPr wrap="square" lIns="0" tIns="0" rIns="0" bIns="0" rtlCol="0" anchor="t"/>
          <a:lstStyle/>
          <a:p>
            <a:pPr indent="0" marL="0">
              <a:lnSpc>
                <a:spcPct val="106000"/>
              </a:lnSpc>
              <a:buNone/>
            </a:pPr>
            <a:r>
              <a:rPr lang="en-US" sz="1400" dirty="0">
                <a:solidFill>
                  <a:srgbClr val="1E2A36"/>
                </a:solidFill>
                <a:latin typeface="Calibri" pitchFamily="34" charset="0"/>
                <a:ea typeface="Calibri" pitchFamily="34" charset="-122"/>
                <a:cs typeface="Calibri" pitchFamily="34" charset="-120"/>
              </a:rPr>
              <a:t>Your phone calendar already does this. No unmet need.</a:t>
            </a:r>
            <a:endParaRPr lang="en-US" sz="1400" dirty="0"/>
          </a:p>
        </p:txBody>
      </p:sp>
      <p:sp>
        <p:nvSpPr>
          <p:cNvPr id="13" name="Shape 10"/>
          <p:cNvSpPr/>
          <p:nvPr/>
        </p:nvSpPr>
        <p:spPr>
          <a:xfrm>
            <a:off x="4233672" y="2834640"/>
            <a:ext cx="3511296" cy="2286000"/>
          </a:xfrm>
          <a:prstGeom prst="roundRect">
            <a:avLst>
              <a:gd name="adj" fmla="val 3600"/>
            </a:avLst>
          </a:prstGeom>
          <a:solidFill>
            <a:srgbClr val="F2F6F8"/>
          </a:solidFill>
          <a:ln/>
          <a:effectLst>
            <a:outerShdw sx="100000" sy="100000" kx="0" ky="0" algn="bl" rotWithShape="0" blurRad="88900" dist="38100" dir="5400000">
              <a:srgbClr val="000000">
                <a:alpha val="13000"/>
              </a:srgbClr>
            </a:outerShdw>
          </a:effectLst>
        </p:spPr>
      </p:sp>
      <p:sp>
        <p:nvSpPr>
          <p:cNvPr id="14" name="Text 11"/>
          <p:cNvSpPr/>
          <p:nvPr/>
        </p:nvSpPr>
        <p:spPr>
          <a:xfrm>
            <a:off x="4489704" y="3035808"/>
            <a:ext cx="2999232" cy="402336"/>
          </a:xfrm>
          <a:prstGeom prst="rect">
            <a:avLst/>
          </a:prstGeom>
          <a:noFill/>
          <a:ln/>
        </p:spPr>
        <p:txBody>
          <a:bodyPr wrap="square" lIns="0" tIns="0" rIns="0" bIns="0" rtlCol="0" anchor="ctr"/>
          <a:lstStyle/>
          <a:p>
            <a:pPr indent="0" marL="0">
              <a:buNone/>
            </a:pPr>
            <a:r>
              <a:rPr lang="en-US" sz="1400" b="1" spc="100" kern="0" dirty="0">
                <a:solidFill>
                  <a:srgbClr val="5F7284"/>
                </a:solidFill>
                <a:latin typeface="Calibri" pitchFamily="34" charset="0"/>
                <a:ea typeface="Calibri" pitchFamily="34" charset="-122"/>
                <a:cs typeface="Calibri" pitchFamily="34" charset="-120"/>
              </a:rPr>
              <a:t>Do-ability</a:t>
            </a:r>
            <a:endParaRPr lang="en-US" sz="1400" dirty="0"/>
          </a:p>
        </p:txBody>
      </p:sp>
      <p:sp>
        <p:nvSpPr>
          <p:cNvPr id="15" name="click-2"/>
          <p:cNvSpPr/>
          <p:nvPr/>
        </p:nvSpPr>
        <p:spPr>
          <a:xfrm>
            <a:off x="4489704" y="3419856"/>
            <a:ext cx="2999232" cy="548640"/>
          </a:xfrm>
          <a:prstGeom prst="rect">
            <a:avLst/>
          </a:prstGeom>
          <a:noFill/>
          <a:ln/>
        </p:spPr>
        <p:txBody>
          <a:bodyPr wrap="square" lIns="0" tIns="0" rIns="0" bIns="0" rtlCol="0" anchor="ctr"/>
          <a:lstStyle/>
          <a:p>
            <a:pPr indent="0" marL="0">
              <a:buNone/>
            </a:pPr>
            <a:r>
              <a:rPr lang="en-US" sz="2600" b="1" dirty="0">
                <a:solidFill>
                  <a:srgbClr val="1E2A36"/>
                </a:solidFill>
                <a:latin typeface="Cambria" pitchFamily="34" charset="0"/>
                <a:ea typeface="Cambria" pitchFamily="34" charset="-122"/>
                <a:cs typeface="Cambria" pitchFamily="34" charset="-120"/>
              </a:rPr>
              <a:t>HIGH</a:t>
            </a:r>
            <a:endParaRPr lang="en-US" sz="2600" dirty="0"/>
          </a:p>
        </p:txBody>
      </p:sp>
      <p:sp>
        <p:nvSpPr>
          <p:cNvPr id="16" name="click-2"/>
          <p:cNvSpPr/>
          <p:nvPr/>
        </p:nvSpPr>
        <p:spPr>
          <a:xfrm>
            <a:off x="4489704" y="4041648"/>
            <a:ext cx="2999232" cy="960120"/>
          </a:xfrm>
          <a:prstGeom prst="rect">
            <a:avLst/>
          </a:prstGeom>
          <a:noFill/>
          <a:ln/>
        </p:spPr>
        <p:txBody>
          <a:bodyPr wrap="square" lIns="0" tIns="0" rIns="0" bIns="0" rtlCol="0" anchor="t"/>
          <a:lstStyle/>
          <a:p>
            <a:pPr indent="0" marL="0">
              <a:lnSpc>
                <a:spcPct val="106000"/>
              </a:lnSpc>
              <a:buNone/>
            </a:pPr>
            <a:r>
              <a:rPr lang="en-US" sz="1400" dirty="0">
                <a:solidFill>
                  <a:srgbClr val="1E2A36"/>
                </a:solidFill>
                <a:latin typeface="Calibri" pitchFamily="34" charset="0"/>
                <a:ea typeface="Calibri" pitchFamily="34" charset="-122"/>
                <a:cs typeface="Calibri" pitchFamily="34" charset="-120"/>
              </a:rPr>
              <a:t>One data source, one screen — a weekend, ~200 lines.</a:t>
            </a:r>
            <a:endParaRPr lang="en-US" sz="1400" dirty="0"/>
          </a:p>
        </p:txBody>
      </p:sp>
      <p:sp>
        <p:nvSpPr>
          <p:cNvPr id="17" name="Shape 14"/>
          <p:cNvSpPr/>
          <p:nvPr/>
        </p:nvSpPr>
        <p:spPr>
          <a:xfrm>
            <a:off x="7918704" y="2834640"/>
            <a:ext cx="3511296" cy="2286000"/>
          </a:xfrm>
          <a:prstGeom prst="roundRect">
            <a:avLst>
              <a:gd name="adj" fmla="val 3600"/>
            </a:avLst>
          </a:prstGeom>
          <a:solidFill>
            <a:srgbClr val="F2F6F8"/>
          </a:solidFill>
          <a:ln/>
          <a:effectLst>
            <a:outerShdw sx="100000" sy="100000" kx="0" ky="0" algn="bl" rotWithShape="0" blurRad="88900" dist="38100" dir="5400000">
              <a:srgbClr val="000000">
                <a:alpha val="13000"/>
              </a:srgbClr>
            </a:outerShdw>
          </a:effectLst>
        </p:spPr>
      </p:sp>
      <p:sp>
        <p:nvSpPr>
          <p:cNvPr id="18" name="Text 15"/>
          <p:cNvSpPr/>
          <p:nvPr/>
        </p:nvSpPr>
        <p:spPr>
          <a:xfrm>
            <a:off x="8174736" y="3035808"/>
            <a:ext cx="2999232" cy="402336"/>
          </a:xfrm>
          <a:prstGeom prst="rect">
            <a:avLst/>
          </a:prstGeom>
          <a:noFill/>
          <a:ln/>
        </p:spPr>
        <p:txBody>
          <a:bodyPr wrap="square" lIns="0" tIns="0" rIns="0" bIns="0" rtlCol="0" anchor="ctr"/>
          <a:lstStyle/>
          <a:p>
            <a:pPr indent="0" marL="0">
              <a:buNone/>
            </a:pPr>
            <a:r>
              <a:rPr lang="en-US" sz="1400" b="1" spc="100" kern="0" dirty="0">
                <a:solidFill>
                  <a:srgbClr val="5F7284"/>
                </a:solidFill>
                <a:latin typeface="Calibri" pitchFamily="34" charset="0"/>
                <a:ea typeface="Calibri" pitchFamily="34" charset="-122"/>
                <a:cs typeface="Calibri" pitchFamily="34" charset="-120"/>
              </a:rPr>
              <a:t>Richness</a:t>
            </a:r>
            <a:endParaRPr lang="en-US" sz="1400" dirty="0"/>
          </a:p>
        </p:txBody>
      </p:sp>
      <p:sp>
        <p:nvSpPr>
          <p:cNvPr id="19" name="click-3"/>
          <p:cNvSpPr/>
          <p:nvPr/>
        </p:nvSpPr>
        <p:spPr>
          <a:xfrm>
            <a:off x="8174736" y="3419856"/>
            <a:ext cx="2999232" cy="548640"/>
          </a:xfrm>
          <a:prstGeom prst="rect">
            <a:avLst/>
          </a:prstGeom>
          <a:noFill/>
          <a:ln/>
        </p:spPr>
        <p:txBody>
          <a:bodyPr wrap="square" lIns="0" tIns="0" rIns="0" bIns="0" rtlCol="0" anchor="ctr"/>
          <a:lstStyle/>
          <a:p>
            <a:pPr indent="0" marL="0">
              <a:buNone/>
            </a:pPr>
            <a:r>
              <a:rPr lang="en-US" sz="2600" b="1" dirty="0">
                <a:solidFill>
                  <a:srgbClr val="1E2A36"/>
                </a:solidFill>
                <a:latin typeface="Cambria" pitchFamily="34" charset="0"/>
                <a:ea typeface="Cambria" pitchFamily="34" charset="-122"/>
                <a:cs typeface="Cambria" pitchFamily="34" charset="-120"/>
              </a:rPr>
              <a:t>FAILS</a:t>
            </a:r>
            <a:endParaRPr lang="en-US" sz="2600" dirty="0"/>
          </a:p>
        </p:txBody>
      </p:sp>
      <p:sp>
        <p:nvSpPr>
          <p:cNvPr id="20" name="click-3"/>
          <p:cNvSpPr/>
          <p:nvPr/>
        </p:nvSpPr>
        <p:spPr>
          <a:xfrm>
            <a:off x="8174736" y="4041648"/>
            <a:ext cx="2999232" cy="960120"/>
          </a:xfrm>
          <a:prstGeom prst="rect">
            <a:avLst/>
          </a:prstGeom>
          <a:noFill/>
          <a:ln/>
        </p:spPr>
        <p:txBody>
          <a:bodyPr wrap="square" lIns="0" tIns="0" rIns="0" bIns="0" rtlCol="0" anchor="t"/>
          <a:lstStyle/>
          <a:p>
            <a:pPr indent="0" marL="0">
              <a:lnSpc>
                <a:spcPct val="106000"/>
              </a:lnSpc>
              <a:buNone/>
            </a:pPr>
            <a:r>
              <a:rPr lang="en-US" sz="1400" dirty="0">
                <a:solidFill>
                  <a:srgbClr val="1E2A36"/>
                </a:solidFill>
                <a:latin typeface="Calibri" pitchFamily="34" charset="0"/>
                <a:ea typeface="Calibri" pitchFamily="34" charset="-122"/>
                <a:cs typeface="Calibri" pitchFamily="34" charset="-120"/>
              </a:rPr>
              <a:t>One component. Finish it and there's nothing left to found.</a:t>
            </a:r>
            <a:endParaRPr lang="en-US" sz="1400" dirty="0"/>
          </a:p>
        </p:txBody>
      </p:sp>
      <p:sp>
        <p:nvSpPr>
          <p:cNvPr id="21" name="click-4"/>
          <p:cNvSpPr/>
          <p:nvPr/>
        </p:nvSpPr>
        <p:spPr>
          <a:xfrm>
            <a:off x="548640" y="2834640"/>
            <a:ext cx="3511296" cy="2286000"/>
          </a:xfrm>
          <a:prstGeom prst="roundRect">
            <a:avLst>
              <a:gd name="adj" fmla="val 3600"/>
            </a:avLst>
          </a:prstGeom>
          <a:solidFill>
            <a:srgbClr val="FBECE8"/>
          </a:solidFill>
          <a:ln/>
          <a:effectLst>
            <a:outerShdw sx="100000" sy="100000" kx="0" ky="0" algn="bl" rotWithShape="0" blurRad="88900" dist="38100" dir="5400000">
              <a:srgbClr val="000000">
                <a:alpha val="13000"/>
              </a:srgbClr>
            </a:outerShdw>
          </a:effectLst>
        </p:spPr>
      </p:sp>
      <p:sp>
        <p:nvSpPr>
          <p:cNvPr id="22" name="click-4"/>
          <p:cNvSpPr/>
          <p:nvPr/>
        </p:nvSpPr>
        <p:spPr>
          <a:xfrm>
            <a:off x="804672" y="3035808"/>
            <a:ext cx="2999232" cy="402336"/>
          </a:xfrm>
          <a:prstGeom prst="rect">
            <a:avLst/>
          </a:prstGeom>
          <a:noFill/>
          <a:ln/>
        </p:spPr>
        <p:txBody>
          <a:bodyPr wrap="square" lIns="0" tIns="0" rIns="0" bIns="0" rtlCol="0" anchor="ctr"/>
          <a:lstStyle/>
          <a:p>
            <a:pPr indent="0" marL="0">
              <a:buNone/>
            </a:pPr>
            <a:r>
              <a:rPr lang="en-US" sz="1400" b="1" spc="100" kern="0" dirty="0">
                <a:solidFill>
                  <a:srgbClr val="5F7284"/>
                </a:solidFill>
                <a:latin typeface="Calibri" pitchFamily="34" charset="0"/>
                <a:ea typeface="Calibri" pitchFamily="34" charset="-122"/>
                <a:cs typeface="Calibri" pitchFamily="34" charset="-120"/>
              </a:rPr>
              <a:t>Value</a:t>
            </a:r>
            <a:endParaRPr lang="en-US" sz="1400" dirty="0"/>
          </a:p>
        </p:txBody>
      </p:sp>
      <p:sp>
        <p:nvSpPr>
          <p:cNvPr id="23" name="click-4"/>
          <p:cNvSpPr/>
          <p:nvPr/>
        </p:nvSpPr>
        <p:spPr>
          <a:xfrm>
            <a:off x="804672" y="3419856"/>
            <a:ext cx="2999232" cy="548640"/>
          </a:xfrm>
          <a:prstGeom prst="rect">
            <a:avLst/>
          </a:prstGeom>
          <a:noFill/>
          <a:ln/>
        </p:spPr>
        <p:txBody>
          <a:bodyPr wrap="square" lIns="0" tIns="0" rIns="0" bIns="0" rtlCol="0" anchor="ctr"/>
          <a:lstStyle/>
          <a:p>
            <a:pPr indent="0" marL="0">
              <a:buNone/>
            </a:pPr>
            <a:r>
              <a:rPr lang="en-US" sz="2600" b="1" dirty="0">
                <a:solidFill>
                  <a:srgbClr val="D9614C"/>
                </a:solidFill>
                <a:latin typeface="Cambria" pitchFamily="34" charset="0"/>
                <a:ea typeface="Cambria" pitchFamily="34" charset="-122"/>
                <a:cs typeface="Cambria" pitchFamily="34" charset="-120"/>
              </a:rPr>
              <a:t>LOW</a:t>
            </a:r>
            <a:endParaRPr lang="en-US" sz="2600" dirty="0"/>
          </a:p>
        </p:txBody>
      </p:sp>
      <p:sp>
        <p:nvSpPr>
          <p:cNvPr id="24" name="click-4"/>
          <p:cNvSpPr/>
          <p:nvPr/>
        </p:nvSpPr>
        <p:spPr>
          <a:xfrm>
            <a:off x="804672" y="4041648"/>
            <a:ext cx="2999232" cy="960120"/>
          </a:xfrm>
          <a:prstGeom prst="rect">
            <a:avLst/>
          </a:prstGeom>
          <a:noFill/>
          <a:ln/>
        </p:spPr>
        <p:txBody>
          <a:bodyPr wrap="square" lIns="0" tIns="0" rIns="0" bIns="0" rtlCol="0" anchor="t"/>
          <a:lstStyle/>
          <a:p>
            <a:pPr indent="0" marL="0">
              <a:lnSpc>
                <a:spcPct val="106000"/>
              </a:lnSpc>
              <a:buNone/>
            </a:pPr>
            <a:r>
              <a:rPr lang="en-US" sz="1400" dirty="0">
                <a:solidFill>
                  <a:srgbClr val="1E2A36"/>
                </a:solidFill>
                <a:latin typeface="Calibri" pitchFamily="34" charset="0"/>
                <a:ea typeface="Calibri" pitchFamily="34" charset="-122"/>
                <a:cs typeface="Calibri" pitchFamily="34" charset="-120"/>
              </a:rPr>
              <a:t>Your phone calendar already does this. No unmet need.</a:t>
            </a:r>
            <a:endParaRPr lang="en-US" sz="1400" dirty="0"/>
          </a:p>
        </p:txBody>
      </p:sp>
      <p:sp>
        <p:nvSpPr>
          <p:cNvPr id="25" name="click-4"/>
          <p:cNvSpPr/>
          <p:nvPr/>
        </p:nvSpPr>
        <p:spPr>
          <a:xfrm>
            <a:off x="4233672" y="2834640"/>
            <a:ext cx="3511296" cy="2286000"/>
          </a:xfrm>
          <a:prstGeom prst="roundRect">
            <a:avLst>
              <a:gd name="adj" fmla="val 3600"/>
            </a:avLst>
          </a:prstGeom>
          <a:solidFill>
            <a:srgbClr val="EAF4EE"/>
          </a:solidFill>
          <a:ln/>
          <a:effectLst>
            <a:outerShdw sx="100000" sy="100000" kx="0" ky="0" algn="bl" rotWithShape="0" blurRad="88900" dist="38100" dir="5400000">
              <a:srgbClr val="000000">
                <a:alpha val="13000"/>
              </a:srgbClr>
            </a:outerShdw>
          </a:effectLst>
        </p:spPr>
      </p:sp>
      <p:sp>
        <p:nvSpPr>
          <p:cNvPr id="26" name="click-4"/>
          <p:cNvSpPr/>
          <p:nvPr/>
        </p:nvSpPr>
        <p:spPr>
          <a:xfrm>
            <a:off x="4489704" y="3035808"/>
            <a:ext cx="2999232" cy="402336"/>
          </a:xfrm>
          <a:prstGeom prst="rect">
            <a:avLst/>
          </a:prstGeom>
          <a:noFill/>
          <a:ln/>
        </p:spPr>
        <p:txBody>
          <a:bodyPr wrap="square" lIns="0" tIns="0" rIns="0" bIns="0" rtlCol="0" anchor="ctr"/>
          <a:lstStyle/>
          <a:p>
            <a:pPr indent="0" marL="0">
              <a:buNone/>
            </a:pPr>
            <a:r>
              <a:rPr lang="en-US" sz="1400" b="1" spc="100" kern="0" dirty="0">
                <a:solidFill>
                  <a:srgbClr val="5F7284"/>
                </a:solidFill>
                <a:latin typeface="Calibri" pitchFamily="34" charset="0"/>
                <a:ea typeface="Calibri" pitchFamily="34" charset="-122"/>
                <a:cs typeface="Calibri" pitchFamily="34" charset="-120"/>
              </a:rPr>
              <a:t>Do-ability</a:t>
            </a:r>
            <a:endParaRPr lang="en-US" sz="1400" dirty="0"/>
          </a:p>
        </p:txBody>
      </p:sp>
      <p:sp>
        <p:nvSpPr>
          <p:cNvPr id="27" name="click-4"/>
          <p:cNvSpPr/>
          <p:nvPr/>
        </p:nvSpPr>
        <p:spPr>
          <a:xfrm>
            <a:off x="4489704" y="3419856"/>
            <a:ext cx="2999232" cy="548640"/>
          </a:xfrm>
          <a:prstGeom prst="rect">
            <a:avLst/>
          </a:prstGeom>
          <a:noFill/>
          <a:ln/>
        </p:spPr>
        <p:txBody>
          <a:bodyPr wrap="square" lIns="0" tIns="0" rIns="0" bIns="0" rtlCol="0" anchor="ctr"/>
          <a:lstStyle/>
          <a:p>
            <a:pPr indent="0" marL="0">
              <a:buNone/>
            </a:pPr>
            <a:r>
              <a:rPr lang="en-US" sz="2600" b="1" dirty="0">
                <a:solidFill>
                  <a:srgbClr val="3E9C6B"/>
                </a:solidFill>
                <a:latin typeface="Cambria" pitchFamily="34" charset="0"/>
                <a:ea typeface="Cambria" pitchFamily="34" charset="-122"/>
                <a:cs typeface="Cambria" pitchFamily="34" charset="-120"/>
              </a:rPr>
              <a:t>HIGH</a:t>
            </a:r>
            <a:endParaRPr lang="en-US" sz="2600" dirty="0"/>
          </a:p>
        </p:txBody>
      </p:sp>
      <p:sp>
        <p:nvSpPr>
          <p:cNvPr id="28" name="click-4"/>
          <p:cNvSpPr/>
          <p:nvPr/>
        </p:nvSpPr>
        <p:spPr>
          <a:xfrm>
            <a:off x="4489704" y="4041648"/>
            <a:ext cx="2999232" cy="960120"/>
          </a:xfrm>
          <a:prstGeom prst="rect">
            <a:avLst/>
          </a:prstGeom>
          <a:noFill/>
          <a:ln/>
        </p:spPr>
        <p:txBody>
          <a:bodyPr wrap="square" lIns="0" tIns="0" rIns="0" bIns="0" rtlCol="0" anchor="t"/>
          <a:lstStyle/>
          <a:p>
            <a:pPr indent="0" marL="0">
              <a:lnSpc>
                <a:spcPct val="106000"/>
              </a:lnSpc>
              <a:buNone/>
            </a:pPr>
            <a:r>
              <a:rPr lang="en-US" sz="1400" dirty="0">
                <a:solidFill>
                  <a:srgbClr val="1E2A36"/>
                </a:solidFill>
                <a:latin typeface="Calibri" pitchFamily="34" charset="0"/>
                <a:ea typeface="Calibri" pitchFamily="34" charset="-122"/>
                <a:cs typeface="Calibri" pitchFamily="34" charset="-120"/>
              </a:rPr>
              <a:t>One data source, one screen — a weekend, ~200 lines.</a:t>
            </a:r>
            <a:endParaRPr lang="en-US" sz="1400" dirty="0"/>
          </a:p>
        </p:txBody>
      </p:sp>
      <p:sp>
        <p:nvSpPr>
          <p:cNvPr id="29" name="click-4"/>
          <p:cNvSpPr/>
          <p:nvPr/>
        </p:nvSpPr>
        <p:spPr>
          <a:xfrm>
            <a:off x="7918704" y="2834640"/>
            <a:ext cx="3511296" cy="2286000"/>
          </a:xfrm>
          <a:prstGeom prst="roundRect">
            <a:avLst>
              <a:gd name="adj" fmla="val 3600"/>
            </a:avLst>
          </a:prstGeom>
          <a:solidFill>
            <a:srgbClr val="FBECE8"/>
          </a:solidFill>
          <a:ln/>
          <a:effectLst>
            <a:outerShdw sx="100000" sy="100000" kx="0" ky="0" algn="bl" rotWithShape="0" blurRad="88900" dist="38100" dir="5400000">
              <a:srgbClr val="000000">
                <a:alpha val="13000"/>
              </a:srgbClr>
            </a:outerShdw>
          </a:effectLst>
        </p:spPr>
      </p:sp>
      <p:sp>
        <p:nvSpPr>
          <p:cNvPr id="30" name="click-4"/>
          <p:cNvSpPr/>
          <p:nvPr/>
        </p:nvSpPr>
        <p:spPr>
          <a:xfrm>
            <a:off x="8174736" y="3035808"/>
            <a:ext cx="2999232" cy="402336"/>
          </a:xfrm>
          <a:prstGeom prst="rect">
            <a:avLst/>
          </a:prstGeom>
          <a:noFill/>
          <a:ln/>
        </p:spPr>
        <p:txBody>
          <a:bodyPr wrap="square" lIns="0" tIns="0" rIns="0" bIns="0" rtlCol="0" anchor="ctr"/>
          <a:lstStyle/>
          <a:p>
            <a:pPr indent="0" marL="0">
              <a:buNone/>
            </a:pPr>
            <a:r>
              <a:rPr lang="en-US" sz="1400" b="1" spc="100" kern="0" dirty="0">
                <a:solidFill>
                  <a:srgbClr val="5F7284"/>
                </a:solidFill>
                <a:latin typeface="Calibri" pitchFamily="34" charset="0"/>
                <a:ea typeface="Calibri" pitchFamily="34" charset="-122"/>
                <a:cs typeface="Calibri" pitchFamily="34" charset="-120"/>
              </a:rPr>
              <a:t>Richness</a:t>
            </a:r>
            <a:endParaRPr lang="en-US" sz="1400" dirty="0"/>
          </a:p>
        </p:txBody>
      </p:sp>
      <p:sp>
        <p:nvSpPr>
          <p:cNvPr id="31" name="click-4"/>
          <p:cNvSpPr/>
          <p:nvPr/>
        </p:nvSpPr>
        <p:spPr>
          <a:xfrm>
            <a:off x="8174736" y="3419856"/>
            <a:ext cx="2999232" cy="548640"/>
          </a:xfrm>
          <a:prstGeom prst="rect">
            <a:avLst/>
          </a:prstGeom>
          <a:noFill/>
          <a:ln/>
        </p:spPr>
        <p:txBody>
          <a:bodyPr wrap="square" lIns="0" tIns="0" rIns="0" bIns="0" rtlCol="0" anchor="ctr"/>
          <a:lstStyle/>
          <a:p>
            <a:pPr indent="0" marL="0">
              <a:buNone/>
            </a:pPr>
            <a:r>
              <a:rPr lang="en-US" sz="2600" b="1" dirty="0">
                <a:solidFill>
                  <a:srgbClr val="D9614C"/>
                </a:solidFill>
                <a:latin typeface="Cambria" pitchFamily="34" charset="0"/>
                <a:ea typeface="Cambria" pitchFamily="34" charset="-122"/>
                <a:cs typeface="Cambria" pitchFamily="34" charset="-120"/>
              </a:rPr>
              <a:t>FAILS</a:t>
            </a:r>
            <a:endParaRPr lang="en-US" sz="2600" dirty="0"/>
          </a:p>
        </p:txBody>
      </p:sp>
      <p:sp>
        <p:nvSpPr>
          <p:cNvPr id="32" name="click-4"/>
          <p:cNvSpPr/>
          <p:nvPr/>
        </p:nvSpPr>
        <p:spPr>
          <a:xfrm>
            <a:off x="8174736" y="4041648"/>
            <a:ext cx="2999232" cy="960120"/>
          </a:xfrm>
          <a:prstGeom prst="rect">
            <a:avLst/>
          </a:prstGeom>
          <a:noFill/>
          <a:ln/>
        </p:spPr>
        <p:txBody>
          <a:bodyPr wrap="square" lIns="0" tIns="0" rIns="0" bIns="0" rtlCol="0" anchor="t"/>
          <a:lstStyle/>
          <a:p>
            <a:pPr indent="0" marL="0">
              <a:lnSpc>
                <a:spcPct val="106000"/>
              </a:lnSpc>
              <a:buNone/>
            </a:pPr>
            <a:r>
              <a:rPr lang="en-US" sz="1400" dirty="0">
                <a:solidFill>
                  <a:srgbClr val="1E2A36"/>
                </a:solidFill>
                <a:latin typeface="Calibri" pitchFamily="34" charset="0"/>
                <a:ea typeface="Calibri" pitchFamily="34" charset="-122"/>
                <a:cs typeface="Calibri" pitchFamily="34" charset="-120"/>
              </a:rPr>
              <a:t>One component. Finish it and there's nothing left to found.</a:t>
            </a:r>
            <a:endParaRPr lang="en-US" sz="1400" dirty="0"/>
          </a:p>
        </p:txBody>
      </p:sp>
      <p:sp>
        <p:nvSpPr>
          <p:cNvPr id="33" name="click-5"/>
          <p:cNvSpPr/>
          <p:nvPr/>
        </p:nvSpPr>
        <p:spPr>
          <a:xfrm>
            <a:off x="548640" y="5349240"/>
            <a:ext cx="11064240" cy="822960"/>
          </a:xfrm>
          <a:prstGeom prst="roundRect">
            <a:avLst>
              <a:gd name="adj" fmla="val 10000"/>
            </a:avLst>
          </a:prstGeom>
          <a:solidFill>
            <a:srgbClr val="14233A"/>
          </a:solidFill>
          <a:ln/>
          <a:effectLst>
            <a:outerShdw sx="100000" sy="100000" kx="0" ky="0" algn="bl" rotWithShape="0" blurRad="88900" dist="38100" dir="5400000">
              <a:srgbClr val="000000">
                <a:alpha val="13000"/>
              </a:srgbClr>
            </a:outerShdw>
          </a:effectLst>
        </p:spPr>
      </p:sp>
      <p:sp>
        <p:nvSpPr>
          <p:cNvPr id="34" name="click-5"/>
          <p:cNvSpPr/>
          <p:nvPr/>
        </p:nvSpPr>
        <p:spPr>
          <a:xfrm>
            <a:off x="841248" y="5550408"/>
            <a:ext cx="438912" cy="438912"/>
          </a:xfrm>
          <a:prstGeom prst="ellipse">
            <a:avLst/>
          </a:prstGeom>
          <a:solidFill>
            <a:srgbClr val="E8A33D"/>
          </a:solidFill>
          <a:ln/>
        </p:spPr>
      </p:sp>
      <p:pic>
        <p:nvPicPr>
          <p:cNvPr id="35" name="click-5" descr="preencoded.png">    </p:cNvPr>
          <p:cNvPicPr>
            <a:picLocks noChangeAspect="1"/>
          </p:cNvPicPr>
          <p:nvPr/>
        </p:nvPicPr>
        <p:blipFill>
          <a:blip r:embed="rId2"/>
          <a:stretch>
            <a:fillRect/>
          </a:stretch>
        </p:blipFill>
        <p:spPr>
          <a:xfrm>
            <a:off x="959754" y="5668914"/>
            <a:ext cx="201900" cy="201900"/>
          </a:xfrm>
          <a:prstGeom prst="rect">
            <a:avLst/>
          </a:prstGeom>
        </p:spPr>
      </p:pic>
      <p:sp>
        <p:nvSpPr>
          <p:cNvPr id="36" name="click-5"/>
          <p:cNvSpPr/>
          <p:nvPr/>
        </p:nvSpPr>
        <p:spPr>
          <a:xfrm>
            <a:off x="1444752" y="5349240"/>
            <a:ext cx="9966960" cy="822960"/>
          </a:xfrm>
          <a:prstGeom prst="rect">
            <a:avLst/>
          </a:prstGeom>
          <a:noFill/>
          <a:ln/>
        </p:spPr>
        <p:txBody>
          <a:bodyPr wrap="square" lIns="0" tIns="0" rIns="0" bIns="0" rtlCol="0" anchor="ctr"/>
          <a:lstStyle/>
          <a:p>
            <a:pPr indent="0" marL="0">
              <a:buNone/>
            </a:pPr>
            <a:r>
              <a:rPr lang="en-US" sz="1550" b="1" dirty="0">
                <a:solidFill>
                  <a:srgbClr val="E8A33D"/>
                </a:solidFill>
                <a:latin typeface="Calibri" pitchFamily="34" charset="0"/>
                <a:ea typeface="Calibri" pitchFamily="34" charset="-122"/>
                <a:cs typeface="Calibri" pitchFamily="34" charset="-120"/>
              </a:rPr>
              <a:t>Plots bottom-right — high do-ability, low value.  </a:t>
            </a:r>
            <a:pPr indent="0" marL="0">
              <a:buNone/>
            </a:pPr>
            <a:r>
              <a:rPr lang="en-US" sz="1550" dirty="0">
                <a:solidFill>
                  <a:srgbClr val="FFFFFF"/>
                </a:solidFill>
                <a:latin typeface="Calibri" pitchFamily="34" charset="0"/>
                <a:ea typeface="Calibri" pitchFamily="34" charset="-122"/>
                <a:cs typeface="Calibri" pitchFamily="34" charset="-120"/>
              </a:rPr>
              <a:t>Easy is not a reason. Drop it.</a:t>
            </a:r>
            <a:endParaRPr lang="en-US" sz="1550" dirty="0"/>
          </a:p>
        </p:txBody>
      </p:sp>
      <p:sp>
        <p:nvSpPr>
          <p:cNvPr id="37" name="Text 33"/>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6 · Convergence Workshop</a:t>
            </a:r>
            <a:endParaRPr lang="en-US" sz="1000" dirty="0"/>
          </a:p>
        </p:txBody>
      </p:sp>
      <p:sp>
        <p:nvSpPr>
          <p:cNvPr id="38" name="Text 3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8</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11"/>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2" presetID="1" presetClass="entr" presetSubtype="0"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1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8" presetID="1" presetClass="entr" presetSubtype="0" fill="hold" grpId="0" nodeType="clickEffect">
                                  <p:stCondLst>
                                    <p:cond delay="0"/>
                                  </p:stCondLst>
                                  <p:childTnLst>
                                    <p:set>
                                      <p:cBhvr>
                                        <p:cTn id="17" dur="1" fill="hold">
                                          <p:stCondLst>
                                            <p:cond delay="0"/>
                                          </p:stCondLst>
                                        </p:cTn>
                                        <p:tgtEl>
                                          <p:spTgt spid="19"/>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2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4" presetID="1" presetClass="entr" presetSubtype="0" fill="hold" grpId="0" nodeType="clickEffect">
                                  <p:stCondLst>
                                    <p:cond delay="0"/>
                                  </p:stCondLst>
                                  <p:childTnLst>
                                    <p:set>
                                      <p:cBhvr>
                                        <p:cTn id="23" dur="1" fill="hold">
                                          <p:stCondLst>
                                            <p:cond delay="0"/>
                                          </p:stCondLst>
                                        </p:cTn>
                                        <p:tgtEl>
                                          <p:spTgt spid="21"/>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5" dur="1" fill="hold">
                                          <p:stCondLst>
                                            <p:cond delay="0"/>
                                          </p:stCondLst>
                                        </p:cTn>
                                        <p:tgtEl>
                                          <p:spTgt spid="22"/>
                                        </p:tgtEl>
                                        <p:attrNameLst>
                                          <p:attrName>style.visibility</p:attrName>
                                        </p:attrNameLst>
                                      </p:cBhvr>
                                      <p:to>
                                        <p:strVal val="visible"/>
                                      </p:to>
                                    </p:set>
                                  </p:childTnLst>
                                </p:cTn>
                              </p:par>
                              <p:par>
                                <p:cTn id="28" presetID="1" presetClass="entr" presetSubtype="0" fill="hold" grpId="0" nodeType="withEffect">
                                  <p:stCondLst>
                                    <p:cond delay="0"/>
                                  </p:stCondLst>
                                  <p:childTnLst>
                                    <p:set>
                                      <p:cBhvr>
                                        <p:cTn id="27" dur="1" fill="hold">
                                          <p:stCondLst>
                                            <p:cond delay="0"/>
                                          </p:stCondLst>
                                        </p:cTn>
                                        <p:tgtEl>
                                          <p:spTgt spid="23"/>
                                        </p:tgtEl>
                                        <p:attrNameLst>
                                          <p:attrName>style.visibility</p:attrName>
                                        </p:attrNameLst>
                                      </p:cBhvr>
                                      <p:to>
                                        <p:strVal val="visible"/>
                                      </p:to>
                                    </p:set>
                                  </p:childTnLst>
                                </p:cTn>
                              </p:par>
                              <p:par>
                                <p:cTn id="30" presetID="1" presetClass="entr" presetSubtype="0" fill="hold" grpId="0" nodeType="withEffect">
                                  <p:stCondLst>
                                    <p:cond delay="0"/>
                                  </p:stCondLst>
                                  <p:childTnLst>
                                    <p:set>
                                      <p:cBhvr>
                                        <p:cTn id="29" dur="1" fill="hold">
                                          <p:stCondLst>
                                            <p:cond delay="0"/>
                                          </p:stCondLst>
                                        </p:cTn>
                                        <p:tgtEl>
                                          <p:spTgt spid="24"/>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1" dur="1" fill="hold">
                                          <p:stCondLst>
                                            <p:cond delay="0"/>
                                          </p:stCondLst>
                                        </p:cTn>
                                        <p:tgtEl>
                                          <p:spTgt spid="25"/>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3" dur="1" fill="hold">
                                          <p:stCondLst>
                                            <p:cond delay="0"/>
                                          </p:stCondLst>
                                        </p:cTn>
                                        <p:tgtEl>
                                          <p:spTgt spid="26"/>
                                        </p:tgtEl>
                                        <p:attrNameLst>
                                          <p:attrName>style.visibility</p:attrName>
                                        </p:attrNameLst>
                                      </p:cBhvr>
                                      <p:to>
                                        <p:strVal val="visible"/>
                                      </p:to>
                                    </p:set>
                                  </p:childTnLst>
                                </p:cTn>
                              </p:par>
                              <p:par>
                                <p:cTn id="36" presetID="1" presetClass="entr" presetSubtype="0" fill="hold" grpId="0" nodeType="withEffect">
                                  <p:stCondLst>
                                    <p:cond delay="0"/>
                                  </p:stCondLst>
                                  <p:childTnLst>
                                    <p:set>
                                      <p:cBhvr>
                                        <p:cTn id="35" dur="1" fill="hold">
                                          <p:stCondLst>
                                            <p:cond delay="0"/>
                                          </p:stCondLst>
                                        </p:cTn>
                                        <p:tgtEl>
                                          <p:spTgt spid="27"/>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7" dur="1" fill="hold">
                                          <p:stCondLst>
                                            <p:cond delay="0"/>
                                          </p:stCondLst>
                                        </p:cTn>
                                        <p:tgtEl>
                                          <p:spTgt spid="28"/>
                                        </p:tgtEl>
                                        <p:attrNameLst>
                                          <p:attrName>style.visibility</p:attrName>
                                        </p:attrNameLst>
                                      </p:cBhvr>
                                      <p:to>
                                        <p:strVal val="visible"/>
                                      </p:to>
                                    </p:set>
                                  </p:childTnLst>
                                </p:cTn>
                              </p:par>
                              <p:par>
                                <p:cTn id="40" presetID="1"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1" dur="1" fill="hold">
                                          <p:stCondLst>
                                            <p:cond delay="0"/>
                                          </p:stCondLst>
                                        </p:cTn>
                                        <p:tgtEl>
                                          <p:spTgt spid="30"/>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3" dur="1" fill="hold">
                                          <p:stCondLst>
                                            <p:cond delay="0"/>
                                          </p:stCondLst>
                                        </p:cTn>
                                        <p:tgtEl>
                                          <p:spTgt spid="3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5" dur="1" fill="hold">
                                          <p:stCondLst>
                                            <p:cond delay="0"/>
                                          </p:stCondLst>
                                        </p:cTn>
                                        <p:tgtEl>
                                          <p:spTgt spid="32"/>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50" presetID="1" presetClass="entr" presetSubtype="0" fill="hold" grpId="0" nodeType="clickEffect">
                                  <p:stCondLst>
                                    <p:cond delay="0"/>
                                  </p:stCondLst>
                                  <p:childTnLst>
                                    <p:set>
                                      <p:cBhvr>
                                        <p:cTn id="49" dur="1" fill="hold">
                                          <p:stCondLst>
                                            <p:cond delay="0"/>
                                          </p:stCondLst>
                                        </p:cTn>
                                        <p:tgtEl>
                                          <p:spTgt spid="33"/>
                                        </p:tgtEl>
                                        <p:attrNameLst>
                                          <p:attrName>style.visibility</p:attrName>
                                        </p:attrNameLst>
                                      </p:cBhvr>
                                      <p:to>
                                        <p:strVal val="visible"/>
                                      </p:to>
                                    </p:set>
                                  </p:childTnLst>
                                </p:cTn>
                              </p:par>
                              <p:par>
                                <p:cTn id="52" presetID="1" presetClass="entr" presetSubtype="0"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3" dur="1" fill="hold">
                                          <p:stCondLst>
                                            <p:cond delay="0"/>
                                          </p:stCondLst>
                                        </p:cTn>
                                        <p:tgtEl>
                                          <p:spTgt spid="35"/>
                                        </p:tgtEl>
                                        <p:attrNameLst>
                                          <p:attrName>style.visibility</p:attrName>
                                        </p:attrNameLst>
                                      </p:cBhvr>
                                      <p:to>
                                        <p:strVal val="visible"/>
                                      </p:to>
                                    </p:set>
                                  </p:childTnLst>
                                </p:cTn>
                              </p:par>
                              <p:par>
                                <p:cTn id="56" presetID="1" presetClass="entr" presetSubtype="0" fill="hold" grpId="0" nodeType="withEffect">
                                  <p:stCondLst>
                                    <p:cond delay="0"/>
                                  </p:stCondLst>
                                  <p:childTnLst>
                                    <p:set>
                                      <p:cBhvr>
                                        <p:cTn id="55"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5" grpId="0" animBg="1"/>
      <p:bldP spid="16"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CALIBRATION · CANDIDATE B</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CrowdDefense</a:t>
            </a:r>
            <a:endParaRPr lang="en-US" sz="3100" dirty="0"/>
          </a:p>
        </p:txBody>
      </p:sp>
      <p:sp>
        <p:nvSpPr>
          <p:cNvPr id="5" name="Shape 3"/>
          <p:cNvSpPr/>
          <p:nvPr/>
        </p:nvSpPr>
        <p:spPr>
          <a:xfrm>
            <a:off x="548640" y="1664208"/>
            <a:ext cx="11064240" cy="841248"/>
          </a:xfrm>
          <a:prstGeom prst="roundRect">
            <a:avLst>
              <a:gd name="adj" fmla="val 9783"/>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68680" y="1847088"/>
            <a:ext cx="493776" cy="493776"/>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1002000" y="1980408"/>
            <a:ext cx="227137" cy="227137"/>
          </a:xfrm>
          <a:prstGeom prst="rect">
            <a:avLst/>
          </a:prstGeom>
        </p:spPr>
      </p:pic>
      <p:sp>
        <p:nvSpPr>
          <p:cNvPr id="8" name="Text 5"/>
          <p:cNvSpPr/>
          <p:nvPr/>
        </p:nvSpPr>
        <p:spPr>
          <a:xfrm>
            <a:off x="1572768" y="1664208"/>
            <a:ext cx="9829800" cy="841248"/>
          </a:xfrm>
          <a:prstGeom prst="rect">
            <a:avLst/>
          </a:prstGeom>
          <a:noFill/>
          <a:ln/>
        </p:spPr>
        <p:txBody>
          <a:bodyPr wrap="square" lIns="0" tIns="0" rIns="0" bIns="0" rtlCol="0" anchor="ctr"/>
          <a:lstStyle/>
          <a:p>
            <a:pPr indent="0" marL="0">
              <a:lnSpc>
                <a:spcPct val="104000"/>
              </a:lnSpc>
              <a:buNone/>
            </a:pPr>
            <a:r>
              <a:rPr lang="en-US" sz="1500" dirty="0">
                <a:solidFill>
                  <a:srgbClr val="1E2A36"/>
                </a:solidFill>
                <a:latin typeface="Calibri" pitchFamily="34" charset="0"/>
                <a:ea typeface="Calibri" pitchFamily="34" charset="-122"/>
                <a:cs typeface="Calibri" pitchFamily="34" charset="-120"/>
              </a:rPr>
              <a:t>A platform that invites the world to help defend someone facing a serious legal problem — pooling volunteer expertise, research, funding, and documents around their case.</a:t>
            </a:r>
            <a:endParaRPr lang="en-US" sz="1500" dirty="0"/>
          </a:p>
        </p:txBody>
      </p:sp>
      <p:sp>
        <p:nvSpPr>
          <p:cNvPr id="9" name="Shape 6"/>
          <p:cNvSpPr/>
          <p:nvPr/>
        </p:nvSpPr>
        <p:spPr>
          <a:xfrm>
            <a:off x="548640" y="2670048"/>
            <a:ext cx="11064240" cy="1874520"/>
          </a:xfrm>
          <a:prstGeom prst="roundRect">
            <a:avLst>
              <a:gd name="adj" fmla="val 4390"/>
            </a:avLst>
          </a:prstGeom>
          <a:solidFill>
            <a:srgbClr val="F2F6F8"/>
          </a:solidFill>
          <a:ln/>
          <a:effectLst>
            <a:outerShdw sx="100000" sy="100000" kx="0" ky="0" algn="bl" rotWithShape="0" blurRad="88900" dist="38100" dir="5400000">
              <a:srgbClr val="000000">
                <a:alpha val="13000"/>
              </a:srgbClr>
            </a:outerShdw>
          </a:effectLst>
        </p:spPr>
      </p:sp>
      <p:sp>
        <p:nvSpPr>
          <p:cNvPr id="10" name="Text 7"/>
          <p:cNvSpPr/>
          <p:nvPr/>
        </p:nvSpPr>
        <p:spPr>
          <a:xfrm>
            <a:off x="822960" y="2779776"/>
            <a:ext cx="10515600" cy="365760"/>
          </a:xfrm>
          <a:prstGeom prst="rect">
            <a:avLst/>
          </a:prstGeom>
          <a:noFill/>
          <a:ln/>
        </p:spPr>
        <p:txBody>
          <a:bodyPr wrap="square" lIns="0" tIns="0" rIns="0" bIns="0" rtlCol="0" anchor="ctr"/>
          <a:lstStyle/>
          <a:p>
            <a:pPr indent="0" marL="0">
              <a:buNone/>
            </a:pPr>
            <a:r>
              <a:rPr lang="en-US" sz="1550" b="1" dirty="0">
                <a:solidFill>
                  <a:srgbClr val="1E2A36"/>
                </a:solidFill>
                <a:latin typeface="Calibri" pitchFamily="34" charset="0"/>
                <a:ea typeface="Calibri" pitchFamily="34" charset="-122"/>
                <a:cs typeface="Calibri" pitchFamily="34" charset="-120"/>
              </a:rPr>
              <a:t>What it would take to build:</a:t>
            </a:r>
            <a:endParaRPr lang="en-US" sz="1550" dirty="0"/>
          </a:p>
        </p:txBody>
      </p:sp>
      <p:sp>
        <p:nvSpPr>
          <p:cNvPr id="11" name="Text 8"/>
          <p:cNvSpPr/>
          <p:nvPr/>
        </p:nvSpPr>
        <p:spPr>
          <a:xfrm>
            <a:off x="914400" y="3200400"/>
            <a:ext cx="5120640" cy="1280160"/>
          </a:xfrm>
          <a:prstGeom prst="rect">
            <a:avLst/>
          </a:prstGeom>
          <a:noFill/>
          <a:ln/>
        </p:spPr>
        <p:txBody>
          <a:bodyPr wrap="square" lIns="0" tIns="0" rIns="0" bIns="0" rtlCol="0" anchor="t"/>
          <a:lstStyle/>
          <a:p>
            <a:pPr marL="177800" indent="-177800">
              <a:spcAft>
                <a:spcPts val="600"/>
              </a:spcAft>
              <a:buSzPct val="100000"/>
              <a:buChar char="•"/>
            </a:pPr>
            <a:r>
              <a:rPr lang="en-US" sz="1450" dirty="0">
                <a:solidFill>
                  <a:srgbClr val="1E2A36"/>
                </a:solidFill>
                <a:latin typeface="Calibri" pitchFamily="34" charset="0"/>
                <a:ea typeface="Calibri" pitchFamily="34" charset="-122"/>
                <a:cs typeface="Calibri" pitchFamily="34" charset="-120"/>
              </a:rPr>
              <a:t>Structured case intake &amp; representation</a:t>
            </a:r>
            <a:endParaRPr lang="en-US" sz="1450" dirty="0"/>
          </a:p>
          <a:p>
            <a:pPr marL="177800" indent="-177800">
              <a:spcAft>
                <a:spcPts val="600"/>
              </a:spcAft>
              <a:buSzPct val="100000"/>
              <a:buChar char="•"/>
            </a:pPr>
            <a:r>
              <a:rPr lang="en-US" sz="1450" dirty="0">
                <a:solidFill>
                  <a:srgbClr val="1E2A36"/>
                </a:solidFill>
                <a:latin typeface="Calibri" pitchFamily="34" charset="0"/>
                <a:ea typeface="Calibri" pitchFamily="34" charset="-122"/>
                <a:cs typeface="Calibri" pitchFamily="34" charset="-120"/>
              </a:rPr>
              <a:t>AI-assisted legal research &amp; guidance</a:t>
            </a:r>
            <a:endParaRPr lang="en-US" sz="1450" dirty="0"/>
          </a:p>
          <a:p>
            <a:pPr marL="177800" indent="-177800">
              <a:buSzPct val="100000"/>
              <a:buChar char="•"/>
            </a:pPr>
            <a:r>
              <a:rPr lang="en-US" sz="1450" dirty="0">
                <a:solidFill>
                  <a:srgbClr val="1E2A36"/>
                </a:solidFill>
                <a:latin typeface="Calibri" pitchFamily="34" charset="0"/>
                <a:ea typeface="Calibri" pitchFamily="34" charset="-122"/>
                <a:cs typeface="Calibri" pitchFamily="34" charset="-120"/>
              </a:rPr>
              <a:t>Crowd-sourced pro-bono research</a:t>
            </a:r>
            <a:endParaRPr lang="en-US" sz="1450" dirty="0"/>
          </a:p>
        </p:txBody>
      </p:sp>
      <p:sp>
        <p:nvSpPr>
          <p:cNvPr id="12" name="Text 9"/>
          <p:cNvSpPr/>
          <p:nvPr/>
        </p:nvSpPr>
        <p:spPr>
          <a:xfrm>
            <a:off x="6309360" y="3200400"/>
            <a:ext cx="5212080" cy="1280160"/>
          </a:xfrm>
          <a:prstGeom prst="rect">
            <a:avLst/>
          </a:prstGeom>
          <a:noFill/>
          <a:ln/>
        </p:spPr>
        <p:txBody>
          <a:bodyPr wrap="square" lIns="0" tIns="0" rIns="0" bIns="0" rtlCol="0" anchor="t"/>
          <a:lstStyle/>
          <a:p>
            <a:pPr marL="177800" indent="-177800">
              <a:spcAft>
                <a:spcPts val="600"/>
              </a:spcAft>
              <a:buSzPct val="100000"/>
              <a:buChar char="•"/>
            </a:pPr>
            <a:r>
              <a:rPr lang="en-US" sz="1450" dirty="0">
                <a:solidFill>
                  <a:srgbClr val="1E2A36"/>
                </a:solidFill>
                <a:latin typeface="Calibri" pitchFamily="34" charset="0"/>
                <a:ea typeface="Calibri" pitchFamily="34" charset="-122"/>
                <a:cs typeface="Calibri" pitchFamily="34" charset="-120"/>
              </a:rPr>
              <a:t>Crowd funding &amp; payments</a:t>
            </a:r>
            <a:endParaRPr lang="en-US" sz="1450" dirty="0"/>
          </a:p>
          <a:p>
            <a:pPr marL="177800" indent="-177800">
              <a:spcAft>
                <a:spcPts val="600"/>
              </a:spcAft>
              <a:buSzPct val="100000"/>
              <a:buChar char="•"/>
            </a:pPr>
            <a:r>
              <a:rPr lang="en-US" sz="1450" dirty="0">
                <a:solidFill>
                  <a:srgbClr val="1E2A36"/>
                </a:solidFill>
                <a:latin typeface="Calibri" pitchFamily="34" charset="0"/>
                <a:ea typeface="Calibri" pitchFamily="34" charset="-122"/>
                <a:cs typeface="Calibri" pitchFamily="34" charset="-120"/>
              </a:rPr>
              <a:t>Case document management</a:t>
            </a:r>
            <a:endParaRPr lang="en-US" sz="1450" dirty="0"/>
          </a:p>
          <a:p>
            <a:pPr marL="177800" indent="-177800">
              <a:buSzPct val="100000"/>
              <a:buChar char="•"/>
            </a:pPr>
            <a:r>
              <a:rPr lang="en-US" sz="1450" dirty="0">
                <a:solidFill>
                  <a:srgbClr val="1E2A36"/>
                </a:solidFill>
                <a:latin typeface="Calibri" pitchFamily="34" charset="0"/>
                <a:ea typeface="Calibri" pitchFamily="34" charset="-122"/>
                <a:cs typeface="Calibri" pitchFamily="34" charset="-120"/>
              </a:rPr>
              <a:t>Court-system integration (filings, data)</a:t>
            </a:r>
            <a:endParaRPr lang="en-US" sz="1450" dirty="0"/>
          </a:p>
        </p:txBody>
      </p:sp>
      <p:sp>
        <p:nvSpPr>
          <p:cNvPr id="13" name="Text 10"/>
          <p:cNvSpPr/>
          <p:nvPr/>
        </p:nvSpPr>
        <p:spPr>
          <a:xfrm>
            <a:off x="914400" y="4160520"/>
            <a:ext cx="10424160" cy="365760"/>
          </a:xfrm>
          <a:prstGeom prst="rect">
            <a:avLst/>
          </a:prstGeom>
          <a:noFill/>
          <a:ln/>
        </p:spPr>
        <p:txBody>
          <a:bodyPr wrap="square" lIns="0" tIns="0" rIns="0" bIns="0" rtlCol="0" anchor="ctr"/>
          <a:lstStyle/>
          <a:p>
            <a:pPr indent="0" marL="0">
              <a:buNone/>
            </a:pPr>
            <a:r>
              <a:rPr lang="en-US" sz="1300" i="1" dirty="0">
                <a:solidFill>
                  <a:srgbClr val="5F7284"/>
                </a:solidFill>
                <a:latin typeface="Calibri" pitchFamily="34" charset="0"/>
                <a:ea typeface="Calibri" pitchFamily="34" charset="-122"/>
                <a:cs typeface="Calibri" pitchFamily="34" charset="-120"/>
              </a:rPr>
              <a:t>— on top of a data platform, services, UX, and legal / accessibility compliance. Every one is a project on its own.</a:t>
            </a:r>
            <a:endParaRPr lang="en-US" sz="1300" dirty="0"/>
          </a:p>
        </p:txBody>
      </p:sp>
      <p:sp>
        <p:nvSpPr>
          <p:cNvPr id="14" name="Shape 11"/>
          <p:cNvSpPr/>
          <p:nvPr/>
        </p:nvSpPr>
        <p:spPr>
          <a:xfrm>
            <a:off x="548640" y="4681728"/>
            <a:ext cx="3511296"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15" name="Text 12"/>
          <p:cNvSpPr/>
          <p:nvPr/>
        </p:nvSpPr>
        <p:spPr>
          <a:xfrm>
            <a:off x="768096" y="4681728"/>
            <a:ext cx="1554480" cy="749808"/>
          </a:xfrm>
          <a:prstGeom prst="rect">
            <a:avLst/>
          </a:prstGeom>
          <a:noFill/>
          <a:ln/>
        </p:spPr>
        <p:txBody>
          <a:bodyPr wrap="square" lIns="0" tIns="0" rIns="0" bIns="0" rtlCol="0" anchor="ctr"/>
          <a:lstStyle/>
          <a:p>
            <a:pPr indent="0" marL="0">
              <a:buNone/>
            </a:pPr>
            <a:r>
              <a:rPr lang="en-US" sz="1450" b="1" dirty="0">
                <a:solidFill>
                  <a:srgbClr val="5F7284"/>
                </a:solidFill>
                <a:latin typeface="Calibri" pitchFamily="34" charset="0"/>
                <a:ea typeface="Calibri" pitchFamily="34" charset="-122"/>
                <a:cs typeface="Calibri" pitchFamily="34" charset="-120"/>
              </a:rPr>
              <a:t>Value:</a:t>
            </a:r>
            <a:endParaRPr lang="en-US" sz="1450" dirty="0"/>
          </a:p>
        </p:txBody>
      </p:sp>
      <p:sp>
        <p:nvSpPr>
          <p:cNvPr id="16" name="click-1"/>
          <p:cNvSpPr/>
          <p:nvPr/>
        </p:nvSpPr>
        <p:spPr>
          <a:xfrm>
            <a:off x="2103120" y="4681728"/>
            <a:ext cx="1773936" cy="749808"/>
          </a:xfrm>
          <a:prstGeom prst="rect">
            <a:avLst/>
          </a:prstGeom>
          <a:noFill/>
          <a:ln/>
        </p:spPr>
        <p:txBody>
          <a:bodyPr wrap="square" lIns="0" tIns="0" rIns="0" bIns="0" rtlCol="0" anchor="ctr"/>
          <a:lstStyle/>
          <a:p>
            <a:pPr algn="r" indent="0" marL="0">
              <a:buNone/>
            </a:pPr>
            <a:r>
              <a:rPr lang="en-US" sz="2000" b="1" dirty="0">
                <a:solidFill>
                  <a:srgbClr val="3E9C6B"/>
                </a:solidFill>
                <a:latin typeface="Cambria" pitchFamily="34" charset="0"/>
                <a:ea typeface="Cambria" pitchFamily="34" charset="-122"/>
                <a:cs typeface="Cambria" pitchFamily="34" charset="-120"/>
              </a:rPr>
              <a:t>HIGH</a:t>
            </a:r>
            <a:endParaRPr lang="en-US" sz="2000" dirty="0"/>
          </a:p>
        </p:txBody>
      </p:sp>
      <p:sp>
        <p:nvSpPr>
          <p:cNvPr id="17" name="Shape 14"/>
          <p:cNvSpPr/>
          <p:nvPr/>
        </p:nvSpPr>
        <p:spPr>
          <a:xfrm>
            <a:off x="4233672" y="4681728"/>
            <a:ext cx="3511296"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18" name="Text 15"/>
          <p:cNvSpPr/>
          <p:nvPr/>
        </p:nvSpPr>
        <p:spPr>
          <a:xfrm>
            <a:off x="4453128" y="4681728"/>
            <a:ext cx="1554480" cy="749808"/>
          </a:xfrm>
          <a:prstGeom prst="rect">
            <a:avLst/>
          </a:prstGeom>
          <a:noFill/>
          <a:ln/>
        </p:spPr>
        <p:txBody>
          <a:bodyPr wrap="square" lIns="0" tIns="0" rIns="0" bIns="0" rtlCol="0" anchor="ctr"/>
          <a:lstStyle/>
          <a:p>
            <a:pPr indent="0" marL="0">
              <a:buNone/>
            </a:pPr>
            <a:r>
              <a:rPr lang="en-US" sz="1450" b="1" dirty="0">
                <a:solidFill>
                  <a:srgbClr val="5F7284"/>
                </a:solidFill>
                <a:latin typeface="Calibri" pitchFamily="34" charset="0"/>
                <a:ea typeface="Calibri" pitchFamily="34" charset="-122"/>
                <a:cs typeface="Calibri" pitchFamily="34" charset="-120"/>
              </a:rPr>
              <a:t>Do-ability:</a:t>
            </a:r>
            <a:endParaRPr lang="en-US" sz="1450" dirty="0"/>
          </a:p>
        </p:txBody>
      </p:sp>
      <p:sp>
        <p:nvSpPr>
          <p:cNvPr id="19" name="click-2"/>
          <p:cNvSpPr/>
          <p:nvPr/>
        </p:nvSpPr>
        <p:spPr>
          <a:xfrm>
            <a:off x="5788152" y="4681728"/>
            <a:ext cx="1773936" cy="749808"/>
          </a:xfrm>
          <a:prstGeom prst="rect">
            <a:avLst/>
          </a:prstGeom>
          <a:noFill/>
          <a:ln/>
        </p:spPr>
        <p:txBody>
          <a:bodyPr wrap="square" lIns="0" tIns="0" rIns="0" bIns="0" rtlCol="0" anchor="ctr"/>
          <a:lstStyle/>
          <a:p>
            <a:pPr algn="r" indent="0" marL="0">
              <a:buNone/>
            </a:pPr>
            <a:r>
              <a:rPr lang="en-US" sz="2000" b="1" dirty="0">
                <a:solidFill>
                  <a:srgbClr val="D9614C"/>
                </a:solidFill>
                <a:latin typeface="Cambria" pitchFamily="34" charset="0"/>
                <a:ea typeface="Cambria" pitchFamily="34" charset="-122"/>
                <a:cs typeface="Cambria" pitchFamily="34" charset="-120"/>
              </a:rPr>
              <a:t>LOW</a:t>
            </a:r>
            <a:endParaRPr lang="en-US" sz="2000" dirty="0"/>
          </a:p>
        </p:txBody>
      </p:sp>
      <p:sp>
        <p:nvSpPr>
          <p:cNvPr id="20" name="Shape 17"/>
          <p:cNvSpPr/>
          <p:nvPr/>
        </p:nvSpPr>
        <p:spPr>
          <a:xfrm>
            <a:off x="7918704" y="4681728"/>
            <a:ext cx="3511296"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21" name="Text 18"/>
          <p:cNvSpPr/>
          <p:nvPr/>
        </p:nvSpPr>
        <p:spPr>
          <a:xfrm>
            <a:off x="8138160" y="4681728"/>
            <a:ext cx="1554480" cy="749808"/>
          </a:xfrm>
          <a:prstGeom prst="rect">
            <a:avLst/>
          </a:prstGeom>
          <a:noFill/>
          <a:ln/>
        </p:spPr>
        <p:txBody>
          <a:bodyPr wrap="square" lIns="0" tIns="0" rIns="0" bIns="0" rtlCol="0" anchor="ctr"/>
          <a:lstStyle/>
          <a:p>
            <a:pPr indent="0" marL="0">
              <a:buNone/>
            </a:pPr>
            <a:r>
              <a:rPr lang="en-US" sz="1450" b="1" dirty="0">
                <a:solidFill>
                  <a:srgbClr val="5F7284"/>
                </a:solidFill>
                <a:latin typeface="Calibri" pitchFamily="34" charset="0"/>
                <a:ea typeface="Calibri" pitchFamily="34" charset="-122"/>
                <a:cs typeface="Calibri" pitchFamily="34" charset="-120"/>
              </a:rPr>
              <a:t>Richness:</a:t>
            </a:r>
            <a:endParaRPr lang="en-US" sz="1450" dirty="0"/>
          </a:p>
        </p:txBody>
      </p:sp>
      <p:sp>
        <p:nvSpPr>
          <p:cNvPr id="22" name="click-3"/>
          <p:cNvSpPr/>
          <p:nvPr/>
        </p:nvSpPr>
        <p:spPr>
          <a:xfrm>
            <a:off x="9473184" y="4681728"/>
            <a:ext cx="1773936" cy="749808"/>
          </a:xfrm>
          <a:prstGeom prst="rect">
            <a:avLst/>
          </a:prstGeom>
          <a:noFill/>
          <a:ln/>
        </p:spPr>
        <p:txBody>
          <a:bodyPr wrap="square" lIns="0" tIns="0" rIns="0" bIns="0" rtlCol="0" anchor="ctr"/>
          <a:lstStyle/>
          <a:p>
            <a:pPr algn="r" indent="0" marL="0">
              <a:buNone/>
            </a:pPr>
            <a:r>
              <a:rPr lang="en-US" sz="2000" b="1" dirty="0">
                <a:solidFill>
                  <a:srgbClr val="12908F"/>
                </a:solidFill>
                <a:latin typeface="Cambria" pitchFamily="34" charset="0"/>
                <a:ea typeface="Cambria" pitchFamily="34" charset="-122"/>
                <a:cs typeface="Cambria" pitchFamily="34" charset="-120"/>
              </a:rPr>
              <a:t>VERY HIGH</a:t>
            </a:r>
            <a:endParaRPr lang="en-US" sz="2000" dirty="0"/>
          </a:p>
        </p:txBody>
      </p:sp>
      <p:sp>
        <p:nvSpPr>
          <p:cNvPr id="23" name="click-4"/>
          <p:cNvSpPr/>
          <p:nvPr/>
        </p:nvSpPr>
        <p:spPr>
          <a:xfrm>
            <a:off x="548640" y="5541264"/>
            <a:ext cx="11064240" cy="658368"/>
          </a:xfrm>
          <a:prstGeom prst="roundRect">
            <a:avLst>
              <a:gd name="adj" fmla="val 12500"/>
            </a:avLst>
          </a:prstGeom>
          <a:solidFill>
            <a:srgbClr val="14233A"/>
          </a:solidFill>
          <a:ln/>
          <a:effectLst>
            <a:outerShdw sx="100000" sy="100000" kx="0" ky="0" algn="bl" rotWithShape="0" blurRad="88900" dist="38100" dir="5400000">
              <a:srgbClr val="000000">
                <a:alpha val="13000"/>
              </a:srgbClr>
            </a:outerShdw>
          </a:effectLst>
        </p:spPr>
      </p:sp>
      <p:sp>
        <p:nvSpPr>
          <p:cNvPr id="24" name="click-4"/>
          <p:cNvSpPr/>
          <p:nvPr/>
        </p:nvSpPr>
        <p:spPr>
          <a:xfrm>
            <a:off x="822960" y="5660136"/>
            <a:ext cx="420624" cy="420624"/>
          </a:xfrm>
          <a:prstGeom prst="ellipse">
            <a:avLst/>
          </a:prstGeom>
          <a:solidFill>
            <a:srgbClr val="E8A33D"/>
          </a:solidFill>
          <a:ln/>
        </p:spPr>
      </p:sp>
      <p:pic>
        <p:nvPicPr>
          <p:cNvPr id="25" name="click-4" descr="preencoded.png">    </p:cNvPr>
          <p:cNvPicPr>
            <a:picLocks noChangeAspect="1"/>
          </p:cNvPicPr>
          <p:nvPr/>
        </p:nvPicPr>
        <p:blipFill>
          <a:blip r:embed="rId2"/>
          <a:stretch>
            <a:fillRect/>
          </a:stretch>
        </p:blipFill>
        <p:spPr>
          <a:xfrm>
            <a:off x="936528" y="5773704"/>
            <a:ext cx="193487" cy="193487"/>
          </a:xfrm>
          <a:prstGeom prst="rect">
            <a:avLst/>
          </a:prstGeom>
        </p:spPr>
      </p:pic>
      <p:sp>
        <p:nvSpPr>
          <p:cNvPr id="26" name="click-4"/>
          <p:cNvSpPr/>
          <p:nvPr/>
        </p:nvSpPr>
        <p:spPr>
          <a:xfrm>
            <a:off x="1417320" y="5541264"/>
            <a:ext cx="9966960" cy="658368"/>
          </a:xfrm>
          <a:prstGeom prst="rect">
            <a:avLst/>
          </a:prstGeom>
          <a:noFill/>
          <a:ln/>
        </p:spPr>
        <p:txBody>
          <a:bodyPr wrap="square" lIns="0" tIns="0" rIns="0" bIns="0" rtlCol="0" anchor="ctr"/>
          <a:lstStyle/>
          <a:p>
            <a:pPr indent="0" marL="0">
              <a:buNone/>
            </a:pPr>
            <a:r>
              <a:rPr lang="en-US" sz="1550" b="1" dirty="0">
                <a:solidFill>
                  <a:srgbClr val="E8A33D"/>
                </a:solidFill>
                <a:latin typeface="Calibri" pitchFamily="34" charset="0"/>
                <a:ea typeface="Calibri" pitchFamily="34" charset="-122"/>
                <a:cs typeface="Calibri" pitchFamily="34" charset="-120"/>
              </a:rPr>
              <a:t>Plots top-left — high value, low do-ability.  </a:t>
            </a:r>
            <a:pPr indent="0" marL="0">
              <a:buNone/>
            </a:pPr>
            <a:r>
              <a:rPr lang="en-US" sz="1550" dirty="0">
                <a:solidFill>
                  <a:srgbClr val="FFFFFF"/>
                </a:solidFill>
                <a:latin typeface="Calibri" pitchFamily="34" charset="0"/>
                <a:ea typeface="Calibri" pitchFamily="34" charset="-122"/>
                <a:cs typeface="Calibri" pitchFamily="34" charset="-120"/>
              </a:rPr>
              <a:t>Don't drop it. Narrow it.</a:t>
            </a:r>
            <a:endParaRPr lang="en-US" sz="1550" dirty="0"/>
          </a:p>
        </p:txBody>
      </p:sp>
      <p:sp>
        <p:nvSpPr>
          <p:cNvPr id="27" name="Text 23"/>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6 · Convergence Workshop</a:t>
            </a:r>
            <a:endParaRPr lang="en-US" sz="1000" dirty="0"/>
          </a:p>
        </p:txBody>
      </p:sp>
      <p:sp>
        <p:nvSpPr>
          <p:cNvPr id="28" name="Text 2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9</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10" presetID="1" presetClass="entr" presetSubtype="0" fill="hold" grpId="0" nodeType="clickEffect">
                                  <p:stCondLst>
                                    <p:cond delay="0"/>
                                  </p:stCondLst>
                                  <p:childTnLst>
                                    <p:set>
                                      <p:cBhvr>
                                        <p:cTn id="9"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4" presetID="1" presetClass="entr" presetSubtype="0" fill="hold" grpId="0" nodeType="clickEffect">
                                  <p:stCondLst>
                                    <p:cond delay="0"/>
                                  </p:stCondLst>
                                  <p:childTnLst>
                                    <p:set>
                                      <p:cBhvr>
                                        <p:cTn id="13"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8" presetID="1" presetClass="entr" presetSubtype="0" fill="hold" grpId="0" nodeType="clickEffect">
                                  <p:stCondLst>
                                    <p:cond delay="0"/>
                                  </p:stCondLst>
                                  <p:childTnLst>
                                    <p:set>
                                      <p:cBhvr>
                                        <p:cTn id="17" dur="1" fill="hold">
                                          <p:stCondLst>
                                            <p:cond delay="0"/>
                                          </p:stCondLst>
                                        </p:cTn>
                                        <p:tgtEl>
                                          <p:spTgt spid="23"/>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childTnLst>
                                </p:cTn>
                              </p:par>
                              <p:par>
                                <p:cTn id="22" presetID="1" presetClass="entr" presetSubtype="0" fill="hold" nodeType="withEffect">
                                  <p:stCondLst>
                                    <p:cond delay="0"/>
                                  </p:stCondLst>
                                  <p:childTnLst>
                                    <p:set>
                                      <p:cBhvr>
                                        <p:cTn id="21" dur="1" fill="hold">
                                          <p:stCondLst>
                                            <p:cond delay="0"/>
                                          </p:stCondLst>
                                        </p:cTn>
                                        <p:tgtEl>
                                          <p:spTgt spid="25"/>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3"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9" grpId="0" animBg="1"/>
      <p:bldP spid="22" grpId="0" animBg="1"/>
      <p:bldP spid="23" grpId="0" animBg="1"/>
      <p:bldP spid="24" grpId="0" animBg="1"/>
      <p:bldP spid="2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CALIBRATION · THE MOVE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Narrow the rich idea to a slice you can ship</a:t>
            </a:r>
            <a:endParaRPr lang="en-US" sz="3100" dirty="0"/>
          </a:p>
        </p:txBody>
      </p:sp>
      <p:sp>
        <p:nvSpPr>
          <p:cNvPr id="5" name="Shape 3"/>
          <p:cNvSpPr/>
          <p:nvPr/>
        </p:nvSpPr>
        <p:spPr>
          <a:xfrm>
            <a:off x="548640" y="1810512"/>
            <a:ext cx="5440680" cy="3429000"/>
          </a:xfrm>
          <a:prstGeom prst="roundRect">
            <a:avLst>
              <a:gd name="adj" fmla="val 2400"/>
            </a:avLst>
          </a:prstGeom>
          <a:solidFill>
            <a:srgbClr val="EAF4EE"/>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084832"/>
            <a:ext cx="566928" cy="566928"/>
          </a:xfrm>
          <a:prstGeom prst="ellipse">
            <a:avLst/>
          </a:prstGeom>
          <a:solidFill>
            <a:srgbClr val="3E9C6B"/>
          </a:solidFill>
          <a:ln/>
        </p:spPr>
      </p:sp>
      <p:pic>
        <p:nvPicPr>
          <p:cNvPr id="7" name="Image 0" descr="preencoded.png">    </p:cNvPr>
          <p:cNvPicPr>
            <a:picLocks noChangeAspect="1"/>
          </p:cNvPicPr>
          <p:nvPr/>
        </p:nvPicPr>
        <p:blipFill>
          <a:blip r:embed="rId1"/>
          <a:stretch>
            <a:fillRect/>
          </a:stretch>
        </p:blipFill>
        <p:spPr>
          <a:xfrm>
            <a:off x="976031" y="2237903"/>
            <a:ext cx="260787" cy="260787"/>
          </a:xfrm>
          <a:prstGeom prst="rect">
            <a:avLst/>
          </a:prstGeom>
        </p:spPr>
      </p:pic>
      <p:sp>
        <p:nvSpPr>
          <p:cNvPr id="8" name="Text 5"/>
          <p:cNvSpPr/>
          <p:nvPr/>
        </p:nvSpPr>
        <p:spPr>
          <a:xfrm>
            <a:off x="1517904" y="2121408"/>
            <a:ext cx="4297680" cy="502920"/>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The v1 slice — one semester</a:t>
            </a:r>
            <a:endParaRPr lang="en-US" sz="1800" dirty="0"/>
          </a:p>
        </p:txBody>
      </p:sp>
      <p:sp>
        <p:nvSpPr>
          <p:cNvPr id="9" name="Text 6"/>
          <p:cNvSpPr/>
          <p:nvPr/>
        </p:nvSpPr>
        <p:spPr>
          <a:xfrm>
            <a:off x="896112" y="2880360"/>
            <a:ext cx="4892040" cy="2194560"/>
          </a:xfrm>
          <a:prstGeom prst="rect">
            <a:avLst/>
          </a:prstGeom>
          <a:noFill/>
          <a:ln/>
        </p:spPr>
        <p:txBody>
          <a:bodyPr wrap="square" lIns="0" tIns="0" rIns="0" bIns="0" rtlCol="0" anchor="t"/>
          <a:lstStyle/>
          <a:p>
            <a:pPr indent="0" marL="0">
              <a:lnSpc>
                <a:spcPct val="108000"/>
              </a:lnSpc>
              <a:buNone/>
            </a:pPr>
            <a:r>
              <a:rPr lang="en-US" sz="1550" dirty="0">
                <a:solidFill>
                  <a:srgbClr val="1E2A36"/>
                </a:solidFill>
                <a:latin typeface="Calibri" pitchFamily="34" charset="0"/>
                <a:ea typeface="Calibri" pitchFamily="34" charset="-122"/>
                <a:cs typeface="Calibri" pitchFamily="34" charset="-120"/>
              </a:rPr>
              <a:t>A structured intake + document-assembly tool for one low-stakes case type (small-claims self-filing), with a queue where a volunteer reviews a submission.</a:t>
            </a:r>
            <a:endParaRPr lang="en-US" sz="1550" dirty="0"/>
          </a:p>
        </p:txBody>
      </p:sp>
      <p:sp>
        <p:nvSpPr>
          <p:cNvPr id="10" name="Shape 7"/>
          <p:cNvSpPr/>
          <p:nvPr/>
        </p:nvSpPr>
        <p:spPr>
          <a:xfrm>
            <a:off x="6172200" y="1810512"/>
            <a:ext cx="5440680" cy="3429000"/>
          </a:xfrm>
          <a:prstGeom prst="roundRect">
            <a:avLst>
              <a:gd name="adj" fmla="val 2400"/>
            </a:avLst>
          </a:prstGeom>
          <a:solidFill>
            <a:srgbClr val="14233A"/>
          </a:solidFill>
          <a:ln/>
          <a:effectLst>
            <a:outerShdw sx="100000" sy="100000" kx="0" ky="0" algn="bl" rotWithShape="0" blurRad="88900" dist="38100" dir="5400000">
              <a:srgbClr val="000000">
                <a:alpha val="13000"/>
              </a:srgbClr>
            </a:outerShdw>
          </a:effectLst>
        </p:spPr>
      </p:sp>
      <p:sp>
        <p:nvSpPr>
          <p:cNvPr id="11" name="Shape 8"/>
          <p:cNvSpPr/>
          <p:nvPr/>
        </p:nvSpPr>
        <p:spPr>
          <a:xfrm>
            <a:off x="6446520" y="2084832"/>
            <a:ext cx="566928" cy="566928"/>
          </a:xfrm>
          <a:prstGeom prst="ellipse">
            <a:avLst/>
          </a:prstGeom>
          <a:solidFill>
            <a:srgbClr val="E8A33D"/>
          </a:solidFill>
          <a:ln/>
        </p:spPr>
      </p:sp>
      <p:pic>
        <p:nvPicPr>
          <p:cNvPr id="12" name="Image 1" descr="preencoded.png">    </p:cNvPr>
          <p:cNvPicPr>
            <a:picLocks noChangeAspect="1"/>
          </p:cNvPicPr>
          <p:nvPr/>
        </p:nvPicPr>
        <p:blipFill>
          <a:blip r:embed="rId2"/>
          <a:stretch>
            <a:fillRect/>
          </a:stretch>
        </p:blipFill>
        <p:spPr>
          <a:xfrm>
            <a:off x="6599591" y="2237903"/>
            <a:ext cx="260787" cy="260787"/>
          </a:xfrm>
          <a:prstGeom prst="rect">
            <a:avLst/>
          </a:prstGeom>
        </p:spPr>
      </p:pic>
      <p:sp>
        <p:nvSpPr>
          <p:cNvPr id="13" name="Text 9"/>
          <p:cNvSpPr/>
          <p:nvPr/>
        </p:nvSpPr>
        <p:spPr>
          <a:xfrm>
            <a:off x="7141464" y="2121408"/>
            <a:ext cx="429768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Deferred → contributor work</a:t>
            </a:r>
            <a:endParaRPr lang="en-US" sz="1800" dirty="0"/>
          </a:p>
        </p:txBody>
      </p:sp>
      <p:sp>
        <p:nvSpPr>
          <p:cNvPr id="14" name="Text 10"/>
          <p:cNvSpPr/>
          <p:nvPr/>
        </p:nvSpPr>
        <p:spPr>
          <a:xfrm>
            <a:off x="6519672" y="2880360"/>
            <a:ext cx="4892040" cy="2194560"/>
          </a:xfrm>
          <a:prstGeom prst="rect">
            <a:avLst/>
          </a:prstGeom>
          <a:noFill/>
          <a:ln/>
        </p:spPr>
        <p:txBody>
          <a:bodyPr wrap="square" lIns="0" tIns="0" rIns="0" bIns="0" rtlCol="0" anchor="t"/>
          <a:lstStyle/>
          <a:p>
            <a:pPr indent="0" marL="0">
              <a:lnSpc>
                <a:spcPct val="108000"/>
              </a:lnSpc>
              <a:buNone/>
            </a:pPr>
            <a:r>
              <a:rPr lang="en-US" sz="1550" dirty="0">
                <a:solidFill>
                  <a:srgbClr val="CFE0E9"/>
                </a:solidFill>
                <a:latin typeface="Calibri" pitchFamily="34" charset="0"/>
                <a:ea typeface="Calibri" pitchFamily="34" charset="-122"/>
                <a:cs typeface="Calibri" pitchFamily="34" charset="-120"/>
              </a:rPr>
              <a:t>AI guidance · crowd funding · more case types · court integration — the obvious, valuable next work you leave for the people who join.</a:t>
            </a:r>
            <a:endParaRPr lang="en-US" sz="1550" dirty="0"/>
          </a:p>
        </p:txBody>
      </p:sp>
      <p:sp>
        <p:nvSpPr>
          <p:cNvPr id="15" name="Shape 11"/>
          <p:cNvSpPr/>
          <p:nvPr/>
        </p:nvSpPr>
        <p:spPr>
          <a:xfrm>
            <a:off x="548640" y="5394960"/>
            <a:ext cx="11064240" cy="786384"/>
          </a:xfrm>
          <a:prstGeom prst="roundRect">
            <a:avLst>
              <a:gd name="adj" fmla="val 10465"/>
            </a:avLst>
          </a:prstGeom>
          <a:solidFill>
            <a:srgbClr val="E8A33D"/>
          </a:solidFill>
          <a:ln/>
          <a:effectLst>
            <a:outerShdw sx="100000" sy="100000" kx="0" ky="0" algn="bl" rotWithShape="0" blurRad="88900" dist="38100" dir="5400000">
              <a:srgbClr val="000000">
                <a:alpha val="13000"/>
              </a:srgbClr>
            </a:outerShdw>
          </a:effectLst>
        </p:spPr>
      </p:sp>
      <p:sp>
        <p:nvSpPr>
          <p:cNvPr id="16" name="Text 12"/>
          <p:cNvSpPr/>
          <p:nvPr/>
        </p:nvSpPr>
        <p:spPr>
          <a:xfrm>
            <a:off x="822960" y="5394960"/>
            <a:ext cx="10515600" cy="786384"/>
          </a:xfrm>
          <a:prstGeom prst="rect">
            <a:avLst/>
          </a:prstGeom>
          <a:noFill/>
          <a:ln/>
        </p:spPr>
        <p:txBody>
          <a:bodyPr wrap="square" lIns="0" tIns="0" rIns="0" bIns="0" rtlCol="0" anchor="ctr"/>
          <a:lstStyle/>
          <a:p>
            <a:pPr algn="ctr" indent="0" marL="0">
              <a:buNone/>
            </a:pPr>
            <a:r>
              <a:rPr lang="en-US" sz="1550" b="1" dirty="0">
                <a:solidFill>
                  <a:srgbClr val="14233A"/>
                </a:solidFill>
                <a:latin typeface="Calibri" pitchFamily="34" charset="0"/>
                <a:ea typeface="Calibri" pitchFamily="34" charset="-122"/>
                <a:cs typeface="Calibri" pitchFamily="34" charset="-120"/>
              </a:rPr>
              <a:t>That's the sweet spot:  </a:t>
            </a:r>
            <a:pPr algn="ctr" indent="0" marL="0">
              <a:buNone/>
            </a:pPr>
            <a:r>
              <a:rPr lang="en-US" sz="1550" dirty="0">
                <a:solidFill>
                  <a:srgbClr val="14233A"/>
                </a:solidFill>
                <a:latin typeface="Calibri" pitchFamily="34" charset="0"/>
                <a:ea typeface="Calibri" pitchFamily="34" charset="-122"/>
                <a:cs typeface="Calibri" pitchFamily="34" charset="-120"/>
              </a:rPr>
              <a:t>a rich core with a vertical slice you can actually ship — and finishing it leaves real work for others.</a:t>
            </a:r>
            <a:endParaRPr lang="en-US" sz="1550" dirty="0"/>
          </a:p>
        </p:txBody>
      </p:sp>
      <p:sp>
        <p:nvSpPr>
          <p:cNvPr id="17" name="Text 13"/>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6 · Convergence Workshop</a:t>
            </a:r>
            <a:endParaRPr lang="en-US" sz="1000" dirty="0"/>
          </a:p>
        </p:txBody>
      </p:sp>
      <p:sp>
        <p:nvSpPr>
          <p:cNvPr id="18" name="Text 1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WORKSHOP · PART 1</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Now: score your own candidates</a:t>
            </a:r>
            <a:endParaRPr lang="en-US" sz="3100" dirty="0"/>
          </a:p>
        </p:txBody>
      </p:sp>
      <p:sp>
        <p:nvSpPr>
          <p:cNvPr id="5" name="Shape 3"/>
          <p:cNvSpPr/>
          <p:nvPr/>
        </p:nvSpPr>
        <p:spPr>
          <a:xfrm>
            <a:off x="548640" y="1874520"/>
            <a:ext cx="11064240" cy="1371600"/>
          </a:xfrm>
          <a:prstGeom prst="roundRect">
            <a:avLst>
              <a:gd name="adj" fmla="val 6000"/>
            </a:avLst>
          </a:prstGeom>
          <a:solidFill>
            <a:srgbClr val="14233A"/>
          </a:solidFill>
          <a:ln/>
          <a:effectLst>
            <a:outerShdw sx="100000" sy="100000" kx="0" ky="0" algn="bl" rotWithShape="0" blurRad="88900" dist="38100" dir="5400000">
              <a:srgbClr val="000000">
                <a:alpha val="13000"/>
              </a:srgbClr>
            </a:outerShdw>
          </a:effectLst>
        </p:spPr>
      </p:sp>
      <p:sp>
        <p:nvSpPr>
          <p:cNvPr id="6" name="Shape 4"/>
          <p:cNvSpPr/>
          <p:nvPr/>
        </p:nvSpPr>
        <p:spPr>
          <a:xfrm>
            <a:off x="868680" y="2194560"/>
            <a:ext cx="676656" cy="676656"/>
          </a:xfrm>
          <a:prstGeom prst="ellipse">
            <a:avLst/>
          </a:prstGeom>
          <a:solidFill>
            <a:srgbClr val="E8A33D"/>
          </a:solidFill>
          <a:ln/>
        </p:spPr>
      </p:sp>
      <p:pic>
        <p:nvPicPr>
          <p:cNvPr id="7" name="Image 0" descr="preencoded.png">    </p:cNvPr>
          <p:cNvPicPr>
            <a:picLocks noChangeAspect="1"/>
          </p:cNvPicPr>
          <p:nvPr/>
        </p:nvPicPr>
        <p:blipFill>
          <a:blip r:embed="rId1"/>
          <a:stretch>
            <a:fillRect/>
          </a:stretch>
        </p:blipFill>
        <p:spPr>
          <a:xfrm>
            <a:off x="1051377" y="2377257"/>
            <a:ext cx="311262" cy="311262"/>
          </a:xfrm>
          <a:prstGeom prst="rect">
            <a:avLst/>
          </a:prstGeom>
        </p:spPr>
      </p:pic>
      <p:sp>
        <p:nvSpPr>
          <p:cNvPr id="8" name="Text 5"/>
          <p:cNvSpPr/>
          <p:nvPr/>
        </p:nvSpPr>
        <p:spPr>
          <a:xfrm>
            <a:off x="1810512" y="1874520"/>
            <a:ext cx="9601200" cy="1371600"/>
          </a:xfrm>
          <a:prstGeom prst="rect">
            <a:avLst/>
          </a:prstGeom>
          <a:noFill/>
          <a:ln/>
        </p:spPr>
        <p:txBody>
          <a:bodyPr wrap="square" lIns="0" tIns="0" rIns="0" bIns="0" rtlCol="0" anchor="ctr"/>
          <a:lstStyle/>
          <a:p>
            <a:pPr indent="0" marL="0">
              <a:lnSpc>
                <a:spcPct val="106000"/>
              </a:lnSpc>
              <a:buNone/>
            </a:pPr>
            <a:r>
              <a:rPr lang="en-US" sz="1650" dirty="0">
                <a:solidFill>
                  <a:srgbClr val="CFE0E9"/>
                </a:solidFill>
                <a:latin typeface="Calibri" pitchFamily="34" charset="0"/>
                <a:ea typeface="Calibri" pitchFamily="34" charset="-122"/>
                <a:cs typeface="Calibri" pitchFamily="34" charset="-120"/>
              </a:rPr>
              <a:t>You just watched the yardstick run on two candidates. Turn it on your own 2–3 ideas — score them, then plot them.</a:t>
            </a:r>
            <a:endParaRPr lang="en-US" sz="1650" dirty="0"/>
          </a:p>
        </p:txBody>
      </p:sp>
      <p:sp>
        <p:nvSpPr>
          <p:cNvPr id="9" name="Shape 6"/>
          <p:cNvSpPr/>
          <p:nvPr/>
        </p:nvSpPr>
        <p:spPr>
          <a:xfrm>
            <a:off x="548640" y="3429000"/>
            <a:ext cx="5440680" cy="2331720"/>
          </a:xfrm>
          <a:prstGeom prst="roundRect">
            <a:avLst>
              <a:gd name="adj" fmla="val 3529"/>
            </a:avLst>
          </a:prstGeom>
          <a:solidFill>
            <a:srgbClr val="F2F6F8"/>
          </a:solidFill>
          <a:ln/>
          <a:effectLst>
            <a:outerShdw sx="100000" sy="100000" kx="0" ky="0" algn="bl" rotWithShape="0" blurRad="88900" dist="38100" dir="5400000">
              <a:srgbClr val="000000">
                <a:alpha val="13000"/>
              </a:srgbClr>
            </a:outerShdw>
          </a:effectLst>
        </p:spPr>
      </p:sp>
      <p:sp>
        <p:nvSpPr>
          <p:cNvPr id="10" name="Shape 7"/>
          <p:cNvSpPr/>
          <p:nvPr/>
        </p:nvSpPr>
        <p:spPr>
          <a:xfrm>
            <a:off x="822960" y="3703320"/>
            <a:ext cx="548640" cy="548640"/>
          </a:xfrm>
          <a:prstGeom prst="ellipse">
            <a:avLst/>
          </a:prstGeom>
          <a:solidFill>
            <a:srgbClr val="12908F"/>
          </a:solidFill>
          <a:ln/>
        </p:spPr>
      </p:sp>
      <p:pic>
        <p:nvPicPr>
          <p:cNvPr id="11" name="Image 1" descr="preencoded.png">    </p:cNvPr>
          <p:cNvPicPr>
            <a:picLocks noChangeAspect="1"/>
          </p:cNvPicPr>
          <p:nvPr/>
        </p:nvPicPr>
        <p:blipFill>
          <a:blip r:embed="rId2"/>
          <a:stretch>
            <a:fillRect/>
          </a:stretch>
        </p:blipFill>
        <p:spPr>
          <a:xfrm>
            <a:off x="971093" y="3851453"/>
            <a:ext cx="252374" cy="252374"/>
          </a:xfrm>
          <a:prstGeom prst="rect">
            <a:avLst/>
          </a:prstGeom>
        </p:spPr>
      </p:pic>
      <p:sp>
        <p:nvSpPr>
          <p:cNvPr id="12" name="Text 8"/>
          <p:cNvSpPr/>
          <p:nvPr/>
        </p:nvSpPr>
        <p:spPr>
          <a:xfrm>
            <a:off x="1508760" y="3749040"/>
            <a:ext cx="4206240" cy="45720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Score, don't average</a:t>
            </a:r>
            <a:endParaRPr lang="en-US" sz="1700" dirty="0"/>
          </a:p>
        </p:txBody>
      </p:sp>
      <p:sp>
        <p:nvSpPr>
          <p:cNvPr id="13" name="Text 9"/>
          <p:cNvSpPr/>
          <p:nvPr/>
        </p:nvSpPr>
        <p:spPr>
          <a:xfrm>
            <a:off x="896112" y="4434840"/>
            <a:ext cx="4892040" cy="1234440"/>
          </a:xfrm>
          <a:prstGeom prst="rect">
            <a:avLst/>
          </a:prstGeom>
          <a:noFill/>
          <a:ln/>
        </p:spPr>
        <p:txBody>
          <a:bodyPr wrap="square" lIns="0" tIns="0" rIns="0" bIns="0" rtlCol="0" anchor="t"/>
          <a:lstStyle/>
          <a:p>
            <a:pPr indent="0" marL="0">
              <a:lnSpc>
                <a:spcPct val="106000"/>
              </a:lnSpc>
              <a:buNone/>
            </a:pPr>
            <a:r>
              <a:rPr lang="en-US" sz="1450" dirty="0">
                <a:solidFill>
                  <a:srgbClr val="1E2A36"/>
                </a:solidFill>
                <a:latin typeface="Calibri" pitchFamily="34" charset="0"/>
                <a:ea typeface="Calibri" pitchFamily="34" charset="-122"/>
                <a:cs typeface="Calibri" pitchFamily="34" charset="-120"/>
              </a:rPr>
              <a:t>The total is a conversation-starter. A fatal flaw on real need or feasibility outweighs a high score elsewhere.</a:t>
            </a:r>
            <a:endParaRPr lang="en-US" sz="1450" dirty="0"/>
          </a:p>
        </p:txBody>
      </p:sp>
      <p:sp>
        <p:nvSpPr>
          <p:cNvPr id="14" name="Shape 10"/>
          <p:cNvSpPr/>
          <p:nvPr/>
        </p:nvSpPr>
        <p:spPr>
          <a:xfrm>
            <a:off x="6172200" y="3429000"/>
            <a:ext cx="5440680" cy="2331720"/>
          </a:xfrm>
          <a:prstGeom prst="roundRect">
            <a:avLst>
              <a:gd name="adj" fmla="val 3529"/>
            </a:avLst>
          </a:prstGeom>
          <a:solidFill>
            <a:srgbClr val="F2F6F8"/>
          </a:solidFill>
          <a:ln/>
          <a:effectLst>
            <a:outerShdw sx="100000" sy="100000" kx="0" ky="0" algn="bl" rotWithShape="0" blurRad="88900" dist="38100" dir="5400000">
              <a:srgbClr val="000000">
                <a:alpha val="13000"/>
              </a:srgbClr>
            </a:outerShdw>
          </a:effectLst>
        </p:spPr>
      </p:sp>
      <p:sp>
        <p:nvSpPr>
          <p:cNvPr id="15" name="Shape 11"/>
          <p:cNvSpPr/>
          <p:nvPr/>
        </p:nvSpPr>
        <p:spPr>
          <a:xfrm>
            <a:off x="6446520" y="3703320"/>
            <a:ext cx="548640" cy="548640"/>
          </a:xfrm>
          <a:prstGeom prst="ellipse">
            <a:avLst/>
          </a:prstGeom>
          <a:solidFill>
            <a:srgbClr val="12908F"/>
          </a:solidFill>
          <a:ln/>
        </p:spPr>
      </p:sp>
      <p:pic>
        <p:nvPicPr>
          <p:cNvPr id="16" name="Image 2" descr="preencoded.png">    </p:cNvPr>
          <p:cNvPicPr>
            <a:picLocks noChangeAspect="1"/>
          </p:cNvPicPr>
          <p:nvPr/>
        </p:nvPicPr>
        <p:blipFill>
          <a:blip r:embed="rId3"/>
          <a:stretch>
            <a:fillRect/>
          </a:stretch>
        </p:blipFill>
        <p:spPr>
          <a:xfrm>
            <a:off x="6594653" y="3851453"/>
            <a:ext cx="252374" cy="252374"/>
          </a:xfrm>
          <a:prstGeom prst="rect">
            <a:avLst/>
          </a:prstGeom>
        </p:spPr>
      </p:pic>
      <p:sp>
        <p:nvSpPr>
          <p:cNvPr id="17" name="Text 12"/>
          <p:cNvSpPr/>
          <p:nvPr/>
        </p:nvSpPr>
        <p:spPr>
          <a:xfrm>
            <a:off x="7132320" y="3749040"/>
            <a:ext cx="4389120" cy="45720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Circle a provisional top 1–2</a:t>
            </a:r>
            <a:endParaRPr lang="en-US" sz="1700" dirty="0"/>
          </a:p>
        </p:txBody>
      </p:sp>
      <p:sp>
        <p:nvSpPr>
          <p:cNvPr id="18" name="Text 13"/>
          <p:cNvSpPr/>
          <p:nvPr/>
        </p:nvSpPr>
        <p:spPr>
          <a:xfrm>
            <a:off x="6519672" y="4434840"/>
            <a:ext cx="4892040" cy="1234440"/>
          </a:xfrm>
          <a:prstGeom prst="rect">
            <a:avLst/>
          </a:prstGeom>
          <a:noFill/>
          <a:ln/>
        </p:spPr>
        <p:txBody>
          <a:bodyPr wrap="square" lIns="0" tIns="0" rIns="0" bIns="0" rtlCol="0" anchor="t"/>
          <a:lstStyle/>
          <a:p>
            <a:pPr indent="0" marL="0">
              <a:lnSpc>
                <a:spcPct val="106000"/>
              </a:lnSpc>
              <a:buNone/>
            </a:pPr>
            <a:r>
              <a:rPr lang="en-US" sz="1450" dirty="0">
                <a:solidFill>
                  <a:srgbClr val="1E2A36"/>
                </a:solidFill>
                <a:latin typeface="Calibri" pitchFamily="34" charset="0"/>
                <a:ea typeface="Calibri" pitchFamily="34" charset="-122"/>
                <a:cs typeface="Calibri" pitchFamily="34" charset="-120"/>
              </a:rPr>
              <a:t>Commit to a hunch before feedback — so you can tell whether the peer round actually changes your mind.</a:t>
            </a:r>
            <a:endParaRPr lang="en-US" sz="1450" dirty="0"/>
          </a:p>
        </p:txBody>
      </p:sp>
      <p:sp>
        <p:nvSpPr>
          <p:cNvPr id="19" name="Text 14"/>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6 · Convergence Workshop</a:t>
            </a:r>
            <a:endParaRPr lang="en-US" sz="1000" dirty="0"/>
          </a:p>
        </p:txBody>
      </p:sp>
      <p:sp>
        <p:nvSpPr>
          <p:cNvPr id="20" name="Text 1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WORKSHOP · PART 1 · ~12 MIN</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Score your candidates</a:t>
            </a:r>
            <a:endParaRPr lang="en-US" sz="3200" dirty="0"/>
          </a:p>
        </p:txBody>
      </p:sp>
      <p:sp>
        <p:nvSpPr>
          <p:cNvPr id="6" name="Text 4"/>
          <p:cNvSpPr/>
          <p:nvPr/>
        </p:nvSpPr>
        <p:spPr>
          <a:xfrm>
            <a:off x="566928" y="1627632"/>
            <a:ext cx="10972800" cy="365760"/>
          </a:xfrm>
          <a:prstGeom prst="rect">
            <a:avLst/>
          </a:prstGeom>
          <a:noFill/>
          <a:ln/>
        </p:spPr>
        <p:txBody>
          <a:bodyPr wrap="square" lIns="0" tIns="0" rIns="0" bIns="0" rtlCol="0" anchor="ctr"/>
          <a:lstStyle/>
          <a:p>
            <a:pPr indent="0" marL="0">
              <a:buNone/>
            </a:pPr>
            <a:r>
              <a:rPr lang="en-US" sz="1600" i="1" dirty="0">
                <a:solidFill>
                  <a:srgbClr val="CFE0E9"/>
                </a:solidFill>
                <a:latin typeface="Calibri" pitchFamily="34" charset="0"/>
                <a:ea typeface="Calibri" pitchFamily="34" charset="-122"/>
                <a:cs typeface="Calibri" pitchFamily="34" charset="-120"/>
              </a:rPr>
              <a:t>Solo, on the Idea Scoring Sheet:</a:t>
            </a:r>
            <a:endParaRPr lang="en-US" sz="1600" dirty="0"/>
          </a:p>
        </p:txBody>
      </p:sp>
      <p:sp>
        <p:nvSpPr>
          <p:cNvPr id="7" name="Shape 5"/>
          <p:cNvSpPr/>
          <p:nvPr/>
        </p:nvSpPr>
        <p:spPr>
          <a:xfrm>
            <a:off x="548640" y="2148840"/>
            <a:ext cx="11064240" cy="864108"/>
          </a:xfrm>
          <a:prstGeom prst="roundRect">
            <a:avLst>
              <a:gd name="adj" fmla="val 9524"/>
            </a:avLst>
          </a:prstGeom>
          <a:solidFill>
            <a:srgbClr val="1E3352"/>
          </a:solidFill>
          <a:ln/>
          <a:effectLst>
            <a:outerShdw sx="100000" sy="100000" kx="0" ky="0" algn="bl" rotWithShape="0" blurRad="88900" dist="38100" dir="5400000">
              <a:srgbClr val="000000">
                <a:alpha val="13000"/>
              </a:srgbClr>
            </a:outerShdw>
          </a:effectLst>
        </p:spPr>
      </p:sp>
      <p:sp>
        <p:nvSpPr>
          <p:cNvPr id="8" name="Shape 6"/>
          <p:cNvSpPr/>
          <p:nvPr/>
        </p:nvSpPr>
        <p:spPr>
          <a:xfrm>
            <a:off x="777240" y="2352294"/>
            <a:ext cx="457200" cy="457200"/>
          </a:xfrm>
          <a:prstGeom prst="ellipse">
            <a:avLst/>
          </a:prstGeom>
          <a:solidFill>
            <a:srgbClr val="E8A33D"/>
          </a:solidFill>
          <a:ln/>
        </p:spPr>
      </p:sp>
      <p:sp>
        <p:nvSpPr>
          <p:cNvPr id="9" name="Text 7"/>
          <p:cNvSpPr/>
          <p:nvPr/>
        </p:nvSpPr>
        <p:spPr>
          <a:xfrm>
            <a:off x="777240" y="2352294"/>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1</a:t>
            </a:r>
            <a:endParaRPr lang="en-US" sz="2000" dirty="0"/>
          </a:p>
        </p:txBody>
      </p:sp>
      <p:sp>
        <p:nvSpPr>
          <p:cNvPr id="10" name="Text 8"/>
          <p:cNvSpPr/>
          <p:nvPr/>
        </p:nvSpPr>
        <p:spPr>
          <a:xfrm>
            <a:off x="1417320" y="2148840"/>
            <a:ext cx="8595360" cy="864108"/>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Score each of your 2–3 candidates on the seven criteria (1–3).</a:t>
            </a:r>
            <a:endParaRPr lang="en-US" sz="1550" dirty="0"/>
          </a:p>
        </p:txBody>
      </p:sp>
      <p:sp>
        <p:nvSpPr>
          <p:cNvPr id="11" name="Text 9"/>
          <p:cNvSpPr/>
          <p:nvPr/>
        </p:nvSpPr>
        <p:spPr>
          <a:xfrm>
            <a:off x="10149840" y="2148840"/>
            <a:ext cx="1280160" cy="864108"/>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3 min</a:t>
            </a:r>
            <a:endParaRPr lang="en-US" sz="1400" dirty="0"/>
          </a:p>
        </p:txBody>
      </p:sp>
      <p:sp>
        <p:nvSpPr>
          <p:cNvPr id="12" name="Shape 10"/>
          <p:cNvSpPr/>
          <p:nvPr/>
        </p:nvSpPr>
        <p:spPr>
          <a:xfrm>
            <a:off x="548640" y="3140964"/>
            <a:ext cx="11064240" cy="864108"/>
          </a:xfrm>
          <a:prstGeom prst="roundRect">
            <a:avLst>
              <a:gd name="adj" fmla="val 9524"/>
            </a:avLst>
          </a:prstGeom>
          <a:solidFill>
            <a:srgbClr val="1E3352"/>
          </a:solidFill>
          <a:ln/>
          <a:effectLst>
            <a:outerShdw sx="100000" sy="100000" kx="0" ky="0" algn="bl" rotWithShape="0" blurRad="88900" dist="38100" dir="5400000">
              <a:srgbClr val="000000">
                <a:alpha val="13000"/>
              </a:srgbClr>
            </a:outerShdw>
          </a:effectLst>
        </p:spPr>
      </p:sp>
      <p:sp>
        <p:nvSpPr>
          <p:cNvPr id="13" name="Shape 11"/>
          <p:cNvSpPr/>
          <p:nvPr/>
        </p:nvSpPr>
        <p:spPr>
          <a:xfrm>
            <a:off x="777240" y="3344418"/>
            <a:ext cx="457200" cy="457200"/>
          </a:xfrm>
          <a:prstGeom prst="ellipse">
            <a:avLst/>
          </a:prstGeom>
          <a:solidFill>
            <a:srgbClr val="E8A33D"/>
          </a:solidFill>
          <a:ln/>
        </p:spPr>
      </p:sp>
      <p:sp>
        <p:nvSpPr>
          <p:cNvPr id="14" name="Text 12"/>
          <p:cNvSpPr/>
          <p:nvPr/>
        </p:nvSpPr>
        <p:spPr>
          <a:xfrm>
            <a:off x="777240" y="3344418"/>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2</a:t>
            </a:r>
            <a:endParaRPr lang="en-US" sz="2000" dirty="0"/>
          </a:p>
        </p:txBody>
      </p:sp>
      <p:sp>
        <p:nvSpPr>
          <p:cNvPr id="15" name="Text 13"/>
          <p:cNvSpPr/>
          <p:nvPr/>
        </p:nvSpPr>
        <p:spPr>
          <a:xfrm>
            <a:off x="1417320" y="3140964"/>
            <a:ext cx="8595360" cy="864108"/>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Plot each one on Value vs. Do-ability.</a:t>
            </a:r>
            <a:endParaRPr lang="en-US" sz="1550" dirty="0"/>
          </a:p>
        </p:txBody>
      </p:sp>
      <p:sp>
        <p:nvSpPr>
          <p:cNvPr id="16" name="Text 14"/>
          <p:cNvSpPr/>
          <p:nvPr/>
        </p:nvSpPr>
        <p:spPr>
          <a:xfrm>
            <a:off x="10149840" y="3140964"/>
            <a:ext cx="1280160" cy="864108"/>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3 min</a:t>
            </a:r>
            <a:endParaRPr lang="en-US" sz="1400" dirty="0"/>
          </a:p>
        </p:txBody>
      </p:sp>
      <p:sp>
        <p:nvSpPr>
          <p:cNvPr id="17" name="Shape 15"/>
          <p:cNvSpPr/>
          <p:nvPr/>
        </p:nvSpPr>
        <p:spPr>
          <a:xfrm>
            <a:off x="548640" y="4133088"/>
            <a:ext cx="11064240" cy="864108"/>
          </a:xfrm>
          <a:prstGeom prst="roundRect">
            <a:avLst>
              <a:gd name="adj" fmla="val 9524"/>
            </a:avLst>
          </a:prstGeom>
          <a:solidFill>
            <a:srgbClr val="1E3352"/>
          </a:solidFill>
          <a:ln/>
          <a:effectLst>
            <a:outerShdw sx="100000" sy="100000" kx="0" ky="0" algn="bl" rotWithShape="0" blurRad="88900" dist="38100" dir="5400000">
              <a:srgbClr val="000000">
                <a:alpha val="13000"/>
              </a:srgbClr>
            </a:outerShdw>
          </a:effectLst>
        </p:spPr>
      </p:sp>
      <p:sp>
        <p:nvSpPr>
          <p:cNvPr id="18" name="Shape 16"/>
          <p:cNvSpPr/>
          <p:nvPr/>
        </p:nvSpPr>
        <p:spPr>
          <a:xfrm>
            <a:off x="777240" y="4336542"/>
            <a:ext cx="457200" cy="457200"/>
          </a:xfrm>
          <a:prstGeom prst="ellipse">
            <a:avLst/>
          </a:prstGeom>
          <a:solidFill>
            <a:srgbClr val="E8A33D"/>
          </a:solidFill>
          <a:ln/>
        </p:spPr>
      </p:sp>
      <p:sp>
        <p:nvSpPr>
          <p:cNvPr id="19" name="Text 17"/>
          <p:cNvSpPr/>
          <p:nvPr/>
        </p:nvSpPr>
        <p:spPr>
          <a:xfrm>
            <a:off x="777240" y="4336542"/>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3</a:t>
            </a:r>
            <a:endParaRPr lang="en-US" sz="2000" dirty="0"/>
          </a:p>
        </p:txBody>
      </p:sp>
      <p:sp>
        <p:nvSpPr>
          <p:cNvPr id="20" name="Text 18"/>
          <p:cNvSpPr/>
          <p:nvPr/>
        </p:nvSpPr>
        <p:spPr>
          <a:xfrm>
            <a:off x="1417320" y="4133088"/>
            <a:ext cx="8595360" cy="864108"/>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For each, note the single biggest risk — and if it's high-value / low-do-ability, how you'd shrink it to a slice.</a:t>
            </a:r>
            <a:endParaRPr lang="en-US" sz="1550" dirty="0"/>
          </a:p>
        </p:txBody>
      </p:sp>
      <p:sp>
        <p:nvSpPr>
          <p:cNvPr id="21" name="Text 19"/>
          <p:cNvSpPr/>
          <p:nvPr/>
        </p:nvSpPr>
        <p:spPr>
          <a:xfrm>
            <a:off x="10149840" y="4133088"/>
            <a:ext cx="1280160" cy="864108"/>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4 min</a:t>
            </a:r>
            <a:endParaRPr lang="en-US" sz="1400" dirty="0"/>
          </a:p>
        </p:txBody>
      </p:sp>
      <p:sp>
        <p:nvSpPr>
          <p:cNvPr id="22" name="Shape 20"/>
          <p:cNvSpPr/>
          <p:nvPr/>
        </p:nvSpPr>
        <p:spPr>
          <a:xfrm>
            <a:off x="548640" y="5125212"/>
            <a:ext cx="11064240" cy="864108"/>
          </a:xfrm>
          <a:prstGeom prst="roundRect">
            <a:avLst>
              <a:gd name="adj" fmla="val 9524"/>
            </a:avLst>
          </a:prstGeom>
          <a:solidFill>
            <a:srgbClr val="1E3352"/>
          </a:solidFill>
          <a:ln/>
          <a:effectLst>
            <a:outerShdw sx="100000" sy="100000" kx="0" ky="0" algn="bl" rotWithShape="0" blurRad="88900" dist="38100" dir="5400000">
              <a:srgbClr val="000000">
                <a:alpha val="13000"/>
              </a:srgbClr>
            </a:outerShdw>
          </a:effectLst>
        </p:spPr>
      </p:sp>
      <p:sp>
        <p:nvSpPr>
          <p:cNvPr id="23" name="Shape 21"/>
          <p:cNvSpPr/>
          <p:nvPr/>
        </p:nvSpPr>
        <p:spPr>
          <a:xfrm>
            <a:off x="777240" y="5328666"/>
            <a:ext cx="457200" cy="457200"/>
          </a:xfrm>
          <a:prstGeom prst="ellipse">
            <a:avLst/>
          </a:prstGeom>
          <a:solidFill>
            <a:srgbClr val="E8A33D"/>
          </a:solidFill>
          <a:ln/>
        </p:spPr>
      </p:sp>
      <p:sp>
        <p:nvSpPr>
          <p:cNvPr id="24" name="Text 22"/>
          <p:cNvSpPr/>
          <p:nvPr/>
        </p:nvSpPr>
        <p:spPr>
          <a:xfrm>
            <a:off x="777240" y="5328666"/>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4</a:t>
            </a:r>
            <a:endParaRPr lang="en-US" sz="2000" dirty="0"/>
          </a:p>
        </p:txBody>
      </p:sp>
      <p:sp>
        <p:nvSpPr>
          <p:cNvPr id="25" name="Text 23"/>
          <p:cNvSpPr/>
          <p:nvPr/>
        </p:nvSpPr>
        <p:spPr>
          <a:xfrm>
            <a:off x="1417320" y="5125212"/>
            <a:ext cx="8595360" cy="864108"/>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Circle your provisional top 1–2 — before any feedback.</a:t>
            </a:r>
            <a:endParaRPr lang="en-US" sz="1550" dirty="0"/>
          </a:p>
        </p:txBody>
      </p:sp>
      <p:sp>
        <p:nvSpPr>
          <p:cNvPr id="26" name="Text 24"/>
          <p:cNvSpPr/>
          <p:nvPr/>
        </p:nvSpPr>
        <p:spPr>
          <a:xfrm>
            <a:off x="10149840" y="5125212"/>
            <a:ext cx="1280160" cy="864108"/>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2 min</a:t>
            </a:r>
            <a:endParaRPr lang="en-US" sz="1400" dirty="0"/>
          </a:p>
        </p:txBody>
      </p:sp>
      <p:sp>
        <p:nvSpPr>
          <p:cNvPr id="27" name="Text 25"/>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6 · Convergence Workshop</a:t>
            </a:r>
            <a:endParaRPr lang="en-US" sz="1000" dirty="0"/>
          </a:p>
        </p:txBody>
      </p:sp>
      <p:sp>
        <p:nvSpPr>
          <p:cNvPr id="28" name="Text 26"/>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WORKSHOP · PART 2</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Peer feedback — how the round works</a:t>
            </a:r>
            <a:endParaRPr lang="en-US" sz="3100" dirty="0"/>
          </a:p>
        </p:txBody>
      </p:sp>
      <p:sp>
        <p:nvSpPr>
          <p:cNvPr id="5" name="Shape 3"/>
          <p:cNvSpPr/>
          <p:nvPr/>
        </p:nvSpPr>
        <p:spPr>
          <a:xfrm>
            <a:off x="548640" y="1737360"/>
            <a:ext cx="11064240" cy="914400"/>
          </a:xfrm>
          <a:prstGeom prst="roundRect">
            <a:avLst>
              <a:gd name="adj" fmla="val 9000"/>
            </a:avLst>
          </a:prstGeom>
          <a:solidFill>
            <a:srgbClr val="14233A"/>
          </a:solidFill>
          <a:ln/>
          <a:effectLst>
            <a:outerShdw sx="100000" sy="100000" kx="0" ky="0" algn="bl" rotWithShape="0" blurRad="88900" dist="38100" dir="5400000">
              <a:srgbClr val="000000">
                <a:alpha val="13000"/>
              </a:srgbClr>
            </a:outerShdw>
          </a:effectLst>
        </p:spPr>
      </p:sp>
      <p:sp>
        <p:nvSpPr>
          <p:cNvPr id="6" name="Shape 4"/>
          <p:cNvSpPr/>
          <p:nvPr/>
        </p:nvSpPr>
        <p:spPr>
          <a:xfrm>
            <a:off x="868680" y="1956816"/>
            <a:ext cx="512064" cy="512064"/>
          </a:xfrm>
          <a:prstGeom prst="ellipse">
            <a:avLst/>
          </a:prstGeom>
          <a:solidFill>
            <a:srgbClr val="E8A33D"/>
          </a:solidFill>
          <a:ln/>
        </p:spPr>
      </p:sp>
      <p:pic>
        <p:nvPicPr>
          <p:cNvPr id="7" name="Image 0" descr="preencoded.png">    </p:cNvPr>
          <p:cNvPicPr>
            <a:picLocks noChangeAspect="1"/>
          </p:cNvPicPr>
          <p:nvPr/>
        </p:nvPicPr>
        <p:blipFill>
          <a:blip r:embed="rId1"/>
          <a:stretch>
            <a:fillRect/>
          </a:stretch>
        </p:blipFill>
        <p:spPr>
          <a:xfrm>
            <a:off x="1006937" y="2095073"/>
            <a:ext cx="235549" cy="235549"/>
          </a:xfrm>
          <a:prstGeom prst="rect">
            <a:avLst/>
          </a:prstGeom>
        </p:spPr>
      </p:pic>
      <p:sp>
        <p:nvSpPr>
          <p:cNvPr id="8" name="Text 5"/>
          <p:cNvSpPr/>
          <p:nvPr/>
        </p:nvSpPr>
        <p:spPr>
          <a:xfrm>
            <a:off x="1600200" y="1737360"/>
            <a:ext cx="9738360" cy="914400"/>
          </a:xfrm>
          <a:prstGeom prst="rect">
            <a:avLst/>
          </a:prstGeom>
          <a:noFill/>
          <a:ln/>
        </p:spPr>
        <p:txBody>
          <a:bodyPr wrap="square" lIns="0" tIns="0" rIns="0" bIns="0" rtlCol="0" anchor="ctr"/>
          <a:lstStyle/>
          <a:p>
            <a:pPr indent="0" marL="0">
              <a:lnSpc>
                <a:spcPct val="105000"/>
              </a:lnSpc>
              <a:buNone/>
            </a:pPr>
            <a:r>
              <a:rPr lang="en-US" sz="1600" dirty="0">
                <a:solidFill>
                  <a:srgbClr val="CFE0E9"/>
                </a:solidFill>
                <a:latin typeface="Calibri" pitchFamily="34" charset="0"/>
                <a:ea typeface="Calibri" pitchFamily="34" charset="-122"/>
                <a:cs typeface="Calibri" pitchFamily="34" charset="-120"/>
              </a:rPr>
              <a:t>Groups of 3–4. A round-robin: everyone presents once, ~4 minutes each. Same three challenges for every idea.</a:t>
            </a:r>
            <a:endParaRPr lang="en-US" sz="1600" dirty="0"/>
          </a:p>
        </p:txBody>
      </p:sp>
      <p:sp>
        <p:nvSpPr>
          <p:cNvPr id="9" name="Shape 6"/>
          <p:cNvSpPr/>
          <p:nvPr/>
        </p:nvSpPr>
        <p:spPr>
          <a:xfrm>
            <a:off x="548640" y="2834640"/>
            <a:ext cx="3511296" cy="1965960"/>
          </a:xfrm>
          <a:prstGeom prst="roundRect">
            <a:avLst>
              <a:gd name="adj" fmla="val 4186"/>
            </a:avLst>
          </a:prstGeom>
          <a:solidFill>
            <a:srgbClr val="F2F6F8"/>
          </a:solidFill>
          <a:ln/>
          <a:effectLst>
            <a:outerShdw sx="100000" sy="100000" kx="0" ky="0" algn="bl" rotWithShape="0" blurRad="88900" dist="38100" dir="5400000">
              <a:srgbClr val="000000">
                <a:alpha val="13000"/>
              </a:srgbClr>
            </a:outerShdw>
          </a:effectLst>
        </p:spPr>
      </p:sp>
      <p:sp>
        <p:nvSpPr>
          <p:cNvPr id="10" name="Shape 7"/>
          <p:cNvSpPr/>
          <p:nvPr/>
        </p:nvSpPr>
        <p:spPr>
          <a:xfrm>
            <a:off x="804672" y="3090672"/>
            <a:ext cx="512064" cy="512064"/>
          </a:xfrm>
          <a:prstGeom prst="ellipse">
            <a:avLst/>
          </a:prstGeom>
          <a:solidFill>
            <a:srgbClr val="12908F"/>
          </a:solidFill>
          <a:ln/>
        </p:spPr>
      </p:sp>
      <p:pic>
        <p:nvPicPr>
          <p:cNvPr id="11" name="Image 1" descr="preencoded.png">    </p:cNvPr>
          <p:cNvPicPr>
            <a:picLocks noChangeAspect="1"/>
          </p:cNvPicPr>
          <p:nvPr/>
        </p:nvPicPr>
        <p:blipFill>
          <a:blip r:embed="rId2"/>
          <a:stretch>
            <a:fillRect/>
          </a:stretch>
        </p:blipFill>
        <p:spPr>
          <a:xfrm>
            <a:off x="942929" y="3228929"/>
            <a:ext cx="235549" cy="235549"/>
          </a:xfrm>
          <a:prstGeom prst="rect">
            <a:avLst/>
          </a:prstGeom>
        </p:spPr>
      </p:pic>
      <p:sp>
        <p:nvSpPr>
          <p:cNvPr id="12" name="Text 8"/>
          <p:cNvSpPr/>
          <p:nvPr/>
        </p:nvSpPr>
        <p:spPr>
          <a:xfrm>
            <a:off x="804672" y="3675888"/>
            <a:ext cx="2999232" cy="603504"/>
          </a:xfrm>
          <a:prstGeom prst="rect">
            <a:avLst/>
          </a:prstGeom>
          <a:noFill/>
          <a:ln/>
        </p:spPr>
        <p:txBody>
          <a:bodyPr wrap="square" lIns="0" tIns="0" rIns="0" bIns="0" rtlCol="0" anchor="t"/>
          <a:lstStyle/>
          <a:p>
            <a:pPr indent="0" marL="0">
              <a:lnSpc>
                <a:spcPct val="100000"/>
              </a:lnSpc>
              <a:buNone/>
            </a:pPr>
            <a:r>
              <a:rPr lang="en-US" sz="1550" b="1" dirty="0">
                <a:solidFill>
                  <a:srgbClr val="1E2A36"/>
                </a:solidFill>
                <a:latin typeface="Calibri" pitchFamily="34" charset="0"/>
                <a:ea typeface="Calibri" pitchFamily="34" charset="-122"/>
                <a:cs typeface="Calibri" pitchFamily="34" charset="-120"/>
              </a:rPr>
              <a:t>Need real, user reachable?</a:t>
            </a:r>
            <a:endParaRPr lang="en-US" sz="1550" dirty="0"/>
          </a:p>
        </p:txBody>
      </p:sp>
      <p:sp>
        <p:nvSpPr>
          <p:cNvPr id="13" name="Text 9"/>
          <p:cNvSpPr/>
          <p:nvPr/>
        </p:nvSpPr>
        <p:spPr>
          <a:xfrm>
            <a:off x="804672" y="4224528"/>
            <a:ext cx="2999232" cy="502920"/>
          </a:xfrm>
          <a:prstGeom prst="rect">
            <a:avLst/>
          </a:prstGeom>
          <a:noFill/>
          <a:ln/>
        </p:spPr>
        <p:txBody>
          <a:bodyPr wrap="square" lIns="0" tIns="0" rIns="0" bIns="0" rtlCol="0" anchor="t"/>
          <a:lstStyle/>
          <a:p>
            <a:pPr indent="0" marL="0">
              <a:lnSpc>
                <a:spcPct val="104000"/>
              </a:lnSpc>
              <a:buNone/>
            </a:pPr>
            <a:r>
              <a:rPr lang="en-US" sz="1250" dirty="0">
                <a:solidFill>
                  <a:srgbClr val="5F7284"/>
                </a:solidFill>
                <a:latin typeface="Calibri" pitchFamily="34" charset="0"/>
                <a:ea typeface="Calibri" pitchFamily="34" charset="-122"/>
                <a:cs typeface="Calibri" pitchFamily="34" charset="-120"/>
              </a:rPr>
              <a:t>Is there a felt need, and can you actually reach the people who have it?</a:t>
            </a:r>
            <a:endParaRPr lang="en-US" sz="1250" dirty="0"/>
          </a:p>
        </p:txBody>
      </p:sp>
      <p:sp>
        <p:nvSpPr>
          <p:cNvPr id="14" name="Shape 10"/>
          <p:cNvSpPr/>
          <p:nvPr/>
        </p:nvSpPr>
        <p:spPr>
          <a:xfrm>
            <a:off x="4233672" y="2834640"/>
            <a:ext cx="3511296" cy="1965960"/>
          </a:xfrm>
          <a:prstGeom prst="roundRect">
            <a:avLst>
              <a:gd name="adj" fmla="val 4186"/>
            </a:avLst>
          </a:prstGeom>
          <a:solidFill>
            <a:srgbClr val="F2F6F8"/>
          </a:solidFill>
          <a:ln/>
          <a:effectLst>
            <a:outerShdw sx="100000" sy="100000" kx="0" ky="0" algn="bl" rotWithShape="0" blurRad="88900" dist="38100" dir="5400000">
              <a:srgbClr val="000000">
                <a:alpha val="13000"/>
              </a:srgbClr>
            </a:outerShdw>
          </a:effectLst>
        </p:spPr>
      </p:sp>
      <p:sp>
        <p:nvSpPr>
          <p:cNvPr id="15" name="Shape 11"/>
          <p:cNvSpPr/>
          <p:nvPr/>
        </p:nvSpPr>
        <p:spPr>
          <a:xfrm>
            <a:off x="4489704" y="3090672"/>
            <a:ext cx="512064" cy="512064"/>
          </a:xfrm>
          <a:prstGeom prst="ellipse">
            <a:avLst/>
          </a:prstGeom>
          <a:solidFill>
            <a:srgbClr val="12908F"/>
          </a:solidFill>
          <a:ln/>
        </p:spPr>
      </p:sp>
      <p:pic>
        <p:nvPicPr>
          <p:cNvPr id="16" name="Image 2" descr="preencoded.png">    </p:cNvPr>
          <p:cNvPicPr>
            <a:picLocks noChangeAspect="1"/>
          </p:cNvPicPr>
          <p:nvPr/>
        </p:nvPicPr>
        <p:blipFill>
          <a:blip r:embed="rId3"/>
          <a:stretch>
            <a:fillRect/>
          </a:stretch>
        </p:blipFill>
        <p:spPr>
          <a:xfrm>
            <a:off x="4627961" y="3228929"/>
            <a:ext cx="235549" cy="235549"/>
          </a:xfrm>
          <a:prstGeom prst="rect">
            <a:avLst/>
          </a:prstGeom>
        </p:spPr>
      </p:pic>
      <p:sp>
        <p:nvSpPr>
          <p:cNvPr id="17" name="Text 12"/>
          <p:cNvSpPr/>
          <p:nvPr/>
        </p:nvSpPr>
        <p:spPr>
          <a:xfrm>
            <a:off x="4489704" y="3675888"/>
            <a:ext cx="2999232" cy="603504"/>
          </a:xfrm>
          <a:prstGeom prst="rect">
            <a:avLst/>
          </a:prstGeom>
          <a:noFill/>
          <a:ln/>
        </p:spPr>
        <p:txBody>
          <a:bodyPr wrap="square" lIns="0" tIns="0" rIns="0" bIns="0" rtlCol="0" anchor="t"/>
          <a:lstStyle/>
          <a:p>
            <a:pPr indent="0" marL="0">
              <a:lnSpc>
                <a:spcPct val="100000"/>
              </a:lnSpc>
              <a:buNone/>
            </a:pPr>
            <a:r>
              <a:rPr lang="en-US" sz="1550" b="1" dirty="0">
                <a:solidFill>
                  <a:srgbClr val="1E2A36"/>
                </a:solidFill>
                <a:latin typeface="Calibri" pitchFamily="34" charset="0"/>
                <a:ea typeface="Calibri" pitchFamily="34" charset="-122"/>
                <a:cs typeface="Calibri" pitchFamily="34" charset="-120"/>
              </a:rPr>
              <a:t>Feasible at one-semester scope?</a:t>
            </a:r>
            <a:endParaRPr lang="en-US" sz="1550" dirty="0"/>
          </a:p>
        </p:txBody>
      </p:sp>
      <p:sp>
        <p:nvSpPr>
          <p:cNvPr id="18" name="Text 13"/>
          <p:cNvSpPr/>
          <p:nvPr/>
        </p:nvSpPr>
        <p:spPr>
          <a:xfrm>
            <a:off x="4489704" y="4224528"/>
            <a:ext cx="2999232" cy="502920"/>
          </a:xfrm>
          <a:prstGeom prst="rect">
            <a:avLst/>
          </a:prstGeom>
          <a:noFill/>
          <a:ln/>
        </p:spPr>
        <p:txBody>
          <a:bodyPr wrap="square" lIns="0" tIns="0" rIns="0" bIns="0" rtlCol="0" anchor="t"/>
          <a:lstStyle/>
          <a:p>
            <a:pPr indent="0" marL="0">
              <a:lnSpc>
                <a:spcPct val="104000"/>
              </a:lnSpc>
              <a:buNone/>
            </a:pPr>
            <a:r>
              <a:rPr lang="en-US" sz="1250" dirty="0">
                <a:solidFill>
                  <a:srgbClr val="5F7284"/>
                </a:solidFill>
                <a:latin typeface="Calibri" pitchFamily="34" charset="0"/>
                <a:ea typeface="Calibri" pitchFamily="34" charset="-122"/>
                <a:cs typeface="Calibri" pitchFamily="34" charset="-120"/>
              </a:rPr>
              <a:t>Is there a vertical slice you could ship in ~5 build weeks?</a:t>
            </a:r>
            <a:endParaRPr lang="en-US" sz="1250" dirty="0"/>
          </a:p>
        </p:txBody>
      </p:sp>
      <p:sp>
        <p:nvSpPr>
          <p:cNvPr id="19" name="Shape 14"/>
          <p:cNvSpPr/>
          <p:nvPr/>
        </p:nvSpPr>
        <p:spPr>
          <a:xfrm>
            <a:off x="7918704" y="2834640"/>
            <a:ext cx="3511296" cy="1965960"/>
          </a:xfrm>
          <a:prstGeom prst="roundRect">
            <a:avLst>
              <a:gd name="adj" fmla="val 4186"/>
            </a:avLst>
          </a:prstGeom>
          <a:solidFill>
            <a:srgbClr val="F2F6F8"/>
          </a:solidFill>
          <a:ln/>
          <a:effectLst>
            <a:outerShdw sx="100000" sy="100000" kx="0" ky="0" algn="bl" rotWithShape="0" blurRad="88900" dist="38100" dir="5400000">
              <a:srgbClr val="000000">
                <a:alpha val="13000"/>
              </a:srgbClr>
            </a:outerShdw>
          </a:effectLst>
        </p:spPr>
      </p:sp>
      <p:sp>
        <p:nvSpPr>
          <p:cNvPr id="20" name="Shape 15"/>
          <p:cNvSpPr/>
          <p:nvPr/>
        </p:nvSpPr>
        <p:spPr>
          <a:xfrm>
            <a:off x="8174736" y="3090672"/>
            <a:ext cx="512064" cy="512064"/>
          </a:xfrm>
          <a:prstGeom prst="ellipse">
            <a:avLst/>
          </a:prstGeom>
          <a:solidFill>
            <a:srgbClr val="12908F"/>
          </a:solidFill>
          <a:ln/>
        </p:spPr>
      </p:sp>
      <p:pic>
        <p:nvPicPr>
          <p:cNvPr id="21" name="Image 3" descr="preencoded.png">    </p:cNvPr>
          <p:cNvPicPr>
            <a:picLocks noChangeAspect="1"/>
          </p:cNvPicPr>
          <p:nvPr/>
        </p:nvPicPr>
        <p:blipFill>
          <a:blip r:embed="rId4"/>
          <a:stretch>
            <a:fillRect/>
          </a:stretch>
        </p:blipFill>
        <p:spPr>
          <a:xfrm>
            <a:off x="8312993" y="3228929"/>
            <a:ext cx="235549" cy="235549"/>
          </a:xfrm>
          <a:prstGeom prst="rect">
            <a:avLst/>
          </a:prstGeom>
        </p:spPr>
      </p:pic>
      <p:sp>
        <p:nvSpPr>
          <p:cNvPr id="22" name="Text 16"/>
          <p:cNvSpPr/>
          <p:nvPr/>
        </p:nvSpPr>
        <p:spPr>
          <a:xfrm>
            <a:off x="8174736" y="3675888"/>
            <a:ext cx="2999232" cy="603504"/>
          </a:xfrm>
          <a:prstGeom prst="rect">
            <a:avLst/>
          </a:prstGeom>
          <a:noFill/>
          <a:ln/>
        </p:spPr>
        <p:txBody>
          <a:bodyPr wrap="square" lIns="0" tIns="0" rIns="0" bIns="0" rtlCol="0" anchor="t"/>
          <a:lstStyle/>
          <a:p>
            <a:pPr indent="0" marL="0">
              <a:lnSpc>
                <a:spcPct val="100000"/>
              </a:lnSpc>
              <a:buNone/>
            </a:pPr>
            <a:r>
              <a:rPr lang="en-US" sz="1550" b="1" dirty="0">
                <a:solidFill>
                  <a:srgbClr val="1E2A36"/>
                </a:solidFill>
                <a:latin typeface="Calibri" pitchFamily="34" charset="0"/>
                <a:ea typeface="Calibri" pitchFamily="34" charset="-122"/>
                <a:cs typeface="Calibri" pitchFamily="34" charset="-120"/>
              </a:rPr>
              <a:t>Rich enough to found on?</a:t>
            </a:r>
            <a:endParaRPr lang="en-US" sz="1550" dirty="0"/>
          </a:p>
        </p:txBody>
      </p:sp>
      <p:sp>
        <p:nvSpPr>
          <p:cNvPr id="23" name="Text 17"/>
          <p:cNvSpPr/>
          <p:nvPr/>
        </p:nvSpPr>
        <p:spPr>
          <a:xfrm>
            <a:off x="8174736" y="4224528"/>
            <a:ext cx="2999232" cy="502920"/>
          </a:xfrm>
          <a:prstGeom prst="rect">
            <a:avLst/>
          </a:prstGeom>
          <a:noFill/>
          <a:ln/>
        </p:spPr>
        <p:txBody>
          <a:bodyPr wrap="square" lIns="0" tIns="0" rIns="0" bIns="0" rtlCol="0" anchor="t"/>
          <a:lstStyle/>
          <a:p>
            <a:pPr indent="0" marL="0">
              <a:lnSpc>
                <a:spcPct val="104000"/>
              </a:lnSpc>
              <a:buNone/>
            </a:pPr>
            <a:r>
              <a:rPr lang="en-US" sz="1250" dirty="0">
                <a:solidFill>
                  <a:srgbClr val="5F7284"/>
                </a:solidFill>
                <a:latin typeface="Calibri" pitchFamily="34" charset="0"/>
                <a:ea typeface="Calibri" pitchFamily="34" charset="-122"/>
                <a:cs typeface="Calibri" pitchFamily="34" charset="-120"/>
              </a:rPr>
              <a:t>Does it exercise multiple dimensions and leave room for others?</a:t>
            </a:r>
            <a:endParaRPr lang="en-US" sz="1250" dirty="0"/>
          </a:p>
        </p:txBody>
      </p:sp>
      <p:sp>
        <p:nvSpPr>
          <p:cNvPr id="24" name="Shape 18"/>
          <p:cNvSpPr/>
          <p:nvPr/>
        </p:nvSpPr>
        <p:spPr>
          <a:xfrm>
            <a:off x="548640" y="5029200"/>
            <a:ext cx="11064240" cy="1152144"/>
          </a:xfrm>
          <a:prstGeom prst="roundRect">
            <a:avLst>
              <a:gd name="adj" fmla="val 7143"/>
            </a:avLst>
          </a:prstGeom>
          <a:solidFill>
            <a:srgbClr val="FBEEDA"/>
          </a:solidFill>
          <a:ln/>
          <a:effectLst>
            <a:outerShdw sx="100000" sy="100000" kx="0" ky="0" algn="bl" rotWithShape="0" blurRad="88900" dist="38100" dir="5400000">
              <a:srgbClr val="000000">
                <a:alpha val="13000"/>
              </a:srgbClr>
            </a:outerShdw>
          </a:effectLst>
        </p:spPr>
      </p:sp>
      <p:sp>
        <p:nvSpPr>
          <p:cNvPr id="25" name="Text 19"/>
          <p:cNvSpPr/>
          <p:nvPr/>
        </p:nvSpPr>
        <p:spPr>
          <a:xfrm>
            <a:off x="822960" y="5029200"/>
            <a:ext cx="10515600" cy="1152144"/>
          </a:xfrm>
          <a:prstGeom prst="rect">
            <a:avLst/>
          </a:prstGeom>
          <a:noFill/>
          <a:ln/>
        </p:spPr>
        <p:txBody>
          <a:bodyPr wrap="square" lIns="0" tIns="0" rIns="0" bIns="0" rtlCol="0" anchor="ctr"/>
          <a:lstStyle/>
          <a:p>
            <a:pPr algn="ctr" indent="0" marL="0">
              <a:lnSpc>
                <a:spcPct val="112000"/>
              </a:lnSpc>
              <a:buNone/>
            </a:pPr>
            <a:r>
              <a:rPr lang="en-US" sz="1500" b="1" dirty="0">
                <a:solidFill>
                  <a:srgbClr val="0E6E6D"/>
                </a:solidFill>
                <a:latin typeface="Calibri" pitchFamily="34" charset="0"/>
                <a:ea typeface="Calibri" pitchFamily="34" charset="-122"/>
                <a:cs typeface="Calibri" pitchFamily="34" charset="-120"/>
              </a:rPr>
              <a:t>One protocol for every comment:  </a:t>
            </a:r>
            <a:pPr algn="ctr" indent="0" marL="0">
              <a:lnSpc>
                <a:spcPct val="112000"/>
              </a:lnSpc>
              <a:buNone/>
            </a:pPr>
            <a:r>
              <a:rPr lang="en-US" sz="1500" dirty="0">
                <a:solidFill>
                  <a:srgbClr val="1E2A36"/>
                </a:solidFill>
                <a:latin typeface="Calibri" pitchFamily="34" charset="0"/>
                <a:ea typeface="Calibri" pitchFamily="34" charset="-122"/>
                <a:cs typeface="Calibri" pitchFamily="34" charset="-120"/>
              </a:rPr>
              <a:t>affirm what's strong  →  name the sharpest concern  →  one concrete suggestion.
</a:t>
            </a:r>
            <a:pPr algn="ctr" indent="0" marL="0">
              <a:lnSpc>
                <a:spcPct val="112000"/>
              </a:lnSpc>
              <a:buNone/>
            </a:pPr>
            <a:r>
              <a:rPr lang="en-US" sz="1500" b="1" dirty="0">
                <a:solidFill>
                  <a:srgbClr val="D9614C"/>
                </a:solidFill>
                <a:latin typeface="Calibri" pitchFamily="34" charset="0"/>
                <a:ea typeface="Calibri" pitchFamily="34" charset="-122"/>
                <a:cs typeface="Calibri" pitchFamily="34" charset="-120"/>
              </a:rPr>
              <a:t>The presenter captures, doesn't defend</a:t>
            </a:r>
            <a:pPr algn="ctr" indent="0" marL="0">
              <a:lnSpc>
                <a:spcPct val="112000"/>
              </a:lnSpc>
              <a:buNone/>
            </a:pPr>
            <a:r>
              <a:rPr lang="en-US" sz="1500" dirty="0">
                <a:solidFill>
                  <a:srgbClr val="1E2A36"/>
                </a:solidFill>
                <a:latin typeface="Calibri" pitchFamily="34" charset="0"/>
                <a:ea typeface="Calibri" pitchFamily="34" charset="-122"/>
                <a:cs typeface="Calibri" pitchFamily="34" charset="-120"/>
              </a:rPr>
              <a:t> — write it down; weigh it after.</a:t>
            </a:r>
            <a:endParaRPr lang="en-US" sz="1500" dirty="0"/>
          </a:p>
        </p:txBody>
      </p:sp>
      <p:sp>
        <p:nvSpPr>
          <p:cNvPr id="26" name="Text 20"/>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6 · Convergence Workshop</a:t>
            </a:r>
            <a:endParaRPr lang="en-US" sz="1000" dirty="0"/>
          </a:p>
        </p:txBody>
      </p:sp>
      <p:sp>
        <p:nvSpPr>
          <p:cNvPr id="27" name="Text 21"/>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WORKSHOP · PART 2 · ~16 MIN</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Peer feedback round</a:t>
            </a:r>
            <a:endParaRPr lang="en-US" sz="3200" dirty="0"/>
          </a:p>
        </p:txBody>
      </p:sp>
      <p:sp>
        <p:nvSpPr>
          <p:cNvPr id="6" name="Text 4"/>
          <p:cNvSpPr/>
          <p:nvPr/>
        </p:nvSpPr>
        <p:spPr>
          <a:xfrm>
            <a:off x="566928" y="1627632"/>
            <a:ext cx="10972800" cy="365760"/>
          </a:xfrm>
          <a:prstGeom prst="rect">
            <a:avLst/>
          </a:prstGeom>
          <a:noFill/>
          <a:ln/>
        </p:spPr>
        <p:txBody>
          <a:bodyPr wrap="square" lIns="0" tIns="0" rIns="0" bIns="0" rtlCol="0" anchor="ctr"/>
          <a:lstStyle/>
          <a:p>
            <a:pPr indent="0" marL="0">
              <a:buNone/>
            </a:pPr>
            <a:r>
              <a:rPr lang="en-US" sz="1600" i="1" dirty="0">
                <a:solidFill>
                  <a:srgbClr val="CFE0E9"/>
                </a:solidFill>
                <a:latin typeface="Calibri" pitchFamily="34" charset="0"/>
                <a:ea typeface="Calibri" pitchFamily="34" charset="-122"/>
                <a:cs typeface="Calibri" pitchFamily="34" charset="-120"/>
              </a:rPr>
              <a:t>Groups of 3–4 · round-robin · ~4 min each:</a:t>
            </a:r>
            <a:endParaRPr lang="en-US" sz="1600" dirty="0"/>
          </a:p>
        </p:txBody>
      </p:sp>
      <p:sp>
        <p:nvSpPr>
          <p:cNvPr id="7" name="Shape 5"/>
          <p:cNvSpPr/>
          <p:nvPr/>
        </p:nvSpPr>
        <p:spPr>
          <a:xfrm>
            <a:off x="548640" y="2148840"/>
            <a:ext cx="11064240" cy="864108"/>
          </a:xfrm>
          <a:prstGeom prst="roundRect">
            <a:avLst>
              <a:gd name="adj" fmla="val 9524"/>
            </a:avLst>
          </a:prstGeom>
          <a:solidFill>
            <a:srgbClr val="1E3352"/>
          </a:solidFill>
          <a:ln/>
          <a:effectLst>
            <a:outerShdw sx="100000" sy="100000" kx="0" ky="0" algn="bl" rotWithShape="0" blurRad="88900" dist="38100" dir="5400000">
              <a:srgbClr val="000000">
                <a:alpha val="13000"/>
              </a:srgbClr>
            </a:outerShdw>
          </a:effectLst>
        </p:spPr>
      </p:sp>
      <p:sp>
        <p:nvSpPr>
          <p:cNvPr id="8" name="Shape 6"/>
          <p:cNvSpPr/>
          <p:nvPr/>
        </p:nvSpPr>
        <p:spPr>
          <a:xfrm>
            <a:off x="777240" y="2352294"/>
            <a:ext cx="457200" cy="457200"/>
          </a:xfrm>
          <a:prstGeom prst="ellipse">
            <a:avLst/>
          </a:prstGeom>
          <a:solidFill>
            <a:srgbClr val="E8A33D"/>
          </a:solidFill>
          <a:ln/>
        </p:spPr>
      </p:sp>
      <p:sp>
        <p:nvSpPr>
          <p:cNvPr id="9" name="Text 7"/>
          <p:cNvSpPr/>
          <p:nvPr/>
        </p:nvSpPr>
        <p:spPr>
          <a:xfrm>
            <a:off x="777240" y="2352294"/>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1</a:t>
            </a:r>
            <a:endParaRPr lang="en-US" sz="2000" dirty="0"/>
          </a:p>
        </p:txBody>
      </p:sp>
      <p:sp>
        <p:nvSpPr>
          <p:cNvPr id="10" name="Text 8"/>
          <p:cNvSpPr/>
          <p:nvPr/>
        </p:nvSpPr>
        <p:spPr>
          <a:xfrm>
            <a:off x="1417320" y="2148840"/>
            <a:ext cx="9966960" cy="864108"/>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Present (~90 sec): your top 1–2 — the user, the real need, why it scores well; the slice if it's high-value / low-do-ability.</a:t>
            </a:r>
            <a:endParaRPr lang="en-US" sz="1550" dirty="0"/>
          </a:p>
        </p:txBody>
      </p:sp>
      <p:sp>
        <p:nvSpPr>
          <p:cNvPr id="11" name="Shape 9"/>
          <p:cNvSpPr/>
          <p:nvPr/>
        </p:nvSpPr>
        <p:spPr>
          <a:xfrm>
            <a:off x="548640" y="3140964"/>
            <a:ext cx="11064240" cy="864108"/>
          </a:xfrm>
          <a:prstGeom prst="roundRect">
            <a:avLst>
              <a:gd name="adj" fmla="val 9524"/>
            </a:avLst>
          </a:prstGeom>
          <a:solidFill>
            <a:srgbClr val="1E3352"/>
          </a:solidFill>
          <a:ln/>
          <a:effectLst>
            <a:outerShdw sx="100000" sy="100000" kx="0" ky="0" algn="bl" rotWithShape="0" blurRad="88900" dist="38100" dir="5400000">
              <a:srgbClr val="000000">
                <a:alpha val="13000"/>
              </a:srgbClr>
            </a:outerShdw>
          </a:effectLst>
        </p:spPr>
      </p:sp>
      <p:sp>
        <p:nvSpPr>
          <p:cNvPr id="12" name="Shape 10"/>
          <p:cNvSpPr/>
          <p:nvPr/>
        </p:nvSpPr>
        <p:spPr>
          <a:xfrm>
            <a:off x="777240" y="3344418"/>
            <a:ext cx="457200" cy="457200"/>
          </a:xfrm>
          <a:prstGeom prst="ellipse">
            <a:avLst/>
          </a:prstGeom>
          <a:solidFill>
            <a:srgbClr val="E8A33D"/>
          </a:solidFill>
          <a:ln/>
        </p:spPr>
      </p:sp>
      <p:sp>
        <p:nvSpPr>
          <p:cNvPr id="13" name="Text 11"/>
          <p:cNvSpPr/>
          <p:nvPr/>
        </p:nvSpPr>
        <p:spPr>
          <a:xfrm>
            <a:off x="777240" y="3344418"/>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2</a:t>
            </a:r>
            <a:endParaRPr lang="en-US" sz="2000" dirty="0"/>
          </a:p>
        </p:txBody>
      </p:sp>
      <p:sp>
        <p:nvSpPr>
          <p:cNvPr id="14" name="Text 12"/>
          <p:cNvSpPr/>
          <p:nvPr/>
        </p:nvSpPr>
        <p:spPr>
          <a:xfrm>
            <a:off x="1417320" y="3140964"/>
            <a:ext cx="9966960" cy="864108"/>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Peers pressure-test on the three axes: need real &amp; reachable? feasible at scope? rich enough?</a:t>
            </a:r>
            <a:endParaRPr lang="en-US" sz="1550" dirty="0"/>
          </a:p>
        </p:txBody>
      </p:sp>
      <p:sp>
        <p:nvSpPr>
          <p:cNvPr id="15" name="Shape 13"/>
          <p:cNvSpPr/>
          <p:nvPr/>
        </p:nvSpPr>
        <p:spPr>
          <a:xfrm>
            <a:off x="548640" y="4133088"/>
            <a:ext cx="11064240" cy="864108"/>
          </a:xfrm>
          <a:prstGeom prst="roundRect">
            <a:avLst>
              <a:gd name="adj" fmla="val 9524"/>
            </a:avLst>
          </a:prstGeom>
          <a:solidFill>
            <a:srgbClr val="1E3352"/>
          </a:solidFill>
          <a:ln/>
          <a:effectLst>
            <a:outerShdw sx="100000" sy="100000" kx="0" ky="0" algn="bl" rotWithShape="0" blurRad="88900" dist="38100" dir="5400000">
              <a:srgbClr val="000000">
                <a:alpha val="13000"/>
              </a:srgbClr>
            </a:outerShdw>
          </a:effectLst>
        </p:spPr>
      </p:sp>
      <p:sp>
        <p:nvSpPr>
          <p:cNvPr id="16" name="Shape 14"/>
          <p:cNvSpPr/>
          <p:nvPr/>
        </p:nvSpPr>
        <p:spPr>
          <a:xfrm>
            <a:off x="777240" y="4336542"/>
            <a:ext cx="457200" cy="457200"/>
          </a:xfrm>
          <a:prstGeom prst="ellipse">
            <a:avLst/>
          </a:prstGeom>
          <a:solidFill>
            <a:srgbClr val="E8A33D"/>
          </a:solidFill>
          <a:ln/>
        </p:spPr>
      </p:sp>
      <p:sp>
        <p:nvSpPr>
          <p:cNvPr id="17" name="Text 15"/>
          <p:cNvSpPr/>
          <p:nvPr/>
        </p:nvSpPr>
        <p:spPr>
          <a:xfrm>
            <a:off x="777240" y="4336542"/>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3</a:t>
            </a:r>
            <a:endParaRPr lang="en-US" sz="2000" dirty="0"/>
          </a:p>
        </p:txBody>
      </p:sp>
      <p:sp>
        <p:nvSpPr>
          <p:cNvPr id="18" name="Text 16"/>
          <p:cNvSpPr/>
          <p:nvPr/>
        </p:nvSpPr>
        <p:spPr>
          <a:xfrm>
            <a:off x="1417320" y="4133088"/>
            <a:ext cx="9966960" cy="864108"/>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Each comment: affirm what's strong → sharpest concern → one concrete suggestion.</a:t>
            </a:r>
            <a:endParaRPr lang="en-US" sz="1550" dirty="0"/>
          </a:p>
        </p:txBody>
      </p:sp>
      <p:sp>
        <p:nvSpPr>
          <p:cNvPr id="19" name="Shape 17"/>
          <p:cNvSpPr/>
          <p:nvPr/>
        </p:nvSpPr>
        <p:spPr>
          <a:xfrm>
            <a:off x="548640" y="5125212"/>
            <a:ext cx="11064240" cy="864108"/>
          </a:xfrm>
          <a:prstGeom prst="roundRect">
            <a:avLst>
              <a:gd name="adj" fmla="val 9524"/>
            </a:avLst>
          </a:prstGeom>
          <a:solidFill>
            <a:srgbClr val="1E3352"/>
          </a:solidFill>
          <a:ln/>
          <a:effectLst>
            <a:outerShdw sx="100000" sy="100000" kx="0" ky="0" algn="bl" rotWithShape="0" blurRad="88900" dist="38100" dir="5400000">
              <a:srgbClr val="000000">
                <a:alpha val="13000"/>
              </a:srgbClr>
            </a:outerShdw>
          </a:effectLst>
        </p:spPr>
      </p:sp>
      <p:sp>
        <p:nvSpPr>
          <p:cNvPr id="20" name="Shape 18"/>
          <p:cNvSpPr/>
          <p:nvPr/>
        </p:nvSpPr>
        <p:spPr>
          <a:xfrm>
            <a:off x="777240" y="5328666"/>
            <a:ext cx="457200" cy="457200"/>
          </a:xfrm>
          <a:prstGeom prst="ellipse">
            <a:avLst/>
          </a:prstGeom>
          <a:solidFill>
            <a:srgbClr val="E8A33D"/>
          </a:solidFill>
          <a:ln/>
        </p:spPr>
      </p:sp>
      <p:sp>
        <p:nvSpPr>
          <p:cNvPr id="21" name="Text 19"/>
          <p:cNvSpPr/>
          <p:nvPr/>
        </p:nvSpPr>
        <p:spPr>
          <a:xfrm>
            <a:off x="777240" y="5328666"/>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4</a:t>
            </a:r>
            <a:endParaRPr lang="en-US" sz="2000" dirty="0"/>
          </a:p>
        </p:txBody>
      </p:sp>
      <p:sp>
        <p:nvSpPr>
          <p:cNvPr id="22" name="Text 20"/>
          <p:cNvSpPr/>
          <p:nvPr/>
        </p:nvSpPr>
        <p:spPr>
          <a:xfrm>
            <a:off x="1417320" y="5125212"/>
            <a:ext cx="9966960" cy="864108"/>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Presenter captures, doesn't defend. Then rotate — until everyone has gone.</a:t>
            </a:r>
            <a:endParaRPr lang="en-US" sz="1550" dirty="0"/>
          </a:p>
        </p:txBody>
      </p:sp>
      <p:sp>
        <p:nvSpPr>
          <p:cNvPr id="23" name="Text 21"/>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6 · Convergence Workshop</a:t>
            </a:r>
            <a:endParaRPr lang="en-US" sz="1000" dirty="0"/>
          </a:p>
        </p:txBody>
      </p:sp>
      <p:sp>
        <p:nvSpPr>
          <p:cNvPr id="24" name="Text 2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WORKSHOP · PART 3</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Converge — pick 1–2 and commit</a:t>
            </a:r>
            <a:endParaRPr lang="en-US" sz="3100" dirty="0"/>
          </a:p>
        </p:txBody>
      </p:sp>
      <p:sp>
        <p:nvSpPr>
          <p:cNvPr id="5" name="Shape 3"/>
          <p:cNvSpPr/>
          <p:nvPr/>
        </p:nvSpPr>
        <p:spPr>
          <a:xfrm>
            <a:off x="548640" y="1874520"/>
            <a:ext cx="11064240" cy="1280160"/>
          </a:xfrm>
          <a:prstGeom prst="roundRect">
            <a:avLst>
              <a:gd name="adj" fmla="val 6429"/>
            </a:avLst>
          </a:prstGeom>
          <a:solidFill>
            <a:srgbClr val="14233A"/>
          </a:solidFill>
          <a:ln/>
          <a:effectLst>
            <a:outerShdw sx="100000" sy="100000" kx="0" ky="0" algn="bl" rotWithShape="0" blurRad="88900" dist="38100" dir="5400000">
              <a:srgbClr val="000000">
                <a:alpha val="13000"/>
              </a:srgbClr>
            </a:outerShdw>
          </a:effectLst>
        </p:spPr>
      </p:sp>
      <p:sp>
        <p:nvSpPr>
          <p:cNvPr id="6" name="Shape 4"/>
          <p:cNvSpPr/>
          <p:nvPr/>
        </p:nvSpPr>
        <p:spPr>
          <a:xfrm>
            <a:off x="868680" y="2148840"/>
            <a:ext cx="640080" cy="640080"/>
          </a:xfrm>
          <a:prstGeom prst="ellipse">
            <a:avLst/>
          </a:prstGeom>
          <a:solidFill>
            <a:srgbClr val="E8A33D"/>
          </a:solidFill>
          <a:ln/>
        </p:spPr>
      </p:sp>
      <p:pic>
        <p:nvPicPr>
          <p:cNvPr id="7" name="Image 0" descr="preencoded.png">    </p:cNvPr>
          <p:cNvPicPr>
            <a:picLocks noChangeAspect="1"/>
          </p:cNvPicPr>
          <p:nvPr/>
        </p:nvPicPr>
        <p:blipFill>
          <a:blip r:embed="rId1"/>
          <a:stretch>
            <a:fillRect/>
          </a:stretch>
        </p:blipFill>
        <p:spPr>
          <a:xfrm>
            <a:off x="1041502" y="2321662"/>
            <a:ext cx="294437" cy="294437"/>
          </a:xfrm>
          <a:prstGeom prst="rect">
            <a:avLst/>
          </a:prstGeom>
        </p:spPr>
      </p:pic>
      <p:sp>
        <p:nvSpPr>
          <p:cNvPr id="8" name="Text 5"/>
          <p:cNvSpPr/>
          <p:nvPr/>
        </p:nvSpPr>
        <p:spPr>
          <a:xfrm>
            <a:off x="1792224" y="1874520"/>
            <a:ext cx="9601200" cy="1280160"/>
          </a:xfrm>
          <a:prstGeom prst="rect">
            <a:avLst/>
          </a:prstGeom>
          <a:noFill/>
          <a:ln/>
        </p:spPr>
        <p:txBody>
          <a:bodyPr wrap="square" lIns="0" tIns="0" rIns="0" bIns="0" rtlCol="0" anchor="ctr"/>
          <a:lstStyle/>
          <a:p>
            <a:pPr indent="0" marL="0">
              <a:lnSpc>
                <a:spcPct val="105000"/>
              </a:lnSpc>
              <a:buNone/>
            </a:pPr>
            <a:r>
              <a:rPr lang="en-US" sz="1650" dirty="0">
                <a:solidFill>
                  <a:srgbClr val="CFE0E9"/>
                </a:solidFill>
                <a:latin typeface="Calibri" pitchFamily="34" charset="0"/>
                <a:ea typeface="Calibri" pitchFamily="34" charset="-122"/>
                <a:cs typeface="Calibri" pitchFamily="34" charset="-120"/>
              </a:rPr>
              <a:t>Weigh the scores and the feedback together, then commit to one or two ideas to carry forward.</a:t>
            </a:r>
            <a:endParaRPr lang="en-US" sz="1650" dirty="0"/>
          </a:p>
        </p:txBody>
      </p:sp>
      <p:sp>
        <p:nvSpPr>
          <p:cNvPr id="9" name="Shape 6"/>
          <p:cNvSpPr/>
          <p:nvPr/>
        </p:nvSpPr>
        <p:spPr>
          <a:xfrm>
            <a:off x="548640" y="3337560"/>
            <a:ext cx="11064240" cy="1371600"/>
          </a:xfrm>
          <a:prstGeom prst="roundRect">
            <a:avLst>
              <a:gd name="adj" fmla="val 6000"/>
            </a:avLst>
          </a:prstGeom>
          <a:solidFill>
            <a:srgbClr val="F2F6F8"/>
          </a:solidFill>
          <a:ln/>
          <a:effectLst>
            <a:outerShdw sx="100000" sy="100000" kx="0" ky="0" algn="bl" rotWithShape="0" blurRad="88900" dist="38100" dir="5400000">
              <a:srgbClr val="000000">
                <a:alpha val="13000"/>
              </a:srgbClr>
            </a:outerShdw>
          </a:effectLst>
        </p:spPr>
      </p:sp>
      <p:sp>
        <p:nvSpPr>
          <p:cNvPr id="10" name="Shape 7"/>
          <p:cNvSpPr/>
          <p:nvPr/>
        </p:nvSpPr>
        <p:spPr>
          <a:xfrm>
            <a:off x="868680" y="3639312"/>
            <a:ext cx="548640" cy="548640"/>
          </a:xfrm>
          <a:prstGeom prst="ellipse">
            <a:avLst/>
          </a:prstGeom>
          <a:solidFill>
            <a:srgbClr val="12908F"/>
          </a:solidFill>
          <a:ln/>
        </p:spPr>
      </p:sp>
      <p:pic>
        <p:nvPicPr>
          <p:cNvPr id="11" name="Image 1" descr="preencoded.png">    </p:cNvPr>
          <p:cNvPicPr>
            <a:picLocks noChangeAspect="1"/>
          </p:cNvPicPr>
          <p:nvPr/>
        </p:nvPicPr>
        <p:blipFill>
          <a:blip r:embed="rId2"/>
          <a:stretch>
            <a:fillRect/>
          </a:stretch>
        </p:blipFill>
        <p:spPr>
          <a:xfrm>
            <a:off x="1016813" y="3787445"/>
            <a:ext cx="252374" cy="252374"/>
          </a:xfrm>
          <a:prstGeom prst="rect">
            <a:avLst/>
          </a:prstGeom>
        </p:spPr>
      </p:pic>
      <p:sp>
        <p:nvSpPr>
          <p:cNvPr id="12" name="Text 8"/>
          <p:cNvSpPr/>
          <p:nvPr/>
        </p:nvSpPr>
        <p:spPr>
          <a:xfrm>
            <a:off x="1627632" y="3337560"/>
            <a:ext cx="9784080" cy="1371600"/>
          </a:xfrm>
          <a:prstGeom prst="rect">
            <a:avLst/>
          </a:prstGeom>
          <a:noFill/>
          <a:ln/>
        </p:spPr>
        <p:txBody>
          <a:bodyPr wrap="square" lIns="0" tIns="0" rIns="0" bIns="0" rtlCol="0" anchor="ctr"/>
          <a:lstStyle/>
          <a:p>
            <a:pPr indent="0" marL="0">
              <a:lnSpc>
                <a:spcPct val="110000"/>
              </a:lnSpc>
              <a:buNone/>
            </a:pPr>
            <a:r>
              <a:rPr lang="en-US" sz="1600" b="1" dirty="0">
                <a:solidFill>
                  <a:srgbClr val="1E2A36"/>
                </a:solidFill>
                <a:latin typeface="Calibri" pitchFamily="34" charset="0"/>
                <a:ea typeface="Calibri" pitchFamily="34" charset="-122"/>
                <a:cs typeface="Calibri" pitchFamily="34" charset="-120"/>
              </a:rPr>
              <a:t>Write a one-line rationale for each:  </a:t>
            </a:r>
            <a:pPr indent="0" marL="0">
              <a:lnSpc>
                <a:spcPct val="110000"/>
              </a:lnSpc>
              <a:buNone/>
            </a:pPr>
            <a:r>
              <a:rPr lang="en-US" sz="1600" dirty="0">
                <a:solidFill>
                  <a:srgbClr val="1E2A36"/>
                </a:solidFill>
                <a:latin typeface="Calibri" pitchFamily="34" charset="0"/>
                <a:ea typeface="Calibri" pitchFamily="34" charset="-122"/>
                <a:cs typeface="Calibri" pitchFamily="34" charset="-120"/>
              </a:rPr>
              <a:t>it's for </a:t>
            </a:r>
            <a:pPr indent="0" marL="0">
              <a:lnSpc>
                <a:spcPct val="110000"/>
              </a:lnSpc>
              <a:buNone/>
            </a:pPr>
            <a:r>
              <a:rPr lang="en-US" sz="1600" i="1" dirty="0">
                <a:solidFill>
                  <a:srgbClr val="5F7284"/>
                </a:solidFill>
                <a:latin typeface="Calibri" pitchFamily="34" charset="0"/>
                <a:ea typeface="Calibri" pitchFamily="34" charset="-122"/>
                <a:cs typeface="Calibri" pitchFamily="34" charset="-120"/>
              </a:rPr>
              <a:t>(who)</a:t>
            </a:r>
            <a:pPr indent="0" marL="0">
              <a:lnSpc>
                <a:spcPct val="110000"/>
              </a:lnSpc>
              <a:buNone/>
            </a:pPr>
            <a:r>
              <a:rPr lang="en-US" sz="1600" dirty="0">
                <a:solidFill>
                  <a:srgbClr val="1E2A36"/>
                </a:solidFill>
                <a:latin typeface="Calibri" pitchFamily="34" charset="0"/>
                <a:ea typeface="Calibri" pitchFamily="34" charset="-122"/>
                <a:cs typeface="Calibri" pitchFamily="34" charset="-120"/>
              </a:rPr>
              <a:t>, who need </a:t>
            </a:r>
            <a:pPr indent="0" marL="0">
              <a:lnSpc>
                <a:spcPct val="110000"/>
              </a:lnSpc>
              <a:buNone/>
            </a:pPr>
            <a:r>
              <a:rPr lang="en-US" sz="1600" i="1" dirty="0">
                <a:solidFill>
                  <a:srgbClr val="5F7284"/>
                </a:solidFill>
                <a:latin typeface="Calibri" pitchFamily="34" charset="0"/>
                <a:ea typeface="Calibri" pitchFamily="34" charset="-122"/>
                <a:cs typeface="Calibri" pitchFamily="34" charset="-120"/>
              </a:rPr>
              <a:t>(the real need)</a:t>
            </a:r>
            <a:pPr indent="0" marL="0">
              <a:lnSpc>
                <a:spcPct val="110000"/>
              </a:lnSpc>
              <a:buNone/>
            </a:pPr>
            <a:r>
              <a:rPr lang="en-US" sz="1600" dirty="0">
                <a:solidFill>
                  <a:srgbClr val="1E2A36"/>
                </a:solidFill>
                <a:latin typeface="Calibri" pitchFamily="34" charset="0"/>
                <a:ea typeface="Calibri" pitchFamily="34" charset="-122"/>
                <a:cs typeface="Calibri" pitchFamily="34" charset="-120"/>
              </a:rPr>
              <a:t>; feasible because </a:t>
            </a:r>
            <a:pPr indent="0" marL="0">
              <a:lnSpc>
                <a:spcPct val="110000"/>
              </a:lnSpc>
              <a:buNone/>
            </a:pPr>
            <a:r>
              <a:rPr lang="en-US" sz="1600" i="1" dirty="0">
                <a:solidFill>
                  <a:srgbClr val="5F7284"/>
                </a:solidFill>
                <a:latin typeface="Calibri" pitchFamily="34" charset="0"/>
                <a:ea typeface="Calibri" pitchFamily="34" charset="-122"/>
                <a:cs typeface="Calibri" pitchFamily="34" charset="-120"/>
              </a:rPr>
              <a:t>(scope / risk)</a:t>
            </a:r>
            <a:pPr indent="0" marL="0">
              <a:lnSpc>
                <a:spcPct val="110000"/>
              </a:lnSpc>
              <a:buNone/>
            </a:pPr>
            <a:r>
              <a:rPr lang="en-US" sz="1600" dirty="0">
                <a:solidFill>
                  <a:srgbClr val="1E2A36"/>
                </a:solidFill>
                <a:latin typeface="Calibri" pitchFamily="34" charset="0"/>
                <a:ea typeface="Calibri" pitchFamily="34" charset="-122"/>
                <a:cs typeface="Calibri" pitchFamily="34" charset="-120"/>
              </a:rPr>
              <a:t>; rich because </a:t>
            </a:r>
            <a:pPr indent="0" marL="0">
              <a:lnSpc>
                <a:spcPct val="110000"/>
              </a:lnSpc>
              <a:buNone/>
            </a:pPr>
            <a:r>
              <a:rPr lang="en-US" sz="1600" i="1" dirty="0">
                <a:solidFill>
                  <a:srgbClr val="5F7284"/>
                </a:solidFill>
                <a:latin typeface="Calibri" pitchFamily="34" charset="0"/>
                <a:ea typeface="Calibri" pitchFamily="34" charset="-122"/>
                <a:cs typeface="Calibri" pitchFamily="34" charset="-120"/>
              </a:rPr>
              <a:t>(dimensions it touches)</a:t>
            </a:r>
            <a:pPr indent="0" marL="0">
              <a:lnSpc>
                <a:spcPct val="110000"/>
              </a:lnSpc>
              <a:buNone/>
            </a:pPr>
            <a:r>
              <a:rPr lang="en-US" sz="1600" dirty="0">
                <a:solidFill>
                  <a:srgbClr val="1E2A36"/>
                </a:solidFill>
                <a:latin typeface="Calibri" pitchFamily="34" charset="0"/>
                <a:ea typeface="Calibri" pitchFamily="34" charset="-122"/>
                <a:cs typeface="Calibri" pitchFamily="34" charset="-120"/>
              </a:rPr>
              <a:t>.</a:t>
            </a:r>
            <a:endParaRPr lang="en-US" sz="1600" dirty="0"/>
          </a:p>
        </p:txBody>
      </p:sp>
      <p:sp>
        <p:nvSpPr>
          <p:cNvPr id="13" name="Shape 9"/>
          <p:cNvSpPr/>
          <p:nvPr/>
        </p:nvSpPr>
        <p:spPr>
          <a:xfrm>
            <a:off x="548640" y="4892040"/>
            <a:ext cx="11064240" cy="960120"/>
          </a:xfrm>
          <a:prstGeom prst="roundRect">
            <a:avLst>
              <a:gd name="adj" fmla="val 8571"/>
            </a:avLst>
          </a:prstGeom>
          <a:solidFill>
            <a:srgbClr val="FBEEDA"/>
          </a:solidFill>
          <a:ln/>
          <a:effectLst>
            <a:outerShdw sx="100000" sy="100000" kx="0" ky="0" algn="bl" rotWithShape="0" blurRad="88900" dist="38100" dir="5400000">
              <a:srgbClr val="000000">
                <a:alpha val="13000"/>
              </a:srgbClr>
            </a:outerShdw>
          </a:effectLst>
        </p:spPr>
      </p:sp>
      <p:sp>
        <p:nvSpPr>
          <p:cNvPr id="14" name="Text 10"/>
          <p:cNvSpPr/>
          <p:nvPr/>
        </p:nvSpPr>
        <p:spPr>
          <a:xfrm>
            <a:off x="822960" y="4892040"/>
            <a:ext cx="10515600" cy="960120"/>
          </a:xfrm>
          <a:prstGeom prst="rect">
            <a:avLst/>
          </a:prstGeom>
          <a:noFill/>
          <a:ln/>
        </p:spPr>
        <p:txBody>
          <a:bodyPr wrap="square" lIns="0" tIns="0" rIns="0" bIns="0" rtlCol="0" anchor="ctr"/>
          <a:lstStyle/>
          <a:p>
            <a:pPr algn="ctr" indent="0" marL="0">
              <a:buNone/>
            </a:pPr>
            <a:r>
              <a:rPr lang="en-US" sz="1550" b="1" dirty="0">
                <a:solidFill>
                  <a:srgbClr val="0E6E6D"/>
                </a:solidFill>
                <a:latin typeface="Calibri" pitchFamily="34" charset="0"/>
                <a:ea typeface="Calibri" pitchFamily="34" charset="-122"/>
                <a:cs typeface="Calibri" pitchFamily="34" charset="-120"/>
              </a:rPr>
              <a:t>A working direction, not an irreversible vow.  </a:t>
            </a:r>
            <a:pPr algn="ctr" indent="0" marL="0">
              <a:buNone/>
            </a:pPr>
            <a:r>
              <a:rPr lang="en-US" sz="1550" dirty="0">
                <a:solidFill>
                  <a:srgbClr val="1E2A36"/>
                </a:solidFill>
                <a:latin typeface="Calibri" pitchFamily="34" charset="0"/>
                <a:ea typeface="Calibri" pitchFamily="34" charset="-122"/>
                <a:cs typeface="Calibri" pitchFamily="34" charset="-120"/>
              </a:rPr>
              <a:t>But from here, your discovery and proposal work focus here.</a:t>
            </a:r>
            <a:endParaRPr lang="en-US" sz="1550" dirty="0"/>
          </a:p>
        </p:txBody>
      </p:sp>
      <p:sp>
        <p:nvSpPr>
          <p:cNvPr id="15" name="Text 11"/>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6 · Convergence Workshop</a:t>
            </a:r>
            <a:endParaRPr lang="en-US" sz="1000" dirty="0"/>
          </a:p>
        </p:txBody>
      </p:sp>
      <p:sp>
        <p:nvSpPr>
          <p:cNvPr id="16" name="Text 1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WORKSHOP · PART 3 · ~8 MIN</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Commit + write your rationale</a:t>
            </a:r>
            <a:endParaRPr lang="en-US" sz="3200" dirty="0"/>
          </a:p>
        </p:txBody>
      </p:sp>
      <p:sp>
        <p:nvSpPr>
          <p:cNvPr id="6" name="Text 4"/>
          <p:cNvSpPr/>
          <p:nvPr/>
        </p:nvSpPr>
        <p:spPr>
          <a:xfrm>
            <a:off x="566928" y="1627632"/>
            <a:ext cx="10972800" cy="365760"/>
          </a:xfrm>
          <a:prstGeom prst="rect">
            <a:avLst/>
          </a:prstGeom>
          <a:noFill/>
          <a:ln/>
        </p:spPr>
        <p:txBody>
          <a:bodyPr wrap="square" lIns="0" tIns="0" rIns="0" bIns="0" rtlCol="0" anchor="ctr"/>
          <a:lstStyle/>
          <a:p>
            <a:pPr indent="0" marL="0">
              <a:buNone/>
            </a:pPr>
            <a:r>
              <a:rPr lang="en-US" sz="1600" i="1" dirty="0">
                <a:solidFill>
                  <a:srgbClr val="CFE0E9"/>
                </a:solidFill>
                <a:latin typeface="Calibri" pitchFamily="34" charset="0"/>
                <a:ea typeface="Calibri" pitchFamily="34" charset="-122"/>
                <a:cs typeface="Calibri" pitchFamily="34" charset="-120"/>
              </a:rPr>
              <a:t>Weigh it, choose, and write it down:</a:t>
            </a:r>
            <a:endParaRPr lang="en-US" sz="1600" dirty="0"/>
          </a:p>
        </p:txBody>
      </p:sp>
      <p:sp>
        <p:nvSpPr>
          <p:cNvPr id="7" name="Shape 5"/>
          <p:cNvSpPr/>
          <p:nvPr/>
        </p:nvSpPr>
        <p:spPr>
          <a:xfrm>
            <a:off x="548640" y="2148840"/>
            <a:ext cx="11064240" cy="1194816"/>
          </a:xfrm>
          <a:prstGeom prst="roundRect">
            <a:avLst>
              <a:gd name="adj" fmla="val 6888"/>
            </a:avLst>
          </a:prstGeom>
          <a:solidFill>
            <a:srgbClr val="1E3352"/>
          </a:solidFill>
          <a:ln/>
          <a:effectLst>
            <a:outerShdw sx="100000" sy="100000" kx="0" ky="0" algn="bl" rotWithShape="0" blurRad="88900" dist="38100" dir="5400000">
              <a:srgbClr val="000000">
                <a:alpha val="13000"/>
              </a:srgbClr>
            </a:outerShdw>
          </a:effectLst>
        </p:spPr>
      </p:sp>
      <p:sp>
        <p:nvSpPr>
          <p:cNvPr id="8" name="Shape 6"/>
          <p:cNvSpPr/>
          <p:nvPr/>
        </p:nvSpPr>
        <p:spPr>
          <a:xfrm>
            <a:off x="777240" y="2517648"/>
            <a:ext cx="457200" cy="457200"/>
          </a:xfrm>
          <a:prstGeom prst="ellipse">
            <a:avLst/>
          </a:prstGeom>
          <a:solidFill>
            <a:srgbClr val="E8A33D"/>
          </a:solidFill>
          <a:ln/>
        </p:spPr>
      </p:sp>
      <p:sp>
        <p:nvSpPr>
          <p:cNvPr id="9" name="Text 7"/>
          <p:cNvSpPr/>
          <p:nvPr/>
        </p:nvSpPr>
        <p:spPr>
          <a:xfrm>
            <a:off x="777240" y="2517648"/>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1</a:t>
            </a:r>
            <a:endParaRPr lang="en-US" sz="2000" dirty="0"/>
          </a:p>
        </p:txBody>
      </p:sp>
      <p:sp>
        <p:nvSpPr>
          <p:cNvPr id="10" name="Text 8"/>
          <p:cNvSpPr/>
          <p:nvPr/>
        </p:nvSpPr>
        <p:spPr>
          <a:xfrm>
            <a:off x="1417320" y="2148840"/>
            <a:ext cx="8595360" cy="1194816"/>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Weigh the scores and the peer feedback together.</a:t>
            </a:r>
            <a:endParaRPr lang="en-US" sz="1550" dirty="0"/>
          </a:p>
        </p:txBody>
      </p:sp>
      <p:sp>
        <p:nvSpPr>
          <p:cNvPr id="11" name="Text 9"/>
          <p:cNvSpPr/>
          <p:nvPr/>
        </p:nvSpPr>
        <p:spPr>
          <a:xfrm>
            <a:off x="10149840" y="2148840"/>
            <a:ext cx="1280160" cy="1194816"/>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2 min</a:t>
            </a:r>
            <a:endParaRPr lang="en-US" sz="1400" dirty="0"/>
          </a:p>
        </p:txBody>
      </p:sp>
      <p:sp>
        <p:nvSpPr>
          <p:cNvPr id="12" name="Shape 10"/>
          <p:cNvSpPr/>
          <p:nvPr/>
        </p:nvSpPr>
        <p:spPr>
          <a:xfrm>
            <a:off x="548640" y="3471672"/>
            <a:ext cx="11064240" cy="1194816"/>
          </a:xfrm>
          <a:prstGeom prst="roundRect">
            <a:avLst>
              <a:gd name="adj" fmla="val 6888"/>
            </a:avLst>
          </a:prstGeom>
          <a:solidFill>
            <a:srgbClr val="1E3352"/>
          </a:solidFill>
          <a:ln/>
          <a:effectLst>
            <a:outerShdw sx="100000" sy="100000" kx="0" ky="0" algn="bl" rotWithShape="0" blurRad="88900" dist="38100" dir="5400000">
              <a:srgbClr val="000000">
                <a:alpha val="13000"/>
              </a:srgbClr>
            </a:outerShdw>
          </a:effectLst>
        </p:spPr>
      </p:sp>
      <p:sp>
        <p:nvSpPr>
          <p:cNvPr id="13" name="Shape 11"/>
          <p:cNvSpPr/>
          <p:nvPr/>
        </p:nvSpPr>
        <p:spPr>
          <a:xfrm>
            <a:off x="777240" y="3840480"/>
            <a:ext cx="457200" cy="457200"/>
          </a:xfrm>
          <a:prstGeom prst="ellipse">
            <a:avLst/>
          </a:prstGeom>
          <a:solidFill>
            <a:srgbClr val="E8A33D"/>
          </a:solidFill>
          <a:ln/>
        </p:spPr>
      </p:sp>
      <p:sp>
        <p:nvSpPr>
          <p:cNvPr id="14" name="Text 12"/>
          <p:cNvSpPr/>
          <p:nvPr/>
        </p:nvSpPr>
        <p:spPr>
          <a:xfrm>
            <a:off x="777240" y="3840480"/>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2</a:t>
            </a:r>
            <a:endParaRPr lang="en-US" sz="2000" dirty="0"/>
          </a:p>
        </p:txBody>
      </p:sp>
      <p:sp>
        <p:nvSpPr>
          <p:cNvPr id="15" name="Text 13"/>
          <p:cNvSpPr/>
          <p:nvPr/>
        </p:nvSpPr>
        <p:spPr>
          <a:xfrm>
            <a:off x="1417320" y="3471672"/>
            <a:ext cx="8595360" cy="1194816"/>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Commit to one or two ideas to carry forward.</a:t>
            </a:r>
            <a:endParaRPr lang="en-US" sz="1550" dirty="0"/>
          </a:p>
        </p:txBody>
      </p:sp>
      <p:sp>
        <p:nvSpPr>
          <p:cNvPr id="16" name="Text 14"/>
          <p:cNvSpPr/>
          <p:nvPr/>
        </p:nvSpPr>
        <p:spPr>
          <a:xfrm>
            <a:off x="10149840" y="3471672"/>
            <a:ext cx="1280160" cy="1194816"/>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2 min</a:t>
            </a:r>
            <a:endParaRPr lang="en-US" sz="1400" dirty="0"/>
          </a:p>
        </p:txBody>
      </p:sp>
      <p:sp>
        <p:nvSpPr>
          <p:cNvPr id="17" name="Shape 15"/>
          <p:cNvSpPr/>
          <p:nvPr/>
        </p:nvSpPr>
        <p:spPr>
          <a:xfrm>
            <a:off x="548640" y="4794504"/>
            <a:ext cx="11064240" cy="1194816"/>
          </a:xfrm>
          <a:prstGeom prst="roundRect">
            <a:avLst>
              <a:gd name="adj" fmla="val 6888"/>
            </a:avLst>
          </a:prstGeom>
          <a:solidFill>
            <a:srgbClr val="1E3352"/>
          </a:solidFill>
          <a:ln/>
          <a:effectLst>
            <a:outerShdw sx="100000" sy="100000" kx="0" ky="0" algn="bl" rotWithShape="0" blurRad="88900" dist="38100" dir="5400000">
              <a:srgbClr val="000000">
                <a:alpha val="13000"/>
              </a:srgbClr>
            </a:outerShdw>
          </a:effectLst>
        </p:spPr>
      </p:sp>
      <p:sp>
        <p:nvSpPr>
          <p:cNvPr id="18" name="Shape 16"/>
          <p:cNvSpPr/>
          <p:nvPr/>
        </p:nvSpPr>
        <p:spPr>
          <a:xfrm>
            <a:off x="777240" y="5163312"/>
            <a:ext cx="457200" cy="457200"/>
          </a:xfrm>
          <a:prstGeom prst="ellipse">
            <a:avLst/>
          </a:prstGeom>
          <a:solidFill>
            <a:srgbClr val="E8A33D"/>
          </a:solidFill>
          <a:ln/>
        </p:spPr>
      </p:sp>
      <p:sp>
        <p:nvSpPr>
          <p:cNvPr id="19" name="Text 17"/>
          <p:cNvSpPr/>
          <p:nvPr/>
        </p:nvSpPr>
        <p:spPr>
          <a:xfrm>
            <a:off x="777240" y="5163312"/>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3</a:t>
            </a:r>
            <a:endParaRPr lang="en-US" sz="2000" dirty="0"/>
          </a:p>
        </p:txBody>
      </p:sp>
      <p:sp>
        <p:nvSpPr>
          <p:cNvPr id="20" name="Text 18"/>
          <p:cNvSpPr/>
          <p:nvPr/>
        </p:nvSpPr>
        <p:spPr>
          <a:xfrm>
            <a:off x="1417320" y="4794504"/>
            <a:ext cx="8595360" cy="1194816"/>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Write the one-line rationale for each: who · the real need · why feasible · why rich.</a:t>
            </a:r>
            <a:endParaRPr lang="en-US" sz="1550" dirty="0"/>
          </a:p>
        </p:txBody>
      </p:sp>
      <p:sp>
        <p:nvSpPr>
          <p:cNvPr id="21" name="Text 19"/>
          <p:cNvSpPr/>
          <p:nvPr/>
        </p:nvSpPr>
        <p:spPr>
          <a:xfrm>
            <a:off x="10149840" y="4794504"/>
            <a:ext cx="1280160" cy="1194816"/>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4 min</a:t>
            </a:r>
            <a:endParaRPr lang="en-US" sz="1400" dirty="0"/>
          </a:p>
        </p:txBody>
      </p:sp>
      <p:sp>
        <p:nvSpPr>
          <p:cNvPr id="22" name="Text 20"/>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6 · Convergence Workshop</a:t>
            </a:r>
            <a:endParaRPr lang="en-US" sz="1000" dirty="0"/>
          </a:p>
        </p:txBody>
      </p:sp>
      <p:sp>
        <p:nvSpPr>
          <p:cNvPr id="23" name="Text 21"/>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THIS WEEKEND</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Your idea becomes the Product Definition Brief</a:t>
            </a:r>
            <a:endParaRPr lang="en-US" sz="3100" dirty="0"/>
          </a:p>
        </p:txBody>
      </p:sp>
      <p:sp>
        <p:nvSpPr>
          <p:cNvPr id="5" name="Text 3"/>
          <p:cNvSpPr/>
          <p:nvPr/>
        </p:nvSpPr>
        <p:spPr>
          <a:xfrm>
            <a:off x="548640" y="1572768"/>
            <a:ext cx="11064240" cy="365760"/>
          </a:xfrm>
          <a:prstGeom prst="rect">
            <a:avLst/>
          </a:prstGeom>
          <a:noFill/>
          <a:ln/>
        </p:spPr>
        <p:txBody>
          <a:bodyPr wrap="square" lIns="0" tIns="0" rIns="0" bIns="0" rtlCol="0" anchor="ctr"/>
          <a:lstStyle/>
          <a:p>
            <a:pPr indent="0" marL="0">
              <a:buNone/>
            </a:pPr>
            <a:r>
              <a:rPr lang="en-US" sz="1450" i="1" dirty="0">
                <a:solidFill>
                  <a:srgbClr val="5F7284"/>
                </a:solidFill>
                <a:latin typeface="Calibri" pitchFamily="34" charset="0"/>
                <a:ea typeface="Calibri" pitchFamily="34" charset="-122"/>
                <a:cs typeface="Calibri" pitchFamily="34" charset="-120"/>
              </a:rPr>
              <a:t>The idea you just chose is what CP2 documents — a lightweight PRD (see the PRD Reference on Canvas). Five sections:</a:t>
            </a:r>
            <a:endParaRPr lang="en-US" sz="1450" dirty="0"/>
          </a:p>
        </p:txBody>
      </p:sp>
      <p:sp>
        <p:nvSpPr>
          <p:cNvPr id="6" name="Shape 4"/>
          <p:cNvSpPr/>
          <p:nvPr/>
        </p:nvSpPr>
        <p:spPr>
          <a:xfrm>
            <a:off x="548640" y="2011680"/>
            <a:ext cx="3511296" cy="1783080"/>
          </a:xfrm>
          <a:prstGeom prst="roundRect">
            <a:avLst>
              <a:gd name="adj" fmla="val 4615"/>
            </a:avLst>
          </a:prstGeom>
          <a:solidFill>
            <a:srgbClr val="F2F6F8"/>
          </a:solidFill>
          <a:ln/>
          <a:effectLst>
            <a:outerShdw sx="100000" sy="100000" kx="0" ky="0" algn="bl" rotWithShape="0" blurRad="88900" dist="38100" dir="5400000">
              <a:srgbClr val="000000">
                <a:alpha val="13000"/>
              </a:srgbClr>
            </a:outerShdw>
          </a:effectLst>
        </p:spPr>
      </p:sp>
      <p:sp>
        <p:nvSpPr>
          <p:cNvPr id="7" name="Shape 5"/>
          <p:cNvSpPr/>
          <p:nvPr/>
        </p:nvSpPr>
        <p:spPr>
          <a:xfrm>
            <a:off x="786384" y="2249424"/>
            <a:ext cx="512064" cy="512064"/>
          </a:xfrm>
          <a:prstGeom prst="ellipse">
            <a:avLst/>
          </a:prstGeom>
          <a:solidFill>
            <a:srgbClr val="12908F"/>
          </a:solidFill>
          <a:ln/>
        </p:spPr>
      </p:sp>
      <p:pic>
        <p:nvPicPr>
          <p:cNvPr id="8" name="Image 0" descr="preencoded.png">    </p:cNvPr>
          <p:cNvPicPr>
            <a:picLocks noChangeAspect="1"/>
          </p:cNvPicPr>
          <p:nvPr/>
        </p:nvPicPr>
        <p:blipFill>
          <a:blip r:embed="rId1"/>
          <a:stretch>
            <a:fillRect/>
          </a:stretch>
        </p:blipFill>
        <p:spPr>
          <a:xfrm>
            <a:off x="924641" y="2387681"/>
            <a:ext cx="235549" cy="235549"/>
          </a:xfrm>
          <a:prstGeom prst="rect">
            <a:avLst/>
          </a:prstGeom>
        </p:spPr>
      </p:pic>
      <p:sp>
        <p:nvSpPr>
          <p:cNvPr id="9" name="Text 6"/>
          <p:cNvSpPr/>
          <p:nvPr/>
        </p:nvSpPr>
        <p:spPr>
          <a:xfrm>
            <a:off x="1408176" y="2249424"/>
            <a:ext cx="2505456" cy="512064"/>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Target user</a:t>
            </a:r>
            <a:endParaRPr lang="en-US" sz="1650" dirty="0"/>
          </a:p>
        </p:txBody>
      </p:sp>
      <p:sp>
        <p:nvSpPr>
          <p:cNvPr id="10" name="Text 7"/>
          <p:cNvSpPr/>
          <p:nvPr/>
        </p:nvSpPr>
        <p:spPr>
          <a:xfrm>
            <a:off x="786384" y="2871216"/>
            <a:ext cx="3054096" cy="822960"/>
          </a:xfrm>
          <a:prstGeom prst="rect">
            <a:avLst/>
          </a:prstGeom>
          <a:noFill/>
          <a:ln/>
        </p:spPr>
        <p:txBody>
          <a:bodyPr wrap="square" lIns="0" tIns="0" rIns="0" bIns="0" rtlCol="0" anchor="t"/>
          <a:lstStyle/>
          <a:p>
            <a:pPr indent="0" marL="0">
              <a:lnSpc>
                <a:spcPct val="104000"/>
              </a:lnSpc>
              <a:buNone/>
            </a:pPr>
            <a:r>
              <a:rPr lang="en-US" sz="1300" dirty="0">
                <a:solidFill>
                  <a:srgbClr val="5F7284"/>
                </a:solidFill>
                <a:latin typeface="Calibri" pitchFamily="34" charset="0"/>
                <a:ea typeface="Calibri" pitchFamily="34" charset="-122"/>
                <a:cs typeface="Calibri" pitchFamily="34" charset="-120"/>
              </a:rPr>
              <a:t>Sharply defined and bounded — who's in, who's out.</a:t>
            </a:r>
            <a:endParaRPr lang="en-US" sz="1300" dirty="0"/>
          </a:p>
        </p:txBody>
      </p:sp>
      <p:sp>
        <p:nvSpPr>
          <p:cNvPr id="11" name="Shape 8"/>
          <p:cNvSpPr/>
          <p:nvPr/>
        </p:nvSpPr>
        <p:spPr>
          <a:xfrm>
            <a:off x="4233672" y="2011680"/>
            <a:ext cx="3511296" cy="1783080"/>
          </a:xfrm>
          <a:prstGeom prst="roundRect">
            <a:avLst>
              <a:gd name="adj" fmla="val 4615"/>
            </a:avLst>
          </a:prstGeom>
          <a:solidFill>
            <a:srgbClr val="F2F6F8"/>
          </a:solidFill>
          <a:ln/>
          <a:effectLst>
            <a:outerShdw sx="100000" sy="100000" kx="0" ky="0" algn="bl" rotWithShape="0" blurRad="88900" dist="38100" dir="5400000">
              <a:srgbClr val="000000">
                <a:alpha val="13000"/>
              </a:srgbClr>
            </a:outerShdw>
          </a:effectLst>
        </p:spPr>
      </p:sp>
      <p:sp>
        <p:nvSpPr>
          <p:cNvPr id="12" name="Shape 9"/>
          <p:cNvSpPr/>
          <p:nvPr/>
        </p:nvSpPr>
        <p:spPr>
          <a:xfrm>
            <a:off x="4471416" y="2249424"/>
            <a:ext cx="512064" cy="512064"/>
          </a:xfrm>
          <a:prstGeom prst="ellipse">
            <a:avLst/>
          </a:prstGeom>
          <a:solidFill>
            <a:srgbClr val="12908F"/>
          </a:solidFill>
          <a:ln/>
        </p:spPr>
      </p:sp>
      <p:pic>
        <p:nvPicPr>
          <p:cNvPr id="13" name="Image 1" descr="preencoded.png">    </p:cNvPr>
          <p:cNvPicPr>
            <a:picLocks noChangeAspect="1"/>
          </p:cNvPicPr>
          <p:nvPr/>
        </p:nvPicPr>
        <p:blipFill>
          <a:blip r:embed="rId2"/>
          <a:stretch>
            <a:fillRect/>
          </a:stretch>
        </p:blipFill>
        <p:spPr>
          <a:xfrm>
            <a:off x="4609673" y="2387681"/>
            <a:ext cx="235549" cy="235549"/>
          </a:xfrm>
          <a:prstGeom prst="rect">
            <a:avLst/>
          </a:prstGeom>
        </p:spPr>
      </p:pic>
      <p:sp>
        <p:nvSpPr>
          <p:cNvPr id="14" name="Text 10"/>
          <p:cNvSpPr/>
          <p:nvPr/>
        </p:nvSpPr>
        <p:spPr>
          <a:xfrm>
            <a:off x="5093208" y="2249424"/>
            <a:ext cx="2505456" cy="512064"/>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The needs</a:t>
            </a:r>
            <a:endParaRPr lang="en-US" sz="1650" dirty="0"/>
          </a:p>
        </p:txBody>
      </p:sp>
      <p:sp>
        <p:nvSpPr>
          <p:cNvPr id="15" name="Text 11"/>
          <p:cNvSpPr/>
          <p:nvPr/>
        </p:nvSpPr>
        <p:spPr>
          <a:xfrm>
            <a:off x="4471416" y="2871216"/>
            <a:ext cx="3054096" cy="822960"/>
          </a:xfrm>
          <a:prstGeom prst="rect">
            <a:avLst/>
          </a:prstGeom>
          <a:noFill/>
          <a:ln/>
        </p:spPr>
        <p:txBody>
          <a:bodyPr wrap="square" lIns="0" tIns="0" rIns="0" bIns="0" rtlCol="0" anchor="t"/>
          <a:lstStyle/>
          <a:p>
            <a:pPr indent="0" marL="0">
              <a:lnSpc>
                <a:spcPct val="104000"/>
              </a:lnSpc>
              <a:buNone/>
            </a:pPr>
            <a:r>
              <a:rPr lang="en-US" sz="1300" dirty="0">
                <a:solidFill>
                  <a:srgbClr val="5F7284"/>
                </a:solidFill>
                <a:latin typeface="Calibri" pitchFamily="34" charset="0"/>
                <a:ea typeface="Calibri" pitchFamily="34" charset="-122"/>
                <a:cs typeface="Calibri" pitchFamily="34" charset="-120"/>
              </a:rPr>
              <a:t>What they're trying to do; tagged [E] evidence / [A] assumption.</a:t>
            </a:r>
            <a:endParaRPr lang="en-US" sz="1300" dirty="0"/>
          </a:p>
        </p:txBody>
      </p:sp>
      <p:sp>
        <p:nvSpPr>
          <p:cNvPr id="16" name="Shape 12"/>
          <p:cNvSpPr/>
          <p:nvPr/>
        </p:nvSpPr>
        <p:spPr>
          <a:xfrm>
            <a:off x="7918704" y="2011680"/>
            <a:ext cx="3511296" cy="1783080"/>
          </a:xfrm>
          <a:prstGeom prst="roundRect">
            <a:avLst>
              <a:gd name="adj" fmla="val 4615"/>
            </a:avLst>
          </a:prstGeom>
          <a:solidFill>
            <a:srgbClr val="F2F6F8"/>
          </a:solidFill>
          <a:ln/>
          <a:effectLst>
            <a:outerShdw sx="100000" sy="100000" kx="0" ky="0" algn="bl" rotWithShape="0" blurRad="88900" dist="38100" dir="5400000">
              <a:srgbClr val="000000">
                <a:alpha val="13000"/>
              </a:srgbClr>
            </a:outerShdw>
          </a:effectLst>
        </p:spPr>
      </p:sp>
      <p:sp>
        <p:nvSpPr>
          <p:cNvPr id="17" name="Shape 13"/>
          <p:cNvSpPr/>
          <p:nvPr/>
        </p:nvSpPr>
        <p:spPr>
          <a:xfrm>
            <a:off x="8156448" y="2249424"/>
            <a:ext cx="512064" cy="512064"/>
          </a:xfrm>
          <a:prstGeom prst="ellipse">
            <a:avLst/>
          </a:prstGeom>
          <a:solidFill>
            <a:srgbClr val="12908F"/>
          </a:solidFill>
          <a:ln/>
        </p:spPr>
      </p:sp>
      <p:pic>
        <p:nvPicPr>
          <p:cNvPr id="18" name="Image 2" descr="preencoded.png">    </p:cNvPr>
          <p:cNvPicPr>
            <a:picLocks noChangeAspect="1"/>
          </p:cNvPicPr>
          <p:nvPr/>
        </p:nvPicPr>
        <p:blipFill>
          <a:blip r:embed="rId3"/>
          <a:stretch>
            <a:fillRect/>
          </a:stretch>
        </p:blipFill>
        <p:spPr>
          <a:xfrm>
            <a:off x="8294705" y="2387681"/>
            <a:ext cx="235549" cy="235549"/>
          </a:xfrm>
          <a:prstGeom prst="rect">
            <a:avLst/>
          </a:prstGeom>
        </p:spPr>
      </p:pic>
      <p:sp>
        <p:nvSpPr>
          <p:cNvPr id="19" name="Text 14"/>
          <p:cNvSpPr/>
          <p:nvPr/>
        </p:nvSpPr>
        <p:spPr>
          <a:xfrm>
            <a:off x="8778240" y="2249424"/>
            <a:ext cx="2505456" cy="512064"/>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Prioritized needs</a:t>
            </a:r>
            <a:endParaRPr lang="en-US" sz="1650" dirty="0"/>
          </a:p>
        </p:txBody>
      </p:sp>
      <p:sp>
        <p:nvSpPr>
          <p:cNvPr id="20" name="Text 15"/>
          <p:cNvSpPr/>
          <p:nvPr/>
        </p:nvSpPr>
        <p:spPr>
          <a:xfrm>
            <a:off x="8156448" y="2871216"/>
            <a:ext cx="3054096" cy="822960"/>
          </a:xfrm>
          <a:prstGeom prst="rect">
            <a:avLst/>
          </a:prstGeom>
          <a:noFill/>
          <a:ln/>
        </p:spPr>
        <p:txBody>
          <a:bodyPr wrap="square" lIns="0" tIns="0" rIns="0" bIns="0" rtlCol="0" anchor="t"/>
          <a:lstStyle/>
          <a:p>
            <a:pPr indent="0" marL="0">
              <a:lnSpc>
                <a:spcPct val="104000"/>
              </a:lnSpc>
              <a:buNone/>
            </a:pPr>
            <a:r>
              <a:rPr lang="en-US" sz="1300" dirty="0">
                <a:solidFill>
                  <a:srgbClr val="5F7284"/>
                </a:solidFill>
                <a:latin typeface="Calibri" pitchFamily="34" charset="0"/>
                <a:ea typeface="Calibri" pitchFamily="34" charset="-122"/>
                <a:cs typeface="Calibri" pitchFamily="34" charset="-120"/>
              </a:rPr>
              <a:t>Must-have vs. nice-to-have, with a one-line rationale.</a:t>
            </a:r>
            <a:endParaRPr lang="en-US" sz="1300" dirty="0"/>
          </a:p>
        </p:txBody>
      </p:sp>
      <p:sp>
        <p:nvSpPr>
          <p:cNvPr id="21" name="Shape 16"/>
          <p:cNvSpPr/>
          <p:nvPr/>
        </p:nvSpPr>
        <p:spPr>
          <a:xfrm>
            <a:off x="548640" y="3913632"/>
            <a:ext cx="3511296" cy="1783080"/>
          </a:xfrm>
          <a:prstGeom prst="roundRect">
            <a:avLst>
              <a:gd name="adj" fmla="val 4615"/>
            </a:avLst>
          </a:prstGeom>
          <a:solidFill>
            <a:srgbClr val="F2F6F8"/>
          </a:solidFill>
          <a:ln/>
          <a:effectLst>
            <a:outerShdw sx="100000" sy="100000" kx="0" ky="0" algn="bl" rotWithShape="0" blurRad="88900" dist="38100" dir="5400000">
              <a:srgbClr val="000000">
                <a:alpha val="13000"/>
              </a:srgbClr>
            </a:outerShdw>
          </a:effectLst>
        </p:spPr>
      </p:sp>
      <p:sp>
        <p:nvSpPr>
          <p:cNvPr id="22" name="Shape 17"/>
          <p:cNvSpPr/>
          <p:nvPr/>
        </p:nvSpPr>
        <p:spPr>
          <a:xfrm>
            <a:off x="786384" y="4151376"/>
            <a:ext cx="512064" cy="512064"/>
          </a:xfrm>
          <a:prstGeom prst="ellipse">
            <a:avLst/>
          </a:prstGeom>
          <a:solidFill>
            <a:srgbClr val="12908F"/>
          </a:solidFill>
          <a:ln/>
        </p:spPr>
      </p:sp>
      <p:pic>
        <p:nvPicPr>
          <p:cNvPr id="23" name="Image 3" descr="preencoded.png">    </p:cNvPr>
          <p:cNvPicPr>
            <a:picLocks noChangeAspect="1"/>
          </p:cNvPicPr>
          <p:nvPr/>
        </p:nvPicPr>
        <p:blipFill>
          <a:blip r:embed="rId4"/>
          <a:stretch>
            <a:fillRect/>
          </a:stretch>
        </p:blipFill>
        <p:spPr>
          <a:xfrm>
            <a:off x="924641" y="4289633"/>
            <a:ext cx="235549" cy="235549"/>
          </a:xfrm>
          <a:prstGeom prst="rect">
            <a:avLst/>
          </a:prstGeom>
        </p:spPr>
      </p:pic>
      <p:sp>
        <p:nvSpPr>
          <p:cNvPr id="24" name="Text 18"/>
          <p:cNvSpPr/>
          <p:nvPr/>
        </p:nvSpPr>
        <p:spPr>
          <a:xfrm>
            <a:off x="1408176" y="4151376"/>
            <a:ext cx="2505456" cy="512064"/>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Success criteria</a:t>
            </a:r>
            <a:endParaRPr lang="en-US" sz="1650" dirty="0"/>
          </a:p>
        </p:txBody>
      </p:sp>
      <p:sp>
        <p:nvSpPr>
          <p:cNvPr id="25" name="Text 19"/>
          <p:cNvSpPr/>
          <p:nvPr/>
        </p:nvSpPr>
        <p:spPr>
          <a:xfrm>
            <a:off x="786384" y="4773168"/>
            <a:ext cx="3054096" cy="822960"/>
          </a:xfrm>
          <a:prstGeom prst="rect">
            <a:avLst/>
          </a:prstGeom>
          <a:noFill/>
          <a:ln/>
        </p:spPr>
        <p:txBody>
          <a:bodyPr wrap="square" lIns="0" tIns="0" rIns="0" bIns="0" rtlCol="0" anchor="t"/>
          <a:lstStyle/>
          <a:p>
            <a:pPr indent="0" marL="0">
              <a:lnSpc>
                <a:spcPct val="104000"/>
              </a:lnSpc>
              <a:buNone/>
            </a:pPr>
            <a:r>
              <a:rPr lang="en-US" sz="1300" dirty="0">
                <a:solidFill>
                  <a:srgbClr val="5F7284"/>
                </a:solidFill>
                <a:latin typeface="Calibri" pitchFamily="34" charset="0"/>
                <a:ea typeface="Calibri" pitchFamily="34" charset="-122"/>
                <a:cs typeface="Calibri" pitchFamily="34" charset="-120"/>
              </a:rPr>
              <a:t>Specific, observable definitions of "this works."</a:t>
            </a:r>
            <a:endParaRPr lang="en-US" sz="1300" dirty="0"/>
          </a:p>
        </p:txBody>
      </p:sp>
      <p:sp>
        <p:nvSpPr>
          <p:cNvPr id="26" name="Shape 20"/>
          <p:cNvSpPr/>
          <p:nvPr/>
        </p:nvSpPr>
        <p:spPr>
          <a:xfrm>
            <a:off x="4233672" y="3913632"/>
            <a:ext cx="3511296" cy="1783080"/>
          </a:xfrm>
          <a:prstGeom prst="roundRect">
            <a:avLst>
              <a:gd name="adj" fmla="val 4615"/>
            </a:avLst>
          </a:prstGeom>
          <a:solidFill>
            <a:srgbClr val="F2F6F8"/>
          </a:solidFill>
          <a:ln/>
          <a:effectLst>
            <a:outerShdw sx="100000" sy="100000" kx="0" ky="0" algn="bl" rotWithShape="0" blurRad="88900" dist="38100" dir="5400000">
              <a:srgbClr val="000000">
                <a:alpha val="13000"/>
              </a:srgbClr>
            </a:outerShdw>
          </a:effectLst>
        </p:spPr>
      </p:sp>
      <p:sp>
        <p:nvSpPr>
          <p:cNvPr id="27" name="Shape 21"/>
          <p:cNvSpPr/>
          <p:nvPr/>
        </p:nvSpPr>
        <p:spPr>
          <a:xfrm>
            <a:off x="4471416" y="4151376"/>
            <a:ext cx="512064" cy="512064"/>
          </a:xfrm>
          <a:prstGeom prst="ellipse">
            <a:avLst/>
          </a:prstGeom>
          <a:solidFill>
            <a:srgbClr val="12908F"/>
          </a:solidFill>
          <a:ln/>
        </p:spPr>
      </p:sp>
      <p:pic>
        <p:nvPicPr>
          <p:cNvPr id="28" name="Image 4" descr="preencoded.png">    </p:cNvPr>
          <p:cNvPicPr>
            <a:picLocks noChangeAspect="1"/>
          </p:cNvPicPr>
          <p:nvPr/>
        </p:nvPicPr>
        <p:blipFill>
          <a:blip r:embed="rId5"/>
          <a:stretch>
            <a:fillRect/>
          </a:stretch>
        </p:blipFill>
        <p:spPr>
          <a:xfrm>
            <a:off x="4609673" y="4289633"/>
            <a:ext cx="235549" cy="235549"/>
          </a:xfrm>
          <a:prstGeom prst="rect">
            <a:avLst/>
          </a:prstGeom>
        </p:spPr>
      </p:pic>
      <p:sp>
        <p:nvSpPr>
          <p:cNvPr id="29" name="Text 22"/>
          <p:cNvSpPr/>
          <p:nvPr/>
        </p:nvSpPr>
        <p:spPr>
          <a:xfrm>
            <a:off x="5093208" y="4151376"/>
            <a:ext cx="2505456" cy="512064"/>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Open questions</a:t>
            </a:r>
            <a:endParaRPr lang="en-US" sz="1650" dirty="0"/>
          </a:p>
        </p:txBody>
      </p:sp>
      <p:sp>
        <p:nvSpPr>
          <p:cNvPr id="30" name="Text 23"/>
          <p:cNvSpPr/>
          <p:nvPr/>
        </p:nvSpPr>
        <p:spPr>
          <a:xfrm>
            <a:off x="4471416" y="4773168"/>
            <a:ext cx="3054096" cy="822960"/>
          </a:xfrm>
          <a:prstGeom prst="rect">
            <a:avLst/>
          </a:prstGeom>
          <a:noFill/>
          <a:ln/>
        </p:spPr>
        <p:txBody>
          <a:bodyPr wrap="square" lIns="0" tIns="0" rIns="0" bIns="0" rtlCol="0" anchor="t"/>
          <a:lstStyle/>
          <a:p>
            <a:pPr indent="0" marL="0">
              <a:lnSpc>
                <a:spcPct val="104000"/>
              </a:lnSpc>
              <a:buNone/>
            </a:pPr>
            <a:r>
              <a:rPr lang="en-US" sz="1300" dirty="0">
                <a:solidFill>
                  <a:srgbClr val="5F7284"/>
                </a:solidFill>
                <a:latin typeface="Calibri" pitchFamily="34" charset="0"/>
                <a:ea typeface="Calibri" pitchFamily="34" charset="-122"/>
                <a:cs typeface="Calibri" pitchFamily="34" charset="-120"/>
              </a:rPr>
              <a:t>The biggest assumptions you'd still verify.</a:t>
            </a:r>
            <a:endParaRPr lang="en-US" sz="1300" dirty="0"/>
          </a:p>
        </p:txBody>
      </p:sp>
      <p:sp>
        <p:nvSpPr>
          <p:cNvPr id="31" name="Shape 24"/>
          <p:cNvSpPr/>
          <p:nvPr/>
        </p:nvSpPr>
        <p:spPr>
          <a:xfrm>
            <a:off x="7918704" y="3913632"/>
            <a:ext cx="3511296" cy="1783080"/>
          </a:xfrm>
          <a:prstGeom prst="roundRect">
            <a:avLst>
              <a:gd name="adj" fmla="val 4615"/>
            </a:avLst>
          </a:prstGeom>
          <a:solidFill>
            <a:srgbClr val="14233A"/>
          </a:solidFill>
          <a:ln/>
          <a:effectLst>
            <a:outerShdw sx="100000" sy="100000" kx="0" ky="0" algn="bl" rotWithShape="0" blurRad="88900" dist="38100" dir="5400000">
              <a:srgbClr val="000000">
                <a:alpha val="13000"/>
              </a:srgbClr>
            </a:outerShdw>
          </a:effectLst>
        </p:spPr>
      </p:sp>
      <p:sp>
        <p:nvSpPr>
          <p:cNvPr id="32" name="Shape 25"/>
          <p:cNvSpPr/>
          <p:nvPr/>
        </p:nvSpPr>
        <p:spPr>
          <a:xfrm>
            <a:off x="8156448" y="4151376"/>
            <a:ext cx="512064" cy="512064"/>
          </a:xfrm>
          <a:prstGeom prst="ellipse">
            <a:avLst/>
          </a:prstGeom>
          <a:solidFill>
            <a:srgbClr val="E8A33D"/>
          </a:solidFill>
          <a:ln/>
        </p:spPr>
      </p:sp>
      <p:pic>
        <p:nvPicPr>
          <p:cNvPr id="33" name="Image 5" descr="preencoded.png">    </p:cNvPr>
          <p:cNvPicPr>
            <a:picLocks noChangeAspect="1"/>
          </p:cNvPicPr>
          <p:nvPr/>
        </p:nvPicPr>
        <p:blipFill>
          <a:blip r:embed="rId6"/>
          <a:stretch>
            <a:fillRect/>
          </a:stretch>
        </p:blipFill>
        <p:spPr>
          <a:xfrm>
            <a:off x="8294705" y="4289633"/>
            <a:ext cx="235549" cy="235549"/>
          </a:xfrm>
          <a:prstGeom prst="rect">
            <a:avLst/>
          </a:prstGeom>
        </p:spPr>
      </p:pic>
      <p:sp>
        <p:nvSpPr>
          <p:cNvPr id="34" name="Text 26"/>
          <p:cNvSpPr/>
          <p:nvPr/>
        </p:nvSpPr>
        <p:spPr>
          <a:xfrm>
            <a:off x="8778240" y="4151376"/>
            <a:ext cx="2468880" cy="512064"/>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Due Mon, Sep 28</a:t>
            </a:r>
            <a:endParaRPr lang="en-US" sz="1600" dirty="0"/>
          </a:p>
        </p:txBody>
      </p:sp>
      <p:sp>
        <p:nvSpPr>
          <p:cNvPr id="35" name="Text 27"/>
          <p:cNvSpPr/>
          <p:nvPr/>
        </p:nvSpPr>
        <p:spPr>
          <a:xfrm>
            <a:off x="8156448" y="4773168"/>
            <a:ext cx="3035808" cy="822960"/>
          </a:xfrm>
          <a:prstGeom prst="rect">
            <a:avLst/>
          </a:prstGeom>
          <a:noFill/>
          <a:ln/>
        </p:spPr>
        <p:txBody>
          <a:bodyPr wrap="square" lIns="0" tIns="0" rIns="0" bIns="0" rtlCol="0" anchor="t"/>
          <a:lstStyle/>
          <a:p>
            <a:pPr indent="0" marL="0">
              <a:lnSpc>
                <a:spcPct val="104000"/>
              </a:lnSpc>
              <a:buNone/>
            </a:pPr>
            <a:r>
              <a:rPr lang="en-US" sz="1250" dirty="0">
                <a:solidFill>
                  <a:srgbClr val="CFE0E9"/>
                </a:solidFill>
                <a:latin typeface="Calibri" pitchFamily="34" charset="0"/>
                <a:ea typeface="Calibri" pitchFamily="34" charset="-122"/>
                <a:cs typeface="Calibri" pitchFamily="34" charset="-120"/>
              </a:rPr>
              <a:t>Written from today's pick + feedback. ~2 pages. Ground it in your Discovery Notes.</a:t>
            </a:r>
            <a:endParaRPr lang="en-US" sz="1250" dirty="0"/>
          </a:p>
        </p:txBody>
      </p:sp>
      <p:sp>
        <p:nvSpPr>
          <p:cNvPr id="36" name="Text 28"/>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6 · Convergence Workshop</a:t>
            </a:r>
            <a:endParaRPr lang="en-US" sz="1000" dirty="0"/>
          </a:p>
        </p:txBody>
      </p:sp>
      <p:sp>
        <p:nvSpPr>
          <p:cNvPr id="37" name="Text 29"/>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HOW CP2 IS GRADED</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Product Definition Brief — the rubric</a:t>
            </a:r>
            <a:endParaRPr lang="en-US" sz="3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810512"/>
          <a:ext cx="11064240" cy="914400"/>
        </p:xfrm>
        <a:graphic>
          <a:graphicData uri="http://schemas.openxmlformats.org/drawingml/2006/table">
            <a:tbl>
              <a:tblPr/>
              <a:tblGrid>
                <a:gridCol w="3017520"/>
                <a:gridCol w="822960"/>
                <a:gridCol w="7223760"/>
              </a:tblGrid>
              <a:tr h="566928">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Criterion</a:t>
                      </a:r>
                      <a:endParaRPr lang="en-US" sz="145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4233A"/>
                    </a:solidFill>
                  </a:tcPr>
                </a:tc>
                <a:tc>
                  <a:txBody>
                    <a:bodyPr/>
                    <a:lstStyle/>
                    <a:p>
                      <a:pPr algn="ctr" indent="0" marL="0">
                        <a:buNone/>
                      </a:pPr>
                      <a:r>
                        <a:rPr lang="en-US" sz="1450" b="1" dirty="0">
                          <a:solidFill>
                            <a:srgbClr val="FFFFFF"/>
                          </a:solidFill>
                          <a:latin typeface="Calibri" pitchFamily="34" charset="0"/>
                          <a:ea typeface="Calibri" pitchFamily="34" charset="-122"/>
                          <a:cs typeface="Calibri" pitchFamily="34" charset="-120"/>
                        </a:rPr>
                        <a:t>Wt</a:t>
                      </a:r>
                      <a:endParaRPr lang="en-US" sz="145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4233A"/>
                    </a:solidFill>
                  </a:tcPr>
                </a:tc>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What it measures</a:t>
                      </a:r>
                      <a:endParaRPr lang="en-US" sz="145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4233A"/>
                    </a:solidFill>
                  </a:tcPr>
                </a:tc>
              </a:tr>
              <a:tr h="566928">
                <a:tc>
                  <a:txBody>
                    <a:bodyPr/>
                    <a:lstStyle/>
                    <a:p>
                      <a:pPr indent="0" marL="0">
                        <a:buNone/>
                      </a:pPr>
                      <a:r>
                        <a:rPr lang="en-US" sz="1400" b="1" dirty="0">
                          <a:solidFill>
                            <a:srgbClr val="1E2A36"/>
                          </a:solidFill>
                          <a:latin typeface="Calibri" pitchFamily="34" charset="0"/>
                          <a:ea typeface="Calibri" pitchFamily="34" charset="-122"/>
                          <a:cs typeface="Calibri" pitchFamily="34" charset="-120"/>
                        </a:rPr>
                        <a:t>Target user clarity</a:t>
                      </a:r>
                      <a:endParaRPr lang="en-US" sz="140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6E6D"/>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50" dirty="0">
                          <a:solidFill>
                            <a:srgbClr val="1E2A36"/>
                          </a:solidFill>
                          <a:latin typeface="Calibri" pitchFamily="34" charset="0"/>
                          <a:ea typeface="Calibri" pitchFamily="34" charset="-122"/>
                          <a:cs typeface="Calibri" pitchFamily="34" charset="-120"/>
                        </a:rPr>
                        <a:t>Userbase sharply defined and bounded — not "everyone."</a:t>
                      </a:r>
                      <a:endParaRPr lang="en-US" sz="135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rgbClr val="1E2A36"/>
                          </a:solidFill>
                          <a:latin typeface="Calibri" pitchFamily="34" charset="0"/>
                          <a:ea typeface="Calibri" pitchFamily="34" charset="-122"/>
                          <a:cs typeface="Calibri" pitchFamily="34" charset="-120"/>
                        </a:rPr>
                        <a:t>Needfinding quality &amp; honesty</a:t>
                      </a:r>
                      <a:endParaRPr lang="en-US" sz="140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AD2"/>
                    </a:solidFill>
                  </a:tcPr>
                </a:tc>
                <a:tc>
                  <a:txBody>
                    <a:bodyPr/>
                    <a:lstStyle/>
                    <a:p>
                      <a:pPr algn="ctr" indent="0" marL="0">
                        <a:buNone/>
                      </a:pPr>
                      <a:r>
                        <a:rPr lang="en-US" sz="1400" b="1" dirty="0">
                          <a:solidFill>
                            <a:srgbClr val="0E6E6D"/>
                          </a:solidFill>
                          <a:latin typeface="Calibri" pitchFamily="34" charset="0"/>
                          <a:ea typeface="Calibri" pitchFamily="34" charset="-122"/>
                          <a:cs typeface="Calibri" pitchFamily="34" charset="-120"/>
                        </a:rPr>
                        <a:t>30</a:t>
                      </a:r>
                      <a:endParaRPr lang="en-US" sz="140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AD2"/>
                    </a:solidFill>
                  </a:tcPr>
                </a:tc>
                <a:tc>
                  <a:txBody>
                    <a:bodyPr/>
                    <a:lstStyle/>
                    <a:p>
                      <a:pPr indent="0" marL="0">
                        <a:buNone/>
                      </a:pPr>
                      <a:r>
                        <a:rPr lang="en-US" sz="1350" dirty="0">
                          <a:solidFill>
                            <a:srgbClr val="1E2A36"/>
                          </a:solidFill>
                          <a:latin typeface="Calibri" pitchFamily="34" charset="0"/>
                          <a:ea typeface="Calibri" pitchFamily="34" charset="-122"/>
                          <a:cs typeface="Calibri" pitchFamily="34" charset="-120"/>
                        </a:rPr>
                        <a:t>Interviews and/or a documented persona; honesty about method graded as heavily as the findings.</a:t>
                      </a:r>
                      <a:endParaRPr lang="en-US" sz="135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AD2"/>
                    </a:solidFill>
                  </a:tcPr>
                </a:tc>
              </a:tr>
              <a:tr h="566928">
                <a:tc>
                  <a:txBody>
                    <a:bodyPr/>
                    <a:lstStyle/>
                    <a:p>
                      <a:pPr indent="0" marL="0">
                        <a:buNone/>
                      </a:pPr>
                      <a:r>
                        <a:rPr lang="en-US" sz="1400" b="1" dirty="0">
                          <a:solidFill>
                            <a:srgbClr val="1E2A36"/>
                          </a:solidFill>
                          <a:latin typeface="Calibri" pitchFamily="34" charset="0"/>
                          <a:ea typeface="Calibri" pitchFamily="34" charset="-122"/>
                          <a:cs typeface="Calibri" pitchFamily="34" charset="-120"/>
                        </a:rPr>
                        <a:t>Prioritized needs</a:t>
                      </a:r>
                      <a:endParaRPr lang="en-US" sz="140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6E6D"/>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50" dirty="0">
                          <a:solidFill>
                            <a:srgbClr val="1E2A36"/>
                          </a:solidFill>
                          <a:latin typeface="Calibri" pitchFamily="34" charset="0"/>
                          <a:ea typeface="Calibri" pitchFamily="34" charset="-122"/>
                          <a:cs typeface="Calibri" pitchFamily="34" charset="-120"/>
                        </a:rPr>
                        <a:t>Must-have vs. nice-to-have, with a defensible rationale.</a:t>
                      </a:r>
                      <a:endParaRPr lang="en-US" sz="135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rgbClr val="1E2A36"/>
                          </a:solidFill>
                          <a:latin typeface="Calibri" pitchFamily="34" charset="0"/>
                          <a:ea typeface="Calibri" pitchFamily="34" charset="-122"/>
                          <a:cs typeface="Calibri" pitchFamily="34" charset="-120"/>
                        </a:rPr>
                        <a:t>Success criteria</a:t>
                      </a:r>
                      <a:endParaRPr lang="en-US" sz="140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6E6D"/>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50" dirty="0">
                          <a:solidFill>
                            <a:srgbClr val="1E2A36"/>
                          </a:solidFill>
                          <a:latin typeface="Calibri" pitchFamily="34" charset="0"/>
                          <a:ea typeface="Calibri" pitchFamily="34" charset="-122"/>
                          <a:cs typeface="Calibri" pitchFamily="34" charset="-120"/>
                        </a:rPr>
                        <a:t>Specific, observable, defensible definitions of "this works."</a:t>
                      </a:r>
                      <a:endParaRPr lang="en-US" sz="135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rgbClr val="1E2A36"/>
                          </a:solidFill>
                          <a:latin typeface="Calibri" pitchFamily="34" charset="0"/>
                          <a:ea typeface="Calibri" pitchFamily="34" charset="-122"/>
                          <a:cs typeface="Calibri" pitchFamily="34" charset="-120"/>
                        </a:rPr>
                        <a:t>PRD mapping</a:t>
                      </a:r>
                      <a:endParaRPr lang="en-US" sz="140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6E6D"/>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50" dirty="0">
                          <a:solidFill>
                            <a:srgbClr val="1E2A36"/>
                          </a:solidFill>
                          <a:latin typeface="Calibri" pitchFamily="34" charset="0"/>
                          <a:ea typeface="Calibri" pitchFamily="34" charset="-122"/>
                          <a:cs typeface="Calibri" pitchFamily="34" charset="-120"/>
                        </a:rPr>
                        <a:t>Reads like a lightweight PRD — problem and user, not a solution.</a:t>
                      </a:r>
                      <a:endParaRPr lang="en-US" sz="135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bl>
          </a:graphicData>
        </a:graphic>
      </p:graphicFrame>
      <p:sp>
        <p:nvSpPr>
          <p:cNvPr id="6" name="Shape 3"/>
          <p:cNvSpPr/>
          <p:nvPr/>
        </p:nvSpPr>
        <p:spPr>
          <a:xfrm>
            <a:off x="548640" y="5541264"/>
            <a:ext cx="11064240" cy="658368"/>
          </a:xfrm>
          <a:prstGeom prst="roundRect">
            <a:avLst>
              <a:gd name="adj" fmla="val 12500"/>
            </a:avLst>
          </a:prstGeom>
          <a:solidFill>
            <a:srgbClr val="14233A"/>
          </a:solidFill>
          <a:ln/>
          <a:effectLst>
            <a:outerShdw sx="100000" sy="100000" kx="0" ky="0" algn="bl" rotWithShape="0" blurRad="88900" dist="38100" dir="5400000">
              <a:srgbClr val="000000">
                <a:alpha val="13000"/>
              </a:srgbClr>
            </a:outerShdw>
          </a:effectLst>
        </p:spPr>
      </p:sp>
      <p:sp>
        <p:nvSpPr>
          <p:cNvPr id="7" name="Shape 4"/>
          <p:cNvSpPr/>
          <p:nvPr/>
        </p:nvSpPr>
        <p:spPr>
          <a:xfrm>
            <a:off x="841248" y="5660136"/>
            <a:ext cx="420624" cy="420624"/>
          </a:xfrm>
          <a:prstGeom prst="ellipse">
            <a:avLst/>
          </a:prstGeom>
          <a:solidFill>
            <a:srgbClr val="E8A33D"/>
          </a:solidFill>
          <a:ln/>
        </p:spPr>
      </p:sp>
      <p:pic>
        <p:nvPicPr>
          <p:cNvPr id="8" name="Image 0" descr="preencoded.png">    </p:cNvPr>
          <p:cNvPicPr>
            <a:picLocks noChangeAspect="1"/>
          </p:cNvPicPr>
          <p:nvPr/>
        </p:nvPicPr>
        <p:blipFill>
          <a:blip r:embed="rId1"/>
          <a:stretch>
            <a:fillRect/>
          </a:stretch>
        </p:blipFill>
        <p:spPr>
          <a:xfrm>
            <a:off x="954816" y="5773704"/>
            <a:ext cx="193487" cy="193487"/>
          </a:xfrm>
          <a:prstGeom prst="rect">
            <a:avLst/>
          </a:prstGeom>
        </p:spPr>
      </p:pic>
      <p:sp>
        <p:nvSpPr>
          <p:cNvPr id="9" name="Text 5"/>
          <p:cNvSpPr/>
          <p:nvPr/>
        </p:nvSpPr>
        <p:spPr>
          <a:xfrm>
            <a:off x="1417320" y="5541264"/>
            <a:ext cx="9966960" cy="658368"/>
          </a:xfrm>
          <a:prstGeom prst="rect">
            <a:avLst/>
          </a:prstGeom>
          <a:noFill/>
          <a:ln/>
        </p:spPr>
        <p:txBody>
          <a:bodyPr wrap="square" lIns="0" tIns="0" rIns="0" bIns="0" rtlCol="0" anchor="ctr"/>
          <a:lstStyle/>
          <a:p>
            <a:pPr indent="0" marL="0">
              <a:buNone/>
            </a:pPr>
            <a:r>
              <a:rPr lang="en-US" sz="1450" b="1" dirty="0">
                <a:solidFill>
                  <a:srgbClr val="E8A33D"/>
                </a:solidFill>
                <a:latin typeface="Calibri" pitchFamily="34" charset="0"/>
                <a:ea typeface="Calibri" pitchFamily="34" charset="-122"/>
                <a:cs typeface="Calibri" pitchFamily="34" charset="-120"/>
              </a:rPr>
              <a:t>Needfinding carries the most weight (30)  </a:t>
            </a:r>
            <a:pPr indent="0" marL="0">
              <a:buNone/>
            </a:pPr>
            <a:r>
              <a:rPr lang="en-US" sz="1450" dirty="0">
                <a:solidFill>
                  <a:srgbClr val="FFFFFF"/>
                </a:solidFill>
                <a:latin typeface="Calibri" pitchFamily="34" charset="0"/>
                <a:ea typeface="Calibri" pitchFamily="34" charset="-122"/>
                <a:cs typeface="Calibri" pitchFamily="34" charset="-120"/>
              </a:rPr>
              <a:t>— reach at least Developing on every criterion to stay on a passing track.</a:t>
            </a:r>
            <a:endParaRPr lang="en-US" sz="1450" dirty="0"/>
          </a:p>
        </p:txBody>
      </p:sp>
      <p:sp>
        <p:nvSpPr>
          <p:cNvPr id="10" name="Text 6"/>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6 · Convergence Workshop</a:t>
            </a:r>
            <a:endParaRPr lang="en-US" sz="1000" dirty="0"/>
          </a:p>
        </p:txBody>
      </p:sp>
      <p:sp>
        <p:nvSpPr>
          <p:cNvPr id="11" name="Text 7"/>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188720" y="4754880"/>
            <a:ext cx="3291840" cy="3291840"/>
          </a:xfrm>
          <a:prstGeom prst="ellipse">
            <a:avLst/>
          </a:prstGeom>
          <a:solidFill>
            <a:srgbClr val="1C3252"/>
          </a:solidFill>
          <a:ln/>
        </p:spPr>
      </p:sp>
      <p:sp>
        <p:nvSpPr>
          <p:cNvPr id="3" name="Shape 1"/>
          <p:cNvSpPr/>
          <p:nvPr/>
        </p:nvSpPr>
        <p:spPr>
          <a:xfrm>
            <a:off x="822960" y="1143000"/>
            <a:ext cx="822960" cy="822960"/>
          </a:xfrm>
          <a:prstGeom prst="ellipse">
            <a:avLst/>
          </a:prstGeom>
          <a:solidFill>
            <a:srgbClr val="E8A33D"/>
          </a:solidFill>
          <a:ln/>
        </p:spPr>
      </p:sp>
      <p:pic>
        <p:nvPicPr>
          <p:cNvPr id="4" name="Image 0" descr="preencoded.png">    </p:cNvPr>
          <p:cNvPicPr>
            <a:picLocks noChangeAspect="1"/>
          </p:cNvPicPr>
          <p:nvPr/>
        </p:nvPicPr>
        <p:blipFill>
          <a:blip r:embed="rId1"/>
          <a:stretch>
            <a:fillRect/>
          </a:stretch>
        </p:blipFill>
        <p:spPr>
          <a:xfrm>
            <a:off x="1045159" y="1365199"/>
            <a:ext cx="378562" cy="378562"/>
          </a:xfrm>
          <a:prstGeom prst="rect">
            <a:avLst/>
          </a:prstGeom>
        </p:spPr>
      </p:pic>
      <p:sp>
        <p:nvSpPr>
          <p:cNvPr id="5" name="Text 2"/>
          <p:cNvSpPr/>
          <p:nvPr/>
        </p:nvSpPr>
        <p:spPr>
          <a:xfrm>
            <a:off x="822960" y="2103120"/>
            <a:ext cx="10881360" cy="1371600"/>
          </a:xfrm>
          <a:prstGeom prst="rect">
            <a:avLst/>
          </a:prstGeom>
          <a:noFill/>
          <a:ln/>
        </p:spPr>
        <p:txBody>
          <a:bodyPr wrap="square" lIns="0" tIns="0" rIns="0" bIns="0" rtlCol="0" anchor="ctr"/>
          <a:lstStyle/>
          <a:p>
            <a:pPr indent="0" marL="0">
              <a:lnSpc>
                <a:spcPct val="106000"/>
              </a:lnSpc>
              <a:buNone/>
            </a:pPr>
            <a:r>
              <a:rPr lang="en-US" sz="2600" b="1" i="1" dirty="0">
                <a:solidFill>
                  <a:srgbClr val="FFFFFF"/>
                </a:solidFill>
                <a:latin typeface="Cambria" pitchFamily="34" charset="0"/>
                <a:ea typeface="Cambria" pitchFamily="34" charset="-122"/>
                <a:cs typeface="Cambria" pitchFamily="34" charset="-120"/>
              </a:rPr>
              <a:t>You converged deliberately — against a shared yardstick, with feedback.</a:t>
            </a:r>
            <a:endParaRPr lang="en-US" sz="2600" dirty="0"/>
          </a:p>
          <a:p>
            <a:pPr indent="0" marL="0">
              <a:lnSpc>
                <a:spcPct val="106000"/>
              </a:lnSpc>
              <a:buNone/>
            </a:pPr>
            <a:r>
              <a:rPr lang="en-US" sz="2600" b="1" i="1" dirty="0">
                <a:solidFill>
                  <a:srgbClr val="FFFFFF"/>
                </a:solidFill>
                <a:latin typeface="Cambria" pitchFamily="34" charset="0"/>
                <a:ea typeface="Cambria" pitchFamily="34" charset="-122"/>
                <a:cs typeface="Cambria" pitchFamily="34" charset="-120"/>
              </a:rPr>
              <a:t>Now you can defend your pick.</a:t>
            </a:r>
            <a:endParaRPr lang="en-US" sz="2600" dirty="0"/>
          </a:p>
        </p:txBody>
      </p:sp>
      <p:sp>
        <p:nvSpPr>
          <p:cNvPr id="6" name="Text 3"/>
          <p:cNvSpPr/>
          <p:nvPr/>
        </p:nvSpPr>
        <p:spPr>
          <a:xfrm>
            <a:off x="841248" y="3794760"/>
            <a:ext cx="10058400" cy="320040"/>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BEFORE MONDAY, SEP 28</a:t>
            </a:r>
            <a:endParaRPr lang="en-US" sz="1400" dirty="0"/>
          </a:p>
        </p:txBody>
      </p:sp>
      <p:sp>
        <p:nvSpPr>
          <p:cNvPr id="7" name="Text 4"/>
          <p:cNvSpPr/>
          <p:nvPr/>
        </p:nvSpPr>
        <p:spPr>
          <a:xfrm>
            <a:off x="868680" y="4206240"/>
            <a:ext cx="10698480" cy="1737360"/>
          </a:xfrm>
          <a:prstGeom prst="rect">
            <a:avLst/>
          </a:prstGeom>
          <a:noFill/>
          <a:ln/>
        </p:spPr>
        <p:txBody>
          <a:bodyPr wrap="square" lIns="0" tIns="0" rIns="0" bIns="0" rtlCol="0" anchor="t"/>
          <a:lstStyle/>
          <a:p>
            <a:pPr marL="203200" indent="-203200">
              <a:spcAft>
                <a:spcPts val="800"/>
              </a:spcAft>
              <a:buSzPct val="100000"/>
              <a:buChar char="•"/>
            </a:pPr>
            <a:r>
              <a:rPr lang="en-US" sz="1550" dirty="0">
                <a:solidFill>
                  <a:srgbClr val="CBD8E6"/>
                </a:solidFill>
                <a:latin typeface="Calibri" pitchFamily="34" charset="0"/>
                <a:ea typeface="Calibri" pitchFamily="34" charset="-122"/>
                <a:cs typeface="Calibri" pitchFamily="34" charset="-120"/>
              </a:rPr>
              <a:t>Turn in CP1 Idea Briefs today</a:t>
            </a:r>
            <a:endParaRPr lang="en-US" sz="1550" dirty="0"/>
          </a:p>
          <a:p>
            <a:pPr marL="203200" indent="-203200">
              <a:spcAft>
                <a:spcPts val="800"/>
              </a:spcAft>
              <a:buSzPct val="100000"/>
              <a:buChar char="•"/>
            </a:pPr>
            <a:r>
              <a:rPr lang="en-US" sz="1550" dirty="0">
                <a:solidFill>
                  <a:srgbClr val="CBD8E6"/>
                </a:solidFill>
                <a:latin typeface="Calibri" pitchFamily="34" charset="0"/>
                <a:ea typeface="Calibri" pitchFamily="34" charset="-122"/>
                <a:cs typeface="Calibri" pitchFamily="34" charset="-120"/>
              </a:rPr>
              <a:t>Write CP2 Product Definition Brief from your converged pick + feedback — due Mon, Sep 28</a:t>
            </a:r>
            <a:endParaRPr lang="en-US" sz="1550" dirty="0"/>
          </a:p>
          <a:p>
            <a:pPr marL="203200" indent="-203200">
              <a:buSzPct val="100000"/>
              <a:buChar char="•"/>
            </a:pPr>
            <a:r>
              <a:rPr lang="en-US" sz="1550" dirty="0">
                <a:solidFill>
                  <a:srgbClr val="CBD8E6"/>
                </a:solidFill>
                <a:latin typeface="Calibri" pitchFamily="34" charset="0"/>
                <a:ea typeface="Calibri" pitchFamily="34" charset="-122"/>
                <a:cs typeface="Calibri" pitchFamily="34" charset="-120"/>
              </a:rPr>
              <a:t>Keep doing discovery on your chosen idea — more real input now makes the proposal stronger</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301R — Session 6 — Convergence Workshop</dc:title>
  <dc:subject>PptxGenJS Presentation</dc:subject>
  <dc:creator>CS 301R</dc:creator>
  <cp:lastModifiedBy>CS 301R</cp:lastModifiedBy>
  <cp:revision>1</cp:revision>
  <dcterms:created xsi:type="dcterms:W3CDTF">2026-09-23T14:55:20Z</dcterms:created>
  <dcterms:modified xsi:type="dcterms:W3CDTF">2026-09-23T14:55:20Z</dcterms:modified>
</cp:coreProperties>
</file>