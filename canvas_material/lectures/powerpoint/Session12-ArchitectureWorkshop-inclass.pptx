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working session: roughly eight minutes of framing, then fifty-seven of teams at whiteboards with you circulating as design reviewer. Each round has two slides — the vocabulary, which you walk in under a minute, and the task, which stays on screen for the whole round so a stuck team can read the wall instead of waiting for you. Before class: boards or big paper per team, markers including red for the failure trace, the Design Document Template on screen, and the Backstage diagrams ready to draw. Plan the circulation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of orientation before anything else, because this is the first working session of the unit and half the room will not have the shape of the deliverable in their head. Recall rather than re-teach: they read Design Docs at Google and dissected the Backstage sample on Monday, so ask rather than tell — who is the audience for a design doc? The right-hand card is the promise for the period, and it is worth reading aloud item by item, because it tells them what “done” looks like at 10:45. Then the amber band, which sets the pace expectation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and it is the most useful thing you say all period. Name both courses out loud — the room is carrying far more than it thinks it is, and telling them so buys both confidence and speed. Then click the band. If the room is awake, ask it as a question first: who decided that chess needed Handlers, Services and DAOs? The answer is that the assignment did, and the same is true of AWS in Tweeter. That is the gap this whole session is aimed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and it prevents half of what you would otherwise spend the period correcting — they will reflexively draw class diagrams, because that is what both prior courses rewarded. The examples on each side are doing real work, so read them out: ChessBoard and UserDAO are things inside a program, while the catalog and the theater's wifi are things the system is made of or depends on. Keep the closing line in your pocket and reuse it verbatim while circulating; it is a fast, non-judgmental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Walk the five rounds and point at the template column — that mapping is the reason the draft is due Friday rather than next week. Do not explain the rounds here; each has its own pair of slides. The line at the bottom is the promise worth making explicitly, because students hear whiteboard workshop and assume a second night of writing is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and then repeat rule two all period — it is the single most productive sentence you can say to a stuck team, because an unlabelable arrow is the cheapest design question they will ever find. The fidelity line at the bottom matters as much: say explicitly that this is not the polished artifact they exported from sequencediagram.org for CS 240 Phase 2, and that anything they try to make pretty in a tool today is time stolen from the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the point is speed — show, do not discuss. Draw or display the four Backstage diagrams in sequence so the room sees the target shape before it starts: one box with things around it, the box opened into components, a numbered trace, then entities. Reusing Monday's domain is deliberate; nobody spends a second learning what a costume catalog is. The two cards are planted defects from the sample, now fixed, and naming them here means teams recognize the same smell on their own boards twenty minutes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 first picture long enough for the room to re-find what they caught on Monday, and take one answer out loud before you click — the Actor and the overdue reminder email, which appear here and in no other part of the document, for a feature the proposal put out of scope. Then click. Two things changed: the notifier is gone, and every arrow now carries a noun. Save the sharper point for after the click, because it is the one that transfers: an actor never touches this system at all. A volunteer checks an item out on their behalf, so Actor is data the system stores, not a user standing outside the box. That distinction is what teams get wrong in round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clicking, name what the first picture does not tell you: not one arrow is labelled, so you cannot tell what crosses between any two boxes; Auth is in the component table but missing from the drawing; the Email notifier is in the drawing but in no table. After the click, point at Checkout specifically. In the sample it said “handles check-outs” with an interface of TBD, and it was the one component nobody could have built from. Here it owns checkout records, enforces one open checkout per item, handles returns and computes overdue. That is what a one-line job looks like when it is doing its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before here is prose, not a bad picture — the sample had no flow diagram at all, which is itself worth naming. Read step 4 aloud and ask what it assumes. Then read the failure case, the whole of it, and let the room sit with how little it says. Now click. It is a sequence diagram and they should recognise it instantly from CS 240 Phase 2 — say so, because that recognition is worth six minutes of instruction. Then the half below the line: the write never arrives, the form keeps what was typed, and the item is never shown as out unless the server confirmed it. The red half is not optional; it is a graded criterion on the Design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green strip, because the honest part matters: the entity table in the sample was fine. The failure was not stopping. Then the column dump, and the view source underneath it — ask what either tells a reader that the codebase does not tell them better, and what happens to both the first time someone adds a column. Click. Six entities, key fields only, five solid and one dashed. Point at PullList: dashed because it belongs to a roadmap feature, which makes the dashed border a scope decision showing up in the data model rather than a drawing convention. Last, walk one step of the traced flow onto an entity so they see the cross-check they are about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minute — walk the four terms and move. The closing line is worth saying because this round looks trivial and is not: it is the only genuinely new diagram of the day, and it will run slower than the fifteen-minute component round. Boundary is the one to dwell on for ten seconds, because students hear it as a description of reality when it is actually a decision: inside means you own it, test it and fix it at eleven at night; outside means you inherit its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full ten minutes. Half the room will open the box immediately and start drawing components — tell them to close it, and reassure them the work is not wasted, it is the next round. Your circulation targets: teams listing a tech stack around the box rather than people and services, and teams with only the happy user. Done looks like one box, three to six things around it, every arrow a labeled noun, and no component names inside. With a small cohort, have solo students narrate their board to a partner for ninety seconds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minute. This round is re-aiming rather than teaching, so the useful thing to say is that the CS 240 chess stack is a perfectly respectable default and most of them should land near it — the difference is choosing it on purpose rather than receiving it. The state-owner card is the one that earns its space; un-owned data is the classic gap, and the finger test is a fast way for a team to find it themselves. The closing line gives you both correction scripts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round, and the one where circulating pays most. Two corrections you will make repeatedly. Fifteen boxes with method lists is CS 340 muscle memory — ask them to group into four. Two boxes named Frontend and Backend means they have not started — ask what the backend does, in verbs, and split on the answer. If a student proposes a pattern by name, the question is what problem in their system it solves; no answer means it goes in the parking lot. Worth saying aloud once: two people can work in parallel exactly as far as their interface is agreed, which is why this round matters to a solo founder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because they own this move cold — the closing line is the entire instruction and saying it saves you six minutes. Spend what you save on the part that is new: choosing the flow. The failure-case card is where to add something they do not have. In chess, errors were status codes they returned; here the interesting failures are outside the box, and CS 240 already gave them three words for it — partial failure, the “network is reliable” fallacy, and idempotency. Land on idempotency, because it is the retry problem they are about to hit: “one open checkout per item” on the component diagram two slides back is the guard that makes a retry safe. Skip CAP even though it sits on the same CS 240 page — it governs replicas disagreeing during a partition, and a phone with no signal is not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in the bottom strip out loud; it is the most valuable sentence in the round, because the core flow chosen here becomes the vertical slice, which is milestone 1 in the implementation plan, which is the progress demo in Week 10. Watch for two things while circulating. A team tracing the admin or signup flow has picked wrong — apply the test from the vocabulary slide. A trace that touches only two boxes usually means the component diagram is decorative, which is a good find, not a failure. Do not let anyone skip the red trace for time; it is a graded Design Document criterion and the commonest gap in Monday's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 CS 240 covered entities, primary and foreign keys, cardinality and ERDs outright, so say so and start the clock. Only two cards need emphasis. Key fields, because a column dump on the whiteboard is the exact defect they diagnosed in the Backstage sample, and catching it here is a free callback. And the dashed border, because it is not a modeling convention at all — it is the scope argument from their proposal showing up in the data model, and a team with more dashed entities than solid ones has just found a scope problem at the cheapest possible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cross-check in items two and three is the real point of the round, and it is worth interrupting a team to run it with them — it surfaces the un-owned state from Round 2 a second time, where it is much harder to ignore. Your three corrections: column dumps, entities that are really screens, and many-to-many drawn as a line with no join entity. They know how to fix all three; they skipped, they did not fail. Keep an eye on the kitchen-sink model — dash everything the core flow never touches, then count what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minute, and give the three words in the third card their weight: given our goals is what turns an assertion into engineering. This is the genuinely new skill of the day — both prior courses compared architectures and patterns in the abstract, and neither asked a student to choose for their own system and defend it in writing. The evidence card is where the spike from their proposal finally pays off, and Monday's sample showed both acceptable ends: a decision argued from a real measurement, and one honestly labeled reasoned,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 with the most grade weight behind it. The correction you will make most is scaling cosplay — a team invoking horizontal scaling for forty users is reciting CS 240, not deciding. Say it gently and it lands. Watch also for the humble reason dressed up as a grand one: we chose Python because we all know Python is a legitimate decision at this scale, so let them say it plainly and then be honest in the last line. If a team is genuinely still arguing rather than documenting, that is a fine use of ten minutes, but make them write the block before the bell, even if the chosen line becomes an open question with an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the first instruction is non-negotiable — nobody erases until every board is photographed, including the red arrows and the parked ideas, because those are the honest content of the risks and open-questions section. Then make the assignments concrete in the room rather than letting the team agree to sort it out later: name a person per template section out loud. The amber band lowers the bar deliberately, because the failure mode tonight is a team trying to write a polished document instead of transcribing what they already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to close. Say why the draft is due Friday rather than tonight: the boards are the work, this is transcription, and a couple of days in between buys a better document while keeping it off the same evening as the team charter. Then the loop — draft, review, revise — named out loud, because it is the same shape as the proposal, and revision is graded on the Design Document exactly as it was on the Written Proposal. If the room looks daunted by Oct 21, remind them the hard eighty percent is already on their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Draw the System</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12 — architecture &amp; data-flow workshop</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October 14,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WE START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design document — and what today produces</a:t>
            </a:r>
            <a:endParaRPr lang="en-US" sz="3100" dirty="0"/>
          </a:p>
        </p:txBody>
      </p:sp>
      <p:sp>
        <p:nvSpPr>
          <p:cNvPr id="5" name="Shape 3"/>
          <p:cNvSpPr/>
          <p:nvPr/>
        </p:nvSpPr>
        <p:spPr>
          <a:xfrm>
            <a:off x="548640" y="1828800"/>
            <a:ext cx="5440680" cy="3200400"/>
          </a:xfrm>
          <a:prstGeom prst="roundRect">
            <a:avLst>
              <a:gd name="adj" fmla="val 2571"/>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03120"/>
            <a:ext cx="621792" cy="621792"/>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36564" y="2271004"/>
            <a:ext cx="286024" cy="286024"/>
          </a:xfrm>
          <a:prstGeom prst="rect">
            <a:avLst/>
          </a:prstGeom>
        </p:spPr>
      </p:pic>
      <p:sp>
        <p:nvSpPr>
          <p:cNvPr id="8" name="Text 5"/>
          <p:cNvSpPr/>
          <p:nvPr/>
        </p:nvSpPr>
        <p:spPr>
          <a:xfrm>
            <a:off x="1645920" y="2103120"/>
            <a:ext cx="4114800" cy="62179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What it is</a:t>
            </a:r>
            <a:endParaRPr lang="en-US" sz="2000" dirty="0"/>
          </a:p>
        </p:txBody>
      </p:sp>
      <p:sp>
        <p:nvSpPr>
          <p:cNvPr id="9" name="Text 6"/>
          <p:cNvSpPr/>
          <p:nvPr/>
        </p:nvSpPr>
        <p:spPr>
          <a:xfrm>
            <a:off x="914400" y="2944368"/>
            <a:ext cx="4892040" cy="192024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CFE0E9"/>
                </a:solidFill>
                <a:latin typeface="Calibri" pitchFamily="34" charset="0"/>
                <a:ea typeface="Calibri" pitchFamily="34" charset="-122"/>
                <a:cs typeface="Calibri" pitchFamily="34" charset="-120"/>
              </a:rPr>
              <a:t>Decides how you'll build it — and why this how</a:t>
            </a:r>
            <a:endParaRPr lang="en-US" sz="1550" dirty="0"/>
          </a:p>
          <a:p>
            <a:pPr marL="203200" indent="-203200">
              <a:spcAft>
                <a:spcPts val="900"/>
              </a:spcAft>
              <a:buSzPct val="100000"/>
              <a:buChar char="•"/>
            </a:pPr>
            <a:r>
              <a:rPr lang="en-US" sz="1550" dirty="0">
                <a:solidFill>
                  <a:srgbClr val="CFE0E9"/>
                </a:solidFill>
                <a:latin typeface="Calibri" pitchFamily="34" charset="0"/>
                <a:ea typeface="Calibri" pitchFamily="34" charset="-122"/>
                <a:cs typeface="Calibri" pitchFamily="34" charset="-120"/>
              </a:rPr>
              <a:t>Written for a builder: your teammates, and the contributor who joins in January</a:t>
            </a:r>
            <a:endParaRPr lang="en-US" sz="1550" dirty="0"/>
          </a:p>
          <a:p>
            <a:pPr marL="203200" indent="-203200">
              <a:buSzPct val="100000"/>
              <a:buChar char="•"/>
            </a:pPr>
            <a:r>
              <a:rPr lang="en-US" sz="1550" dirty="0">
                <a:solidFill>
                  <a:srgbClr val="CFE0E9"/>
                </a:solidFill>
                <a:latin typeface="Calibri" pitchFamily="34" charset="0"/>
                <a:ea typeface="Calibri" pitchFamily="34" charset="-122"/>
                <a:cs typeface="Calibri" pitchFamily="34" charset="-120"/>
              </a:rPr>
              <a:t>Three to six pages plus diagrams, on the course template</a:t>
            </a:r>
            <a:endParaRPr lang="en-US" sz="1550" dirty="0"/>
          </a:p>
        </p:txBody>
      </p:sp>
      <p:sp>
        <p:nvSpPr>
          <p:cNvPr id="10" name="Shape 7"/>
          <p:cNvSpPr/>
          <p:nvPr/>
        </p:nvSpPr>
        <p:spPr>
          <a:xfrm>
            <a:off x="6172200" y="182880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92240" y="2103120"/>
            <a:ext cx="621792" cy="62179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60124" y="2271004"/>
            <a:ext cx="286024" cy="286024"/>
          </a:xfrm>
          <a:prstGeom prst="rect">
            <a:avLst/>
          </a:prstGeom>
        </p:spPr>
      </p:pic>
      <p:sp>
        <p:nvSpPr>
          <p:cNvPr id="13" name="Text 9"/>
          <p:cNvSpPr/>
          <p:nvPr/>
        </p:nvSpPr>
        <p:spPr>
          <a:xfrm>
            <a:off x="7269480" y="2103120"/>
            <a:ext cx="4114800" cy="621792"/>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What you leave with</a:t>
            </a:r>
            <a:endParaRPr lang="en-US" sz="2000" dirty="0"/>
          </a:p>
        </p:txBody>
      </p:sp>
      <p:sp>
        <p:nvSpPr>
          <p:cNvPr id="14" name="Text 10"/>
          <p:cNvSpPr/>
          <p:nvPr/>
        </p:nvSpPr>
        <p:spPr>
          <a:xfrm>
            <a:off x="6537960" y="2944368"/>
            <a:ext cx="4892040" cy="192024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A system-context diagram and a component diagram</a:t>
            </a:r>
            <a:endParaRPr lang="en-US" sz="1550" dirty="0"/>
          </a:p>
          <a:p>
            <a:pPr marL="203200" indent="-2032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One core flow traced end to end — and traced again when it breaks</a:t>
            </a:r>
            <a:endParaRPr lang="en-US" sz="1550" dirty="0"/>
          </a:p>
          <a:p>
            <a:pPr marL="203200" indent="-203200">
              <a:buSzPct val="100000"/>
              <a:buChar char="•"/>
            </a:pPr>
            <a:r>
              <a:rPr lang="en-US" sz="1550" dirty="0">
                <a:solidFill>
                  <a:srgbClr val="1E2A36"/>
                </a:solidFill>
                <a:latin typeface="Calibri" pitchFamily="34" charset="0"/>
                <a:ea typeface="Calibri" pitchFamily="34" charset="-122"/>
                <a:cs typeface="Calibri" pitchFamily="34" charset="-120"/>
              </a:rPr>
              <a:t>A first-cut data model, and two decisions argued against real alternatives</a:t>
            </a:r>
            <a:endParaRPr lang="en-US" sz="1550" dirty="0"/>
          </a:p>
        </p:txBody>
      </p:sp>
      <p:sp>
        <p:nvSpPr>
          <p:cNvPr id="15" name="Shape 11"/>
          <p:cNvSpPr/>
          <p:nvPr/>
        </p:nvSpPr>
        <p:spPr>
          <a:xfrm>
            <a:off x="548640" y="5257800"/>
            <a:ext cx="11064240" cy="960120"/>
          </a:xfrm>
          <a:prstGeom prst="roundRect">
            <a:avLst>
              <a:gd name="adj" fmla="val 8571"/>
            </a:avLst>
          </a:prstGeom>
          <a:solidFill>
            <a:srgbClr val="E8A33D"/>
          </a:solidFill>
          <a:ln/>
          <a:effectLst>
            <a:outerShdw sx="100000" sy="100000" kx="0" ky="0" algn="bl" rotWithShape="0" blurRad="88900" dist="38100" dir="5400000">
              <a:srgbClr val="000000">
                <a:alpha val="13000"/>
              </a:srgbClr>
            </a:outerShdw>
          </a:effectLst>
        </p:spPr>
      </p:sp>
      <p:sp>
        <p:nvSpPr>
          <p:cNvPr id="16" name="Text 12"/>
          <p:cNvSpPr/>
          <p:nvPr/>
        </p:nvSpPr>
        <p:spPr>
          <a:xfrm>
            <a:off x="868680" y="5257800"/>
            <a:ext cx="10424160" cy="960120"/>
          </a:xfrm>
          <a:prstGeom prst="rect">
            <a:avLst/>
          </a:prstGeom>
          <a:noFill/>
          <a:ln/>
        </p:spPr>
        <p:txBody>
          <a:bodyPr wrap="square" lIns="0" tIns="0" rIns="0" bIns="0" rtlCol="0" anchor="ctr"/>
          <a:lstStyle/>
          <a:p>
            <a:pPr algn="ctr" indent="0" marL="0">
              <a:buNone/>
            </a:pPr>
            <a:r>
              <a:rPr lang="en-US" sz="1650" b="1" dirty="0">
                <a:solidFill>
                  <a:srgbClr val="14233A"/>
                </a:solidFill>
                <a:latin typeface="Calibri" pitchFamily="34" charset="0"/>
                <a:ea typeface="Calibri" pitchFamily="34" charset="-122"/>
                <a:cs typeface="Calibri" pitchFamily="34" charset="-120"/>
              </a:rPr>
              <a:t>Monday you read a design document and took one apart. Today you build the hard 80% of yours, on a whiteboard, in 57 minutes.</a:t>
            </a:r>
            <a:endParaRPr lang="en-US" sz="16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TODAY COMES FROM</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 have drawn every one of these before</a:t>
            </a:r>
            <a:endParaRPr lang="en-US" sz="3100" dirty="0"/>
          </a:p>
        </p:txBody>
      </p:sp>
      <p:sp>
        <p:nvSpPr>
          <p:cNvPr id="5" name="Shape 3"/>
          <p:cNvSpPr/>
          <p:nvPr/>
        </p:nvSpPr>
        <p:spPr>
          <a:xfrm>
            <a:off x="548640" y="1874520"/>
            <a:ext cx="5440680" cy="2880360"/>
          </a:xfrm>
          <a:prstGeom prst="roundRect">
            <a:avLst>
              <a:gd name="adj" fmla="val 285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48840"/>
            <a:ext cx="621792" cy="62179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36564" y="2316724"/>
            <a:ext cx="286024" cy="286024"/>
          </a:xfrm>
          <a:prstGeom prst="rect">
            <a:avLst/>
          </a:prstGeom>
        </p:spPr>
      </p:pic>
      <p:sp>
        <p:nvSpPr>
          <p:cNvPr id="8" name="Text 5"/>
          <p:cNvSpPr/>
          <p:nvPr/>
        </p:nvSpPr>
        <p:spPr>
          <a:xfrm>
            <a:off x="1645920" y="2148840"/>
            <a:ext cx="4114800" cy="621792"/>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CS 240 · chess</a:t>
            </a:r>
            <a:endParaRPr lang="en-US" sz="2000" dirty="0"/>
          </a:p>
        </p:txBody>
      </p:sp>
      <p:sp>
        <p:nvSpPr>
          <p:cNvPr id="9" name="Text 6"/>
          <p:cNvSpPr/>
          <p:nvPr/>
        </p:nvSpPr>
        <p:spPr>
          <a:xfrm>
            <a:off x="914400" y="2999232"/>
            <a:ext cx="4892040" cy="160020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Seven sequence diagrams, one per endpoint</a:t>
            </a:r>
            <a:endParaRPr lang="en-US" sz="1600" dirty="0"/>
          </a:p>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Server → Handlers → Services → DAOs → Database</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ERDs — entities, primary and foreign keys, one-to-many and many-to-many</a:t>
            </a:r>
            <a:endParaRPr lang="en-US" sz="1600" dirty="0"/>
          </a:p>
        </p:txBody>
      </p:sp>
      <p:sp>
        <p:nvSpPr>
          <p:cNvPr id="10" name="Shape 7"/>
          <p:cNvSpPr/>
          <p:nvPr/>
        </p:nvSpPr>
        <p:spPr>
          <a:xfrm>
            <a:off x="6172200" y="1874520"/>
            <a:ext cx="5440680" cy="2880360"/>
          </a:xfrm>
          <a:prstGeom prst="roundRect">
            <a:avLst>
              <a:gd name="adj" fmla="val 2857"/>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92240" y="2148840"/>
            <a:ext cx="621792" cy="62179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60124" y="2316724"/>
            <a:ext cx="286024" cy="286024"/>
          </a:xfrm>
          <a:prstGeom prst="rect">
            <a:avLst/>
          </a:prstGeom>
        </p:spPr>
      </p:pic>
      <p:sp>
        <p:nvSpPr>
          <p:cNvPr id="13" name="Text 9"/>
          <p:cNvSpPr/>
          <p:nvPr/>
        </p:nvSpPr>
        <p:spPr>
          <a:xfrm>
            <a:off x="7269480" y="2148840"/>
            <a:ext cx="4114800" cy="621792"/>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CS 340 · Tweeter</a:t>
            </a:r>
            <a:endParaRPr lang="en-US" sz="2000" dirty="0"/>
          </a:p>
        </p:txBody>
      </p:sp>
      <p:sp>
        <p:nvSpPr>
          <p:cNvPr id="14" name="Text 10"/>
          <p:cNvSpPr/>
          <p:nvPr/>
        </p:nvSpPr>
        <p:spPr>
          <a:xfrm>
            <a:off x="6537960" y="2999232"/>
            <a:ext cx="4892040" cy="160020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UML class and sequence diagrams</a:t>
            </a:r>
            <a:endParaRPr lang="en-US" sz="1600" dirty="0"/>
          </a:p>
          <a:p>
            <a:pPr marL="203200" indent="-203200">
              <a:spcAft>
                <a:spcPts val="1000"/>
              </a:spcAft>
              <a:buSzPct val="100000"/>
              <a:buChar char="•"/>
            </a:pPr>
            <a:r>
              <a:rPr lang="en-US" sz="1600" dirty="0">
                <a:solidFill>
                  <a:srgbClr val="1E2A36"/>
                </a:solidFill>
                <a:latin typeface="Calibri" pitchFamily="34" charset="0"/>
                <a:ea typeface="Calibri" pitchFamily="34" charset="-122"/>
                <a:cs typeface="Calibri" pitchFamily="34" charset="-120"/>
              </a:rPr>
              <a:t>Clean Architecture — layers, the dependency rule</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Patterns, and the trade-offs behind them</a:t>
            </a:r>
            <a:endParaRPr lang="en-US" sz="1600" dirty="0"/>
          </a:p>
        </p:txBody>
      </p:sp>
      <p:sp>
        <p:nvSpPr>
          <p:cNvPr id="15" name="click-1"/>
          <p:cNvSpPr/>
          <p:nvPr/>
        </p:nvSpPr>
        <p:spPr>
          <a:xfrm>
            <a:off x="548640" y="5029200"/>
            <a:ext cx="11064240" cy="1143000"/>
          </a:xfrm>
          <a:prstGeom prst="roundRect">
            <a:avLst>
              <a:gd name="adj" fmla="val 7200"/>
            </a:avLst>
          </a:prstGeom>
          <a:solidFill>
            <a:srgbClr val="14233A"/>
          </a:solidFill>
          <a:ln/>
          <a:effectLst>
            <a:outerShdw sx="100000" sy="100000" kx="0" ky="0" algn="bl" rotWithShape="0" blurRad="88900" dist="38100" dir="5400000">
              <a:srgbClr val="000000">
                <a:alpha val="13000"/>
              </a:srgbClr>
            </a:outerShdw>
          </a:effectLst>
        </p:spPr>
      </p:sp>
      <p:sp>
        <p:nvSpPr>
          <p:cNvPr id="16" name="click-1"/>
          <p:cNvSpPr/>
          <p:nvPr/>
        </p:nvSpPr>
        <p:spPr>
          <a:xfrm>
            <a:off x="896112" y="5029200"/>
            <a:ext cx="10378440" cy="1143000"/>
          </a:xfrm>
          <a:prstGeom prst="rect">
            <a:avLst/>
          </a:prstGeom>
          <a:noFill/>
          <a:ln/>
        </p:spPr>
        <p:txBody>
          <a:bodyPr wrap="square" lIns="0" tIns="0" rIns="0" bIns="0" rtlCol="0" anchor="ctr"/>
          <a:lstStyle/>
          <a:p>
            <a:pPr algn="ctr" indent="0" marL="0">
              <a:lnSpc>
                <a:spcPct val="106000"/>
              </a:lnSpc>
              <a:buNone/>
            </a:pPr>
            <a:r>
              <a:rPr lang="en-US" sz="1750" dirty="0">
                <a:solidFill>
                  <a:srgbClr val="CFE0E9"/>
                </a:solidFill>
                <a:latin typeface="Calibri" pitchFamily="34" charset="0"/>
                <a:ea typeface="Calibri" pitchFamily="34" charset="-122"/>
                <a:cs typeface="Calibri" pitchFamily="34" charset="-120"/>
              </a:rPr>
              <a:t>Both times, the architecture arrived with the assignment.
</a:t>
            </a:r>
            <a:pPr algn="ctr" indent="0" marL="0">
              <a:lnSpc>
                <a:spcPct val="106000"/>
              </a:lnSpc>
              <a:buNone/>
            </a:pPr>
            <a:r>
              <a:rPr lang="en-US" sz="1750" b="1" dirty="0">
                <a:solidFill>
                  <a:srgbClr val="E8A33D"/>
                </a:solidFill>
                <a:latin typeface="Calibri" pitchFamily="34" charset="0"/>
                <a:ea typeface="Calibri" pitchFamily="34" charset="-122"/>
                <a:cs typeface="Calibri" pitchFamily="34" charset="-120"/>
              </a:rPr>
              <a:t>What you have never done is decide what goes in the boxes.</a:t>
            </a:r>
            <a:endParaRPr lang="en-US" sz="17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ONE ADJUSTMENT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Everything today is one level up</a:t>
            </a:r>
            <a:endParaRPr lang="en-US" sz="3100" dirty="0"/>
          </a:p>
        </p:txBody>
      </p:sp>
      <p:sp>
        <p:nvSpPr>
          <p:cNvPr id="5" name="Shape 3"/>
          <p:cNvSpPr/>
          <p:nvPr/>
        </p:nvSpPr>
        <p:spPr>
          <a:xfrm>
            <a:off x="548640" y="1828800"/>
            <a:ext cx="5440680" cy="3108960"/>
          </a:xfrm>
          <a:prstGeom prst="roundRect">
            <a:avLst>
              <a:gd name="adj" fmla="val 264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03120"/>
            <a:ext cx="621792" cy="621792"/>
          </a:xfrm>
          <a:prstGeom prst="ellipse">
            <a:avLst/>
          </a:prstGeom>
          <a:solidFill>
            <a:srgbClr val="5F7284"/>
          </a:solidFill>
          <a:ln/>
        </p:spPr>
      </p:sp>
      <p:pic>
        <p:nvPicPr>
          <p:cNvPr id="7" name="Image 0" descr="preencoded.png">    </p:cNvPr>
          <p:cNvPicPr>
            <a:picLocks noChangeAspect="1"/>
          </p:cNvPicPr>
          <p:nvPr/>
        </p:nvPicPr>
        <p:blipFill>
          <a:blip r:embed="rId1"/>
          <a:stretch>
            <a:fillRect/>
          </a:stretch>
        </p:blipFill>
        <p:spPr>
          <a:xfrm>
            <a:off x="1036564" y="2271004"/>
            <a:ext cx="286024" cy="286024"/>
          </a:xfrm>
          <a:prstGeom prst="rect">
            <a:avLst/>
          </a:prstGeom>
        </p:spPr>
      </p:pic>
      <p:sp>
        <p:nvSpPr>
          <p:cNvPr id="8" name="Text 5"/>
          <p:cNvSpPr/>
          <p:nvPr/>
        </p:nvSpPr>
        <p:spPr>
          <a:xfrm>
            <a:off x="1645920" y="2103120"/>
            <a:ext cx="4114800" cy="621792"/>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What you're used to</a:t>
            </a:r>
            <a:endParaRPr lang="en-US" sz="2000" dirty="0"/>
          </a:p>
        </p:txBody>
      </p:sp>
      <p:sp>
        <p:nvSpPr>
          <p:cNvPr id="9" name="Text 6"/>
          <p:cNvSpPr/>
          <p:nvPr/>
        </p:nvSpPr>
        <p:spPr>
          <a:xfrm>
            <a:off x="914400" y="2971800"/>
            <a:ext cx="4892040" cy="1051560"/>
          </a:xfrm>
          <a:prstGeom prst="rect">
            <a:avLst/>
          </a:prstGeom>
          <a:noFill/>
          <a:ln/>
        </p:spPr>
        <p:txBody>
          <a:bodyPr wrap="square" lIns="0" tIns="0" rIns="0" bIns="0" rtlCol="0" anchor="t"/>
          <a:lstStyle/>
          <a:p>
            <a:pPr indent="0" marL="0">
              <a:lnSpc>
                <a:spcPct val="105000"/>
              </a:lnSpc>
              <a:buNone/>
            </a:pPr>
            <a:r>
              <a:rPr lang="en-US" sz="1600" dirty="0">
                <a:solidFill>
                  <a:srgbClr val="5F7284"/>
                </a:solidFill>
                <a:latin typeface="Calibri" pitchFamily="34" charset="0"/>
                <a:ea typeface="Calibri" pitchFamily="34" charset="-122"/>
                <a:cs typeface="Calibri" pitchFamily="34" charset="-120"/>
              </a:rPr>
              <a:t>Class-level. Objects, methods, lifelines, inheritance. The inside of one program.</a:t>
            </a:r>
            <a:endParaRPr lang="en-US" sz="1600" dirty="0"/>
          </a:p>
        </p:txBody>
      </p:sp>
      <p:sp>
        <p:nvSpPr>
          <p:cNvPr id="10" name="Text 7"/>
          <p:cNvSpPr/>
          <p:nvPr/>
        </p:nvSpPr>
        <p:spPr>
          <a:xfrm>
            <a:off x="914400" y="4114800"/>
            <a:ext cx="4892040" cy="640080"/>
          </a:xfrm>
          <a:prstGeom prst="rect">
            <a:avLst/>
          </a:prstGeom>
          <a:noFill/>
          <a:ln/>
        </p:spPr>
        <p:txBody>
          <a:bodyPr wrap="square" lIns="0" tIns="0" rIns="0" bIns="0" rtlCol="0" anchor="t"/>
          <a:lstStyle/>
          <a:p>
            <a:pPr indent="0" marL="0">
              <a:buNone/>
            </a:pPr>
            <a:r>
              <a:rPr lang="en-US" sz="1550" i="1" dirty="0">
                <a:solidFill>
                  <a:srgbClr val="0E6E6D"/>
                </a:solidFill>
                <a:latin typeface="Calibri" pitchFamily="34" charset="0"/>
                <a:ea typeface="Calibri" pitchFamily="34" charset="-122"/>
                <a:cs typeface="Calibri" pitchFamily="34" charset="-120"/>
              </a:rPr>
              <a:t>ChessBoard · ChessPiece · UserDAO</a:t>
            </a:r>
            <a:endParaRPr lang="en-US" sz="1550" dirty="0"/>
          </a:p>
        </p:txBody>
      </p:sp>
      <p:sp>
        <p:nvSpPr>
          <p:cNvPr id="11" name="Shape 8"/>
          <p:cNvSpPr/>
          <p:nvPr/>
        </p:nvSpPr>
        <p:spPr>
          <a:xfrm>
            <a:off x="6172200" y="1828800"/>
            <a:ext cx="5440680" cy="3108960"/>
          </a:xfrm>
          <a:prstGeom prst="roundRect">
            <a:avLst>
              <a:gd name="adj" fmla="val 2647"/>
            </a:avLst>
          </a:prstGeom>
          <a:solidFill>
            <a:srgbClr val="14233A"/>
          </a:solidFill>
          <a:ln/>
          <a:effectLst>
            <a:outerShdw sx="100000" sy="100000" kx="0" ky="0" algn="bl" rotWithShape="0" blurRad="88900" dist="38100" dir="5400000">
              <a:srgbClr val="000000">
                <a:alpha val="13000"/>
              </a:srgbClr>
            </a:outerShdw>
          </a:effectLst>
        </p:spPr>
      </p:sp>
      <p:sp>
        <p:nvSpPr>
          <p:cNvPr id="12" name="Shape 9"/>
          <p:cNvSpPr/>
          <p:nvPr/>
        </p:nvSpPr>
        <p:spPr>
          <a:xfrm>
            <a:off x="6492240" y="2103120"/>
            <a:ext cx="621792" cy="621792"/>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6660124" y="2271004"/>
            <a:ext cx="286024" cy="286024"/>
          </a:xfrm>
          <a:prstGeom prst="rect">
            <a:avLst/>
          </a:prstGeom>
        </p:spPr>
      </p:pic>
      <p:sp>
        <p:nvSpPr>
          <p:cNvPr id="14" name="Text 10"/>
          <p:cNvSpPr/>
          <p:nvPr/>
        </p:nvSpPr>
        <p:spPr>
          <a:xfrm>
            <a:off x="7269480" y="2103120"/>
            <a:ext cx="4114800" cy="62179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What today is</a:t>
            </a:r>
            <a:endParaRPr lang="en-US" sz="2000" dirty="0"/>
          </a:p>
        </p:txBody>
      </p:sp>
      <p:sp>
        <p:nvSpPr>
          <p:cNvPr id="15" name="Text 11"/>
          <p:cNvSpPr/>
          <p:nvPr/>
        </p:nvSpPr>
        <p:spPr>
          <a:xfrm>
            <a:off x="6537960" y="2971800"/>
            <a:ext cx="4892040" cy="1051560"/>
          </a:xfrm>
          <a:prstGeom prst="rect">
            <a:avLst/>
          </a:prstGeom>
          <a:noFill/>
          <a:ln/>
        </p:spPr>
        <p:txBody>
          <a:bodyPr wrap="square" lIns="0" tIns="0" rIns="0" bIns="0" rtlCol="0" anchor="t"/>
          <a:lstStyle/>
          <a:p>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System-level. Components, stores, services, boundaries. How whole pieces fit together.</a:t>
            </a:r>
            <a:endParaRPr lang="en-US" sz="1600" dirty="0"/>
          </a:p>
        </p:txBody>
      </p:sp>
      <p:sp>
        <p:nvSpPr>
          <p:cNvPr id="16" name="Text 12"/>
          <p:cNvSpPr/>
          <p:nvPr/>
        </p:nvSpPr>
        <p:spPr>
          <a:xfrm>
            <a:off x="6537960" y="4114800"/>
            <a:ext cx="4892040" cy="640080"/>
          </a:xfrm>
          <a:prstGeom prst="rect">
            <a:avLst/>
          </a:prstGeom>
          <a:noFill/>
          <a:ln/>
        </p:spPr>
        <p:txBody>
          <a:bodyPr wrap="square" lIns="0" tIns="0" rIns="0" bIns="0" rtlCol="0" anchor="t"/>
          <a:lstStyle/>
          <a:p>
            <a:pPr indent="0" marL="0">
              <a:buNone/>
            </a:pPr>
            <a:r>
              <a:rPr lang="en-US" sz="1550" i="1" dirty="0">
                <a:solidFill>
                  <a:srgbClr val="E8A33D"/>
                </a:solidFill>
                <a:latin typeface="Calibri" pitchFamily="34" charset="0"/>
                <a:ea typeface="Calibri" pitchFamily="34" charset="-122"/>
                <a:cs typeface="Calibri" pitchFamily="34" charset="-120"/>
              </a:rPr>
              <a:t>the catalog · the photo store · the theater's wifi</a:t>
            </a:r>
            <a:endParaRPr lang="en-US" sz="1550" dirty="0"/>
          </a:p>
        </p:txBody>
      </p:sp>
      <p:sp>
        <p:nvSpPr>
          <p:cNvPr id="17" name="Shape 13"/>
          <p:cNvSpPr/>
          <p:nvPr/>
        </p:nvSpPr>
        <p:spPr>
          <a:xfrm>
            <a:off x="548640" y="5212080"/>
            <a:ext cx="1106424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8" name="Shape 14"/>
          <p:cNvSpPr/>
          <p:nvPr/>
        </p:nvSpPr>
        <p:spPr>
          <a:xfrm>
            <a:off x="868680" y="5422392"/>
            <a:ext cx="530352" cy="530352"/>
          </a:xfrm>
          <a:prstGeom prst="ellipse">
            <a:avLst/>
          </a:prstGeom>
          <a:solidFill>
            <a:srgbClr val="E8A33D"/>
          </a:solidFill>
          <a:ln/>
        </p:spPr>
      </p:sp>
      <p:pic>
        <p:nvPicPr>
          <p:cNvPr id="19" name="Image 2" descr="preencoded.png">    </p:cNvPr>
          <p:cNvPicPr>
            <a:picLocks noChangeAspect="1"/>
          </p:cNvPicPr>
          <p:nvPr/>
        </p:nvPicPr>
        <p:blipFill>
          <a:blip r:embed="rId3"/>
          <a:stretch>
            <a:fillRect/>
          </a:stretch>
        </p:blipFill>
        <p:spPr>
          <a:xfrm>
            <a:off x="1011875" y="5565587"/>
            <a:ext cx="243962" cy="243962"/>
          </a:xfrm>
          <a:prstGeom prst="rect">
            <a:avLst/>
          </a:prstGeom>
        </p:spPr>
      </p:pic>
      <p:sp>
        <p:nvSpPr>
          <p:cNvPr id="20" name="Text 15"/>
          <p:cNvSpPr/>
          <p:nvPr/>
        </p:nvSpPr>
        <p:spPr>
          <a:xfrm>
            <a:off x="1664208" y="5212080"/>
            <a:ext cx="9692640" cy="960120"/>
          </a:xfrm>
          <a:prstGeom prst="rect">
            <a:avLst/>
          </a:prstGeom>
          <a:noFill/>
          <a:ln/>
        </p:spPr>
        <p:txBody>
          <a:bodyPr wrap="square" lIns="0" tIns="0" rIns="0" bIns="0" rtlCol="0" anchor="ctr"/>
          <a:lstStyle/>
          <a:p>
            <a:pPr indent="0" marL="0">
              <a:lnSpc>
                <a:spcPct val="104000"/>
              </a:lnSpc>
              <a:buNone/>
            </a:pPr>
            <a:r>
              <a:rPr lang="en-US" sz="1650" b="1" dirty="0">
                <a:solidFill>
                  <a:srgbClr val="1E2A36"/>
                </a:solidFill>
                <a:latin typeface="Calibri" pitchFamily="34" charset="0"/>
                <a:ea typeface="Calibri" pitchFamily="34" charset="-122"/>
                <a:cs typeface="Calibri" pitchFamily="34" charset="-120"/>
              </a:rPr>
              <a:t>Same notation instincts, one level up. If a box on your board has a method list, you dropped a level.</a:t>
            </a:r>
            <a:endParaRPr lang="en-US" sz="165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PLAN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rounds — and the draft is mostly written here</a:t>
            </a:r>
            <a:endParaRPr lang="en-US" sz="3100" dirty="0"/>
          </a:p>
        </p:txBody>
      </p:sp>
      <p:sp>
        <p:nvSpPr>
          <p:cNvPr id="5" name="Shape 3"/>
          <p:cNvSpPr/>
          <p:nvPr/>
        </p:nvSpPr>
        <p:spPr>
          <a:xfrm>
            <a:off x="548640" y="1828800"/>
            <a:ext cx="11064240" cy="676656"/>
          </a:xfrm>
          <a:prstGeom prst="roundRect">
            <a:avLst>
              <a:gd name="adj" fmla="val 1216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92808"/>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52805" y="2040941"/>
            <a:ext cx="252374" cy="252374"/>
          </a:xfrm>
          <a:prstGeom prst="rect">
            <a:avLst/>
          </a:prstGeom>
        </p:spPr>
      </p:pic>
      <p:sp>
        <p:nvSpPr>
          <p:cNvPr id="8" name="Text 5"/>
          <p:cNvSpPr/>
          <p:nvPr/>
        </p:nvSpPr>
        <p:spPr>
          <a:xfrm>
            <a:off x="1536192" y="1828800"/>
            <a:ext cx="5486400" cy="676656"/>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1 · System context</a:t>
            </a:r>
            <a:endParaRPr lang="en-US" sz="1800" dirty="0"/>
          </a:p>
        </p:txBody>
      </p:sp>
      <p:sp>
        <p:nvSpPr>
          <p:cNvPr id="9" name="Text 6"/>
          <p:cNvSpPr/>
          <p:nvPr/>
        </p:nvSpPr>
        <p:spPr>
          <a:xfrm>
            <a:off x="7132320" y="1828800"/>
            <a:ext cx="2377440" cy="676656"/>
          </a:xfrm>
          <a:prstGeom prst="rect">
            <a:avLst/>
          </a:prstGeom>
          <a:noFill/>
          <a:ln/>
        </p:spPr>
        <p:txBody>
          <a:bodyPr wrap="square" lIns="0" tIns="0" rIns="0" bIns="0" rtlCol="0" anchor="ctr"/>
          <a:lstStyle/>
          <a:p>
            <a:pPr indent="0" marL="0">
              <a:buNone/>
            </a:pPr>
            <a:r>
              <a:rPr lang="en-US" sz="1550" dirty="0">
                <a:solidFill>
                  <a:srgbClr val="0E6E6D"/>
                </a:solidFill>
                <a:latin typeface="Calibri" pitchFamily="34" charset="0"/>
                <a:ea typeface="Calibri" pitchFamily="34" charset="-122"/>
                <a:cs typeface="Calibri" pitchFamily="34" charset="-120"/>
              </a:rPr>
              <a:t>Template §3</a:t>
            </a:r>
            <a:endParaRPr lang="en-US" sz="1550" dirty="0"/>
          </a:p>
        </p:txBody>
      </p:sp>
      <p:sp>
        <p:nvSpPr>
          <p:cNvPr id="10" name="Text 7"/>
          <p:cNvSpPr/>
          <p:nvPr/>
        </p:nvSpPr>
        <p:spPr>
          <a:xfrm>
            <a:off x="9601200" y="1828800"/>
            <a:ext cx="1737360" cy="676656"/>
          </a:xfrm>
          <a:prstGeom prst="rect">
            <a:avLst/>
          </a:prstGeom>
          <a:noFill/>
          <a:ln/>
        </p:spPr>
        <p:txBody>
          <a:bodyPr wrap="square" lIns="0" tIns="0" rIns="0" bIns="0" rtlCol="0" anchor="ctr"/>
          <a:lstStyle/>
          <a:p>
            <a:pPr algn="r" indent="0" marL="0">
              <a:buNone/>
            </a:pPr>
            <a:r>
              <a:rPr lang="en-US" sz="1550" b="1" dirty="0">
                <a:solidFill>
                  <a:srgbClr val="5F7284"/>
                </a:solidFill>
                <a:latin typeface="Calibri" pitchFamily="34" charset="0"/>
                <a:ea typeface="Calibri" pitchFamily="34" charset="-122"/>
                <a:cs typeface="Calibri" pitchFamily="34" charset="-120"/>
              </a:rPr>
              <a:t>10 min</a:t>
            </a:r>
            <a:endParaRPr lang="en-US" sz="1550" dirty="0"/>
          </a:p>
        </p:txBody>
      </p:sp>
      <p:sp>
        <p:nvSpPr>
          <p:cNvPr id="11" name="Shape 8"/>
          <p:cNvSpPr/>
          <p:nvPr/>
        </p:nvSpPr>
        <p:spPr>
          <a:xfrm>
            <a:off x="548640" y="2615184"/>
            <a:ext cx="11064240" cy="676656"/>
          </a:xfrm>
          <a:prstGeom prst="roundRect">
            <a:avLst>
              <a:gd name="adj" fmla="val 12162"/>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804672" y="2679192"/>
            <a:ext cx="548640" cy="548640"/>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952805" y="2827325"/>
            <a:ext cx="252374" cy="252374"/>
          </a:xfrm>
          <a:prstGeom prst="rect">
            <a:avLst/>
          </a:prstGeom>
        </p:spPr>
      </p:pic>
      <p:sp>
        <p:nvSpPr>
          <p:cNvPr id="14" name="Text 10"/>
          <p:cNvSpPr/>
          <p:nvPr/>
        </p:nvSpPr>
        <p:spPr>
          <a:xfrm>
            <a:off x="1536192" y="2615184"/>
            <a:ext cx="5486400" cy="676656"/>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2 · Components &amp; interfaces</a:t>
            </a:r>
            <a:endParaRPr lang="en-US" sz="1800" dirty="0"/>
          </a:p>
        </p:txBody>
      </p:sp>
      <p:sp>
        <p:nvSpPr>
          <p:cNvPr id="15" name="Text 11"/>
          <p:cNvSpPr/>
          <p:nvPr/>
        </p:nvSpPr>
        <p:spPr>
          <a:xfrm>
            <a:off x="7132320" y="2615184"/>
            <a:ext cx="2377440" cy="676656"/>
          </a:xfrm>
          <a:prstGeom prst="rect">
            <a:avLst/>
          </a:prstGeom>
          <a:noFill/>
          <a:ln/>
        </p:spPr>
        <p:txBody>
          <a:bodyPr wrap="square" lIns="0" tIns="0" rIns="0" bIns="0" rtlCol="0" anchor="ctr"/>
          <a:lstStyle/>
          <a:p>
            <a:pPr indent="0" marL="0">
              <a:buNone/>
            </a:pPr>
            <a:r>
              <a:rPr lang="en-US" sz="1550" dirty="0">
                <a:solidFill>
                  <a:srgbClr val="0E6E6D"/>
                </a:solidFill>
                <a:latin typeface="Calibri" pitchFamily="34" charset="0"/>
                <a:ea typeface="Calibri" pitchFamily="34" charset="-122"/>
                <a:cs typeface="Calibri" pitchFamily="34" charset="-120"/>
              </a:rPr>
              <a:t>Template §4</a:t>
            </a:r>
            <a:endParaRPr lang="en-US" sz="1550" dirty="0"/>
          </a:p>
        </p:txBody>
      </p:sp>
      <p:sp>
        <p:nvSpPr>
          <p:cNvPr id="16" name="Text 12"/>
          <p:cNvSpPr/>
          <p:nvPr/>
        </p:nvSpPr>
        <p:spPr>
          <a:xfrm>
            <a:off x="9601200" y="2615184"/>
            <a:ext cx="1737360" cy="676656"/>
          </a:xfrm>
          <a:prstGeom prst="rect">
            <a:avLst/>
          </a:prstGeom>
          <a:noFill/>
          <a:ln/>
        </p:spPr>
        <p:txBody>
          <a:bodyPr wrap="square" lIns="0" tIns="0" rIns="0" bIns="0" rtlCol="0" anchor="ctr"/>
          <a:lstStyle/>
          <a:p>
            <a:pPr algn="r" indent="0" marL="0">
              <a:buNone/>
            </a:pPr>
            <a:r>
              <a:rPr lang="en-US" sz="1550" b="1" dirty="0">
                <a:solidFill>
                  <a:srgbClr val="5F7284"/>
                </a:solidFill>
                <a:latin typeface="Calibri" pitchFamily="34" charset="0"/>
                <a:ea typeface="Calibri" pitchFamily="34" charset="-122"/>
                <a:cs typeface="Calibri" pitchFamily="34" charset="-120"/>
              </a:rPr>
              <a:t>15 min</a:t>
            </a:r>
            <a:endParaRPr lang="en-US" sz="1550" dirty="0"/>
          </a:p>
        </p:txBody>
      </p:sp>
      <p:sp>
        <p:nvSpPr>
          <p:cNvPr id="17" name="Shape 13"/>
          <p:cNvSpPr/>
          <p:nvPr/>
        </p:nvSpPr>
        <p:spPr>
          <a:xfrm>
            <a:off x="548640" y="3401568"/>
            <a:ext cx="11064240" cy="676656"/>
          </a:xfrm>
          <a:prstGeom prst="roundRect">
            <a:avLst>
              <a:gd name="adj" fmla="val 12162"/>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04672" y="3465576"/>
            <a:ext cx="548640" cy="548640"/>
          </a:xfrm>
          <a:prstGeom prst="ellipse">
            <a:avLst/>
          </a:prstGeom>
          <a:solidFill>
            <a:srgbClr val="12908F"/>
          </a:solidFill>
          <a:ln/>
        </p:spPr>
      </p:sp>
      <p:pic>
        <p:nvPicPr>
          <p:cNvPr id="19" name="Image 2" descr="preencoded.png">    </p:cNvPr>
          <p:cNvPicPr>
            <a:picLocks noChangeAspect="1"/>
          </p:cNvPicPr>
          <p:nvPr/>
        </p:nvPicPr>
        <p:blipFill>
          <a:blip r:embed="rId3"/>
          <a:stretch>
            <a:fillRect/>
          </a:stretch>
        </p:blipFill>
        <p:spPr>
          <a:xfrm>
            <a:off x="952805" y="3613709"/>
            <a:ext cx="252374" cy="252374"/>
          </a:xfrm>
          <a:prstGeom prst="rect">
            <a:avLst/>
          </a:prstGeom>
        </p:spPr>
      </p:pic>
      <p:sp>
        <p:nvSpPr>
          <p:cNvPr id="20" name="Text 15"/>
          <p:cNvSpPr/>
          <p:nvPr/>
        </p:nvSpPr>
        <p:spPr>
          <a:xfrm>
            <a:off x="1536192" y="3401568"/>
            <a:ext cx="5486400" cy="676656"/>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3 · Trace one core flow</a:t>
            </a:r>
            <a:endParaRPr lang="en-US" sz="1800" dirty="0"/>
          </a:p>
        </p:txBody>
      </p:sp>
      <p:sp>
        <p:nvSpPr>
          <p:cNvPr id="21" name="Text 16"/>
          <p:cNvSpPr/>
          <p:nvPr/>
        </p:nvSpPr>
        <p:spPr>
          <a:xfrm>
            <a:off x="7132320" y="3401568"/>
            <a:ext cx="2377440" cy="676656"/>
          </a:xfrm>
          <a:prstGeom prst="rect">
            <a:avLst/>
          </a:prstGeom>
          <a:noFill/>
          <a:ln/>
        </p:spPr>
        <p:txBody>
          <a:bodyPr wrap="square" lIns="0" tIns="0" rIns="0" bIns="0" rtlCol="0" anchor="ctr"/>
          <a:lstStyle/>
          <a:p>
            <a:pPr indent="0" marL="0">
              <a:buNone/>
            </a:pPr>
            <a:r>
              <a:rPr lang="en-US" sz="1550" dirty="0">
                <a:solidFill>
                  <a:srgbClr val="0E6E6D"/>
                </a:solidFill>
                <a:latin typeface="Calibri" pitchFamily="34" charset="0"/>
                <a:ea typeface="Calibri" pitchFamily="34" charset="-122"/>
                <a:cs typeface="Calibri" pitchFamily="34" charset="-120"/>
              </a:rPr>
              <a:t>Template §4</a:t>
            </a:r>
            <a:endParaRPr lang="en-US" sz="1550" dirty="0"/>
          </a:p>
        </p:txBody>
      </p:sp>
      <p:sp>
        <p:nvSpPr>
          <p:cNvPr id="22" name="Text 17"/>
          <p:cNvSpPr/>
          <p:nvPr/>
        </p:nvSpPr>
        <p:spPr>
          <a:xfrm>
            <a:off x="9601200" y="3401568"/>
            <a:ext cx="1737360" cy="676656"/>
          </a:xfrm>
          <a:prstGeom prst="rect">
            <a:avLst/>
          </a:prstGeom>
          <a:noFill/>
          <a:ln/>
        </p:spPr>
        <p:txBody>
          <a:bodyPr wrap="square" lIns="0" tIns="0" rIns="0" bIns="0" rtlCol="0" anchor="ctr"/>
          <a:lstStyle/>
          <a:p>
            <a:pPr algn="r" indent="0" marL="0">
              <a:buNone/>
            </a:pPr>
            <a:r>
              <a:rPr lang="en-US" sz="1550" b="1" dirty="0">
                <a:solidFill>
                  <a:srgbClr val="5F7284"/>
                </a:solidFill>
                <a:latin typeface="Calibri" pitchFamily="34" charset="0"/>
                <a:ea typeface="Calibri" pitchFamily="34" charset="-122"/>
                <a:cs typeface="Calibri" pitchFamily="34" charset="-120"/>
              </a:rPr>
              <a:t>12 min</a:t>
            </a:r>
            <a:endParaRPr lang="en-US" sz="1550" dirty="0"/>
          </a:p>
        </p:txBody>
      </p:sp>
      <p:sp>
        <p:nvSpPr>
          <p:cNvPr id="23" name="Shape 18"/>
          <p:cNvSpPr/>
          <p:nvPr/>
        </p:nvSpPr>
        <p:spPr>
          <a:xfrm>
            <a:off x="548640" y="4187952"/>
            <a:ext cx="11064240" cy="676656"/>
          </a:xfrm>
          <a:prstGeom prst="roundRect">
            <a:avLst>
              <a:gd name="adj" fmla="val 12162"/>
            </a:avLst>
          </a:prstGeom>
          <a:solidFill>
            <a:srgbClr val="F2F6F8"/>
          </a:solidFill>
          <a:ln/>
          <a:effectLst>
            <a:outerShdw sx="100000" sy="100000" kx="0" ky="0" algn="bl" rotWithShape="0" blurRad="88900" dist="38100" dir="5400000">
              <a:srgbClr val="000000">
                <a:alpha val="13000"/>
              </a:srgbClr>
            </a:outerShdw>
          </a:effectLst>
        </p:spPr>
      </p:sp>
      <p:sp>
        <p:nvSpPr>
          <p:cNvPr id="24" name="Shape 19"/>
          <p:cNvSpPr/>
          <p:nvPr/>
        </p:nvSpPr>
        <p:spPr>
          <a:xfrm>
            <a:off x="804672" y="4251960"/>
            <a:ext cx="548640" cy="548640"/>
          </a:xfrm>
          <a:prstGeom prst="ellipse">
            <a:avLst/>
          </a:prstGeom>
          <a:solidFill>
            <a:srgbClr val="12908F"/>
          </a:solidFill>
          <a:ln/>
        </p:spPr>
      </p:sp>
      <p:pic>
        <p:nvPicPr>
          <p:cNvPr id="25" name="Image 3" descr="preencoded.png">    </p:cNvPr>
          <p:cNvPicPr>
            <a:picLocks noChangeAspect="1"/>
          </p:cNvPicPr>
          <p:nvPr/>
        </p:nvPicPr>
        <p:blipFill>
          <a:blip r:embed="rId4"/>
          <a:stretch>
            <a:fillRect/>
          </a:stretch>
        </p:blipFill>
        <p:spPr>
          <a:xfrm>
            <a:off x="952805" y="4400093"/>
            <a:ext cx="252374" cy="252374"/>
          </a:xfrm>
          <a:prstGeom prst="rect">
            <a:avLst/>
          </a:prstGeom>
        </p:spPr>
      </p:pic>
      <p:sp>
        <p:nvSpPr>
          <p:cNvPr id="26" name="Text 20"/>
          <p:cNvSpPr/>
          <p:nvPr/>
        </p:nvSpPr>
        <p:spPr>
          <a:xfrm>
            <a:off x="1536192" y="4187952"/>
            <a:ext cx="5486400" cy="676656"/>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4 · Data model, first cut</a:t>
            </a:r>
            <a:endParaRPr lang="en-US" sz="1800" dirty="0"/>
          </a:p>
        </p:txBody>
      </p:sp>
      <p:sp>
        <p:nvSpPr>
          <p:cNvPr id="27" name="Text 21"/>
          <p:cNvSpPr/>
          <p:nvPr/>
        </p:nvSpPr>
        <p:spPr>
          <a:xfrm>
            <a:off x="7132320" y="4187952"/>
            <a:ext cx="2377440" cy="676656"/>
          </a:xfrm>
          <a:prstGeom prst="rect">
            <a:avLst/>
          </a:prstGeom>
          <a:noFill/>
          <a:ln/>
        </p:spPr>
        <p:txBody>
          <a:bodyPr wrap="square" lIns="0" tIns="0" rIns="0" bIns="0" rtlCol="0" anchor="ctr"/>
          <a:lstStyle/>
          <a:p>
            <a:pPr indent="0" marL="0">
              <a:buNone/>
            </a:pPr>
            <a:r>
              <a:rPr lang="en-US" sz="1550" dirty="0">
                <a:solidFill>
                  <a:srgbClr val="0E6E6D"/>
                </a:solidFill>
                <a:latin typeface="Calibri" pitchFamily="34" charset="0"/>
                <a:ea typeface="Calibri" pitchFamily="34" charset="-122"/>
                <a:cs typeface="Calibri" pitchFamily="34" charset="-120"/>
              </a:rPr>
              <a:t>Template §5</a:t>
            </a:r>
            <a:endParaRPr lang="en-US" sz="1550" dirty="0"/>
          </a:p>
        </p:txBody>
      </p:sp>
      <p:sp>
        <p:nvSpPr>
          <p:cNvPr id="28" name="Text 22"/>
          <p:cNvSpPr/>
          <p:nvPr/>
        </p:nvSpPr>
        <p:spPr>
          <a:xfrm>
            <a:off x="9601200" y="4187952"/>
            <a:ext cx="1737360" cy="676656"/>
          </a:xfrm>
          <a:prstGeom prst="rect">
            <a:avLst/>
          </a:prstGeom>
          <a:noFill/>
          <a:ln/>
        </p:spPr>
        <p:txBody>
          <a:bodyPr wrap="square" lIns="0" tIns="0" rIns="0" bIns="0" rtlCol="0" anchor="ctr"/>
          <a:lstStyle/>
          <a:p>
            <a:pPr algn="r" indent="0" marL="0">
              <a:buNone/>
            </a:pPr>
            <a:r>
              <a:rPr lang="en-US" sz="1550" b="1" dirty="0">
                <a:solidFill>
                  <a:srgbClr val="5F7284"/>
                </a:solidFill>
                <a:latin typeface="Calibri" pitchFamily="34" charset="0"/>
                <a:ea typeface="Calibri" pitchFamily="34" charset="-122"/>
                <a:cs typeface="Calibri" pitchFamily="34" charset="-120"/>
              </a:rPr>
              <a:t>10 min</a:t>
            </a:r>
            <a:endParaRPr lang="en-US" sz="1550" dirty="0"/>
          </a:p>
        </p:txBody>
      </p:sp>
      <p:sp>
        <p:nvSpPr>
          <p:cNvPr id="29" name="Shape 23"/>
          <p:cNvSpPr/>
          <p:nvPr/>
        </p:nvSpPr>
        <p:spPr>
          <a:xfrm>
            <a:off x="548640" y="4974336"/>
            <a:ext cx="11064240" cy="676656"/>
          </a:xfrm>
          <a:prstGeom prst="roundRect">
            <a:avLst>
              <a:gd name="adj" fmla="val 12162"/>
            </a:avLst>
          </a:prstGeom>
          <a:solidFill>
            <a:srgbClr val="F2F6F8"/>
          </a:solidFill>
          <a:ln/>
          <a:effectLst>
            <a:outerShdw sx="100000" sy="100000" kx="0" ky="0" algn="bl" rotWithShape="0" blurRad="88900" dist="38100" dir="5400000">
              <a:srgbClr val="000000">
                <a:alpha val="13000"/>
              </a:srgbClr>
            </a:outerShdw>
          </a:effectLst>
        </p:spPr>
      </p:sp>
      <p:sp>
        <p:nvSpPr>
          <p:cNvPr id="30" name="Shape 24"/>
          <p:cNvSpPr/>
          <p:nvPr/>
        </p:nvSpPr>
        <p:spPr>
          <a:xfrm>
            <a:off x="804672" y="5038344"/>
            <a:ext cx="548640" cy="548640"/>
          </a:xfrm>
          <a:prstGeom prst="ellipse">
            <a:avLst/>
          </a:prstGeom>
          <a:solidFill>
            <a:srgbClr val="12908F"/>
          </a:solidFill>
          <a:ln/>
        </p:spPr>
      </p:sp>
      <p:pic>
        <p:nvPicPr>
          <p:cNvPr id="31" name="Image 4" descr="preencoded.png">    </p:cNvPr>
          <p:cNvPicPr>
            <a:picLocks noChangeAspect="1"/>
          </p:cNvPicPr>
          <p:nvPr/>
        </p:nvPicPr>
        <p:blipFill>
          <a:blip r:embed="rId5"/>
          <a:stretch>
            <a:fillRect/>
          </a:stretch>
        </p:blipFill>
        <p:spPr>
          <a:xfrm>
            <a:off x="952805" y="5186477"/>
            <a:ext cx="252374" cy="252374"/>
          </a:xfrm>
          <a:prstGeom prst="rect">
            <a:avLst/>
          </a:prstGeom>
        </p:spPr>
      </p:pic>
      <p:sp>
        <p:nvSpPr>
          <p:cNvPr id="32" name="Text 25"/>
          <p:cNvSpPr/>
          <p:nvPr/>
        </p:nvSpPr>
        <p:spPr>
          <a:xfrm>
            <a:off x="1536192" y="4974336"/>
            <a:ext cx="5486400" cy="676656"/>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5 · Decisions &amp; alternatives</a:t>
            </a:r>
            <a:endParaRPr lang="en-US" sz="1800" dirty="0"/>
          </a:p>
        </p:txBody>
      </p:sp>
      <p:sp>
        <p:nvSpPr>
          <p:cNvPr id="33" name="Text 26"/>
          <p:cNvSpPr/>
          <p:nvPr/>
        </p:nvSpPr>
        <p:spPr>
          <a:xfrm>
            <a:off x="7132320" y="4974336"/>
            <a:ext cx="2377440" cy="676656"/>
          </a:xfrm>
          <a:prstGeom prst="rect">
            <a:avLst/>
          </a:prstGeom>
          <a:noFill/>
          <a:ln/>
        </p:spPr>
        <p:txBody>
          <a:bodyPr wrap="square" lIns="0" tIns="0" rIns="0" bIns="0" rtlCol="0" anchor="ctr"/>
          <a:lstStyle/>
          <a:p>
            <a:pPr indent="0" marL="0">
              <a:buNone/>
            </a:pPr>
            <a:r>
              <a:rPr lang="en-US" sz="1550" dirty="0">
                <a:solidFill>
                  <a:srgbClr val="0E6E6D"/>
                </a:solidFill>
                <a:latin typeface="Calibri" pitchFamily="34" charset="0"/>
                <a:ea typeface="Calibri" pitchFamily="34" charset="-122"/>
                <a:cs typeface="Calibri" pitchFamily="34" charset="-120"/>
              </a:rPr>
              <a:t>Template §6</a:t>
            </a:r>
            <a:endParaRPr lang="en-US" sz="1550" dirty="0"/>
          </a:p>
        </p:txBody>
      </p:sp>
      <p:sp>
        <p:nvSpPr>
          <p:cNvPr id="34" name="Text 27"/>
          <p:cNvSpPr/>
          <p:nvPr/>
        </p:nvSpPr>
        <p:spPr>
          <a:xfrm>
            <a:off x="9601200" y="4974336"/>
            <a:ext cx="1737360" cy="676656"/>
          </a:xfrm>
          <a:prstGeom prst="rect">
            <a:avLst/>
          </a:prstGeom>
          <a:noFill/>
          <a:ln/>
        </p:spPr>
        <p:txBody>
          <a:bodyPr wrap="square" lIns="0" tIns="0" rIns="0" bIns="0" rtlCol="0" anchor="ctr"/>
          <a:lstStyle/>
          <a:p>
            <a:pPr algn="r" indent="0" marL="0">
              <a:buNone/>
            </a:pPr>
            <a:r>
              <a:rPr lang="en-US" sz="1550" b="1" dirty="0">
                <a:solidFill>
                  <a:srgbClr val="5F7284"/>
                </a:solidFill>
                <a:latin typeface="Calibri" pitchFamily="34" charset="0"/>
                <a:ea typeface="Calibri" pitchFamily="34" charset="-122"/>
                <a:cs typeface="Calibri" pitchFamily="34" charset="-120"/>
              </a:rPr>
              <a:t>10 min</a:t>
            </a:r>
            <a:endParaRPr lang="en-US" sz="1550" dirty="0"/>
          </a:p>
        </p:txBody>
      </p:sp>
      <p:sp>
        <p:nvSpPr>
          <p:cNvPr id="35" name="Shape 28"/>
          <p:cNvSpPr/>
          <p:nvPr/>
        </p:nvSpPr>
        <p:spPr>
          <a:xfrm>
            <a:off x="548640" y="5806440"/>
            <a:ext cx="11064240" cy="566928"/>
          </a:xfrm>
          <a:prstGeom prst="roundRect">
            <a:avLst>
              <a:gd name="adj" fmla="val 14516"/>
            </a:avLst>
          </a:prstGeom>
          <a:solidFill>
            <a:srgbClr val="14233A"/>
          </a:solidFill>
          <a:ln/>
          <a:effectLst>
            <a:outerShdw sx="100000" sy="100000" kx="0" ky="0" algn="bl" rotWithShape="0" blurRad="88900" dist="38100" dir="5400000">
              <a:srgbClr val="000000">
                <a:alpha val="13000"/>
              </a:srgbClr>
            </a:outerShdw>
          </a:effectLst>
        </p:spPr>
      </p:sp>
      <p:sp>
        <p:nvSpPr>
          <p:cNvPr id="36" name="Text 29"/>
          <p:cNvSpPr/>
          <p:nvPr/>
        </p:nvSpPr>
        <p:spPr>
          <a:xfrm>
            <a:off x="868680" y="5806440"/>
            <a:ext cx="10424160"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Each round fills a numbered section of the template, in order. What follows is transcription, not composition.</a:t>
            </a:r>
            <a:endParaRPr lang="en-US" sz="1550" dirty="0"/>
          </a:p>
        </p:txBody>
      </p:sp>
      <p:sp>
        <p:nvSpPr>
          <p:cNvPr id="37" name="Text 3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38" name="Text 3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RULES FOR THE ROOM</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They apply to every board, every round</a:t>
            </a:r>
            <a:endParaRPr lang="en-US" sz="3100" dirty="0"/>
          </a:p>
        </p:txBody>
      </p:sp>
      <p:sp>
        <p:nvSpPr>
          <p:cNvPr id="5" name="Shape 3"/>
          <p:cNvSpPr/>
          <p:nvPr/>
        </p:nvSpPr>
        <p:spPr>
          <a:xfrm>
            <a:off x="548640" y="1828800"/>
            <a:ext cx="11064240" cy="1783080"/>
          </a:xfrm>
          <a:prstGeom prst="roundRect">
            <a:avLst>
              <a:gd name="adj" fmla="val 4615"/>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96112" y="2194560"/>
            <a:ext cx="658368" cy="65836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73871" y="2372319"/>
            <a:ext cx="302849" cy="302849"/>
          </a:xfrm>
          <a:prstGeom prst="rect">
            <a:avLst/>
          </a:prstGeom>
        </p:spPr>
      </p:pic>
      <p:sp>
        <p:nvSpPr>
          <p:cNvPr id="8" name="Text 5"/>
          <p:cNvSpPr/>
          <p:nvPr/>
        </p:nvSpPr>
        <p:spPr>
          <a:xfrm>
            <a:off x="1828800" y="2057400"/>
            <a:ext cx="9509760" cy="548640"/>
          </a:xfrm>
          <a:prstGeom prst="rect">
            <a:avLst/>
          </a:prstGeom>
          <a:noFill/>
          <a:ln/>
        </p:spPr>
        <p:txBody>
          <a:bodyPr wrap="square" lIns="0" tIns="0" rIns="0" bIns="0" rtlCol="0" anchor="ctr"/>
          <a:lstStyle/>
          <a:p>
            <a:pPr indent="0" marL="0">
              <a:buNone/>
            </a:pPr>
            <a:r>
              <a:rPr lang="en-US" sz="2100" b="1" dirty="0">
                <a:solidFill>
                  <a:srgbClr val="E8A33D"/>
                </a:solidFill>
                <a:latin typeface="Calibri" pitchFamily="34" charset="0"/>
                <a:ea typeface="Calibri" pitchFamily="34" charset="-122"/>
                <a:cs typeface="Calibri" pitchFamily="34" charset="-120"/>
              </a:rPr>
              <a:t>Every box has a job.</a:t>
            </a:r>
            <a:endParaRPr lang="en-US" sz="2100" dirty="0"/>
          </a:p>
        </p:txBody>
      </p:sp>
      <p:sp>
        <p:nvSpPr>
          <p:cNvPr id="9" name="Text 6"/>
          <p:cNvSpPr/>
          <p:nvPr/>
        </p:nvSpPr>
        <p:spPr>
          <a:xfrm>
            <a:off x="1828800" y="2697480"/>
            <a:ext cx="9509760" cy="777240"/>
          </a:xfrm>
          <a:prstGeom prst="rect">
            <a:avLst/>
          </a:prstGeom>
          <a:noFill/>
          <a:ln/>
        </p:spPr>
        <p:txBody>
          <a:bodyPr wrap="square" lIns="0" tIns="0" rIns="0" bIns="0" rtlCol="0" anchor="t"/>
          <a:lstStyle/>
          <a:p>
            <a:pPr indent="0" marL="0">
              <a:lnSpc>
                <a:spcPct val="104000"/>
              </a:lnSpc>
              <a:buNone/>
            </a:pPr>
            <a:r>
              <a:rPr lang="en-US" sz="1650" dirty="0">
                <a:solidFill>
                  <a:srgbClr val="CFE0E9"/>
                </a:solidFill>
                <a:latin typeface="Calibri" pitchFamily="34" charset="0"/>
                <a:ea typeface="Calibri" pitchFamily="34" charset="-122"/>
                <a:cs typeface="Calibri" pitchFamily="34" charset="-120"/>
              </a:rPr>
              <a:t>Written on the box, in one sentence. If the sentence needs an "and," that's two boxes.</a:t>
            </a:r>
            <a:endParaRPr lang="en-US" sz="1650" dirty="0"/>
          </a:p>
        </p:txBody>
      </p:sp>
      <p:sp>
        <p:nvSpPr>
          <p:cNvPr id="10" name="Shape 7"/>
          <p:cNvSpPr/>
          <p:nvPr/>
        </p:nvSpPr>
        <p:spPr>
          <a:xfrm>
            <a:off x="548640" y="3794760"/>
            <a:ext cx="11064240" cy="1783080"/>
          </a:xfrm>
          <a:prstGeom prst="roundRect">
            <a:avLst>
              <a:gd name="adj" fmla="val 4615"/>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896112" y="4160520"/>
            <a:ext cx="658368" cy="658368"/>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1073871" y="4338279"/>
            <a:ext cx="302849" cy="302849"/>
          </a:xfrm>
          <a:prstGeom prst="rect">
            <a:avLst/>
          </a:prstGeom>
        </p:spPr>
      </p:pic>
      <p:sp>
        <p:nvSpPr>
          <p:cNvPr id="13" name="Text 9"/>
          <p:cNvSpPr/>
          <p:nvPr/>
        </p:nvSpPr>
        <p:spPr>
          <a:xfrm>
            <a:off x="1828800" y="4023360"/>
            <a:ext cx="9509760" cy="548640"/>
          </a:xfrm>
          <a:prstGeom prst="rect">
            <a:avLst/>
          </a:prstGeom>
          <a:noFill/>
          <a:ln/>
        </p:spPr>
        <p:txBody>
          <a:bodyPr wrap="square" lIns="0" tIns="0" rIns="0" bIns="0" rtlCol="0" anchor="ctr"/>
          <a:lstStyle/>
          <a:p>
            <a:pPr indent="0" marL="0">
              <a:buNone/>
            </a:pPr>
            <a:r>
              <a:rPr lang="en-US" sz="2100" b="1" dirty="0">
                <a:solidFill>
                  <a:srgbClr val="E8A33D"/>
                </a:solidFill>
                <a:latin typeface="Calibri" pitchFamily="34" charset="0"/>
                <a:ea typeface="Calibri" pitchFamily="34" charset="-122"/>
                <a:cs typeface="Calibri" pitchFamily="34" charset="-120"/>
              </a:rPr>
              <a:t>Every arrow carries something nameable.</a:t>
            </a:r>
            <a:endParaRPr lang="en-US" sz="2100" dirty="0"/>
          </a:p>
        </p:txBody>
      </p:sp>
      <p:sp>
        <p:nvSpPr>
          <p:cNvPr id="14" name="Text 10"/>
          <p:cNvSpPr/>
          <p:nvPr/>
        </p:nvSpPr>
        <p:spPr>
          <a:xfrm>
            <a:off x="1828800" y="4663440"/>
            <a:ext cx="9509760" cy="777240"/>
          </a:xfrm>
          <a:prstGeom prst="rect">
            <a:avLst/>
          </a:prstGeom>
          <a:noFill/>
          <a:ln/>
        </p:spPr>
        <p:txBody>
          <a:bodyPr wrap="square" lIns="0" tIns="0" rIns="0" bIns="0" rtlCol="0" anchor="t"/>
          <a:lstStyle/>
          <a:p>
            <a:pPr indent="0" marL="0">
              <a:lnSpc>
                <a:spcPct val="104000"/>
              </a:lnSpc>
              <a:buNone/>
            </a:pPr>
            <a:r>
              <a:rPr lang="en-US" sz="1650" dirty="0">
                <a:solidFill>
                  <a:srgbClr val="CFE0E9"/>
                </a:solidFill>
                <a:latin typeface="Calibri" pitchFamily="34" charset="0"/>
                <a:ea typeface="Calibri" pitchFamily="34" charset="-122"/>
                <a:cs typeface="Calibri" pitchFamily="34" charset="-120"/>
              </a:rPr>
              <a:t>If you can't label it, you haven't found a drawing problem — you've found a design question.</a:t>
            </a:r>
            <a:endParaRPr lang="en-US" sz="1650" dirty="0"/>
          </a:p>
        </p:txBody>
      </p:sp>
      <p:sp>
        <p:nvSpPr>
          <p:cNvPr id="15" name="Shape 11"/>
          <p:cNvSpPr/>
          <p:nvPr/>
        </p:nvSpPr>
        <p:spPr>
          <a:xfrm>
            <a:off x="548640" y="5760720"/>
            <a:ext cx="11064240" cy="603504"/>
          </a:xfrm>
          <a:prstGeom prst="roundRect">
            <a:avLst>
              <a:gd name="adj" fmla="val 13636"/>
            </a:avLst>
          </a:prstGeom>
          <a:solidFill>
            <a:srgbClr val="FBEEDA"/>
          </a:solidFill>
          <a:ln/>
          <a:effectLst>
            <a:outerShdw sx="100000" sy="100000" kx="0" ky="0" algn="bl" rotWithShape="0" blurRad="88900" dist="38100" dir="5400000">
              <a:srgbClr val="000000">
                <a:alpha val="13000"/>
              </a:srgbClr>
            </a:outerShdw>
          </a:effectLst>
        </p:spPr>
      </p:sp>
      <p:sp>
        <p:nvSpPr>
          <p:cNvPr id="16" name="Text 12"/>
          <p:cNvSpPr/>
          <p:nvPr/>
        </p:nvSpPr>
        <p:spPr>
          <a:xfrm>
            <a:off x="868680" y="5760720"/>
            <a:ext cx="10424160" cy="603504"/>
          </a:xfrm>
          <a:prstGeom prst="rect">
            <a:avLst/>
          </a:prstGeom>
          <a:noFill/>
          <a:ln/>
        </p:spPr>
        <p:txBody>
          <a:bodyPr wrap="square" lIns="0" tIns="0" rIns="0" bIns="0" rtlCol="0" anchor="ctr"/>
          <a:lstStyle/>
          <a:p>
            <a:pPr algn="ctr" indent="0" marL="0">
              <a:buNone/>
            </a:pPr>
            <a:r>
              <a:rPr lang="en-US" sz="1550" b="1" dirty="0">
                <a:solidFill>
                  <a:srgbClr val="1E2A36"/>
                </a:solidFill>
                <a:latin typeface="Calibri" pitchFamily="34" charset="0"/>
                <a:ea typeface="Calibri" pitchFamily="34" charset="-122"/>
                <a:cs typeface="Calibri" pitchFamily="34" charset="-120"/>
              </a:rPr>
              <a:t>Marker on a board. Not a diagramming tool, not UML syntax — nothing gets typed until it gets photographed.</a:t>
            </a:r>
            <a:endParaRPr lang="en-US" sz="15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TARGET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Backstage — the doc you took apart on Monday</a:t>
            </a:r>
            <a:endParaRPr lang="en-US" sz="3100" dirty="0"/>
          </a:p>
        </p:txBody>
      </p:sp>
      <p:sp>
        <p:nvSpPr>
          <p:cNvPr id="5" name="Shape 3"/>
          <p:cNvSpPr/>
          <p:nvPr/>
        </p:nvSpPr>
        <p:spPr>
          <a:xfrm>
            <a:off x="548640" y="1828800"/>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48256"/>
            <a:ext cx="566928" cy="566928"/>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21751" y="2201327"/>
            <a:ext cx="260787" cy="260787"/>
          </a:xfrm>
          <a:prstGeom prst="rect">
            <a:avLst/>
          </a:prstGeom>
        </p:spPr>
      </p:pic>
      <p:sp>
        <p:nvSpPr>
          <p:cNvPr id="8" name="Text 5"/>
          <p:cNvSpPr/>
          <p:nvPr/>
        </p:nvSpPr>
        <p:spPr>
          <a:xfrm>
            <a:off x="1691640" y="1828800"/>
            <a:ext cx="9692640" cy="1005840"/>
          </a:xfrm>
          <a:prstGeom prst="rect">
            <a:avLst/>
          </a:prstGeom>
          <a:noFill/>
          <a:ln/>
        </p:spPr>
        <p:txBody>
          <a:bodyPr wrap="square" lIns="0" tIns="0" rIns="0" bIns="0" rtlCol="0" anchor="ctr"/>
          <a:lstStyle/>
          <a:p>
            <a:pPr indent="0" marL="0">
              <a:lnSpc>
                <a:spcPct val="104000"/>
              </a:lnSpc>
              <a:buNone/>
            </a:pPr>
            <a:r>
              <a:rPr lang="en-US" sz="1650" dirty="0">
                <a:solidFill>
                  <a:srgbClr val="FFFFFF"/>
                </a:solidFill>
                <a:latin typeface="Calibri" pitchFamily="34" charset="0"/>
                <a:ea typeface="Calibri" pitchFamily="34" charset="-122"/>
                <a:cs typeface="Calibri" pitchFamily="34" charset="-120"/>
              </a:rPr>
              <a:t>Monday you found what was wrong with these diagrams. Here they are drawn right — at exactly the fidelity you're about to work at.</a:t>
            </a:r>
            <a:endParaRPr lang="en-US" sz="1650" dirty="0"/>
          </a:p>
        </p:txBody>
      </p:sp>
      <p:sp>
        <p:nvSpPr>
          <p:cNvPr id="9" name="Shape 6"/>
          <p:cNvSpPr/>
          <p:nvPr/>
        </p:nvSpPr>
        <p:spPr>
          <a:xfrm>
            <a:off x="548640" y="3063240"/>
            <a:ext cx="11064240" cy="1463040"/>
          </a:xfrm>
          <a:prstGeom prst="roundRect">
            <a:avLst>
              <a:gd name="adj" fmla="val 5625"/>
            </a:avLst>
          </a:prstGeom>
          <a:solidFill>
            <a:srgbClr val="FBECE8"/>
          </a:solidFill>
          <a:ln/>
          <a:effectLst>
            <a:outerShdw sx="100000" sy="100000" kx="0" ky="0" algn="bl" rotWithShape="0" blurRad="88900" dist="38100" dir="5400000">
              <a:srgbClr val="000000">
                <a:alpha val="13000"/>
              </a:srgbClr>
            </a:outerShdw>
          </a:effectLst>
        </p:spPr>
      </p:sp>
      <p:sp>
        <p:nvSpPr>
          <p:cNvPr id="10" name="Shape 7"/>
          <p:cNvSpPr/>
          <p:nvPr/>
        </p:nvSpPr>
        <p:spPr>
          <a:xfrm>
            <a:off x="868680" y="3520440"/>
            <a:ext cx="566928" cy="566928"/>
          </a:xfrm>
          <a:prstGeom prst="ellipse">
            <a:avLst/>
          </a:prstGeom>
          <a:solidFill>
            <a:srgbClr val="D9614C"/>
          </a:solidFill>
          <a:ln/>
        </p:spPr>
      </p:sp>
      <p:pic>
        <p:nvPicPr>
          <p:cNvPr id="11" name="Image 1" descr="preencoded.png">    </p:cNvPr>
          <p:cNvPicPr>
            <a:picLocks noChangeAspect="1"/>
          </p:cNvPicPr>
          <p:nvPr/>
        </p:nvPicPr>
        <p:blipFill>
          <a:blip r:embed="rId2"/>
          <a:stretch>
            <a:fillRect/>
          </a:stretch>
        </p:blipFill>
        <p:spPr>
          <a:xfrm>
            <a:off x="1021751" y="3673511"/>
            <a:ext cx="260787" cy="260787"/>
          </a:xfrm>
          <a:prstGeom prst="rect">
            <a:avLst/>
          </a:prstGeom>
        </p:spPr>
      </p:pic>
      <p:sp>
        <p:nvSpPr>
          <p:cNvPr id="12" name="Text 8"/>
          <p:cNvSpPr/>
          <p:nvPr/>
        </p:nvSpPr>
        <p:spPr>
          <a:xfrm>
            <a:off x="1691640" y="3209544"/>
            <a:ext cx="9646920" cy="475488"/>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The diagrams disagreed with the prose</a:t>
            </a:r>
            <a:endParaRPr lang="en-US" sz="1850" dirty="0"/>
          </a:p>
        </p:txBody>
      </p:sp>
      <p:sp>
        <p:nvSpPr>
          <p:cNvPr id="13" name="Text 9"/>
          <p:cNvSpPr/>
          <p:nvPr/>
        </p:nvSpPr>
        <p:spPr>
          <a:xfrm>
            <a:off x="1691640" y="3721608"/>
            <a:ext cx="9646920" cy="713232"/>
          </a:xfrm>
          <a:prstGeom prst="rect">
            <a:avLst/>
          </a:prstGeom>
          <a:noFill/>
          <a:ln/>
        </p:spPr>
        <p:txBody>
          <a:bodyPr wrap="square" lIns="0" tIns="0" rIns="0" bIns="0" rtlCol="0" anchor="t"/>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An email notifier appeared in the picture and nowhere else — and notifications were out of the MVP. Now the picture and the component table say the same thing.</a:t>
            </a:r>
            <a:endParaRPr lang="en-US" sz="1550" dirty="0"/>
          </a:p>
        </p:txBody>
      </p:sp>
      <p:sp>
        <p:nvSpPr>
          <p:cNvPr id="14" name="Shape 10"/>
          <p:cNvSpPr/>
          <p:nvPr/>
        </p:nvSpPr>
        <p:spPr>
          <a:xfrm>
            <a:off x="548640" y="4690872"/>
            <a:ext cx="11064240" cy="1463040"/>
          </a:xfrm>
          <a:prstGeom prst="roundRect">
            <a:avLst>
              <a:gd name="adj" fmla="val 5625"/>
            </a:avLst>
          </a:prstGeom>
          <a:solidFill>
            <a:srgbClr val="FBEEDA"/>
          </a:solidFill>
          <a:ln/>
          <a:effectLst>
            <a:outerShdw sx="100000" sy="100000" kx="0" ky="0" algn="bl" rotWithShape="0" blurRad="88900" dist="38100" dir="5400000">
              <a:srgbClr val="000000">
                <a:alpha val="13000"/>
              </a:srgbClr>
            </a:outerShdw>
          </a:effectLst>
        </p:spPr>
      </p:sp>
      <p:sp>
        <p:nvSpPr>
          <p:cNvPr id="15" name="Shape 11"/>
          <p:cNvSpPr/>
          <p:nvPr/>
        </p:nvSpPr>
        <p:spPr>
          <a:xfrm>
            <a:off x="868680" y="5148072"/>
            <a:ext cx="566928" cy="566928"/>
          </a:xfrm>
          <a:prstGeom prst="ellipse">
            <a:avLst/>
          </a:prstGeom>
          <a:solidFill>
            <a:srgbClr val="E8A33D"/>
          </a:solidFill>
          <a:ln/>
        </p:spPr>
      </p:sp>
      <p:pic>
        <p:nvPicPr>
          <p:cNvPr id="16" name="Image 2" descr="preencoded.png">    </p:cNvPr>
          <p:cNvPicPr>
            <a:picLocks noChangeAspect="1"/>
          </p:cNvPicPr>
          <p:nvPr/>
        </p:nvPicPr>
        <p:blipFill>
          <a:blip r:embed="rId3"/>
          <a:stretch>
            <a:fillRect/>
          </a:stretch>
        </p:blipFill>
        <p:spPr>
          <a:xfrm>
            <a:off x="1021751" y="5301143"/>
            <a:ext cx="260787" cy="260787"/>
          </a:xfrm>
          <a:prstGeom prst="rect">
            <a:avLst/>
          </a:prstGeom>
        </p:spPr>
      </p:pic>
      <p:sp>
        <p:nvSpPr>
          <p:cNvPr id="17" name="Text 12"/>
          <p:cNvSpPr/>
          <p:nvPr/>
        </p:nvSpPr>
        <p:spPr>
          <a:xfrm>
            <a:off x="1691640" y="4837176"/>
            <a:ext cx="9646920" cy="475488"/>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The failure case was one hand-waved sentence</a:t>
            </a:r>
            <a:endParaRPr lang="en-US" sz="1850" dirty="0"/>
          </a:p>
        </p:txBody>
      </p:sp>
      <p:sp>
        <p:nvSpPr>
          <p:cNvPr id="18" name="Text 13"/>
          <p:cNvSpPr/>
          <p:nvPr/>
        </p:nvSpPr>
        <p:spPr>
          <a:xfrm>
            <a:off x="1691640" y="5349240"/>
            <a:ext cx="9646920" cy="713232"/>
          </a:xfrm>
          <a:prstGeom prst="rect">
            <a:avLst/>
          </a:prstGeom>
          <a:noFill/>
          <a:ln/>
        </p:spPr>
        <p:txBody>
          <a:bodyPr wrap="square" lIns="0" tIns="0" rIns="0" bIns="0" rtlCol="0" anchor="t"/>
          <a:lstStyle/>
          <a:p>
            <a:pPr indent="0" marL="0">
              <a:lnSpc>
                <a:spcPct val="104000"/>
              </a:lnSpc>
              <a:buNone/>
            </a:pPr>
            <a:r>
              <a:rPr lang="en-US" sz="1550" dirty="0">
                <a:solidFill>
                  <a:srgbClr val="1E2A36"/>
                </a:solidFill>
                <a:latin typeface="Calibri" pitchFamily="34" charset="0"/>
                <a:ea typeface="Calibri" pitchFamily="34" charset="-122"/>
                <a:cs typeface="Calibri" pitchFamily="34" charset="-120"/>
              </a:rPr>
              <a:t>The spike proved uploads fail on the shop's wifi, then the trace assumed every request succeeds. Now there's a red trace, and the user keeps their work.</a:t>
            </a:r>
            <a:endParaRPr lang="en-US" sz="15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118872" cy="118872"/>
          </a:xfrm>
          <a:prstGeom prst="ellipse">
            <a:avLst/>
          </a:prstGeom>
          <a:solidFill>
            <a:srgbClr val="E8A33D"/>
          </a:solidFill>
          <a:ln/>
        </p:spPr>
      </p:sp>
      <p:sp>
        <p:nvSpPr>
          <p:cNvPr id="3" name="Text 1"/>
          <p:cNvSpPr/>
          <p:nvPr/>
        </p:nvSpPr>
        <p:spPr>
          <a:xfrm>
            <a:off x="768096" y="292608"/>
            <a:ext cx="5486400" cy="274320"/>
          </a:xfrm>
          <a:prstGeom prst="rect">
            <a:avLst/>
          </a:prstGeom>
          <a:noFill/>
          <a:ln/>
        </p:spPr>
        <p:txBody>
          <a:bodyPr wrap="square" lIns="0" tIns="0" rIns="0" bIns="0" rtlCol="0" anchor="ctr"/>
          <a:lstStyle/>
          <a:p>
            <a:pPr indent="0" marL="0">
              <a:buNone/>
            </a:pPr>
            <a:r>
              <a:rPr lang="en-US" sz="1350" b="1" spc="200" kern="0" dirty="0">
                <a:solidFill>
                  <a:srgbClr val="12908F"/>
                </a:solidFill>
                <a:latin typeface="Calibri" pitchFamily="34" charset="0"/>
                <a:ea typeface="Calibri" pitchFamily="34" charset="-122"/>
                <a:cs typeface="Calibri" pitchFamily="34" charset="-120"/>
              </a:rPr>
              <a:t>THE TARGET · ROUND 1</a:t>
            </a:r>
            <a:endParaRPr lang="en-US" sz="1350" dirty="0"/>
          </a:p>
        </p:txBody>
      </p:sp>
      <p:sp>
        <p:nvSpPr>
          <p:cNvPr id="4" name="Text 2"/>
          <p:cNvSpPr/>
          <p:nvPr/>
        </p:nvSpPr>
        <p:spPr>
          <a:xfrm>
            <a:off x="6035040" y="274320"/>
            <a:ext cx="5577840" cy="310896"/>
          </a:xfrm>
          <a:prstGeom prst="rect">
            <a:avLst/>
          </a:prstGeom>
          <a:noFill/>
          <a:ln/>
        </p:spPr>
        <p:txBody>
          <a:bodyPr wrap="square" lIns="0" tIns="0" rIns="0" bIns="0" rtlCol="0" anchor="ctr"/>
          <a:lstStyle/>
          <a:p>
            <a:pPr algn="r" indent="0" marL="0">
              <a:buNone/>
            </a:pPr>
            <a:r>
              <a:rPr lang="en-US" sz="1400" i="1" dirty="0">
                <a:solidFill>
                  <a:srgbClr val="5F7284"/>
                </a:solidFill>
                <a:latin typeface="Calibri" pitchFamily="34" charset="0"/>
                <a:ea typeface="Calibri" pitchFamily="34" charset="-122"/>
                <a:cs typeface="Calibri" pitchFamily="34" charset="-120"/>
              </a:rPr>
              <a:t>System context</a:t>
            </a:r>
            <a:endParaRPr lang="en-US" sz="1400" dirty="0"/>
          </a:p>
        </p:txBody>
      </p:sp>
      <p:sp>
        <p:nvSpPr>
          <p:cNvPr id="5" name="Shape 3"/>
          <p:cNvSpPr/>
          <p:nvPr/>
        </p:nvSpPr>
        <p:spPr>
          <a:xfrm>
            <a:off x="457200" y="676656"/>
            <a:ext cx="11247120" cy="365760"/>
          </a:xfrm>
          <a:prstGeom prst="roundRect">
            <a:avLst>
              <a:gd name="adj" fmla="val 22500"/>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D9614C"/>
                </a:solidFill>
                <a:latin typeface="Calibri" pitchFamily="34" charset="0"/>
                <a:ea typeface="Calibri" pitchFamily="34" charset="-122"/>
                <a:cs typeface="Calibri" pitchFamily="34" charset="-120"/>
              </a:rPr>
              <a:t>Monday's sample, §3 — the diagram as the team drew it</a:t>
            </a:r>
            <a:endParaRPr lang="en-US" sz="1400" dirty="0"/>
          </a:p>
        </p:txBody>
      </p:sp>
      <p:pic>
        <p:nvPicPr>
          <p:cNvPr id="7" name="Image 0" descr="/mnt/c/Users/steph26/Documents/Classes/CS301R/CS380/canvas_material/resources/img/backstage-context-flawed.png">    </p:cNvPr>
          <p:cNvPicPr>
            <a:picLocks noChangeAspect="1"/>
          </p:cNvPicPr>
          <p:nvPr/>
        </p:nvPicPr>
        <p:blipFill>
          <a:blip r:embed="rId1"/>
          <a:stretch>
            <a:fillRect/>
          </a:stretch>
        </p:blipFill>
        <p:spPr>
          <a:xfrm>
            <a:off x="1008766" y="1115568"/>
            <a:ext cx="10143988" cy="5175504"/>
          </a:xfrm>
          <a:prstGeom prst="rect">
            <a:avLst/>
          </a:prstGeom>
        </p:spPr>
      </p:pic>
      <p:sp>
        <p:nvSpPr>
          <p:cNvPr id="8" name="click-1"/>
          <p:cNvSpPr/>
          <p:nvPr/>
        </p:nvSpPr>
        <p:spPr>
          <a:xfrm>
            <a:off x="274320" y="640080"/>
            <a:ext cx="11612880" cy="5724144"/>
          </a:xfrm>
          <a:prstGeom prst="rect">
            <a:avLst/>
          </a:prstGeom>
          <a:solidFill>
            <a:srgbClr val="FFFFFF"/>
          </a:solidFill>
          <a:ln/>
        </p:spPr>
      </p:sp>
      <p:sp>
        <p:nvSpPr>
          <p:cNvPr id="9" name="click-1"/>
          <p:cNvSpPr/>
          <p:nvPr/>
        </p:nvSpPr>
        <p:spPr>
          <a:xfrm>
            <a:off x="457200" y="676656"/>
            <a:ext cx="11247120" cy="365760"/>
          </a:xfrm>
          <a:prstGeom prst="roundRect">
            <a:avLst>
              <a:gd name="adj" fmla="val 22500"/>
            </a:avLst>
          </a:prstGeom>
          <a:solidFill>
            <a:srgbClr val="EAF4EE"/>
          </a:solidFill>
          <a:ln/>
          <a:effectLst>
            <a:outerShdw sx="100000" sy="100000" kx="0" ky="0" algn="bl" rotWithShape="0" blurRad="88900" dist="38100" dir="5400000">
              <a:srgbClr val="000000">
                <a:alpha val="13000"/>
              </a:srgbClr>
            </a:outerShdw>
          </a:effectLst>
        </p:spPr>
      </p:sp>
      <p:sp>
        <p:nvSpPr>
          <p:cNvPr id="10" name="click-1"/>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0E6E6D"/>
                </a:solidFill>
                <a:latin typeface="Calibri" pitchFamily="34" charset="0"/>
                <a:ea typeface="Calibri" pitchFamily="34" charset="-122"/>
                <a:cs typeface="Calibri" pitchFamily="34" charset="-120"/>
              </a:rPr>
              <a:t>Drawn right</a:t>
            </a:r>
            <a:endParaRPr lang="en-US" sz="1400" dirty="0"/>
          </a:p>
        </p:txBody>
      </p:sp>
      <p:pic>
        <p:nvPicPr>
          <p:cNvPr id="11" name="click-1" descr="/mnt/c/Users/steph26/Documents/Classes/CS301R/CS380/canvas_material/resources/img/backstage-context.png">    </p:cNvPr>
          <p:cNvPicPr>
            <a:picLocks noChangeAspect="1"/>
          </p:cNvPicPr>
          <p:nvPr/>
        </p:nvPicPr>
        <p:blipFill>
          <a:blip r:embed="rId2"/>
          <a:stretch>
            <a:fillRect/>
          </a:stretch>
        </p:blipFill>
        <p:spPr>
          <a:xfrm>
            <a:off x="457200" y="1449761"/>
            <a:ext cx="11247120" cy="4507118"/>
          </a:xfrm>
          <a:prstGeom prst="rect">
            <a:avLst/>
          </a:prstGeom>
        </p:spPr>
      </p:pic>
      <p:sp>
        <p:nvSpPr>
          <p:cNvPr id="12"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13"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118872" cy="118872"/>
          </a:xfrm>
          <a:prstGeom prst="ellipse">
            <a:avLst/>
          </a:prstGeom>
          <a:solidFill>
            <a:srgbClr val="E8A33D"/>
          </a:solidFill>
          <a:ln/>
        </p:spPr>
      </p:sp>
      <p:sp>
        <p:nvSpPr>
          <p:cNvPr id="3" name="Text 1"/>
          <p:cNvSpPr/>
          <p:nvPr/>
        </p:nvSpPr>
        <p:spPr>
          <a:xfrm>
            <a:off x="768096" y="292608"/>
            <a:ext cx="5486400" cy="274320"/>
          </a:xfrm>
          <a:prstGeom prst="rect">
            <a:avLst/>
          </a:prstGeom>
          <a:noFill/>
          <a:ln/>
        </p:spPr>
        <p:txBody>
          <a:bodyPr wrap="square" lIns="0" tIns="0" rIns="0" bIns="0" rtlCol="0" anchor="ctr"/>
          <a:lstStyle/>
          <a:p>
            <a:pPr indent="0" marL="0">
              <a:buNone/>
            </a:pPr>
            <a:r>
              <a:rPr lang="en-US" sz="1350" b="1" spc="200" kern="0" dirty="0">
                <a:solidFill>
                  <a:srgbClr val="12908F"/>
                </a:solidFill>
                <a:latin typeface="Calibri" pitchFamily="34" charset="0"/>
                <a:ea typeface="Calibri" pitchFamily="34" charset="-122"/>
                <a:cs typeface="Calibri" pitchFamily="34" charset="-120"/>
              </a:rPr>
              <a:t>THE TARGET · ROUND 2</a:t>
            </a:r>
            <a:endParaRPr lang="en-US" sz="1350" dirty="0"/>
          </a:p>
        </p:txBody>
      </p:sp>
      <p:sp>
        <p:nvSpPr>
          <p:cNvPr id="4" name="Text 2"/>
          <p:cNvSpPr/>
          <p:nvPr/>
        </p:nvSpPr>
        <p:spPr>
          <a:xfrm>
            <a:off x="6035040" y="274320"/>
            <a:ext cx="5577840" cy="310896"/>
          </a:xfrm>
          <a:prstGeom prst="rect">
            <a:avLst/>
          </a:prstGeom>
          <a:noFill/>
          <a:ln/>
        </p:spPr>
        <p:txBody>
          <a:bodyPr wrap="square" lIns="0" tIns="0" rIns="0" bIns="0" rtlCol="0" anchor="ctr"/>
          <a:lstStyle/>
          <a:p>
            <a:pPr algn="r" indent="0" marL="0">
              <a:buNone/>
            </a:pPr>
            <a:r>
              <a:rPr lang="en-US" sz="1400" i="1" dirty="0">
                <a:solidFill>
                  <a:srgbClr val="5F7284"/>
                </a:solidFill>
                <a:latin typeface="Calibri" pitchFamily="34" charset="0"/>
                <a:ea typeface="Calibri" pitchFamily="34" charset="-122"/>
                <a:cs typeface="Calibri" pitchFamily="34" charset="-120"/>
              </a:rPr>
              <a:t>Components and interfaces</a:t>
            </a:r>
            <a:endParaRPr lang="en-US" sz="1400" dirty="0"/>
          </a:p>
        </p:txBody>
      </p:sp>
      <p:sp>
        <p:nvSpPr>
          <p:cNvPr id="5" name="Shape 3"/>
          <p:cNvSpPr/>
          <p:nvPr/>
        </p:nvSpPr>
        <p:spPr>
          <a:xfrm>
            <a:off x="457200" y="676656"/>
            <a:ext cx="11247120" cy="365760"/>
          </a:xfrm>
          <a:prstGeom prst="roundRect">
            <a:avLst>
              <a:gd name="adj" fmla="val 22500"/>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D9614C"/>
                </a:solidFill>
                <a:latin typeface="Calibri" pitchFamily="34" charset="0"/>
                <a:ea typeface="Calibri" pitchFamily="34" charset="-122"/>
                <a:cs typeface="Calibri" pitchFamily="34" charset="-120"/>
              </a:rPr>
              <a:t>Monday's sample, §4 — six boxes, no labels, an Email notifier, no Auth</a:t>
            </a:r>
            <a:endParaRPr lang="en-US" sz="1400" dirty="0"/>
          </a:p>
        </p:txBody>
      </p:sp>
      <p:pic>
        <p:nvPicPr>
          <p:cNvPr id="7" name="Image 0" descr="/mnt/c/Users/steph26/Documents/Classes/CS301R/CS380/canvas_material/resources/img/backstage-components-flawed.png">    </p:cNvPr>
          <p:cNvPicPr>
            <a:picLocks noChangeAspect="1"/>
          </p:cNvPicPr>
          <p:nvPr/>
        </p:nvPicPr>
        <p:blipFill>
          <a:blip r:embed="rId1"/>
          <a:stretch>
            <a:fillRect/>
          </a:stretch>
        </p:blipFill>
        <p:spPr>
          <a:xfrm>
            <a:off x="664535" y="1115568"/>
            <a:ext cx="10832450" cy="5175504"/>
          </a:xfrm>
          <a:prstGeom prst="rect">
            <a:avLst/>
          </a:prstGeom>
        </p:spPr>
      </p:pic>
      <p:sp>
        <p:nvSpPr>
          <p:cNvPr id="8" name="click-1"/>
          <p:cNvSpPr/>
          <p:nvPr/>
        </p:nvSpPr>
        <p:spPr>
          <a:xfrm>
            <a:off x="274320" y="640080"/>
            <a:ext cx="11612880" cy="5724144"/>
          </a:xfrm>
          <a:prstGeom prst="rect">
            <a:avLst/>
          </a:prstGeom>
          <a:solidFill>
            <a:srgbClr val="FFFFFF"/>
          </a:solidFill>
          <a:ln/>
        </p:spPr>
      </p:sp>
      <p:sp>
        <p:nvSpPr>
          <p:cNvPr id="9" name="click-1"/>
          <p:cNvSpPr/>
          <p:nvPr/>
        </p:nvSpPr>
        <p:spPr>
          <a:xfrm>
            <a:off x="457200" y="676656"/>
            <a:ext cx="11247120" cy="365760"/>
          </a:xfrm>
          <a:prstGeom prst="roundRect">
            <a:avLst>
              <a:gd name="adj" fmla="val 22500"/>
            </a:avLst>
          </a:prstGeom>
          <a:solidFill>
            <a:srgbClr val="EAF4EE"/>
          </a:solidFill>
          <a:ln/>
          <a:effectLst>
            <a:outerShdw sx="100000" sy="100000" kx="0" ky="0" algn="bl" rotWithShape="0" blurRad="88900" dist="38100" dir="5400000">
              <a:srgbClr val="000000">
                <a:alpha val="13000"/>
              </a:srgbClr>
            </a:outerShdw>
          </a:effectLst>
        </p:spPr>
      </p:sp>
      <p:sp>
        <p:nvSpPr>
          <p:cNvPr id="10" name="click-1"/>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0E6E6D"/>
                </a:solidFill>
                <a:latin typeface="Calibri" pitchFamily="34" charset="0"/>
                <a:ea typeface="Calibri" pitchFamily="34" charset="-122"/>
                <a:cs typeface="Calibri" pitchFamily="34" charset="-120"/>
              </a:rPr>
              <a:t>Drawn right</a:t>
            </a:r>
            <a:endParaRPr lang="en-US" sz="1400" dirty="0"/>
          </a:p>
        </p:txBody>
      </p:sp>
      <p:pic>
        <p:nvPicPr>
          <p:cNvPr id="11" name="click-1" descr="/mnt/c/Users/steph26/Documents/Classes/CS301R/CS380/canvas_material/resources/img/backstage-components.png">    </p:cNvPr>
          <p:cNvPicPr>
            <a:picLocks noChangeAspect="1"/>
          </p:cNvPicPr>
          <p:nvPr/>
        </p:nvPicPr>
        <p:blipFill>
          <a:blip r:embed="rId2"/>
          <a:stretch>
            <a:fillRect/>
          </a:stretch>
        </p:blipFill>
        <p:spPr>
          <a:xfrm>
            <a:off x="1462618" y="1115568"/>
            <a:ext cx="9236284" cy="5175504"/>
          </a:xfrm>
          <a:prstGeom prst="rect">
            <a:avLst/>
          </a:prstGeom>
        </p:spPr>
      </p:pic>
      <p:sp>
        <p:nvSpPr>
          <p:cNvPr id="12"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13"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118872" cy="118872"/>
          </a:xfrm>
          <a:prstGeom prst="ellipse">
            <a:avLst/>
          </a:prstGeom>
          <a:solidFill>
            <a:srgbClr val="E8A33D"/>
          </a:solidFill>
          <a:ln/>
        </p:spPr>
      </p:sp>
      <p:sp>
        <p:nvSpPr>
          <p:cNvPr id="3" name="Text 1"/>
          <p:cNvSpPr/>
          <p:nvPr/>
        </p:nvSpPr>
        <p:spPr>
          <a:xfrm>
            <a:off x="768096" y="292608"/>
            <a:ext cx="5486400" cy="274320"/>
          </a:xfrm>
          <a:prstGeom prst="rect">
            <a:avLst/>
          </a:prstGeom>
          <a:noFill/>
          <a:ln/>
        </p:spPr>
        <p:txBody>
          <a:bodyPr wrap="square" lIns="0" tIns="0" rIns="0" bIns="0" rtlCol="0" anchor="ctr"/>
          <a:lstStyle/>
          <a:p>
            <a:pPr indent="0" marL="0">
              <a:buNone/>
            </a:pPr>
            <a:r>
              <a:rPr lang="en-US" sz="1350" b="1" spc="200" kern="0" dirty="0">
                <a:solidFill>
                  <a:srgbClr val="12908F"/>
                </a:solidFill>
                <a:latin typeface="Calibri" pitchFamily="34" charset="0"/>
                <a:ea typeface="Calibri" pitchFamily="34" charset="-122"/>
                <a:cs typeface="Calibri" pitchFamily="34" charset="-120"/>
              </a:rPr>
              <a:t>THE TARGET · ROUND 3</a:t>
            </a:r>
            <a:endParaRPr lang="en-US" sz="1350" dirty="0"/>
          </a:p>
        </p:txBody>
      </p:sp>
      <p:sp>
        <p:nvSpPr>
          <p:cNvPr id="4" name="Text 2"/>
          <p:cNvSpPr/>
          <p:nvPr/>
        </p:nvSpPr>
        <p:spPr>
          <a:xfrm>
            <a:off x="6035040" y="274320"/>
            <a:ext cx="5577840" cy="310896"/>
          </a:xfrm>
          <a:prstGeom prst="rect">
            <a:avLst/>
          </a:prstGeom>
          <a:noFill/>
          <a:ln/>
        </p:spPr>
        <p:txBody>
          <a:bodyPr wrap="square" lIns="0" tIns="0" rIns="0" bIns="0" rtlCol="0" anchor="ctr"/>
          <a:lstStyle/>
          <a:p>
            <a:pPr algn="r" indent="0" marL="0">
              <a:buNone/>
            </a:pPr>
            <a:r>
              <a:rPr lang="en-US" sz="1400" i="1" dirty="0">
                <a:solidFill>
                  <a:srgbClr val="5F7284"/>
                </a:solidFill>
                <a:latin typeface="Calibri" pitchFamily="34" charset="0"/>
                <a:ea typeface="Calibri" pitchFamily="34" charset="-122"/>
                <a:cs typeface="Calibri" pitchFamily="34" charset="-120"/>
              </a:rPr>
              <a:t>One core flow, traced — and broken</a:t>
            </a:r>
            <a:endParaRPr lang="en-US" sz="1400" dirty="0"/>
          </a:p>
        </p:txBody>
      </p:sp>
      <p:sp>
        <p:nvSpPr>
          <p:cNvPr id="5" name="Shape 3"/>
          <p:cNvSpPr/>
          <p:nvPr/>
        </p:nvSpPr>
        <p:spPr>
          <a:xfrm>
            <a:off x="457200" y="676656"/>
            <a:ext cx="11247120" cy="365760"/>
          </a:xfrm>
          <a:prstGeom prst="roundRect">
            <a:avLst>
              <a:gd name="adj" fmla="val 22500"/>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D9614C"/>
                </a:solidFill>
                <a:latin typeface="Calibri" pitchFamily="34" charset="0"/>
                <a:ea typeface="Calibri" pitchFamily="34" charset="-122"/>
                <a:cs typeface="Calibri" pitchFamily="34" charset="-120"/>
              </a:rPr>
              <a:t>Monday's sample, §4 — there was no diagram. This was the whole thing.</a:t>
            </a:r>
            <a:endParaRPr lang="en-US" sz="1400" dirty="0"/>
          </a:p>
        </p:txBody>
      </p:sp>
      <p:sp>
        <p:nvSpPr>
          <p:cNvPr id="7" name="Shape 5"/>
          <p:cNvSpPr/>
          <p:nvPr/>
        </p:nvSpPr>
        <p:spPr>
          <a:xfrm>
            <a:off x="822960" y="1234440"/>
            <a:ext cx="10515600" cy="2788920"/>
          </a:xfrm>
          <a:prstGeom prst="roundRect">
            <a:avLst>
              <a:gd name="adj" fmla="val 2951"/>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1143000" y="1371600"/>
            <a:ext cx="9875520" cy="365760"/>
          </a:xfrm>
          <a:prstGeom prst="rect">
            <a:avLst/>
          </a:prstGeom>
          <a:noFill/>
          <a:ln/>
        </p:spPr>
        <p:txBody>
          <a:bodyPr wrap="square" lIns="0" tIns="0" rIns="0" bIns="0" rtlCol="0" anchor="ctr"/>
          <a:lstStyle/>
          <a:p>
            <a:pPr indent="0" marL="0">
              <a:buNone/>
            </a:pPr>
            <a:r>
              <a:rPr lang="en-US" sz="1600" b="1" i="1" dirty="0">
                <a:solidFill>
                  <a:srgbClr val="1E2A36"/>
                </a:solidFill>
                <a:latin typeface="Calibri" pitchFamily="34" charset="0"/>
                <a:ea typeface="Calibri" pitchFamily="34" charset="-122"/>
                <a:cs typeface="Calibri" pitchFamily="34" charset="-120"/>
              </a:rPr>
              <a:t>Core flow, traced end to end: a volunteer checks out a costume</a:t>
            </a:r>
            <a:endParaRPr lang="en-US" sz="1600" dirty="0"/>
          </a:p>
        </p:txBody>
      </p:sp>
      <p:sp>
        <p:nvSpPr>
          <p:cNvPr id="9" name="Text 7"/>
          <p:cNvSpPr/>
          <p:nvPr/>
        </p:nvSpPr>
        <p:spPr>
          <a:xfrm>
            <a:off x="1143000" y="1810512"/>
            <a:ext cx="9875520" cy="2103120"/>
          </a:xfrm>
          <a:prstGeom prst="rect">
            <a:avLst/>
          </a:prstGeom>
          <a:noFill/>
          <a:ln/>
        </p:spPr>
        <p:txBody>
          <a:bodyPr wrap="square" lIns="0" tIns="0" rIns="0" bIns="0" rtlCol="0" anchor="t"/>
          <a:lstStyle/>
          <a:p>
            <a:pPr marL="279400" indent="-279400">
              <a:spcAft>
                <a:spcPts val="500"/>
              </a:spcAft>
              <a:buSzPct val="100000"/>
              <a:buFont typeface="+mj-lt"/>
              <a:buAutoNum type="arabicPeriod" startAt="1"/>
            </a:pPr>
            <a:r>
              <a:rPr lang="en-US" sz="1550" dirty="0">
                <a:solidFill>
                  <a:srgbClr val="1E2A36"/>
                </a:solidFill>
                <a:latin typeface="Calibri" pitchFamily="34" charset="0"/>
                <a:ea typeface="Calibri" pitchFamily="34" charset="-122"/>
                <a:cs typeface="Calibri" pitchFamily="34" charset="-120"/>
              </a:rPr>
              <a:t>The volunteer searches “bustle” in the Web UI.</a:t>
            </a:r>
            <a:endParaRPr lang="en-US" sz="1550" dirty="0"/>
          </a:p>
          <a:p>
            <a:pPr marL="279400" indent="-279400">
              <a:spcAft>
                <a:spcPts val="500"/>
              </a:spcAft>
              <a:buSzPct val="100000"/>
              <a:buFont typeface="+mj-lt"/>
              <a:buAutoNum type="arabicPeriod" startAt="1"/>
            </a:pPr>
            <a:r>
              <a:rPr lang="en-US" sz="1550" dirty="0">
                <a:solidFill>
                  <a:srgbClr val="1E2A36"/>
                </a:solidFill>
                <a:latin typeface="Calibri" pitchFamily="34" charset="0"/>
                <a:ea typeface="Calibri" pitchFamily="34" charset="-122"/>
                <a:cs typeface="Calibri" pitchFamily="34" charset="-120"/>
              </a:rPr>
              <a:t>Catalog queries the database and returns matching items with photos and bin locations.</a:t>
            </a:r>
            <a:endParaRPr lang="en-US" sz="1550" dirty="0"/>
          </a:p>
          <a:p>
            <a:pPr marL="279400" indent="-279400">
              <a:spcAft>
                <a:spcPts val="500"/>
              </a:spcAft>
              <a:buSzPct val="100000"/>
              <a:buFont typeface="+mj-lt"/>
              <a:buAutoNum type="arabicPeriod" startAt="1"/>
            </a:pPr>
            <a:r>
              <a:rPr lang="en-US" sz="1550" dirty="0">
                <a:solidFill>
                  <a:srgbClr val="1E2A36"/>
                </a:solidFill>
                <a:latin typeface="Calibri" pitchFamily="34" charset="0"/>
                <a:ea typeface="Calibri" pitchFamily="34" charset="-122"/>
                <a:cs typeface="Calibri" pitchFamily="34" charset="-120"/>
              </a:rPr>
              <a:t>The volunteer opens an item and taps Check out, choosing the actor and show from lists and a due date.</a:t>
            </a:r>
            <a:endParaRPr lang="en-US" sz="1550" dirty="0"/>
          </a:p>
          <a:p>
            <a:pPr marL="279400" indent="-279400">
              <a:spcAft>
                <a:spcPts val="500"/>
              </a:spcAft>
              <a:buSzPct val="100000"/>
              <a:buFont typeface="+mj-lt"/>
              <a:buAutoNum type="arabicPeriod" startAt="1"/>
            </a:pPr>
            <a:r>
              <a:rPr lang="en-US" sz="1550" dirty="0">
                <a:solidFill>
                  <a:srgbClr val="1E2A36"/>
                </a:solidFill>
                <a:latin typeface="Calibri" pitchFamily="34" charset="0"/>
                <a:ea typeface="Calibri" pitchFamily="34" charset="-122"/>
                <a:cs typeface="Calibri" pitchFamily="34" charset="-120"/>
              </a:rPr>
              <a:t>Checkout writes a checkout record and marks the item as out.</a:t>
            </a:r>
            <a:endParaRPr lang="en-US" sz="1550" dirty="0"/>
          </a:p>
          <a:p>
            <a:pPr marL="279400" indent="-279400">
              <a:buSzPct val="100000"/>
              <a:buFont typeface="+mj-lt"/>
              <a:buAutoNum type="arabicPeriod" startAt="1"/>
            </a:pPr>
            <a:r>
              <a:rPr lang="en-US" sz="1550" dirty="0">
                <a:solidFill>
                  <a:srgbClr val="1E2A36"/>
                </a:solidFill>
                <a:latin typeface="Calibri" pitchFamily="34" charset="0"/>
                <a:ea typeface="Calibri" pitchFamily="34" charset="-122"/>
                <a:cs typeface="Calibri" pitchFamily="34" charset="-120"/>
              </a:rPr>
              <a:t>The Web UI shows the item as out, with the actor's name and due date.</a:t>
            </a:r>
            <a:endParaRPr lang="en-US" sz="1550" dirty="0"/>
          </a:p>
        </p:txBody>
      </p:sp>
      <p:sp>
        <p:nvSpPr>
          <p:cNvPr id="10" name="Shape 8"/>
          <p:cNvSpPr/>
          <p:nvPr/>
        </p:nvSpPr>
        <p:spPr>
          <a:xfrm>
            <a:off x="822960" y="4224528"/>
            <a:ext cx="1051560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11" name="Text 9"/>
          <p:cNvSpPr/>
          <p:nvPr/>
        </p:nvSpPr>
        <p:spPr>
          <a:xfrm>
            <a:off x="1143000" y="4370832"/>
            <a:ext cx="9875520" cy="365760"/>
          </a:xfrm>
          <a:prstGeom prst="rect">
            <a:avLst/>
          </a:prstGeom>
          <a:noFill/>
          <a:ln/>
        </p:spPr>
        <p:txBody>
          <a:bodyPr wrap="square" lIns="0" tIns="0" rIns="0" bIns="0" rtlCol="0" anchor="ctr"/>
          <a:lstStyle/>
          <a:p>
            <a:pPr indent="0" marL="0">
              <a:buNone/>
            </a:pPr>
            <a:r>
              <a:rPr lang="en-US" sz="1600" b="1" i="1" dirty="0">
                <a:solidFill>
                  <a:srgbClr val="D9614C"/>
                </a:solidFill>
                <a:latin typeface="Calibri" pitchFamily="34" charset="0"/>
                <a:ea typeface="Calibri" pitchFamily="34" charset="-122"/>
                <a:cs typeface="Calibri" pitchFamily="34" charset="-120"/>
              </a:rPr>
              <a:t>The failure case</a:t>
            </a:r>
            <a:endParaRPr lang="en-US" sz="1600" dirty="0"/>
          </a:p>
        </p:txBody>
      </p:sp>
      <p:sp>
        <p:nvSpPr>
          <p:cNvPr id="12" name="Text 10"/>
          <p:cNvSpPr/>
          <p:nvPr/>
        </p:nvSpPr>
        <p:spPr>
          <a:xfrm>
            <a:off x="1143000" y="4800600"/>
            <a:ext cx="9875520" cy="457200"/>
          </a:xfrm>
          <a:prstGeom prst="rect">
            <a:avLst/>
          </a:prstGeom>
          <a:noFill/>
          <a:ln/>
        </p:spPr>
        <p:txBody>
          <a:bodyPr wrap="square" lIns="0" tIns="0" rIns="0" bIns="0" rtlCol="0" anchor="ctr"/>
          <a:lstStyle/>
          <a:p>
            <a:pPr indent="0" marL="0">
              <a:buNone/>
            </a:pPr>
            <a:r>
              <a:rPr lang="en-US" sz="1650" dirty="0">
                <a:solidFill>
                  <a:srgbClr val="1E2A36"/>
                </a:solidFill>
                <a:latin typeface="Calibri" pitchFamily="34" charset="0"/>
                <a:ea typeface="Calibri" pitchFamily="34" charset="-122"/>
                <a:cs typeface="Calibri" pitchFamily="34" charset="-120"/>
              </a:rPr>
              <a:t>“If a request fails, the user sees an error message and can try again.”</a:t>
            </a:r>
            <a:endParaRPr lang="en-US" sz="1650" dirty="0"/>
          </a:p>
        </p:txBody>
      </p:sp>
      <p:sp>
        <p:nvSpPr>
          <p:cNvPr id="13" name="Text 11"/>
          <p:cNvSpPr/>
          <p:nvPr/>
        </p:nvSpPr>
        <p:spPr>
          <a:xfrm>
            <a:off x="1143000" y="5193792"/>
            <a:ext cx="9875520" cy="310896"/>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That is the entire section.</a:t>
            </a:r>
            <a:endParaRPr lang="en-US" sz="1400" dirty="0"/>
          </a:p>
        </p:txBody>
      </p:sp>
      <p:sp>
        <p:nvSpPr>
          <p:cNvPr id="14" name="click-1"/>
          <p:cNvSpPr/>
          <p:nvPr/>
        </p:nvSpPr>
        <p:spPr>
          <a:xfrm>
            <a:off x="274320" y="640080"/>
            <a:ext cx="11612880" cy="5724144"/>
          </a:xfrm>
          <a:prstGeom prst="rect">
            <a:avLst/>
          </a:prstGeom>
          <a:solidFill>
            <a:srgbClr val="FFFFFF"/>
          </a:solidFill>
          <a:ln/>
        </p:spPr>
      </p:sp>
      <p:sp>
        <p:nvSpPr>
          <p:cNvPr id="15" name="click-1"/>
          <p:cNvSpPr/>
          <p:nvPr/>
        </p:nvSpPr>
        <p:spPr>
          <a:xfrm>
            <a:off x="457200" y="676656"/>
            <a:ext cx="11247120" cy="365760"/>
          </a:xfrm>
          <a:prstGeom prst="roundRect">
            <a:avLst>
              <a:gd name="adj" fmla="val 22500"/>
            </a:avLst>
          </a:prstGeom>
          <a:solidFill>
            <a:srgbClr val="EAF4EE"/>
          </a:solidFill>
          <a:ln/>
          <a:effectLst>
            <a:outerShdw sx="100000" sy="100000" kx="0" ky="0" algn="bl" rotWithShape="0" blurRad="88900" dist="38100" dir="5400000">
              <a:srgbClr val="000000">
                <a:alpha val="13000"/>
              </a:srgbClr>
            </a:outerShdw>
          </a:effectLst>
        </p:spPr>
      </p:sp>
      <p:sp>
        <p:nvSpPr>
          <p:cNvPr id="16" name="click-1"/>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0E6E6D"/>
                </a:solidFill>
                <a:latin typeface="Calibri" pitchFamily="34" charset="0"/>
                <a:ea typeface="Calibri" pitchFamily="34" charset="-122"/>
                <a:cs typeface="Calibri" pitchFamily="34" charset="-120"/>
              </a:rPr>
              <a:t>Drawn right</a:t>
            </a:r>
            <a:endParaRPr lang="en-US" sz="1400" dirty="0"/>
          </a:p>
        </p:txBody>
      </p:sp>
      <p:pic>
        <p:nvPicPr>
          <p:cNvPr id="17" name="click-1" descr="/mnt/c/Users/steph26/Documents/Classes/CS301R/CS380/canvas_material/resources/img/backstage-flow.png">    </p:cNvPr>
          <p:cNvPicPr>
            <a:picLocks noChangeAspect="1"/>
          </p:cNvPicPr>
          <p:nvPr/>
        </p:nvPicPr>
        <p:blipFill>
          <a:blip r:embed="rId1"/>
          <a:stretch>
            <a:fillRect/>
          </a:stretch>
        </p:blipFill>
        <p:spPr>
          <a:xfrm>
            <a:off x="1826921" y="1115568"/>
            <a:ext cx="8507678" cy="5175504"/>
          </a:xfrm>
          <a:prstGeom prst="rect">
            <a:avLst/>
          </a:prstGeom>
        </p:spPr>
      </p:pic>
      <p:sp>
        <p:nvSpPr>
          <p:cNvPr id="18"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19"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118872" cy="118872"/>
          </a:xfrm>
          <a:prstGeom prst="ellipse">
            <a:avLst/>
          </a:prstGeom>
          <a:solidFill>
            <a:srgbClr val="E8A33D"/>
          </a:solidFill>
          <a:ln/>
        </p:spPr>
      </p:sp>
      <p:sp>
        <p:nvSpPr>
          <p:cNvPr id="3" name="Text 1"/>
          <p:cNvSpPr/>
          <p:nvPr/>
        </p:nvSpPr>
        <p:spPr>
          <a:xfrm>
            <a:off x="768096" y="292608"/>
            <a:ext cx="5486400" cy="274320"/>
          </a:xfrm>
          <a:prstGeom prst="rect">
            <a:avLst/>
          </a:prstGeom>
          <a:noFill/>
          <a:ln/>
        </p:spPr>
        <p:txBody>
          <a:bodyPr wrap="square" lIns="0" tIns="0" rIns="0" bIns="0" rtlCol="0" anchor="ctr"/>
          <a:lstStyle/>
          <a:p>
            <a:pPr indent="0" marL="0">
              <a:buNone/>
            </a:pPr>
            <a:r>
              <a:rPr lang="en-US" sz="1350" b="1" spc="200" kern="0" dirty="0">
                <a:solidFill>
                  <a:srgbClr val="12908F"/>
                </a:solidFill>
                <a:latin typeface="Calibri" pitchFamily="34" charset="0"/>
                <a:ea typeface="Calibri" pitchFamily="34" charset="-122"/>
                <a:cs typeface="Calibri" pitchFamily="34" charset="-120"/>
              </a:rPr>
              <a:t>THE TARGET · ROUND 4</a:t>
            </a:r>
            <a:endParaRPr lang="en-US" sz="1350" dirty="0"/>
          </a:p>
        </p:txBody>
      </p:sp>
      <p:sp>
        <p:nvSpPr>
          <p:cNvPr id="4" name="Text 2"/>
          <p:cNvSpPr/>
          <p:nvPr/>
        </p:nvSpPr>
        <p:spPr>
          <a:xfrm>
            <a:off x="6035040" y="274320"/>
            <a:ext cx="5577840" cy="310896"/>
          </a:xfrm>
          <a:prstGeom prst="rect">
            <a:avLst/>
          </a:prstGeom>
          <a:noFill/>
          <a:ln/>
        </p:spPr>
        <p:txBody>
          <a:bodyPr wrap="square" lIns="0" tIns="0" rIns="0" bIns="0" rtlCol="0" anchor="ctr"/>
          <a:lstStyle/>
          <a:p>
            <a:pPr algn="r" indent="0" marL="0">
              <a:buNone/>
            </a:pPr>
            <a:r>
              <a:rPr lang="en-US" sz="1400" i="1" dirty="0">
                <a:solidFill>
                  <a:srgbClr val="5F7284"/>
                </a:solidFill>
                <a:latin typeface="Calibri" pitchFamily="34" charset="0"/>
                <a:ea typeface="Calibri" pitchFamily="34" charset="-122"/>
                <a:cs typeface="Calibri" pitchFamily="34" charset="-120"/>
              </a:rPr>
              <a:t>Data model, first cut</a:t>
            </a:r>
            <a:endParaRPr lang="en-US" sz="1400" dirty="0"/>
          </a:p>
        </p:txBody>
      </p:sp>
      <p:sp>
        <p:nvSpPr>
          <p:cNvPr id="5" name="Shape 3"/>
          <p:cNvSpPr/>
          <p:nvPr/>
        </p:nvSpPr>
        <p:spPr>
          <a:xfrm>
            <a:off x="457200" y="676656"/>
            <a:ext cx="11247120" cy="365760"/>
          </a:xfrm>
          <a:prstGeom prst="roundRect">
            <a:avLst>
              <a:gd name="adj" fmla="val 22500"/>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D9614C"/>
                </a:solidFill>
                <a:latin typeface="Calibri" pitchFamily="34" charset="0"/>
                <a:ea typeface="Calibri" pitchFamily="34" charset="-122"/>
                <a:cs typeface="Calibri" pitchFamily="34" charset="-120"/>
              </a:rPr>
              <a:t>Monday's sample, §5 — the entity table was fine, and then it kept going</a:t>
            </a:r>
            <a:endParaRPr lang="en-US" sz="1400" dirty="0"/>
          </a:p>
        </p:txBody>
      </p:sp>
      <p:sp>
        <p:nvSpPr>
          <p:cNvPr id="7" name="Shape 5"/>
          <p:cNvSpPr/>
          <p:nvPr/>
        </p:nvSpPr>
        <p:spPr>
          <a:xfrm>
            <a:off x="822960" y="1234440"/>
            <a:ext cx="10515600" cy="713232"/>
          </a:xfrm>
          <a:prstGeom prst="roundRect">
            <a:avLst>
              <a:gd name="adj" fmla="val 11538"/>
            </a:avLst>
          </a:prstGeom>
          <a:solidFill>
            <a:srgbClr val="EAF4EE"/>
          </a:solidFill>
          <a:ln/>
          <a:effectLst>
            <a:outerShdw sx="100000" sy="100000" kx="0" ky="0" algn="bl" rotWithShape="0" blurRad="88900" dist="38100" dir="5400000">
              <a:srgbClr val="000000">
                <a:alpha val="13000"/>
              </a:srgbClr>
            </a:outerShdw>
          </a:effectLst>
        </p:spPr>
      </p:sp>
      <p:sp>
        <p:nvSpPr>
          <p:cNvPr id="8" name="Text 6"/>
          <p:cNvSpPr/>
          <p:nvPr/>
        </p:nvSpPr>
        <p:spPr>
          <a:xfrm>
            <a:off x="1143000" y="1234440"/>
            <a:ext cx="9875520" cy="71323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Entity table: Item · Bin · Show · Person · Checkout · PullList — key fields, relationships, MVP or roadmap. Good.</a:t>
            </a:r>
            <a:endParaRPr lang="en-US" sz="1550" dirty="0"/>
          </a:p>
        </p:txBody>
      </p:sp>
      <p:sp>
        <p:nvSpPr>
          <p:cNvPr id="9" name="Shape 7"/>
          <p:cNvSpPr/>
          <p:nvPr/>
        </p:nvSpPr>
        <p:spPr>
          <a:xfrm>
            <a:off x="822960" y="2103120"/>
            <a:ext cx="10515600"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1143000" y="2212848"/>
            <a:ext cx="9875520" cy="329184"/>
          </a:xfrm>
          <a:prstGeom prst="rect">
            <a:avLst/>
          </a:prstGeom>
          <a:noFill/>
          <a:ln/>
        </p:spPr>
        <p:txBody>
          <a:bodyPr wrap="square" lIns="0" tIns="0" rIns="0" bIns="0" rtlCol="0" anchor="ctr"/>
          <a:lstStyle/>
          <a:p>
            <a:pPr indent="0" marL="0">
              <a:buNone/>
            </a:pPr>
            <a:r>
              <a:rPr lang="en-US" sz="1500" b="1" i="1" dirty="0">
                <a:solidFill>
                  <a:srgbClr val="D9614C"/>
                </a:solidFill>
                <a:latin typeface="Calibri" pitchFamily="34" charset="0"/>
                <a:ea typeface="Calibri" pitchFamily="34" charset="-122"/>
                <a:cs typeface="Calibri" pitchFamily="34" charset="-120"/>
              </a:rPr>
              <a:t>“The Item table in full:”</a:t>
            </a:r>
            <a:endParaRPr lang="en-US" sz="1500" dirty="0"/>
          </a:p>
        </p:txBody>
      </p:sp>
      <p:sp>
        <p:nvSpPr>
          <p:cNvPr id="11" name="Text 9"/>
          <p:cNvSpPr/>
          <p:nvPr/>
        </p:nvSpPr>
        <p:spPr>
          <a:xfrm>
            <a:off x="1188720" y="2578608"/>
            <a:ext cx="9784080" cy="1554480"/>
          </a:xfrm>
          <a:prstGeom prst="rect">
            <a:avLst/>
          </a:prstGeom>
          <a:noFill/>
          <a:ln/>
        </p:spPr>
        <p:txBody>
          <a:bodyPr wrap="square" lIns="0" tIns="0" rIns="0" bIns="0" rtlCol="0" anchor="t"/>
          <a:lstStyle/>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id           bigint          no    auto        primary key</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name         varchar(120)    no    —           indexed</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category     varchar(40)     no    'costume'   choices in constants.py</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size_label   varchar(20)     yes   NULL        free text</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chest_in     numeric(5,2)    yes   NULL</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 and seven more rows, every one of them stale within a week</a:t>
            </a:r>
            <a:endParaRPr lang="en-US" sz="1250" dirty="0"/>
          </a:p>
        </p:txBody>
      </p:sp>
      <p:sp>
        <p:nvSpPr>
          <p:cNvPr id="12" name="Shape 10"/>
          <p:cNvSpPr/>
          <p:nvPr/>
        </p:nvSpPr>
        <p:spPr>
          <a:xfrm>
            <a:off x="822960" y="4407408"/>
            <a:ext cx="10515600" cy="1417320"/>
          </a:xfrm>
          <a:prstGeom prst="roundRect">
            <a:avLst>
              <a:gd name="adj" fmla="val 5806"/>
            </a:avLst>
          </a:prstGeom>
          <a:solidFill>
            <a:srgbClr val="F2F6F8"/>
          </a:solidFill>
          <a:ln/>
          <a:effectLst>
            <a:outerShdw sx="100000" sy="100000" kx="0" ky="0" algn="bl" rotWithShape="0" blurRad="88900" dist="38100" dir="5400000">
              <a:srgbClr val="000000">
                <a:alpha val="13000"/>
              </a:srgbClr>
            </a:outerShdw>
          </a:effectLst>
        </p:spPr>
      </p:sp>
      <p:sp>
        <p:nvSpPr>
          <p:cNvPr id="13" name="Text 11"/>
          <p:cNvSpPr/>
          <p:nvPr/>
        </p:nvSpPr>
        <p:spPr>
          <a:xfrm>
            <a:off x="1143000" y="4498848"/>
            <a:ext cx="9875520" cy="329184"/>
          </a:xfrm>
          <a:prstGeom prst="rect">
            <a:avLst/>
          </a:prstGeom>
          <a:noFill/>
          <a:ln/>
        </p:spPr>
        <p:txBody>
          <a:bodyPr wrap="square" lIns="0" tIns="0" rIns="0" bIns="0" rtlCol="0" anchor="ctr"/>
          <a:lstStyle/>
          <a:p>
            <a:pPr indent="0" marL="0">
              <a:buNone/>
            </a:pPr>
            <a:r>
              <a:rPr lang="en-US" sz="1500" b="1" i="1" dirty="0">
                <a:solidFill>
                  <a:srgbClr val="D9614C"/>
                </a:solidFill>
                <a:latin typeface="Calibri" pitchFamily="34" charset="0"/>
                <a:ea typeface="Calibri" pitchFamily="34" charset="-122"/>
                <a:cs typeface="Calibri" pitchFamily="34" charset="-120"/>
              </a:rPr>
              <a:t>“Search, as implemented:”</a:t>
            </a:r>
            <a:endParaRPr lang="en-US" sz="1500" dirty="0"/>
          </a:p>
        </p:txBody>
      </p:sp>
      <p:sp>
        <p:nvSpPr>
          <p:cNvPr id="14" name="Text 12"/>
          <p:cNvSpPr/>
          <p:nvPr/>
        </p:nvSpPr>
        <p:spPr>
          <a:xfrm>
            <a:off x="1188720" y="4846320"/>
            <a:ext cx="9784080" cy="868680"/>
          </a:xfrm>
          <a:prstGeom prst="rect">
            <a:avLst/>
          </a:prstGeom>
          <a:noFill/>
          <a:ln/>
        </p:spPr>
        <p:txBody>
          <a:bodyPr wrap="square" lIns="0" tIns="0" rIns="0" bIns="0" rtlCol="0" anchor="t"/>
          <a:lstStyle/>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def search(request):</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    q = request.GET.get("q", "").strip()</a:t>
            </a:r>
            <a:endParaRPr lang="en-US" sz="1250" dirty="0"/>
          </a:p>
          <a:p>
            <a:pPr indent="0" marL="0">
              <a:lnSpc>
                <a:spcPct val="106000"/>
              </a:lnSpc>
              <a:buNone/>
            </a:pPr>
            <a:r>
              <a:rPr lang="en-US" sz="1250" dirty="0">
                <a:solidFill>
                  <a:srgbClr val="5F7284"/>
                </a:solidFill>
                <a:latin typeface="Consolas" pitchFamily="34" charset="0"/>
                <a:ea typeface="Consolas" pitchFamily="34" charset="-122"/>
                <a:cs typeface="Consolas" pitchFamily="34" charset="-120"/>
              </a:rPr>
              <a:t>    items = Item.objects.all()          # … and eleven more lines</a:t>
            </a:r>
            <a:endParaRPr lang="en-US" sz="1250" dirty="0"/>
          </a:p>
        </p:txBody>
      </p:sp>
      <p:sp>
        <p:nvSpPr>
          <p:cNvPr id="15" name="click-1"/>
          <p:cNvSpPr/>
          <p:nvPr/>
        </p:nvSpPr>
        <p:spPr>
          <a:xfrm>
            <a:off x="274320" y="640080"/>
            <a:ext cx="11612880" cy="5724144"/>
          </a:xfrm>
          <a:prstGeom prst="rect">
            <a:avLst/>
          </a:prstGeom>
          <a:solidFill>
            <a:srgbClr val="FFFFFF"/>
          </a:solidFill>
          <a:ln/>
        </p:spPr>
      </p:sp>
      <p:sp>
        <p:nvSpPr>
          <p:cNvPr id="16" name="click-1"/>
          <p:cNvSpPr/>
          <p:nvPr/>
        </p:nvSpPr>
        <p:spPr>
          <a:xfrm>
            <a:off x="457200" y="676656"/>
            <a:ext cx="11247120" cy="365760"/>
          </a:xfrm>
          <a:prstGeom prst="roundRect">
            <a:avLst>
              <a:gd name="adj" fmla="val 22500"/>
            </a:avLst>
          </a:prstGeom>
          <a:solidFill>
            <a:srgbClr val="EAF4EE"/>
          </a:solidFill>
          <a:ln/>
          <a:effectLst>
            <a:outerShdw sx="100000" sy="100000" kx="0" ky="0" algn="bl" rotWithShape="0" blurRad="88900" dist="38100" dir="5400000">
              <a:srgbClr val="000000">
                <a:alpha val="13000"/>
              </a:srgbClr>
            </a:outerShdw>
          </a:effectLst>
        </p:spPr>
      </p:sp>
      <p:sp>
        <p:nvSpPr>
          <p:cNvPr id="17" name="click-1"/>
          <p:cNvSpPr/>
          <p:nvPr/>
        </p:nvSpPr>
        <p:spPr>
          <a:xfrm>
            <a:off x="731520" y="676656"/>
            <a:ext cx="10698480" cy="365760"/>
          </a:xfrm>
          <a:prstGeom prst="rect">
            <a:avLst/>
          </a:prstGeom>
          <a:noFill/>
          <a:ln/>
        </p:spPr>
        <p:txBody>
          <a:bodyPr wrap="square" lIns="0" tIns="0" rIns="0" bIns="0" rtlCol="0" anchor="ctr"/>
          <a:lstStyle/>
          <a:p>
            <a:pPr indent="0" marL="0">
              <a:buNone/>
            </a:pPr>
            <a:r>
              <a:rPr lang="en-US" sz="1400" b="1" dirty="0">
                <a:solidFill>
                  <a:srgbClr val="0E6E6D"/>
                </a:solidFill>
                <a:latin typeface="Calibri" pitchFamily="34" charset="0"/>
                <a:ea typeface="Calibri" pitchFamily="34" charset="-122"/>
                <a:cs typeface="Calibri" pitchFamily="34" charset="-120"/>
              </a:rPr>
              <a:t>Drawn right</a:t>
            </a:r>
            <a:endParaRPr lang="en-US" sz="1400" dirty="0"/>
          </a:p>
        </p:txBody>
      </p:sp>
      <p:pic>
        <p:nvPicPr>
          <p:cNvPr id="18" name="click-1" descr="/mnt/c/Users/steph26/Documents/Classes/CS301R/CS380/canvas_material/resources/img/backstage-data.png">    </p:cNvPr>
          <p:cNvPicPr>
            <a:picLocks noChangeAspect="1"/>
          </p:cNvPicPr>
          <p:nvPr/>
        </p:nvPicPr>
        <p:blipFill>
          <a:blip r:embed="rId1"/>
          <a:stretch>
            <a:fillRect/>
          </a:stretch>
        </p:blipFill>
        <p:spPr>
          <a:xfrm>
            <a:off x="1228725" y="1115568"/>
            <a:ext cx="9704070" cy="5175504"/>
          </a:xfrm>
          <a:prstGeom prst="rect">
            <a:avLst/>
          </a:prstGeom>
        </p:spPr>
      </p:pic>
      <p:sp>
        <p:nvSpPr>
          <p:cNvPr id="19"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0"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ROUND 1 · THE WORDS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System context — four terms</a:t>
            </a:r>
            <a:endParaRPr lang="en-US" sz="3100" dirty="0"/>
          </a:p>
        </p:txBody>
      </p:sp>
      <p:sp>
        <p:nvSpPr>
          <p:cNvPr id="5" name="Shape 3"/>
          <p:cNvSpPr/>
          <p:nvPr/>
        </p:nvSpPr>
        <p:spPr>
          <a:xfrm>
            <a:off x="548640" y="1810512"/>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84832"/>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247778"/>
            <a:ext cx="277612" cy="277612"/>
          </a:xfrm>
          <a:prstGeom prst="rect">
            <a:avLst/>
          </a:prstGeom>
        </p:spPr>
      </p:pic>
      <p:sp>
        <p:nvSpPr>
          <p:cNvPr id="8" name="Text 5"/>
          <p:cNvSpPr/>
          <p:nvPr/>
        </p:nvSpPr>
        <p:spPr>
          <a:xfrm>
            <a:off x="1627632" y="2084832"/>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System boundary</a:t>
            </a:r>
            <a:endParaRPr lang="en-US" sz="1900" dirty="0"/>
          </a:p>
        </p:txBody>
      </p:sp>
      <p:sp>
        <p:nvSpPr>
          <p:cNvPr id="9" name="Text 6"/>
          <p:cNvSpPr/>
          <p:nvPr/>
        </p:nvSpPr>
        <p:spPr>
          <a:xfrm>
            <a:off x="859536" y="2834640"/>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Everything you will build, own, and can change. If fixing it means filing a bug with someone else, it belongs outside the box.</a:t>
            </a:r>
            <a:endParaRPr lang="en-US" sz="1550" dirty="0"/>
          </a:p>
        </p:txBody>
      </p:sp>
      <p:sp>
        <p:nvSpPr>
          <p:cNvPr id="10" name="Shape 7"/>
          <p:cNvSpPr/>
          <p:nvPr/>
        </p:nvSpPr>
        <p:spPr>
          <a:xfrm>
            <a:off x="6172200" y="1810512"/>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84832"/>
            <a:ext cx="603504" cy="60350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09466" y="2247778"/>
            <a:ext cx="277612" cy="277612"/>
          </a:xfrm>
          <a:prstGeom prst="rect">
            <a:avLst/>
          </a:prstGeom>
        </p:spPr>
      </p:pic>
      <p:sp>
        <p:nvSpPr>
          <p:cNvPr id="13" name="Text 9"/>
          <p:cNvSpPr/>
          <p:nvPr/>
        </p:nvSpPr>
        <p:spPr>
          <a:xfrm>
            <a:off x="7251192" y="2084832"/>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Actor / user role</a:t>
            </a:r>
            <a:endParaRPr lang="en-US" sz="1900" dirty="0"/>
          </a:p>
        </p:txBody>
      </p:sp>
      <p:sp>
        <p:nvSpPr>
          <p:cNvPr id="14" name="Text 10"/>
          <p:cNvSpPr/>
          <p:nvPr/>
        </p:nvSpPr>
        <p:spPr>
          <a:xfrm>
            <a:off x="6483096" y="2834640"/>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A kind of person, named by their job — not a name. The admin and the setup person count.</a:t>
            </a:r>
            <a:endParaRPr lang="en-US" sz="1550" dirty="0"/>
          </a:p>
        </p:txBody>
      </p:sp>
      <p:sp>
        <p:nvSpPr>
          <p:cNvPr id="15" name="Shape 11"/>
          <p:cNvSpPr/>
          <p:nvPr/>
        </p:nvSpPr>
        <p:spPr>
          <a:xfrm>
            <a:off x="548640" y="3968496"/>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2960" y="4242816"/>
            <a:ext cx="603504" cy="60350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85906" y="4405762"/>
            <a:ext cx="277612" cy="277612"/>
          </a:xfrm>
          <a:prstGeom prst="rect">
            <a:avLst/>
          </a:prstGeom>
        </p:spPr>
      </p:pic>
      <p:sp>
        <p:nvSpPr>
          <p:cNvPr id="18" name="Text 13"/>
          <p:cNvSpPr/>
          <p:nvPr/>
        </p:nvSpPr>
        <p:spPr>
          <a:xfrm>
            <a:off x="1627632" y="4242816"/>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External dependency</a:t>
            </a:r>
            <a:endParaRPr lang="en-US" sz="1900" dirty="0"/>
          </a:p>
        </p:txBody>
      </p:sp>
      <p:sp>
        <p:nvSpPr>
          <p:cNvPr id="19" name="Text 14"/>
          <p:cNvSpPr/>
          <p:nvPr/>
        </p:nvSpPr>
        <p:spPr>
          <a:xfrm>
            <a:off x="859536" y="4992624"/>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An API, an auth provider, email, hosting, the app store, GitHub itself. Anything you need and don't control.</a:t>
            </a:r>
            <a:endParaRPr lang="en-US" sz="1550" dirty="0"/>
          </a:p>
        </p:txBody>
      </p:sp>
      <p:sp>
        <p:nvSpPr>
          <p:cNvPr id="20" name="Shape 15"/>
          <p:cNvSpPr/>
          <p:nvPr/>
        </p:nvSpPr>
        <p:spPr>
          <a:xfrm>
            <a:off x="6172200" y="3968496"/>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6446520" y="4242816"/>
            <a:ext cx="603504" cy="603504"/>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6609466" y="4405762"/>
            <a:ext cx="277612" cy="277612"/>
          </a:xfrm>
          <a:prstGeom prst="rect">
            <a:avLst/>
          </a:prstGeom>
        </p:spPr>
      </p:pic>
      <p:sp>
        <p:nvSpPr>
          <p:cNvPr id="23" name="Text 17"/>
          <p:cNvSpPr/>
          <p:nvPr/>
        </p:nvSpPr>
        <p:spPr>
          <a:xfrm>
            <a:off x="7251192" y="4242816"/>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Boundary arrow</a:t>
            </a:r>
            <a:endParaRPr lang="en-US" sz="1900" dirty="0"/>
          </a:p>
        </p:txBody>
      </p:sp>
      <p:sp>
        <p:nvSpPr>
          <p:cNvPr id="24" name="Text 18"/>
          <p:cNvSpPr/>
          <p:nvPr/>
        </p:nvSpPr>
        <p:spPr>
          <a:xfrm>
            <a:off x="6483096" y="4992624"/>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One direction, labeled with the noun that crosses: "photo upload," "overdue reminder." Never "communicates with."</a:t>
            </a:r>
            <a:endParaRPr lang="en-US" sz="1550" dirty="0"/>
          </a:p>
        </p:txBody>
      </p:sp>
      <p:sp>
        <p:nvSpPr>
          <p:cNvPr id="25" name="Text 19"/>
          <p:cNvSpPr/>
          <p:nvPr/>
        </p:nvSpPr>
        <p:spPr>
          <a:xfrm>
            <a:off x="548640" y="6035040"/>
            <a:ext cx="11064240" cy="329184"/>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Nothing in CS 240 or CS 340 ever asked you where your system ends. That's what makes this the hard one.</a:t>
            </a:r>
            <a:endParaRPr lang="en-US" sz="15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1 · 10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Draw the boundary</a:t>
            </a:r>
            <a:endParaRPr lang="en-US" sz="3200" dirty="0"/>
          </a:p>
        </p:txBody>
      </p:sp>
      <p:sp>
        <p:nvSpPr>
          <p:cNvPr id="6" name="Shape 4"/>
          <p:cNvSpPr/>
          <p:nvPr/>
        </p:nvSpPr>
        <p:spPr>
          <a:xfrm>
            <a:off x="548640" y="160020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7" name="Text 5"/>
          <p:cNvSpPr/>
          <p:nvPr/>
        </p:nvSpPr>
        <p:spPr>
          <a:xfrm>
            <a:off x="896112" y="1600200"/>
            <a:ext cx="1037844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Your whole system as ONE box. Every user role and every external service around it. Label every arrow with what crosses.</a:t>
            </a:r>
            <a:endParaRPr lang="en-US" sz="1700" dirty="0"/>
          </a:p>
        </p:txBody>
      </p:sp>
      <p:sp>
        <p:nvSpPr>
          <p:cNvPr id="8" name="Shape 6"/>
          <p:cNvSpPr/>
          <p:nvPr/>
        </p:nvSpPr>
        <p:spPr>
          <a:xfrm>
            <a:off x="548640" y="2743200"/>
            <a:ext cx="11064240" cy="920496"/>
          </a:xfrm>
          <a:prstGeom prst="roundRect">
            <a:avLst>
              <a:gd name="adj" fmla="val 8940"/>
            </a:avLst>
          </a:prstGeom>
          <a:solidFill>
            <a:srgbClr val="1E3352"/>
          </a:solidFill>
          <a:ln/>
          <a:effectLst>
            <a:outerShdw sx="100000" sy="100000" kx="0" ky="0" algn="bl" rotWithShape="0" blurRad="88900" dist="38100" dir="5400000">
              <a:srgbClr val="000000">
                <a:alpha val="13000"/>
              </a:srgbClr>
            </a:outerShdw>
          </a:effectLst>
        </p:spPr>
      </p:sp>
      <p:sp>
        <p:nvSpPr>
          <p:cNvPr id="9" name="Shape 7"/>
          <p:cNvSpPr/>
          <p:nvPr/>
        </p:nvSpPr>
        <p:spPr>
          <a:xfrm>
            <a:off x="841248" y="2965704"/>
            <a:ext cx="475488" cy="475488"/>
          </a:xfrm>
          <a:prstGeom prst="ellipse">
            <a:avLst/>
          </a:prstGeom>
          <a:solidFill>
            <a:srgbClr val="E8A33D"/>
          </a:solidFill>
          <a:ln/>
        </p:spPr>
      </p:sp>
      <p:sp>
        <p:nvSpPr>
          <p:cNvPr id="10" name="Text 8"/>
          <p:cNvSpPr/>
          <p:nvPr/>
        </p:nvSpPr>
        <p:spPr>
          <a:xfrm>
            <a:off x="841248" y="2965704"/>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1</a:t>
            </a:r>
            <a:endParaRPr lang="en-US" sz="1900" dirty="0"/>
          </a:p>
        </p:txBody>
      </p:sp>
      <p:sp>
        <p:nvSpPr>
          <p:cNvPr id="11" name="Text 9"/>
          <p:cNvSpPr/>
          <p:nvPr/>
        </p:nvSpPr>
        <p:spPr>
          <a:xfrm>
            <a:off x="1499616" y="2743200"/>
            <a:ext cx="9875520" cy="920496"/>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Who are all your user types? Go back to your Product Definition Brief — then add the ones nobody lists: the admin, the person who does setup, you as maintainer.</a:t>
            </a:r>
            <a:endParaRPr lang="en-US" sz="1600" dirty="0"/>
          </a:p>
        </p:txBody>
      </p:sp>
      <p:sp>
        <p:nvSpPr>
          <p:cNvPr id="12" name="Shape 10"/>
          <p:cNvSpPr/>
          <p:nvPr/>
        </p:nvSpPr>
        <p:spPr>
          <a:xfrm>
            <a:off x="548640" y="3791712"/>
            <a:ext cx="11064240" cy="920496"/>
          </a:xfrm>
          <a:prstGeom prst="roundRect">
            <a:avLst>
              <a:gd name="adj" fmla="val 894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841248" y="4014216"/>
            <a:ext cx="475488" cy="475488"/>
          </a:xfrm>
          <a:prstGeom prst="ellipse">
            <a:avLst/>
          </a:prstGeom>
          <a:solidFill>
            <a:srgbClr val="E8A33D"/>
          </a:solidFill>
          <a:ln/>
        </p:spPr>
      </p:sp>
      <p:sp>
        <p:nvSpPr>
          <p:cNvPr id="14" name="Text 12"/>
          <p:cNvSpPr/>
          <p:nvPr/>
        </p:nvSpPr>
        <p:spPr>
          <a:xfrm>
            <a:off x="841248" y="4014216"/>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499616" y="3791712"/>
            <a:ext cx="9875520" cy="920496"/>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What do you depend on that you don't control? Include the boring ones: email delivery, hosting, the identity provider.</a:t>
            </a:r>
            <a:endParaRPr lang="en-US" sz="1600" dirty="0"/>
          </a:p>
        </p:txBody>
      </p:sp>
      <p:sp>
        <p:nvSpPr>
          <p:cNvPr id="16" name="Shape 14"/>
          <p:cNvSpPr/>
          <p:nvPr/>
        </p:nvSpPr>
        <p:spPr>
          <a:xfrm>
            <a:off x="548640" y="4840224"/>
            <a:ext cx="11064240" cy="920496"/>
          </a:xfrm>
          <a:prstGeom prst="roundRect">
            <a:avLst>
              <a:gd name="adj" fmla="val 8940"/>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841248" y="5062728"/>
            <a:ext cx="475488" cy="475488"/>
          </a:xfrm>
          <a:prstGeom prst="ellipse">
            <a:avLst/>
          </a:prstGeom>
          <a:solidFill>
            <a:srgbClr val="E8A33D"/>
          </a:solidFill>
          <a:ln/>
        </p:spPr>
      </p:sp>
      <p:sp>
        <p:nvSpPr>
          <p:cNvPr id="18" name="Text 16"/>
          <p:cNvSpPr/>
          <p:nvPr/>
        </p:nvSpPr>
        <p:spPr>
          <a:xfrm>
            <a:off x="841248" y="5062728"/>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3</a:t>
            </a:r>
            <a:endParaRPr lang="en-US" sz="1900" dirty="0"/>
          </a:p>
        </p:txBody>
      </p:sp>
      <p:sp>
        <p:nvSpPr>
          <p:cNvPr id="19" name="Text 17"/>
          <p:cNvSpPr/>
          <p:nvPr/>
        </p:nvSpPr>
        <p:spPr>
          <a:xfrm>
            <a:off x="1499616" y="4840224"/>
            <a:ext cx="9875520" cy="920496"/>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What does each arrow actually carry? Read one out loud as a sentence: "the borrower sends ___ to the system."</a:t>
            </a:r>
            <a:endParaRPr lang="en-US" sz="1600" dirty="0"/>
          </a:p>
        </p:txBody>
      </p:sp>
      <p:sp>
        <p:nvSpPr>
          <p:cNvPr id="20" name="Shape 18"/>
          <p:cNvSpPr/>
          <p:nvPr/>
        </p:nvSpPr>
        <p:spPr>
          <a:xfrm>
            <a:off x="548640" y="5870448"/>
            <a:ext cx="11064240" cy="585216"/>
          </a:xfrm>
          <a:prstGeom prst="roundRect">
            <a:avLst>
              <a:gd name="adj" fmla="val 14063"/>
            </a:avLst>
          </a:prstGeom>
          <a:solidFill>
            <a:srgbClr val="E4EEF1"/>
          </a:solidFill>
          <a:ln/>
          <a:effectLst>
            <a:outerShdw sx="100000" sy="100000" kx="0" ky="0" algn="bl" rotWithShape="0" blurRad="88900" dist="38100" dir="5400000">
              <a:srgbClr val="000000">
                <a:alpha val="13000"/>
              </a:srgbClr>
            </a:outerShdw>
          </a:effectLst>
        </p:spPr>
      </p:sp>
      <p:sp>
        <p:nvSpPr>
          <p:cNvPr id="21" name="Text 19"/>
          <p:cNvSpPr/>
          <p:nvPr/>
        </p:nvSpPr>
        <p:spPr>
          <a:xfrm>
            <a:off x="868680" y="5870448"/>
            <a:ext cx="10424160" cy="585216"/>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The test: if it vanished tomorrow, would you have to change code? Then it goes outside the box.</a:t>
            </a:r>
            <a:endParaRPr lang="en-US" sz="15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12 · Architecture Workshop</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ROUND 2 · THE WORDS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Components &amp; interfaces — four terms</a:t>
            </a:r>
            <a:endParaRPr lang="en-US" sz="3100" dirty="0"/>
          </a:p>
        </p:txBody>
      </p:sp>
      <p:sp>
        <p:nvSpPr>
          <p:cNvPr id="5" name="Shape 3"/>
          <p:cNvSpPr/>
          <p:nvPr/>
        </p:nvSpPr>
        <p:spPr>
          <a:xfrm>
            <a:off x="548640" y="1810512"/>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84832"/>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247778"/>
            <a:ext cx="277612" cy="277612"/>
          </a:xfrm>
          <a:prstGeom prst="rect">
            <a:avLst/>
          </a:prstGeom>
        </p:spPr>
      </p:pic>
      <p:sp>
        <p:nvSpPr>
          <p:cNvPr id="8" name="Text 5"/>
          <p:cNvSpPr/>
          <p:nvPr/>
        </p:nvSpPr>
        <p:spPr>
          <a:xfrm>
            <a:off x="1627632" y="2084832"/>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Component</a:t>
            </a:r>
            <a:endParaRPr lang="en-US" sz="1900" dirty="0"/>
          </a:p>
        </p:txBody>
      </p:sp>
      <p:sp>
        <p:nvSpPr>
          <p:cNvPr id="9" name="Text 6"/>
          <p:cNvSpPr/>
          <p:nvPr/>
        </p:nvSpPr>
        <p:spPr>
          <a:xfrm>
            <a:off x="859536" y="2834640"/>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One responsibility, one interface, and a name you could put on a contributor's first task. Not a class — it contains classes.</a:t>
            </a:r>
            <a:endParaRPr lang="en-US" sz="1550" dirty="0"/>
          </a:p>
        </p:txBody>
      </p:sp>
      <p:sp>
        <p:nvSpPr>
          <p:cNvPr id="10" name="Shape 7"/>
          <p:cNvSpPr/>
          <p:nvPr/>
        </p:nvSpPr>
        <p:spPr>
          <a:xfrm>
            <a:off x="6172200" y="1810512"/>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84832"/>
            <a:ext cx="603504" cy="60350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09466" y="2247778"/>
            <a:ext cx="277612" cy="277612"/>
          </a:xfrm>
          <a:prstGeom prst="rect">
            <a:avLst/>
          </a:prstGeom>
        </p:spPr>
      </p:pic>
      <p:sp>
        <p:nvSpPr>
          <p:cNvPr id="13" name="Text 9"/>
          <p:cNvSpPr/>
          <p:nvPr/>
        </p:nvSpPr>
        <p:spPr>
          <a:xfrm>
            <a:off x="7251192" y="2084832"/>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Responsibility</a:t>
            </a:r>
            <a:endParaRPr lang="en-US" sz="1900" dirty="0"/>
          </a:p>
        </p:txBody>
      </p:sp>
      <p:sp>
        <p:nvSpPr>
          <p:cNvPr id="14" name="Text 10"/>
          <p:cNvSpPr/>
          <p:nvPr/>
        </p:nvSpPr>
        <p:spPr>
          <a:xfrm>
            <a:off x="6483096" y="2834640"/>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One sentence. One reason to change. Chess had five: server, handlers, services, data access, database.</a:t>
            </a:r>
            <a:endParaRPr lang="en-US" sz="1550" dirty="0"/>
          </a:p>
        </p:txBody>
      </p:sp>
      <p:sp>
        <p:nvSpPr>
          <p:cNvPr id="15" name="Shape 11"/>
          <p:cNvSpPr/>
          <p:nvPr/>
        </p:nvSpPr>
        <p:spPr>
          <a:xfrm>
            <a:off x="548640" y="3968496"/>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2960" y="4242816"/>
            <a:ext cx="603504" cy="60350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85906" y="4405762"/>
            <a:ext cx="277612" cy="277612"/>
          </a:xfrm>
          <a:prstGeom prst="rect">
            <a:avLst/>
          </a:prstGeom>
        </p:spPr>
      </p:pic>
      <p:sp>
        <p:nvSpPr>
          <p:cNvPr id="18" name="Text 13"/>
          <p:cNvSpPr/>
          <p:nvPr/>
        </p:nvSpPr>
        <p:spPr>
          <a:xfrm>
            <a:off x="1627632" y="4242816"/>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Interface</a:t>
            </a:r>
            <a:endParaRPr lang="en-US" sz="1900" dirty="0"/>
          </a:p>
        </p:txBody>
      </p:sp>
      <p:sp>
        <p:nvSpPr>
          <p:cNvPr id="19" name="Text 14"/>
          <p:cNvSpPr/>
          <p:nvPr/>
        </p:nvSpPr>
        <p:spPr>
          <a:xfrm>
            <a:off x="859536" y="4992624"/>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An in-process call, HTTP + JSON, a WebSocket, a queue, a scheduled job, a file drop. Rough is the right amount.</a:t>
            </a:r>
            <a:endParaRPr lang="en-US" sz="1550" dirty="0"/>
          </a:p>
        </p:txBody>
      </p:sp>
      <p:sp>
        <p:nvSpPr>
          <p:cNvPr id="20" name="Shape 15"/>
          <p:cNvSpPr/>
          <p:nvPr/>
        </p:nvSpPr>
        <p:spPr>
          <a:xfrm>
            <a:off x="6172200" y="3968496"/>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6446520" y="4242816"/>
            <a:ext cx="603504" cy="603504"/>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6609466" y="4405762"/>
            <a:ext cx="277612" cy="277612"/>
          </a:xfrm>
          <a:prstGeom prst="rect">
            <a:avLst/>
          </a:prstGeom>
        </p:spPr>
      </p:pic>
      <p:sp>
        <p:nvSpPr>
          <p:cNvPr id="23" name="Text 17"/>
          <p:cNvSpPr/>
          <p:nvPr/>
        </p:nvSpPr>
        <p:spPr>
          <a:xfrm>
            <a:off x="7251192" y="4242816"/>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State owner</a:t>
            </a:r>
            <a:endParaRPr lang="en-US" sz="1900" dirty="0"/>
          </a:p>
        </p:txBody>
      </p:sp>
      <p:sp>
        <p:nvSpPr>
          <p:cNvPr id="24" name="Text 18"/>
          <p:cNvSpPr/>
          <p:nvPr/>
        </p:nvSpPr>
        <p:spPr>
          <a:xfrm>
            <a:off x="6483096" y="4992624"/>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Exactly one box may write each kind of data. Point at it — if your finger lands between two boxes, that's the design question.</a:t>
            </a:r>
            <a:endParaRPr lang="en-US" sz="1550" dirty="0"/>
          </a:p>
        </p:txBody>
      </p:sp>
      <p:sp>
        <p:nvSpPr>
          <p:cNvPr id="25" name="Text 19"/>
          <p:cNvSpPr/>
          <p:nvPr/>
        </p:nvSpPr>
        <p:spPr>
          <a:xfrm>
            <a:off x="548640" y="6035040"/>
            <a:ext cx="11064240" cy="329184"/>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Three to six boxes. Fifteen means a class diagram; two called "frontend" and "backend" means you haven't started.</a:t>
            </a:r>
            <a:endParaRPr lang="en-US" sz="15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2 · 15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Open the box</a:t>
            </a:r>
            <a:endParaRPr lang="en-US" sz="3200" dirty="0"/>
          </a:p>
        </p:txBody>
      </p:sp>
      <p:sp>
        <p:nvSpPr>
          <p:cNvPr id="6" name="Shape 4"/>
          <p:cNvSpPr/>
          <p:nvPr/>
        </p:nvSpPr>
        <p:spPr>
          <a:xfrm>
            <a:off x="548640" y="160020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7" name="Text 5"/>
          <p:cNvSpPr/>
          <p:nvPr/>
        </p:nvSpPr>
        <p:spPr>
          <a:xfrm>
            <a:off x="896112" y="1600200"/>
            <a:ext cx="1037844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Three to six components, each with a one-line job written on it. Draw the arrows between them and name what each one carries.</a:t>
            </a:r>
            <a:endParaRPr lang="en-US" sz="1700" dirty="0"/>
          </a:p>
        </p:txBody>
      </p:sp>
      <p:sp>
        <p:nvSpPr>
          <p:cNvPr id="8" name="Shape 6"/>
          <p:cNvSpPr/>
          <p:nvPr/>
        </p:nvSpPr>
        <p:spPr>
          <a:xfrm>
            <a:off x="548640" y="2743200"/>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9" name="Shape 7"/>
          <p:cNvSpPr/>
          <p:nvPr/>
        </p:nvSpPr>
        <p:spPr>
          <a:xfrm>
            <a:off x="841248" y="2834640"/>
            <a:ext cx="475488" cy="475488"/>
          </a:xfrm>
          <a:prstGeom prst="ellipse">
            <a:avLst/>
          </a:prstGeom>
          <a:solidFill>
            <a:srgbClr val="E8A33D"/>
          </a:solidFill>
          <a:ln/>
        </p:spPr>
      </p:sp>
      <p:sp>
        <p:nvSpPr>
          <p:cNvPr id="10" name="Text 8"/>
          <p:cNvSpPr/>
          <p:nvPr/>
        </p:nvSpPr>
        <p:spPr>
          <a:xfrm>
            <a:off x="841248" y="2834640"/>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1</a:t>
            </a:r>
            <a:endParaRPr lang="en-US" sz="1900" dirty="0"/>
          </a:p>
        </p:txBody>
      </p:sp>
      <p:sp>
        <p:nvSpPr>
          <p:cNvPr id="11" name="Text 9"/>
          <p:cNvSpPr/>
          <p:nvPr/>
        </p:nvSpPr>
        <p:spPr>
          <a:xfrm>
            <a:off x="1499616" y="2743200"/>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Say what your system does in one sentence — then break that sentence at every "and." Those are your components.</a:t>
            </a:r>
            <a:endParaRPr lang="en-US" sz="1600" dirty="0"/>
          </a:p>
        </p:txBody>
      </p:sp>
      <p:sp>
        <p:nvSpPr>
          <p:cNvPr id="12" name="Shape 10"/>
          <p:cNvSpPr/>
          <p:nvPr/>
        </p:nvSpPr>
        <p:spPr>
          <a:xfrm>
            <a:off x="548640" y="3529584"/>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841248" y="3621024"/>
            <a:ext cx="475488" cy="475488"/>
          </a:xfrm>
          <a:prstGeom prst="ellipse">
            <a:avLst/>
          </a:prstGeom>
          <a:solidFill>
            <a:srgbClr val="E8A33D"/>
          </a:solidFill>
          <a:ln/>
        </p:spPr>
      </p:sp>
      <p:sp>
        <p:nvSpPr>
          <p:cNvPr id="14" name="Text 12"/>
          <p:cNvSpPr/>
          <p:nvPr/>
        </p:nvSpPr>
        <p:spPr>
          <a:xfrm>
            <a:off x="841248" y="3621024"/>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499616" y="3529584"/>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What's the first self-contained piece of work you'd hand a new contributor? That's a component, and it's a good first issue.</a:t>
            </a:r>
            <a:endParaRPr lang="en-US" sz="1600" dirty="0"/>
          </a:p>
        </p:txBody>
      </p:sp>
      <p:sp>
        <p:nvSpPr>
          <p:cNvPr id="16" name="Shape 14"/>
          <p:cNvSpPr/>
          <p:nvPr/>
        </p:nvSpPr>
        <p:spPr>
          <a:xfrm>
            <a:off x="548640" y="4315968"/>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841248" y="4407408"/>
            <a:ext cx="475488" cy="475488"/>
          </a:xfrm>
          <a:prstGeom prst="ellipse">
            <a:avLst/>
          </a:prstGeom>
          <a:solidFill>
            <a:srgbClr val="E8A33D"/>
          </a:solidFill>
          <a:ln/>
        </p:spPr>
      </p:sp>
      <p:sp>
        <p:nvSpPr>
          <p:cNvPr id="18" name="Text 16"/>
          <p:cNvSpPr/>
          <p:nvPr/>
        </p:nvSpPr>
        <p:spPr>
          <a:xfrm>
            <a:off x="841248" y="4407408"/>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3</a:t>
            </a:r>
            <a:endParaRPr lang="en-US" sz="1900" dirty="0"/>
          </a:p>
        </p:txBody>
      </p:sp>
      <p:sp>
        <p:nvSpPr>
          <p:cNvPr id="19" name="Text 17"/>
          <p:cNvSpPr/>
          <p:nvPr/>
        </p:nvSpPr>
        <p:spPr>
          <a:xfrm>
            <a:off x="1499616" y="4315968"/>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For each arrow: is this a function call, an HTTP request, a queue, or a scheduled job? Rough answers are fine; "don't know" is a finding.</a:t>
            </a:r>
            <a:endParaRPr lang="en-US" sz="1600" dirty="0"/>
          </a:p>
        </p:txBody>
      </p:sp>
      <p:sp>
        <p:nvSpPr>
          <p:cNvPr id="20" name="Shape 18"/>
          <p:cNvSpPr/>
          <p:nvPr/>
        </p:nvSpPr>
        <p:spPr>
          <a:xfrm>
            <a:off x="548640" y="5102352"/>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21" name="Shape 19"/>
          <p:cNvSpPr/>
          <p:nvPr/>
        </p:nvSpPr>
        <p:spPr>
          <a:xfrm>
            <a:off x="841248" y="5193792"/>
            <a:ext cx="475488" cy="475488"/>
          </a:xfrm>
          <a:prstGeom prst="ellipse">
            <a:avLst/>
          </a:prstGeom>
          <a:solidFill>
            <a:srgbClr val="E8A33D"/>
          </a:solidFill>
          <a:ln/>
        </p:spPr>
      </p:sp>
      <p:sp>
        <p:nvSpPr>
          <p:cNvPr id="22" name="Text 20"/>
          <p:cNvSpPr/>
          <p:nvPr/>
        </p:nvSpPr>
        <p:spPr>
          <a:xfrm>
            <a:off x="841248" y="5193792"/>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4</a:t>
            </a:r>
            <a:endParaRPr lang="en-US" sz="1900" dirty="0"/>
          </a:p>
        </p:txBody>
      </p:sp>
      <p:sp>
        <p:nvSpPr>
          <p:cNvPr id="23" name="Text 21"/>
          <p:cNvSpPr/>
          <p:nvPr/>
        </p:nvSpPr>
        <p:spPr>
          <a:xfrm>
            <a:off x="1499616" y="5102352"/>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Point at the box that owns each kind of data. Every piece of state gets exactly one owner.</a:t>
            </a:r>
            <a:endParaRPr lang="en-US" sz="1600" dirty="0"/>
          </a:p>
        </p:txBody>
      </p:sp>
      <p:sp>
        <p:nvSpPr>
          <p:cNvPr id="24" name="Shape 22"/>
          <p:cNvSpPr/>
          <p:nvPr/>
        </p:nvSpPr>
        <p:spPr>
          <a:xfrm>
            <a:off x="548640" y="5870448"/>
            <a:ext cx="11064240" cy="585216"/>
          </a:xfrm>
          <a:prstGeom prst="roundRect">
            <a:avLst>
              <a:gd name="adj" fmla="val 14063"/>
            </a:avLst>
          </a:prstGeom>
          <a:solidFill>
            <a:srgbClr val="E4EEF1"/>
          </a:solidFill>
          <a:ln/>
          <a:effectLst>
            <a:outerShdw sx="100000" sy="100000" kx="0" ky="0" algn="bl" rotWithShape="0" blurRad="88900" dist="38100" dir="5400000">
              <a:srgbClr val="000000">
                <a:alpha val="13000"/>
              </a:srgbClr>
            </a:outerShdw>
          </a:effectLst>
        </p:spPr>
      </p:sp>
      <p:sp>
        <p:nvSpPr>
          <p:cNvPr id="25" name="Text 23"/>
          <p:cNvSpPr/>
          <p:nvPr/>
        </p:nvSpPr>
        <p:spPr>
          <a:xfrm>
            <a:off x="868680" y="5870448"/>
            <a:ext cx="10424160" cy="585216"/>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Three smells to watch for on your own board: the God component · the mystery arrow · data that no box owns.</a:t>
            </a:r>
            <a:endParaRPr lang="en-US" sz="150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ROUND 3 · THE WORDS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flow, end to end</a:t>
            </a:r>
            <a:endParaRPr lang="en-US" sz="3100" dirty="0"/>
          </a:p>
        </p:txBody>
      </p:sp>
      <p:sp>
        <p:nvSpPr>
          <p:cNvPr id="5" name="Shape 3"/>
          <p:cNvSpPr/>
          <p:nvPr/>
        </p:nvSpPr>
        <p:spPr>
          <a:xfrm>
            <a:off x="548640" y="1828800"/>
            <a:ext cx="3566160" cy="3611880"/>
          </a:xfrm>
          <a:prstGeom prst="roundRect">
            <a:avLst>
              <a:gd name="adj" fmla="val 230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984248" y="2212848"/>
            <a:ext cx="694944" cy="69494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2171883" y="2400483"/>
            <a:ext cx="319674" cy="319674"/>
          </a:xfrm>
          <a:prstGeom prst="rect">
            <a:avLst/>
          </a:prstGeom>
        </p:spPr>
      </p:pic>
      <p:sp>
        <p:nvSpPr>
          <p:cNvPr id="8" name="Text 5"/>
          <p:cNvSpPr/>
          <p:nvPr/>
        </p:nvSpPr>
        <p:spPr>
          <a:xfrm>
            <a:off x="731520" y="3154680"/>
            <a:ext cx="3200400" cy="530352"/>
          </a:xfrm>
          <a:prstGeom prst="rect">
            <a:avLst/>
          </a:prstGeom>
          <a:noFill/>
          <a:ln/>
        </p:spPr>
        <p:txBody>
          <a:bodyPr wrap="square" lIns="0" tIns="0" rIns="0" bIns="0" rtlCol="0" anchor="ctr"/>
          <a:lstStyle/>
          <a:p>
            <a:pPr algn="ctr" indent="0" marL="0">
              <a:buNone/>
            </a:pPr>
            <a:r>
              <a:rPr lang="en-US" sz="1950" b="1" dirty="0">
                <a:solidFill>
                  <a:srgbClr val="1E2A36"/>
                </a:solidFill>
                <a:latin typeface="Calibri" pitchFamily="34" charset="0"/>
                <a:ea typeface="Calibri" pitchFamily="34" charset="-122"/>
                <a:cs typeface="Calibri" pitchFamily="34" charset="-120"/>
              </a:rPr>
              <a:t>Core flow</a:t>
            </a:r>
            <a:endParaRPr lang="en-US" sz="1950" dirty="0"/>
          </a:p>
        </p:txBody>
      </p:sp>
      <p:sp>
        <p:nvSpPr>
          <p:cNvPr id="9" name="Text 6"/>
          <p:cNvSpPr/>
          <p:nvPr/>
        </p:nvSpPr>
        <p:spPr>
          <a:xfrm>
            <a:off x="768096" y="3767328"/>
            <a:ext cx="3127248" cy="1554480"/>
          </a:xfrm>
          <a:prstGeom prst="rect">
            <a:avLst/>
          </a:prstGeom>
          <a:noFill/>
          <a:ln/>
        </p:spPr>
        <p:txBody>
          <a:bodyPr wrap="square" lIns="0" tIns="0" rIns="0" bIns="0" rtlCol="0" anchor="t"/>
          <a:lstStyle/>
          <a:p>
            <a:pPr algn="ctr" indent="0" marL="0">
              <a:lnSpc>
                <a:spcPct val="105000"/>
              </a:lnSpc>
              <a:buNone/>
            </a:pPr>
            <a:r>
              <a:rPr lang="en-US" sz="1600" dirty="0">
                <a:solidFill>
                  <a:srgbClr val="5F7284"/>
                </a:solidFill>
                <a:latin typeface="Calibri" pitchFamily="34" charset="0"/>
                <a:ea typeface="Calibri" pitchFamily="34" charset="-122"/>
                <a:cs typeface="Calibri" pitchFamily="34" charset="-120"/>
              </a:rPr>
              <a:t>The one action that, if it didn't work, would make the product pointless. Not the most complex one. Signup is never it.</a:t>
            </a:r>
            <a:endParaRPr lang="en-US" sz="1600" dirty="0"/>
          </a:p>
        </p:txBody>
      </p:sp>
      <p:sp>
        <p:nvSpPr>
          <p:cNvPr id="10" name="Shape 7"/>
          <p:cNvSpPr/>
          <p:nvPr/>
        </p:nvSpPr>
        <p:spPr>
          <a:xfrm>
            <a:off x="4297680" y="1828800"/>
            <a:ext cx="3566160" cy="3611880"/>
          </a:xfrm>
          <a:prstGeom prst="roundRect">
            <a:avLst>
              <a:gd name="adj" fmla="val 2308"/>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5733288" y="2212848"/>
            <a:ext cx="694944" cy="69494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5920923" y="2400483"/>
            <a:ext cx="319674" cy="319674"/>
          </a:xfrm>
          <a:prstGeom prst="rect">
            <a:avLst/>
          </a:prstGeom>
        </p:spPr>
      </p:pic>
      <p:sp>
        <p:nvSpPr>
          <p:cNvPr id="13" name="Text 9"/>
          <p:cNvSpPr/>
          <p:nvPr/>
        </p:nvSpPr>
        <p:spPr>
          <a:xfrm>
            <a:off x="4480560" y="3154680"/>
            <a:ext cx="3200400" cy="530352"/>
          </a:xfrm>
          <a:prstGeom prst="rect">
            <a:avLst/>
          </a:prstGeom>
          <a:noFill/>
          <a:ln/>
        </p:spPr>
        <p:txBody>
          <a:bodyPr wrap="square" lIns="0" tIns="0" rIns="0" bIns="0" rtlCol="0" anchor="ctr"/>
          <a:lstStyle/>
          <a:p>
            <a:pPr algn="ctr" indent="0" marL="0">
              <a:buNone/>
            </a:pPr>
            <a:r>
              <a:rPr lang="en-US" sz="1950" b="1" dirty="0">
                <a:solidFill>
                  <a:srgbClr val="1E2A36"/>
                </a:solidFill>
                <a:latin typeface="Calibri" pitchFamily="34" charset="0"/>
                <a:ea typeface="Calibri" pitchFamily="34" charset="-122"/>
                <a:cs typeface="Calibri" pitchFamily="34" charset="-120"/>
              </a:rPr>
              <a:t>The trace</a:t>
            </a:r>
            <a:endParaRPr lang="en-US" sz="1950" dirty="0"/>
          </a:p>
        </p:txBody>
      </p:sp>
      <p:sp>
        <p:nvSpPr>
          <p:cNvPr id="14" name="Text 10"/>
          <p:cNvSpPr/>
          <p:nvPr/>
        </p:nvSpPr>
        <p:spPr>
          <a:xfrm>
            <a:off x="4517136" y="3767328"/>
            <a:ext cx="3127248" cy="1554480"/>
          </a:xfrm>
          <a:prstGeom prst="rect">
            <a:avLst/>
          </a:prstGeom>
          <a:noFill/>
          <a:ln/>
        </p:spPr>
        <p:txBody>
          <a:bodyPr wrap="square" lIns="0" tIns="0" rIns="0" bIns="0" rtlCol="0" anchor="t"/>
          <a:lstStyle/>
          <a:p>
            <a:pPr algn="ctr" indent="0" marL="0">
              <a:lnSpc>
                <a:spcPct val="105000"/>
              </a:lnSpc>
              <a:buNone/>
            </a:pPr>
            <a:r>
              <a:rPr lang="en-US" sz="1600" dirty="0">
                <a:solidFill>
                  <a:srgbClr val="5F7284"/>
                </a:solidFill>
                <a:latin typeface="Calibri" pitchFamily="34" charset="0"/>
                <a:ea typeface="Calibri" pitchFamily="34" charset="-122"/>
                <a:cs typeface="Calibri" pitchFamily="34" charset="-120"/>
              </a:rPr>
              <a:t>Start at the user's finger, end at what the user sees. Numbered steps across the boxes you just drew.</a:t>
            </a:r>
            <a:endParaRPr lang="en-US" sz="1600" dirty="0"/>
          </a:p>
        </p:txBody>
      </p:sp>
      <p:sp>
        <p:nvSpPr>
          <p:cNvPr id="15" name="Shape 11"/>
          <p:cNvSpPr/>
          <p:nvPr/>
        </p:nvSpPr>
        <p:spPr>
          <a:xfrm>
            <a:off x="8046720" y="1828800"/>
            <a:ext cx="3566160" cy="3611880"/>
          </a:xfrm>
          <a:prstGeom prst="roundRect">
            <a:avLst>
              <a:gd name="adj" fmla="val 2308"/>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9482328" y="2212848"/>
            <a:ext cx="694944" cy="69494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669963" y="2400483"/>
            <a:ext cx="319674" cy="319674"/>
          </a:xfrm>
          <a:prstGeom prst="rect">
            <a:avLst/>
          </a:prstGeom>
        </p:spPr>
      </p:pic>
      <p:sp>
        <p:nvSpPr>
          <p:cNvPr id="18" name="Text 13"/>
          <p:cNvSpPr/>
          <p:nvPr/>
        </p:nvSpPr>
        <p:spPr>
          <a:xfrm>
            <a:off x="8229600" y="3154680"/>
            <a:ext cx="3200400" cy="530352"/>
          </a:xfrm>
          <a:prstGeom prst="rect">
            <a:avLst/>
          </a:prstGeom>
          <a:noFill/>
          <a:ln/>
        </p:spPr>
        <p:txBody>
          <a:bodyPr wrap="square" lIns="0" tIns="0" rIns="0" bIns="0" rtlCol="0" anchor="ctr"/>
          <a:lstStyle/>
          <a:p>
            <a:pPr algn="ctr" indent="0" marL="0">
              <a:buNone/>
            </a:pPr>
            <a:r>
              <a:rPr lang="en-US" sz="1950" b="1" dirty="0">
                <a:solidFill>
                  <a:srgbClr val="1E2A36"/>
                </a:solidFill>
                <a:latin typeface="Calibri" pitchFamily="34" charset="0"/>
                <a:ea typeface="Calibri" pitchFamily="34" charset="-122"/>
                <a:cs typeface="Calibri" pitchFamily="34" charset="-120"/>
              </a:rPr>
              <a:t>The failure case</a:t>
            </a:r>
            <a:endParaRPr lang="en-US" sz="1950" dirty="0"/>
          </a:p>
        </p:txBody>
      </p:sp>
      <p:sp>
        <p:nvSpPr>
          <p:cNvPr id="19" name="Text 14"/>
          <p:cNvSpPr/>
          <p:nvPr/>
        </p:nvSpPr>
        <p:spPr>
          <a:xfrm>
            <a:off x="8266176" y="3767328"/>
            <a:ext cx="3127248" cy="1554480"/>
          </a:xfrm>
          <a:prstGeom prst="rect">
            <a:avLst/>
          </a:prstGeom>
          <a:noFill/>
          <a:ln/>
        </p:spPr>
        <p:txBody>
          <a:bodyPr wrap="square" lIns="0" tIns="0" rIns="0" bIns="0" rtlCol="0" anchor="t"/>
          <a:lstStyle/>
          <a:p>
            <a:pPr algn="ctr" indent="0" marL="0">
              <a:lnSpc>
                <a:spcPct val="105000"/>
              </a:lnSpc>
              <a:buNone/>
            </a:pPr>
            <a:r>
              <a:rPr lang="en-US" sz="1600" dirty="0">
                <a:solidFill>
                  <a:srgbClr val="5F7284"/>
                </a:solidFill>
                <a:latin typeface="Calibri" pitchFamily="34" charset="0"/>
                <a:ea typeface="Calibri" pitchFamily="34" charset="-122"/>
                <a:cs typeface="Calibri" pitchFamily="34" charset="-120"/>
              </a:rPr>
              <a:t>The failures that aren't your code: the service is down, the network drops mid-action, two people act in the same second.</a:t>
            </a:r>
            <a:endParaRPr lang="en-US" sz="1600" dirty="0"/>
          </a:p>
        </p:txBody>
      </p:sp>
      <p:sp>
        <p:nvSpPr>
          <p:cNvPr id="20" name="Text 15"/>
          <p:cNvSpPr/>
          <p:nvPr/>
        </p:nvSpPr>
        <p:spPr>
          <a:xfrm>
            <a:off x="548640" y="5760720"/>
            <a:ext cx="11064240" cy="329184"/>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You did this seven times in CS 240 — one sequence diagram per chess endpoint. Same move, one flow, no tool.</a:t>
            </a:r>
            <a:endParaRPr lang="en-US" sz="1550" dirty="0"/>
          </a:p>
        </p:txBody>
      </p:sp>
      <p:sp>
        <p:nvSpPr>
          <p:cNvPr id="21"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2"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3 · 12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Trace it, then break it</a:t>
            </a:r>
            <a:endParaRPr lang="en-US" sz="3200" dirty="0"/>
          </a:p>
        </p:txBody>
      </p:sp>
      <p:sp>
        <p:nvSpPr>
          <p:cNvPr id="6" name="Shape 4"/>
          <p:cNvSpPr/>
          <p:nvPr/>
        </p:nvSpPr>
        <p:spPr>
          <a:xfrm>
            <a:off x="548640" y="160020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7" name="Text 5"/>
          <p:cNvSpPr/>
          <p:nvPr/>
        </p:nvSpPr>
        <p:spPr>
          <a:xfrm>
            <a:off x="896112" y="1600200"/>
            <a:ext cx="1037844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Number the steps of your single most important user action across your boxes. Then trace it again in red, when something breaks.</a:t>
            </a:r>
            <a:endParaRPr lang="en-US" sz="1700" dirty="0"/>
          </a:p>
        </p:txBody>
      </p:sp>
      <p:sp>
        <p:nvSpPr>
          <p:cNvPr id="8" name="Shape 6"/>
          <p:cNvSpPr/>
          <p:nvPr/>
        </p:nvSpPr>
        <p:spPr>
          <a:xfrm>
            <a:off x="548640" y="2743200"/>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9" name="Shape 7"/>
          <p:cNvSpPr/>
          <p:nvPr/>
        </p:nvSpPr>
        <p:spPr>
          <a:xfrm>
            <a:off x="841248" y="2834640"/>
            <a:ext cx="475488" cy="475488"/>
          </a:xfrm>
          <a:prstGeom prst="ellipse">
            <a:avLst/>
          </a:prstGeom>
          <a:solidFill>
            <a:srgbClr val="E8A33D"/>
          </a:solidFill>
          <a:ln/>
        </p:spPr>
      </p:sp>
      <p:sp>
        <p:nvSpPr>
          <p:cNvPr id="10" name="Text 8"/>
          <p:cNvSpPr/>
          <p:nvPr/>
        </p:nvSpPr>
        <p:spPr>
          <a:xfrm>
            <a:off x="841248" y="2834640"/>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1</a:t>
            </a:r>
            <a:endParaRPr lang="en-US" sz="1900" dirty="0"/>
          </a:p>
        </p:txBody>
      </p:sp>
      <p:sp>
        <p:nvSpPr>
          <p:cNvPr id="11" name="Text 9"/>
          <p:cNvSpPr/>
          <p:nvPr/>
        </p:nvSpPr>
        <p:spPr>
          <a:xfrm>
            <a:off x="1499616" y="2743200"/>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Start at the user's finger. What do they tap, and what do they see one second later?</a:t>
            </a:r>
            <a:endParaRPr lang="en-US" sz="1600" dirty="0"/>
          </a:p>
        </p:txBody>
      </p:sp>
      <p:sp>
        <p:nvSpPr>
          <p:cNvPr id="12" name="Shape 10"/>
          <p:cNvSpPr/>
          <p:nvPr/>
        </p:nvSpPr>
        <p:spPr>
          <a:xfrm>
            <a:off x="548640" y="3529584"/>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841248" y="3621024"/>
            <a:ext cx="475488" cy="475488"/>
          </a:xfrm>
          <a:prstGeom prst="ellipse">
            <a:avLst/>
          </a:prstGeom>
          <a:solidFill>
            <a:srgbClr val="E8A33D"/>
          </a:solidFill>
          <a:ln/>
        </p:spPr>
      </p:sp>
      <p:sp>
        <p:nvSpPr>
          <p:cNvPr id="14" name="Text 12"/>
          <p:cNvSpPr/>
          <p:nvPr/>
        </p:nvSpPr>
        <p:spPr>
          <a:xfrm>
            <a:off x="841248" y="3621024"/>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499616" y="3529584"/>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If the trace needs a box you don't have, add it. If it skips half your boxes, ask whether those are MVP or roadmap.</a:t>
            </a:r>
            <a:endParaRPr lang="en-US" sz="1600" dirty="0"/>
          </a:p>
        </p:txBody>
      </p:sp>
      <p:sp>
        <p:nvSpPr>
          <p:cNvPr id="16" name="Shape 14"/>
          <p:cNvSpPr/>
          <p:nvPr/>
        </p:nvSpPr>
        <p:spPr>
          <a:xfrm>
            <a:off x="548640" y="4315968"/>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841248" y="4407408"/>
            <a:ext cx="475488" cy="475488"/>
          </a:xfrm>
          <a:prstGeom prst="ellipse">
            <a:avLst/>
          </a:prstGeom>
          <a:solidFill>
            <a:srgbClr val="E8A33D"/>
          </a:solidFill>
          <a:ln/>
        </p:spPr>
      </p:sp>
      <p:sp>
        <p:nvSpPr>
          <p:cNvPr id="18" name="Text 16"/>
          <p:cNvSpPr/>
          <p:nvPr/>
        </p:nvSpPr>
        <p:spPr>
          <a:xfrm>
            <a:off x="841248" y="4407408"/>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3</a:t>
            </a:r>
            <a:endParaRPr lang="en-US" sz="1900" dirty="0"/>
          </a:p>
        </p:txBody>
      </p:sp>
      <p:sp>
        <p:nvSpPr>
          <p:cNvPr id="19" name="Text 17"/>
          <p:cNvSpPr/>
          <p:nvPr/>
        </p:nvSpPr>
        <p:spPr>
          <a:xfrm>
            <a:off x="1499616" y="4315968"/>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Now in red: pick one thing outside your box from Round 1, turn it off, and trace it again.</a:t>
            </a:r>
            <a:endParaRPr lang="en-US" sz="1600" dirty="0"/>
          </a:p>
        </p:txBody>
      </p:sp>
      <p:sp>
        <p:nvSpPr>
          <p:cNvPr id="20" name="Shape 18"/>
          <p:cNvSpPr/>
          <p:nvPr/>
        </p:nvSpPr>
        <p:spPr>
          <a:xfrm>
            <a:off x="548640" y="5102352"/>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21" name="Shape 19"/>
          <p:cNvSpPr/>
          <p:nvPr/>
        </p:nvSpPr>
        <p:spPr>
          <a:xfrm>
            <a:off x="841248" y="5193792"/>
            <a:ext cx="475488" cy="475488"/>
          </a:xfrm>
          <a:prstGeom prst="ellipse">
            <a:avLst/>
          </a:prstGeom>
          <a:solidFill>
            <a:srgbClr val="E8A33D"/>
          </a:solidFill>
          <a:ln/>
        </p:spPr>
      </p:sp>
      <p:sp>
        <p:nvSpPr>
          <p:cNvPr id="22" name="Text 20"/>
          <p:cNvSpPr/>
          <p:nvPr/>
        </p:nvSpPr>
        <p:spPr>
          <a:xfrm>
            <a:off x="841248" y="5193792"/>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4</a:t>
            </a:r>
            <a:endParaRPr lang="en-US" sz="1900" dirty="0"/>
          </a:p>
        </p:txBody>
      </p:sp>
      <p:sp>
        <p:nvSpPr>
          <p:cNvPr id="23" name="Text 21"/>
          <p:cNvSpPr/>
          <p:nvPr/>
        </p:nvSpPr>
        <p:spPr>
          <a:xfrm>
            <a:off x="1499616" y="5102352"/>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What does the person see, and what can they do next? "Show an error" is not an answer.</a:t>
            </a:r>
            <a:endParaRPr lang="en-US" sz="1600" dirty="0"/>
          </a:p>
        </p:txBody>
      </p:sp>
      <p:sp>
        <p:nvSpPr>
          <p:cNvPr id="24" name="Shape 22"/>
          <p:cNvSpPr/>
          <p:nvPr/>
        </p:nvSpPr>
        <p:spPr>
          <a:xfrm>
            <a:off x="548640" y="5870448"/>
            <a:ext cx="11064240" cy="585216"/>
          </a:xfrm>
          <a:prstGeom prst="roundRect">
            <a:avLst>
              <a:gd name="adj" fmla="val 14063"/>
            </a:avLst>
          </a:prstGeom>
          <a:solidFill>
            <a:srgbClr val="E4EEF1"/>
          </a:solidFill>
          <a:ln/>
          <a:effectLst>
            <a:outerShdw sx="100000" sy="100000" kx="0" ky="0" algn="bl" rotWithShape="0" blurRad="88900" dist="38100" dir="5400000">
              <a:srgbClr val="000000">
                <a:alpha val="13000"/>
              </a:srgbClr>
            </a:outerShdw>
          </a:effectLst>
        </p:spPr>
      </p:sp>
      <p:sp>
        <p:nvSpPr>
          <p:cNvPr id="25" name="Text 23"/>
          <p:cNvSpPr/>
          <p:nvPr/>
        </p:nvSpPr>
        <p:spPr>
          <a:xfrm>
            <a:off x="868680" y="5870448"/>
            <a:ext cx="10424160" cy="585216"/>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This flow is your vertical slice — milestone 1, and what you demo in November. Choose it on purpose.</a:t>
            </a:r>
            <a:endParaRPr lang="en-US" sz="150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ROUND 4 · THE WORDS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Data model — four reminders</a:t>
            </a:r>
            <a:endParaRPr lang="en-US" sz="3100" dirty="0"/>
          </a:p>
        </p:txBody>
      </p:sp>
      <p:sp>
        <p:nvSpPr>
          <p:cNvPr id="5" name="Shape 3"/>
          <p:cNvSpPr/>
          <p:nvPr/>
        </p:nvSpPr>
        <p:spPr>
          <a:xfrm>
            <a:off x="548640" y="1810512"/>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84832"/>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247778"/>
            <a:ext cx="277612" cy="277612"/>
          </a:xfrm>
          <a:prstGeom prst="rect">
            <a:avLst/>
          </a:prstGeom>
        </p:spPr>
      </p:pic>
      <p:sp>
        <p:nvSpPr>
          <p:cNvPr id="8" name="Text 5"/>
          <p:cNvSpPr/>
          <p:nvPr/>
        </p:nvSpPr>
        <p:spPr>
          <a:xfrm>
            <a:off x="1627632" y="2084832"/>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Entity</a:t>
            </a:r>
            <a:endParaRPr lang="en-US" sz="1900" dirty="0"/>
          </a:p>
        </p:txBody>
      </p:sp>
      <p:sp>
        <p:nvSpPr>
          <p:cNvPr id="9" name="Text 6"/>
          <p:cNvSpPr/>
          <p:nvPr/>
        </p:nvSpPr>
        <p:spPr>
          <a:xfrm>
            <a:off x="859536" y="2834640"/>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Something the system must remember between visits. Usually a noun your user would recognize. Screens are not entities.</a:t>
            </a:r>
            <a:endParaRPr lang="en-US" sz="1550" dirty="0"/>
          </a:p>
        </p:txBody>
      </p:sp>
      <p:sp>
        <p:nvSpPr>
          <p:cNvPr id="10" name="Shape 7"/>
          <p:cNvSpPr/>
          <p:nvPr/>
        </p:nvSpPr>
        <p:spPr>
          <a:xfrm>
            <a:off x="6172200" y="1810512"/>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84832"/>
            <a:ext cx="603504" cy="60350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09466" y="2247778"/>
            <a:ext cx="277612" cy="277612"/>
          </a:xfrm>
          <a:prstGeom prst="rect">
            <a:avLst/>
          </a:prstGeom>
        </p:spPr>
      </p:pic>
      <p:sp>
        <p:nvSpPr>
          <p:cNvPr id="13" name="Text 9"/>
          <p:cNvSpPr/>
          <p:nvPr/>
        </p:nvSpPr>
        <p:spPr>
          <a:xfrm>
            <a:off x="7251192" y="2084832"/>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Key fields</a:t>
            </a:r>
            <a:endParaRPr lang="en-US" sz="1900" dirty="0"/>
          </a:p>
        </p:txBody>
      </p:sp>
      <p:sp>
        <p:nvSpPr>
          <p:cNvPr id="14" name="Text 10"/>
          <p:cNvSpPr/>
          <p:nvPr/>
        </p:nvSpPr>
        <p:spPr>
          <a:xfrm>
            <a:off x="6483096" y="2834640"/>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The identifier plus the three to five that matter. Not the column dump — that was Monday's over-specification defect.</a:t>
            </a:r>
            <a:endParaRPr lang="en-US" sz="1550" dirty="0"/>
          </a:p>
        </p:txBody>
      </p:sp>
      <p:sp>
        <p:nvSpPr>
          <p:cNvPr id="15" name="Shape 11"/>
          <p:cNvSpPr/>
          <p:nvPr/>
        </p:nvSpPr>
        <p:spPr>
          <a:xfrm>
            <a:off x="548640" y="3968496"/>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2960" y="4242816"/>
            <a:ext cx="603504" cy="60350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85906" y="4405762"/>
            <a:ext cx="277612" cy="277612"/>
          </a:xfrm>
          <a:prstGeom prst="rect">
            <a:avLst/>
          </a:prstGeom>
        </p:spPr>
      </p:pic>
      <p:sp>
        <p:nvSpPr>
          <p:cNvPr id="18" name="Text 13"/>
          <p:cNvSpPr/>
          <p:nvPr/>
        </p:nvSpPr>
        <p:spPr>
          <a:xfrm>
            <a:off x="1627632" y="4242816"/>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Relationships</a:t>
            </a:r>
            <a:endParaRPr lang="en-US" sz="1900" dirty="0"/>
          </a:p>
        </p:txBody>
      </p:sp>
      <p:sp>
        <p:nvSpPr>
          <p:cNvPr id="19" name="Text 14"/>
          <p:cNvSpPr/>
          <p:nvPr/>
        </p:nvSpPr>
        <p:spPr>
          <a:xfrm>
            <a:off x="859536" y="4992624"/>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One-to-one, one-to-many, many-to-many — and draw the join. Same notation as CS 240, less ceremony.</a:t>
            </a:r>
            <a:endParaRPr lang="en-US" sz="1550" dirty="0"/>
          </a:p>
        </p:txBody>
      </p:sp>
      <p:sp>
        <p:nvSpPr>
          <p:cNvPr id="20" name="Shape 15"/>
          <p:cNvSpPr/>
          <p:nvPr/>
        </p:nvSpPr>
        <p:spPr>
          <a:xfrm>
            <a:off x="6172200" y="3968496"/>
            <a:ext cx="5440680" cy="1993392"/>
          </a:xfrm>
          <a:prstGeom prst="roundRect">
            <a:avLst>
              <a:gd name="adj" fmla="val 4128"/>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6446520" y="4242816"/>
            <a:ext cx="603504" cy="603504"/>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6609466" y="4405762"/>
            <a:ext cx="277612" cy="277612"/>
          </a:xfrm>
          <a:prstGeom prst="rect">
            <a:avLst/>
          </a:prstGeom>
        </p:spPr>
      </p:pic>
      <p:sp>
        <p:nvSpPr>
          <p:cNvPr id="23" name="Text 17"/>
          <p:cNvSpPr/>
          <p:nvPr/>
        </p:nvSpPr>
        <p:spPr>
          <a:xfrm>
            <a:off x="7251192" y="4242816"/>
            <a:ext cx="411480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MVP or roadmap</a:t>
            </a:r>
            <a:endParaRPr lang="en-US" sz="1900" dirty="0"/>
          </a:p>
        </p:txBody>
      </p:sp>
      <p:sp>
        <p:nvSpPr>
          <p:cNvPr id="24" name="Text 18"/>
          <p:cNvSpPr/>
          <p:nvPr/>
        </p:nvSpPr>
        <p:spPr>
          <a:xfrm>
            <a:off x="6483096" y="4992624"/>
            <a:ext cx="4828032" cy="914400"/>
          </a:xfrm>
          <a:prstGeom prst="rect">
            <a:avLst/>
          </a:prstGeom>
          <a:noFill/>
          <a:ln/>
        </p:spPr>
        <p:txBody>
          <a:bodyPr wrap="square" lIns="0" tIns="0" rIns="0" bIns="0" rtlCol="0" anchor="t"/>
          <a:lstStyle/>
          <a:p>
            <a:pPr indent="0" marL="0">
              <a:lnSpc>
                <a:spcPct val="105000"/>
              </a:lnSpc>
              <a:buNone/>
            </a:pPr>
            <a:r>
              <a:rPr lang="en-US" sz="1550" dirty="0">
                <a:solidFill>
                  <a:srgbClr val="5F7284"/>
                </a:solidFill>
                <a:latin typeface="Calibri" pitchFamily="34" charset="0"/>
                <a:ea typeface="Calibri" pitchFamily="34" charset="-122"/>
                <a:cs typeface="Calibri" pitchFamily="34" charset="-120"/>
              </a:rPr>
              <a:t>Solid border or dashed. The dashed ones are a scope decision showing up in your data model.</a:t>
            </a:r>
            <a:endParaRPr lang="en-US" sz="1550" dirty="0"/>
          </a:p>
        </p:txBody>
      </p:sp>
      <p:sp>
        <p:nvSpPr>
          <p:cNvPr id="25" name="Text 19"/>
          <p:cNvSpPr/>
          <p:nvPr/>
        </p:nvSpPr>
        <p:spPr>
          <a:xfrm>
            <a:off x="548640" y="6035040"/>
            <a:ext cx="11064240" cy="329184"/>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Chose a document store after CS 340? Entities and relationships still come first; access patterns come second.</a:t>
            </a:r>
            <a:endParaRPr lang="en-US" sz="15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4 · 10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the system remembers</a:t>
            </a:r>
            <a:endParaRPr lang="en-US" sz="3200" dirty="0"/>
          </a:p>
        </p:txBody>
      </p:sp>
      <p:sp>
        <p:nvSpPr>
          <p:cNvPr id="6" name="Shape 4"/>
          <p:cNvSpPr/>
          <p:nvPr/>
        </p:nvSpPr>
        <p:spPr>
          <a:xfrm>
            <a:off x="548640" y="160020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7" name="Text 5"/>
          <p:cNvSpPr/>
          <p:nvPr/>
        </p:nvSpPr>
        <p:spPr>
          <a:xfrm>
            <a:off x="896112" y="1600200"/>
            <a:ext cx="1037844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Entities, key fields, relationships — boxes and labelled lines on a whiteboard. Then walk your Round 3 trace across them and check.</a:t>
            </a:r>
            <a:endParaRPr lang="en-US" sz="1700" dirty="0"/>
          </a:p>
        </p:txBody>
      </p:sp>
      <p:sp>
        <p:nvSpPr>
          <p:cNvPr id="8" name="Shape 6"/>
          <p:cNvSpPr/>
          <p:nvPr/>
        </p:nvSpPr>
        <p:spPr>
          <a:xfrm>
            <a:off x="548640" y="2743200"/>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9" name="Shape 7"/>
          <p:cNvSpPr/>
          <p:nvPr/>
        </p:nvSpPr>
        <p:spPr>
          <a:xfrm>
            <a:off x="841248" y="2834640"/>
            <a:ext cx="475488" cy="475488"/>
          </a:xfrm>
          <a:prstGeom prst="ellipse">
            <a:avLst/>
          </a:prstGeom>
          <a:solidFill>
            <a:srgbClr val="E8A33D"/>
          </a:solidFill>
          <a:ln/>
        </p:spPr>
      </p:sp>
      <p:sp>
        <p:nvSpPr>
          <p:cNvPr id="10" name="Text 8"/>
          <p:cNvSpPr/>
          <p:nvPr/>
        </p:nvSpPr>
        <p:spPr>
          <a:xfrm>
            <a:off x="841248" y="2834640"/>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1</a:t>
            </a:r>
            <a:endParaRPr lang="en-US" sz="1900" dirty="0"/>
          </a:p>
        </p:txBody>
      </p:sp>
      <p:sp>
        <p:nvSpPr>
          <p:cNvPr id="11" name="Text 9"/>
          <p:cNvSpPr/>
          <p:nvPr/>
        </p:nvSpPr>
        <p:spPr>
          <a:xfrm>
            <a:off x="1499616" y="2743200"/>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What does the user see a list of? That's usually an entity. What has to survive between two visits?</a:t>
            </a:r>
            <a:endParaRPr lang="en-US" sz="1600" dirty="0"/>
          </a:p>
        </p:txBody>
      </p:sp>
      <p:sp>
        <p:nvSpPr>
          <p:cNvPr id="12" name="Shape 10"/>
          <p:cNvSpPr/>
          <p:nvPr/>
        </p:nvSpPr>
        <p:spPr>
          <a:xfrm>
            <a:off x="548640" y="3529584"/>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841248" y="3621024"/>
            <a:ext cx="475488" cy="475488"/>
          </a:xfrm>
          <a:prstGeom prst="ellipse">
            <a:avLst/>
          </a:prstGeom>
          <a:solidFill>
            <a:srgbClr val="E8A33D"/>
          </a:solidFill>
          <a:ln/>
        </p:spPr>
      </p:sp>
      <p:sp>
        <p:nvSpPr>
          <p:cNvPr id="14" name="Text 12"/>
          <p:cNvSpPr/>
          <p:nvPr/>
        </p:nvSpPr>
        <p:spPr>
          <a:xfrm>
            <a:off x="841248" y="3621024"/>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499616" y="3529584"/>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Every step in your trace that reads or writes data must land on an entity. Walk it and point.</a:t>
            </a:r>
            <a:endParaRPr lang="en-US" sz="1600" dirty="0"/>
          </a:p>
        </p:txBody>
      </p:sp>
      <p:sp>
        <p:nvSpPr>
          <p:cNvPr id="16" name="Shape 14"/>
          <p:cNvSpPr/>
          <p:nvPr/>
        </p:nvSpPr>
        <p:spPr>
          <a:xfrm>
            <a:off x="548640" y="4315968"/>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841248" y="4407408"/>
            <a:ext cx="475488" cy="475488"/>
          </a:xfrm>
          <a:prstGeom prst="ellipse">
            <a:avLst/>
          </a:prstGeom>
          <a:solidFill>
            <a:srgbClr val="E8A33D"/>
          </a:solidFill>
          <a:ln/>
        </p:spPr>
      </p:sp>
      <p:sp>
        <p:nvSpPr>
          <p:cNvPr id="18" name="Text 16"/>
          <p:cNvSpPr/>
          <p:nvPr/>
        </p:nvSpPr>
        <p:spPr>
          <a:xfrm>
            <a:off x="841248" y="4407408"/>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3</a:t>
            </a:r>
            <a:endParaRPr lang="en-US" sz="1900" dirty="0"/>
          </a:p>
        </p:txBody>
      </p:sp>
      <p:sp>
        <p:nvSpPr>
          <p:cNvPr id="19" name="Text 17"/>
          <p:cNvSpPr/>
          <p:nvPr/>
        </p:nvSpPr>
        <p:spPr>
          <a:xfrm>
            <a:off x="1499616" y="4315968"/>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Every entity must be touched by something. If nothing touches it, it's a roadmap feature that snuck in — dash it.</a:t>
            </a:r>
            <a:endParaRPr lang="en-US" sz="1600" dirty="0"/>
          </a:p>
        </p:txBody>
      </p:sp>
      <p:sp>
        <p:nvSpPr>
          <p:cNvPr id="20" name="Shape 18"/>
          <p:cNvSpPr/>
          <p:nvPr/>
        </p:nvSpPr>
        <p:spPr>
          <a:xfrm>
            <a:off x="548640" y="5102352"/>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21" name="Shape 19"/>
          <p:cNvSpPr/>
          <p:nvPr/>
        </p:nvSpPr>
        <p:spPr>
          <a:xfrm>
            <a:off x="841248" y="5193792"/>
            <a:ext cx="475488" cy="475488"/>
          </a:xfrm>
          <a:prstGeom prst="ellipse">
            <a:avLst/>
          </a:prstGeom>
          <a:solidFill>
            <a:srgbClr val="E8A33D"/>
          </a:solidFill>
          <a:ln/>
        </p:spPr>
      </p:sp>
      <p:sp>
        <p:nvSpPr>
          <p:cNvPr id="22" name="Text 20"/>
          <p:cNvSpPr/>
          <p:nvPr/>
        </p:nvSpPr>
        <p:spPr>
          <a:xfrm>
            <a:off x="841248" y="5193792"/>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4</a:t>
            </a:r>
            <a:endParaRPr lang="en-US" sz="1900" dirty="0"/>
          </a:p>
        </p:txBody>
      </p:sp>
      <p:sp>
        <p:nvSpPr>
          <p:cNvPr id="23" name="Text 21"/>
          <p:cNvSpPr/>
          <p:nvPr/>
        </p:nvSpPr>
        <p:spPr>
          <a:xfrm>
            <a:off x="1499616" y="5102352"/>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Which entities exist only for features you already called roadmap? Dashed border, and out of the MVP schema.</a:t>
            </a:r>
            <a:endParaRPr lang="en-US" sz="1600" dirty="0"/>
          </a:p>
        </p:txBody>
      </p:sp>
      <p:sp>
        <p:nvSpPr>
          <p:cNvPr id="24" name="Shape 22"/>
          <p:cNvSpPr/>
          <p:nvPr/>
        </p:nvSpPr>
        <p:spPr>
          <a:xfrm>
            <a:off x="548640" y="5870448"/>
            <a:ext cx="11064240" cy="585216"/>
          </a:xfrm>
          <a:prstGeom prst="roundRect">
            <a:avLst>
              <a:gd name="adj" fmla="val 14063"/>
            </a:avLst>
          </a:prstGeom>
          <a:solidFill>
            <a:srgbClr val="E4EEF1"/>
          </a:solidFill>
          <a:ln/>
          <a:effectLst>
            <a:outerShdw sx="100000" sy="100000" kx="0" ky="0" algn="bl" rotWithShape="0" blurRad="88900" dist="38100" dir="5400000">
              <a:srgbClr val="000000">
                <a:alpha val="13000"/>
              </a:srgbClr>
            </a:outerShdw>
          </a:effectLst>
        </p:spPr>
      </p:sp>
      <p:sp>
        <p:nvSpPr>
          <p:cNvPr id="25" name="Text 23"/>
          <p:cNvSpPr/>
          <p:nvPr/>
        </p:nvSpPr>
        <p:spPr>
          <a:xfrm>
            <a:off x="868680" y="5870448"/>
            <a:ext cx="10424160" cy="585216"/>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Five to eight boxes is a semester. Fourteen is a scope problem you just found for free.</a:t>
            </a:r>
            <a:endParaRPr lang="en-US" sz="150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ROUND 5 · THE WORDS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decision, in five lines</a:t>
            </a:r>
            <a:endParaRPr lang="en-US" sz="3100" dirty="0"/>
          </a:p>
        </p:txBody>
      </p:sp>
      <p:sp>
        <p:nvSpPr>
          <p:cNvPr id="5" name="Shape 3"/>
          <p:cNvSpPr/>
          <p:nvPr/>
        </p:nvSpPr>
        <p:spPr>
          <a:xfrm>
            <a:off x="548640" y="173736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837944"/>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1093" y="1986077"/>
            <a:ext cx="252374" cy="252374"/>
          </a:xfrm>
          <a:prstGeom prst="rect">
            <a:avLst/>
          </a:prstGeom>
        </p:spPr>
      </p:pic>
      <p:sp>
        <p:nvSpPr>
          <p:cNvPr id="8" name="Text 5"/>
          <p:cNvSpPr/>
          <p:nvPr/>
        </p:nvSpPr>
        <p:spPr>
          <a:xfrm>
            <a:off x="1536192" y="1737360"/>
            <a:ext cx="338328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Chosen</a:t>
            </a:r>
            <a:endParaRPr lang="en-US" sz="1800" dirty="0"/>
          </a:p>
        </p:txBody>
      </p:sp>
      <p:sp>
        <p:nvSpPr>
          <p:cNvPr id="9" name="Text 6"/>
          <p:cNvSpPr/>
          <p:nvPr/>
        </p:nvSpPr>
        <p:spPr>
          <a:xfrm>
            <a:off x="5029200" y="1737360"/>
            <a:ext cx="6355080" cy="749808"/>
          </a:xfrm>
          <a:prstGeom prst="rect">
            <a:avLst/>
          </a:prstGeom>
          <a:noFill/>
          <a:ln/>
        </p:spPr>
        <p:txBody>
          <a:bodyPr wrap="square" lIns="0" tIns="0" rIns="0" bIns="0" rtlCol="0" anchor="ctr"/>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The option you're going with.</a:t>
            </a:r>
            <a:endParaRPr lang="en-US" sz="1550" dirty="0"/>
          </a:p>
        </p:txBody>
      </p:sp>
      <p:sp>
        <p:nvSpPr>
          <p:cNvPr id="10" name="Shape 7"/>
          <p:cNvSpPr/>
          <p:nvPr/>
        </p:nvSpPr>
        <p:spPr>
          <a:xfrm>
            <a:off x="548640" y="2587752"/>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22960" y="2688336"/>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71093" y="2836469"/>
            <a:ext cx="252374" cy="252374"/>
          </a:xfrm>
          <a:prstGeom prst="rect">
            <a:avLst/>
          </a:prstGeom>
        </p:spPr>
      </p:pic>
      <p:sp>
        <p:nvSpPr>
          <p:cNvPr id="13" name="Text 9"/>
          <p:cNvSpPr/>
          <p:nvPr/>
        </p:nvSpPr>
        <p:spPr>
          <a:xfrm>
            <a:off x="1536192" y="2587752"/>
            <a:ext cx="338328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Alternative considered</a:t>
            </a:r>
            <a:endParaRPr lang="en-US" sz="1800" dirty="0"/>
          </a:p>
        </p:txBody>
      </p:sp>
      <p:sp>
        <p:nvSpPr>
          <p:cNvPr id="14" name="Text 10"/>
          <p:cNvSpPr/>
          <p:nvPr/>
        </p:nvSpPr>
        <p:spPr>
          <a:xfrm>
            <a:off x="5029200" y="2587752"/>
            <a:ext cx="6355080" cy="749808"/>
          </a:xfrm>
          <a:prstGeom prst="rect">
            <a:avLst/>
          </a:prstGeom>
          <a:noFill/>
          <a:ln/>
        </p:spPr>
        <p:txBody>
          <a:bodyPr wrap="square" lIns="0" tIns="0" rIns="0" bIns="0" rtlCol="0" anchor="ctr"/>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One a reasonable team down the hall would actually have picked. A straw man fools nobody.</a:t>
            </a:r>
            <a:endParaRPr lang="en-US" sz="1550" dirty="0"/>
          </a:p>
        </p:txBody>
      </p:sp>
      <p:sp>
        <p:nvSpPr>
          <p:cNvPr id="15" name="Shape 11"/>
          <p:cNvSpPr/>
          <p:nvPr/>
        </p:nvSpPr>
        <p:spPr>
          <a:xfrm>
            <a:off x="548640" y="3438144"/>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2960" y="3538728"/>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71093" y="3686861"/>
            <a:ext cx="252374" cy="252374"/>
          </a:xfrm>
          <a:prstGeom prst="rect">
            <a:avLst/>
          </a:prstGeom>
        </p:spPr>
      </p:pic>
      <p:sp>
        <p:nvSpPr>
          <p:cNvPr id="18" name="Text 13"/>
          <p:cNvSpPr/>
          <p:nvPr/>
        </p:nvSpPr>
        <p:spPr>
          <a:xfrm>
            <a:off x="1536192" y="3438144"/>
            <a:ext cx="338328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Why it wins, given our goals</a:t>
            </a:r>
            <a:endParaRPr lang="en-US" sz="1800" dirty="0"/>
          </a:p>
        </p:txBody>
      </p:sp>
      <p:sp>
        <p:nvSpPr>
          <p:cNvPr id="19" name="Text 14"/>
          <p:cNvSpPr/>
          <p:nvPr/>
        </p:nvSpPr>
        <p:spPr>
          <a:xfrm>
            <a:off x="5029200" y="3438144"/>
            <a:ext cx="6355080" cy="749808"/>
          </a:xfrm>
          <a:prstGeom prst="rect">
            <a:avLst/>
          </a:prstGeom>
          <a:noFill/>
          <a:ln/>
        </p:spPr>
        <p:txBody>
          <a:bodyPr wrap="square" lIns="0" tIns="0" rIns="0" bIns="0" rtlCol="0" anchor="ctr"/>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Against YOUR goals and non-goals — not against generic virtues like "it's faster."</a:t>
            </a:r>
            <a:endParaRPr lang="en-US" sz="1550" dirty="0"/>
          </a:p>
        </p:txBody>
      </p:sp>
      <p:sp>
        <p:nvSpPr>
          <p:cNvPr id="20" name="Shape 15"/>
          <p:cNvSpPr/>
          <p:nvPr/>
        </p:nvSpPr>
        <p:spPr>
          <a:xfrm>
            <a:off x="548640" y="4288536"/>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22960" y="4389120"/>
            <a:ext cx="548640" cy="54864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71093" y="4537253"/>
            <a:ext cx="252374" cy="252374"/>
          </a:xfrm>
          <a:prstGeom prst="rect">
            <a:avLst/>
          </a:prstGeom>
        </p:spPr>
      </p:pic>
      <p:sp>
        <p:nvSpPr>
          <p:cNvPr id="23" name="Text 17"/>
          <p:cNvSpPr/>
          <p:nvPr/>
        </p:nvSpPr>
        <p:spPr>
          <a:xfrm>
            <a:off x="1536192" y="4288536"/>
            <a:ext cx="338328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Evidence</a:t>
            </a:r>
            <a:endParaRPr lang="en-US" sz="1800" dirty="0"/>
          </a:p>
        </p:txBody>
      </p:sp>
      <p:sp>
        <p:nvSpPr>
          <p:cNvPr id="24" name="Text 18"/>
          <p:cNvSpPr/>
          <p:nvPr/>
        </p:nvSpPr>
        <p:spPr>
          <a:xfrm>
            <a:off x="5029200" y="4288536"/>
            <a:ext cx="6355080" cy="749808"/>
          </a:xfrm>
          <a:prstGeom prst="rect">
            <a:avLst/>
          </a:prstGeom>
          <a:noFill/>
          <a:ln/>
        </p:spPr>
        <p:txBody>
          <a:bodyPr wrap="square" lIns="0" tIns="0" rIns="0" bIns="0" rtlCol="0" anchor="ctr"/>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A spike, a benchmark, prior experience — or honestly "none yet." Unlabeled is the only wrong answer.</a:t>
            </a:r>
            <a:endParaRPr lang="en-US" sz="1550" dirty="0"/>
          </a:p>
        </p:txBody>
      </p:sp>
      <p:sp>
        <p:nvSpPr>
          <p:cNvPr id="25" name="Shape 19"/>
          <p:cNvSpPr/>
          <p:nvPr/>
        </p:nvSpPr>
        <p:spPr>
          <a:xfrm>
            <a:off x="548640" y="5138928"/>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822960" y="5239512"/>
            <a:ext cx="548640" cy="54864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971093" y="5387645"/>
            <a:ext cx="252374" cy="252374"/>
          </a:xfrm>
          <a:prstGeom prst="rect">
            <a:avLst/>
          </a:prstGeom>
        </p:spPr>
      </p:pic>
      <p:sp>
        <p:nvSpPr>
          <p:cNvPr id="28" name="Text 21"/>
          <p:cNvSpPr/>
          <p:nvPr/>
        </p:nvSpPr>
        <p:spPr>
          <a:xfrm>
            <a:off x="1536192" y="5138928"/>
            <a:ext cx="338328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What would change our mind</a:t>
            </a:r>
            <a:endParaRPr lang="en-US" sz="1800" dirty="0"/>
          </a:p>
        </p:txBody>
      </p:sp>
      <p:sp>
        <p:nvSpPr>
          <p:cNvPr id="29" name="Text 22"/>
          <p:cNvSpPr/>
          <p:nvPr/>
        </p:nvSpPr>
        <p:spPr>
          <a:xfrm>
            <a:off x="5029200" y="5138928"/>
            <a:ext cx="6355080" cy="749808"/>
          </a:xfrm>
          <a:prstGeom prst="rect">
            <a:avLst/>
          </a:prstGeom>
          <a:noFill/>
          <a:ln/>
        </p:spPr>
        <p:txBody>
          <a:bodyPr wrap="square" lIns="0" tIns="0" rIns="0" bIns="0" rtlCol="0" anchor="ctr"/>
          <a:lstStyle/>
          <a:p>
            <a:pPr indent="0" marL="0">
              <a:lnSpc>
                <a:spcPct val="104000"/>
              </a:lnSpc>
              <a:buNone/>
            </a:pPr>
            <a:r>
              <a:rPr lang="en-US" sz="1550" dirty="0">
                <a:solidFill>
                  <a:srgbClr val="5F7284"/>
                </a:solidFill>
                <a:latin typeface="Calibri" pitchFamily="34" charset="0"/>
                <a:ea typeface="Calibri" pitchFamily="34" charset="-122"/>
                <a:cs typeface="Calibri" pitchFamily="34" charset="-120"/>
              </a:rPr>
              <a:t>Ten seconds to write. It's what separates a decision from a commitment.</a:t>
            </a:r>
            <a:endParaRPr lang="en-US" sz="1550" dirty="0"/>
          </a:p>
        </p:txBody>
      </p:sp>
      <p:sp>
        <p:nvSpPr>
          <p:cNvPr id="30" name="Text 23"/>
          <p:cNvSpPr/>
          <p:nvPr/>
        </p:nvSpPr>
        <p:spPr>
          <a:xfrm>
            <a:off x="548640" y="5998464"/>
            <a:ext cx="11064240" cy="329184"/>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Straight out of template §6. Write the five lines and you've drafted the section.</a:t>
            </a:r>
            <a:endParaRPr lang="en-US" sz="1550" dirty="0"/>
          </a:p>
        </p:txBody>
      </p:sp>
      <p:sp>
        <p:nvSpPr>
          <p:cNvPr id="31"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32"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ROUND 5 · 10 MIN · TEAMS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Argue two decisions</a:t>
            </a:r>
            <a:endParaRPr lang="en-US" sz="3200" dirty="0"/>
          </a:p>
        </p:txBody>
      </p:sp>
      <p:sp>
        <p:nvSpPr>
          <p:cNvPr id="6" name="Shape 4"/>
          <p:cNvSpPr/>
          <p:nvPr/>
        </p:nvSpPr>
        <p:spPr>
          <a:xfrm>
            <a:off x="548640" y="160020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7" name="Text 5"/>
          <p:cNvSpPr/>
          <p:nvPr/>
        </p:nvSpPr>
        <p:spPr>
          <a:xfrm>
            <a:off x="896112" y="1600200"/>
            <a:ext cx="1037844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Your two biggest decisions, five lines each. Three sentences of thinking per decision — this is §6 of the template, drafting itself.</a:t>
            </a:r>
            <a:endParaRPr lang="en-US" sz="1700" dirty="0"/>
          </a:p>
        </p:txBody>
      </p:sp>
      <p:sp>
        <p:nvSpPr>
          <p:cNvPr id="8" name="Shape 6"/>
          <p:cNvSpPr/>
          <p:nvPr/>
        </p:nvSpPr>
        <p:spPr>
          <a:xfrm>
            <a:off x="548640" y="2743200"/>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9" name="Shape 7"/>
          <p:cNvSpPr/>
          <p:nvPr/>
        </p:nvSpPr>
        <p:spPr>
          <a:xfrm>
            <a:off x="841248" y="2834640"/>
            <a:ext cx="475488" cy="475488"/>
          </a:xfrm>
          <a:prstGeom prst="ellipse">
            <a:avLst/>
          </a:prstGeom>
          <a:solidFill>
            <a:srgbClr val="E8A33D"/>
          </a:solidFill>
          <a:ln/>
        </p:spPr>
      </p:sp>
      <p:sp>
        <p:nvSpPr>
          <p:cNvPr id="10" name="Text 8"/>
          <p:cNvSpPr/>
          <p:nvPr/>
        </p:nvSpPr>
        <p:spPr>
          <a:xfrm>
            <a:off x="841248" y="2834640"/>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1</a:t>
            </a:r>
            <a:endParaRPr lang="en-US" sz="1900" dirty="0"/>
          </a:p>
        </p:txBody>
      </p:sp>
      <p:sp>
        <p:nvSpPr>
          <p:cNvPr id="11" name="Text 9"/>
          <p:cNvSpPr/>
          <p:nvPr/>
        </p:nvSpPr>
        <p:spPr>
          <a:xfrm>
            <a:off x="1499616" y="2743200"/>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Stuck on which? Name the choice you'd be most annoyed to have to redo in November. That's decision one.</a:t>
            </a:r>
            <a:endParaRPr lang="en-US" sz="1600" dirty="0"/>
          </a:p>
        </p:txBody>
      </p:sp>
      <p:sp>
        <p:nvSpPr>
          <p:cNvPr id="12" name="Shape 10"/>
          <p:cNvSpPr/>
          <p:nvPr/>
        </p:nvSpPr>
        <p:spPr>
          <a:xfrm>
            <a:off x="548640" y="3529584"/>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841248" y="3621024"/>
            <a:ext cx="475488" cy="475488"/>
          </a:xfrm>
          <a:prstGeom prst="ellipse">
            <a:avLst/>
          </a:prstGeom>
          <a:solidFill>
            <a:srgbClr val="E8A33D"/>
          </a:solidFill>
          <a:ln/>
        </p:spPr>
      </p:sp>
      <p:sp>
        <p:nvSpPr>
          <p:cNvPr id="14" name="Text 12"/>
          <p:cNvSpPr/>
          <p:nvPr/>
        </p:nvSpPr>
        <p:spPr>
          <a:xfrm>
            <a:off x="841248" y="3621024"/>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499616" y="3529584"/>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Finish this sentence: "A reasonable team might have picked ___ instead, and here's why we didn't."</a:t>
            </a:r>
            <a:endParaRPr lang="en-US" sz="1600" dirty="0"/>
          </a:p>
        </p:txBody>
      </p:sp>
      <p:sp>
        <p:nvSpPr>
          <p:cNvPr id="16" name="Shape 14"/>
          <p:cNvSpPr/>
          <p:nvPr/>
        </p:nvSpPr>
        <p:spPr>
          <a:xfrm>
            <a:off x="548640" y="4315968"/>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841248" y="4407408"/>
            <a:ext cx="475488" cy="475488"/>
          </a:xfrm>
          <a:prstGeom prst="ellipse">
            <a:avLst/>
          </a:prstGeom>
          <a:solidFill>
            <a:srgbClr val="E8A33D"/>
          </a:solidFill>
          <a:ln/>
        </p:spPr>
      </p:sp>
      <p:sp>
        <p:nvSpPr>
          <p:cNvPr id="18" name="Text 16"/>
          <p:cNvSpPr/>
          <p:nvPr/>
        </p:nvSpPr>
        <p:spPr>
          <a:xfrm>
            <a:off x="841248" y="4407408"/>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3</a:t>
            </a:r>
            <a:endParaRPr lang="en-US" sz="1900" dirty="0"/>
          </a:p>
        </p:txBody>
      </p:sp>
      <p:sp>
        <p:nvSpPr>
          <p:cNvPr id="19" name="Text 17"/>
          <p:cNvSpPr/>
          <p:nvPr/>
        </p:nvSpPr>
        <p:spPr>
          <a:xfrm>
            <a:off x="1499616" y="4315968"/>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Is your reason about your users, your team, or the five weeks? If it's none of the three, it isn't a reason yet.</a:t>
            </a:r>
            <a:endParaRPr lang="en-US" sz="1600" dirty="0"/>
          </a:p>
        </p:txBody>
      </p:sp>
      <p:sp>
        <p:nvSpPr>
          <p:cNvPr id="20" name="Shape 18"/>
          <p:cNvSpPr/>
          <p:nvPr/>
        </p:nvSpPr>
        <p:spPr>
          <a:xfrm>
            <a:off x="548640" y="5102352"/>
            <a:ext cx="11064240" cy="658368"/>
          </a:xfrm>
          <a:prstGeom prst="roundRect">
            <a:avLst>
              <a:gd name="adj" fmla="val 12500"/>
            </a:avLst>
          </a:prstGeom>
          <a:solidFill>
            <a:srgbClr val="1E3352"/>
          </a:solidFill>
          <a:ln/>
          <a:effectLst>
            <a:outerShdw sx="100000" sy="100000" kx="0" ky="0" algn="bl" rotWithShape="0" blurRad="88900" dist="38100" dir="5400000">
              <a:srgbClr val="000000">
                <a:alpha val="13000"/>
              </a:srgbClr>
            </a:outerShdw>
          </a:effectLst>
        </p:spPr>
      </p:sp>
      <p:sp>
        <p:nvSpPr>
          <p:cNvPr id="21" name="Shape 19"/>
          <p:cNvSpPr/>
          <p:nvPr/>
        </p:nvSpPr>
        <p:spPr>
          <a:xfrm>
            <a:off x="841248" y="5193792"/>
            <a:ext cx="475488" cy="475488"/>
          </a:xfrm>
          <a:prstGeom prst="ellipse">
            <a:avLst/>
          </a:prstGeom>
          <a:solidFill>
            <a:srgbClr val="E8A33D"/>
          </a:solidFill>
          <a:ln/>
        </p:spPr>
      </p:sp>
      <p:sp>
        <p:nvSpPr>
          <p:cNvPr id="22" name="Text 20"/>
          <p:cNvSpPr/>
          <p:nvPr/>
        </p:nvSpPr>
        <p:spPr>
          <a:xfrm>
            <a:off x="841248" y="5193792"/>
            <a:ext cx="475488" cy="475488"/>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4</a:t>
            </a:r>
            <a:endParaRPr lang="en-US" sz="1900" dirty="0"/>
          </a:p>
        </p:txBody>
      </p:sp>
      <p:sp>
        <p:nvSpPr>
          <p:cNvPr id="23" name="Text 21"/>
          <p:cNvSpPr/>
          <p:nvPr/>
        </p:nvSpPr>
        <p:spPr>
          <a:xfrm>
            <a:off x="1499616" y="5102352"/>
            <a:ext cx="9875520" cy="658368"/>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What would have to be true for you to switch? Write it down — that's the last line.</a:t>
            </a:r>
            <a:endParaRPr lang="en-US" sz="1600" dirty="0"/>
          </a:p>
        </p:txBody>
      </p:sp>
      <p:sp>
        <p:nvSpPr>
          <p:cNvPr id="24" name="Shape 22"/>
          <p:cNvSpPr/>
          <p:nvPr/>
        </p:nvSpPr>
        <p:spPr>
          <a:xfrm>
            <a:off x="548640" y="5870448"/>
            <a:ext cx="11064240" cy="585216"/>
          </a:xfrm>
          <a:prstGeom prst="roundRect">
            <a:avLst>
              <a:gd name="adj" fmla="val 14063"/>
            </a:avLst>
          </a:prstGeom>
          <a:solidFill>
            <a:srgbClr val="E4EEF1"/>
          </a:solidFill>
          <a:ln/>
          <a:effectLst>
            <a:outerShdw sx="100000" sy="100000" kx="0" ky="0" algn="bl" rotWithShape="0" blurRad="88900" dist="38100" dir="5400000">
              <a:srgbClr val="000000">
                <a:alpha val="13000"/>
              </a:srgbClr>
            </a:outerShdw>
          </a:effectLst>
        </p:spPr>
      </p:sp>
      <p:sp>
        <p:nvSpPr>
          <p:cNvPr id="25" name="Text 23"/>
          <p:cNvSpPr/>
          <p:nvPr/>
        </p:nvSpPr>
        <p:spPr>
          <a:xfrm>
            <a:off x="868680" y="5870448"/>
            <a:ext cx="10424160" cy="585216"/>
          </a:xfrm>
          <a:prstGeom prst="rect">
            <a:avLst/>
          </a:prstGeom>
          <a:noFill/>
          <a:ln/>
        </p:spPr>
        <p:txBody>
          <a:bodyPr wrap="square" lIns="0" tIns="0" rIns="0" bIns="0" rtlCol="0" anchor="ctr"/>
          <a:lstStyle/>
          <a:p>
            <a:pPr indent="0" marL="0">
              <a:buNone/>
            </a:pPr>
            <a:r>
              <a:rPr lang="en-US" sz="1500" b="1" dirty="0">
                <a:solidFill>
                  <a:srgbClr val="14233A"/>
                </a:solidFill>
                <a:latin typeface="Calibri" pitchFamily="34" charset="0"/>
                <a:ea typeface="Calibri" pitchFamily="34" charset="-122"/>
                <a:cs typeface="Calibri" pitchFamily="34" charset="-120"/>
              </a:rPr>
              <a:t>Real criteria here: what your team knows · what five weeks can absorb · what your user's setting requires · what a contributor can install.</a:t>
            </a:r>
            <a:endParaRPr lang="en-US" sz="1500" dirty="0"/>
          </a:p>
        </p:txBody>
      </p:sp>
      <p:sp>
        <p:nvSpPr>
          <p:cNvPr id="26"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12 · Architecture Workshop</a:t>
            </a:r>
            <a:endParaRPr lang="en-US" sz="1000" dirty="0"/>
          </a:p>
        </p:txBody>
      </p:sp>
      <p:sp>
        <p:nvSpPr>
          <p:cNvPr id="27"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8872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410919"/>
            <a:ext cx="378562" cy="378562"/>
          </a:xfrm>
          <a:prstGeom prst="rect">
            <a:avLst/>
          </a:prstGeom>
        </p:spPr>
      </p:pic>
      <p:sp>
        <p:nvSpPr>
          <p:cNvPr id="5" name="Text 2"/>
          <p:cNvSpPr/>
          <p:nvPr/>
        </p:nvSpPr>
        <p:spPr>
          <a:xfrm>
            <a:off x="822960" y="2212848"/>
            <a:ext cx="10881360" cy="960120"/>
          </a:xfrm>
          <a:prstGeom prst="rect">
            <a:avLst/>
          </a:prstGeom>
          <a:noFill/>
          <a:ln/>
        </p:spPr>
        <p:txBody>
          <a:bodyPr wrap="square" lIns="0" tIns="0" rIns="0" bIns="0" rtlCol="0" anchor="ctr"/>
          <a:lstStyle/>
          <a:p>
            <a:pPr indent="0" marL="0">
              <a:lnSpc>
                <a:spcPct val="106000"/>
              </a:lnSpc>
              <a:buNone/>
            </a:pPr>
            <a:r>
              <a:rPr lang="en-US" sz="2900" b="1" i="1" dirty="0">
                <a:solidFill>
                  <a:srgbClr val="FFFFFF"/>
                </a:solidFill>
                <a:latin typeface="Cambria" pitchFamily="34" charset="0"/>
                <a:ea typeface="Cambria" pitchFamily="34" charset="-122"/>
                <a:cs typeface="Cambria" pitchFamily="34" charset="-120"/>
              </a:rPr>
              <a:t>Photograph every board before anyone erases anything.</a:t>
            </a:r>
            <a:endParaRPr lang="en-US" sz="2900" dirty="0"/>
          </a:p>
        </p:txBody>
      </p:sp>
      <p:sp>
        <p:nvSpPr>
          <p:cNvPr id="6" name="Shape 3"/>
          <p:cNvSpPr/>
          <p:nvPr/>
        </p:nvSpPr>
        <p:spPr>
          <a:xfrm>
            <a:off x="548640" y="3429000"/>
            <a:ext cx="5440680" cy="1371600"/>
          </a:xfrm>
          <a:prstGeom prst="roundRect">
            <a:avLst>
              <a:gd name="adj" fmla="val 6000"/>
            </a:avLst>
          </a:prstGeom>
          <a:solidFill>
            <a:srgbClr val="1E3352"/>
          </a:solidFill>
          <a:ln/>
          <a:effectLst>
            <a:outerShdw sx="100000" sy="100000" kx="0" ky="0" algn="bl" rotWithShape="0" blurRad="88900" dist="38100" dir="5400000">
              <a:srgbClr val="000000">
                <a:alpha val="13000"/>
              </a:srgbClr>
            </a:outerShdw>
          </a:effectLst>
        </p:spPr>
      </p:sp>
      <p:sp>
        <p:nvSpPr>
          <p:cNvPr id="7" name="Text 4"/>
          <p:cNvSpPr/>
          <p:nvPr/>
        </p:nvSpPr>
        <p:spPr>
          <a:xfrm>
            <a:off x="868680" y="3429000"/>
            <a:ext cx="4846320" cy="1371600"/>
          </a:xfrm>
          <a:prstGeom prst="rect">
            <a:avLst/>
          </a:prstGeom>
          <a:noFill/>
          <a:ln/>
        </p:spPr>
        <p:txBody>
          <a:bodyPr wrap="square" lIns="0" tIns="0" rIns="0" bIns="0" rtlCol="0" anchor="ctr"/>
          <a:lstStyle/>
          <a:p>
            <a:pPr indent="0" marL="0">
              <a:lnSpc>
                <a:spcPct val="105000"/>
              </a:lnSpc>
              <a:buNone/>
            </a:pPr>
            <a:r>
              <a:rPr lang="en-US" sz="1600" b="1" dirty="0">
                <a:solidFill>
                  <a:srgbClr val="E8A33D"/>
                </a:solidFill>
                <a:latin typeface="Calibri" pitchFamily="34" charset="0"/>
                <a:ea typeface="Calibri" pitchFamily="34" charset="-122"/>
                <a:cs typeface="Calibri" pitchFamily="34" charset="-120"/>
              </a:rPr>
              <a:t>Everything, not just the neat parts.
</a:t>
            </a:r>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Red failure arrows and parked ideas too — those become your risks section.</a:t>
            </a:r>
            <a:endParaRPr lang="en-US" sz="1600" dirty="0"/>
          </a:p>
        </p:txBody>
      </p:sp>
      <p:sp>
        <p:nvSpPr>
          <p:cNvPr id="8" name="Shape 5"/>
          <p:cNvSpPr/>
          <p:nvPr/>
        </p:nvSpPr>
        <p:spPr>
          <a:xfrm>
            <a:off x="6172200" y="3429000"/>
            <a:ext cx="5440680" cy="1371600"/>
          </a:xfrm>
          <a:prstGeom prst="roundRect">
            <a:avLst>
              <a:gd name="adj" fmla="val 6000"/>
            </a:avLst>
          </a:prstGeom>
          <a:solidFill>
            <a:srgbClr val="1E3352"/>
          </a:solidFill>
          <a:ln/>
          <a:effectLst>
            <a:outerShdw sx="100000" sy="100000" kx="0" ky="0" algn="bl" rotWithShape="0" blurRad="88900" dist="38100" dir="5400000">
              <a:srgbClr val="000000">
                <a:alpha val="13000"/>
              </a:srgbClr>
            </a:outerShdw>
          </a:effectLst>
        </p:spPr>
      </p:sp>
      <p:sp>
        <p:nvSpPr>
          <p:cNvPr id="9" name="Text 6"/>
          <p:cNvSpPr/>
          <p:nvPr/>
        </p:nvSpPr>
        <p:spPr>
          <a:xfrm>
            <a:off x="6492240" y="3429000"/>
            <a:ext cx="4846320" cy="1371600"/>
          </a:xfrm>
          <a:prstGeom prst="rect">
            <a:avLst/>
          </a:prstGeom>
          <a:noFill/>
          <a:ln/>
        </p:spPr>
        <p:txBody>
          <a:bodyPr wrap="square" lIns="0" tIns="0" rIns="0" bIns="0" rtlCol="0" anchor="ctr"/>
          <a:lstStyle/>
          <a:p>
            <a:pPr indent="0" marL="0">
              <a:lnSpc>
                <a:spcPct val="105000"/>
              </a:lnSpc>
              <a:buNone/>
            </a:pPr>
            <a:r>
              <a:rPr lang="en-US" sz="1600" b="1" dirty="0">
                <a:solidFill>
                  <a:srgbClr val="E8A33D"/>
                </a:solidFill>
                <a:latin typeface="Calibri" pitchFamily="34" charset="0"/>
                <a:ea typeface="Calibri" pitchFamily="34" charset="-122"/>
                <a:cs typeface="Calibri" pitchFamily="34" charset="-120"/>
              </a:rPr>
              <a:t>Name a person per section, out loud.
</a:t>
            </a:r>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§3 context · §4 components + flow · §5 data · §6 decisions. Four sections, four names.</a:t>
            </a:r>
            <a:endParaRPr lang="en-US" sz="1600" dirty="0"/>
          </a:p>
        </p:txBody>
      </p:sp>
      <p:sp>
        <p:nvSpPr>
          <p:cNvPr id="10" name="Shape 7"/>
          <p:cNvSpPr/>
          <p:nvPr/>
        </p:nvSpPr>
        <p:spPr>
          <a:xfrm>
            <a:off x="548640" y="5029200"/>
            <a:ext cx="11064240" cy="1143000"/>
          </a:xfrm>
          <a:prstGeom prst="roundRect">
            <a:avLst>
              <a:gd name="adj" fmla="val 7200"/>
            </a:avLst>
          </a:prstGeom>
          <a:solidFill>
            <a:srgbClr val="E8A33D"/>
          </a:solidFill>
          <a:ln/>
          <a:effectLst>
            <a:outerShdw sx="100000" sy="100000" kx="0" ky="0" algn="bl" rotWithShape="0" blurRad="88900" dist="38100" dir="5400000">
              <a:srgbClr val="000000">
                <a:alpha val="13000"/>
              </a:srgbClr>
            </a:outerShdw>
          </a:effectLst>
        </p:spPr>
      </p:sp>
      <p:sp>
        <p:nvSpPr>
          <p:cNvPr id="11" name="Text 8"/>
          <p:cNvSpPr/>
          <p:nvPr/>
        </p:nvSpPr>
        <p:spPr>
          <a:xfrm>
            <a:off x="868680" y="5029200"/>
            <a:ext cx="10424160" cy="1143000"/>
          </a:xfrm>
          <a:prstGeom prst="rect">
            <a:avLst/>
          </a:prstGeom>
          <a:noFill/>
          <a:ln/>
        </p:spPr>
        <p:txBody>
          <a:bodyPr wrap="square" lIns="0" tIns="0" rIns="0" bIns="0" rtlCol="0" anchor="ctr"/>
          <a:lstStyle/>
          <a:p>
            <a:pPr algn="ctr" indent="0" marL="0">
              <a:lnSpc>
                <a:spcPct val="104000"/>
              </a:lnSpc>
              <a:buNone/>
            </a:pPr>
            <a:r>
              <a:rPr lang="en-US" sz="1700" b="1" dirty="0">
                <a:solidFill>
                  <a:srgbClr val="14233A"/>
                </a:solidFill>
                <a:latin typeface="Calibri" pitchFamily="34" charset="0"/>
                <a:ea typeface="Calibri" pitchFamily="34" charset="-122"/>
                <a:cs typeface="Calibri" pitchFamily="34" charset="-120"/>
              </a:rPr>
              <a:t>A photo of a whiteboard is a legitimate diagram for the draft. The boards are the work — what follows is transcription.</a:t>
            </a:r>
            <a:endParaRPr lang="en-US" sz="1700" dirty="0"/>
          </a:p>
        </p:txBody>
      </p:sp>
      <p:sp>
        <p:nvSpPr>
          <p:cNvPr id="12" name="Text 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12 · Architecture Workshop</a:t>
            </a:r>
            <a:endParaRPr lang="en-US" sz="1000" dirty="0"/>
          </a:p>
        </p:txBody>
      </p:sp>
      <p:sp>
        <p:nvSpPr>
          <p:cNvPr id="13" name="Text 1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NEXT CLASS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What's due, and what's coming</a:t>
            </a:r>
            <a:endParaRPr lang="en-US" sz="3100" dirty="0"/>
          </a:p>
        </p:txBody>
      </p:sp>
      <p:sp>
        <p:nvSpPr>
          <p:cNvPr id="5" name="Shape 3"/>
          <p:cNvSpPr/>
          <p:nvPr/>
        </p:nvSpPr>
        <p:spPr>
          <a:xfrm>
            <a:off x="548640" y="1828800"/>
            <a:ext cx="11064240" cy="1463040"/>
          </a:xfrm>
          <a:prstGeom prst="roundRect">
            <a:avLst>
              <a:gd name="adj" fmla="val 5625"/>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96112" y="2194560"/>
            <a:ext cx="640080" cy="64008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68934" y="2367382"/>
            <a:ext cx="294437" cy="294437"/>
          </a:xfrm>
          <a:prstGeom prst="rect">
            <a:avLst/>
          </a:prstGeom>
        </p:spPr>
      </p:pic>
      <p:sp>
        <p:nvSpPr>
          <p:cNvPr id="8" name="Text 5"/>
          <p:cNvSpPr/>
          <p:nvPr/>
        </p:nvSpPr>
        <p:spPr>
          <a:xfrm>
            <a:off x="1828800" y="1828800"/>
            <a:ext cx="9509760" cy="1463040"/>
          </a:xfrm>
          <a:prstGeom prst="rect">
            <a:avLst/>
          </a:prstGeom>
          <a:noFill/>
          <a:ln/>
        </p:spPr>
        <p:txBody>
          <a:bodyPr wrap="square" lIns="0" tIns="0" rIns="0" bIns="0" rtlCol="0" anchor="ctr"/>
          <a:lstStyle/>
          <a:p>
            <a:pPr indent="0" marL="0">
              <a:lnSpc>
                <a:spcPct val="106000"/>
              </a:lnSpc>
              <a:buNone/>
            </a:pPr>
            <a:r>
              <a:rPr lang="en-US" sz="1900" b="1" dirty="0">
                <a:solidFill>
                  <a:srgbClr val="E8A33D"/>
                </a:solidFill>
                <a:latin typeface="Calibri" pitchFamily="34" charset="0"/>
                <a:ea typeface="Calibri" pitchFamily="34" charset="-122"/>
                <a:cs typeface="Calibri" pitchFamily="34" charset="-120"/>
              </a:rPr>
              <a:t>Design Document draft — end of day Fri, Oct 16
</a:t>
            </a:r>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Photographed diagrams + skeleton prose + your two argued decisions. Commit it as docs/design.md and upload a copy to Canvas.</a:t>
            </a:r>
            <a:endParaRPr lang="en-US" sz="1650" dirty="0"/>
          </a:p>
        </p:txBody>
      </p:sp>
      <p:sp>
        <p:nvSpPr>
          <p:cNvPr id="9" name="Shape 6"/>
          <p:cNvSpPr/>
          <p:nvPr/>
        </p:nvSpPr>
        <p:spPr>
          <a:xfrm>
            <a:off x="548640" y="3474720"/>
            <a:ext cx="54406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68680" y="3749040"/>
            <a:ext cx="566928" cy="56692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021751" y="3902111"/>
            <a:ext cx="260787" cy="260787"/>
          </a:xfrm>
          <a:prstGeom prst="rect">
            <a:avLst/>
          </a:prstGeom>
        </p:spPr>
      </p:pic>
      <p:sp>
        <p:nvSpPr>
          <p:cNvPr id="12" name="Text 8"/>
          <p:cNvSpPr/>
          <p:nvPr/>
        </p:nvSpPr>
        <p:spPr>
          <a:xfrm>
            <a:off x="1645920" y="3474720"/>
            <a:ext cx="4206240" cy="1371600"/>
          </a:xfrm>
          <a:prstGeom prst="rect">
            <a:avLst/>
          </a:prstGeom>
          <a:noFill/>
          <a:ln/>
        </p:spPr>
        <p:txBody>
          <a:bodyPr wrap="square" lIns="0" tIns="0" rIns="0" bIns="0" rtlCol="0" anchor="ctr"/>
          <a:lstStyle/>
          <a:p>
            <a:pPr indent="0" marL="0">
              <a:lnSpc>
                <a:spcPct val="105000"/>
              </a:lnSpc>
              <a:buNone/>
            </a:pPr>
            <a:r>
              <a:rPr lang="en-US" sz="1550" b="1" dirty="0">
                <a:solidFill>
                  <a:srgbClr val="0E6E6D"/>
                </a:solidFill>
                <a:latin typeface="Calibri" pitchFamily="34" charset="0"/>
                <a:ea typeface="Calibri" pitchFamily="34" charset="-122"/>
                <a:cs typeface="Calibri" pitchFamily="34" charset="-120"/>
              </a:rPr>
              <a:t>Monday, Oct 19
</a:t>
            </a:r>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Git for maintainers — the branching and PR discipline you'll run to December.</a:t>
            </a:r>
            <a:endParaRPr lang="en-US" sz="1550" dirty="0"/>
          </a:p>
        </p:txBody>
      </p:sp>
      <p:sp>
        <p:nvSpPr>
          <p:cNvPr id="13" name="Shape 9"/>
          <p:cNvSpPr/>
          <p:nvPr/>
        </p:nvSpPr>
        <p:spPr>
          <a:xfrm>
            <a:off x="6172200" y="3474720"/>
            <a:ext cx="54406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4" name="Shape 10"/>
          <p:cNvSpPr/>
          <p:nvPr/>
        </p:nvSpPr>
        <p:spPr>
          <a:xfrm>
            <a:off x="6492240" y="3749040"/>
            <a:ext cx="566928" cy="566928"/>
          </a:xfrm>
          <a:prstGeom prst="ellipse">
            <a:avLst/>
          </a:prstGeom>
          <a:solidFill>
            <a:srgbClr val="12908F"/>
          </a:solidFill>
          <a:ln/>
        </p:spPr>
      </p:sp>
      <p:pic>
        <p:nvPicPr>
          <p:cNvPr id="15" name="Image 2" descr="preencoded.png">    </p:cNvPr>
          <p:cNvPicPr>
            <a:picLocks noChangeAspect="1"/>
          </p:cNvPicPr>
          <p:nvPr/>
        </p:nvPicPr>
        <p:blipFill>
          <a:blip r:embed="rId3"/>
          <a:stretch>
            <a:fillRect/>
          </a:stretch>
        </p:blipFill>
        <p:spPr>
          <a:xfrm>
            <a:off x="6645311" y="3902111"/>
            <a:ext cx="260787" cy="260787"/>
          </a:xfrm>
          <a:prstGeom prst="rect">
            <a:avLst/>
          </a:prstGeom>
        </p:spPr>
      </p:pic>
      <p:sp>
        <p:nvSpPr>
          <p:cNvPr id="16" name="Text 11"/>
          <p:cNvSpPr/>
          <p:nvPr/>
        </p:nvSpPr>
        <p:spPr>
          <a:xfrm>
            <a:off x="7269480" y="3474720"/>
            <a:ext cx="4206240" cy="1371600"/>
          </a:xfrm>
          <a:prstGeom prst="rect">
            <a:avLst/>
          </a:prstGeom>
          <a:noFill/>
          <a:ln/>
        </p:spPr>
        <p:txBody>
          <a:bodyPr wrap="square" lIns="0" tIns="0" rIns="0" bIns="0" rtlCol="0" anchor="ctr"/>
          <a:lstStyle/>
          <a:p>
            <a:pPr indent="0" marL="0">
              <a:lnSpc>
                <a:spcPct val="105000"/>
              </a:lnSpc>
              <a:buNone/>
            </a:pPr>
            <a:r>
              <a:rPr lang="en-US" sz="1550" b="1" dirty="0">
                <a:solidFill>
                  <a:srgbClr val="0E6E6D"/>
                </a:solidFill>
                <a:latin typeface="Calibri" pitchFamily="34" charset="0"/>
                <a:ea typeface="Calibri" pitchFamily="34" charset="-122"/>
                <a:cs typeface="Calibri" pitchFamily="34" charset="-120"/>
              </a:rPr>
              <a:t>Wednesday, Oct 21
</a:t>
            </a:r>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CP5 — Design Document (revised), due end of day, alongside CP6 — Git Workflow Lab.</a:t>
            </a:r>
            <a:endParaRPr lang="en-US" sz="1550" dirty="0"/>
          </a:p>
        </p:txBody>
      </p:sp>
      <p:sp>
        <p:nvSpPr>
          <p:cNvPr id="17" name="Shape 12"/>
          <p:cNvSpPr/>
          <p:nvPr/>
        </p:nvSpPr>
        <p:spPr>
          <a:xfrm>
            <a:off x="548640" y="5029200"/>
            <a:ext cx="11064240" cy="1188720"/>
          </a:xfrm>
          <a:prstGeom prst="roundRect">
            <a:avLst>
              <a:gd name="adj" fmla="val 6923"/>
            </a:avLst>
          </a:prstGeom>
          <a:solidFill>
            <a:srgbClr val="EAF4EE"/>
          </a:solidFill>
          <a:ln/>
          <a:effectLst>
            <a:outerShdw sx="100000" sy="100000" kx="0" ky="0" algn="bl" rotWithShape="0" blurRad="88900" dist="38100" dir="5400000">
              <a:srgbClr val="000000">
                <a:alpha val="13000"/>
              </a:srgbClr>
            </a:outerShdw>
          </a:effectLst>
        </p:spPr>
      </p:sp>
      <p:sp>
        <p:nvSpPr>
          <p:cNvPr id="18" name="Text 13"/>
          <p:cNvSpPr/>
          <p:nvPr/>
        </p:nvSpPr>
        <p:spPr>
          <a:xfrm>
            <a:off x="868680" y="5029200"/>
            <a:ext cx="10424160" cy="1188720"/>
          </a:xfrm>
          <a:prstGeom prst="rect">
            <a:avLst/>
          </a:prstGeom>
          <a:noFill/>
          <a:ln/>
        </p:spPr>
        <p:txBody>
          <a:bodyPr wrap="square" lIns="0" tIns="0" rIns="0" bIns="0" rtlCol="0" anchor="ctr"/>
          <a:lstStyle/>
          <a:p>
            <a:pPr algn="ctr" indent="0" marL="0">
              <a:buNone/>
            </a:pPr>
            <a:r>
              <a:rPr lang="en-US" sz="1700" b="1" dirty="0">
                <a:solidFill>
                  <a:srgbClr val="0E6E6D"/>
                </a:solidFill>
                <a:latin typeface="Calibri" pitchFamily="34" charset="0"/>
                <a:ea typeface="Calibri" pitchFamily="34" charset="-122"/>
                <a:cs typeface="Calibri" pitchFamily="34" charset="-120"/>
              </a:rPr>
              <a:t>Draft, review, revise — the same loop as the proposal. The revision is what's graded.</a:t>
            </a:r>
            <a:endParaRPr lang="en-US" sz="170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12 · Architecture Workshop</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12 — Architecture &amp; Data-Flow Workshop</dc:title>
  <dc:subject>PptxGenJS Presentation</dc:subject>
  <dc:creator>CS 301R</dc:creator>
  <cp:lastModifiedBy>CS 301R</cp:lastModifiedBy>
  <cp:revision>1</cp:revision>
  <dcterms:created xsi:type="dcterms:W3CDTF">2026-10-14T15:03:37Z</dcterms:created>
  <dcterms:modified xsi:type="dcterms:W3CDTF">2026-10-14T15:03:37Z</dcterms:modified>
</cp:coreProperties>
</file>