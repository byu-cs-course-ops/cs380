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280160"/>
            <a:ext cx="3840480" cy="3840480"/>
          </a:xfrm>
          <a:prstGeom prst="ellipse">
            <a:avLst/>
          </a:prstGeom>
          <a:solidFill>
            <a:srgbClr val="1C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4663440"/>
            <a:ext cx="2743200" cy="2743200"/>
          </a:xfrm>
          <a:prstGeom prst="ellipse">
            <a:avLst/>
          </a:prstGeom>
          <a:solidFill>
            <a:srgbClr val="1C3252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325880"/>
            <a:ext cx="914400" cy="91440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5727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514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SOFTWARE ENGINEERING STUDIO I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22960" y="288036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 the System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841248" y="42976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12 — architecture &amp; data-flow workshop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Wednesday, October 14, 2026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START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design document — and what today produces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440680" cy="3200400"/>
          </a:xfrm>
          <a:prstGeom prst="roundRect">
            <a:avLst>
              <a:gd name="adj" fmla="val 2571"/>
            </a:avLst>
          </a:prstGeom>
          <a:solidFill>
            <a:srgbClr val="14233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103120"/>
            <a:ext cx="621792" cy="62179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564" y="2271004"/>
            <a:ext cx="286024" cy="28602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2103120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2944368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how you'll build it — and why this how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for a builder: your teammates, and the contributor who joins in January</a:t>
            </a:r>
            <a:endParaRPr lang="en-US" sz="1550" dirty="0"/>
          </a:p>
          <a:p>
            <a:pPr marL="203200" indent="-203200">
              <a:buSzPct val="100000"/>
              <a:buChar char="•"/>
            </a:pPr>
            <a:r>
              <a:rPr lang="en-US" sz="155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 six pages plus diagrams, on the course template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172200" y="1828800"/>
            <a:ext cx="5440680" cy="3200400"/>
          </a:xfrm>
          <a:prstGeom prst="roundRect">
            <a:avLst>
              <a:gd name="adj" fmla="val 2571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92240" y="2103120"/>
            <a:ext cx="621792" cy="621792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124" y="2271004"/>
            <a:ext cx="286024" cy="28602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69480" y="2103120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leave with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537960" y="2944368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system-context diagram and a component diagram</a:t>
            </a:r>
            <a:endParaRPr lang="en-US" sz="15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core flow traced end to end — and traced again when it breaks</a:t>
            </a:r>
            <a:endParaRPr lang="en-US" sz="1550" dirty="0"/>
          </a:p>
          <a:p>
            <a:pPr marL="203200" indent="-203200">
              <a:buSzPct val="100000"/>
              <a:buChar char="•"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first-cut data model, and two decisions argued against real alternatives</a:t>
            </a:r>
            <a:endParaRPr lang="en-US" sz="1550" dirty="0"/>
          </a:p>
        </p:txBody>
      </p:sp>
      <p:sp>
        <p:nvSpPr>
          <p:cNvPr id="15" name="Shape 11"/>
          <p:cNvSpPr/>
          <p:nvPr/>
        </p:nvSpPr>
        <p:spPr>
          <a:xfrm>
            <a:off x="548640" y="525780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868680" y="525780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4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you read a design document and took one apart. Today you build the hard 80% of yours, on a whiteboard, in 57 minutes.</a:t>
            </a:r>
            <a:endParaRPr lang="en-US" sz="1650" dirty="0"/>
          </a:p>
        </p:txBody>
      </p:sp>
      <p:sp>
        <p:nvSpPr>
          <p:cNvPr id="17" name="Text 13"/>
          <p:cNvSpPr/>
          <p:nvPr/>
        </p:nvSpPr>
        <p:spPr>
          <a:xfrm>
            <a:off x="6675120" y="6437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12 · Architecture Workshop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TODAY COMES FROM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have drawn every one of these before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440680" cy="2880360"/>
          </a:xfrm>
          <a:prstGeom prst="roundRect">
            <a:avLst>
              <a:gd name="adj" fmla="val 2857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148840"/>
            <a:ext cx="621792" cy="621792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564" y="2316724"/>
            <a:ext cx="286024" cy="28602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2148840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240 · chess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2999232"/>
            <a:ext cx="4892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sequence diagrams, one per endpoint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→ Handlers → Services → DAOs → Database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ERDs — entities, primary and foreign keys, one-to-many and many-to-many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72200" y="1874520"/>
            <a:ext cx="5440680" cy="2880360"/>
          </a:xfrm>
          <a:prstGeom prst="roundRect">
            <a:avLst>
              <a:gd name="adj" fmla="val 2857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92240" y="2148840"/>
            <a:ext cx="621792" cy="621792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124" y="2316724"/>
            <a:ext cx="286024" cy="28602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69480" y="2148840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340 · Tweeter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537960" y="2999232"/>
            <a:ext cx="4892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class and sequence diagrams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 — layers, the dependency rule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Patterns, and the trade-offs behind them</a:t>
            </a:r>
            <a:endParaRPr lang="en-US" sz="1600" dirty="0"/>
          </a:p>
        </p:txBody>
      </p:sp>
      <p:sp>
        <p:nvSpPr>
          <p:cNvPr id="15" name="click-1"/>
          <p:cNvSpPr/>
          <p:nvPr/>
        </p:nvSpPr>
        <p:spPr>
          <a:xfrm>
            <a:off x="548640" y="502920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14233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6" name="click-1"/>
          <p:cNvSpPr/>
          <p:nvPr/>
        </p:nvSpPr>
        <p:spPr>
          <a:xfrm>
            <a:off x="896112" y="5029200"/>
            <a:ext cx="10378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75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times, the architecture arrived with the assignment.
</a:t>
            </a:r>
            <a:pPr algn="ctr" indent="0" marL="0">
              <a:lnSpc>
                <a:spcPct val="106000"/>
              </a:lnSpc>
              <a:buNone/>
            </a:pPr>
            <a:r>
              <a:rPr lang="en-US" sz="17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have never done is decide what goes in the boxes.</a:t>
            </a:r>
            <a:endParaRPr lang="en-US" sz="1750" dirty="0"/>
          </a:p>
        </p:txBody>
      </p:sp>
      <p:sp>
        <p:nvSpPr>
          <p:cNvPr id="17" name="Text 13"/>
          <p:cNvSpPr/>
          <p:nvPr/>
        </p:nvSpPr>
        <p:spPr>
          <a:xfrm>
            <a:off x="6675120" y="6437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12 · Architecture Workshop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ADJUSTMENT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today is one level up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440680" cy="3108960"/>
          </a:xfrm>
          <a:prstGeom prst="roundRect">
            <a:avLst>
              <a:gd name="adj" fmla="val 2647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103120"/>
            <a:ext cx="621792" cy="621792"/>
          </a:xfrm>
          <a:prstGeom prst="ellipse">
            <a:avLst/>
          </a:prstGeom>
          <a:solidFill>
            <a:srgbClr val="5F728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564" y="2271004"/>
            <a:ext cx="286024" cy="28602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2103120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you're used to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297180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Class-level. Objects, methods, lifelines, inheritance. The inside of one program.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411480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ChessBoard · ChessPiece · UserDAO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6172200" y="1828800"/>
            <a:ext cx="5440680" cy="3108960"/>
          </a:xfrm>
          <a:prstGeom prst="roundRect">
            <a:avLst>
              <a:gd name="adj" fmla="val 2647"/>
            </a:avLst>
          </a:prstGeom>
          <a:solidFill>
            <a:srgbClr val="14233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92240" y="2103120"/>
            <a:ext cx="621792" cy="62179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124" y="2271004"/>
            <a:ext cx="286024" cy="2860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69480" y="2103120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today is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6537960" y="297180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System-level. Components, stores, services, boundaries. How whole pieces fit together.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537960" y="411480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catalog · the photo store · the theater's wifi</a:t>
            </a:r>
            <a:endParaRPr lang="en-US" sz="1550" dirty="0"/>
          </a:p>
        </p:txBody>
      </p:sp>
      <p:sp>
        <p:nvSpPr>
          <p:cNvPr id="17" name="Shape 13"/>
          <p:cNvSpPr/>
          <p:nvPr/>
        </p:nvSpPr>
        <p:spPr>
          <a:xfrm>
            <a:off x="548640" y="521208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FBEED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68680" y="5422392"/>
            <a:ext cx="530352" cy="53035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875" y="5565587"/>
            <a:ext cx="243962" cy="24396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64208" y="5212080"/>
            <a:ext cx="9692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notation instincts, one level up. If a box on your board has a method list, you dropped a level.</a:t>
            </a:r>
            <a:endParaRPr lang="en-US" sz="1650" dirty="0"/>
          </a:p>
        </p:txBody>
      </p:sp>
      <p:sp>
        <p:nvSpPr>
          <p:cNvPr id="21" name="Text 16"/>
          <p:cNvSpPr/>
          <p:nvPr/>
        </p:nvSpPr>
        <p:spPr>
          <a:xfrm>
            <a:off x="6675120" y="6437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12 · Architecture Workshop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rounds — and the draft writes itself tonight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64240" cy="676656"/>
          </a:xfrm>
          <a:prstGeom prst="roundRect">
            <a:avLst>
              <a:gd name="adj" fmla="val 12162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1892808"/>
            <a:ext cx="548640" cy="54864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805" y="2040941"/>
            <a:ext cx="252374" cy="25237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36192" y="1828800"/>
            <a:ext cx="5486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System context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132320" y="182880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§3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9601200" y="1828800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548640" y="2615184"/>
            <a:ext cx="11064240" cy="676656"/>
          </a:xfrm>
          <a:prstGeom prst="roundRect">
            <a:avLst>
              <a:gd name="adj" fmla="val 12162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04672" y="2679192"/>
            <a:ext cx="548640" cy="54864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5" y="2827325"/>
            <a:ext cx="252374" cy="25237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536192" y="2615184"/>
            <a:ext cx="5486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Components &amp; interfaces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7132320" y="2615184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§4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9601200" y="261518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550" dirty="0"/>
          </a:p>
        </p:txBody>
      </p:sp>
      <p:sp>
        <p:nvSpPr>
          <p:cNvPr id="17" name="Shape 13"/>
          <p:cNvSpPr/>
          <p:nvPr/>
        </p:nvSpPr>
        <p:spPr>
          <a:xfrm>
            <a:off x="548640" y="3401568"/>
            <a:ext cx="11064240" cy="676656"/>
          </a:xfrm>
          <a:prstGeom prst="roundRect">
            <a:avLst>
              <a:gd name="adj" fmla="val 12162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4672" y="3465576"/>
            <a:ext cx="548640" cy="54864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5" y="3613709"/>
            <a:ext cx="252374" cy="25237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36192" y="3401568"/>
            <a:ext cx="5486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Trace one core flow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7132320" y="3401568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§4</a:t>
            </a:r>
            <a:endParaRPr lang="en-US" sz="1550" dirty="0"/>
          </a:p>
        </p:txBody>
      </p:sp>
      <p:sp>
        <p:nvSpPr>
          <p:cNvPr id="22" name="Text 17"/>
          <p:cNvSpPr/>
          <p:nvPr/>
        </p:nvSpPr>
        <p:spPr>
          <a:xfrm>
            <a:off x="9601200" y="3401568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</a:t>
            </a:r>
            <a:endParaRPr lang="en-US" sz="1550" dirty="0"/>
          </a:p>
        </p:txBody>
      </p:sp>
      <p:sp>
        <p:nvSpPr>
          <p:cNvPr id="23" name="Shape 18"/>
          <p:cNvSpPr/>
          <p:nvPr/>
        </p:nvSpPr>
        <p:spPr>
          <a:xfrm>
            <a:off x="548640" y="4187952"/>
            <a:ext cx="11064240" cy="676656"/>
          </a:xfrm>
          <a:prstGeom prst="roundRect">
            <a:avLst>
              <a:gd name="adj" fmla="val 12162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04672" y="4251960"/>
            <a:ext cx="548640" cy="54864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4400093"/>
            <a:ext cx="252374" cy="25237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536192" y="4187952"/>
            <a:ext cx="5486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Data model, first cut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7132320" y="4187952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§5</a:t>
            </a:r>
            <a:endParaRPr lang="en-US" sz="1550" dirty="0"/>
          </a:p>
        </p:txBody>
      </p:sp>
      <p:sp>
        <p:nvSpPr>
          <p:cNvPr id="28" name="Text 22"/>
          <p:cNvSpPr/>
          <p:nvPr/>
        </p:nvSpPr>
        <p:spPr>
          <a:xfrm>
            <a:off x="9601200" y="4187952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550" dirty="0"/>
          </a:p>
        </p:txBody>
      </p:sp>
      <p:sp>
        <p:nvSpPr>
          <p:cNvPr id="29" name="Shape 23"/>
          <p:cNvSpPr/>
          <p:nvPr/>
        </p:nvSpPr>
        <p:spPr>
          <a:xfrm>
            <a:off x="548640" y="4974336"/>
            <a:ext cx="11064240" cy="676656"/>
          </a:xfrm>
          <a:prstGeom prst="roundRect">
            <a:avLst>
              <a:gd name="adj" fmla="val 12162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804672" y="5038344"/>
            <a:ext cx="548640" cy="54864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5186477"/>
            <a:ext cx="252374" cy="25237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536192" y="4974336"/>
            <a:ext cx="5486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Decisions &amp; alternatives</a:t>
            </a:r>
            <a:endParaRPr lang="en-US" sz="1800" dirty="0"/>
          </a:p>
        </p:txBody>
      </p:sp>
      <p:sp>
        <p:nvSpPr>
          <p:cNvPr id="33" name="Text 26"/>
          <p:cNvSpPr/>
          <p:nvPr/>
        </p:nvSpPr>
        <p:spPr>
          <a:xfrm>
            <a:off x="7132320" y="4974336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§6</a:t>
            </a:r>
            <a:endParaRPr lang="en-US" sz="1550" dirty="0"/>
          </a:p>
        </p:txBody>
      </p:sp>
      <p:sp>
        <p:nvSpPr>
          <p:cNvPr id="34" name="Text 27"/>
          <p:cNvSpPr/>
          <p:nvPr/>
        </p:nvSpPr>
        <p:spPr>
          <a:xfrm>
            <a:off x="9601200" y="4974336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550" dirty="0"/>
          </a:p>
        </p:txBody>
      </p:sp>
      <p:sp>
        <p:nvSpPr>
          <p:cNvPr id="35" name="Shape 28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233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36" name="Text 29"/>
          <p:cNvSpPr/>
          <p:nvPr/>
        </p:nvSpPr>
        <p:spPr>
          <a:xfrm>
            <a:off x="868680" y="580644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round fills a numbered section of the template, in order. Tonight is transcription, not composition.</a:t>
            </a:r>
            <a:endParaRPr lang="en-US" sz="1550" dirty="0"/>
          </a:p>
        </p:txBody>
      </p:sp>
      <p:sp>
        <p:nvSpPr>
          <p:cNvPr id="37" name="Text 30"/>
          <p:cNvSpPr/>
          <p:nvPr/>
        </p:nvSpPr>
        <p:spPr>
          <a:xfrm>
            <a:off x="6675120" y="6437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12 · Architecture Workshop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RULES FOR THE ROOM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apply to every board, every round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64240" cy="1783080"/>
          </a:xfrm>
          <a:prstGeom prst="roundRect">
            <a:avLst>
              <a:gd name="adj" fmla="val 4615"/>
            </a:avLst>
          </a:prstGeom>
          <a:solidFill>
            <a:srgbClr val="14233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194560"/>
            <a:ext cx="658368" cy="658368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871" y="2372319"/>
            <a:ext cx="302849" cy="3028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205740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box has a job.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828800" y="269748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on the box, in one sentence. If the sentence needs an "and," that's two boxes.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548640" y="3794760"/>
            <a:ext cx="11064240" cy="1783080"/>
          </a:xfrm>
          <a:prstGeom prst="roundRect">
            <a:avLst>
              <a:gd name="adj" fmla="val 4615"/>
            </a:avLst>
          </a:prstGeom>
          <a:solidFill>
            <a:srgbClr val="14233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96112" y="4160520"/>
            <a:ext cx="658368" cy="658368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3871" y="4338279"/>
            <a:ext cx="302849" cy="30284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828800" y="402336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arrow carries something nameable.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1828800" y="466344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can't label it, you haven't found a drawing problem — you've found a design question.</a:t>
            </a:r>
            <a:endParaRPr lang="en-US" sz="1650" dirty="0"/>
          </a:p>
        </p:txBody>
      </p:sp>
      <p:sp>
        <p:nvSpPr>
          <p:cNvPr id="15" name="Shape 11"/>
          <p:cNvSpPr/>
          <p:nvPr/>
        </p:nvSpPr>
        <p:spPr>
          <a:xfrm>
            <a:off x="548640" y="5760720"/>
            <a:ext cx="11064240" cy="603504"/>
          </a:xfrm>
          <a:prstGeom prst="roundRect">
            <a:avLst>
              <a:gd name="adj" fmla="val 13636"/>
            </a:avLst>
          </a:prstGeom>
          <a:solidFill>
            <a:srgbClr val="FBEED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868680" y="576072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 on a board. Not a diagramming tool, not UML syntax — nothing gets typed until it gets photographed.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6675120" y="6437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12 · Architecture Workshop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Backstage — the costume catalog from the sample proposals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64240" cy="1005840"/>
          </a:xfrm>
          <a:prstGeom prst="roundRect">
            <a:avLst>
              <a:gd name="adj" fmla="val 8182"/>
            </a:avLst>
          </a:prstGeom>
          <a:solidFill>
            <a:srgbClr val="14233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048256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1751" y="2201327"/>
            <a:ext cx="260787" cy="260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182880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work from one project all session — the costume catalog whose design document you dissect on Monday. You already know the domain, so none of today goes on learning it.</a:t>
            </a:r>
            <a:endParaRPr lang="en-US" sz="1650" dirty="0"/>
          </a:p>
        </p:txBody>
      </p:sp>
      <p:sp>
        <p:nvSpPr>
          <p:cNvPr id="9" name="Shape 6"/>
          <p:cNvSpPr/>
          <p:nvPr/>
        </p:nvSpPr>
        <p:spPr>
          <a:xfrm>
            <a:off x="548640" y="3063240"/>
            <a:ext cx="11064240" cy="1463040"/>
          </a:xfrm>
          <a:prstGeom prst="roundRect">
            <a:avLst>
              <a:gd name="adj" fmla="val 5625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520440"/>
            <a:ext cx="566928" cy="566928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751" y="3673511"/>
            <a:ext cx="260787" cy="26078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3209544"/>
            <a:ext cx="9646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project, start to finish</a:t>
            </a:r>
            <a:endParaRPr lang="en-US" sz="1850" dirty="0"/>
          </a:p>
        </p:txBody>
      </p:sp>
      <p:sp>
        <p:nvSpPr>
          <p:cNvPr id="13" name="Text 9"/>
          <p:cNvSpPr/>
          <p:nvPr/>
        </p:nvSpPr>
        <p:spPr>
          <a:xfrm>
            <a:off x="1691640" y="3721608"/>
            <a:ext cx="9646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costume catalog you met in the Session 7 sample proposals and take apart again on Monday. Working from a project you already know means no minute of the workshop goes on learning a new domain.</a:t>
            </a:r>
            <a:endParaRPr lang="en-US" sz="1550" dirty="0"/>
          </a:p>
        </p:txBody>
      </p:sp>
      <p:sp>
        <p:nvSpPr>
          <p:cNvPr id="14" name="Shape 10"/>
          <p:cNvSpPr/>
          <p:nvPr/>
        </p:nvSpPr>
        <p:spPr>
          <a:xfrm>
            <a:off x="548640" y="4690872"/>
            <a:ext cx="11064240" cy="1463040"/>
          </a:xfrm>
          <a:prstGeom prst="roundRect">
            <a:avLst>
              <a:gd name="adj" fmla="val 5625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5148072"/>
            <a:ext cx="566928" cy="566928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751" y="5301143"/>
            <a:ext cx="260787" cy="26078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837176"/>
            <a:ext cx="9646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Monday's version, and then the fix</a:t>
            </a:r>
            <a:endParaRPr lang="en-US" sz="1850" dirty="0"/>
          </a:p>
        </p:txBody>
      </p:sp>
      <p:sp>
        <p:nvSpPr>
          <p:cNvPr id="18" name="Text 13"/>
          <p:cNvSpPr/>
          <p:nvPr/>
        </p:nvSpPr>
        <p:spPr>
          <a:xfrm>
            <a:off x="1691640" y="5349240"/>
            <a:ext cx="9646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class you'll see each of its diagrams the way that team actually drew them — and then the version that answers what you found wrong with it.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6675120" y="6437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12 · Architecture Workshop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8872" cy="1188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· ROUND 1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35040" y="27432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context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676656"/>
            <a:ext cx="11247120" cy="365760"/>
          </a:xfrm>
          <a:prstGeom prst="roundRect">
            <a:avLst>
              <a:gd name="adj" fmla="val 22500"/>
            </a:avLst>
          </a:prstGeom>
          <a:solidFill>
            <a:srgbClr val="FBECE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676656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6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Monday's sample, §3 — the diagram as the team drew it</a:t>
            </a:r>
            <a:endParaRPr lang="en-US" sz="1400" dirty="0"/>
          </a:p>
        </p:txBody>
      </p:sp>
      <p:pic>
        <p:nvPicPr>
          <p:cNvPr id="7" name="Image 0" descr="/mnt/c/Users/steph26/Documents/Classes/CS301R/CS380/canvas_material/resources/img/backstage-context-flaw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766" y="1115568"/>
            <a:ext cx="10143988" cy="517550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675120" y="6437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12 · Architecture Workshop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8872" cy="1188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· ROUND 2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35040" y="27432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and interfaces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676656"/>
            <a:ext cx="11247120" cy="365760"/>
          </a:xfrm>
          <a:prstGeom prst="roundRect">
            <a:avLst>
              <a:gd name="adj" fmla="val 22500"/>
            </a:avLst>
          </a:prstGeom>
          <a:solidFill>
            <a:srgbClr val="FBECE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676656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6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Monday's sample, §4 — the component diagram as that team drew it</a:t>
            </a:r>
            <a:endParaRPr lang="en-US" sz="1400" dirty="0"/>
          </a:p>
        </p:txBody>
      </p:sp>
      <p:pic>
        <p:nvPicPr>
          <p:cNvPr id="7" name="Image 0" descr="/mnt/c/Users/steph26/Documents/Classes/CS301R/CS380/canvas_material/resources/img/backstage-components-flaw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4535" y="1115568"/>
            <a:ext cx="10832450" cy="517550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675120" y="6437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12 · Architecture Workshop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8872" cy="1188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· ROUND 3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35040" y="27432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core flow, traced — and broken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676656"/>
            <a:ext cx="11247120" cy="365760"/>
          </a:xfrm>
          <a:prstGeom prst="roundRect">
            <a:avLst>
              <a:gd name="adj" fmla="val 22500"/>
            </a:avLst>
          </a:prstGeom>
          <a:solidFill>
            <a:srgbClr val="FBECE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676656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6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Monday's sample, §4 — the core-flow section, in full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1234440"/>
            <a:ext cx="10515600" cy="2788920"/>
          </a:xfrm>
          <a:prstGeom prst="roundRect">
            <a:avLst>
              <a:gd name="adj" fmla="val 2951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143000" y="137160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flow, traced end to end: a volunteer checks out a costume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810512"/>
            <a:ext cx="9875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volunteer searches “bustle” in the Web UI.</a:t>
            </a:r>
            <a:endParaRPr lang="en-US" sz="1550" dirty="0"/>
          </a:p>
          <a:p>
            <a:pPr marL="279400" indent="-2794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queries the database and returns matching items with photos and bin locations.</a:t>
            </a:r>
            <a:endParaRPr lang="en-US" sz="1550" dirty="0"/>
          </a:p>
          <a:p>
            <a:pPr marL="279400" indent="-2794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volunteer opens an item and taps Check out, choosing the actor and show from lists and a due date.</a:t>
            </a:r>
            <a:endParaRPr lang="en-US" sz="1550" dirty="0"/>
          </a:p>
          <a:p>
            <a:pPr marL="279400" indent="-2794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writes a checkout record and marks the item as out.</a:t>
            </a:r>
            <a:endParaRPr lang="en-US" sz="1550" dirty="0"/>
          </a:p>
          <a:p>
            <a:pPr marL="279400" indent="-279400">
              <a:buSzPct val="100000"/>
              <a:buFont typeface="+mj-lt"/>
              <a:buAutoNum type="arabicPeriod" startAt="1"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 UI shows the item as out, with the actor's name and due date.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22960" y="4224528"/>
            <a:ext cx="10515600" cy="1371600"/>
          </a:xfrm>
          <a:prstGeom prst="roundRect">
            <a:avLst>
              <a:gd name="adj" fmla="val 6000"/>
            </a:avLst>
          </a:prstGeom>
          <a:solidFill>
            <a:srgbClr val="FBECE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143000" y="43708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D96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case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43000" y="48006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a request fails, the user sees an error message and can try again.”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43000" y="519379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75120" y="6437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12 · Architecture Workshop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8872" cy="1188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· ROUND 4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35040" y="27432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model, first cut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676656"/>
            <a:ext cx="11247120" cy="365760"/>
          </a:xfrm>
          <a:prstGeom prst="roundRect">
            <a:avLst>
              <a:gd name="adj" fmla="val 22500"/>
            </a:avLst>
          </a:prstGeom>
          <a:solidFill>
            <a:srgbClr val="FBECE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676656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6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Monday's sample, §5 — the data-model section, in full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1234440"/>
            <a:ext cx="10515600" cy="713232"/>
          </a:xfrm>
          <a:prstGeom prst="roundRect">
            <a:avLst>
              <a:gd name="adj" fmla="val 11538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143000" y="1234440"/>
            <a:ext cx="9875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table: Item · Bin · Show · Person · Checkout · PullList — key fields, relationships, MVP or roadmap.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22960" y="2103120"/>
            <a:ext cx="10515600" cy="2148840"/>
          </a:xfrm>
          <a:prstGeom prst="roundRect">
            <a:avLst>
              <a:gd name="adj" fmla="val 383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43000" y="22128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D96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Item table in full:”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88720" y="2578608"/>
            <a:ext cx="9784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F72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          bigint          no    auto        primary key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F72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varchar(120)    no    —           indexed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F72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     varchar(40)     no    'costume'   choices in constants.py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F72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size_label   varchar(20)     yes   NULL        free text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F72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chest_in     numeric(5,2)    yes   NULL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F72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 and seven more rows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10515600" cy="1417320"/>
          </a:xfrm>
          <a:prstGeom prst="roundRect">
            <a:avLst>
              <a:gd name="adj" fmla="val 5806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43000" y="44988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D96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“Search, as implemented:”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4846320"/>
            <a:ext cx="9784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F72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search(request):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F72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 = request.GET.get("q", "").strip()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F72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items = Item.objects.all()          # … and eleven more lines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675120" y="6437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12 · Architecture Workshop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THE WORDS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context — four terms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5440680" cy="1993392"/>
          </a:xfrm>
          <a:prstGeom prst="roundRect">
            <a:avLst>
              <a:gd name="adj" fmla="val 4128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84832"/>
            <a:ext cx="603504" cy="60350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06" y="2247778"/>
            <a:ext cx="277612" cy="2776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27632" y="2084832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boundary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59536" y="2834640"/>
            <a:ext cx="4828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will build, own, and can change. If fixing it means filing a bug with someone else, it belongs outside the box.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172200" y="1810512"/>
            <a:ext cx="5440680" cy="1993392"/>
          </a:xfrm>
          <a:prstGeom prst="roundRect">
            <a:avLst>
              <a:gd name="adj" fmla="val 4128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46520" y="2084832"/>
            <a:ext cx="603504" cy="60350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466" y="2247778"/>
            <a:ext cx="277612" cy="2776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51192" y="2084832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/ user role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6483096" y="2834640"/>
            <a:ext cx="4828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kind of person, named by their job — not a name. The admin and the setup person count.</a:t>
            </a:r>
            <a:endParaRPr lang="en-US" sz="1550" dirty="0"/>
          </a:p>
        </p:txBody>
      </p:sp>
      <p:sp>
        <p:nvSpPr>
          <p:cNvPr id="15" name="Shape 11"/>
          <p:cNvSpPr/>
          <p:nvPr/>
        </p:nvSpPr>
        <p:spPr>
          <a:xfrm>
            <a:off x="548640" y="3968496"/>
            <a:ext cx="5440680" cy="1993392"/>
          </a:xfrm>
          <a:prstGeom prst="roundRect">
            <a:avLst>
              <a:gd name="adj" fmla="val 4128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4242816"/>
            <a:ext cx="603504" cy="60350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906" y="4405762"/>
            <a:ext cx="277612" cy="27761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27632" y="4242816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dependency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59536" y="4992624"/>
            <a:ext cx="4828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API, an auth provider, email, hosting, the app store, GitHub itself. Anything you need and don't control.</a:t>
            </a:r>
            <a:endParaRPr lang="en-US" sz="1550" dirty="0"/>
          </a:p>
        </p:txBody>
      </p:sp>
      <p:sp>
        <p:nvSpPr>
          <p:cNvPr id="20" name="Shape 15"/>
          <p:cNvSpPr/>
          <p:nvPr/>
        </p:nvSpPr>
        <p:spPr>
          <a:xfrm>
            <a:off x="6172200" y="3968496"/>
            <a:ext cx="5440680" cy="1993392"/>
          </a:xfrm>
          <a:prstGeom prst="roundRect">
            <a:avLst>
              <a:gd name="adj" fmla="val 4128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46520" y="4242816"/>
            <a:ext cx="603504" cy="60350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9466" y="4405762"/>
            <a:ext cx="277612" cy="27761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251192" y="4242816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arrow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6483096" y="4992624"/>
            <a:ext cx="4828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direction, labeled with the noun that crosses: "photo upload," "overdue reminder." Never "communicates with."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548640" y="603504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CS 240 or CS 340 ever asked you where your system ends. That's what makes this the hard one.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6675120" y="6437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12 · Architecture Workshop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188720"/>
            <a:ext cx="3291840" cy="3291840"/>
          </a:xfrm>
          <a:prstGeom prst="ellipse">
            <a:avLst/>
          </a:prstGeom>
          <a:solidFill>
            <a:srgbClr val="1C3252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54864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2"/>
          <p:cNvSpPr/>
          <p:nvPr/>
        </p:nvSpPr>
        <p:spPr>
          <a:xfrm>
            <a:off x="795528" y="45720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10 MIN · TEAMS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 the boundary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64240" cy="868680"/>
          </a:xfrm>
          <a:prstGeom prst="roundRect">
            <a:avLst>
              <a:gd name="adj" fmla="val 9474"/>
            </a:avLst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600200"/>
            <a:ext cx="10378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14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whole system as ONE box. Every user role and every external service around it. Label every arrow with what crosses.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11064240" cy="920496"/>
          </a:xfrm>
          <a:prstGeom prst="roundRect">
            <a:avLst>
              <a:gd name="adj" fmla="val 8940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41248" y="2965704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9657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499616" y="2743200"/>
            <a:ext cx="9875520" cy="920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are all your user types? Go back to your Product Definition Brief — then add the ones nobody lists: the admin, the person who does setup, you as maintainer.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791712"/>
            <a:ext cx="11064240" cy="920496"/>
          </a:xfrm>
          <a:prstGeom prst="roundRect">
            <a:avLst>
              <a:gd name="adj" fmla="val 8940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" y="4014216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40142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499616" y="3791712"/>
            <a:ext cx="9875520" cy="920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depend on that you don't control? Include the boring ones: email delivery, hosting, the identity provider.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840224"/>
            <a:ext cx="11064240" cy="920496"/>
          </a:xfrm>
          <a:prstGeom prst="roundRect">
            <a:avLst>
              <a:gd name="adj" fmla="val 8940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" y="5062728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5062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499616" y="4840224"/>
            <a:ext cx="9875520" cy="920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each arrow actually carry? Read one out loud as a sentence: "the borrower sends ___ to the system."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5870448"/>
            <a:ext cx="11064240" cy="585216"/>
          </a:xfrm>
          <a:prstGeom prst="roundRect">
            <a:avLst>
              <a:gd name="adj" fmla="val 14063"/>
            </a:avLst>
          </a:prstGeom>
          <a:solidFill>
            <a:srgbClr val="E4EEF1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8680" y="5870448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test: if it vanished tomorrow, would you have to change code? Then it goes outside the box.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75120" y="6437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12 · Architecture Workshop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THE WORDS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Components &amp; interfaces — four terms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5440680" cy="1993392"/>
          </a:xfrm>
          <a:prstGeom prst="roundRect">
            <a:avLst>
              <a:gd name="adj" fmla="val 4128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84832"/>
            <a:ext cx="603504" cy="60350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06" y="2247778"/>
            <a:ext cx="277612" cy="2776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27632" y="2084832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59536" y="2834640"/>
            <a:ext cx="4828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responsibility, one interface, and a name you could put on a contributor's first task. Not a class — it contains classes.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172200" y="1810512"/>
            <a:ext cx="5440680" cy="1993392"/>
          </a:xfrm>
          <a:prstGeom prst="roundRect">
            <a:avLst>
              <a:gd name="adj" fmla="val 4128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46520" y="2084832"/>
            <a:ext cx="603504" cy="60350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466" y="2247778"/>
            <a:ext cx="277612" cy="2776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51192" y="2084832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Responsibility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6483096" y="2834640"/>
            <a:ext cx="4828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sentence. One reason to change. Chess had five: server, handlers, services, data access, database.</a:t>
            </a:r>
            <a:endParaRPr lang="en-US" sz="1550" dirty="0"/>
          </a:p>
        </p:txBody>
      </p:sp>
      <p:sp>
        <p:nvSpPr>
          <p:cNvPr id="15" name="Shape 11"/>
          <p:cNvSpPr/>
          <p:nvPr/>
        </p:nvSpPr>
        <p:spPr>
          <a:xfrm>
            <a:off x="548640" y="3968496"/>
            <a:ext cx="5440680" cy="1993392"/>
          </a:xfrm>
          <a:prstGeom prst="roundRect">
            <a:avLst>
              <a:gd name="adj" fmla="val 4128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4242816"/>
            <a:ext cx="603504" cy="60350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906" y="4405762"/>
            <a:ext cx="277612" cy="27761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27632" y="4242816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59536" y="4992624"/>
            <a:ext cx="4828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in-process call, HTTP + JSON, a WebSocket, a queue, a scheduled job, a file drop. Rough is the right amount.</a:t>
            </a:r>
            <a:endParaRPr lang="en-US" sz="1550" dirty="0"/>
          </a:p>
        </p:txBody>
      </p:sp>
      <p:sp>
        <p:nvSpPr>
          <p:cNvPr id="20" name="Shape 15"/>
          <p:cNvSpPr/>
          <p:nvPr/>
        </p:nvSpPr>
        <p:spPr>
          <a:xfrm>
            <a:off x="6172200" y="3968496"/>
            <a:ext cx="5440680" cy="1993392"/>
          </a:xfrm>
          <a:prstGeom prst="roundRect">
            <a:avLst>
              <a:gd name="adj" fmla="val 4128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46520" y="4242816"/>
            <a:ext cx="603504" cy="60350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9466" y="4405762"/>
            <a:ext cx="277612" cy="27761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251192" y="4242816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owner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6483096" y="4992624"/>
            <a:ext cx="4828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one box may write each kind of data. Point at it — if your finger lands between two boxes, that's the design question.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548640" y="603504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 six boxes. Fifteen means a class diagram; two called "frontend" and "backend" means you haven't started.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6675120" y="6437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12 · Architecture Workshop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188720"/>
            <a:ext cx="3291840" cy="3291840"/>
          </a:xfrm>
          <a:prstGeom prst="ellipse">
            <a:avLst/>
          </a:prstGeom>
          <a:solidFill>
            <a:srgbClr val="1C3252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54864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2"/>
          <p:cNvSpPr/>
          <p:nvPr/>
        </p:nvSpPr>
        <p:spPr>
          <a:xfrm>
            <a:off x="795528" y="45720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15 MIN · TEAMS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box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64240" cy="868680"/>
          </a:xfrm>
          <a:prstGeom prst="roundRect">
            <a:avLst>
              <a:gd name="adj" fmla="val 9474"/>
            </a:avLst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600200"/>
            <a:ext cx="10378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14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 six components, each with a one-line job written on it. Draw the arrows between them and name what each one carries.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41248" y="283464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834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499616" y="27432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your system does in one sentence — then break that sentence at every "and." Those are your components.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529584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" y="3621024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6210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499616" y="3529584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first self-contained piece of work you'd hand a new contributor? That's a component, and it's a good first issue.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315968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" y="4407408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4407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499616" y="4315968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arrow: is this a function call, an HTTP request, a queue, or a scheduled job? Rough answers are fine; "don't know" is a finding.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5193792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51937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499616" y="5102352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at the box that owns each kind of data. Every piece of state gets exactly one owner.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5870448"/>
            <a:ext cx="11064240" cy="585216"/>
          </a:xfrm>
          <a:prstGeom prst="roundRect">
            <a:avLst>
              <a:gd name="adj" fmla="val 14063"/>
            </a:avLst>
          </a:prstGeom>
          <a:solidFill>
            <a:srgbClr val="E4EEF1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68680" y="5870448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smells to watch for on your own board: the God component · the mystery arrow · data that no box owns.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675120" y="6437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12 · Architecture Workshop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THE WORDS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flow, end to end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66160" cy="3611880"/>
          </a:xfrm>
          <a:prstGeom prst="roundRect">
            <a:avLst>
              <a:gd name="adj" fmla="val 2308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984248" y="2212848"/>
            <a:ext cx="694944" cy="69494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1883" y="2400483"/>
            <a:ext cx="319674" cy="31967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315468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flow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768096" y="3767328"/>
            <a:ext cx="31272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action that, if it didn't work, would make the product pointless. Not the most complex one. Signup is never it.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1828800"/>
            <a:ext cx="3566160" cy="3611880"/>
          </a:xfrm>
          <a:prstGeom prst="roundRect">
            <a:avLst>
              <a:gd name="adj" fmla="val 2308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733288" y="2212848"/>
            <a:ext cx="694944" cy="69494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923" y="2400483"/>
            <a:ext cx="319674" cy="31967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480560" y="315468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trace</a:t>
            </a:r>
            <a:endParaRPr lang="en-US" sz="1950" dirty="0"/>
          </a:p>
        </p:txBody>
      </p:sp>
      <p:sp>
        <p:nvSpPr>
          <p:cNvPr id="14" name="Text 10"/>
          <p:cNvSpPr/>
          <p:nvPr/>
        </p:nvSpPr>
        <p:spPr>
          <a:xfrm>
            <a:off x="4517136" y="3767328"/>
            <a:ext cx="31272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at the user's finger, end at what the user sees. Numbered steps across the boxes you just drew.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8046720" y="1828800"/>
            <a:ext cx="3566160" cy="3611880"/>
          </a:xfrm>
          <a:prstGeom prst="roundRect">
            <a:avLst>
              <a:gd name="adj" fmla="val 2308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482328" y="2212848"/>
            <a:ext cx="694944" cy="69494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9963" y="2400483"/>
            <a:ext cx="319674" cy="31967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229600" y="315468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case</a:t>
            </a:r>
            <a:endParaRPr lang="en-US" sz="1950" dirty="0"/>
          </a:p>
        </p:txBody>
      </p:sp>
      <p:sp>
        <p:nvSpPr>
          <p:cNvPr id="19" name="Text 14"/>
          <p:cNvSpPr/>
          <p:nvPr/>
        </p:nvSpPr>
        <p:spPr>
          <a:xfrm>
            <a:off x="8266176" y="3767328"/>
            <a:ext cx="31272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failures that aren't your code: the service is down, the network drops mid-action, two people act in the same second.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548640" y="5760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did this seven times in CS 240 — one sequence diagram per chess endpoint. Same move, one flow, no tool.</a:t>
            </a:r>
            <a:endParaRPr lang="en-US" sz="1550" dirty="0"/>
          </a:p>
        </p:txBody>
      </p:sp>
      <p:sp>
        <p:nvSpPr>
          <p:cNvPr id="21" name="Text 16"/>
          <p:cNvSpPr/>
          <p:nvPr/>
        </p:nvSpPr>
        <p:spPr>
          <a:xfrm>
            <a:off x="6675120" y="6437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12 · Architecture Workshop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188720"/>
            <a:ext cx="3291840" cy="3291840"/>
          </a:xfrm>
          <a:prstGeom prst="ellipse">
            <a:avLst/>
          </a:prstGeom>
          <a:solidFill>
            <a:srgbClr val="1C3252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54864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2"/>
          <p:cNvSpPr/>
          <p:nvPr/>
        </p:nvSpPr>
        <p:spPr>
          <a:xfrm>
            <a:off x="795528" y="45720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12 MIN · TEAMS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it, then break it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64240" cy="868680"/>
          </a:xfrm>
          <a:prstGeom prst="roundRect">
            <a:avLst>
              <a:gd name="adj" fmla="val 9474"/>
            </a:avLst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600200"/>
            <a:ext cx="10378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14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the steps of your single most important user action across your boxes. Then trace it again in red, when something breaks.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41248" y="283464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834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499616" y="27432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at the user's finger. What do they tap, and what do they see one second later?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529584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" y="3621024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6210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499616" y="3529584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trace needs a box you don't have, add it. If it skips half your boxes, ask whether those are MVP or roadmap.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315968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" y="4407408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4407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499616" y="4315968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in red: pick one thing outside your box from Round 1, turn it off, and trace it again.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5193792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51937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499616" y="5102352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person see, and what can they do next? "Show an error" is not an answer.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5870448"/>
            <a:ext cx="11064240" cy="585216"/>
          </a:xfrm>
          <a:prstGeom prst="roundRect">
            <a:avLst>
              <a:gd name="adj" fmla="val 14063"/>
            </a:avLst>
          </a:prstGeom>
          <a:solidFill>
            <a:srgbClr val="E4EEF1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68680" y="5870448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flow is your vertical slice — milestone 1, and what you demo in November. Choose it on purpose.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675120" y="6437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12 · Architecture Workshop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4 · THE WORDS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model — four reminders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5440680" cy="1993392"/>
          </a:xfrm>
          <a:prstGeom prst="roundRect">
            <a:avLst>
              <a:gd name="adj" fmla="val 4128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84832"/>
            <a:ext cx="603504" cy="60350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06" y="2247778"/>
            <a:ext cx="277612" cy="2776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27632" y="2084832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59536" y="2834640"/>
            <a:ext cx="4828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the system must remember between visits. Usually a noun your user would recognize. Screens are not entities.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172200" y="1810512"/>
            <a:ext cx="5440680" cy="1993392"/>
          </a:xfrm>
          <a:prstGeom prst="roundRect">
            <a:avLst>
              <a:gd name="adj" fmla="val 4128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46520" y="2084832"/>
            <a:ext cx="603504" cy="60350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466" y="2247778"/>
            <a:ext cx="277612" cy="2776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51192" y="2084832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fields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6483096" y="2834640"/>
            <a:ext cx="4828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identifier plus the three to five that matter. Not the column dump — that was Monday's over-specification defect.</a:t>
            </a:r>
            <a:endParaRPr lang="en-US" sz="1550" dirty="0"/>
          </a:p>
        </p:txBody>
      </p:sp>
      <p:sp>
        <p:nvSpPr>
          <p:cNvPr id="15" name="Shape 11"/>
          <p:cNvSpPr/>
          <p:nvPr/>
        </p:nvSpPr>
        <p:spPr>
          <a:xfrm>
            <a:off x="548640" y="3968496"/>
            <a:ext cx="5440680" cy="1993392"/>
          </a:xfrm>
          <a:prstGeom prst="roundRect">
            <a:avLst>
              <a:gd name="adj" fmla="val 4128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4242816"/>
            <a:ext cx="603504" cy="60350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906" y="4405762"/>
            <a:ext cx="277612" cy="27761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27632" y="4242816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59536" y="4992624"/>
            <a:ext cx="4828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One-to-one, one-to-many, many-to-many — and draw the join. Same notation as CS 240, less ceremony.</a:t>
            </a:r>
            <a:endParaRPr lang="en-US" sz="1550" dirty="0"/>
          </a:p>
        </p:txBody>
      </p:sp>
      <p:sp>
        <p:nvSpPr>
          <p:cNvPr id="20" name="Shape 15"/>
          <p:cNvSpPr/>
          <p:nvPr/>
        </p:nvSpPr>
        <p:spPr>
          <a:xfrm>
            <a:off x="6172200" y="3968496"/>
            <a:ext cx="5440680" cy="1993392"/>
          </a:xfrm>
          <a:prstGeom prst="roundRect">
            <a:avLst>
              <a:gd name="adj" fmla="val 4128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46520" y="4242816"/>
            <a:ext cx="603504" cy="60350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9466" y="4405762"/>
            <a:ext cx="277612" cy="27761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251192" y="4242816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or roadmap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6483096" y="4992624"/>
            <a:ext cx="4828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border or dashed. The dashed ones are a scope decision showing up in your data model.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548640" y="603504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 a document store after CS 340? Entities and relationships still come first; access patterns come second.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6675120" y="6437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12 · Architecture Workshop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188720"/>
            <a:ext cx="3291840" cy="3291840"/>
          </a:xfrm>
          <a:prstGeom prst="ellipse">
            <a:avLst/>
          </a:prstGeom>
          <a:solidFill>
            <a:srgbClr val="1C3252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54864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2"/>
          <p:cNvSpPr/>
          <p:nvPr/>
        </p:nvSpPr>
        <p:spPr>
          <a:xfrm>
            <a:off x="795528" y="45720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4 · 10 MIN · TEAMS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system remembers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64240" cy="868680"/>
          </a:xfrm>
          <a:prstGeom prst="roundRect">
            <a:avLst>
              <a:gd name="adj" fmla="val 9474"/>
            </a:avLst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600200"/>
            <a:ext cx="10378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14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Entities, key fields, relationships — boxes and labelled lines on a whiteboard. Then walk your Round 3 trace across them and check.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41248" y="283464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834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499616" y="27432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user see a list of? That's usually an entity. What has to survive between two visits?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529584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" y="3621024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6210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499616" y="3529584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in your trace that reads or writes data must land on an entity. Walk it and point.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315968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" y="4407408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4407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499616" y="4315968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entity must be touched by something. If nothing touches it, it's a roadmap feature that snuck in — dash it.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5193792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51937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499616" y="5102352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entities exist only for features you already called roadmap? Dashed border, and out of the MVP schema.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5870448"/>
            <a:ext cx="11064240" cy="585216"/>
          </a:xfrm>
          <a:prstGeom prst="roundRect">
            <a:avLst>
              <a:gd name="adj" fmla="val 14063"/>
            </a:avLst>
          </a:prstGeom>
          <a:solidFill>
            <a:srgbClr val="E4EEF1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68680" y="5870448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to eight boxes is a semester. Fourteen is a scope problem you just found for free.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675120" y="6437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12 · Architecture Workshop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5 · THE WORDS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decision, in five lines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64240" cy="749808"/>
          </a:xfrm>
          <a:prstGeom prst="roundRect">
            <a:avLst>
              <a:gd name="adj" fmla="val 10976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837944"/>
            <a:ext cx="548640" cy="54864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1986077"/>
            <a:ext cx="252374" cy="25237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36192" y="1737360"/>
            <a:ext cx="3383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0" y="1737360"/>
            <a:ext cx="6355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option you're going with.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48640" y="2587752"/>
            <a:ext cx="11064240" cy="749808"/>
          </a:xfrm>
          <a:prstGeom prst="roundRect">
            <a:avLst>
              <a:gd name="adj" fmla="val 10976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22960" y="2688336"/>
            <a:ext cx="548640" cy="54864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3" y="2836469"/>
            <a:ext cx="252374" cy="25237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36192" y="2587752"/>
            <a:ext cx="3383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considered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5029200" y="2587752"/>
            <a:ext cx="6355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 reasonable team down the hall would actually have picked. A straw man fools nobody.</a:t>
            </a:r>
            <a:endParaRPr lang="en-US" sz="1550" dirty="0"/>
          </a:p>
        </p:txBody>
      </p:sp>
      <p:sp>
        <p:nvSpPr>
          <p:cNvPr id="15" name="Shape 11"/>
          <p:cNvSpPr/>
          <p:nvPr/>
        </p:nvSpPr>
        <p:spPr>
          <a:xfrm>
            <a:off x="548640" y="3438144"/>
            <a:ext cx="11064240" cy="749808"/>
          </a:xfrm>
          <a:prstGeom prst="roundRect">
            <a:avLst>
              <a:gd name="adj" fmla="val 10976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3538728"/>
            <a:ext cx="548640" cy="54864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3" y="3686861"/>
            <a:ext cx="252374" cy="25237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36192" y="3438144"/>
            <a:ext cx="3383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wins, given our goals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029200" y="3438144"/>
            <a:ext cx="6355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YOUR goals and non-goals — not against generic virtues like "it's faster."</a:t>
            </a:r>
            <a:endParaRPr lang="en-US" sz="1550" dirty="0"/>
          </a:p>
        </p:txBody>
      </p:sp>
      <p:sp>
        <p:nvSpPr>
          <p:cNvPr id="20" name="Shape 15"/>
          <p:cNvSpPr/>
          <p:nvPr/>
        </p:nvSpPr>
        <p:spPr>
          <a:xfrm>
            <a:off x="548640" y="4288536"/>
            <a:ext cx="11064240" cy="749808"/>
          </a:xfrm>
          <a:prstGeom prst="roundRect">
            <a:avLst>
              <a:gd name="adj" fmla="val 10976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22960" y="4389120"/>
            <a:ext cx="548640" cy="54864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093" y="4537253"/>
            <a:ext cx="252374" cy="25237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36192" y="4288536"/>
            <a:ext cx="3383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5029200" y="4288536"/>
            <a:ext cx="6355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spike, a benchmark, prior experience — or honestly "none yet." Unlabeled is the only wrong answer.</a:t>
            </a:r>
            <a:endParaRPr lang="en-US" sz="1550" dirty="0"/>
          </a:p>
        </p:txBody>
      </p:sp>
      <p:sp>
        <p:nvSpPr>
          <p:cNvPr id="25" name="Shape 19"/>
          <p:cNvSpPr/>
          <p:nvPr/>
        </p:nvSpPr>
        <p:spPr>
          <a:xfrm>
            <a:off x="548640" y="5138928"/>
            <a:ext cx="11064240" cy="749808"/>
          </a:xfrm>
          <a:prstGeom prst="roundRect">
            <a:avLst>
              <a:gd name="adj" fmla="val 10976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22960" y="5239512"/>
            <a:ext cx="548640" cy="54864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093" y="5387645"/>
            <a:ext cx="252374" cy="25237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36192" y="5138928"/>
            <a:ext cx="3383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our mind</a:t>
            </a:r>
            <a:endParaRPr lang="en-US" sz="1800" dirty="0"/>
          </a:p>
        </p:txBody>
      </p:sp>
      <p:sp>
        <p:nvSpPr>
          <p:cNvPr id="29" name="Text 22"/>
          <p:cNvSpPr/>
          <p:nvPr/>
        </p:nvSpPr>
        <p:spPr>
          <a:xfrm>
            <a:off x="5029200" y="5138928"/>
            <a:ext cx="6355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seconds to write. It's what separates a decision from a commitment.</a:t>
            </a:r>
            <a:endParaRPr lang="en-US" sz="1550" dirty="0"/>
          </a:p>
        </p:txBody>
      </p:sp>
      <p:sp>
        <p:nvSpPr>
          <p:cNvPr id="30" name="Text 23"/>
          <p:cNvSpPr/>
          <p:nvPr/>
        </p:nvSpPr>
        <p:spPr>
          <a:xfrm>
            <a:off x="548640" y="599846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out of template §6. Write the five lines and you've drafted the section.</a:t>
            </a:r>
            <a:endParaRPr lang="en-US" sz="1550" dirty="0"/>
          </a:p>
        </p:txBody>
      </p:sp>
      <p:sp>
        <p:nvSpPr>
          <p:cNvPr id="31" name="Text 24"/>
          <p:cNvSpPr/>
          <p:nvPr/>
        </p:nvSpPr>
        <p:spPr>
          <a:xfrm>
            <a:off x="6675120" y="6437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12 · Architecture Workshop</a:t>
            </a:r>
            <a:endParaRPr lang="en-US" sz="1000" dirty="0"/>
          </a:p>
        </p:txBody>
      </p:sp>
      <p:sp>
        <p:nvSpPr>
          <p:cNvPr id="32" name="Text 25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188720"/>
            <a:ext cx="3291840" cy="3291840"/>
          </a:xfrm>
          <a:prstGeom prst="ellipse">
            <a:avLst/>
          </a:prstGeom>
          <a:solidFill>
            <a:srgbClr val="1C3252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54864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2"/>
          <p:cNvSpPr/>
          <p:nvPr/>
        </p:nvSpPr>
        <p:spPr>
          <a:xfrm>
            <a:off x="795528" y="45720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5 · 10 MIN · TEAMS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Argue two decisions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64240" cy="868680"/>
          </a:xfrm>
          <a:prstGeom prst="roundRect">
            <a:avLst>
              <a:gd name="adj" fmla="val 9474"/>
            </a:avLst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600200"/>
            <a:ext cx="10378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14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two biggest decisions, five lines each. Three sentences of thinking per decision — this is §6 of the template, drafting itself.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41248" y="2834640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834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499616" y="27432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Stuck on which? Name the choice you'd be most annoyed to have to redo in November. That's decision one.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529584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" y="3621024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6210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499616" y="3529584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this sentence: "A reasonable team might have picked ___ instead, and here's why we didn't."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315968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" y="4407408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4407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499616" y="4315968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your reason about your users, your team, or the five weeks? If it's none of the three, it isn't a reason yet.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5193792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51937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499616" y="5102352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have to be true for you to switch? Write it down — that's the last line.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5870448"/>
            <a:ext cx="11064240" cy="585216"/>
          </a:xfrm>
          <a:prstGeom prst="roundRect">
            <a:avLst>
              <a:gd name="adj" fmla="val 14063"/>
            </a:avLst>
          </a:prstGeom>
          <a:solidFill>
            <a:srgbClr val="E4EEF1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68680" y="5870448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criteria here: what your team knows · what five weeks can absorb · what your user's setting requires · what a contributor can install.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675120" y="6437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12 · Architecture Workshop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4754880"/>
            <a:ext cx="3291840" cy="3291840"/>
          </a:xfrm>
          <a:prstGeom prst="ellipse">
            <a:avLst/>
          </a:prstGeom>
          <a:solidFill>
            <a:srgbClr val="1C3252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188720"/>
            <a:ext cx="822960" cy="82296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" y="1410919"/>
            <a:ext cx="378562" cy="3785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212848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29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Photograph every board before anyone erases anything.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548640" y="3429000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34290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Everything, not just the neat parts.
</a:t>
            </a:r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failure arrows and parked ideas too — those become your risks section.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3429000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92240" y="34290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a person per section, out loud.
</a:t>
            </a:r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 context · §4 components + flow · §5 data · §6 decisions. Four sections, four names.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502920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502920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14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photo of a whiteboard is a legitimate diagram for the draft. The boards are the work — tonight is transcription.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675120" y="6437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12 · Architecture Workshop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NEXT CLASS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due, and what's coming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64240" cy="1463040"/>
          </a:xfrm>
          <a:prstGeom prst="roundRect">
            <a:avLst>
              <a:gd name="adj" fmla="val 5625"/>
            </a:avLst>
          </a:prstGeom>
          <a:solidFill>
            <a:srgbClr val="14233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19456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934" y="2367382"/>
            <a:ext cx="294437" cy="29443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1828800"/>
            <a:ext cx="9509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Document draft — end of day tomorrow, Thu, Oct 15
</a:t>
            </a:r>
            <a:pPr indent="0" marL="0">
              <a:lnSpc>
                <a:spcPct val="106000"/>
              </a:lnSpc>
              <a:buNone/>
            </a:pPr>
            <a:r>
              <a:rPr lang="en-US" sz="165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Photographed diagrams + skeleton prose + your two argued decisions. That's a complete draft.</a:t>
            </a:r>
            <a:endParaRPr lang="en-US" sz="1650" dirty="0"/>
          </a:p>
        </p:txBody>
      </p:sp>
      <p:sp>
        <p:nvSpPr>
          <p:cNvPr id="9" name="Shape 6"/>
          <p:cNvSpPr/>
          <p:nvPr/>
        </p:nvSpPr>
        <p:spPr>
          <a:xfrm>
            <a:off x="548640" y="3474720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49040"/>
            <a:ext cx="566928" cy="566928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751" y="3902111"/>
            <a:ext cx="260787" cy="26078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45920" y="347472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Monday, Oct 19
</a:t>
            </a:r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for maintainers — the branching and PR discipline you'll run to December.</a:t>
            </a:r>
            <a:endParaRPr lang="en-US" sz="1550" dirty="0"/>
          </a:p>
        </p:txBody>
      </p:sp>
      <p:sp>
        <p:nvSpPr>
          <p:cNvPr id="13" name="Shape 9"/>
          <p:cNvSpPr/>
          <p:nvPr/>
        </p:nvSpPr>
        <p:spPr>
          <a:xfrm>
            <a:off x="6172200" y="3474720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3749040"/>
            <a:ext cx="566928" cy="566928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311" y="3902111"/>
            <a:ext cx="260787" cy="260787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69480" y="347472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Wednesday, Oct 21
</a:t>
            </a:r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CP5 — Design Document (revised), due end of day, alongside CP6 — Git Workflow Lab.</a:t>
            </a:r>
            <a:endParaRPr lang="en-US" sz="1550" dirty="0"/>
          </a:p>
        </p:txBody>
      </p:sp>
      <p:sp>
        <p:nvSpPr>
          <p:cNvPr id="17" name="Shape 12"/>
          <p:cNvSpPr/>
          <p:nvPr/>
        </p:nvSpPr>
        <p:spPr>
          <a:xfrm>
            <a:off x="548640" y="5029200"/>
            <a:ext cx="11064240" cy="1188720"/>
          </a:xfrm>
          <a:prstGeom prst="roundRect">
            <a:avLst>
              <a:gd name="adj" fmla="val 6923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868680" y="502920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Draft, review, revise — the same loop as the proposal. The revision is what's graded.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675120" y="643737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12 · Architecture Workshop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301R — Session 12 — Architecture &amp; Data-Flow Workshop</dc:title>
  <dc:subject>PptxGenJS Presentation</dc:subject>
  <dc:creator>CS 301R</dc:creator>
  <cp:lastModifiedBy>CS 301R</cp:lastModifiedBy>
  <cp:revision>1</cp:revision>
  <dcterms:created xsi:type="dcterms:W3CDTF">2026-09-24T16:33:50Z</dcterms:created>
  <dcterms:modified xsi:type="dcterms:W3CDTF">2026-09-24T16:33:50Z</dcterms:modified>
</cp:coreProperties>
</file>