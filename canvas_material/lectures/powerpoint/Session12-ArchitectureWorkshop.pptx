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663440"/>
            <a:ext cx="2743200" cy="274320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5727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SOFTWARE ENGINEERING STUDIO 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41248" y="4297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— architecture &amp; data-flow workshop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October 14,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document — and what today produces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64" y="2271004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you'll build it — and why this how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a builder: your teammates, and the contributor who joins in January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six pages plus diagrams, on the course template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03120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124" y="2271004"/>
            <a:ext cx="286024" cy="286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031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leave with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2944368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system-context diagram and a component diagram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flow traced end to end — and traced again when it breaks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first-cut data model, and two decisions argued against real alternatives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52578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you read a design document and took one apart. Today you build the hard 80% of yours, on a whiteboard, in 57 minutes.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 COMES FROM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drawn every one of these before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64" y="2316724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240 · chess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999232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sequence diagrams, one per endpoint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Handlers → Services → DAOs → Database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ERDs — entities, primary and foreign keys, one-to-many and many-to-many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48840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124" y="2316724"/>
            <a:ext cx="286024" cy="286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4884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340 · Tweeter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2999232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and sequence diagrams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— layers, the dependency rule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and the trade-offs behind them</a:t>
            </a:r>
            <a:endParaRPr lang="en-US" sz="1600" dirty="0"/>
          </a:p>
        </p:txBody>
      </p:sp>
      <p:sp>
        <p:nvSpPr>
          <p:cNvPr id="15" name="click-1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click-1"/>
          <p:cNvSpPr/>
          <p:nvPr/>
        </p:nvSpPr>
        <p:spPr>
          <a:xfrm>
            <a:off x="896112" y="5029200"/>
            <a:ext cx="10378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times, the architecture arrived with the assignment.
</a:t>
            </a:r>
            <a:pPr algn="ctr" indent="0" marL="0">
              <a:lnSpc>
                <a:spcPct val="106000"/>
              </a:lnSpc>
              <a:buNone/>
            </a:pPr>
            <a:r>
              <a:rPr lang="en-US" sz="17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never done is decide what goes in the boxes.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ADJUSTMENT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today is one level up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3108960"/>
          </a:xfrm>
          <a:prstGeom prst="roundRect">
            <a:avLst>
              <a:gd name="adj" fmla="val 264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621792" cy="621792"/>
          </a:xfrm>
          <a:prstGeom prst="ellipse">
            <a:avLst/>
          </a:prstGeom>
          <a:solidFill>
            <a:srgbClr val="5F728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64" y="2271004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used 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Class-level. Objects, methods, lifelines, inheritance. The inside of one program.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114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· ChessPiece · UserDAO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440680" cy="3108960"/>
          </a:xfrm>
          <a:prstGeom prst="roundRect">
            <a:avLst>
              <a:gd name="adj" fmla="val 2647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03120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124" y="22710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 is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37960" y="29718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System-level. Components, stores, services, boundaries. How whole pieces fit together.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4114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· the photo store · the theater's wifi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BEED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5422392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75" y="5565587"/>
            <a:ext cx="243962" cy="243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5212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notation instincts, one level up. If a box on your board has a method list, you dropped a level.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rounds — and the draft is mostly written here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92808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04094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1828800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System context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32320" y="18288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§3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0" y="18288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261518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2679192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827325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36192" y="2615184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Components &amp; interfaces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132320" y="261518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§4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9601200" y="261518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548640" y="3401568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3465576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613709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36192" y="3401568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Trace one core flow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132320" y="340156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§4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9601200" y="340156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548640" y="4187952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251960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40009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36192" y="4187952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Data model, first cut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132320" y="418795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§5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601200" y="418795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548640" y="4974336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04672" y="5038344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5186477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36192" y="4974336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Decisions &amp; alternatives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132320" y="49743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§6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9601200" y="497433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50" dirty="0"/>
          </a:p>
        </p:txBody>
      </p:sp>
      <p:sp>
        <p:nvSpPr>
          <p:cNvPr id="35" name="Shape 28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868680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fills a numbered section of the template, in order. What follows is transcription, not composition.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FOR THE ROOM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apply to every board, every round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9456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871" y="2372319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574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has a job.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28800" y="26974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the box, in one sentence. If the sentence needs an "and," that's two boxes.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416052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4338279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40233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carries something nameable.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828800" y="46634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label it, you haven't found a drawing problem — you've found a design question.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548640" y="576072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BEED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57607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on a board. Not a diagramming tool, not UML syntax — nothing gets typed until it gets photographed.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Backstage — the costume catalog from the sample proposals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4825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1" y="220132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28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from one project all session — the costume catalog whose design document you dissect on Monday. You already know the domain, so none of today goes on learning it.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520440"/>
            <a:ext cx="566928" cy="566928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367351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09544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project, start to finish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1691640" y="3721608"/>
            <a:ext cx="9646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costume catalog you met in the Session 7 sample proposals and take apart again on Monday. Working from a project you already know means no minute of the workshop goes on learning a new domain.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48640" y="4690872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148072"/>
            <a:ext cx="566928" cy="566928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530114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3717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Monday's version, and then the fix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691640" y="5349240"/>
            <a:ext cx="9646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you'll see each of its diagrams the way that team actually drew them — and then the version that answers what you found wrong with it.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· ROUND 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0" y="274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76656"/>
            <a:ext cx="11247120" cy="365760"/>
          </a:xfrm>
          <a:prstGeom prst="roundRect">
            <a:avLst>
              <a:gd name="adj" fmla="val 22500"/>
            </a:avLst>
          </a:prstGeom>
          <a:solidFill>
            <a:srgbClr val="FBECE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6766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Monday's sample, §3 — the diagram as the team drew it</a:t>
            </a:r>
            <a:endParaRPr lang="en-US" sz="1400" dirty="0"/>
          </a:p>
        </p:txBody>
      </p:sp>
      <p:pic>
        <p:nvPicPr>
          <p:cNvPr id="7" name="Image 0" descr="/mnt/c/Users/steph26/Documents/Classes/CS301R/CS380/canvas_material/resources/img/backstage-context-flaw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766" y="1115568"/>
            <a:ext cx="10143988" cy="5175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· ROUND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0" y="274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interfaces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76656"/>
            <a:ext cx="11247120" cy="365760"/>
          </a:xfrm>
          <a:prstGeom prst="roundRect">
            <a:avLst>
              <a:gd name="adj" fmla="val 22500"/>
            </a:avLst>
          </a:prstGeom>
          <a:solidFill>
            <a:srgbClr val="FBECE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6766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Monday's sample, §4 — the component diagram as that team drew it</a:t>
            </a:r>
            <a:endParaRPr lang="en-US" sz="1400" dirty="0"/>
          </a:p>
        </p:txBody>
      </p:sp>
      <p:pic>
        <p:nvPicPr>
          <p:cNvPr id="7" name="Image 0" descr="/mnt/c/Users/steph26/Documents/Classes/CS301R/CS380/canvas_material/resources/img/backstage-components-flaw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1115568"/>
            <a:ext cx="10832450" cy="5175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· ROUND 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0" y="274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flow, traced — and broken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76656"/>
            <a:ext cx="11247120" cy="365760"/>
          </a:xfrm>
          <a:prstGeom prst="roundRect">
            <a:avLst>
              <a:gd name="adj" fmla="val 22500"/>
            </a:avLst>
          </a:prstGeom>
          <a:solidFill>
            <a:srgbClr val="FBECE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6766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Monday's sample, §4 — the core-flow section, in full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15600" cy="2788920"/>
          </a:xfrm>
          <a:prstGeom prst="roundRect">
            <a:avLst>
              <a:gd name="adj" fmla="val 295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371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flow, traced end to end: a volunteer checks out a costume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810512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volunteer searches “bustle” in the Web UI.</a:t>
            </a:r>
            <a:endParaRPr lang="en-US" sz="1550" dirty="0"/>
          </a:p>
          <a:p>
            <a:pPr marL="279400" indent="-2794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queries the database and returns matching items with photos and bin locations.</a:t>
            </a:r>
            <a:endParaRPr lang="en-US" sz="1550" dirty="0"/>
          </a:p>
          <a:p>
            <a:pPr marL="279400" indent="-2794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volunteer opens an item and taps Check out, choosing the actor and show from lists and a due date.</a:t>
            </a:r>
            <a:endParaRPr lang="en-US" sz="1550" dirty="0"/>
          </a:p>
          <a:p>
            <a:pPr marL="279400" indent="-2794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writes a checkout record and marks the item as out.</a:t>
            </a:r>
            <a:endParaRPr lang="en-US" sz="1550" dirty="0"/>
          </a:p>
          <a:p>
            <a:pPr marL="279400" indent="-279400"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UI shows the item as out, with the actor's name and due date.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4224528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BECE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4370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 request fails, the user sees an error message and can try again.”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" y="51937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· ROUND 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0" y="2743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first cut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76656"/>
            <a:ext cx="11247120" cy="365760"/>
          </a:xfrm>
          <a:prstGeom prst="roundRect">
            <a:avLst>
              <a:gd name="adj" fmla="val 22500"/>
            </a:avLst>
          </a:prstGeom>
          <a:solidFill>
            <a:srgbClr val="FBECE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6766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Monday's sample, §5 — the data-model section, in full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15600" cy="713232"/>
          </a:xfrm>
          <a:prstGeom prst="roundRect">
            <a:avLst>
              <a:gd name="adj" fmla="val 11538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2344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table: Item · Bin · Show · Person · Checkout · PullList — key fields, relationships, MVP or roadmap.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0515600" cy="2148840"/>
          </a:xfrm>
          <a:prstGeom prst="roundRect">
            <a:avLst>
              <a:gd name="adj" fmla="val 383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2128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Item table in full:”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578608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bigint          no    auto        primary key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varchar(120)    no    —           indexed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   varchar(40)     no    'costume'   choices in constants.py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size_label   varchar(20)     yes   NULL        free text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chest_in     numeric(5,2)    yes   NULL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and seven more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4988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“Search, as implemented:”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8463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search(request):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request.GET.get("q", "").strip()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72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Item.objects.all()          # … and eleven more lines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THE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 — four terms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4777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953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will build, own, and can change. If fixing it means filing a bug with someone else, it belongs outside the box.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24777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user role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8309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of person, named by their job — not a name. The admin and the setup person count.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405762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953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API, an auth provider, email, hosting, the app store, GitHub itself. Anything you need and don't control.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17220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466" y="4405762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arrow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8309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direction, labeled with the noun that crosses: "photo upload," "overdue reminder." Never "communicates with."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CS 240 or CS 340 ever asked you where your system ends. That's what makes this the hard one.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10 MIN ·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boundary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02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system as ONE box. Every user role and every external service around it. Label every arrow with what crosses.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920496"/>
          </a:xfrm>
          <a:prstGeom prst="roundRect">
            <a:avLst>
              <a:gd name="adj" fmla="val 894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96570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65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99616" y="2743200"/>
            <a:ext cx="987552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all your user types? Go back to your Product Definition Brief — then add the ones nobody lists: the admin, the person who does setup, you as maintainer.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1712"/>
            <a:ext cx="11064240" cy="920496"/>
          </a:xfrm>
          <a:prstGeom prst="roundRect">
            <a:avLst>
              <a:gd name="adj" fmla="val 894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014216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99616" y="3791712"/>
            <a:ext cx="987552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depend on that you don't control? Include the boring ones: email delivery, hosting, the identity provider.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40224"/>
            <a:ext cx="11064240" cy="920496"/>
          </a:xfrm>
          <a:prstGeom prst="roundRect">
            <a:avLst>
              <a:gd name="adj" fmla="val 894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506272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6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99616" y="4840224"/>
            <a:ext cx="987552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arrow actually carry? Read one out loud as a sentence: "the borrower sends ___ to the system."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4EE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87044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if it vanished tomorrow, would you have to change code? Then it goes outside the box.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THE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interfaces — four terms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4777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953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responsibility, one interface, and a name you could put on a contributor's first task. Not a class — it contains classes.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24777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8309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One reason to change. Chess had five: server, handlers, services, data access, database.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405762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953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in-process call, HTTP + JSON, a WebSocket, a queue, a scheduled job, a file drop. Rough is the right amount.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17220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466" y="4405762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owner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8309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box may write each kind of data. Point at it — if your finger lands between two boxes, that's the design question.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six boxes. Fifteen means a class diagram; two called "frontend" and "backend" means you haven't started.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15 MIN ·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box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02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six components, each with a one-line job written on it. Draw the arrows between them and name what each one carries.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83464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99616" y="27432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your system does in one sentence — then break that sentence at every "and." Those are your components.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2102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99616" y="352958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first self-contained piece of work you'd hand a new contributor? That's a component, and it's a good first issue.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40740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99616" y="43159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arrow: is this a function call, an HTTP request, a queue, or a scheduled job? Rough answers are fine; "don't know" is a finding.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19379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99616" y="510235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box that owns each kind of data. Every piece of state gets exactly one owner.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4EE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87044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smells to watch for on your own board: the God component · the mystery arrow · data that no box owns.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THE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flow, end to end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4248" y="2212848"/>
            <a:ext cx="694944" cy="69494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883" y="2400483"/>
            <a:ext cx="319674" cy="319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68096" y="376732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action that, if it didn't work, would make the product pointless. Not the most complex one. Signup is never it.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3288" y="2212848"/>
            <a:ext cx="694944" cy="69494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23" y="2400483"/>
            <a:ext cx="319674" cy="3196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154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4517136" y="376732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user's finger, end at what the user sees. Numbered steps across the boxes you just drew.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82328" y="2212848"/>
            <a:ext cx="694944" cy="69494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963" y="2400483"/>
            <a:ext cx="319674" cy="3196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31546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case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8266176" y="376732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that aren't your code: the service is down, the network drops mid-action, two people act in the same second.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48640" y="5760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this seven times in CS 240 — one sequence diagram per chess endpoint. Same move, one flow, no tool.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12 MIN ·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it, then break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02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 steps of your single most important user action across your boxes. Then trace it again in red, when something breaks.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83464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99616" y="27432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user's finger. What do they tap, and what do they see one second later?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2102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99616" y="352958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trace needs a box you don't have, add it. If it skips half your boxes, ask whether those are MVP or roadmap.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40740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99616" y="43159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red: pick one thing outside your box from Round 1, turn it off, and trace it again.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19379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99616" y="510235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person see, and what can they do next? "Show an error" is not an answer.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4EE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87044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flow is your vertical slice — milestone 1, and what you demo in November. Choose it on purpose.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· THE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four reminders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4777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953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the system must remember between visits. Usually a noun your user would recognize. Screens are not entities.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810512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24777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20848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83096" y="2834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identifier plus the three to five that matter. Not the column dump — that was Monday's over-specification defect.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405762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953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One-to-one, one-to-many, many-to-many — and draw the join. Same notation as CS 240, less ceremony.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172200" y="3968496"/>
            <a:ext cx="5440680" cy="1993392"/>
          </a:xfrm>
          <a:prstGeom prst="roundRect">
            <a:avLst>
              <a:gd name="adj" fmla="val 412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2428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466" y="4405762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424281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or roadmap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83096" y="499262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border or dashed. The dashed ones are a scope decision showing up in your data model.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document store after CS 340? Entities and relationships still come first; access patterns come second.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· 10 MIN ·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remembers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02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key fields, relationships — boxes and labelled lines on a whiteboard. Then walk your Round 3 trace across them and check.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83464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99616" y="27432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user see a list of? That's usually an entity. What has to survive between two visits?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2102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99616" y="352958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your trace that reads or writes data must land on an entity. Walk it and point.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40740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99616" y="43159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must be touched by something. If nothing touches it, it's a roadmap feature that snuck in — dash it.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19379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99616" y="510235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entities exist only for features you already called roadmap? Dashed border, and out of the MVP schema.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4EE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87044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eight boxes is a semester. Fourteen is a scope problem you just found for free.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· THE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decision, in five lines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37944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8607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17373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0" y="1737360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 you're going with.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688336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2836469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25877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considered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258775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 reasonable team down the hall would actually have picked. A straw man fools nobody.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686861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343814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wins, given our goals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029200" y="3438144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goals and non-goals — not against generic virtues like "it's faster."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548640" y="428853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53725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36192" y="428853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029200" y="4288536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spike, a benchmark, prior experience — or honestly "none yet." Unlabeled is the only wrong answer.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548640" y="513892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387645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36192" y="513892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our mind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029200" y="5138928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to write. It's what separates a decision from a commitment.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548640" y="59984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out of template §6. Write the five lines and you've drafted the section.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457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· 10 MIN · TEAMS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Argue two decisions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020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two biggest decisions, five lines each. Three sentences of thinking per decision — this is §6 of the template, drafting itself.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83464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99616" y="27432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which? Name the choice you'd be most annoyed to have to redo in November. That's decision one.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2102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99616" y="352958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this sentence: "A reasonable team might have picked ___ instead, and here's why we didn't."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40740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99616" y="43159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reason about your users, your team, or the five weeks? If it's none of the three, it isn't a reason yet.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193792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99616" y="510235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to be true for you to switch? Write it down — that's the last line.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4EE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87044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criteria here: what your team knows · what five weeks can absorb · what your user's setting requires · what a contributor can install.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41091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1284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every board before anyone erases anything.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3429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not just the neat parts.
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failure arrows and parked ideas too — those become your risks section.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3429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3429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person per section, out loud.
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context · §4 components + flow · §5 data · §6 decisions. Four sections, four names.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50292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a whiteboard is a legitimate diagram for the draft. The boards are the work — what follows is transcription.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due, and what's coming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94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36738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82880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draft — end of day Fri, Oct 16
</a:t>
            </a:r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Photographed diagrams + skeleton prose + your two argued decisions. Commit it as docs/design.md and upload a copy to Canvas.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749040"/>
            <a:ext cx="566928" cy="566928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390211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474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Oct 19
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maintainers — the branching and PR discipline you'll run to December.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172200" y="34747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3749040"/>
            <a:ext cx="566928" cy="566928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11" y="390211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3474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Oct 21
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CP5 — Design Document (revised), due end of day, alongside CP6 — Git Workflow Lab.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AF4E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68680" y="5029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review, revise — the same loop as the proposal. The revision is what's graded.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675120" y="6437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12 · Architecture Workshop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301R — Session 12 — Architecture &amp; Data-Flow Workshop</dc:title>
  <dc:subject>PptxGenJS Presentation</dc:subject>
  <dc:creator>CS 301R</dc:creator>
  <cp:lastModifiedBy>CS 301R</cp:lastModifiedBy>
  <cp:revision>1</cp:revision>
  <dcterms:created xsi:type="dcterms:W3CDTF">2026-10-14T15:03:36Z</dcterms:created>
  <dcterms:modified xsi:type="dcterms:W3CDTF">2026-10-14T15:03:36Z</dcterms:modified>
</cp:coreProperties>
</file>