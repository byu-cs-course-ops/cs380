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CP3 at the door — it's due at the start of class. Set the stakes in one line: this is the last session before the hinge, and everything they've done since Week 1 gets six minutes on Wednesday. Today has two halves — how a pitch works and how it's judged, then time to actually build one. They read Peyton Jones and the CP4 assignment, so point at both rather than re-teaching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Make the chain concrete — pitch, peer scores, ranked preferences, a weekend with the proposals, teams announced Monday — because students imagine Pitch Day as a presentation exercise when it is really a selection event. Say why the split exists: evaluating is a live act, committing deserves the documents. Then say the solo line early and without apology; with a small class several projects will run solo, and a student who hears that now pitches more honestly than one who thinks a team is the only passing outcome. Collect CP3 while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minutes. Walk the beats once, then spend the time on the two that students under-serve: feasibility gets the biggest budget and usually gets the least rehearsal, and the ask gets skipped entirely. Tie it to the reading — Peyton Jones's 'if they remember one thing, what is it?' is exactly how you decide what to cut when you're at nine minutes. Warn them that beat 2 must be concrete — walk the room through what a user actually does, step by step, or sketch the one screen that matters. Nobody has built anything yet, so concrete here means a described workflow or a drawn mockup, not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this one. The floor is mechanical and non-negotiable, so state it and move — the contrasts are where the learning is. Kawasaki gives them the numbers; what he doesn't give them is why, which is the next three slides. If anyone objects that 5–7 slides is too few, point at the clock: six minutes across seven slides is fifty seconds a slide, and they will overrun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for both pairs. The first is the one students resist: they think bullets look professional and a photo looks casual, when the photo is the only thing on the slide that constitutes evidence. The second is quick and lands hard — an adjective is what you write when you don't have the number, and this room can hear the difference instantly. Ask whether anyone's proposal — submitted an hour ago — currently says 'many users' or 'a lot of people.' Most rooms go quiet, and that is the lesson: the adjective is already in their writing, and it will be on their slides Wednesday unless they replace it tonight with the number from their discovery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Credit Alley out loud — students should hear that the last three contrasts are a documented finding rather than the instructor's taste, and citing the source of a borrowed method is exactly the behavior this course keeps asking of them. The research measures audience comprehension: people who saw assertion-evidence slides understood and retained more than people who saw the same content as headline-plus-bullets. If a student's architecture is genuinely uncertain, say that a diagram with a question mark on one box is still stronger than logos: it shows where the risk lives, which is beat 3's job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ask-slide move is the highest-leverage thing on this slide and almost nobody does it: during Q&amp;A the audience stares at your last slide for three minutes, so it should be the thing you want them to remember and act on. The agenda point is a throwaway laugh, but it makes the budget concrete — thirty seconds is a third of beat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Nobody has presented here, so don't ask for a volunteer's project to interrogate — model it on the costume-catalog sample instead: put one of the three questions to the room about that project, take a bluffed answer, then an honest one, and let them hear the difference. If you want it personal, ask two or three students to answer only 'what is your riskiest assumption?' about their own project in one sentence — that needs no context from the room. Push hard on the honesty move: students believe admitting a gap loses points, and the rubric rewards the opposite. Name the failure mode you'll actually see Wednesday — a confident-sounding non-answer to a feasibility question, delivered to a room of people who have built software and can hear it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both documents up and let them look. The confusion this prevents is real: students who think classmates grade them either inflate everything or get defensive about their own scores. Say the asymmetry twice. Then make the professionalism argument — scoring peers fairly against shared criteria is the same act as reviewing a PR or evaluating a proposal at work, and it is graded here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rows without reading them verbatim — they have the assignment. Two points earn the time. First, persuasion and recruiting at 25 is the heaviest single criterion, which tells them where to spend rehearsal: the ask and the why-join beat, not the architecture. Second, delivery includes being within time, so overrunning costs points on top of whatever gets cut. Pause on handling of questions and connect it back to the honesty move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sheet they'll hold on Wednesday, so let them look at the whole thing at once. Point out that the left column is the selection criteria, unchanged since Week 3 — they have scored their own ideas against these, so the calibration work is mostly done. Then the right column: the recruiting question with its why line, and the two comment lines that go back anonymized. Say that presenters read those comments, so write the sentence you'd want to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costume-catalog project from Session 7 so nobody is learning to score while scoring their own idea. The 2 is the one to dwell on — 'if there's time' is the single most common hedge in a proposal, and naming it as an unbounded second project makes it visible forever. Name the two errors that produce a 1, because they compound: overestimating the hours that actually exist, and underestimating what each piece of work costs once integration, debugging, and the parts nobody thinks about are counted. Close with the two rules: score each criterion independently, and score against the criteria rather than against the previous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full minute here — this single slide protects the quality of Wednesday's data. Every evaluator in the room is also a presenter, so the defensive no is the path of least resistance, and if everyone takes it the sheet tells the selection nothing and each presenter learns only that the room was busy. Give them the reframe and the tell: a reason about you is bias, a reason about the project is information. The habit generalizes — it's the same move as judging a proposal that competes with your own for budget, and the same reason review boards ask members to declare an interest rather than quietly score low. Same discipline as reviewing a PR that competes with your own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build sheet and hold the room quiet — this is the part they cannot do at home tonight without having decided it here. Circulate and read over shoulders. Two things to catch: a beat-1 evidence line that is still an adjective ('many users'), and a slide list that is really the table of contents of the written proposal. Both are fixable in thirty seconds of conversation now and painful to fix at 11pm.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pairs, start the clock — phone timers are fine — and be strict about standing — delivering seated turns it into reading aloud. Circulate and listen for the front of the pitch: if the problem isn't landing in ninety seconds it will not land on Wednesday. Note the two or three failures the room shares rather than coaching every pair individually; the collective debrief in the wrap is worth more than a third rotation would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fast and concretely — logistics first, because an unclear Pitch Day costs everyone. Say the Monday piece clearly: Wednesday ends with a private ranked slip rather than people sorting into groups, the anchor proposals go up Thursday, and teams are announced Monday — so the weekend reading is real work. Stress the random draw: the order is generated and shown Wednesday at the start of class, so there is no back-of-the-room strategy and nobody gets to watch two pitches first. Everyone prepares to go first. Then the order of operations tonight: rehearse first, build slides second — slides built before the words are decided become the words. End on the line at the top: six minutes to make someone want to build it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Persuade &amp; Recruit</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9 — the pitch workshop</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October 5,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FRAMING — 6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Wednesday actually decides</a:t>
            </a:r>
            <a:endParaRPr lang="en-US" sz="3100" dirty="0"/>
          </a:p>
        </p:txBody>
      </p:sp>
      <p:sp>
        <p:nvSpPr>
          <p:cNvPr id="5" name="Shape 3"/>
          <p:cNvSpPr/>
          <p:nvPr/>
        </p:nvSpPr>
        <p:spPr>
          <a:xfrm>
            <a:off x="548640" y="1828800"/>
            <a:ext cx="2624328" cy="2011680"/>
          </a:xfrm>
          <a:prstGeom prst="roundRect">
            <a:avLst>
              <a:gd name="adj" fmla="val 409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540764" y="2084832"/>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713586" y="2257654"/>
            <a:ext cx="294437" cy="294437"/>
          </a:xfrm>
          <a:prstGeom prst="rect">
            <a:avLst/>
          </a:prstGeom>
        </p:spPr>
      </p:pic>
      <p:sp>
        <p:nvSpPr>
          <p:cNvPr id="8" name="Text 5"/>
          <p:cNvSpPr/>
          <p:nvPr/>
        </p:nvSpPr>
        <p:spPr>
          <a:xfrm>
            <a:off x="694944" y="2852928"/>
            <a:ext cx="2331720" cy="45720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You pitch</a:t>
            </a:r>
            <a:endParaRPr lang="en-US" sz="1700" dirty="0"/>
          </a:p>
        </p:txBody>
      </p:sp>
      <p:sp>
        <p:nvSpPr>
          <p:cNvPr id="9" name="Text 6"/>
          <p:cNvSpPr/>
          <p:nvPr/>
        </p:nvSpPr>
        <p:spPr>
          <a:xfrm>
            <a:off x="694944" y="3310128"/>
            <a:ext cx="2331720" cy="457200"/>
          </a:xfrm>
          <a:prstGeom prst="rect">
            <a:avLst/>
          </a:prstGeom>
          <a:noFill/>
          <a:ln/>
        </p:spPr>
        <p:txBody>
          <a:bodyPr wrap="square" lIns="0" tIns="0" rIns="0" bIns="0" rtlCol="0" anchor="t"/>
          <a:lstStyle/>
          <a:p>
            <a:pPr algn="ctr" indent="0" marL="0">
              <a:buNone/>
            </a:pPr>
            <a:r>
              <a:rPr lang="en-US" sz="1450" dirty="0">
                <a:solidFill>
                  <a:srgbClr val="5F7284"/>
                </a:solidFill>
                <a:latin typeface="Calibri" pitchFamily="34" charset="0"/>
                <a:ea typeface="Calibri" pitchFamily="34" charset="-122"/>
                <a:cs typeface="Calibri" pitchFamily="34" charset="-120"/>
              </a:rPr>
              <a:t>Wed — 6–8 min + Q&amp;A</a:t>
            </a:r>
            <a:endParaRPr lang="en-US" sz="1450" dirty="0"/>
          </a:p>
        </p:txBody>
      </p:sp>
      <p:sp>
        <p:nvSpPr>
          <p:cNvPr id="10" name="Text 7"/>
          <p:cNvSpPr/>
          <p:nvPr/>
        </p:nvSpPr>
        <p:spPr>
          <a:xfrm>
            <a:off x="3154680" y="2651760"/>
            <a:ext cx="256032" cy="365760"/>
          </a:xfrm>
          <a:prstGeom prst="rect">
            <a:avLst/>
          </a:prstGeom>
          <a:noFill/>
          <a:ln/>
        </p:spPr>
        <p:txBody>
          <a:bodyPr wrap="square" lIns="0" tIns="0" rIns="0" bIns="0" rtlCol="0" anchor="ctr"/>
          <a:lstStyle/>
          <a:p>
            <a:pPr algn="ctr" indent="0" marL="0">
              <a:buNone/>
            </a:pPr>
            <a:r>
              <a:rPr lang="en-US" sz="2200" b="1" dirty="0">
                <a:solidFill>
                  <a:srgbClr val="0E6E6D"/>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3410712" y="1828800"/>
            <a:ext cx="2624328" cy="2011680"/>
          </a:xfrm>
          <a:prstGeom prst="roundRect">
            <a:avLst>
              <a:gd name="adj" fmla="val 4091"/>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4402836" y="2084832"/>
            <a:ext cx="640080" cy="640080"/>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4575658" y="2257654"/>
            <a:ext cx="294437" cy="294437"/>
          </a:xfrm>
          <a:prstGeom prst="rect">
            <a:avLst/>
          </a:prstGeom>
        </p:spPr>
      </p:pic>
      <p:sp>
        <p:nvSpPr>
          <p:cNvPr id="14" name="Text 10"/>
          <p:cNvSpPr/>
          <p:nvPr/>
        </p:nvSpPr>
        <p:spPr>
          <a:xfrm>
            <a:off x="3557016" y="2852928"/>
            <a:ext cx="2331720" cy="45720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The room scores</a:t>
            </a:r>
            <a:endParaRPr lang="en-US" sz="1700" dirty="0"/>
          </a:p>
        </p:txBody>
      </p:sp>
      <p:sp>
        <p:nvSpPr>
          <p:cNvPr id="15" name="Text 11"/>
          <p:cNvSpPr/>
          <p:nvPr/>
        </p:nvSpPr>
        <p:spPr>
          <a:xfrm>
            <a:off x="3557016" y="3310128"/>
            <a:ext cx="2331720" cy="457200"/>
          </a:xfrm>
          <a:prstGeom prst="rect">
            <a:avLst/>
          </a:prstGeom>
          <a:noFill/>
          <a:ln/>
        </p:spPr>
        <p:txBody>
          <a:bodyPr wrap="square" lIns="0" tIns="0" rIns="0" bIns="0" rtlCol="0" anchor="t"/>
          <a:lstStyle/>
          <a:p>
            <a:pPr algn="ctr" indent="0" marL="0">
              <a:buNone/>
            </a:pPr>
            <a:r>
              <a:rPr lang="en-US" sz="1450" dirty="0">
                <a:solidFill>
                  <a:srgbClr val="5F7284"/>
                </a:solidFill>
                <a:latin typeface="Calibri" pitchFamily="34" charset="0"/>
                <a:ea typeface="Calibri" pitchFamily="34" charset="-122"/>
                <a:cs typeface="Calibri" pitchFamily="34" charset="-120"/>
              </a:rPr>
              <a:t>Wed — criteria + would you join?</a:t>
            </a:r>
            <a:endParaRPr lang="en-US" sz="1450" dirty="0"/>
          </a:p>
        </p:txBody>
      </p:sp>
      <p:sp>
        <p:nvSpPr>
          <p:cNvPr id="16" name="Text 12"/>
          <p:cNvSpPr/>
          <p:nvPr/>
        </p:nvSpPr>
        <p:spPr>
          <a:xfrm>
            <a:off x="6016752" y="2651760"/>
            <a:ext cx="256032" cy="365760"/>
          </a:xfrm>
          <a:prstGeom prst="rect">
            <a:avLst/>
          </a:prstGeom>
          <a:noFill/>
          <a:ln/>
        </p:spPr>
        <p:txBody>
          <a:bodyPr wrap="square" lIns="0" tIns="0" rIns="0" bIns="0" rtlCol="0" anchor="ctr"/>
          <a:lstStyle/>
          <a:p>
            <a:pPr algn="ctr" indent="0" marL="0">
              <a:buNone/>
            </a:pPr>
            <a:r>
              <a:rPr lang="en-US" sz="2200" b="1" dirty="0">
                <a:solidFill>
                  <a:srgbClr val="0E6E6D"/>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6272784" y="1828800"/>
            <a:ext cx="2624328" cy="2011680"/>
          </a:xfrm>
          <a:prstGeom prst="roundRect">
            <a:avLst>
              <a:gd name="adj" fmla="val 4091"/>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7264908" y="2084832"/>
            <a:ext cx="640080" cy="640080"/>
          </a:xfrm>
          <a:prstGeom prst="ellipse">
            <a:avLst/>
          </a:prstGeom>
          <a:solidFill>
            <a:srgbClr val="12908F"/>
          </a:solidFill>
          <a:ln/>
        </p:spPr>
      </p:sp>
      <p:pic>
        <p:nvPicPr>
          <p:cNvPr id="19" name="Image 2" descr="preencoded.png">    </p:cNvPr>
          <p:cNvPicPr>
            <a:picLocks noChangeAspect="1"/>
          </p:cNvPicPr>
          <p:nvPr/>
        </p:nvPicPr>
        <p:blipFill>
          <a:blip r:embed="rId3"/>
          <a:stretch>
            <a:fillRect/>
          </a:stretch>
        </p:blipFill>
        <p:spPr>
          <a:xfrm>
            <a:off x="7437730" y="2257654"/>
            <a:ext cx="294437" cy="294437"/>
          </a:xfrm>
          <a:prstGeom prst="rect">
            <a:avLst/>
          </a:prstGeom>
        </p:spPr>
      </p:pic>
      <p:sp>
        <p:nvSpPr>
          <p:cNvPr id="20" name="Text 15"/>
          <p:cNvSpPr/>
          <p:nvPr/>
        </p:nvSpPr>
        <p:spPr>
          <a:xfrm>
            <a:off x="6419088" y="2852928"/>
            <a:ext cx="2331720" cy="45720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You read the proposals</a:t>
            </a:r>
            <a:endParaRPr lang="en-US" sz="1700" dirty="0"/>
          </a:p>
        </p:txBody>
      </p:sp>
      <p:sp>
        <p:nvSpPr>
          <p:cNvPr id="21" name="Text 16"/>
          <p:cNvSpPr/>
          <p:nvPr/>
        </p:nvSpPr>
        <p:spPr>
          <a:xfrm>
            <a:off x="6419088" y="3310128"/>
            <a:ext cx="2331720" cy="457200"/>
          </a:xfrm>
          <a:prstGeom prst="rect">
            <a:avLst/>
          </a:prstGeom>
          <a:noFill/>
          <a:ln/>
        </p:spPr>
        <p:txBody>
          <a:bodyPr wrap="square" lIns="0" tIns="0" rIns="0" bIns="0" rtlCol="0" anchor="t"/>
          <a:lstStyle/>
          <a:p>
            <a:pPr algn="ctr" indent="0" marL="0">
              <a:buNone/>
            </a:pPr>
            <a:r>
              <a:rPr lang="en-US" sz="1450" dirty="0">
                <a:solidFill>
                  <a:srgbClr val="5F7284"/>
                </a:solidFill>
                <a:latin typeface="Calibri" pitchFamily="34" charset="0"/>
                <a:ea typeface="Calibri" pitchFamily="34" charset="-122"/>
                <a:cs typeface="Calibri" pitchFamily="34" charset="-120"/>
              </a:rPr>
              <a:t>the weekend — anchors posted</a:t>
            </a:r>
            <a:endParaRPr lang="en-US" sz="1450" dirty="0"/>
          </a:p>
        </p:txBody>
      </p:sp>
      <p:sp>
        <p:nvSpPr>
          <p:cNvPr id="22" name="Text 17"/>
          <p:cNvSpPr/>
          <p:nvPr/>
        </p:nvSpPr>
        <p:spPr>
          <a:xfrm>
            <a:off x="8878824" y="2651760"/>
            <a:ext cx="256032" cy="365760"/>
          </a:xfrm>
          <a:prstGeom prst="rect">
            <a:avLst/>
          </a:prstGeom>
          <a:noFill/>
          <a:ln/>
        </p:spPr>
        <p:txBody>
          <a:bodyPr wrap="square" lIns="0" tIns="0" rIns="0" bIns="0" rtlCol="0" anchor="ctr"/>
          <a:lstStyle/>
          <a:p>
            <a:pPr algn="ctr" indent="0" marL="0">
              <a:buNone/>
            </a:pPr>
            <a:r>
              <a:rPr lang="en-US" sz="2200" b="1" dirty="0">
                <a:solidFill>
                  <a:srgbClr val="0E6E6D"/>
                </a:solidFill>
                <a:latin typeface="Calibri" pitchFamily="34" charset="0"/>
                <a:ea typeface="Calibri" pitchFamily="34" charset="-122"/>
                <a:cs typeface="Calibri" pitchFamily="34" charset="-120"/>
              </a:rPr>
              <a:t>→</a:t>
            </a:r>
            <a:endParaRPr lang="en-US" sz="2200" dirty="0"/>
          </a:p>
        </p:txBody>
      </p:sp>
      <p:sp>
        <p:nvSpPr>
          <p:cNvPr id="23" name="Shape 18"/>
          <p:cNvSpPr/>
          <p:nvPr/>
        </p:nvSpPr>
        <p:spPr>
          <a:xfrm>
            <a:off x="9134856" y="1828800"/>
            <a:ext cx="2624328" cy="2011680"/>
          </a:xfrm>
          <a:prstGeom prst="roundRect">
            <a:avLst>
              <a:gd name="adj" fmla="val 4091"/>
            </a:avLst>
          </a:prstGeom>
          <a:solidFill>
            <a:srgbClr val="14233A"/>
          </a:solidFill>
          <a:ln/>
          <a:effectLst>
            <a:outerShdw sx="100000" sy="100000" kx="0" ky="0" algn="bl" rotWithShape="0" blurRad="88900" dist="38100" dir="5400000">
              <a:srgbClr val="000000">
                <a:alpha val="13000"/>
              </a:srgbClr>
            </a:outerShdw>
          </a:effectLst>
        </p:spPr>
      </p:sp>
      <p:sp>
        <p:nvSpPr>
          <p:cNvPr id="24" name="Shape 19"/>
          <p:cNvSpPr/>
          <p:nvPr/>
        </p:nvSpPr>
        <p:spPr>
          <a:xfrm>
            <a:off x="10126980" y="2084832"/>
            <a:ext cx="640080" cy="640080"/>
          </a:xfrm>
          <a:prstGeom prst="ellipse">
            <a:avLst/>
          </a:prstGeom>
          <a:solidFill>
            <a:srgbClr val="E8A33D"/>
          </a:solidFill>
          <a:ln/>
        </p:spPr>
      </p:sp>
      <p:pic>
        <p:nvPicPr>
          <p:cNvPr id="25" name="Image 3" descr="preencoded.png">    </p:cNvPr>
          <p:cNvPicPr>
            <a:picLocks noChangeAspect="1"/>
          </p:cNvPicPr>
          <p:nvPr/>
        </p:nvPicPr>
        <p:blipFill>
          <a:blip r:embed="rId4"/>
          <a:stretch>
            <a:fillRect/>
          </a:stretch>
        </p:blipFill>
        <p:spPr>
          <a:xfrm>
            <a:off x="10299802" y="2257654"/>
            <a:ext cx="294437" cy="294437"/>
          </a:xfrm>
          <a:prstGeom prst="rect">
            <a:avLst/>
          </a:prstGeom>
        </p:spPr>
      </p:pic>
      <p:sp>
        <p:nvSpPr>
          <p:cNvPr id="26" name="Text 20"/>
          <p:cNvSpPr/>
          <p:nvPr/>
        </p:nvSpPr>
        <p:spPr>
          <a:xfrm>
            <a:off x="9281160" y="2852928"/>
            <a:ext cx="2331720" cy="45720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Teams announced</a:t>
            </a:r>
            <a:endParaRPr lang="en-US" sz="1700" dirty="0"/>
          </a:p>
        </p:txBody>
      </p:sp>
      <p:sp>
        <p:nvSpPr>
          <p:cNvPr id="27" name="Text 21"/>
          <p:cNvSpPr/>
          <p:nvPr/>
        </p:nvSpPr>
        <p:spPr>
          <a:xfrm>
            <a:off x="9281160" y="3310128"/>
            <a:ext cx="2331720" cy="457200"/>
          </a:xfrm>
          <a:prstGeom prst="rect">
            <a:avLst/>
          </a:prstGeom>
          <a:noFill/>
          <a:ln/>
        </p:spPr>
        <p:txBody>
          <a:bodyPr wrap="square" lIns="0" tIns="0" rIns="0" bIns="0" rtlCol="0" anchor="t"/>
          <a:lstStyle/>
          <a:p>
            <a:pPr algn="ctr" indent="0" marL="0">
              <a:buNone/>
            </a:pPr>
            <a:r>
              <a:rPr lang="en-US" sz="1450" dirty="0">
                <a:solidFill>
                  <a:srgbClr val="CFE0E9"/>
                </a:solidFill>
                <a:latin typeface="Calibri" pitchFamily="34" charset="0"/>
                <a:ea typeface="Calibri" pitchFamily="34" charset="-122"/>
                <a:cs typeface="Calibri" pitchFamily="34" charset="-120"/>
              </a:rPr>
              <a:t>Mon, Oct 12</a:t>
            </a:r>
            <a:endParaRPr lang="en-US" sz="1450" dirty="0"/>
          </a:p>
        </p:txBody>
      </p:sp>
      <p:sp>
        <p:nvSpPr>
          <p:cNvPr id="28" name="Shape 22"/>
          <p:cNvSpPr/>
          <p:nvPr/>
        </p:nvSpPr>
        <p:spPr>
          <a:xfrm>
            <a:off x="548640" y="4114800"/>
            <a:ext cx="5440680" cy="1143000"/>
          </a:xfrm>
          <a:prstGeom prst="roundRect">
            <a:avLst>
              <a:gd name="adj" fmla="val 7200"/>
            </a:avLst>
          </a:prstGeom>
          <a:solidFill>
            <a:srgbClr val="F2F6F8"/>
          </a:solidFill>
          <a:ln/>
          <a:effectLst>
            <a:outerShdw sx="100000" sy="100000" kx="0" ky="0" algn="bl" rotWithShape="0" blurRad="88900" dist="38100" dir="5400000">
              <a:srgbClr val="000000">
                <a:alpha val="13000"/>
              </a:srgbClr>
            </a:outerShdw>
          </a:effectLst>
        </p:spPr>
      </p:sp>
      <p:sp>
        <p:nvSpPr>
          <p:cNvPr id="29" name="Text 23"/>
          <p:cNvSpPr/>
          <p:nvPr/>
        </p:nvSpPr>
        <p:spPr>
          <a:xfrm>
            <a:off x="841248" y="4114800"/>
            <a:ext cx="4846320" cy="114300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Evaluate live. Commit deliberately.
</a:t>
            </a:r>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Wednesday you pitch, score, and rank — privately. You commit on Monday, once you have read the proposals.</a:t>
            </a:r>
            <a:endParaRPr lang="en-US" sz="1500" dirty="0"/>
          </a:p>
        </p:txBody>
      </p:sp>
      <p:sp>
        <p:nvSpPr>
          <p:cNvPr id="30" name="Shape 24"/>
          <p:cNvSpPr/>
          <p:nvPr/>
        </p:nvSpPr>
        <p:spPr>
          <a:xfrm>
            <a:off x="6172200" y="4114800"/>
            <a:ext cx="5440680" cy="1143000"/>
          </a:xfrm>
          <a:prstGeom prst="roundRect">
            <a:avLst>
              <a:gd name="adj" fmla="val 7200"/>
            </a:avLst>
          </a:prstGeom>
          <a:solidFill>
            <a:srgbClr val="EAF4EE"/>
          </a:solidFill>
          <a:ln/>
          <a:effectLst>
            <a:outerShdw sx="100000" sy="100000" kx="0" ky="0" algn="bl" rotWithShape="0" blurRad="88900" dist="38100" dir="5400000">
              <a:srgbClr val="000000">
                <a:alpha val="13000"/>
              </a:srgbClr>
            </a:outerShdw>
          </a:effectLst>
        </p:spPr>
      </p:sp>
      <p:sp>
        <p:nvSpPr>
          <p:cNvPr id="31" name="Text 25"/>
          <p:cNvSpPr/>
          <p:nvPr/>
        </p:nvSpPr>
        <p:spPr>
          <a:xfrm>
            <a:off x="6464808" y="4114800"/>
            <a:ext cx="4846320" cy="114300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Solo stays open
</a:t>
            </a:r>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A pitch that doesn't gather a team still proceeds — at solo scope. Not a consolation prize.</a:t>
            </a:r>
            <a:endParaRPr lang="en-US" sz="1500" dirty="0"/>
          </a:p>
        </p:txBody>
      </p:sp>
      <p:sp>
        <p:nvSpPr>
          <p:cNvPr id="32" name="Shape 26"/>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33" name="Text 27"/>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Due now: CP3 Written Proposal — with images of both annotated draft copies.</a:t>
            </a:r>
            <a:endParaRPr lang="en-US" sz="1550" dirty="0"/>
          </a:p>
        </p:txBody>
      </p:sp>
      <p:sp>
        <p:nvSpPr>
          <p:cNvPr id="34" name="Text 2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35" name="Text 2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PITCH ARC — 11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beats, and a budget for each</a:t>
            </a:r>
            <a:endParaRPr lang="en-US" sz="3100" dirty="0"/>
          </a:p>
        </p:txBody>
      </p:sp>
      <p:sp>
        <p:nvSpPr>
          <p:cNvPr id="5" name="Shape 3"/>
          <p:cNvSpPr/>
          <p:nvPr/>
        </p:nvSpPr>
        <p:spPr>
          <a:xfrm>
            <a:off x="548640" y="1783080"/>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29384"/>
            <a:ext cx="365760" cy="365760"/>
          </a:xfrm>
          <a:prstGeom prst="ellipse">
            <a:avLst/>
          </a:prstGeom>
          <a:solidFill>
            <a:srgbClr val="12908F"/>
          </a:solidFill>
          <a:ln/>
        </p:spPr>
      </p:sp>
      <p:sp>
        <p:nvSpPr>
          <p:cNvPr id="7" name="Text 5"/>
          <p:cNvSpPr/>
          <p:nvPr/>
        </p:nvSpPr>
        <p:spPr>
          <a:xfrm>
            <a:off x="804672" y="1929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353312" y="1783080"/>
            <a:ext cx="3200400" cy="65836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Problem &amp; who has it</a:t>
            </a:r>
            <a:endParaRPr lang="en-US" sz="1700" dirty="0"/>
          </a:p>
        </p:txBody>
      </p:sp>
      <p:sp>
        <p:nvSpPr>
          <p:cNvPr id="9" name="Text 7"/>
          <p:cNvSpPr/>
          <p:nvPr/>
        </p:nvSpPr>
        <p:spPr>
          <a:xfrm>
            <a:off x="4572000" y="1783080"/>
            <a:ext cx="777240" cy="65836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~90s</a:t>
            </a:r>
            <a:endParaRPr lang="en-US" sz="1500" dirty="0"/>
          </a:p>
        </p:txBody>
      </p:sp>
      <p:sp>
        <p:nvSpPr>
          <p:cNvPr id="10" name="Text 8"/>
          <p:cNvSpPr/>
          <p:nvPr/>
        </p:nvSpPr>
        <p:spPr>
          <a:xfrm>
            <a:off x="5486400" y="1783080"/>
            <a:ext cx="5852160" cy="658368"/>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Lead with the user and the evidence — not the app.</a:t>
            </a:r>
            <a:endParaRPr lang="en-US" sz="1550" dirty="0"/>
          </a:p>
        </p:txBody>
      </p:sp>
      <p:sp>
        <p:nvSpPr>
          <p:cNvPr id="11" name="Shape 9"/>
          <p:cNvSpPr/>
          <p:nvPr/>
        </p:nvSpPr>
        <p:spPr>
          <a:xfrm>
            <a:off x="548640" y="2542032"/>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12" name="Shape 10"/>
          <p:cNvSpPr/>
          <p:nvPr/>
        </p:nvSpPr>
        <p:spPr>
          <a:xfrm>
            <a:off x="804672" y="2688336"/>
            <a:ext cx="365760" cy="365760"/>
          </a:xfrm>
          <a:prstGeom prst="ellipse">
            <a:avLst/>
          </a:prstGeom>
          <a:solidFill>
            <a:srgbClr val="12908F"/>
          </a:solidFill>
          <a:ln/>
        </p:spPr>
      </p:sp>
      <p:sp>
        <p:nvSpPr>
          <p:cNvPr id="13" name="Text 11"/>
          <p:cNvSpPr/>
          <p:nvPr/>
        </p:nvSpPr>
        <p:spPr>
          <a:xfrm>
            <a:off x="804672" y="26883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353312" y="2542032"/>
            <a:ext cx="3200400" cy="65836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Solution, shown concretely</a:t>
            </a:r>
            <a:endParaRPr lang="en-US" sz="1700" dirty="0"/>
          </a:p>
        </p:txBody>
      </p:sp>
      <p:sp>
        <p:nvSpPr>
          <p:cNvPr id="15" name="Text 13"/>
          <p:cNvSpPr/>
          <p:nvPr/>
        </p:nvSpPr>
        <p:spPr>
          <a:xfrm>
            <a:off x="4572000" y="2542032"/>
            <a:ext cx="777240" cy="65836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~90s</a:t>
            </a:r>
            <a:endParaRPr lang="en-US" sz="1500" dirty="0"/>
          </a:p>
        </p:txBody>
      </p:sp>
      <p:sp>
        <p:nvSpPr>
          <p:cNvPr id="16" name="Text 14"/>
          <p:cNvSpPr/>
          <p:nvPr/>
        </p:nvSpPr>
        <p:spPr>
          <a:xfrm>
            <a:off x="5486400" y="2542032"/>
            <a:ext cx="5852160" cy="658368"/>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What you'd build. The vertical slice, made visible.</a:t>
            </a:r>
            <a:endParaRPr lang="en-US" sz="1550" dirty="0"/>
          </a:p>
        </p:txBody>
      </p:sp>
      <p:sp>
        <p:nvSpPr>
          <p:cNvPr id="17" name="Shape 15"/>
          <p:cNvSpPr/>
          <p:nvPr/>
        </p:nvSpPr>
        <p:spPr>
          <a:xfrm>
            <a:off x="548640" y="3300984"/>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18" name="Shape 16"/>
          <p:cNvSpPr/>
          <p:nvPr/>
        </p:nvSpPr>
        <p:spPr>
          <a:xfrm>
            <a:off x="804672" y="3447288"/>
            <a:ext cx="365760" cy="365760"/>
          </a:xfrm>
          <a:prstGeom prst="ellipse">
            <a:avLst/>
          </a:prstGeom>
          <a:solidFill>
            <a:srgbClr val="12908F"/>
          </a:solidFill>
          <a:ln/>
        </p:spPr>
      </p:sp>
      <p:sp>
        <p:nvSpPr>
          <p:cNvPr id="19" name="Text 17"/>
          <p:cNvSpPr/>
          <p:nvPr/>
        </p:nvSpPr>
        <p:spPr>
          <a:xfrm>
            <a:off x="804672" y="34472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p:nvPr/>
        </p:nvSpPr>
        <p:spPr>
          <a:xfrm>
            <a:off x="1353312" y="3300984"/>
            <a:ext cx="3200400" cy="65836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Why it's feasible</a:t>
            </a:r>
            <a:endParaRPr lang="en-US" sz="1700" dirty="0"/>
          </a:p>
        </p:txBody>
      </p:sp>
      <p:sp>
        <p:nvSpPr>
          <p:cNvPr id="21" name="Text 19"/>
          <p:cNvSpPr/>
          <p:nvPr/>
        </p:nvSpPr>
        <p:spPr>
          <a:xfrm>
            <a:off x="4572000" y="3300984"/>
            <a:ext cx="777240" cy="65836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~2 min</a:t>
            </a:r>
            <a:endParaRPr lang="en-US" sz="1500" dirty="0"/>
          </a:p>
        </p:txBody>
      </p:sp>
      <p:sp>
        <p:nvSpPr>
          <p:cNvPr id="22" name="Text 20"/>
          <p:cNvSpPr/>
          <p:nvPr/>
        </p:nvSpPr>
        <p:spPr>
          <a:xfrm>
            <a:off x="5486400" y="3300984"/>
            <a:ext cx="5852160" cy="658368"/>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Scope, stack, top risk + mitigation. Honest confidence.</a:t>
            </a:r>
            <a:endParaRPr lang="en-US" sz="1550" dirty="0"/>
          </a:p>
        </p:txBody>
      </p:sp>
      <p:sp>
        <p:nvSpPr>
          <p:cNvPr id="23" name="Shape 21"/>
          <p:cNvSpPr/>
          <p:nvPr/>
        </p:nvSpPr>
        <p:spPr>
          <a:xfrm>
            <a:off x="548640" y="4059936"/>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4" name="Shape 22"/>
          <p:cNvSpPr/>
          <p:nvPr/>
        </p:nvSpPr>
        <p:spPr>
          <a:xfrm>
            <a:off x="804672" y="4206240"/>
            <a:ext cx="365760" cy="365760"/>
          </a:xfrm>
          <a:prstGeom prst="ellipse">
            <a:avLst/>
          </a:prstGeom>
          <a:solidFill>
            <a:srgbClr val="12908F"/>
          </a:solidFill>
          <a:ln/>
        </p:spPr>
      </p:sp>
      <p:sp>
        <p:nvSpPr>
          <p:cNvPr id="25" name="Text 23"/>
          <p:cNvSpPr/>
          <p:nvPr/>
        </p:nvSpPr>
        <p:spPr>
          <a:xfrm>
            <a:off x="804672" y="42062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p:nvPr/>
        </p:nvSpPr>
        <p:spPr>
          <a:xfrm>
            <a:off x="1353312" y="4059936"/>
            <a:ext cx="3200400" cy="65836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Why it's worth joining</a:t>
            </a:r>
            <a:endParaRPr lang="en-US" sz="1700" dirty="0"/>
          </a:p>
        </p:txBody>
      </p:sp>
      <p:sp>
        <p:nvSpPr>
          <p:cNvPr id="27" name="Text 25"/>
          <p:cNvSpPr/>
          <p:nvPr/>
        </p:nvSpPr>
        <p:spPr>
          <a:xfrm>
            <a:off x="4572000" y="4059936"/>
            <a:ext cx="777240" cy="65836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~90s</a:t>
            </a:r>
            <a:endParaRPr lang="en-US" sz="1500" dirty="0"/>
          </a:p>
        </p:txBody>
      </p:sp>
      <p:sp>
        <p:nvSpPr>
          <p:cNvPr id="28" name="Text 26"/>
          <p:cNvSpPr/>
          <p:nvPr/>
        </p:nvSpPr>
        <p:spPr>
          <a:xfrm>
            <a:off x="5486400" y="4059936"/>
            <a:ext cx="5852160" cy="658368"/>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What a teammate would get to build. Where it grows.</a:t>
            </a:r>
            <a:endParaRPr lang="en-US" sz="1550" dirty="0"/>
          </a:p>
        </p:txBody>
      </p:sp>
      <p:sp>
        <p:nvSpPr>
          <p:cNvPr id="29" name="Shape 27"/>
          <p:cNvSpPr/>
          <p:nvPr/>
        </p:nvSpPr>
        <p:spPr>
          <a:xfrm>
            <a:off x="548640" y="4818888"/>
            <a:ext cx="11064240" cy="658368"/>
          </a:xfrm>
          <a:prstGeom prst="roundRect">
            <a:avLst>
              <a:gd name="adj" fmla="val 12500"/>
            </a:avLst>
          </a:prstGeom>
          <a:solidFill>
            <a:srgbClr val="E4EEF1"/>
          </a:solidFill>
          <a:ln/>
          <a:effectLst>
            <a:outerShdw sx="100000" sy="100000" kx="0" ky="0" algn="bl" rotWithShape="0" blurRad="88900" dist="38100" dir="5400000">
              <a:srgbClr val="000000">
                <a:alpha val="13000"/>
              </a:srgbClr>
            </a:outerShdw>
          </a:effectLst>
        </p:spPr>
      </p:sp>
      <p:sp>
        <p:nvSpPr>
          <p:cNvPr id="30" name="Shape 28"/>
          <p:cNvSpPr/>
          <p:nvPr/>
        </p:nvSpPr>
        <p:spPr>
          <a:xfrm>
            <a:off x="804672" y="4965192"/>
            <a:ext cx="365760" cy="365760"/>
          </a:xfrm>
          <a:prstGeom prst="ellipse">
            <a:avLst/>
          </a:prstGeom>
          <a:solidFill>
            <a:srgbClr val="0E6E6D"/>
          </a:solidFill>
          <a:ln/>
        </p:spPr>
      </p:sp>
      <p:sp>
        <p:nvSpPr>
          <p:cNvPr id="31" name="Text 29"/>
          <p:cNvSpPr/>
          <p:nvPr/>
        </p:nvSpPr>
        <p:spPr>
          <a:xfrm>
            <a:off x="804672" y="496519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2" name="Text 30"/>
          <p:cNvSpPr/>
          <p:nvPr/>
        </p:nvSpPr>
        <p:spPr>
          <a:xfrm>
            <a:off x="1353312" y="4818888"/>
            <a:ext cx="3200400" cy="65836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ask</a:t>
            </a:r>
            <a:endParaRPr lang="en-US" sz="1700" dirty="0"/>
          </a:p>
        </p:txBody>
      </p:sp>
      <p:sp>
        <p:nvSpPr>
          <p:cNvPr id="33" name="Text 31"/>
          <p:cNvSpPr/>
          <p:nvPr/>
        </p:nvSpPr>
        <p:spPr>
          <a:xfrm>
            <a:off x="4572000" y="4818888"/>
            <a:ext cx="777240" cy="65836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~30s</a:t>
            </a:r>
            <a:endParaRPr lang="en-US" sz="1500" dirty="0"/>
          </a:p>
        </p:txBody>
      </p:sp>
      <p:sp>
        <p:nvSpPr>
          <p:cNvPr id="34" name="Text 32"/>
          <p:cNvSpPr/>
          <p:nvPr/>
        </p:nvSpPr>
        <p:spPr>
          <a:xfrm>
            <a:off x="5486400" y="4818888"/>
            <a:ext cx="5852160" cy="658368"/>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Explicit: how many teammates, and what you'd build first.</a:t>
            </a:r>
            <a:endParaRPr lang="en-US" sz="1550" dirty="0"/>
          </a:p>
        </p:txBody>
      </p:sp>
      <p:sp>
        <p:nvSpPr>
          <p:cNvPr id="35" name="Shape 33"/>
          <p:cNvSpPr/>
          <p:nvPr/>
        </p:nvSpPr>
        <p:spPr>
          <a:xfrm>
            <a:off x="548640" y="5605272"/>
            <a:ext cx="11064240" cy="685800"/>
          </a:xfrm>
          <a:prstGeom prst="roundRect">
            <a:avLst>
              <a:gd name="adj" fmla="val 12000"/>
            </a:avLst>
          </a:prstGeom>
          <a:solidFill>
            <a:srgbClr val="FBECE8"/>
          </a:solidFill>
          <a:ln/>
          <a:effectLst>
            <a:outerShdw sx="100000" sy="100000" kx="0" ky="0" algn="bl" rotWithShape="0" blurRad="88900" dist="38100" dir="5400000">
              <a:srgbClr val="000000">
                <a:alpha val="13000"/>
              </a:srgbClr>
            </a:outerShdw>
          </a:effectLst>
        </p:spPr>
      </p:sp>
      <p:sp>
        <p:nvSpPr>
          <p:cNvPr id="36" name="Text 34"/>
          <p:cNvSpPr/>
          <p:nvPr/>
        </p:nvSpPr>
        <p:spPr>
          <a:xfrm>
            <a:off x="868680" y="5605272"/>
            <a:ext cx="10424160" cy="685800"/>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The usual failure:  </a:t>
            </a:r>
            <a:pPr indent="0" marL="0">
              <a:buNone/>
            </a:pPr>
            <a:r>
              <a:rPr lang="en-US" sz="1500" dirty="0">
                <a:solidFill>
                  <a:srgbClr val="1E2A36"/>
                </a:solidFill>
                <a:latin typeface="Calibri" pitchFamily="34" charset="0"/>
                <a:ea typeface="Calibri" pitchFamily="34" charset="-122"/>
                <a:cs typeface="Calibri" pitchFamily="34" charset="-120"/>
              </a:rPr>
              <a:t>five minutes on the problem, thirty seconds on feasibility. The budget is the defense — rehearse against a clock.</a:t>
            </a:r>
            <a:endParaRPr lang="en-US" sz="1500" dirty="0"/>
          </a:p>
        </p:txBody>
      </p:sp>
      <p:sp>
        <p:nvSpPr>
          <p:cNvPr id="37" name="Text 3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38" name="Text 3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SLIDES THAT HELP — 8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floor, then five contrasts</a:t>
            </a:r>
            <a:endParaRPr lang="en-US" sz="3100" dirty="0"/>
          </a:p>
        </p:txBody>
      </p:sp>
      <p:sp>
        <p:nvSpPr>
          <p:cNvPr id="5" name="Shape 3"/>
          <p:cNvSpPr/>
          <p:nvPr/>
        </p:nvSpPr>
        <p:spPr>
          <a:xfrm>
            <a:off x="548640" y="1828800"/>
            <a:ext cx="262432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549908" y="2066544"/>
            <a:ext cx="621792" cy="62179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717792" y="2234428"/>
            <a:ext cx="286024" cy="286024"/>
          </a:xfrm>
          <a:prstGeom prst="rect">
            <a:avLst/>
          </a:prstGeom>
        </p:spPr>
      </p:pic>
      <p:sp>
        <p:nvSpPr>
          <p:cNvPr id="8" name="Text 5"/>
          <p:cNvSpPr/>
          <p:nvPr/>
        </p:nvSpPr>
        <p:spPr>
          <a:xfrm>
            <a:off x="694944" y="2816352"/>
            <a:ext cx="2331720" cy="4572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5–7 slides</a:t>
            </a:r>
            <a:endParaRPr lang="en-US" sz="1800" dirty="0"/>
          </a:p>
        </p:txBody>
      </p:sp>
      <p:sp>
        <p:nvSpPr>
          <p:cNvPr id="9" name="Text 6"/>
          <p:cNvSpPr/>
          <p:nvPr/>
        </p:nvSpPr>
        <p:spPr>
          <a:xfrm>
            <a:off x="694944" y="3291840"/>
            <a:ext cx="2331720" cy="594360"/>
          </a:xfrm>
          <a:prstGeom prst="rect">
            <a:avLst/>
          </a:prstGeom>
          <a:noFill/>
          <a:ln/>
        </p:spPr>
        <p:txBody>
          <a:bodyPr wrap="square" lIns="0" tIns="0" rIns="0" bIns="0" rtlCol="0" anchor="t"/>
          <a:lstStyle/>
          <a:p>
            <a:pPr algn="ctr" indent="0" marL="0">
              <a:lnSpc>
                <a:spcPct val="104000"/>
              </a:lnSpc>
              <a:buNone/>
            </a:pPr>
            <a:r>
              <a:rPr lang="en-US" sz="1500" dirty="0">
                <a:solidFill>
                  <a:srgbClr val="5F7284"/>
                </a:solidFill>
                <a:latin typeface="Calibri" pitchFamily="34" charset="0"/>
                <a:ea typeface="Calibri" pitchFamily="34" charset="-122"/>
                <a:cs typeface="Calibri" pitchFamily="34" charset="-120"/>
              </a:rPr>
              <a:t>Not twenty. You have six minutes.</a:t>
            </a:r>
            <a:endParaRPr lang="en-US" sz="1500" dirty="0"/>
          </a:p>
        </p:txBody>
      </p:sp>
      <p:sp>
        <p:nvSpPr>
          <p:cNvPr id="10" name="Shape 7"/>
          <p:cNvSpPr/>
          <p:nvPr/>
        </p:nvSpPr>
        <p:spPr>
          <a:xfrm>
            <a:off x="3410712" y="1828800"/>
            <a:ext cx="262432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11980" y="2066544"/>
            <a:ext cx="621792" cy="62179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79864" y="2234428"/>
            <a:ext cx="286024" cy="286024"/>
          </a:xfrm>
          <a:prstGeom prst="rect">
            <a:avLst/>
          </a:prstGeom>
        </p:spPr>
      </p:pic>
      <p:sp>
        <p:nvSpPr>
          <p:cNvPr id="13" name="Text 9"/>
          <p:cNvSpPr/>
          <p:nvPr/>
        </p:nvSpPr>
        <p:spPr>
          <a:xfrm>
            <a:off x="3557016" y="2816352"/>
            <a:ext cx="2331720" cy="4572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Nothing under ~30pt</a:t>
            </a:r>
            <a:endParaRPr lang="en-US" sz="1800" dirty="0"/>
          </a:p>
        </p:txBody>
      </p:sp>
      <p:sp>
        <p:nvSpPr>
          <p:cNvPr id="14" name="Text 10"/>
          <p:cNvSpPr/>
          <p:nvPr/>
        </p:nvSpPr>
        <p:spPr>
          <a:xfrm>
            <a:off x="3557016" y="3291840"/>
            <a:ext cx="2331720" cy="594360"/>
          </a:xfrm>
          <a:prstGeom prst="rect">
            <a:avLst/>
          </a:prstGeom>
          <a:noFill/>
          <a:ln/>
        </p:spPr>
        <p:txBody>
          <a:bodyPr wrap="square" lIns="0" tIns="0" rIns="0" bIns="0" rtlCol="0" anchor="t"/>
          <a:lstStyle/>
          <a:p>
            <a:pPr algn="ctr" indent="0" marL="0">
              <a:lnSpc>
                <a:spcPct val="104000"/>
              </a:lnSpc>
              <a:buNone/>
            </a:pPr>
            <a:r>
              <a:rPr lang="en-US" sz="1500" dirty="0">
                <a:solidFill>
                  <a:srgbClr val="5F7284"/>
                </a:solidFill>
                <a:latin typeface="Calibri" pitchFamily="34" charset="0"/>
                <a:ea typeface="Calibri" pitchFamily="34" charset="-122"/>
                <a:cs typeface="Calibri" pitchFamily="34" charset="-120"/>
              </a:rPr>
              <a:t>If it needs 18pt, it belongs in the talk.</a:t>
            </a:r>
            <a:endParaRPr lang="en-US" sz="1500" dirty="0"/>
          </a:p>
        </p:txBody>
      </p:sp>
      <p:sp>
        <p:nvSpPr>
          <p:cNvPr id="15" name="Shape 11"/>
          <p:cNvSpPr/>
          <p:nvPr/>
        </p:nvSpPr>
        <p:spPr>
          <a:xfrm>
            <a:off x="6272784" y="1828800"/>
            <a:ext cx="262432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274052" y="2066544"/>
            <a:ext cx="621792" cy="621792"/>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7441936" y="2234428"/>
            <a:ext cx="286024" cy="286024"/>
          </a:xfrm>
          <a:prstGeom prst="rect">
            <a:avLst/>
          </a:prstGeom>
        </p:spPr>
      </p:pic>
      <p:sp>
        <p:nvSpPr>
          <p:cNvPr id="18" name="Text 13"/>
          <p:cNvSpPr/>
          <p:nvPr/>
        </p:nvSpPr>
        <p:spPr>
          <a:xfrm>
            <a:off x="6419088" y="2816352"/>
            <a:ext cx="2331720" cy="4572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One idea per slide</a:t>
            </a:r>
            <a:endParaRPr lang="en-US" sz="1800" dirty="0"/>
          </a:p>
        </p:txBody>
      </p:sp>
      <p:sp>
        <p:nvSpPr>
          <p:cNvPr id="19" name="Text 14"/>
          <p:cNvSpPr/>
          <p:nvPr/>
        </p:nvSpPr>
        <p:spPr>
          <a:xfrm>
            <a:off x="6419088" y="3291840"/>
            <a:ext cx="2331720" cy="594360"/>
          </a:xfrm>
          <a:prstGeom prst="rect">
            <a:avLst/>
          </a:prstGeom>
          <a:noFill/>
          <a:ln/>
        </p:spPr>
        <p:txBody>
          <a:bodyPr wrap="square" lIns="0" tIns="0" rIns="0" bIns="0" rtlCol="0" anchor="t"/>
          <a:lstStyle/>
          <a:p>
            <a:pPr algn="ctr" indent="0" marL="0">
              <a:lnSpc>
                <a:spcPct val="104000"/>
              </a:lnSpc>
              <a:buNone/>
            </a:pPr>
            <a:r>
              <a:rPr lang="en-US" sz="1500" dirty="0">
                <a:solidFill>
                  <a:srgbClr val="5F7284"/>
                </a:solidFill>
                <a:latin typeface="Calibri" pitchFamily="34" charset="0"/>
                <a:ea typeface="Calibri" pitchFamily="34" charset="-122"/>
                <a:cs typeface="Calibri" pitchFamily="34" charset="-120"/>
              </a:rPr>
              <a:t>The slide makes one claim.</a:t>
            </a:r>
            <a:endParaRPr lang="en-US" sz="1500" dirty="0"/>
          </a:p>
        </p:txBody>
      </p:sp>
      <p:sp>
        <p:nvSpPr>
          <p:cNvPr id="20" name="Shape 15"/>
          <p:cNvSpPr/>
          <p:nvPr/>
        </p:nvSpPr>
        <p:spPr>
          <a:xfrm>
            <a:off x="9134856" y="1828800"/>
            <a:ext cx="262432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10136124" y="2066544"/>
            <a:ext cx="621792" cy="621792"/>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10304008" y="2234428"/>
            <a:ext cx="286024" cy="286024"/>
          </a:xfrm>
          <a:prstGeom prst="rect">
            <a:avLst/>
          </a:prstGeom>
        </p:spPr>
      </p:pic>
      <p:sp>
        <p:nvSpPr>
          <p:cNvPr id="23" name="Text 17"/>
          <p:cNvSpPr/>
          <p:nvPr/>
        </p:nvSpPr>
        <p:spPr>
          <a:xfrm>
            <a:off x="9281160" y="2816352"/>
            <a:ext cx="2331720" cy="4572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Nothing to read aloud</a:t>
            </a:r>
            <a:endParaRPr lang="en-US" sz="1800" dirty="0"/>
          </a:p>
        </p:txBody>
      </p:sp>
      <p:sp>
        <p:nvSpPr>
          <p:cNvPr id="24" name="Text 18"/>
          <p:cNvSpPr/>
          <p:nvPr/>
        </p:nvSpPr>
        <p:spPr>
          <a:xfrm>
            <a:off x="9281160" y="3291840"/>
            <a:ext cx="2331720" cy="594360"/>
          </a:xfrm>
          <a:prstGeom prst="rect">
            <a:avLst/>
          </a:prstGeom>
          <a:noFill/>
          <a:ln/>
        </p:spPr>
        <p:txBody>
          <a:bodyPr wrap="square" lIns="0" tIns="0" rIns="0" bIns="0" rtlCol="0" anchor="t"/>
          <a:lstStyle/>
          <a:p>
            <a:pPr algn="ctr" indent="0" marL="0">
              <a:lnSpc>
                <a:spcPct val="104000"/>
              </a:lnSpc>
              <a:buNone/>
            </a:pPr>
            <a:r>
              <a:rPr lang="en-US" sz="1500" dirty="0">
                <a:solidFill>
                  <a:srgbClr val="5F7284"/>
                </a:solidFill>
                <a:latin typeface="Calibri" pitchFamily="34" charset="0"/>
                <a:ea typeface="Calibri" pitchFamily="34" charset="-122"/>
                <a:cs typeface="Calibri" pitchFamily="34" charset="-120"/>
              </a:rPr>
              <a:t>If you'd read it out, cut it.</a:t>
            </a:r>
            <a:endParaRPr lang="en-US" sz="1500" dirty="0"/>
          </a:p>
        </p:txBody>
      </p:sp>
      <p:sp>
        <p:nvSpPr>
          <p:cNvPr id="25" name="Shape 19"/>
          <p:cNvSpPr/>
          <p:nvPr/>
        </p:nvSpPr>
        <p:spPr>
          <a:xfrm>
            <a:off x="548640" y="4224528"/>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26" name="Text 20"/>
          <p:cNvSpPr/>
          <p:nvPr/>
        </p:nvSpPr>
        <p:spPr>
          <a:xfrm>
            <a:off x="914400" y="4224528"/>
            <a:ext cx="10332720" cy="91440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The principle underneath: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slides are evidence and memory aids — you are the pitch. If the deck could deliver itself, it's a document, and you already submitted the document.</a:t>
            </a:r>
            <a:endParaRPr lang="en-US" sz="1500" dirty="0"/>
          </a:p>
        </p:txBody>
      </p:sp>
      <p:sp>
        <p:nvSpPr>
          <p:cNvPr id="27" name="Shape 21"/>
          <p:cNvSpPr/>
          <p:nvPr/>
        </p:nvSpPr>
        <p:spPr>
          <a:xfrm>
            <a:off x="548640" y="5321808"/>
            <a:ext cx="11064240" cy="868680"/>
          </a:xfrm>
          <a:prstGeom prst="roundRect">
            <a:avLst>
              <a:gd name="adj" fmla="val 9474"/>
            </a:avLst>
          </a:prstGeom>
          <a:solidFill>
            <a:srgbClr val="FBEEDA"/>
          </a:solidFill>
          <a:ln/>
          <a:effectLst>
            <a:outerShdw sx="100000" sy="100000" kx="0" ky="0" algn="bl" rotWithShape="0" blurRad="88900" dist="38100" dir="5400000">
              <a:srgbClr val="000000">
                <a:alpha val="13000"/>
              </a:srgbClr>
            </a:outerShdw>
          </a:effectLst>
        </p:spPr>
      </p:sp>
      <p:sp>
        <p:nvSpPr>
          <p:cNvPr id="28" name="Text 22"/>
          <p:cNvSpPr/>
          <p:nvPr/>
        </p:nvSpPr>
        <p:spPr>
          <a:xfrm>
            <a:off x="868680" y="5321808"/>
            <a:ext cx="10424160" cy="868680"/>
          </a:xfrm>
          <a:prstGeom prst="rect">
            <a:avLst/>
          </a:prstGeom>
          <a:noFill/>
          <a:ln/>
        </p:spPr>
        <p:txBody>
          <a:bodyPr wrap="square" lIns="0" tIns="0" rIns="0" bIns="0" rtlCol="0" anchor="ctr"/>
          <a:lstStyle/>
          <a:p>
            <a:pPr indent="0" marL="0">
              <a:lnSpc>
                <a:spcPct val="103000"/>
              </a:lnSpc>
              <a:buNone/>
            </a:pPr>
            <a:r>
              <a:rPr lang="en-US" sz="1500" b="1" dirty="0">
                <a:solidFill>
                  <a:srgbClr val="0E6E6D"/>
                </a:solidFill>
                <a:latin typeface="Calibri" pitchFamily="34" charset="0"/>
                <a:ea typeface="Calibri" pitchFamily="34" charset="-122"/>
                <a:cs typeface="Calibri" pitchFamily="34" charset="-120"/>
              </a:rPr>
              <a:t>Next five slides: the same claim, made badly and made well.  </a:t>
            </a:r>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Each pair teaches one move you can apply to your own deck tonight.</a:t>
            </a:r>
            <a:endParaRPr lang="en-US" sz="1500" dirty="0"/>
          </a:p>
        </p:txBody>
      </p:sp>
      <p:sp>
        <p:nvSpPr>
          <p:cNvPr id="29"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30"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CONTRAST 1 &amp;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Show the workaround. Say the number.</a:t>
            </a:r>
            <a:endParaRPr lang="en-US" sz="3100" dirty="0"/>
          </a:p>
        </p:txBody>
      </p:sp>
      <p:sp>
        <p:nvSpPr>
          <p:cNvPr id="5" name="Text 3"/>
          <p:cNvSpPr/>
          <p:nvPr/>
        </p:nvSpPr>
        <p:spPr>
          <a:xfrm>
            <a:off x="548640" y="1627632"/>
            <a:ext cx="11064240" cy="27432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The problem slide</a:t>
            </a:r>
            <a:endParaRPr lang="en-US" sz="1400" dirty="0"/>
          </a:p>
        </p:txBody>
      </p:sp>
      <p:sp>
        <p:nvSpPr>
          <p:cNvPr id="6" name="Shape 4"/>
          <p:cNvSpPr/>
          <p:nvPr/>
        </p:nvSpPr>
        <p:spPr>
          <a:xfrm>
            <a:off x="548640" y="1938528"/>
            <a:ext cx="5440680" cy="1874520"/>
          </a:xfrm>
          <a:prstGeom prst="roundRect">
            <a:avLst>
              <a:gd name="adj" fmla="val 439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41248" y="2066544"/>
            <a:ext cx="4846320" cy="329184"/>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A bulleted essay</a:t>
            </a:r>
            <a:endParaRPr lang="en-US" sz="1500" dirty="0"/>
          </a:p>
        </p:txBody>
      </p:sp>
      <p:sp>
        <p:nvSpPr>
          <p:cNvPr id="8" name="Text 6"/>
          <p:cNvSpPr/>
          <p:nvPr/>
        </p:nvSpPr>
        <p:spPr>
          <a:xfrm>
            <a:off x="841248" y="2450592"/>
            <a:ext cx="4846320" cy="121615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 Hard to find items</a:t>
            </a:r>
            <a:endParaRPr lang="en-US" sz="1550" dirty="0"/>
          </a:p>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 Time-consuming</a:t>
            </a:r>
            <a:endParaRPr lang="en-US" sz="1550" dirty="0"/>
          </a:p>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 Error-prone</a:t>
            </a:r>
            <a:endParaRPr lang="en-US" sz="1550" dirty="0"/>
          </a:p>
        </p:txBody>
      </p:sp>
      <p:sp>
        <p:nvSpPr>
          <p:cNvPr id="9" name="Shape 7"/>
          <p:cNvSpPr/>
          <p:nvPr/>
        </p:nvSpPr>
        <p:spPr>
          <a:xfrm>
            <a:off x="6172200" y="1938528"/>
            <a:ext cx="5440680" cy="1874520"/>
          </a:xfrm>
          <a:prstGeom prst="roundRect">
            <a:avLst>
              <a:gd name="adj" fmla="val 439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64808" y="2066544"/>
            <a:ext cx="4846320" cy="329184"/>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A photograph of what they do today</a:t>
            </a:r>
            <a:endParaRPr lang="en-US" sz="1500" dirty="0"/>
          </a:p>
        </p:txBody>
      </p:sp>
      <p:sp>
        <p:nvSpPr>
          <p:cNvPr id="11" name="Text 9"/>
          <p:cNvSpPr/>
          <p:nvPr/>
        </p:nvSpPr>
        <p:spPr>
          <a:xfrm>
            <a:off x="6464808" y="2450592"/>
            <a:ext cx="4846320" cy="121615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The spiral notebook and the shoebox of printed photos, on screen. The photo is the argument.</a:t>
            </a:r>
            <a:endParaRPr lang="en-US" sz="1550" dirty="0"/>
          </a:p>
        </p:txBody>
      </p:sp>
      <p:sp>
        <p:nvSpPr>
          <p:cNvPr id="12" name="Text 10"/>
          <p:cNvSpPr/>
          <p:nvPr/>
        </p:nvSpPr>
        <p:spPr>
          <a:xfrm>
            <a:off x="548640" y="3977640"/>
            <a:ext cx="11064240" cy="274320"/>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The evidence line</a:t>
            </a:r>
            <a:endParaRPr lang="en-US" sz="1400" dirty="0"/>
          </a:p>
        </p:txBody>
      </p:sp>
      <p:sp>
        <p:nvSpPr>
          <p:cNvPr id="13" name="Shape 11"/>
          <p:cNvSpPr/>
          <p:nvPr/>
        </p:nvSpPr>
        <p:spPr>
          <a:xfrm>
            <a:off x="548640" y="4279392"/>
            <a:ext cx="5440680" cy="1783080"/>
          </a:xfrm>
          <a:prstGeom prst="roundRect">
            <a:avLst>
              <a:gd name="adj" fmla="val 4615"/>
            </a:avLst>
          </a:prstGeom>
          <a:solidFill>
            <a:srgbClr val="FBECE8"/>
          </a:solidFill>
          <a:ln/>
          <a:effectLst>
            <a:outerShdw sx="100000" sy="100000" kx="0" ky="0" algn="bl" rotWithShape="0" blurRad="88900" dist="38100" dir="5400000">
              <a:srgbClr val="000000">
                <a:alpha val="13000"/>
              </a:srgbClr>
            </a:outerShdw>
          </a:effectLst>
        </p:spPr>
      </p:sp>
      <p:sp>
        <p:nvSpPr>
          <p:cNvPr id="14" name="Text 12"/>
          <p:cNvSpPr/>
          <p:nvPr/>
        </p:nvSpPr>
        <p:spPr>
          <a:xfrm>
            <a:off x="841248" y="4407408"/>
            <a:ext cx="4846320" cy="329184"/>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An adjective</a:t>
            </a:r>
            <a:endParaRPr lang="en-US" sz="1500" dirty="0"/>
          </a:p>
        </p:txBody>
      </p:sp>
      <p:sp>
        <p:nvSpPr>
          <p:cNvPr id="15" name="Text 13"/>
          <p:cNvSpPr/>
          <p:nvPr/>
        </p:nvSpPr>
        <p:spPr>
          <a:xfrm>
            <a:off x="841248" y="4791456"/>
            <a:ext cx="4846320" cy="112471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"Many users struggle with this today."</a:t>
            </a:r>
            <a:endParaRPr lang="en-US" sz="1550" dirty="0"/>
          </a:p>
        </p:txBody>
      </p:sp>
      <p:sp>
        <p:nvSpPr>
          <p:cNvPr id="16" name="Shape 14"/>
          <p:cNvSpPr/>
          <p:nvPr/>
        </p:nvSpPr>
        <p:spPr>
          <a:xfrm>
            <a:off x="6172200" y="4279392"/>
            <a:ext cx="5440680" cy="1783080"/>
          </a:xfrm>
          <a:prstGeom prst="roundRect">
            <a:avLst>
              <a:gd name="adj" fmla="val 4615"/>
            </a:avLst>
          </a:prstGeom>
          <a:solidFill>
            <a:srgbClr val="EAF4EE"/>
          </a:solidFill>
          <a:ln/>
          <a:effectLst>
            <a:outerShdw sx="100000" sy="100000" kx="0" ky="0" algn="bl" rotWithShape="0" blurRad="88900" dist="38100" dir="5400000">
              <a:srgbClr val="000000">
                <a:alpha val="13000"/>
              </a:srgbClr>
            </a:outerShdw>
          </a:effectLst>
        </p:spPr>
      </p:sp>
      <p:sp>
        <p:nvSpPr>
          <p:cNvPr id="17" name="Text 15"/>
          <p:cNvSpPr/>
          <p:nvPr/>
        </p:nvSpPr>
        <p:spPr>
          <a:xfrm>
            <a:off x="6464808" y="4407408"/>
            <a:ext cx="4846320" cy="329184"/>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A number</a:t>
            </a:r>
            <a:endParaRPr lang="en-US" sz="1500" dirty="0"/>
          </a:p>
        </p:txBody>
      </p:sp>
      <p:sp>
        <p:nvSpPr>
          <p:cNvPr id="18" name="Text 16"/>
          <p:cNvSpPr/>
          <p:nvPr/>
        </p:nvSpPr>
        <p:spPr>
          <a:xfrm>
            <a:off x="6464808" y="4791456"/>
            <a:ext cx="4846320" cy="112471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"3 of the 4 wardrobe leads I interviewed keep inventory on paper."</a:t>
            </a:r>
            <a:endParaRPr lang="en-US" sz="155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CONTRAST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diagram argues. Logos decorate.</a:t>
            </a:r>
            <a:endParaRPr lang="en-US" sz="3100" dirty="0"/>
          </a:p>
        </p:txBody>
      </p:sp>
      <p:sp>
        <p:nvSpPr>
          <p:cNvPr id="5" name="Shape 3"/>
          <p:cNvSpPr/>
          <p:nvPr/>
        </p:nvSpPr>
        <p:spPr>
          <a:xfrm>
            <a:off x="548640" y="1783080"/>
            <a:ext cx="5440680" cy="2331720"/>
          </a:xfrm>
          <a:prstGeom prst="roundRect">
            <a:avLst>
              <a:gd name="adj" fmla="val 3529"/>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841248" y="1911096"/>
            <a:ext cx="4846320" cy="329184"/>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The stack logo collage</a:t>
            </a:r>
            <a:endParaRPr lang="en-US" sz="1500" dirty="0"/>
          </a:p>
        </p:txBody>
      </p:sp>
      <p:sp>
        <p:nvSpPr>
          <p:cNvPr id="7" name="Text 5"/>
          <p:cNvSpPr/>
          <p:nvPr/>
        </p:nvSpPr>
        <p:spPr>
          <a:xfrm>
            <a:off x="841248" y="2295144"/>
            <a:ext cx="4846320" cy="167335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A wall of framework logos. It says you chose tools. It invites "why that stack?" with nothing on screen that answers.</a:t>
            </a:r>
            <a:endParaRPr lang="en-US" sz="1550" dirty="0"/>
          </a:p>
        </p:txBody>
      </p:sp>
      <p:sp>
        <p:nvSpPr>
          <p:cNvPr id="8" name="Shape 6"/>
          <p:cNvSpPr/>
          <p:nvPr/>
        </p:nvSpPr>
        <p:spPr>
          <a:xfrm>
            <a:off x="6172200" y="1783080"/>
            <a:ext cx="5440680" cy="2331720"/>
          </a:xfrm>
          <a:prstGeom prst="roundRect">
            <a:avLst>
              <a:gd name="adj" fmla="val 3529"/>
            </a:avLst>
          </a:prstGeom>
          <a:solidFill>
            <a:srgbClr val="EAF4EE"/>
          </a:solidFill>
          <a:ln/>
          <a:effectLst>
            <a:outerShdw sx="100000" sy="100000" kx="0" ky="0" algn="bl" rotWithShape="0" blurRad="88900" dist="38100" dir="5400000">
              <a:srgbClr val="000000">
                <a:alpha val="13000"/>
              </a:srgbClr>
            </a:outerShdw>
          </a:effectLst>
        </p:spPr>
      </p:sp>
      <p:sp>
        <p:nvSpPr>
          <p:cNvPr id="9" name="Text 7"/>
          <p:cNvSpPr/>
          <p:nvPr/>
        </p:nvSpPr>
        <p:spPr>
          <a:xfrm>
            <a:off x="6464808" y="1911096"/>
            <a:ext cx="4846320" cy="329184"/>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One boxes-and-arrows sketch</a:t>
            </a:r>
            <a:endParaRPr lang="en-US" sz="1500" dirty="0"/>
          </a:p>
        </p:txBody>
      </p:sp>
      <p:sp>
        <p:nvSpPr>
          <p:cNvPr id="10" name="Text 8"/>
          <p:cNvSpPr/>
          <p:nvPr/>
        </p:nvSpPr>
        <p:spPr>
          <a:xfrm>
            <a:off x="6464808" y="2295144"/>
            <a:ext cx="4846320" cy="167335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phone → search → catalog → photo store. One claim about how the slice works, drawn so a skeptic can question it.</a:t>
            </a:r>
            <a:endParaRPr lang="en-US" sz="1550" dirty="0"/>
          </a:p>
        </p:txBody>
      </p:sp>
      <p:sp>
        <p:nvSpPr>
          <p:cNvPr id="11" name="Shape 9"/>
          <p:cNvSpPr/>
          <p:nvPr/>
        </p:nvSpPr>
        <p:spPr>
          <a:xfrm>
            <a:off x="548640" y="4297680"/>
            <a:ext cx="11064240" cy="960120"/>
          </a:xfrm>
          <a:prstGeom prst="roundRect">
            <a:avLst>
              <a:gd name="adj" fmla="val 8571"/>
            </a:avLst>
          </a:prstGeom>
          <a:solidFill>
            <a:srgbClr val="F2F6F8"/>
          </a:solidFill>
          <a:ln/>
          <a:effectLst>
            <a:outerShdw sx="100000" sy="100000" kx="0" ky="0" algn="bl" rotWithShape="0" blurRad="88900" dist="38100" dir="5400000">
              <a:srgbClr val="000000">
                <a:alpha val="13000"/>
              </a:srgbClr>
            </a:outerShdw>
          </a:effectLst>
        </p:spPr>
      </p:sp>
      <p:sp>
        <p:nvSpPr>
          <p:cNvPr id="12" name="Shape 10"/>
          <p:cNvSpPr/>
          <p:nvPr/>
        </p:nvSpPr>
        <p:spPr>
          <a:xfrm>
            <a:off x="868680" y="4498848"/>
            <a:ext cx="548640" cy="548640"/>
          </a:xfrm>
          <a:prstGeom prst="ellipse">
            <a:avLst/>
          </a:prstGeom>
          <a:solidFill>
            <a:srgbClr val="12908F"/>
          </a:solidFill>
          <a:ln/>
        </p:spPr>
      </p:sp>
      <p:pic>
        <p:nvPicPr>
          <p:cNvPr id="13" name="Image 0" descr="preencoded.png">    </p:cNvPr>
          <p:cNvPicPr>
            <a:picLocks noChangeAspect="1"/>
          </p:cNvPicPr>
          <p:nvPr/>
        </p:nvPicPr>
        <p:blipFill>
          <a:blip r:embed="rId1"/>
          <a:stretch>
            <a:fillRect/>
          </a:stretch>
        </p:blipFill>
        <p:spPr>
          <a:xfrm>
            <a:off x="1016813" y="4646981"/>
            <a:ext cx="252374" cy="252374"/>
          </a:xfrm>
          <a:prstGeom prst="rect">
            <a:avLst/>
          </a:prstGeom>
        </p:spPr>
      </p:pic>
      <p:sp>
        <p:nvSpPr>
          <p:cNvPr id="14" name="Text 11"/>
          <p:cNvSpPr/>
          <p:nvPr/>
        </p:nvSpPr>
        <p:spPr>
          <a:xfrm>
            <a:off x="1627632" y="4297680"/>
            <a:ext cx="9692640" cy="96012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A diagram you can be questioned about is worth more than a slide nobody can argue with.</a:t>
            </a:r>
            <a:endParaRPr lang="en-US" sz="1650" dirty="0"/>
          </a:p>
        </p:txBody>
      </p:sp>
      <p:sp>
        <p:nvSpPr>
          <p:cNvPr id="15" name="Shape 12"/>
          <p:cNvSpPr/>
          <p:nvPr/>
        </p:nvSpPr>
        <p:spPr>
          <a:xfrm>
            <a:off x="548640" y="5440680"/>
            <a:ext cx="11064240" cy="749808"/>
          </a:xfrm>
          <a:prstGeom prst="roundRect">
            <a:avLst>
              <a:gd name="adj" fmla="val 10976"/>
            </a:avLst>
          </a:prstGeom>
          <a:solidFill>
            <a:srgbClr val="FBEEDA"/>
          </a:solidFill>
          <a:ln/>
          <a:effectLst>
            <a:outerShdw sx="100000" sy="100000" kx="0" ky="0" algn="bl" rotWithShape="0" blurRad="88900" dist="38100" dir="5400000">
              <a:srgbClr val="000000">
                <a:alpha val="13000"/>
              </a:srgbClr>
            </a:outerShdw>
          </a:effectLst>
        </p:spPr>
      </p:sp>
      <p:sp>
        <p:nvSpPr>
          <p:cNvPr id="16" name="Text 13"/>
          <p:cNvSpPr/>
          <p:nvPr/>
        </p:nvSpPr>
        <p:spPr>
          <a:xfrm>
            <a:off x="868680" y="5440680"/>
            <a:ext cx="10424160" cy="749808"/>
          </a:xfrm>
          <a:prstGeom prst="rect">
            <a:avLst/>
          </a:prstGeom>
          <a:noFill/>
          <a:ln/>
        </p:spPr>
        <p:txBody>
          <a:bodyPr wrap="square" lIns="0" tIns="0" rIns="0" bIns="0" rtlCol="0" anchor="ctr"/>
          <a:lstStyle/>
          <a:p>
            <a:pPr indent="0" marL="0">
              <a:lnSpc>
                <a:spcPct val="103000"/>
              </a:lnSpc>
              <a:buNone/>
            </a:pPr>
            <a:r>
              <a:rPr lang="en-US" sz="1450" b="1" dirty="0">
                <a:solidFill>
                  <a:srgbClr val="0E6E6D"/>
                </a:solidFill>
                <a:latin typeface="Calibri" pitchFamily="34" charset="0"/>
                <a:ea typeface="Calibri" pitchFamily="34" charset="-122"/>
                <a:cs typeface="Calibri" pitchFamily="34" charset="-120"/>
              </a:rPr>
              <a:t>Where this comes from:  </a:t>
            </a:r>
            <a:pPr indent="0" marL="0">
              <a:lnSpc>
                <a:spcPct val="103000"/>
              </a:lnSpc>
              <a:buNone/>
            </a:pPr>
            <a:r>
              <a:rPr lang="en-US" sz="1450" dirty="0">
                <a:solidFill>
                  <a:srgbClr val="1E2A36"/>
                </a:solidFill>
                <a:latin typeface="Calibri" pitchFamily="34" charset="0"/>
                <a:ea typeface="Calibri" pitchFamily="34" charset="-122"/>
                <a:cs typeface="Calibri" pitchFamily="34" charset="-120"/>
              </a:rPr>
              <a:t>Michael Alley's assertion–evidence approach — a sentence assertion, supported by visual evidence. It's in your optional readings, and it's backed by studies of how much an audience actually understands.</a:t>
            </a:r>
            <a:endParaRPr lang="en-US" sz="1450" dirty="0"/>
          </a:p>
        </p:txBody>
      </p:sp>
      <p:sp>
        <p:nvSpPr>
          <p:cNvPr id="17"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18"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CONTRAST 4 &amp; 5</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Spend your last slide on what you want</a:t>
            </a:r>
            <a:endParaRPr lang="en-US" sz="3100" dirty="0"/>
          </a:p>
        </p:txBody>
      </p:sp>
      <p:sp>
        <p:nvSpPr>
          <p:cNvPr id="5" name="Shape 3"/>
          <p:cNvSpPr/>
          <p:nvPr/>
        </p:nvSpPr>
        <p:spPr>
          <a:xfrm>
            <a:off x="548640" y="1783080"/>
            <a:ext cx="5440680" cy="1965960"/>
          </a:xfrm>
          <a:prstGeom prst="roundRect">
            <a:avLst>
              <a:gd name="adj" fmla="val 4186"/>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841248" y="1911096"/>
            <a:ext cx="4846320" cy="329184"/>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"Questions?" in 60-point type</a:t>
            </a:r>
            <a:endParaRPr lang="en-US" sz="1500" dirty="0"/>
          </a:p>
        </p:txBody>
      </p:sp>
      <p:sp>
        <p:nvSpPr>
          <p:cNvPr id="7" name="Text 5"/>
          <p:cNvSpPr/>
          <p:nvPr/>
        </p:nvSpPr>
        <p:spPr>
          <a:xfrm>
            <a:off x="841248" y="2295144"/>
            <a:ext cx="4846320" cy="130759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This slide is on screen for the entire Q&amp;A — the longest-running slide of your pitch, spent on a word.</a:t>
            </a:r>
            <a:endParaRPr lang="en-US" sz="1550" dirty="0"/>
          </a:p>
        </p:txBody>
      </p:sp>
      <p:sp>
        <p:nvSpPr>
          <p:cNvPr id="8" name="Shape 6"/>
          <p:cNvSpPr/>
          <p:nvPr/>
        </p:nvSpPr>
        <p:spPr>
          <a:xfrm>
            <a:off x="6172200" y="1783080"/>
            <a:ext cx="5440680" cy="1965960"/>
          </a:xfrm>
          <a:prstGeom prst="roundRect">
            <a:avLst>
              <a:gd name="adj" fmla="val 4186"/>
            </a:avLst>
          </a:prstGeom>
          <a:solidFill>
            <a:srgbClr val="EAF4EE"/>
          </a:solidFill>
          <a:ln/>
          <a:effectLst>
            <a:outerShdw sx="100000" sy="100000" kx="0" ky="0" algn="bl" rotWithShape="0" blurRad="88900" dist="38100" dir="5400000">
              <a:srgbClr val="000000">
                <a:alpha val="13000"/>
              </a:srgbClr>
            </a:outerShdw>
          </a:effectLst>
        </p:spPr>
      </p:sp>
      <p:sp>
        <p:nvSpPr>
          <p:cNvPr id="9" name="Text 7"/>
          <p:cNvSpPr/>
          <p:nvPr/>
        </p:nvSpPr>
        <p:spPr>
          <a:xfrm>
            <a:off x="6464808" y="1911096"/>
            <a:ext cx="4846320" cy="329184"/>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The ask, left standing</a:t>
            </a:r>
            <a:endParaRPr lang="en-US" sz="1500" dirty="0"/>
          </a:p>
        </p:txBody>
      </p:sp>
      <p:sp>
        <p:nvSpPr>
          <p:cNvPr id="10" name="Text 8"/>
          <p:cNvSpPr/>
          <p:nvPr/>
        </p:nvSpPr>
        <p:spPr>
          <a:xfrm>
            <a:off x="6464808" y="2295144"/>
            <a:ext cx="4846320" cy="130759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"Looking for 1–3 teammates. First thing we'd build: the photo-tagging flow." Still there while they decide.</a:t>
            </a:r>
            <a:endParaRPr lang="en-US" sz="1550" dirty="0"/>
          </a:p>
        </p:txBody>
      </p:sp>
      <p:sp>
        <p:nvSpPr>
          <p:cNvPr id="11" name="Shape 9"/>
          <p:cNvSpPr/>
          <p:nvPr/>
        </p:nvSpPr>
        <p:spPr>
          <a:xfrm>
            <a:off x="548640" y="3950208"/>
            <a:ext cx="5440680" cy="1691640"/>
          </a:xfrm>
          <a:prstGeom prst="roundRect">
            <a:avLst>
              <a:gd name="adj" fmla="val 4865"/>
            </a:avLst>
          </a:prstGeom>
          <a:solidFill>
            <a:srgbClr val="FBECE8"/>
          </a:solidFill>
          <a:ln/>
          <a:effectLst>
            <a:outerShdw sx="100000" sy="100000" kx="0" ky="0" algn="bl" rotWithShape="0" blurRad="88900" dist="38100" dir="5400000">
              <a:srgbClr val="000000">
                <a:alpha val="13000"/>
              </a:srgbClr>
            </a:outerShdw>
          </a:effectLst>
        </p:spPr>
      </p:sp>
      <p:sp>
        <p:nvSpPr>
          <p:cNvPr id="12" name="Text 10"/>
          <p:cNvSpPr/>
          <p:nvPr/>
        </p:nvSpPr>
        <p:spPr>
          <a:xfrm>
            <a:off x="841248" y="4078224"/>
            <a:ext cx="4846320" cy="329184"/>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An agenda slide</a:t>
            </a:r>
            <a:endParaRPr lang="en-US" sz="1500" dirty="0"/>
          </a:p>
        </p:txBody>
      </p:sp>
      <p:sp>
        <p:nvSpPr>
          <p:cNvPr id="13" name="Text 11"/>
          <p:cNvSpPr/>
          <p:nvPr/>
        </p:nvSpPr>
        <p:spPr>
          <a:xfrm>
            <a:off x="841248" y="4462272"/>
            <a:ext cx="4846320" cy="103327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A six-minute talk does not need a table of contents.</a:t>
            </a:r>
            <a:endParaRPr lang="en-US" sz="1550" dirty="0"/>
          </a:p>
        </p:txBody>
      </p:sp>
      <p:sp>
        <p:nvSpPr>
          <p:cNvPr id="14" name="Shape 12"/>
          <p:cNvSpPr/>
          <p:nvPr/>
        </p:nvSpPr>
        <p:spPr>
          <a:xfrm>
            <a:off x="6172200" y="3950208"/>
            <a:ext cx="5440680" cy="1691640"/>
          </a:xfrm>
          <a:prstGeom prst="roundRect">
            <a:avLst>
              <a:gd name="adj" fmla="val 4865"/>
            </a:avLst>
          </a:prstGeom>
          <a:solidFill>
            <a:srgbClr val="EAF4EE"/>
          </a:solidFill>
          <a:ln/>
          <a:effectLst>
            <a:outerShdw sx="100000" sy="100000" kx="0" ky="0" algn="bl" rotWithShape="0" blurRad="88900" dist="38100" dir="5400000">
              <a:srgbClr val="000000">
                <a:alpha val="13000"/>
              </a:srgbClr>
            </a:outerShdw>
          </a:effectLst>
        </p:spPr>
      </p:sp>
      <p:sp>
        <p:nvSpPr>
          <p:cNvPr id="15" name="Text 13"/>
          <p:cNvSpPr/>
          <p:nvPr/>
        </p:nvSpPr>
        <p:spPr>
          <a:xfrm>
            <a:off x="6464808" y="4078224"/>
            <a:ext cx="4846320" cy="329184"/>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Thirty more seconds of the problem</a:t>
            </a:r>
            <a:endParaRPr lang="en-US" sz="1500" dirty="0"/>
          </a:p>
        </p:txBody>
      </p:sp>
      <p:sp>
        <p:nvSpPr>
          <p:cNvPr id="16" name="Text 14"/>
          <p:cNvSpPr/>
          <p:nvPr/>
        </p:nvSpPr>
        <p:spPr>
          <a:xfrm>
            <a:off x="6464808" y="4462272"/>
            <a:ext cx="4846320" cy="1033272"/>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Cutting the agenda buys back the time your evidence needs.</a:t>
            </a:r>
            <a:endParaRPr lang="en-US" sz="1550" dirty="0"/>
          </a:p>
        </p:txBody>
      </p:sp>
      <p:sp>
        <p:nvSpPr>
          <p:cNvPr id="17" name="Shape 15"/>
          <p:cNvSpPr/>
          <p:nvPr/>
        </p:nvSpPr>
        <p:spPr>
          <a:xfrm>
            <a:off x="548640" y="5852160"/>
            <a:ext cx="11064240" cy="566928"/>
          </a:xfrm>
          <a:prstGeom prst="roundRect">
            <a:avLst>
              <a:gd name="adj" fmla="val 14516"/>
            </a:avLst>
          </a:prstGeom>
          <a:solidFill>
            <a:srgbClr val="14233A"/>
          </a:solidFill>
          <a:ln/>
          <a:effectLst>
            <a:outerShdw sx="100000" sy="100000" kx="0" ky="0" algn="bl" rotWithShape="0" blurRad="88900" dist="38100" dir="5400000">
              <a:srgbClr val="000000">
                <a:alpha val="13000"/>
              </a:srgbClr>
            </a:outerShdw>
          </a:effectLst>
        </p:spPr>
      </p:sp>
      <p:sp>
        <p:nvSpPr>
          <p:cNvPr id="18" name="Text 16"/>
          <p:cNvSpPr/>
          <p:nvPr/>
        </p:nvSpPr>
        <p:spPr>
          <a:xfrm>
            <a:off x="822960" y="5852160"/>
            <a:ext cx="10515600"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Every slide is competing for six minutes. Make each one earn its place.</a:t>
            </a:r>
            <a:endParaRPr lang="en-US" sz="155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Q&amp;A UNDER PRESSURE — 8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Composure and honesty, not omniscience</a:t>
            </a:r>
            <a:endParaRPr lang="en-US" sz="3100" dirty="0"/>
          </a:p>
        </p:txBody>
      </p:sp>
      <p:sp>
        <p:nvSpPr>
          <p:cNvPr id="5" name="Shape 3"/>
          <p:cNvSpPr/>
          <p:nvPr/>
        </p:nvSpPr>
        <p:spPr>
          <a:xfrm>
            <a:off x="548640" y="1783080"/>
            <a:ext cx="11064240" cy="777240"/>
          </a:xfrm>
          <a:prstGeom prst="roundRect">
            <a:avLst>
              <a:gd name="adj" fmla="val 10588"/>
            </a:avLst>
          </a:prstGeom>
          <a:solidFill>
            <a:srgbClr val="E4EEF1"/>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10424160" cy="77724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Graded as:  </a:t>
            </a:r>
            <a:pPr indent="0" marL="0">
              <a:buNone/>
            </a:pPr>
            <a:r>
              <a:rPr lang="en-US" sz="1550" dirty="0">
                <a:solidFill>
                  <a:srgbClr val="1E2A36"/>
                </a:solidFill>
                <a:latin typeface="Calibri" pitchFamily="34" charset="0"/>
                <a:ea typeface="Calibri" pitchFamily="34" charset="-122"/>
                <a:cs typeface="Calibri" pitchFamily="34" charset="-120"/>
              </a:rPr>
              <a:t>CP4 — Handling of questions, 15 points of 100, scored by the instructor. Your peers score the same behavior as Preparedness.</a:t>
            </a:r>
            <a:endParaRPr lang="en-US" sz="1550" dirty="0"/>
          </a:p>
        </p:txBody>
      </p:sp>
      <p:sp>
        <p:nvSpPr>
          <p:cNvPr id="7" name="Shape 5"/>
          <p:cNvSpPr/>
          <p:nvPr/>
        </p:nvSpPr>
        <p:spPr>
          <a:xfrm>
            <a:off x="548640" y="2743200"/>
            <a:ext cx="3502152"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8" name="Shape 6"/>
          <p:cNvSpPr/>
          <p:nvPr/>
        </p:nvSpPr>
        <p:spPr>
          <a:xfrm>
            <a:off x="804672" y="2980944"/>
            <a:ext cx="566928" cy="566928"/>
          </a:xfrm>
          <a:prstGeom prst="ellipse">
            <a:avLst/>
          </a:prstGeom>
          <a:solidFill>
            <a:srgbClr val="12908F"/>
          </a:solidFill>
          <a:ln/>
        </p:spPr>
      </p:sp>
      <p:pic>
        <p:nvPicPr>
          <p:cNvPr id="9" name="Image 0" descr="preencoded.png">    </p:cNvPr>
          <p:cNvPicPr>
            <a:picLocks noChangeAspect="1"/>
          </p:cNvPicPr>
          <p:nvPr/>
        </p:nvPicPr>
        <p:blipFill>
          <a:blip r:embed="rId1"/>
          <a:stretch>
            <a:fillRect/>
          </a:stretch>
        </p:blipFill>
        <p:spPr>
          <a:xfrm>
            <a:off x="957743" y="3134015"/>
            <a:ext cx="260787" cy="260787"/>
          </a:xfrm>
          <a:prstGeom prst="rect">
            <a:avLst/>
          </a:prstGeom>
        </p:spPr>
      </p:pic>
      <p:sp>
        <p:nvSpPr>
          <p:cNvPr id="10" name="Text 7"/>
          <p:cNvSpPr/>
          <p:nvPr/>
        </p:nvSpPr>
        <p:spPr>
          <a:xfrm>
            <a:off x="804672" y="3657600"/>
            <a:ext cx="2990088" cy="457200"/>
          </a:xfrm>
          <a:prstGeom prst="rect">
            <a:avLst/>
          </a:prstGeom>
          <a:noFill/>
          <a:ln/>
        </p:spPr>
        <p:txBody>
          <a:bodyPr wrap="square" lIns="0" tIns="0" rIns="0" bIns="0" rtlCol="0" anchor="t"/>
          <a:lstStyle/>
          <a:p>
            <a:pPr indent="0" marL="0">
              <a:buNone/>
            </a:pPr>
            <a:r>
              <a:rPr lang="en-US" sz="1750" b="1" dirty="0">
                <a:solidFill>
                  <a:srgbClr val="1E2A36"/>
                </a:solidFill>
                <a:latin typeface="Calibri" pitchFamily="34" charset="0"/>
                <a:ea typeface="Calibri" pitchFamily="34" charset="-122"/>
                <a:cs typeface="Calibri" pitchFamily="34" charset="-120"/>
              </a:rPr>
              <a:t>Answer the question asked</a:t>
            </a:r>
            <a:endParaRPr lang="en-US" sz="1750" dirty="0"/>
          </a:p>
        </p:txBody>
      </p:sp>
      <p:sp>
        <p:nvSpPr>
          <p:cNvPr id="11" name="Text 8"/>
          <p:cNvSpPr/>
          <p:nvPr/>
        </p:nvSpPr>
        <p:spPr>
          <a:xfrm>
            <a:off x="804672" y="4114800"/>
            <a:ext cx="2990088" cy="685800"/>
          </a:xfrm>
          <a:prstGeom prst="rect">
            <a:avLst/>
          </a:prstGeom>
          <a:noFill/>
          <a:ln/>
        </p:spPr>
        <p:txBody>
          <a:bodyPr wrap="square" lIns="0" tIns="0" rIns="0" bIns="0" rtlCol="0" anchor="t"/>
          <a:lstStyle/>
          <a:p>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Not the one you rehearsed. The room notices the swap.</a:t>
            </a:r>
            <a:endParaRPr lang="en-US" sz="1500" dirty="0"/>
          </a:p>
        </p:txBody>
      </p:sp>
      <p:sp>
        <p:nvSpPr>
          <p:cNvPr id="12" name="Shape 9"/>
          <p:cNvSpPr/>
          <p:nvPr/>
        </p:nvSpPr>
        <p:spPr>
          <a:xfrm>
            <a:off x="4270248" y="2743200"/>
            <a:ext cx="3502152"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3" name="Shape 10"/>
          <p:cNvSpPr/>
          <p:nvPr/>
        </p:nvSpPr>
        <p:spPr>
          <a:xfrm>
            <a:off x="4526280" y="2980944"/>
            <a:ext cx="566928" cy="566928"/>
          </a:xfrm>
          <a:prstGeom prst="ellipse">
            <a:avLst/>
          </a:prstGeom>
          <a:solidFill>
            <a:srgbClr val="12908F"/>
          </a:solidFill>
          <a:ln/>
        </p:spPr>
      </p:sp>
      <p:pic>
        <p:nvPicPr>
          <p:cNvPr id="14" name="Image 1" descr="preencoded.png">    </p:cNvPr>
          <p:cNvPicPr>
            <a:picLocks noChangeAspect="1"/>
          </p:cNvPicPr>
          <p:nvPr/>
        </p:nvPicPr>
        <p:blipFill>
          <a:blip r:embed="rId2"/>
          <a:stretch>
            <a:fillRect/>
          </a:stretch>
        </p:blipFill>
        <p:spPr>
          <a:xfrm>
            <a:off x="4679351" y="3134015"/>
            <a:ext cx="260787" cy="260787"/>
          </a:xfrm>
          <a:prstGeom prst="rect">
            <a:avLst/>
          </a:prstGeom>
        </p:spPr>
      </p:pic>
      <p:sp>
        <p:nvSpPr>
          <p:cNvPr id="15" name="Text 11"/>
          <p:cNvSpPr/>
          <p:nvPr/>
        </p:nvSpPr>
        <p:spPr>
          <a:xfrm>
            <a:off x="4526280" y="3657600"/>
            <a:ext cx="2990088" cy="457200"/>
          </a:xfrm>
          <a:prstGeom prst="rect">
            <a:avLst/>
          </a:prstGeom>
          <a:noFill/>
          <a:ln/>
        </p:spPr>
        <p:txBody>
          <a:bodyPr wrap="square" lIns="0" tIns="0" rIns="0" bIns="0" rtlCol="0" anchor="t"/>
          <a:lstStyle/>
          <a:p>
            <a:pPr indent="0" marL="0">
              <a:buNone/>
            </a:pPr>
            <a:r>
              <a:rPr lang="en-US" sz="1750" b="1" dirty="0">
                <a:solidFill>
                  <a:srgbClr val="1E2A36"/>
                </a:solidFill>
                <a:latin typeface="Calibri" pitchFamily="34" charset="0"/>
                <a:ea typeface="Calibri" pitchFamily="34" charset="-122"/>
                <a:cs typeface="Calibri" pitchFamily="34" charset="-120"/>
              </a:rPr>
              <a:t>"I don't know yet"</a:t>
            </a:r>
            <a:endParaRPr lang="en-US" sz="1750" dirty="0"/>
          </a:p>
        </p:txBody>
      </p:sp>
      <p:sp>
        <p:nvSpPr>
          <p:cNvPr id="16" name="Text 12"/>
          <p:cNvSpPr/>
          <p:nvPr/>
        </p:nvSpPr>
        <p:spPr>
          <a:xfrm>
            <a:off x="4526280" y="4114800"/>
            <a:ext cx="2990088" cy="685800"/>
          </a:xfrm>
          <a:prstGeom prst="rect">
            <a:avLst/>
          </a:prstGeom>
          <a:noFill/>
          <a:ln/>
        </p:spPr>
        <p:txBody>
          <a:bodyPr wrap="square" lIns="0" tIns="0" rIns="0" bIns="0" rtlCol="0" anchor="t"/>
          <a:lstStyle/>
          <a:p>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…followed by how you'd find out. This is a strong answer, not a weak one.</a:t>
            </a:r>
            <a:endParaRPr lang="en-US" sz="1500" dirty="0"/>
          </a:p>
        </p:txBody>
      </p:sp>
      <p:sp>
        <p:nvSpPr>
          <p:cNvPr id="17" name="Shape 13"/>
          <p:cNvSpPr/>
          <p:nvPr/>
        </p:nvSpPr>
        <p:spPr>
          <a:xfrm>
            <a:off x="7991856" y="2743200"/>
            <a:ext cx="3502152"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247888" y="2980944"/>
            <a:ext cx="566928" cy="566928"/>
          </a:xfrm>
          <a:prstGeom prst="ellipse">
            <a:avLst/>
          </a:prstGeom>
          <a:solidFill>
            <a:srgbClr val="12908F"/>
          </a:solidFill>
          <a:ln/>
        </p:spPr>
      </p:sp>
      <p:pic>
        <p:nvPicPr>
          <p:cNvPr id="19" name="Image 2" descr="preencoded.png">    </p:cNvPr>
          <p:cNvPicPr>
            <a:picLocks noChangeAspect="1"/>
          </p:cNvPicPr>
          <p:nvPr/>
        </p:nvPicPr>
        <p:blipFill>
          <a:blip r:embed="rId3"/>
          <a:stretch>
            <a:fillRect/>
          </a:stretch>
        </p:blipFill>
        <p:spPr>
          <a:xfrm>
            <a:off x="8400959" y="3134015"/>
            <a:ext cx="260787" cy="260787"/>
          </a:xfrm>
          <a:prstGeom prst="rect">
            <a:avLst/>
          </a:prstGeom>
        </p:spPr>
      </p:pic>
      <p:sp>
        <p:nvSpPr>
          <p:cNvPr id="20" name="Text 15"/>
          <p:cNvSpPr/>
          <p:nvPr/>
        </p:nvSpPr>
        <p:spPr>
          <a:xfrm>
            <a:off x="8247888" y="3657600"/>
            <a:ext cx="2990088" cy="457200"/>
          </a:xfrm>
          <a:prstGeom prst="rect">
            <a:avLst/>
          </a:prstGeom>
          <a:noFill/>
          <a:ln/>
        </p:spPr>
        <p:txBody>
          <a:bodyPr wrap="square" lIns="0" tIns="0" rIns="0" bIns="0" rtlCol="0" anchor="t"/>
          <a:lstStyle/>
          <a:p>
            <a:pPr indent="0" marL="0">
              <a:buNone/>
            </a:pPr>
            <a:r>
              <a:rPr lang="en-US" sz="1750" b="1" dirty="0">
                <a:solidFill>
                  <a:srgbClr val="1E2A36"/>
                </a:solidFill>
                <a:latin typeface="Calibri" pitchFamily="34" charset="0"/>
                <a:ea typeface="Calibri" pitchFamily="34" charset="-122"/>
                <a:cs typeface="Calibri" pitchFamily="34" charset="-120"/>
              </a:rPr>
              <a:t>Never bluff feasibility</a:t>
            </a:r>
            <a:endParaRPr lang="en-US" sz="1750" dirty="0"/>
          </a:p>
        </p:txBody>
      </p:sp>
      <p:sp>
        <p:nvSpPr>
          <p:cNvPr id="21" name="Text 16"/>
          <p:cNvSpPr/>
          <p:nvPr/>
        </p:nvSpPr>
        <p:spPr>
          <a:xfrm>
            <a:off x="8247888" y="4114800"/>
            <a:ext cx="2990088" cy="685800"/>
          </a:xfrm>
          <a:prstGeom prst="rect">
            <a:avLst/>
          </a:prstGeom>
          <a:noFill/>
          <a:ln/>
        </p:spPr>
        <p:txBody>
          <a:bodyPr wrap="square" lIns="0" tIns="0" rIns="0" bIns="0" rtlCol="0" anchor="t"/>
          <a:lstStyle/>
          <a:p>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This room builds software. They can tell, and it costs you the whole pitch.</a:t>
            </a:r>
            <a:endParaRPr lang="en-US" sz="1500" dirty="0"/>
          </a:p>
        </p:txBody>
      </p:sp>
      <p:sp>
        <p:nvSpPr>
          <p:cNvPr id="22" name="Shape 17"/>
          <p:cNvSpPr/>
          <p:nvPr/>
        </p:nvSpPr>
        <p:spPr>
          <a:xfrm>
            <a:off x="548640" y="5120640"/>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23" name="Text 18"/>
          <p:cNvSpPr/>
          <p:nvPr/>
        </p:nvSpPr>
        <p:spPr>
          <a:xfrm>
            <a:off x="914400" y="5120640"/>
            <a:ext cx="10332720" cy="1051560"/>
          </a:xfrm>
          <a:prstGeom prst="rect">
            <a:avLst/>
          </a:prstGeom>
          <a:noFill/>
          <a:ln/>
        </p:spPr>
        <p:txBody>
          <a:bodyPr wrap="square" lIns="0" tIns="0" rIns="0" bIns="0" rtlCol="0" anchor="ctr"/>
          <a:lstStyle/>
          <a:p>
            <a:pPr indent="0" marL="0">
              <a:lnSpc>
                <a:spcPct val="104000"/>
              </a:lnSpc>
              <a:buNone/>
            </a:pPr>
            <a:r>
              <a:rPr lang="en-US" sz="1550" b="1" dirty="0">
                <a:solidFill>
                  <a:srgbClr val="E8A33D"/>
                </a:solidFill>
                <a:latin typeface="Calibri" pitchFamily="34" charset="0"/>
                <a:ea typeface="Calibri" pitchFamily="34" charset="-122"/>
                <a:cs typeface="Calibri" pitchFamily="34" charset="-120"/>
              </a:rPr>
              <a:t>Prep these three tonight:  </a:t>
            </a:r>
            <a:pPr indent="0" marL="0">
              <a:lnSpc>
                <a:spcPct val="104000"/>
              </a:lnSpc>
              <a:buNone/>
            </a:pPr>
            <a:r>
              <a:rPr lang="en-US" sz="1550" dirty="0">
                <a:solidFill>
                  <a:srgbClr val="FFFFFF"/>
                </a:solidFill>
                <a:latin typeface="Calibri" pitchFamily="34" charset="0"/>
                <a:ea typeface="Calibri" pitchFamily="34" charset="-122"/>
                <a:cs typeface="Calibri" pitchFamily="34" charset="-120"/>
              </a:rPr>
              <a:t>Why would anyone use this over X?  ·  What's your riskiest assumption?  ·  What gets cut first if you're behind at Week 10?</a:t>
            </a:r>
            <a:endParaRPr lang="en-US" sz="1550" dirty="0"/>
          </a:p>
        </p:txBody>
      </p:sp>
      <p:sp>
        <p:nvSpPr>
          <p:cNvPr id="24"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INSTRUMENTS — 11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Your peers do not grade you</a:t>
            </a:r>
            <a:endParaRPr lang="en-US" sz="3100" dirty="0"/>
          </a:p>
        </p:txBody>
      </p:sp>
      <p:sp>
        <p:nvSpPr>
          <p:cNvPr id="5" name="Shape 3"/>
          <p:cNvSpPr/>
          <p:nvPr/>
        </p:nvSpPr>
        <p:spPr>
          <a:xfrm>
            <a:off x="548640" y="1783080"/>
            <a:ext cx="5440680" cy="3703320"/>
          </a:xfrm>
          <a:prstGeom prst="roundRect">
            <a:avLst>
              <a:gd name="adj" fmla="val 2222"/>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11680"/>
            <a:ext cx="566928" cy="56692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21751" y="2164751"/>
            <a:ext cx="260787" cy="260787"/>
          </a:xfrm>
          <a:prstGeom prst="rect">
            <a:avLst/>
          </a:prstGeom>
        </p:spPr>
      </p:pic>
      <p:sp>
        <p:nvSpPr>
          <p:cNvPr id="8" name="Text 5"/>
          <p:cNvSpPr/>
          <p:nvPr/>
        </p:nvSpPr>
        <p:spPr>
          <a:xfrm>
            <a:off x="1627632" y="2057400"/>
            <a:ext cx="41148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CP4 rubric</a:t>
            </a:r>
            <a:endParaRPr lang="en-US" sz="2000" dirty="0"/>
          </a:p>
        </p:txBody>
      </p:sp>
      <p:sp>
        <p:nvSpPr>
          <p:cNvPr id="9" name="Text 6"/>
          <p:cNvSpPr/>
          <p:nvPr/>
        </p:nvSpPr>
        <p:spPr>
          <a:xfrm>
            <a:off x="914400" y="2788920"/>
            <a:ext cx="4754880" cy="2514600"/>
          </a:xfrm>
          <a:prstGeom prst="rect">
            <a:avLst/>
          </a:prstGeom>
          <a:noFill/>
          <a:ln/>
        </p:spPr>
        <p:txBody>
          <a:bodyPr wrap="square" lIns="0" tIns="0" rIns="0" bIns="0" rtlCol="0" anchor="t"/>
          <a:lstStyle/>
          <a:p>
            <a:pPr indent="0" marL="0">
              <a:lnSpc>
                <a:spcPct val="105000"/>
              </a:lnSpc>
              <a:spcAft>
                <a:spcPts val="700"/>
              </a:spcAft>
              <a:buNone/>
            </a:pPr>
            <a:r>
              <a:rPr lang="en-US" sz="1550" b="1" dirty="0">
                <a:solidFill>
                  <a:srgbClr val="E8A33D"/>
                </a:solidFill>
                <a:latin typeface="Calibri" pitchFamily="34" charset="0"/>
                <a:ea typeface="Calibri" pitchFamily="34" charset="-122"/>
                <a:cs typeface="Calibri" pitchFamily="34" charset="-120"/>
              </a:rPr>
              <a:t>Filled in by the instructor</a:t>
            </a:r>
            <a:endParaRPr lang="en-US" sz="1550" dirty="0"/>
          </a:p>
          <a:p>
            <a:pPr indent="0" marL="0">
              <a:lnSpc>
                <a:spcPct val="105000"/>
              </a:lnSpc>
              <a:spcAft>
                <a:spcPts val="700"/>
              </a:spcAft>
              <a:buNone/>
            </a:pPr>
            <a:r>
              <a:rPr lang="en-US" sz="1550" dirty="0">
                <a:solidFill>
                  <a:srgbClr val="CFE0E9"/>
                </a:solidFill>
                <a:latin typeface="Calibri" pitchFamily="34" charset="0"/>
                <a:ea typeface="Calibri" pitchFamily="34" charset="-122"/>
                <a:cs typeface="Calibri" pitchFamily="34" charset="-120"/>
              </a:rPr>
              <a:t>Measures your pitch: clarity · persuasion &amp; recruiting (25 — the heaviest) · feasibility defense · handling of questions · slides · delivery</a:t>
            </a:r>
            <a:endParaRPr lang="en-US" sz="1550" dirty="0"/>
          </a:p>
          <a:p>
            <a:pPr indent="0" marL="0">
              <a:lnSpc>
                <a:spcPct val="105000"/>
              </a:lnSpc>
              <a:buNone/>
            </a:pPr>
            <a:r>
              <a:rPr lang="en-US" sz="1550" b="1" dirty="0">
                <a:solidFill>
                  <a:srgbClr val="FFFFFF"/>
                </a:solidFill>
                <a:latin typeface="Calibri" pitchFamily="34" charset="0"/>
                <a:ea typeface="Calibri" pitchFamily="34" charset="-122"/>
                <a:cs typeface="Calibri" pitchFamily="34" charset="-120"/>
              </a:rPr>
              <a:t>Decides your CP4 grade — 8% of the course</a:t>
            </a:r>
            <a:endParaRPr lang="en-US" sz="1550" dirty="0"/>
          </a:p>
        </p:txBody>
      </p:sp>
      <p:sp>
        <p:nvSpPr>
          <p:cNvPr id="10" name="Shape 7"/>
          <p:cNvSpPr/>
          <p:nvPr/>
        </p:nvSpPr>
        <p:spPr>
          <a:xfrm>
            <a:off x="6172200" y="1783080"/>
            <a:ext cx="5440680" cy="3703320"/>
          </a:xfrm>
          <a:prstGeom prst="roundRect">
            <a:avLst>
              <a:gd name="adj" fmla="val 2222"/>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92240" y="2011680"/>
            <a:ext cx="566928" cy="56692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45311" y="2164751"/>
            <a:ext cx="260787" cy="260787"/>
          </a:xfrm>
          <a:prstGeom prst="rect">
            <a:avLst/>
          </a:prstGeom>
        </p:spPr>
      </p:pic>
      <p:sp>
        <p:nvSpPr>
          <p:cNvPr id="13" name="Text 9"/>
          <p:cNvSpPr/>
          <p:nvPr/>
        </p:nvSpPr>
        <p:spPr>
          <a:xfrm>
            <a:off x="7251192" y="2057400"/>
            <a:ext cx="411480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Pitch Evaluation Sheet</a:t>
            </a:r>
            <a:endParaRPr lang="en-US" sz="2000" dirty="0"/>
          </a:p>
        </p:txBody>
      </p:sp>
      <p:sp>
        <p:nvSpPr>
          <p:cNvPr id="14" name="Text 10"/>
          <p:cNvSpPr/>
          <p:nvPr/>
        </p:nvSpPr>
        <p:spPr>
          <a:xfrm>
            <a:off x="6537960" y="2788920"/>
            <a:ext cx="4754880" cy="2514600"/>
          </a:xfrm>
          <a:prstGeom prst="rect">
            <a:avLst/>
          </a:prstGeom>
          <a:noFill/>
          <a:ln/>
        </p:spPr>
        <p:txBody>
          <a:bodyPr wrap="square" lIns="0" tIns="0" rIns="0" bIns="0" rtlCol="0" anchor="t"/>
          <a:lstStyle/>
          <a:p>
            <a:pPr indent="0" marL="0">
              <a:lnSpc>
                <a:spcPct val="105000"/>
              </a:lnSpc>
              <a:spcAft>
                <a:spcPts val="700"/>
              </a:spcAft>
              <a:buNone/>
            </a:pPr>
            <a:r>
              <a:rPr lang="en-US" sz="1550" b="1" dirty="0">
                <a:solidFill>
                  <a:srgbClr val="0E6E6D"/>
                </a:solidFill>
                <a:latin typeface="Calibri" pitchFamily="34" charset="0"/>
                <a:ea typeface="Calibri" pitchFamily="34" charset="-122"/>
                <a:cs typeface="Calibri" pitchFamily="34" charset="-120"/>
              </a:rPr>
              <a:t>Filled in by you, for every pitch but your own</a:t>
            </a:r>
            <a:endParaRPr lang="en-US" sz="1550" dirty="0"/>
          </a:p>
          <a:p>
            <a:pPr indent="0" marL="0">
              <a:lnSpc>
                <a:spcPct val="105000"/>
              </a:lnSpc>
              <a:spcAft>
                <a:spcPts val="700"/>
              </a:spcAft>
              <a:buNone/>
            </a:pPr>
            <a:r>
              <a:rPr lang="en-US" sz="1550" dirty="0">
                <a:solidFill>
                  <a:srgbClr val="1E2A36"/>
                </a:solidFill>
                <a:latin typeface="Calibri" pitchFamily="34" charset="0"/>
                <a:ea typeface="Calibri" pitchFamily="34" charset="-122"/>
                <a:cs typeface="Calibri" pitchFamily="34" charset="-120"/>
              </a:rPr>
              <a:t>Measures the idea: the seven selection criteria you've used since Week 3, plus "would you join?" and two comment lines</a:t>
            </a:r>
            <a:endParaRPr lang="en-US" sz="1550" dirty="0"/>
          </a:p>
          <a:p>
            <a:pPr indent="0" marL="0">
              <a:lnSpc>
                <a:spcPct val="105000"/>
              </a:lnSpc>
              <a:buNone/>
            </a:pPr>
            <a:r>
              <a:rPr lang="en-US" sz="1550" b="1" dirty="0">
                <a:solidFill>
                  <a:srgbClr val="1E2A36"/>
                </a:solidFill>
                <a:latin typeface="Calibri" pitchFamily="34" charset="0"/>
                <a:ea typeface="Calibri" pitchFamily="34" charset="-122"/>
                <a:cs typeface="Calibri" pitchFamily="34" charset="-120"/>
              </a:rPr>
              <a:t>Feeds selection and team formation — instructor has final say</a:t>
            </a:r>
            <a:endParaRPr lang="en-US" sz="1550" dirty="0"/>
          </a:p>
        </p:txBody>
      </p:sp>
      <p:sp>
        <p:nvSpPr>
          <p:cNvPr id="15" name="Shape 11"/>
          <p:cNvSpPr/>
          <p:nvPr/>
        </p:nvSpPr>
        <p:spPr>
          <a:xfrm>
            <a:off x="548640" y="5623560"/>
            <a:ext cx="11064240" cy="658368"/>
          </a:xfrm>
          <a:prstGeom prst="roundRect">
            <a:avLst>
              <a:gd name="adj" fmla="val 12500"/>
            </a:avLst>
          </a:prstGeom>
          <a:solidFill>
            <a:srgbClr val="E8A33D"/>
          </a:solidFill>
          <a:ln/>
          <a:effectLst>
            <a:outerShdw sx="100000" sy="100000" kx="0" ky="0" algn="bl" rotWithShape="0" blurRad="88900" dist="38100" dir="5400000">
              <a:srgbClr val="000000">
                <a:alpha val="13000"/>
              </a:srgbClr>
            </a:outerShdw>
          </a:effectLst>
        </p:spPr>
      </p:sp>
      <p:sp>
        <p:nvSpPr>
          <p:cNvPr id="16" name="Text 12"/>
          <p:cNvSpPr/>
          <p:nvPr/>
        </p:nvSpPr>
        <p:spPr>
          <a:xfrm>
            <a:off x="822960" y="5623560"/>
            <a:ext cx="10515600" cy="658368"/>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Peer scores inform the instructor's judgment. Peers never assign grades — which is what makes honest scoring safe.</a:t>
            </a:r>
            <a:endParaRPr lang="en-US" sz="15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INSTRUMENT 1 — THE INSTRUCTOR'S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CP4 rubric — how your pitch is graded</a:t>
            </a:r>
            <a:endParaRPr lang="en-US" sz="3100" dirty="0"/>
          </a:p>
        </p:txBody>
      </p:sp>
      <p:sp>
        <p:nvSpPr>
          <p:cNvPr id="5" name="Shape 3"/>
          <p:cNvSpPr/>
          <p:nvPr/>
        </p:nvSpPr>
        <p:spPr>
          <a:xfrm>
            <a:off x="548640" y="1783080"/>
            <a:ext cx="1106424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41248" y="1783080"/>
            <a:ext cx="342900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Problem / solution clarity</a:t>
            </a:r>
            <a:endParaRPr lang="en-US" sz="1650" dirty="0"/>
          </a:p>
        </p:txBody>
      </p:sp>
      <p:sp>
        <p:nvSpPr>
          <p:cNvPr id="7" name="Text 5"/>
          <p:cNvSpPr/>
          <p:nvPr/>
        </p:nvSpPr>
        <p:spPr>
          <a:xfrm>
            <a:off x="4315968" y="1783080"/>
            <a:ext cx="566928" cy="585216"/>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20</a:t>
            </a:r>
            <a:endParaRPr lang="en-US" sz="1600" dirty="0"/>
          </a:p>
        </p:txBody>
      </p:sp>
      <p:sp>
        <p:nvSpPr>
          <p:cNvPr id="8" name="Text 6"/>
          <p:cNvSpPr/>
          <p:nvPr/>
        </p:nvSpPr>
        <p:spPr>
          <a:xfrm>
            <a:off x="5120640" y="1783080"/>
            <a:ext cx="6217920" cy="585216"/>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The audience grasps the need and the idea immediately.</a:t>
            </a:r>
            <a:endParaRPr lang="en-US" sz="1500" dirty="0"/>
          </a:p>
        </p:txBody>
      </p:sp>
      <p:sp>
        <p:nvSpPr>
          <p:cNvPr id="9" name="Shape 7"/>
          <p:cNvSpPr/>
          <p:nvPr/>
        </p:nvSpPr>
        <p:spPr>
          <a:xfrm>
            <a:off x="548640" y="2441448"/>
            <a:ext cx="11064240" cy="585216"/>
          </a:xfrm>
          <a:prstGeom prst="roundRect">
            <a:avLst>
              <a:gd name="adj" fmla="val 14063"/>
            </a:avLst>
          </a:prstGeom>
          <a:solidFill>
            <a:srgbClr val="E4EEF1"/>
          </a:solidFill>
          <a:ln/>
          <a:effectLst>
            <a:outerShdw sx="100000" sy="100000" kx="0" ky="0" algn="bl" rotWithShape="0" blurRad="88900" dist="38100" dir="5400000">
              <a:srgbClr val="000000">
                <a:alpha val="13000"/>
              </a:srgbClr>
            </a:outerShdw>
          </a:effectLst>
        </p:spPr>
      </p:sp>
      <p:sp>
        <p:nvSpPr>
          <p:cNvPr id="10" name="Text 8"/>
          <p:cNvSpPr/>
          <p:nvPr/>
        </p:nvSpPr>
        <p:spPr>
          <a:xfrm>
            <a:off x="841248" y="2441448"/>
            <a:ext cx="3429000" cy="585216"/>
          </a:xfrm>
          <a:prstGeom prst="rect">
            <a:avLst/>
          </a:prstGeom>
          <a:noFill/>
          <a:ln/>
        </p:spPr>
        <p:txBody>
          <a:bodyPr wrap="square" lIns="0" tIns="0" rIns="0" bIns="0" rtlCol="0" anchor="ctr"/>
          <a:lstStyle/>
          <a:p>
            <a:pPr indent="0" marL="0">
              <a:buNone/>
            </a:pPr>
            <a:r>
              <a:rPr lang="en-US" sz="1650" b="1" dirty="0">
                <a:solidFill>
                  <a:srgbClr val="0E6E6D"/>
                </a:solidFill>
                <a:latin typeface="Calibri" pitchFamily="34" charset="0"/>
                <a:ea typeface="Calibri" pitchFamily="34" charset="-122"/>
                <a:cs typeface="Calibri" pitchFamily="34" charset="-120"/>
              </a:rPr>
              <a:t>Persuasiveness &amp; recruiting</a:t>
            </a:r>
            <a:endParaRPr lang="en-US" sz="1650" dirty="0"/>
          </a:p>
        </p:txBody>
      </p:sp>
      <p:sp>
        <p:nvSpPr>
          <p:cNvPr id="11" name="Text 9"/>
          <p:cNvSpPr/>
          <p:nvPr/>
        </p:nvSpPr>
        <p:spPr>
          <a:xfrm>
            <a:off x="4315968" y="2441448"/>
            <a:ext cx="566928" cy="585216"/>
          </a:xfrm>
          <a:prstGeom prst="rect">
            <a:avLst/>
          </a:prstGeom>
          <a:noFill/>
          <a:ln/>
        </p:spPr>
        <p:txBody>
          <a:bodyPr wrap="square" lIns="0" tIns="0" rIns="0" bIns="0" rtlCol="0" anchor="ctr"/>
          <a:lstStyle/>
          <a:p>
            <a:pPr algn="r" indent="0" marL="0">
              <a:buNone/>
            </a:pPr>
            <a:r>
              <a:rPr lang="en-US" sz="1600" b="1" dirty="0">
                <a:solidFill>
                  <a:srgbClr val="0E6E6D"/>
                </a:solidFill>
                <a:latin typeface="Calibri" pitchFamily="34" charset="0"/>
                <a:ea typeface="Calibri" pitchFamily="34" charset="-122"/>
                <a:cs typeface="Calibri" pitchFamily="34" charset="-120"/>
              </a:rPr>
              <a:t>25</a:t>
            </a:r>
            <a:endParaRPr lang="en-US" sz="1600" dirty="0"/>
          </a:p>
        </p:txBody>
      </p:sp>
      <p:sp>
        <p:nvSpPr>
          <p:cNvPr id="12" name="Text 10"/>
          <p:cNvSpPr/>
          <p:nvPr/>
        </p:nvSpPr>
        <p:spPr>
          <a:xfrm>
            <a:off x="5120640" y="2441448"/>
            <a:ext cx="6217920" cy="585216"/>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Compelling enough to attract teammates; the call to join is explicit.</a:t>
            </a:r>
            <a:endParaRPr lang="en-US" sz="1500" dirty="0"/>
          </a:p>
        </p:txBody>
      </p:sp>
      <p:sp>
        <p:nvSpPr>
          <p:cNvPr id="13" name="Shape 11"/>
          <p:cNvSpPr/>
          <p:nvPr/>
        </p:nvSpPr>
        <p:spPr>
          <a:xfrm>
            <a:off x="548640" y="3099816"/>
            <a:ext cx="1106424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841248" y="3099816"/>
            <a:ext cx="342900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Feasibility defense</a:t>
            </a:r>
            <a:endParaRPr lang="en-US" sz="1650" dirty="0"/>
          </a:p>
        </p:txBody>
      </p:sp>
      <p:sp>
        <p:nvSpPr>
          <p:cNvPr id="15" name="Text 13"/>
          <p:cNvSpPr/>
          <p:nvPr/>
        </p:nvSpPr>
        <p:spPr>
          <a:xfrm>
            <a:off x="4315968" y="3099816"/>
            <a:ext cx="566928" cy="585216"/>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16" name="Text 14"/>
          <p:cNvSpPr/>
          <p:nvPr/>
        </p:nvSpPr>
        <p:spPr>
          <a:xfrm>
            <a:off x="5120640" y="3099816"/>
            <a:ext cx="6217920" cy="585216"/>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Defends scope and trade-offs convincingly under questioning.</a:t>
            </a:r>
            <a:endParaRPr lang="en-US" sz="1500" dirty="0"/>
          </a:p>
        </p:txBody>
      </p:sp>
      <p:sp>
        <p:nvSpPr>
          <p:cNvPr id="17" name="Shape 15"/>
          <p:cNvSpPr/>
          <p:nvPr/>
        </p:nvSpPr>
        <p:spPr>
          <a:xfrm>
            <a:off x="548640" y="3758184"/>
            <a:ext cx="1106424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841248" y="3758184"/>
            <a:ext cx="342900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Handling of questions</a:t>
            </a:r>
            <a:endParaRPr lang="en-US" sz="1650" dirty="0"/>
          </a:p>
        </p:txBody>
      </p:sp>
      <p:sp>
        <p:nvSpPr>
          <p:cNvPr id="19" name="Text 17"/>
          <p:cNvSpPr/>
          <p:nvPr/>
        </p:nvSpPr>
        <p:spPr>
          <a:xfrm>
            <a:off x="4315968" y="3758184"/>
            <a:ext cx="566928" cy="585216"/>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20" name="Text 18"/>
          <p:cNvSpPr/>
          <p:nvPr/>
        </p:nvSpPr>
        <p:spPr>
          <a:xfrm>
            <a:off x="5120640" y="3758184"/>
            <a:ext cx="6217920" cy="585216"/>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Direct, composed, honest — including “I don’t know yet, and here’s how I’d find out.”</a:t>
            </a:r>
            <a:endParaRPr lang="en-US" sz="1500" dirty="0"/>
          </a:p>
        </p:txBody>
      </p:sp>
      <p:sp>
        <p:nvSpPr>
          <p:cNvPr id="21" name="Shape 19"/>
          <p:cNvSpPr/>
          <p:nvPr/>
        </p:nvSpPr>
        <p:spPr>
          <a:xfrm>
            <a:off x="548640" y="4416552"/>
            <a:ext cx="1106424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841248" y="4416552"/>
            <a:ext cx="342900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Slide &amp; visual quality</a:t>
            </a:r>
            <a:endParaRPr lang="en-US" sz="1650" dirty="0"/>
          </a:p>
        </p:txBody>
      </p:sp>
      <p:sp>
        <p:nvSpPr>
          <p:cNvPr id="23" name="Text 21"/>
          <p:cNvSpPr/>
          <p:nvPr/>
        </p:nvSpPr>
        <p:spPr>
          <a:xfrm>
            <a:off x="4315968" y="4416552"/>
            <a:ext cx="566928" cy="585216"/>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10</a:t>
            </a:r>
            <a:endParaRPr lang="en-US" sz="1600" dirty="0"/>
          </a:p>
        </p:txBody>
      </p:sp>
      <p:sp>
        <p:nvSpPr>
          <p:cNvPr id="24" name="Text 22"/>
          <p:cNvSpPr/>
          <p:nvPr/>
        </p:nvSpPr>
        <p:spPr>
          <a:xfrm>
            <a:off x="5120640" y="4416552"/>
            <a:ext cx="6217920" cy="585216"/>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Clean, purposeful visuals that carry evidence rather than text.</a:t>
            </a:r>
            <a:endParaRPr lang="en-US" sz="1500" dirty="0"/>
          </a:p>
        </p:txBody>
      </p:sp>
      <p:sp>
        <p:nvSpPr>
          <p:cNvPr id="25" name="Shape 23"/>
          <p:cNvSpPr/>
          <p:nvPr/>
        </p:nvSpPr>
        <p:spPr>
          <a:xfrm>
            <a:off x="548640" y="5074920"/>
            <a:ext cx="1106424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26" name="Text 24"/>
          <p:cNvSpPr/>
          <p:nvPr/>
        </p:nvSpPr>
        <p:spPr>
          <a:xfrm>
            <a:off x="841248" y="5074920"/>
            <a:ext cx="342900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Delivery &amp; professionalism</a:t>
            </a:r>
            <a:endParaRPr lang="en-US" sz="1650" dirty="0"/>
          </a:p>
        </p:txBody>
      </p:sp>
      <p:sp>
        <p:nvSpPr>
          <p:cNvPr id="27" name="Text 25"/>
          <p:cNvSpPr/>
          <p:nvPr/>
        </p:nvSpPr>
        <p:spPr>
          <a:xfrm>
            <a:off x="4315968" y="5074920"/>
            <a:ext cx="566928" cy="585216"/>
          </a:xfrm>
          <a:prstGeom prst="rect">
            <a:avLst/>
          </a:prstGeom>
          <a:noFill/>
          <a:ln/>
        </p:spPr>
        <p:txBody>
          <a:bodyPr wrap="square" lIns="0" tIns="0" rIns="0" bIns="0" rtlCol="0" anchor="ctr"/>
          <a:lstStyle/>
          <a:p>
            <a:pPr algn="r" indent="0" marL="0">
              <a:buNone/>
            </a:pPr>
            <a:r>
              <a:rPr lang="en-US" sz="1600" dirty="0">
                <a:solidFill>
                  <a:srgbClr val="5F7284"/>
                </a:solidFill>
                <a:latin typeface="Calibri" pitchFamily="34" charset="0"/>
                <a:ea typeface="Calibri" pitchFamily="34" charset="-122"/>
                <a:cs typeface="Calibri" pitchFamily="34" charset="-120"/>
              </a:rPr>
              <a:t>15</a:t>
            </a:r>
            <a:endParaRPr lang="en-US" sz="1600" dirty="0"/>
          </a:p>
        </p:txBody>
      </p:sp>
      <p:sp>
        <p:nvSpPr>
          <p:cNvPr id="28" name="Text 26"/>
          <p:cNvSpPr/>
          <p:nvPr/>
        </p:nvSpPr>
        <p:spPr>
          <a:xfrm>
            <a:off x="5120640" y="5074920"/>
            <a:ext cx="6217920" cy="585216"/>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Confident, well-paced, and within time.</a:t>
            </a:r>
            <a:endParaRPr lang="en-US" sz="1500" dirty="0"/>
          </a:p>
        </p:txBody>
      </p:sp>
      <p:sp>
        <p:nvSpPr>
          <p:cNvPr id="29" name="Shape 27"/>
          <p:cNvSpPr/>
          <p:nvPr/>
        </p:nvSpPr>
        <p:spPr>
          <a:xfrm>
            <a:off x="548640" y="5806440"/>
            <a:ext cx="11064240" cy="566928"/>
          </a:xfrm>
          <a:prstGeom prst="roundRect">
            <a:avLst>
              <a:gd name="adj" fmla="val 14516"/>
            </a:avLst>
          </a:prstGeom>
          <a:solidFill>
            <a:srgbClr val="FBEEDA"/>
          </a:solidFill>
          <a:ln/>
          <a:effectLst>
            <a:outerShdw sx="100000" sy="100000" kx="0" ky="0" algn="bl" rotWithShape="0" blurRad="88900" dist="38100" dir="5400000">
              <a:srgbClr val="000000">
                <a:alpha val="13000"/>
              </a:srgbClr>
            </a:outerShdw>
          </a:effectLst>
        </p:spPr>
      </p:sp>
      <p:sp>
        <p:nvSpPr>
          <p:cNvPr id="30" name="Text 28"/>
          <p:cNvSpPr/>
          <p:nvPr/>
        </p:nvSpPr>
        <p:spPr>
          <a:xfrm>
            <a:off x="868680" y="5806440"/>
            <a:ext cx="10424160" cy="566928"/>
          </a:xfrm>
          <a:prstGeom prst="rect">
            <a:avLst/>
          </a:prstGeom>
          <a:noFill/>
          <a:ln/>
        </p:spPr>
        <p:txBody>
          <a:bodyPr wrap="square" lIns="0" tIns="0" rIns="0" bIns="0" rtlCol="0" anchor="ctr"/>
          <a:lstStyle/>
          <a:p>
            <a:pPr algn="ctr" indent="0" marL="0">
              <a:buNone/>
            </a:pPr>
            <a:r>
              <a:rPr lang="en-US" sz="1500" b="1" dirty="0">
                <a:solidFill>
                  <a:srgbClr val="0E6E6D"/>
                </a:solidFill>
                <a:latin typeface="Calibri" pitchFamily="34" charset="0"/>
                <a:ea typeface="Calibri" pitchFamily="34" charset="-122"/>
                <a:cs typeface="Calibri" pitchFamily="34" charset="-120"/>
              </a:rPr>
              <a:t>Recruiting is the heaviest criterion on purpose.  </a:t>
            </a:r>
            <a:pPr algn="ctr" indent="0" marL="0">
              <a:buNone/>
            </a:pPr>
            <a:r>
              <a:rPr lang="en-US" sz="1500" dirty="0">
                <a:solidFill>
                  <a:srgbClr val="1E2A36"/>
                </a:solidFill>
                <a:latin typeface="Calibri" pitchFamily="34" charset="0"/>
                <a:ea typeface="Calibri" pitchFamily="34" charset="-122"/>
                <a:cs typeface="Calibri" pitchFamily="34" charset="-120"/>
              </a:rPr>
              <a:t>This is the one rubric in the course where audience effect is part of the grade.</a:t>
            </a:r>
            <a:endParaRPr lang="en-US" sz="1500" dirty="0"/>
          </a:p>
        </p:txBody>
      </p:sp>
      <p:sp>
        <p:nvSpPr>
          <p:cNvPr id="31"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32"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INSTRUMENT 2 — YOURS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Pitch Evaluation Sheet — what you fill in</a:t>
            </a:r>
            <a:endParaRPr lang="en-US" sz="3100" dirty="0"/>
          </a:p>
        </p:txBody>
      </p:sp>
      <p:sp>
        <p:nvSpPr>
          <p:cNvPr id="5" name="Shape 3"/>
          <p:cNvSpPr/>
          <p:nvPr/>
        </p:nvSpPr>
        <p:spPr>
          <a:xfrm>
            <a:off x="548640" y="1737360"/>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04672" y="1737360"/>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Value / real need</a:t>
            </a:r>
            <a:endParaRPr lang="en-US" sz="1500" dirty="0"/>
          </a:p>
        </p:txBody>
      </p:sp>
      <p:sp>
        <p:nvSpPr>
          <p:cNvPr id="7" name="Text 5"/>
          <p:cNvSpPr/>
          <p:nvPr/>
        </p:nvSpPr>
        <p:spPr>
          <a:xfrm>
            <a:off x="3154680" y="1737360"/>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A specific, reachable userbase with an evidenced, felt need</a:t>
            </a:r>
            <a:endParaRPr lang="en-US" sz="1350" dirty="0"/>
          </a:p>
        </p:txBody>
      </p:sp>
      <p:sp>
        <p:nvSpPr>
          <p:cNvPr id="8" name="Text 6"/>
          <p:cNvSpPr/>
          <p:nvPr/>
        </p:nvSpPr>
        <p:spPr>
          <a:xfrm>
            <a:off x="7269480" y="1737360"/>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9" name="Shape 7"/>
          <p:cNvSpPr/>
          <p:nvPr/>
        </p:nvSpPr>
        <p:spPr>
          <a:xfrm>
            <a:off x="548640" y="2221992"/>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804672" y="2221992"/>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Feasibility</a:t>
            </a:r>
            <a:endParaRPr lang="en-US" sz="1500" dirty="0"/>
          </a:p>
        </p:txBody>
      </p:sp>
      <p:sp>
        <p:nvSpPr>
          <p:cNvPr id="11" name="Text 9"/>
          <p:cNvSpPr/>
          <p:nvPr/>
        </p:nvSpPr>
        <p:spPr>
          <a:xfrm>
            <a:off x="3154680" y="2221992"/>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Risks named honestly; scope, stack, and mitigation credible</a:t>
            </a:r>
            <a:endParaRPr lang="en-US" sz="1350" dirty="0"/>
          </a:p>
        </p:txBody>
      </p:sp>
      <p:sp>
        <p:nvSpPr>
          <p:cNvPr id="12" name="Text 10"/>
          <p:cNvSpPr/>
          <p:nvPr/>
        </p:nvSpPr>
        <p:spPr>
          <a:xfrm>
            <a:off x="7269480" y="2221992"/>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13" name="Shape 11"/>
          <p:cNvSpPr/>
          <p:nvPr/>
        </p:nvSpPr>
        <p:spPr>
          <a:xfrm>
            <a:off x="548640" y="2706624"/>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804672" y="2706624"/>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Richness / breadth</a:t>
            </a:r>
            <a:endParaRPr lang="en-US" sz="1500" dirty="0"/>
          </a:p>
        </p:txBody>
      </p:sp>
      <p:sp>
        <p:nvSpPr>
          <p:cNvPr id="15" name="Text 13"/>
          <p:cNvSpPr/>
          <p:nvPr/>
        </p:nvSpPr>
        <p:spPr>
          <a:xfrm>
            <a:off x="3154680" y="2706624"/>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Several engineering dimensions; room for a team to grow into</a:t>
            </a:r>
            <a:endParaRPr lang="en-US" sz="1350" dirty="0"/>
          </a:p>
        </p:txBody>
      </p:sp>
      <p:sp>
        <p:nvSpPr>
          <p:cNvPr id="16" name="Text 14"/>
          <p:cNvSpPr/>
          <p:nvPr/>
        </p:nvSpPr>
        <p:spPr>
          <a:xfrm>
            <a:off x="7269480" y="2706624"/>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17" name="Shape 15"/>
          <p:cNvSpPr/>
          <p:nvPr/>
        </p:nvSpPr>
        <p:spPr>
          <a:xfrm>
            <a:off x="548640" y="3191256"/>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804672" y="3191256"/>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Scope realism</a:t>
            </a:r>
            <a:endParaRPr lang="en-US" sz="1500" dirty="0"/>
          </a:p>
        </p:txBody>
      </p:sp>
      <p:sp>
        <p:nvSpPr>
          <p:cNvPr id="19" name="Text 17"/>
          <p:cNvSpPr/>
          <p:nvPr/>
        </p:nvSpPr>
        <p:spPr>
          <a:xfrm>
            <a:off x="3154680" y="3191256"/>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The MVP plausibly fits the real build window</a:t>
            </a:r>
            <a:endParaRPr lang="en-US" sz="1350" dirty="0"/>
          </a:p>
        </p:txBody>
      </p:sp>
      <p:sp>
        <p:nvSpPr>
          <p:cNvPr id="20" name="Text 18"/>
          <p:cNvSpPr/>
          <p:nvPr/>
        </p:nvSpPr>
        <p:spPr>
          <a:xfrm>
            <a:off x="7269480" y="3191256"/>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21" name="Shape 19"/>
          <p:cNvSpPr/>
          <p:nvPr/>
        </p:nvSpPr>
        <p:spPr>
          <a:xfrm>
            <a:off x="548640" y="3675888"/>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804672" y="3675888"/>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Extensibility</a:t>
            </a:r>
            <a:endParaRPr lang="en-US" sz="1500" dirty="0"/>
          </a:p>
        </p:txBody>
      </p:sp>
      <p:sp>
        <p:nvSpPr>
          <p:cNvPr id="23" name="Text 21"/>
          <p:cNvSpPr/>
          <p:nvPr/>
        </p:nvSpPr>
        <p:spPr>
          <a:xfrm>
            <a:off x="3154680" y="3675888"/>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Others could credibly keep building on it</a:t>
            </a:r>
            <a:endParaRPr lang="en-US" sz="1350" dirty="0"/>
          </a:p>
        </p:txBody>
      </p:sp>
      <p:sp>
        <p:nvSpPr>
          <p:cNvPr id="24" name="Text 22"/>
          <p:cNvSpPr/>
          <p:nvPr/>
        </p:nvSpPr>
        <p:spPr>
          <a:xfrm>
            <a:off x="7269480" y="3675888"/>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25" name="Shape 23"/>
          <p:cNvSpPr/>
          <p:nvPr/>
        </p:nvSpPr>
        <p:spPr>
          <a:xfrm>
            <a:off x="548640" y="4160520"/>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26" name="Text 24"/>
          <p:cNvSpPr/>
          <p:nvPr/>
        </p:nvSpPr>
        <p:spPr>
          <a:xfrm>
            <a:off x="804672" y="4160520"/>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Maintainability</a:t>
            </a:r>
            <a:endParaRPr lang="en-US" sz="1500" dirty="0"/>
          </a:p>
        </p:txBody>
      </p:sp>
      <p:sp>
        <p:nvSpPr>
          <p:cNvPr id="27" name="Text 25"/>
          <p:cNvSpPr/>
          <p:nvPr/>
        </p:nvSpPr>
        <p:spPr>
          <a:xfrm>
            <a:off x="3154680" y="4160520"/>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A tractable stack the team could own, explain, and support</a:t>
            </a:r>
            <a:endParaRPr lang="en-US" sz="1350" dirty="0"/>
          </a:p>
        </p:txBody>
      </p:sp>
      <p:sp>
        <p:nvSpPr>
          <p:cNvPr id="28" name="Text 26"/>
          <p:cNvSpPr/>
          <p:nvPr/>
        </p:nvSpPr>
        <p:spPr>
          <a:xfrm>
            <a:off x="7269480" y="4160520"/>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29" name="Shape 27"/>
          <p:cNvSpPr/>
          <p:nvPr/>
        </p:nvSpPr>
        <p:spPr>
          <a:xfrm>
            <a:off x="548640" y="4645152"/>
            <a:ext cx="7452360" cy="420624"/>
          </a:xfrm>
          <a:prstGeom prst="roundRect">
            <a:avLst>
              <a:gd name="adj" fmla="val 19565"/>
            </a:avLst>
          </a:prstGeom>
          <a:solidFill>
            <a:srgbClr val="F2F6F8"/>
          </a:solidFill>
          <a:ln/>
          <a:effectLst>
            <a:outerShdw sx="100000" sy="100000" kx="0" ky="0" algn="bl" rotWithShape="0" blurRad="88900" dist="38100" dir="5400000">
              <a:srgbClr val="000000">
                <a:alpha val="13000"/>
              </a:srgbClr>
            </a:outerShdw>
          </a:effectLst>
        </p:spPr>
      </p:sp>
      <p:sp>
        <p:nvSpPr>
          <p:cNvPr id="30" name="Text 28"/>
          <p:cNvSpPr/>
          <p:nvPr/>
        </p:nvSpPr>
        <p:spPr>
          <a:xfrm>
            <a:off x="804672" y="4645152"/>
            <a:ext cx="2286000" cy="420624"/>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Preparedness</a:t>
            </a:r>
            <a:endParaRPr lang="en-US" sz="1500" dirty="0"/>
          </a:p>
        </p:txBody>
      </p:sp>
      <p:sp>
        <p:nvSpPr>
          <p:cNvPr id="31" name="Text 29"/>
          <p:cNvSpPr/>
          <p:nvPr/>
        </p:nvSpPr>
        <p:spPr>
          <a:xfrm>
            <a:off x="3154680" y="4645152"/>
            <a:ext cx="4114800" cy="420624"/>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Knows the idea's weaknesses; answered questions honestly</a:t>
            </a:r>
            <a:endParaRPr lang="en-US" sz="1350" dirty="0"/>
          </a:p>
        </p:txBody>
      </p:sp>
      <p:sp>
        <p:nvSpPr>
          <p:cNvPr id="32" name="Text 30"/>
          <p:cNvSpPr/>
          <p:nvPr/>
        </p:nvSpPr>
        <p:spPr>
          <a:xfrm>
            <a:off x="7269480" y="4645152"/>
            <a:ext cx="658368" cy="420624"/>
          </a:xfrm>
          <a:prstGeom prst="rect">
            <a:avLst/>
          </a:prstGeom>
          <a:noFill/>
          <a:ln/>
        </p:spPr>
        <p:txBody>
          <a:bodyPr wrap="square" lIns="0" tIns="0" rIns="0" bIns="0" rtlCol="0" anchor="ctr"/>
          <a:lstStyle/>
          <a:p>
            <a:pPr algn="r" indent="0" marL="0">
              <a:buNone/>
            </a:pPr>
            <a:r>
              <a:rPr lang="en-US" sz="1400" b="1" dirty="0">
                <a:solidFill>
                  <a:srgbClr val="0E6E6D"/>
                </a:solidFill>
                <a:latin typeface="Calibri" pitchFamily="34" charset="0"/>
                <a:ea typeface="Calibri" pitchFamily="34" charset="-122"/>
                <a:cs typeface="Calibri" pitchFamily="34" charset="-120"/>
              </a:rPr>
              <a:t>1  2  3</a:t>
            </a:r>
            <a:endParaRPr lang="en-US" sz="1400" dirty="0"/>
          </a:p>
        </p:txBody>
      </p:sp>
      <p:sp>
        <p:nvSpPr>
          <p:cNvPr id="33" name="Shape 31"/>
          <p:cNvSpPr/>
          <p:nvPr/>
        </p:nvSpPr>
        <p:spPr>
          <a:xfrm>
            <a:off x="8183880" y="1737360"/>
            <a:ext cx="3429000" cy="1600200"/>
          </a:xfrm>
          <a:prstGeom prst="roundRect">
            <a:avLst>
              <a:gd name="adj" fmla="val 5143"/>
            </a:avLst>
          </a:prstGeom>
          <a:solidFill>
            <a:srgbClr val="14233A"/>
          </a:solidFill>
          <a:ln/>
          <a:effectLst>
            <a:outerShdw sx="100000" sy="100000" kx="0" ky="0" algn="bl" rotWithShape="0" blurRad="88900" dist="38100" dir="5400000">
              <a:srgbClr val="000000">
                <a:alpha val="13000"/>
              </a:srgbClr>
            </a:outerShdw>
          </a:effectLst>
        </p:spPr>
      </p:sp>
      <p:sp>
        <p:nvSpPr>
          <p:cNvPr id="34" name="Text 32"/>
          <p:cNvSpPr/>
          <p:nvPr/>
        </p:nvSpPr>
        <p:spPr>
          <a:xfrm>
            <a:off x="8458200" y="1737360"/>
            <a:ext cx="2880360" cy="1600200"/>
          </a:xfrm>
          <a:prstGeom prst="rect">
            <a:avLst/>
          </a:prstGeom>
          <a:noFill/>
          <a:ln/>
        </p:spPr>
        <p:txBody>
          <a:bodyPr wrap="square" lIns="0" tIns="0" rIns="0" bIns="0" rtlCol="0" anchor="ctr"/>
          <a:lstStyle/>
          <a:p>
            <a:pPr indent="0" marL="0">
              <a:lnSpc>
                <a:spcPct val="105000"/>
              </a:lnSpc>
              <a:buNone/>
            </a:pPr>
            <a:r>
              <a:rPr lang="en-US" sz="1600" b="1" dirty="0">
                <a:solidFill>
                  <a:srgbClr val="E8A33D"/>
                </a:solidFill>
                <a:latin typeface="Calibri" pitchFamily="34" charset="0"/>
                <a:ea typeface="Calibri" pitchFamily="34" charset="-122"/>
                <a:cs typeface="Calibri" pitchFamily="34" charset="-120"/>
              </a:rPr>
              <a:t>Would you join?
</a:t>
            </a:r>
            <a:pPr indent="0" marL="0">
              <a:lnSpc>
                <a:spcPct val="105000"/>
              </a:lnSpc>
              <a:buNone/>
            </a:pPr>
            <a:r>
              <a:rPr lang="en-US" sz="1450" dirty="0">
                <a:solidFill>
                  <a:srgbClr val="CFE0E9"/>
                </a:solidFill>
                <a:latin typeface="Calibri" pitchFamily="34" charset="0"/>
                <a:ea typeface="Calibri" pitchFamily="34" charset="-122"/>
                <a:cs typeface="Calibri" pitchFamily="34" charset="-120"/>
              </a:rPr>
              <a:t>Yes · Maybe · No — plus one line of why. Answer as an outside observer.</a:t>
            </a:r>
            <a:endParaRPr lang="en-US" sz="1450" dirty="0"/>
          </a:p>
        </p:txBody>
      </p:sp>
      <p:sp>
        <p:nvSpPr>
          <p:cNvPr id="35" name="Shape 33"/>
          <p:cNvSpPr/>
          <p:nvPr/>
        </p:nvSpPr>
        <p:spPr>
          <a:xfrm>
            <a:off x="8183880" y="3456432"/>
            <a:ext cx="3429000" cy="1600200"/>
          </a:xfrm>
          <a:prstGeom prst="roundRect">
            <a:avLst>
              <a:gd name="adj" fmla="val 5143"/>
            </a:avLst>
          </a:prstGeom>
          <a:solidFill>
            <a:srgbClr val="EAF4EE"/>
          </a:solidFill>
          <a:ln/>
          <a:effectLst>
            <a:outerShdw sx="100000" sy="100000" kx="0" ky="0" algn="bl" rotWithShape="0" blurRad="88900" dist="38100" dir="5400000">
              <a:srgbClr val="000000">
                <a:alpha val="13000"/>
              </a:srgbClr>
            </a:outerShdw>
          </a:effectLst>
        </p:spPr>
      </p:sp>
      <p:sp>
        <p:nvSpPr>
          <p:cNvPr id="36" name="Text 34"/>
          <p:cNvSpPr/>
          <p:nvPr/>
        </p:nvSpPr>
        <p:spPr>
          <a:xfrm>
            <a:off x="8458200" y="3456432"/>
            <a:ext cx="2880360" cy="1600200"/>
          </a:xfrm>
          <a:prstGeom prst="rect">
            <a:avLst/>
          </a:prstGeom>
          <a:noFill/>
          <a:ln/>
        </p:spPr>
        <p:txBody>
          <a:bodyPr wrap="square" lIns="0" tIns="0" rIns="0" bIns="0" rtlCol="0" anchor="ctr"/>
          <a:lstStyle/>
          <a:p>
            <a:pPr indent="0" marL="0">
              <a:lnSpc>
                <a:spcPct val="105000"/>
              </a:lnSpc>
              <a:buNone/>
            </a:pPr>
            <a:r>
              <a:rPr lang="en-US" sz="1600" b="1" dirty="0">
                <a:solidFill>
                  <a:srgbClr val="0E6E6D"/>
                </a:solidFill>
                <a:latin typeface="Calibri" pitchFamily="34" charset="0"/>
                <a:ea typeface="Calibri" pitchFamily="34" charset="-122"/>
                <a:cs typeface="Calibri" pitchFamily="34" charset="-120"/>
              </a:rPr>
              <a:t>Two lines back
</a:t>
            </a:r>
            <a:pPr indent="0" marL="0">
              <a:lnSpc>
                <a:spcPct val="105000"/>
              </a:lnSpc>
              <a:buNone/>
            </a:pPr>
            <a:r>
              <a:rPr lang="en-US" sz="1450" dirty="0">
                <a:solidFill>
                  <a:srgbClr val="1E2A36"/>
                </a:solidFill>
                <a:latin typeface="Calibri" pitchFamily="34" charset="0"/>
                <a:ea typeface="Calibri" pitchFamily="34" charset="-122"/>
                <a:cs typeface="Calibri" pitchFamily="34" charset="-120"/>
              </a:rPr>
              <a:t>Strongest moment · sharpest concern. Anonymized, and the presenter reads them.</a:t>
            </a:r>
            <a:endParaRPr lang="en-US" sz="1450" dirty="0"/>
          </a:p>
        </p:txBody>
      </p:sp>
      <p:sp>
        <p:nvSpPr>
          <p:cNvPr id="37" name="Shape 35"/>
          <p:cNvSpPr/>
          <p:nvPr/>
        </p:nvSpPr>
        <p:spPr>
          <a:xfrm>
            <a:off x="8183880" y="5175504"/>
            <a:ext cx="3429000" cy="914400"/>
          </a:xfrm>
          <a:prstGeom prst="roundRect">
            <a:avLst>
              <a:gd name="adj" fmla="val 9000"/>
            </a:avLst>
          </a:prstGeom>
          <a:solidFill>
            <a:srgbClr val="FBEEDA"/>
          </a:solidFill>
          <a:ln/>
          <a:effectLst>
            <a:outerShdw sx="100000" sy="100000" kx="0" ky="0" algn="bl" rotWithShape="0" blurRad="88900" dist="38100" dir="5400000">
              <a:srgbClr val="000000">
                <a:alpha val="13000"/>
              </a:srgbClr>
            </a:outerShdw>
          </a:effectLst>
        </p:spPr>
      </p:sp>
      <p:sp>
        <p:nvSpPr>
          <p:cNvPr id="38" name="Text 36"/>
          <p:cNvSpPr/>
          <p:nvPr/>
        </p:nvSpPr>
        <p:spPr>
          <a:xfrm>
            <a:off x="8366760" y="5175504"/>
            <a:ext cx="3063240" cy="914400"/>
          </a:xfrm>
          <a:prstGeom prst="rect">
            <a:avLst/>
          </a:prstGeom>
          <a:noFill/>
          <a:ln/>
        </p:spPr>
        <p:txBody>
          <a:bodyPr wrap="square" lIns="0" tIns="0" rIns="0" bIns="0" rtlCol="0" anchor="ctr"/>
          <a:lstStyle/>
          <a:p>
            <a:pPr algn="ctr" indent="0" marL="0">
              <a:lnSpc>
                <a:spcPct val="104000"/>
              </a:lnSpc>
              <a:buNone/>
            </a:pPr>
            <a:r>
              <a:rPr lang="en-US" sz="1450" b="1" dirty="0">
                <a:solidFill>
                  <a:srgbClr val="1E2A36"/>
                </a:solidFill>
                <a:latin typeface="Calibri" pitchFamily="34" charset="0"/>
                <a:ea typeface="Calibri" pitchFamily="34" charset="-122"/>
                <a:cs typeface="Calibri" pitchFamily="34" charset="-120"/>
              </a:rPr>
              <a:t>One sheet per pitch. Score during the Q&amp;A.</a:t>
            </a:r>
            <a:endParaRPr lang="en-US" sz="1450" dirty="0"/>
          </a:p>
        </p:txBody>
      </p:sp>
      <p:sp>
        <p:nvSpPr>
          <p:cNvPr id="39" name="Shape 37"/>
          <p:cNvSpPr/>
          <p:nvPr/>
        </p:nvSpPr>
        <p:spPr>
          <a:xfrm>
            <a:off x="548640" y="5175504"/>
            <a:ext cx="74523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40" name="Text 38"/>
          <p:cNvSpPr/>
          <p:nvPr/>
        </p:nvSpPr>
        <p:spPr>
          <a:xfrm>
            <a:off x="822960" y="5175504"/>
            <a:ext cx="6903720" cy="914400"/>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Seven criteria — the same yardstick you scored your own ideas against in Week 3.</a:t>
            </a:r>
            <a:endParaRPr lang="en-US" sz="1500" dirty="0"/>
          </a:p>
        </p:txBody>
      </p:sp>
      <p:sp>
        <p:nvSpPr>
          <p:cNvPr id="41" name="Text 3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42" name="Text 4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CALIBRATE — SCOPE REALISM</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a 3, a 2, and a 1 sound like</a:t>
            </a:r>
            <a:endParaRPr lang="en-US" sz="3100" dirty="0"/>
          </a:p>
        </p:txBody>
      </p:sp>
      <p:sp>
        <p:nvSpPr>
          <p:cNvPr id="5" name="Shape 3"/>
          <p:cNvSpPr/>
          <p:nvPr/>
        </p:nvSpPr>
        <p:spPr>
          <a:xfrm>
            <a:off x="548640" y="1783080"/>
            <a:ext cx="11064240" cy="1325880"/>
          </a:xfrm>
          <a:prstGeom prst="roundRect">
            <a:avLst>
              <a:gd name="adj" fmla="val 6207"/>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67128"/>
            <a:ext cx="548640" cy="548640"/>
          </a:xfrm>
          <a:prstGeom prst="ellipse">
            <a:avLst/>
          </a:prstGeom>
          <a:solidFill>
            <a:srgbClr val="3E9C6B"/>
          </a:solidFill>
          <a:ln/>
        </p:spPr>
      </p:sp>
      <p:sp>
        <p:nvSpPr>
          <p:cNvPr id="7" name="Text 5"/>
          <p:cNvSpPr/>
          <p:nvPr/>
        </p:nvSpPr>
        <p:spPr>
          <a:xfrm>
            <a:off x="822960" y="216712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8" name="Text 6"/>
          <p:cNvSpPr/>
          <p:nvPr/>
        </p:nvSpPr>
        <p:spPr>
          <a:xfrm>
            <a:off x="1554480" y="1892808"/>
            <a:ext cx="5943600" cy="1097280"/>
          </a:xfrm>
          <a:prstGeom prst="rect">
            <a:avLst/>
          </a:prstGeom>
          <a:noFill/>
          <a:ln/>
        </p:spPr>
        <p:txBody>
          <a:bodyPr wrap="square" lIns="0" tIns="0" rIns="0" bIns="0" rtlCol="0" anchor="ctr"/>
          <a:lstStyle/>
          <a:p>
            <a:pPr indent="0" marL="0">
              <a:lnSpc>
                <a:spcPct val="103000"/>
              </a:lnSpc>
              <a:buNone/>
            </a:pPr>
            <a:r>
              <a:rPr lang="en-US" sz="1500" i="1" dirty="0">
                <a:solidFill>
                  <a:srgbClr val="1E2A36"/>
                </a:solidFill>
                <a:latin typeface="Calibri" pitchFamily="34" charset="0"/>
                <a:ea typeface="Calibri" pitchFamily="34" charset="-122"/>
                <a:cs typeface="Calibri" pitchFamily="34" charset="-120"/>
              </a:rPr>
              <a:t>"v1 is one theater's wardrobe: photograph and tag what's in the shop, search it from a phone on the shop floor. No borrowing between theaters until that works. Six build hours a week for five weeks — about thirty hours."</a:t>
            </a:r>
            <a:endParaRPr lang="en-US" sz="1500" dirty="0"/>
          </a:p>
        </p:txBody>
      </p:sp>
      <p:sp>
        <p:nvSpPr>
          <p:cNvPr id="9" name="Text 7"/>
          <p:cNvSpPr/>
          <p:nvPr/>
        </p:nvSpPr>
        <p:spPr>
          <a:xfrm>
            <a:off x="7680960" y="1892808"/>
            <a:ext cx="3657600" cy="10972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Bounded. Arithmetic shown. You can picture the demo.</a:t>
            </a:r>
            <a:endParaRPr lang="en-US" sz="1450" dirty="0"/>
          </a:p>
        </p:txBody>
      </p:sp>
      <p:sp>
        <p:nvSpPr>
          <p:cNvPr id="10" name="Shape 8"/>
          <p:cNvSpPr/>
          <p:nvPr/>
        </p:nvSpPr>
        <p:spPr>
          <a:xfrm>
            <a:off x="548640" y="3264408"/>
            <a:ext cx="11064240" cy="1325880"/>
          </a:xfrm>
          <a:prstGeom prst="roundRect">
            <a:avLst>
              <a:gd name="adj" fmla="val 6207"/>
            </a:avLst>
          </a:prstGeom>
          <a:solidFill>
            <a:srgbClr val="FBEEDA"/>
          </a:solidFill>
          <a:ln/>
          <a:effectLst>
            <a:outerShdw sx="100000" sy="100000" kx="0" ky="0" algn="bl" rotWithShape="0" blurRad="88900" dist="38100" dir="5400000">
              <a:srgbClr val="000000">
                <a:alpha val="13000"/>
              </a:srgbClr>
            </a:outerShdw>
          </a:effectLst>
        </p:spPr>
      </p:sp>
      <p:sp>
        <p:nvSpPr>
          <p:cNvPr id="11" name="Shape 9"/>
          <p:cNvSpPr/>
          <p:nvPr/>
        </p:nvSpPr>
        <p:spPr>
          <a:xfrm>
            <a:off x="822960" y="3648456"/>
            <a:ext cx="548640" cy="548640"/>
          </a:xfrm>
          <a:prstGeom prst="ellipse">
            <a:avLst/>
          </a:prstGeom>
          <a:solidFill>
            <a:srgbClr val="E8A33D"/>
          </a:solidFill>
          <a:ln/>
        </p:spPr>
      </p:sp>
      <p:sp>
        <p:nvSpPr>
          <p:cNvPr id="12" name="Text 10"/>
          <p:cNvSpPr/>
          <p:nvPr/>
        </p:nvSpPr>
        <p:spPr>
          <a:xfrm>
            <a:off x="822960" y="3648456"/>
            <a:ext cx="548640" cy="548640"/>
          </a:xfrm>
          <a:prstGeom prst="rect">
            <a:avLst/>
          </a:prstGeom>
          <a:noFill/>
          <a:ln/>
        </p:spPr>
        <p:txBody>
          <a:bodyPr wrap="square" lIns="0" tIns="0" rIns="0" bIns="0" rtlCol="0" anchor="ctr"/>
          <a:lstStyle/>
          <a:p>
            <a:pPr algn="ctr" indent="0" marL="0">
              <a:buNone/>
            </a:pPr>
            <a:r>
              <a:rPr lang="en-US" sz="2200" b="1" dirty="0">
                <a:solidFill>
                  <a:srgbClr val="14233A"/>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554480" y="3374136"/>
            <a:ext cx="5943600" cy="1097280"/>
          </a:xfrm>
          <a:prstGeom prst="rect">
            <a:avLst/>
          </a:prstGeom>
          <a:noFill/>
          <a:ln/>
        </p:spPr>
        <p:txBody>
          <a:bodyPr wrap="square" lIns="0" tIns="0" rIns="0" bIns="0" rtlCol="0" anchor="ctr"/>
          <a:lstStyle/>
          <a:p>
            <a:pPr indent="0" marL="0">
              <a:lnSpc>
                <a:spcPct val="103000"/>
              </a:lnSpc>
              <a:buNone/>
            </a:pPr>
            <a:r>
              <a:rPr lang="en-US" sz="1500" i="1" dirty="0">
                <a:solidFill>
                  <a:srgbClr val="1E2A36"/>
                </a:solidFill>
                <a:latin typeface="Calibri" pitchFamily="34" charset="0"/>
                <a:ea typeface="Calibri" pitchFamily="34" charset="-122"/>
                <a:cs typeface="Calibri" pitchFamily="34" charset="-120"/>
              </a:rPr>
              <a:t>"The MVP is the catalog, search, and borrow requests — and I'll get the inter-theater sharing working if there's time."</a:t>
            </a:r>
            <a:endParaRPr lang="en-US" sz="1500" dirty="0"/>
          </a:p>
        </p:txBody>
      </p:sp>
      <p:sp>
        <p:nvSpPr>
          <p:cNvPr id="14" name="Text 12"/>
          <p:cNvSpPr/>
          <p:nvPr/>
        </p:nvSpPr>
        <p:spPr>
          <a:xfrm>
            <a:off x="7680960" y="3374136"/>
            <a:ext cx="3657600" cy="10972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Core is plausible; "if there's time" is where a second, unbounded project hides. Score the sentence, not the intent.</a:t>
            </a:r>
            <a:endParaRPr lang="en-US" sz="1450" dirty="0"/>
          </a:p>
        </p:txBody>
      </p:sp>
      <p:sp>
        <p:nvSpPr>
          <p:cNvPr id="15" name="Shape 13"/>
          <p:cNvSpPr/>
          <p:nvPr/>
        </p:nvSpPr>
        <p:spPr>
          <a:xfrm>
            <a:off x="548640" y="4745736"/>
            <a:ext cx="11064240" cy="1325880"/>
          </a:xfrm>
          <a:prstGeom prst="roundRect">
            <a:avLst>
              <a:gd name="adj" fmla="val 6207"/>
            </a:avLst>
          </a:prstGeom>
          <a:solidFill>
            <a:srgbClr val="FBECE8"/>
          </a:solidFill>
          <a:ln/>
          <a:effectLst>
            <a:outerShdw sx="100000" sy="100000" kx="0" ky="0" algn="bl" rotWithShape="0" blurRad="88900" dist="38100" dir="5400000">
              <a:srgbClr val="000000">
                <a:alpha val="13000"/>
              </a:srgbClr>
            </a:outerShdw>
          </a:effectLst>
        </p:spPr>
      </p:sp>
      <p:sp>
        <p:nvSpPr>
          <p:cNvPr id="16" name="Shape 14"/>
          <p:cNvSpPr/>
          <p:nvPr/>
        </p:nvSpPr>
        <p:spPr>
          <a:xfrm>
            <a:off x="822960" y="5129784"/>
            <a:ext cx="548640" cy="548640"/>
          </a:xfrm>
          <a:prstGeom prst="ellipse">
            <a:avLst/>
          </a:prstGeom>
          <a:solidFill>
            <a:srgbClr val="D9614C"/>
          </a:solidFill>
          <a:ln/>
        </p:spPr>
      </p:sp>
      <p:sp>
        <p:nvSpPr>
          <p:cNvPr id="17" name="Text 15"/>
          <p:cNvSpPr/>
          <p:nvPr/>
        </p:nvSpPr>
        <p:spPr>
          <a:xfrm>
            <a:off x="822960" y="5129784"/>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8" name="Text 16"/>
          <p:cNvSpPr/>
          <p:nvPr/>
        </p:nvSpPr>
        <p:spPr>
          <a:xfrm>
            <a:off x="1554480" y="4855464"/>
            <a:ext cx="5943600" cy="1097280"/>
          </a:xfrm>
          <a:prstGeom prst="rect">
            <a:avLst/>
          </a:prstGeom>
          <a:noFill/>
          <a:ln/>
        </p:spPr>
        <p:txBody>
          <a:bodyPr wrap="square" lIns="0" tIns="0" rIns="0" bIns="0" rtlCol="0" anchor="ctr"/>
          <a:lstStyle/>
          <a:p>
            <a:pPr indent="0" marL="0">
              <a:lnSpc>
                <a:spcPct val="103000"/>
              </a:lnSpc>
              <a:buNone/>
            </a:pPr>
            <a:r>
              <a:rPr lang="en-US" sz="1500" i="1" dirty="0">
                <a:solidFill>
                  <a:srgbClr val="1E2A36"/>
                </a:solidFill>
                <a:latin typeface="Calibri" pitchFamily="34" charset="0"/>
                <a:ea typeface="Calibri" pitchFamily="34" charset="-122"/>
                <a:cs typeface="Calibri" pitchFamily="34" charset="-120"/>
              </a:rPr>
              <a:t>"A platform where every community theater in the state shares costumes — accounts, messaging, and recommendations."</a:t>
            </a:r>
            <a:endParaRPr lang="en-US" sz="1500" dirty="0"/>
          </a:p>
        </p:txBody>
      </p:sp>
      <p:sp>
        <p:nvSpPr>
          <p:cNvPr id="19" name="Text 17"/>
          <p:cNvSpPr/>
          <p:nvPr/>
        </p:nvSpPr>
        <p:spPr>
          <a:xfrm>
            <a:off x="7680960" y="4855464"/>
            <a:ext cx="3657600" cy="10972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Every hour counted as build time, every task assumed easy. No arithmetic was done here.</a:t>
            </a:r>
            <a:endParaRPr lang="en-US" sz="1450" dirty="0"/>
          </a:p>
        </p:txBody>
      </p:sp>
      <p:sp>
        <p:nvSpPr>
          <p:cNvPr id="20" name="Text 1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9 · Pitch Workshop</a:t>
            </a:r>
            <a:endParaRPr lang="en-US" sz="1000" dirty="0"/>
          </a:p>
        </p:txBody>
      </p:sp>
      <p:sp>
        <p:nvSpPr>
          <p:cNvPr id="21"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C3252"/>
          </a:solidFill>
          <a:ln/>
        </p:spPr>
      </p:sp>
      <p:sp>
        <p:nvSpPr>
          <p:cNvPr id="3" name="Shape 1"/>
          <p:cNvSpPr/>
          <p:nvPr/>
        </p:nvSpPr>
        <p:spPr>
          <a:xfrm>
            <a:off x="566928" y="502920"/>
            <a:ext cx="137160" cy="137160"/>
          </a:xfrm>
          <a:prstGeom prst="ellipse">
            <a:avLst/>
          </a:prstGeom>
          <a:solidFill>
            <a:srgbClr val="E8A33D"/>
          </a:solidFill>
          <a:ln/>
        </p:spPr>
      </p:sp>
      <p:sp>
        <p:nvSpPr>
          <p:cNvPr id="4" name="Text 2"/>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BIAS TO BEAT</a:t>
            </a:r>
            <a:endParaRPr lang="en-US" sz="1400" dirty="0"/>
          </a:p>
        </p:txBody>
      </p:sp>
      <p:sp>
        <p:nvSpPr>
          <p:cNvPr id="5" name="Text 3"/>
          <p:cNvSpPr/>
          <p:nvPr/>
        </p:nvSpPr>
        <p:spPr>
          <a:xfrm>
            <a:off x="548640" y="749808"/>
            <a:ext cx="11064240" cy="7772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"Would you join this project?"</a:t>
            </a:r>
            <a:endParaRPr lang="en-US" sz="3100" dirty="0"/>
          </a:p>
        </p:txBody>
      </p:sp>
      <p:sp>
        <p:nvSpPr>
          <p:cNvPr id="6" name="Shape 4"/>
          <p:cNvSpPr/>
          <p:nvPr/>
        </p:nvSpPr>
        <p:spPr>
          <a:xfrm>
            <a:off x="548640" y="1737360"/>
            <a:ext cx="11064240" cy="914400"/>
          </a:xfrm>
          <a:prstGeom prst="roundRect">
            <a:avLst>
              <a:gd name="adj" fmla="val 9000"/>
            </a:avLst>
          </a:prstGeom>
          <a:solidFill>
            <a:srgbClr val="3A2A2A"/>
          </a:solidFill>
          <a:ln/>
          <a:effectLst>
            <a:outerShdw sx="100000" sy="100000" kx="0" ky="0" algn="bl" rotWithShape="0" blurRad="88900" dist="38100" dir="5400000">
              <a:srgbClr val="000000">
                <a:alpha val="13000"/>
              </a:srgbClr>
            </a:outerShdw>
          </a:effectLst>
        </p:spPr>
      </p:sp>
      <p:sp>
        <p:nvSpPr>
          <p:cNvPr id="7" name="Text 5"/>
          <p:cNvSpPr/>
          <p:nvPr/>
        </p:nvSpPr>
        <p:spPr>
          <a:xfrm>
            <a:off x="914400" y="1737360"/>
            <a:ext cx="10332720" cy="914400"/>
          </a:xfrm>
          <a:prstGeom prst="rect">
            <a:avLst/>
          </a:prstGeom>
          <a:noFill/>
          <a:ln/>
        </p:spPr>
        <p:txBody>
          <a:bodyPr wrap="square" lIns="0" tIns="0" rIns="0" bIns="0" rtlCol="0" anchor="ctr"/>
          <a:lstStyle/>
          <a:p>
            <a:pPr indent="0" marL="0">
              <a:buNone/>
            </a:pPr>
            <a:r>
              <a:rPr lang="en-US" sz="1600" b="1" dirty="0">
                <a:solidFill>
                  <a:srgbClr val="D9614C"/>
                </a:solidFill>
                <a:latin typeface="Calibri" pitchFamily="34" charset="0"/>
                <a:ea typeface="Calibri" pitchFamily="34" charset="-122"/>
                <a:cs typeface="Calibri" pitchFamily="34" charset="-120"/>
              </a:rPr>
              <a:t>The reflex answer:  </a:t>
            </a:r>
            <a:pPr indent="0" marL="0">
              <a:buNone/>
            </a:pPr>
            <a:r>
              <a:rPr lang="en-US" sz="1600" dirty="0">
                <a:solidFill>
                  <a:srgbClr val="F2DEDA"/>
                </a:solidFill>
                <a:latin typeface="Calibri" pitchFamily="34" charset="0"/>
                <a:ea typeface="Calibri" pitchFamily="34" charset="-122"/>
                <a:cs typeface="Calibri" pitchFamily="34" charset="-120"/>
              </a:rPr>
              <a:t>"No — I have my own project."   That is not information. Everyone here has their own project.</a:t>
            </a:r>
            <a:endParaRPr lang="en-US" sz="1600" dirty="0"/>
          </a:p>
        </p:txBody>
      </p:sp>
      <p:sp>
        <p:nvSpPr>
          <p:cNvPr id="8" name="Shape 6"/>
          <p:cNvSpPr/>
          <p:nvPr/>
        </p:nvSpPr>
        <p:spPr>
          <a:xfrm>
            <a:off x="548640" y="2788920"/>
            <a:ext cx="11064240" cy="1234440"/>
          </a:xfrm>
          <a:prstGeom prst="roundRect">
            <a:avLst>
              <a:gd name="adj" fmla="val 6667"/>
            </a:avLst>
          </a:prstGeom>
          <a:solidFill>
            <a:srgbClr val="E8A33D"/>
          </a:solidFill>
          <a:ln/>
          <a:effectLst>
            <a:outerShdw sx="100000" sy="100000" kx="0" ky="0" algn="bl" rotWithShape="0" blurRad="88900" dist="38100" dir="5400000">
              <a:srgbClr val="000000">
                <a:alpha val="13000"/>
              </a:srgbClr>
            </a:outerShdw>
          </a:effectLst>
        </p:spPr>
      </p:sp>
      <p:sp>
        <p:nvSpPr>
          <p:cNvPr id="9" name="Shape 7"/>
          <p:cNvSpPr/>
          <p:nvPr/>
        </p:nvSpPr>
        <p:spPr>
          <a:xfrm>
            <a:off x="868680" y="3108960"/>
            <a:ext cx="594360" cy="594360"/>
          </a:xfrm>
          <a:prstGeom prst="ellipse">
            <a:avLst/>
          </a:prstGeom>
          <a:solidFill>
            <a:srgbClr val="14233A"/>
          </a:solidFill>
          <a:ln/>
        </p:spPr>
      </p:sp>
      <p:pic>
        <p:nvPicPr>
          <p:cNvPr id="10" name="Image 0" descr="preencoded.png">    </p:cNvPr>
          <p:cNvPicPr>
            <a:picLocks noChangeAspect="1"/>
          </p:cNvPicPr>
          <p:nvPr/>
        </p:nvPicPr>
        <p:blipFill>
          <a:blip r:embed="rId1"/>
          <a:stretch>
            <a:fillRect/>
          </a:stretch>
        </p:blipFill>
        <p:spPr>
          <a:xfrm>
            <a:off x="1029157" y="3269437"/>
            <a:ext cx="273406" cy="273406"/>
          </a:xfrm>
          <a:prstGeom prst="rect">
            <a:avLst/>
          </a:prstGeom>
        </p:spPr>
      </p:pic>
      <p:sp>
        <p:nvSpPr>
          <p:cNvPr id="11" name="Text 8"/>
          <p:cNvSpPr/>
          <p:nvPr/>
        </p:nvSpPr>
        <p:spPr>
          <a:xfrm>
            <a:off x="1691640" y="2788920"/>
            <a:ext cx="9601200" cy="1234440"/>
          </a:xfrm>
          <a:prstGeom prst="rect">
            <a:avLst/>
          </a:prstGeom>
          <a:noFill/>
          <a:ln/>
        </p:spPr>
        <p:txBody>
          <a:bodyPr wrap="square" lIns="0" tIns="0" rIns="0" bIns="0" rtlCol="0" anchor="ctr"/>
          <a:lstStyle/>
          <a:p>
            <a:pPr indent="0" marL="0">
              <a:lnSpc>
                <a:spcPct val="105000"/>
              </a:lnSpc>
              <a:buNone/>
            </a:pPr>
            <a:r>
              <a:rPr lang="en-US" sz="1700" b="1" dirty="0">
                <a:solidFill>
                  <a:srgbClr val="14233A"/>
                </a:solidFill>
                <a:latin typeface="Calibri" pitchFamily="34" charset="0"/>
                <a:ea typeface="Calibri" pitchFamily="34" charset="-122"/>
                <a:cs typeface="Calibri" pitchFamily="34" charset="-120"/>
              </a:rPr>
              <a:t>Answer as an outside observer: if you had no project of your own and were looking for something worth spending your time on — would this be it?</a:t>
            </a:r>
            <a:endParaRPr lang="en-US" sz="1700" dirty="0"/>
          </a:p>
        </p:txBody>
      </p:sp>
      <p:sp>
        <p:nvSpPr>
          <p:cNvPr id="12" name="Shape 9"/>
          <p:cNvSpPr/>
          <p:nvPr/>
        </p:nvSpPr>
        <p:spPr>
          <a:xfrm>
            <a:off x="548640" y="4187952"/>
            <a:ext cx="5440680" cy="1600200"/>
          </a:xfrm>
          <a:prstGeom prst="roundRect">
            <a:avLst>
              <a:gd name="adj" fmla="val 5143"/>
            </a:avLst>
          </a:prstGeom>
          <a:solidFill>
            <a:srgbClr val="1E3352"/>
          </a:solidFill>
          <a:ln/>
          <a:effectLst>
            <a:outerShdw sx="100000" sy="100000" kx="0" ky="0" algn="bl" rotWithShape="0" blurRad="88900" dist="38100" dir="5400000">
              <a:srgbClr val="000000">
                <a:alpha val="13000"/>
              </a:srgbClr>
            </a:outerShdw>
          </a:effectLst>
        </p:spPr>
      </p:sp>
      <p:sp>
        <p:nvSpPr>
          <p:cNvPr id="13" name="Text 10"/>
          <p:cNvSpPr/>
          <p:nvPr/>
        </p:nvSpPr>
        <p:spPr>
          <a:xfrm>
            <a:off x="914400" y="4187952"/>
            <a:ext cx="4754880" cy="1600200"/>
          </a:xfrm>
          <a:prstGeom prst="rect">
            <a:avLst/>
          </a:prstGeom>
          <a:noFill/>
          <a:ln/>
        </p:spPr>
        <p:txBody>
          <a:bodyPr wrap="square" lIns="0" tIns="0" rIns="0" bIns="0" rtlCol="0" anchor="ctr"/>
          <a:lstStyle/>
          <a:p>
            <a:pPr indent="0" marL="0">
              <a:lnSpc>
                <a:spcPct val="105000"/>
              </a:lnSpc>
              <a:buNone/>
            </a:pPr>
            <a:r>
              <a:rPr lang="en-US" sz="1600" b="1" dirty="0">
                <a:solidFill>
                  <a:srgbClr val="D9614C"/>
                </a:solidFill>
                <a:latin typeface="Calibri" pitchFamily="34" charset="0"/>
                <a:ea typeface="Calibri" pitchFamily="34" charset="-122"/>
                <a:cs typeface="Calibri" pitchFamily="34" charset="-120"/>
              </a:rPr>
              <a:t>A reason about you
</a:t>
            </a:r>
            <a:pPr indent="0" marL="0">
              <a:lnSpc>
                <a:spcPct val="105000"/>
              </a:lnSpc>
              <a:buNone/>
            </a:pPr>
            <a:r>
              <a:rPr lang="en-US" sz="1500" dirty="0">
                <a:solidFill>
                  <a:srgbClr val="CFE0E9"/>
                </a:solidFill>
                <a:latin typeface="Calibri" pitchFamily="34" charset="0"/>
                <a:ea typeface="Calibri" pitchFamily="34" charset="-122"/>
                <a:cs typeface="Calibri" pitchFamily="34" charset="-120"/>
              </a:rPr>
              <a:t>"I already have my own idea."  "I'm committed elsewhere."  →  that's the bias talking.</a:t>
            </a:r>
            <a:endParaRPr lang="en-US" sz="1500" dirty="0"/>
          </a:p>
        </p:txBody>
      </p:sp>
      <p:sp>
        <p:nvSpPr>
          <p:cNvPr id="14" name="Shape 11"/>
          <p:cNvSpPr/>
          <p:nvPr/>
        </p:nvSpPr>
        <p:spPr>
          <a:xfrm>
            <a:off x="6172200" y="4187952"/>
            <a:ext cx="5440680" cy="1600200"/>
          </a:xfrm>
          <a:prstGeom prst="roundRect">
            <a:avLst>
              <a:gd name="adj" fmla="val 5143"/>
            </a:avLst>
          </a:prstGeom>
          <a:solidFill>
            <a:srgbClr val="1E3352"/>
          </a:solidFill>
          <a:ln/>
          <a:effectLst>
            <a:outerShdw sx="100000" sy="100000" kx="0" ky="0" algn="bl" rotWithShape="0" blurRad="88900" dist="38100" dir="5400000">
              <a:srgbClr val="000000">
                <a:alpha val="13000"/>
              </a:srgbClr>
            </a:outerShdw>
          </a:effectLst>
        </p:spPr>
      </p:sp>
      <p:sp>
        <p:nvSpPr>
          <p:cNvPr id="15" name="Text 12"/>
          <p:cNvSpPr/>
          <p:nvPr/>
        </p:nvSpPr>
        <p:spPr>
          <a:xfrm>
            <a:off x="6537960" y="4187952"/>
            <a:ext cx="4754880" cy="1600200"/>
          </a:xfrm>
          <a:prstGeom prst="rect">
            <a:avLst/>
          </a:prstGeom>
          <a:noFill/>
          <a:ln/>
        </p:spPr>
        <p:txBody>
          <a:bodyPr wrap="square" lIns="0" tIns="0" rIns="0" bIns="0" rtlCol="0" anchor="ctr"/>
          <a:lstStyle/>
          <a:p>
            <a:pPr indent="0" marL="0">
              <a:lnSpc>
                <a:spcPct val="105000"/>
              </a:lnSpc>
              <a:buNone/>
            </a:pPr>
            <a:r>
              <a:rPr lang="en-US" sz="1600" b="1" dirty="0">
                <a:solidFill>
                  <a:srgbClr val="3E9C6B"/>
                </a:solidFill>
                <a:latin typeface="Calibri" pitchFamily="34" charset="0"/>
                <a:ea typeface="Calibri" pitchFamily="34" charset="-122"/>
                <a:cs typeface="Calibri" pitchFamily="34" charset="-120"/>
              </a:rPr>
              <a:t>A reason about the project
</a:t>
            </a:r>
            <a:pPr indent="0" marL="0">
              <a:lnSpc>
                <a:spcPct val="105000"/>
              </a:lnSpc>
              <a:buNone/>
            </a:pPr>
            <a:r>
              <a:rPr lang="en-US" sz="1500" dirty="0">
                <a:solidFill>
                  <a:srgbClr val="CFE0E9"/>
                </a:solidFill>
                <a:latin typeface="Calibri" pitchFamily="34" charset="0"/>
                <a:ea typeface="Calibri" pitchFamily="34" charset="-122"/>
                <a:cs typeface="Calibri" pitchFamily="34" charset="-120"/>
              </a:rPr>
              <a:t>"The domain doesn't grab me."  "I don't believe the scope."  →  that's information they can use.</a:t>
            </a:r>
            <a:endParaRPr lang="en-US" sz="1500" dirty="0"/>
          </a:p>
        </p:txBody>
      </p:sp>
      <p:sp>
        <p:nvSpPr>
          <p:cNvPr id="16" name="Text 13"/>
          <p:cNvSpPr/>
          <p:nvPr/>
        </p:nvSpPr>
        <p:spPr>
          <a:xfrm>
            <a:off x="548640" y="5897880"/>
            <a:ext cx="11064240" cy="411480"/>
          </a:xfrm>
          <a:prstGeom prst="rect">
            <a:avLst/>
          </a:prstGeom>
          <a:noFill/>
          <a:ln/>
        </p:spPr>
        <p:txBody>
          <a:bodyPr wrap="square" lIns="0" tIns="0" rIns="0" bIns="0" rtlCol="0" anchor="ctr"/>
          <a:lstStyle/>
          <a:p>
            <a:pPr algn="ctr" indent="0" marL="0">
              <a:buNone/>
            </a:pPr>
            <a:r>
              <a:rPr lang="en-US" sz="1500" i="1" dirty="0">
                <a:solidFill>
                  <a:srgbClr val="9FB4C7"/>
                </a:solidFill>
                <a:latin typeface="Calibri" pitchFamily="34" charset="0"/>
                <a:ea typeface="Calibri" pitchFamily="34" charset="-122"/>
                <a:cs typeface="Calibri" pitchFamily="34" charset="-120"/>
              </a:rPr>
              <a:t>Checking "Yes" commits you to nothing — teams form after the instructor blends the input.</a:t>
            </a:r>
            <a:endParaRPr lang="en-US" sz="1500" dirty="0"/>
          </a:p>
        </p:txBody>
      </p:sp>
      <p:sp>
        <p:nvSpPr>
          <p:cNvPr id="17"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9 · Pitch Workshop</a:t>
            </a:r>
            <a:endParaRPr lang="en-US" sz="1000" dirty="0"/>
          </a:p>
        </p:txBody>
      </p:sp>
      <p:sp>
        <p:nvSpPr>
          <p:cNvPr id="18"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BUILD IT · 10 MIN · SOLO</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Decide what the pitch says</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On the Pitch Build Sheet — quiet, on paper. You are not making slides yet:</a:t>
            </a:r>
            <a:endParaRPr lang="en-US" sz="1600" dirty="0"/>
          </a:p>
        </p:txBody>
      </p:sp>
      <p:sp>
        <p:nvSpPr>
          <p:cNvPr id="7" name="Shape 5"/>
          <p:cNvSpPr/>
          <p:nvPr/>
        </p:nvSpPr>
        <p:spPr>
          <a:xfrm>
            <a:off x="548640" y="2148840"/>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260854"/>
            <a:ext cx="457200" cy="457200"/>
          </a:xfrm>
          <a:prstGeom prst="ellipse">
            <a:avLst/>
          </a:prstGeom>
          <a:solidFill>
            <a:srgbClr val="E8A33D"/>
          </a:solidFill>
          <a:ln/>
        </p:spPr>
      </p:sp>
      <p:sp>
        <p:nvSpPr>
          <p:cNvPr id="9" name="Text 7"/>
          <p:cNvSpPr/>
          <p:nvPr/>
        </p:nvSpPr>
        <p:spPr>
          <a:xfrm>
            <a:off x="777240" y="226085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The five beats, each with its time budget written next to it.</a:t>
            </a:r>
            <a:endParaRPr lang="en-US" sz="1550" dirty="0"/>
          </a:p>
        </p:txBody>
      </p:sp>
      <p:sp>
        <p:nvSpPr>
          <p:cNvPr id="11" name="Text 9"/>
          <p:cNvSpPr/>
          <p:nvPr/>
        </p:nvSpPr>
        <p:spPr>
          <a:xfrm>
            <a:off x="10149840" y="2148840"/>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 line each</a:t>
            </a:r>
            <a:endParaRPr lang="en-US" sz="1400" dirty="0"/>
          </a:p>
        </p:txBody>
      </p:sp>
      <p:sp>
        <p:nvSpPr>
          <p:cNvPr id="12" name="Shape 10"/>
          <p:cNvSpPr/>
          <p:nvPr/>
        </p:nvSpPr>
        <p:spPr>
          <a:xfrm>
            <a:off x="548640" y="2958084"/>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070098"/>
            <a:ext cx="457200" cy="457200"/>
          </a:xfrm>
          <a:prstGeom prst="ellipse">
            <a:avLst/>
          </a:prstGeom>
          <a:solidFill>
            <a:srgbClr val="E8A33D"/>
          </a:solidFill>
          <a:ln/>
        </p:spPr>
      </p:sp>
      <p:sp>
        <p:nvSpPr>
          <p:cNvPr id="14" name="Text 12"/>
          <p:cNvSpPr/>
          <p:nvPr/>
        </p:nvSpPr>
        <p:spPr>
          <a:xfrm>
            <a:off x="777240" y="307009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2958084"/>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One piece of evidence for beat 1 — the number or quote you'll say out loud.</a:t>
            </a:r>
            <a:endParaRPr lang="en-US" sz="1550" dirty="0"/>
          </a:p>
        </p:txBody>
      </p:sp>
      <p:sp>
        <p:nvSpPr>
          <p:cNvPr id="16" name="Text 14"/>
          <p:cNvSpPr/>
          <p:nvPr/>
        </p:nvSpPr>
        <p:spPr>
          <a:xfrm>
            <a:off x="10149840" y="2958084"/>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no adjectives</a:t>
            </a:r>
            <a:endParaRPr lang="en-US" sz="1400" dirty="0"/>
          </a:p>
        </p:txBody>
      </p:sp>
      <p:sp>
        <p:nvSpPr>
          <p:cNvPr id="17" name="Shape 15"/>
          <p:cNvSpPr/>
          <p:nvPr/>
        </p:nvSpPr>
        <p:spPr>
          <a:xfrm>
            <a:off x="548640" y="3767328"/>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3879342"/>
            <a:ext cx="457200" cy="457200"/>
          </a:xfrm>
          <a:prstGeom prst="ellipse">
            <a:avLst/>
          </a:prstGeom>
          <a:solidFill>
            <a:srgbClr val="E8A33D"/>
          </a:solidFill>
          <a:ln/>
        </p:spPr>
      </p:sp>
      <p:sp>
        <p:nvSpPr>
          <p:cNvPr id="19" name="Text 17"/>
          <p:cNvSpPr/>
          <p:nvPr/>
        </p:nvSpPr>
        <p:spPr>
          <a:xfrm>
            <a:off x="777240" y="38793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3767328"/>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The ask, word for word, so it doesn't evaporate at minute six.</a:t>
            </a:r>
            <a:endParaRPr lang="en-US" sz="1550" dirty="0"/>
          </a:p>
        </p:txBody>
      </p:sp>
      <p:sp>
        <p:nvSpPr>
          <p:cNvPr id="21" name="Text 19"/>
          <p:cNvSpPr/>
          <p:nvPr/>
        </p:nvSpPr>
        <p:spPr>
          <a:xfrm>
            <a:off x="10149840" y="3767328"/>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verbatim</a:t>
            </a:r>
            <a:endParaRPr lang="en-US" sz="1400" dirty="0"/>
          </a:p>
        </p:txBody>
      </p:sp>
      <p:sp>
        <p:nvSpPr>
          <p:cNvPr id="22" name="Shape 20"/>
          <p:cNvSpPr/>
          <p:nvPr/>
        </p:nvSpPr>
        <p:spPr>
          <a:xfrm>
            <a:off x="548640" y="4576572"/>
            <a:ext cx="11064240" cy="681228"/>
          </a:xfrm>
          <a:prstGeom prst="roundRect">
            <a:avLst>
              <a:gd name="adj" fmla="val 12081"/>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4688586"/>
            <a:ext cx="457200" cy="457200"/>
          </a:xfrm>
          <a:prstGeom prst="ellipse">
            <a:avLst/>
          </a:prstGeom>
          <a:solidFill>
            <a:srgbClr val="E8A33D"/>
          </a:solidFill>
          <a:ln/>
        </p:spPr>
      </p:sp>
      <p:sp>
        <p:nvSpPr>
          <p:cNvPr id="24" name="Text 22"/>
          <p:cNvSpPr/>
          <p:nvPr/>
        </p:nvSpPr>
        <p:spPr>
          <a:xfrm>
            <a:off x="777240" y="468858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4576572"/>
            <a:ext cx="8595360" cy="68122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A slide list — titles only, 5–7. What is each slide for?</a:t>
            </a:r>
            <a:endParaRPr lang="en-US" sz="1550" dirty="0"/>
          </a:p>
        </p:txBody>
      </p:sp>
      <p:sp>
        <p:nvSpPr>
          <p:cNvPr id="26" name="Text 24"/>
          <p:cNvSpPr/>
          <p:nvPr/>
        </p:nvSpPr>
        <p:spPr>
          <a:xfrm>
            <a:off x="10149840" y="4576572"/>
            <a:ext cx="1280160" cy="68122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titles only</a:t>
            </a:r>
            <a:endParaRPr lang="en-US" sz="1400" dirty="0"/>
          </a:p>
        </p:txBody>
      </p:sp>
      <p:sp>
        <p:nvSpPr>
          <p:cNvPr id="27" name="Shape 2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8" name="Text 26"/>
          <p:cNvSpPr/>
          <p:nvPr/>
        </p:nvSpPr>
        <p:spPr>
          <a:xfrm>
            <a:off x="914400" y="5440680"/>
            <a:ext cx="10332720" cy="731520"/>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Slides are tonight's job. They go faster once these four boxes are full.</a:t>
            </a:r>
            <a:endParaRPr lang="en-US" sz="15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9 · Pitch Workshop</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RUN IT ONCE · 14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Beats 1–3, standing, against the clock</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Pairs (one triad if we're odd) — mixed domains, so your listener is genuinely cold:</a:t>
            </a:r>
            <a:endParaRPr lang="en-US" sz="1600" dirty="0"/>
          </a:p>
        </p:txBody>
      </p:sp>
      <p:sp>
        <p:nvSpPr>
          <p:cNvPr id="7" name="Shape 5"/>
          <p:cNvSpPr/>
          <p:nvPr/>
        </p:nvSpPr>
        <p:spPr>
          <a:xfrm>
            <a:off x="548640" y="2148840"/>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95728"/>
            <a:ext cx="457200" cy="457200"/>
          </a:xfrm>
          <a:prstGeom prst="ellipse">
            <a:avLst/>
          </a:prstGeom>
          <a:solidFill>
            <a:srgbClr val="E8A33D"/>
          </a:solidFill>
          <a:ln/>
        </p:spPr>
      </p:sp>
      <p:sp>
        <p:nvSpPr>
          <p:cNvPr id="9" name="Text 7"/>
          <p:cNvSpPr/>
          <p:nvPr/>
        </p:nvSpPr>
        <p:spPr>
          <a:xfrm>
            <a:off x="777240" y="239572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Deliver beats 1–3 from your notes — problem, solution, the start of feasibility.</a:t>
            </a:r>
            <a:endParaRPr lang="en-US" sz="1550" dirty="0"/>
          </a:p>
        </p:txBody>
      </p:sp>
      <p:sp>
        <p:nvSpPr>
          <p:cNvPr id="11" name="Text 9"/>
          <p:cNvSpPr/>
          <p:nvPr/>
        </p:nvSpPr>
        <p:spPr>
          <a:xfrm>
            <a:off x="10149840" y="2148840"/>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227832"/>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474720"/>
            <a:ext cx="457200" cy="457200"/>
          </a:xfrm>
          <a:prstGeom prst="ellipse">
            <a:avLst/>
          </a:prstGeom>
          <a:solidFill>
            <a:srgbClr val="E8A33D"/>
          </a:solidFill>
          <a:ln/>
        </p:spPr>
      </p:sp>
      <p:sp>
        <p:nvSpPr>
          <p:cNvPr id="14" name="Text 12"/>
          <p:cNvSpPr/>
          <p:nvPr/>
        </p:nvSpPr>
        <p:spPr>
          <a:xfrm>
            <a:off x="777240" y="3474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227832"/>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Listener: score value and scope realism, ask one question from the list, give one line back.</a:t>
            </a:r>
            <a:endParaRPr lang="en-US" sz="1550" dirty="0"/>
          </a:p>
        </p:txBody>
      </p:sp>
      <p:sp>
        <p:nvSpPr>
          <p:cNvPr id="16" name="Text 14"/>
          <p:cNvSpPr/>
          <p:nvPr/>
        </p:nvSpPr>
        <p:spPr>
          <a:xfrm>
            <a:off x="10149840" y="3227832"/>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306824"/>
            <a:ext cx="11064240" cy="950976"/>
          </a:xfrm>
          <a:prstGeom prst="roundRect">
            <a:avLst>
              <a:gd name="adj" fmla="val 865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553712"/>
            <a:ext cx="457200" cy="457200"/>
          </a:xfrm>
          <a:prstGeom prst="ellipse">
            <a:avLst/>
          </a:prstGeom>
          <a:solidFill>
            <a:srgbClr val="E8A33D"/>
          </a:solidFill>
          <a:ln/>
        </p:spPr>
      </p:sp>
      <p:sp>
        <p:nvSpPr>
          <p:cNvPr id="19" name="Text 17"/>
          <p:cNvSpPr/>
          <p:nvPr/>
        </p:nvSpPr>
        <p:spPr>
          <a:xfrm>
            <a:off x="777240" y="455371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306824"/>
            <a:ext cx="8595360" cy="95097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Swap. Then reset for the second run.</a:t>
            </a:r>
            <a:endParaRPr lang="en-US" sz="1550" dirty="0"/>
          </a:p>
        </p:txBody>
      </p:sp>
      <p:sp>
        <p:nvSpPr>
          <p:cNvPr id="21" name="Text 19"/>
          <p:cNvSpPr/>
          <p:nvPr/>
        </p:nvSpPr>
        <p:spPr>
          <a:xfrm>
            <a:off x="10149840" y="4306824"/>
            <a:ext cx="1280160" cy="95097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then swap</a:t>
            </a:r>
            <a:endParaRPr lang="en-US" sz="1400" dirty="0"/>
          </a:p>
        </p:txBody>
      </p:sp>
      <p:sp>
        <p:nvSpPr>
          <p:cNvPr id="22" name="Shape 20"/>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914400" y="5440680"/>
            <a:ext cx="10332720" cy="731520"/>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Only two criteria today — the point is to hear the register and feel the clock.</a:t>
            </a:r>
            <a:endParaRPr lang="en-US" sz="150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9 · Pitch Workshop</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868680"/>
          </a:xfrm>
          <a:prstGeom prst="rect">
            <a:avLst/>
          </a:prstGeom>
          <a:noFill/>
          <a:ln/>
        </p:spPr>
        <p:txBody>
          <a:bodyPr wrap="square" lIns="0" tIns="0" rIns="0" bIns="0" rtlCol="0" anchor="ctr"/>
          <a:lstStyle/>
          <a:p>
            <a:pPr indent="0" marL="0">
              <a:lnSpc>
                <a:spcPct val="106000"/>
              </a:lnSpc>
              <a:buNone/>
            </a:pPr>
            <a:r>
              <a:rPr lang="en-US" sz="2700" b="1" i="1" dirty="0">
                <a:solidFill>
                  <a:srgbClr val="FFFFFF"/>
                </a:solidFill>
                <a:latin typeface="Cambria" pitchFamily="34" charset="0"/>
                <a:ea typeface="Cambria" pitchFamily="34" charset="-122"/>
                <a:cs typeface="Cambria" pitchFamily="34" charset="-120"/>
              </a:rPr>
              <a:t>Six minutes to make someone want to build it with you.</a:t>
            </a:r>
            <a:endParaRPr lang="en-US" sz="2700" dirty="0"/>
          </a:p>
        </p:txBody>
      </p:sp>
      <p:sp>
        <p:nvSpPr>
          <p:cNvPr id="6" name="Text 3"/>
          <p:cNvSpPr/>
          <p:nvPr/>
        </p:nvSpPr>
        <p:spPr>
          <a:xfrm>
            <a:off x="841248" y="301752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WEDNESDAY, OCT 7 — PITCH DAY</a:t>
            </a:r>
            <a:endParaRPr lang="en-US" sz="1400" dirty="0"/>
          </a:p>
        </p:txBody>
      </p:sp>
      <p:sp>
        <p:nvSpPr>
          <p:cNvPr id="7" name="Text 4"/>
          <p:cNvSpPr/>
          <p:nvPr/>
        </p:nvSpPr>
        <p:spPr>
          <a:xfrm>
            <a:off x="868680" y="3429000"/>
            <a:ext cx="10698480" cy="1828800"/>
          </a:xfrm>
          <a:prstGeom prst="rect">
            <a:avLst/>
          </a:prstGeom>
          <a:noFill/>
          <a:ln/>
        </p:spPr>
        <p:txBody>
          <a:bodyPr wrap="square" lIns="0" tIns="0" rIns="0" bIns="0" rtlCol="0" anchor="t"/>
          <a:lstStyle/>
          <a:p>
            <a:pPr marL="203200" indent="-203200">
              <a:spcAft>
                <a:spcPts val="600"/>
              </a:spcAft>
              <a:buSzPct val="100000"/>
              <a:buChar char="•"/>
            </a:pPr>
            <a:r>
              <a:rPr lang="en-US" sz="1550" dirty="0">
                <a:solidFill>
                  <a:srgbClr val="CBD8E6"/>
                </a:solidFill>
                <a:latin typeface="Calibri" pitchFamily="34" charset="0"/>
                <a:ea typeface="Calibri" pitchFamily="34" charset="-122"/>
                <a:cs typeface="Calibri" pitchFamily="34" charset="-120"/>
              </a:rPr>
              <a:t>Order is drawn at random at the start of class — be ready to go first</a:t>
            </a:r>
            <a:endParaRPr lang="en-US" sz="1550" dirty="0"/>
          </a:p>
          <a:p>
            <a:pPr marL="203200" indent="-203200">
              <a:spcAft>
                <a:spcPts val="600"/>
              </a:spcAft>
              <a:buSzPct val="100000"/>
              <a:buChar char="•"/>
            </a:pPr>
            <a:r>
              <a:rPr lang="en-US" sz="1550" dirty="0">
                <a:solidFill>
                  <a:srgbClr val="CBD8E6"/>
                </a:solidFill>
                <a:latin typeface="Calibri" pitchFamily="34" charset="0"/>
                <a:ea typeface="Calibri" pitchFamily="34" charset="-122"/>
                <a:cs typeface="Calibri" pitchFamily="34" charset="-120"/>
              </a:rPr>
              <a:t>6–8 min + 2–3 min Q&amp;A — timed, and the limit is real</a:t>
            </a:r>
            <a:endParaRPr lang="en-US" sz="1550" dirty="0"/>
          </a:p>
          <a:p>
            <a:pPr marL="203200" indent="-203200">
              <a:spcAft>
                <a:spcPts val="600"/>
              </a:spcAft>
              <a:buSzPct val="100000"/>
              <a:buChar char="•"/>
            </a:pPr>
            <a:r>
              <a:rPr lang="en-US" sz="1550" dirty="0">
                <a:solidFill>
                  <a:srgbClr val="CBD8E6"/>
                </a:solidFill>
                <a:latin typeface="Calibri" pitchFamily="34" charset="0"/>
                <a:ea typeface="Calibri" pitchFamily="34" charset="-122"/>
                <a:cs typeface="Calibri" pitchFamily="34" charset="-120"/>
              </a:rPr>
              <a:t>Slides posted or loaded before class starts — no day-of fiddling</a:t>
            </a:r>
            <a:endParaRPr lang="en-US" sz="1550" dirty="0"/>
          </a:p>
          <a:p>
            <a:pPr marL="203200" indent="-203200">
              <a:spcAft>
                <a:spcPts val="600"/>
              </a:spcAft>
              <a:buSzPct val="100000"/>
              <a:buChar char="•"/>
            </a:pPr>
            <a:r>
              <a:rPr lang="en-US" sz="1550" dirty="0">
                <a:solidFill>
                  <a:srgbClr val="CBD8E6"/>
                </a:solidFill>
                <a:latin typeface="Calibri" pitchFamily="34" charset="0"/>
                <a:ea typeface="Calibri" pitchFamily="34" charset="-122"/>
                <a:cs typeface="Calibri" pitchFamily="34" charset="-120"/>
              </a:rPr>
              <a:t>Paper evaluation sheets at the door — one per pitch you watch</a:t>
            </a:r>
            <a:endParaRPr lang="en-US" sz="1550" dirty="0"/>
          </a:p>
          <a:p>
            <a:pPr marL="203200" indent="-203200">
              <a:spcAft>
                <a:spcPts val="600"/>
              </a:spcAft>
              <a:buSzPct val="100000"/>
              <a:buChar char="•"/>
            </a:pPr>
            <a:r>
              <a:rPr lang="en-US" sz="1550" dirty="0">
                <a:solidFill>
                  <a:srgbClr val="CBD8E6"/>
                </a:solidFill>
                <a:latin typeface="Calibri" pitchFamily="34" charset="0"/>
                <a:ea typeface="Calibri" pitchFamily="34" charset="-122"/>
                <a:cs typeface="Calibri" pitchFamily="34" charset="-120"/>
              </a:rPr>
              <a:t>You leave with a ranked preference slip, not a team — proposals post Thursday</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Teams announced Mon, Oct 12; charters written in class that day</a:t>
            </a:r>
            <a:endParaRPr lang="en-US" sz="1550" dirty="0"/>
          </a:p>
        </p:txBody>
      </p:sp>
      <p:sp>
        <p:nvSpPr>
          <p:cNvPr id="8" name="Shape 5"/>
          <p:cNvSpPr/>
          <p:nvPr/>
        </p:nvSpPr>
        <p:spPr>
          <a:xfrm>
            <a:off x="548640" y="5394960"/>
            <a:ext cx="11064240" cy="777240"/>
          </a:xfrm>
          <a:prstGeom prst="roundRect">
            <a:avLst>
              <a:gd name="adj" fmla="val 10588"/>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394960"/>
            <a:ext cx="10515600" cy="777240"/>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Tonight: rehearse out loud, against a timer, twice. Cut until it fits. Then build the slides you listed.</a:t>
            </a:r>
            <a:endParaRPr lang="en-US" sz="155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9 · Pitch Workshop</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9 — Pitch Workshop</dc:title>
  <dc:subject>PptxGenJS Presentation</dc:subject>
  <dc:creator>CS 301R</dc:creator>
  <cp:lastModifiedBy>CS 301R</cp:lastModifiedBy>
  <cp:revision>1</cp:revision>
  <dcterms:created xsi:type="dcterms:W3CDTF">2026-08-20T19:49:37Z</dcterms:created>
  <dcterms:modified xsi:type="dcterms:W3CDTF">2026-08-20T19:49:37Z</dcterms:modified>
</cp:coreProperties>
</file>