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opens the turn from diverging to converging. Two tools today, and they pair: name-and-reduce feasibility risk, and plan the learning that closes the gaps a risk exposes. Frame the stakes up front — the self-directed-learning half has the longest shelf life of anything this semester. Keep it concrete: everything today runs on one worked example (QueueUp) so the feasibility pass, the spike, and the learning plan all trace one idea. Check the reading (Norvig + the self-directed-learning plan piece + the Spikes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bridge. The pool of ideas is raw material; today we start choosing what to actually build. Name the honest founder's question plainly. Note the two-part answer coming: feasibility (can I build it?) and the learning plan (can I close what I don't know?). These are the instruments they'll use Wednesday to narrow to one or two ideas — and again all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as a statement, not a slide to read past. Feasibility is not a yes/no verdict — it's a set of risks you name and reduce. And a gap in what you know is not a stop sign; it's a thing you plan for. The rest of the session is these two tools, applied to one worked example so they see the whole arc on a single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six on the board and give each a one-line example. The core reframe: hiding a risk doesn't remove it, it just moves the surprise to week 10. The point isn't to score an idea dead or alive — it's to surface the one or two risks worth acting on. Technical and Skill often turn out to be the same underlying unknown, which is the setup for the QueueUp pass that follows. Keep it brisk — 14 minutes total, worked example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example that carries the whole session — spend a full minute here so it's concrete before the feasibility pass. Read the one-liner, then say why it's a good teaching case: reachable users are literally down the hall, it has one genuinely scary unknown (real-time sync), and it's rich enough — two roles, a live data model, room to grow — to be worth founding on. Stress it's a vehicle, not a suggested project: students find their own idea. Then flip to the live six-risk pass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this table live — the slide is the board. The six categories and the empty grid are up; each click fills one row's Read and Why, so ask the room first, take the answer, then click. Rows 2, 3, 5 and 6 all read Med — if someone argues High, take it and then give your read rather than letting the click contradict them. The two that must land are Technical and Skill. On Adoption, push past "would you use it" to the discovery habit from last week: the pain to confirm is "I get skipped / I don't know my place," not the app idea. Only after all six are rated does the last click drop the two amber bands and the takeaway — that's the second move from the previous slide: rate all six, then look across and circle. Say it out loud: two scary boxes, one root cause, and that single unknown is what the spike targets next and what the learning plan closes later. QueueUp is a teaching vehicle, not a suggested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Triage every requirement into three buckets. Know = no plan needed. Learn = gets a learning plan (the back half of class). Avoid = complexity you deliberately design around — a library, a managed service, a simpler v1. Walk QueueUp's triage live. Dwell on the bottom line: students often feel that cutting scope is cheating; reframe it as the boring-stack instinct from Session 1 — spend complexity only where it pays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spike is the tool for a circled risk — you don't build the whole thing to find out whether the hard part is possible. Four parts, and every one matters: a single specific question, a fixed time box (the cardinal rule — no box means research with no exit), green/red lines decided in advance so you stay honest, and a throwaway bar so you stop the moment the answer is clear. Next slide runs it on QueueUp and makes the point about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idea in the feasibility half: a red spike is not failure, it's the spike doing its job cheaply. Green retires two risks at once; red converts an existential worry into a v1 scoping call — fake real-time with polling, put it on the roadmap. Say the timebox discipline out loud: if you're not green by the deadline, you stop and reconsider, you don't keep digging. Then make the policy plain — one spike is required and it's graded in CP3, so a hand-waved feasibility claim won't 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of the session — from 'what don't I know?' to 'how do I go about knowing it?' Open with the honest frame: they've learned on someone else's schedule their whole lives, and that's about to end. Then run the discussion — ask two or three of these prompts and take answers aloud; don't lecture the answers, draw them out. Watch for 'I know it when it compiles' on the third question and press on it. This is a real discussion beat (~5 min); the next slide is what you steer it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Steer the discussion here — these are the points to surface, not to read cold. Lead with Norvig's headline: no shortcuts, expertise is deliberate practice on real problems. Name the plateau explicitly; it's exactly where people wrongly conclude they're not cut out for it, and knowing it's coming is what gets them across. The techniques list is the toolkit — the one most students have never practiced deliberately is reading documentation. Lands far better if you narrate something you personally had to learn recently.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stepwise refinement pointed at yourself — the same decomposition skill they use on hard programming problems. Walk all five against QueueUp's real-time gap. Steps students underrate: schedule (know your focus limit and use breaks — more start/stop boundaries improves retention) and accountability (they already have a partner — make them name one before leaving). Close on step 5 — the spike doubles as the build, so the learning plan and the feasibility work are one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Specific-Measurable-Achievable-Relevant-Timed. Build the contrast live: the left one can't be finished; the right one you can prove and put a date on. The punchline is the bottom bar — the SMART goal and the spike's green line are usually the identical sentence, which is why the learning plan and the feasibility work reinforce rather than duplicate each other. Have them draft one SMART goal in the in-class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habits that both come down to protecting your limited time. Stack discipline: novelty is a hidden learning cost, so spend it deliberately — a tractable stack you can reason about at 1 a.m. beats an impressive one you can't. AI: the standing course norm — accelerate understanding, never replace it. The defend-what-you-submit test is the line, and it's the same test the pitch and the capstone faculty will apply. Keep this tight; it's the tail of the learning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 this time — it's where the tools become theirs. Everyone works one starred idea through the same motion they just watched on QueueUp: rate risks, triage, and write a single one-gap learning plan with a real SMART goal and a named spike. The accountability step is deliberately social — make them actually say the name to a person. Collect one or two aloud, especially a sharp SMART goal and a well-scoped 'Avoid.' If short on time, cut step 2, not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 it's the whole session in a sentence. Make the dates and the deliverable split concrete: CP1 turns in at Wednesday's convergence workshop; CP2 follows the next Monday, written after they've actually chosen. Remind them the required spike lives in the proposal window (Sep 23–Oct 5) and is graded in CP3. Preview Wednesday: they converge, we add the richness test, and they score their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Feasibility &amp; Learning to Learn</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5 — Can I actually build this?</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September 21,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 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From investigating problems to committing to one</a:t>
            </a:r>
            <a:endParaRPr lang="en-US" sz="3100" dirty="0"/>
          </a:p>
        </p:txBody>
      </p:sp>
      <p:sp>
        <p:nvSpPr>
          <p:cNvPr id="5" name="Shape 3"/>
          <p:cNvSpPr/>
          <p:nvPr/>
        </p:nvSpPr>
        <p:spPr>
          <a:xfrm>
            <a:off x="548640" y="1874520"/>
            <a:ext cx="5440680" cy="3383280"/>
          </a:xfrm>
          <a:prstGeom prst="roundRect">
            <a:avLst>
              <a:gd name="adj" fmla="val 2432"/>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72768" y="2212848"/>
            <a:ext cx="4206240" cy="45720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Weeks 1–4 · diverging</a:t>
            </a:r>
            <a:endParaRPr lang="en-US" sz="2000" dirty="0"/>
          </a:p>
        </p:txBody>
      </p:sp>
      <p:sp>
        <p:nvSpPr>
          <p:cNvPr id="9" name="Text 6"/>
          <p:cNvSpPr/>
          <p:nvPr/>
        </p:nvSpPr>
        <p:spPr>
          <a:xfrm>
            <a:off x="896112" y="3017520"/>
            <a:ext cx="4892040" cy="2103120"/>
          </a:xfrm>
          <a:prstGeom prst="rect">
            <a:avLst/>
          </a:prstGeom>
          <a:noFill/>
          <a:ln/>
        </p:spPr>
        <p:txBody>
          <a:bodyPr wrap="square" lIns="0" tIns="0" rIns="0" bIns="0" rtlCol="0" anchor="t"/>
          <a:lstStyle/>
          <a:p>
            <a:pPr indent="0" marL="0">
              <a:lnSpc>
                <a:spcPct val="106000"/>
              </a:lnSpc>
              <a:buNone/>
            </a:pPr>
            <a:r>
              <a:rPr lang="en-US" sz="1650" dirty="0">
                <a:solidFill>
                  <a:srgbClr val="1E2A36"/>
                </a:solidFill>
                <a:latin typeface="Calibri" pitchFamily="34" charset="0"/>
                <a:ea typeface="Calibri" pitchFamily="34" charset="-122"/>
                <a:cs typeface="Calibri" pitchFamily="34" charset="-120"/>
              </a:rPr>
              <a:t>You generated and investigated problems — and talked to real users. You have candidate ideas with some evidence behind them.</a:t>
            </a:r>
            <a:endParaRPr lang="en-US" sz="1650" dirty="0"/>
          </a:p>
        </p:txBody>
      </p:sp>
      <p:sp>
        <p:nvSpPr>
          <p:cNvPr id="10" name="Shape 7"/>
          <p:cNvSpPr/>
          <p:nvPr/>
        </p:nvSpPr>
        <p:spPr>
          <a:xfrm>
            <a:off x="6172200" y="1874520"/>
            <a:ext cx="5440680" cy="3383280"/>
          </a:xfrm>
          <a:prstGeom prst="roundRect">
            <a:avLst>
              <a:gd name="adj" fmla="val 2432"/>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4884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11786"/>
            <a:ext cx="277612" cy="277612"/>
          </a:xfrm>
          <a:prstGeom prst="rect">
            <a:avLst/>
          </a:prstGeom>
        </p:spPr>
      </p:pic>
      <p:sp>
        <p:nvSpPr>
          <p:cNvPr id="13" name="Text 9"/>
          <p:cNvSpPr/>
          <p:nvPr/>
        </p:nvSpPr>
        <p:spPr>
          <a:xfrm>
            <a:off x="7196328" y="2212848"/>
            <a:ext cx="42062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Today · converging</a:t>
            </a:r>
            <a:endParaRPr lang="en-US" sz="2000" dirty="0"/>
          </a:p>
        </p:txBody>
      </p:sp>
      <p:sp>
        <p:nvSpPr>
          <p:cNvPr id="14" name="Text 10"/>
          <p:cNvSpPr/>
          <p:nvPr/>
        </p:nvSpPr>
        <p:spPr>
          <a:xfrm>
            <a:off x="6492240" y="3017520"/>
            <a:ext cx="4892040" cy="2103120"/>
          </a:xfrm>
          <a:prstGeom prst="rect">
            <a:avLst/>
          </a:prstGeom>
          <a:noFill/>
          <a:ln/>
        </p:spPr>
        <p:txBody>
          <a:bodyPr wrap="square" lIns="0" tIns="0" rIns="0" bIns="0" rtlCol="0" anchor="t"/>
          <a:lstStyle/>
          <a:p>
            <a:pPr indent="0" marL="0">
              <a:lnSpc>
                <a:spcPct val="106000"/>
              </a:lnSpc>
              <a:buNone/>
            </a:pPr>
            <a:r>
              <a:rPr lang="en-US" sz="1650" dirty="0">
                <a:solidFill>
                  <a:srgbClr val="CFE0E9"/>
                </a:solidFill>
                <a:latin typeface="Calibri" pitchFamily="34" charset="0"/>
                <a:ea typeface="Calibri" pitchFamily="34" charset="-122"/>
                <a:cs typeface="Calibri" pitchFamily="34" charset="-120"/>
              </a:rPr>
              <a:t>Before you commit: can you build a real slice with the time and skill you have — and if not yet, can you close the gap?</a:t>
            </a:r>
            <a:endParaRPr lang="en-US" sz="1650" dirty="0"/>
          </a:p>
        </p:txBody>
      </p:sp>
      <p:sp>
        <p:nvSpPr>
          <p:cNvPr id="15"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566928" y="548640"/>
            <a:ext cx="137160" cy="137160"/>
          </a:xfrm>
          <a:prstGeom prst="ellipse">
            <a:avLst/>
          </a:prstGeom>
          <a:solidFill>
            <a:srgbClr val="E8A33D"/>
          </a:solidFill>
          <a:ln/>
        </p:spPr>
      </p:sp>
      <p:sp>
        <p:nvSpPr>
          <p:cNvPr id="3" name="Text 1"/>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THE FOUNDER'S HONEST QUESTION</a:t>
            </a:r>
            <a:endParaRPr lang="en-US" sz="14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lnSpc>
                <a:spcPct val="108000"/>
              </a:lnSpc>
              <a:buNone/>
            </a:pPr>
            <a:r>
              <a:rPr lang="en-US" sz="3000" b="1" i="1" dirty="0">
                <a:solidFill>
                  <a:srgbClr val="FFFFFF"/>
                </a:solidFill>
                <a:latin typeface="Cambria" pitchFamily="34" charset="0"/>
                <a:ea typeface="Cambria" pitchFamily="34" charset="-122"/>
                <a:cs typeface="Cambria" pitchFamily="34" charset="-120"/>
              </a:rPr>
              <a:t>Can I build a real slice of this with the time and skill I have — and if not yet, can I close the gap?</a:t>
            </a:r>
            <a:endParaRPr lang="en-US" sz="3000" dirty="0"/>
          </a:p>
        </p:txBody>
      </p:sp>
      <p:sp>
        <p:nvSpPr>
          <p:cNvPr id="5" name="Text 3"/>
          <p:cNvSpPr/>
          <p:nvPr/>
        </p:nvSpPr>
        <p:spPr>
          <a:xfrm>
            <a:off x="822960" y="4114800"/>
            <a:ext cx="10424160" cy="1097280"/>
          </a:xfrm>
          <a:prstGeom prst="rect">
            <a:avLst/>
          </a:prstGeom>
          <a:noFill/>
          <a:ln/>
        </p:spPr>
        <p:txBody>
          <a:bodyPr wrap="square" lIns="0" tIns="0" rIns="0" bIns="0" rtlCol="0" anchor="t"/>
          <a:lstStyle/>
          <a:p>
            <a:pPr indent="0" marL="0">
              <a:lnSpc>
                <a:spcPct val="108000"/>
              </a:lnSpc>
              <a:buNone/>
            </a:pPr>
            <a:r>
              <a:rPr lang="en-US" sz="1800" dirty="0">
                <a:solidFill>
                  <a:srgbClr val="CFE0E9"/>
                </a:solidFill>
                <a:latin typeface="Calibri" pitchFamily="34" charset="0"/>
                <a:ea typeface="Calibri" pitchFamily="34" charset="-122"/>
                <a:cs typeface="Calibri" pitchFamily="34" charset="-120"/>
              </a:rPr>
              <a:t>Two tools today: name and reduce feasibility risk, then plan the learning that closes the gaps.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FEASIBILITY ISN'T YES/NO</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Six risks you name — then reduce</a:t>
            </a:r>
            <a:endParaRPr lang="en-US" sz="3100" dirty="0"/>
          </a:p>
        </p:txBody>
      </p:sp>
      <p:sp>
        <p:nvSpPr>
          <p:cNvPr id="5" name="Shape 3"/>
          <p:cNvSpPr/>
          <p:nvPr/>
        </p:nvSpPr>
        <p:spPr>
          <a:xfrm>
            <a:off x="548640" y="1737360"/>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86384" y="1956816"/>
            <a:ext cx="512064" cy="51206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4641" y="2095073"/>
            <a:ext cx="235549" cy="235549"/>
          </a:xfrm>
          <a:prstGeom prst="rect">
            <a:avLst/>
          </a:prstGeom>
        </p:spPr>
      </p:pic>
      <p:sp>
        <p:nvSpPr>
          <p:cNvPr id="8" name="Text 5"/>
          <p:cNvSpPr/>
          <p:nvPr/>
        </p:nvSpPr>
        <p:spPr>
          <a:xfrm>
            <a:off x="1408176" y="1956816"/>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Technical</a:t>
            </a:r>
            <a:endParaRPr lang="en-US" sz="1800" dirty="0"/>
          </a:p>
        </p:txBody>
      </p:sp>
      <p:sp>
        <p:nvSpPr>
          <p:cNvPr id="9" name="Text 6"/>
          <p:cNvSpPr/>
          <p:nvPr/>
        </p:nvSpPr>
        <p:spPr>
          <a:xfrm>
            <a:off x="786384" y="2596896"/>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Is the core hard part doable — real-time, offline, ML?</a:t>
            </a:r>
            <a:endParaRPr lang="en-US" sz="1300" dirty="0"/>
          </a:p>
        </p:txBody>
      </p:sp>
      <p:sp>
        <p:nvSpPr>
          <p:cNvPr id="10" name="Shape 7"/>
          <p:cNvSpPr/>
          <p:nvPr/>
        </p:nvSpPr>
        <p:spPr>
          <a:xfrm>
            <a:off x="4187952" y="1737360"/>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425696" y="1956816"/>
            <a:ext cx="512064" cy="512064"/>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563953" y="2095073"/>
            <a:ext cx="235549" cy="235549"/>
          </a:xfrm>
          <a:prstGeom prst="rect">
            <a:avLst/>
          </a:prstGeom>
        </p:spPr>
      </p:pic>
      <p:sp>
        <p:nvSpPr>
          <p:cNvPr id="13" name="Text 9"/>
          <p:cNvSpPr/>
          <p:nvPr/>
        </p:nvSpPr>
        <p:spPr>
          <a:xfrm>
            <a:off x="5047488" y="1956816"/>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Schedule</a:t>
            </a:r>
            <a:endParaRPr lang="en-US" sz="1800" dirty="0"/>
          </a:p>
        </p:txBody>
      </p:sp>
      <p:sp>
        <p:nvSpPr>
          <p:cNvPr id="14" name="Text 10"/>
          <p:cNvSpPr/>
          <p:nvPr/>
        </p:nvSpPr>
        <p:spPr>
          <a:xfrm>
            <a:off x="4425696" y="2596896"/>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Does a real slice fit the time you actually have?</a:t>
            </a:r>
            <a:endParaRPr lang="en-US" sz="1300" dirty="0"/>
          </a:p>
        </p:txBody>
      </p:sp>
      <p:sp>
        <p:nvSpPr>
          <p:cNvPr id="15" name="Shape 11"/>
          <p:cNvSpPr/>
          <p:nvPr/>
        </p:nvSpPr>
        <p:spPr>
          <a:xfrm>
            <a:off x="7827264" y="1737360"/>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065008" y="1956816"/>
            <a:ext cx="512064" cy="512064"/>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203265" y="2095073"/>
            <a:ext cx="235549" cy="235549"/>
          </a:xfrm>
          <a:prstGeom prst="rect">
            <a:avLst/>
          </a:prstGeom>
        </p:spPr>
      </p:pic>
      <p:sp>
        <p:nvSpPr>
          <p:cNvPr id="18" name="Text 13"/>
          <p:cNvSpPr/>
          <p:nvPr/>
        </p:nvSpPr>
        <p:spPr>
          <a:xfrm>
            <a:off x="8686800" y="1956816"/>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Dependency</a:t>
            </a:r>
            <a:endParaRPr lang="en-US" sz="1800" dirty="0"/>
          </a:p>
        </p:txBody>
      </p:sp>
      <p:sp>
        <p:nvSpPr>
          <p:cNvPr id="19" name="Text 14"/>
          <p:cNvSpPr/>
          <p:nvPr/>
        </p:nvSpPr>
        <p:spPr>
          <a:xfrm>
            <a:off x="8065008" y="2596896"/>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An API or service that could vanish, cost, or throttle you?</a:t>
            </a:r>
            <a:endParaRPr lang="en-US" sz="1300" dirty="0"/>
          </a:p>
        </p:txBody>
      </p:sp>
      <p:sp>
        <p:nvSpPr>
          <p:cNvPr id="20" name="Shape 15"/>
          <p:cNvSpPr/>
          <p:nvPr/>
        </p:nvSpPr>
        <p:spPr>
          <a:xfrm>
            <a:off x="548640" y="3630168"/>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786384" y="3849624"/>
            <a:ext cx="512064" cy="512064"/>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24641" y="3987881"/>
            <a:ext cx="235549" cy="235549"/>
          </a:xfrm>
          <a:prstGeom prst="rect">
            <a:avLst/>
          </a:prstGeom>
        </p:spPr>
      </p:pic>
      <p:sp>
        <p:nvSpPr>
          <p:cNvPr id="23" name="Text 17"/>
          <p:cNvSpPr/>
          <p:nvPr/>
        </p:nvSpPr>
        <p:spPr>
          <a:xfrm>
            <a:off x="1408176" y="3849624"/>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Skill</a:t>
            </a:r>
            <a:endParaRPr lang="en-US" sz="1800" dirty="0"/>
          </a:p>
        </p:txBody>
      </p:sp>
      <p:sp>
        <p:nvSpPr>
          <p:cNvPr id="24" name="Text 18"/>
          <p:cNvSpPr/>
          <p:nvPr/>
        </p:nvSpPr>
        <p:spPr>
          <a:xfrm>
            <a:off x="786384" y="4489704"/>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A gap between what the build needs and what you know?</a:t>
            </a:r>
            <a:endParaRPr lang="en-US" sz="1300" dirty="0"/>
          </a:p>
        </p:txBody>
      </p:sp>
      <p:sp>
        <p:nvSpPr>
          <p:cNvPr id="25" name="Shape 19"/>
          <p:cNvSpPr/>
          <p:nvPr/>
        </p:nvSpPr>
        <p:spPr>
          <a:xfrm>
            <a:off x="4187952" y="3630168"/>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4425696" y="3849624"/>
            <a:ext cx="512064" cy="512064"/>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4563953" y="3987881"/>
            <a:ext cx="235549" cy="235549"/>
          </a:xfrm>
          <a:prstGeom prst="rect">
            <a:avLst/>
          </a:prstGeom>
        </p:spPr>
      </p:pic>
      <p:sp>
        <p:nvSpPr>
          <p:cNvPr id="28" name="Text 21"/>
          <p:cNvSpPr/>
          <p:nvPr/>
        </p:nvSpPr>
        <p:spPr>
          <a:xfrm>
            <a:off x="5047488" y="3849624"/>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Adoption</a:t>
            </a:r>
            <a:endParaRPr lang="en-US" sz="1800" dirty="0"/>
          </a:p>
        </p:txBody>
      </p:sp>
      <p:sp>
        <p:nvSpPr>
          <p:cNvPr id="29" name="Text 22"/>
          <p:cNvSpPr/>
          <p:nvPr/>
        </p:nvSpPr>
        <p:spPr>
          <a:xfrm>
            <a:off x="4425696" y="4489704"/>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Will real users use it — or is the need too weak?</a:t>
            </a:r>
            <a:endParaRPr lang="en-US" sz="1300" dirty="0"/>
          </a:p>
        </p:txBody>
      </p:sp>
      <p:sp>
        <p:nvSpPr>
          <p:cNvPr id="30" name="Shape 23"/>
          <p:cNvSpPr/>
          <p:nvPr/>
        </p:nvSpPr>
        <p:spPr>
          <a:xfrm>
            <a:off x="7827264" y="3630168"/>
            <a:ext cx="3502152" cy="1737360"/>
          </a:xfrm>
          <a:prstGeom prst="roundRect">
            <a:avLst>
              <a:gd name="adj" fmla="val 4737"/>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065008" y="3849624"/>
            <a:ext cx="512064" cy="512064"/>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8203265" y="3987881"/>
            <a:ext cx="235549" cy="235549"/>
          </a:xfrm>
          <a:prstGeom prst="rect">
            <a:avLst/>
          </a:prstGeom>
        </p:spPr>
      </p:pic>
      <p:sp>
        <p:nvSpPr>
          <p:cNvPr id="33" name="Text 25"/>
          <p:cNvSpPr/>
          <p:nvPr/>
        </p:nvSpPr>
        <p:spPr>
          <a:xfrm>
            <a:off x="8686800" y="3849624"/>
            <a:ext cx="2496312"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Maintenance</a:t>
            </a:r>
            <a:endParaRPr lang="en-US" sz="1800" dirty="0"/>
          </a:p>
        </p:txBody>
      </p:sp>
      <p:sp>
        <p:nvSpPr>
          <p:cNvPr id="34" name="Text 26"/>
          <p:cNvSpPr/>
          <p:nvPr/>
        </p:nvSpPr>
        <p:spPr>
          <a:xfrm>
            <a:off x="8065008" y="4489704"/>
            <a:ext cx="3044952" cy="77724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Can you and future contributors keep it running?</a:t>
            </a:r>
            <a:endParaRPr lang="en-US" sz="1300" dirty="0"/>
          </a:p>
        </p:txBody>
      </p:sp>
      <p:sp>
        <p:nvSpPr>
          <p:cNvPr id="35" name="Shape 27"/>
          <p:cNvSpPr/>
          <p:nvPr/>
        </p:nvSpPr>
        <p:spPr>
          <a:xfrm>
            <a:off x="548640" y="5532120"/>
            <a:ext cx="11064240" cy="658368"/>
          </a:xfrm>
          <a:prstGeom prst="roundRect">
            <a:avLst>
              <a:gd name="adj" fmla="val 12500"/>
            </a:avLst>
          </a:prstGeom>
          <a:solidFill>
            <a:srgbClr val="14233A"/>
          </a:solidFill>
          <a:ln/>
          <a:effectLst>
            <a:outerShdw sx="100000" sy="100000" kx="0" ky="0" algn="bl" rotWithShape="0" blurRad="88900" dist="38100" dir="5400000">
              <a:srgbClr val="000000">
                <a:alpha val="13000"/>
              </a:srgbClr>
            </a:outerShdw>
          </a:effectLst>
        </p:spPr>
      </p:sp>
      <p:sp>
        <p:nvSpPr>
          <p:cNvPr id="36" name="Text 28"/>
          <p:cNvSpPr/>
          <p:nvPr/>
        </p:nvSpPr>
        <p:spPr>
          <a:xfrm>
            <a:off x="822960" y="5532120"/>
            <a:ext cx="10515600" cy="658368"/>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The move:  </a:t>
            </a:r>
            <a:pPr algn="ctr" indent="0" marL="0">
              <a:buNone/>
            </a:pPr>
            <a:r>
              <a:rPr lang="en-US" sz="1500" dirty="0">
                <a:solidFill>
                  <a:srgbClr val="FFFFFF"/>
                </a:solidFill>
                <a:latin typeface="Calibri" pitchFamily="34" charset="0"/>
                <a:ea typeface="Calibri" pitchFamily="34" charset="-122"/>
                <a:cs typeface="Calibri" pitchFamily="34" charset="-120"/>
              </a:rPr>
              <a:t>rate each low / med / high, then circle the one or two that could sink it — those you de-risk first.</a:t>
            </a:r>
            <a:endParaRPr lang="en-US" sz="1500" dirty="0"/>
          </a:p>
        </p:txBody>
      </p:sp>
      <p:sp>
        <p:nvSpPr>
          <p:cNvPr id="37" name="Text 2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38"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OUR WORKED EXAMPLE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Meet QueueUp</a:t>
            </a:r>
            <a:endParaRPr lang="en-US" sz="3100" dirty="0"/>
          </a:p>
        </p:txBody>
      </p:sp>
      <p:sp>
        <p:nvSpPr>
          <p:cNvPr id="5" name="Shape 3"/>
          <p:cNvSpPr/>
          <p:nvPr/>
        </p:nvSpPr>
        <p:spPr>
          <a:xfrm>
            <a:off x="548640" y="1737360"/>
            <a:ext cx="11064240" cy="1572768"/>
          </a:xfrm>
          <a:prstGeom prst="roundRect">
            <a:avLst>
              <a:gd name="adj" fmla="val 5233"/>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048256"/>
            <a:ext cx="585216" cy="585216"/>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26688" y="2206264"/>
            <a:ext cx="269199" cy="269199"/>
          </a:xfrm>
          <a:prstGeom prst="rect">
            <a:avLst/>
          </a:prstGeom>
        </p:spPr>
      </p:pic>
      <p:sp>
        <p:nvSpPr>
          <p:cNvPr id="8" name="Text 5"/>
          <p:cNvSpPr/>
          <p:nvPr/>
        </p:nvSpPr>
        <p:spPr>
          <a:xfrm>
            <a:off x="1600200" y="1737360"/>
            <a:ext cx="9784080" cy="1572768"/>
          </a:xfrm>
          <a:prstGeom prst="rect">
            <a:avLst/>
          </a:prstGeom>
          <a:noFill/>
          <a:ln/>
        </p:spPr>
        <p:txBody>
          <a:bodyPr wrap="square" lIns="0" tIns="0" rIns="0" bIns="0" rtlCol="0" anchor="ctr"/>
          <a:lstStyle/>
          <a:p>
            <a:pPr indent="0" marL="0">
              <a:lnSpc>
                <a:spcPct val="105000"/>
              </a:lnSpc>
              <a:buNone/>
            </a:pPr>
            <a:r>
              <a:rPr lang="en-US" sz="1550" b="1" dirty="0">
                <a:solidFill>
                  <a:srgbClr val="1E2A36"/>
                </a:solidFill>
                <a:latin typeface="Calibri" pitchFamily="34" charset="0"/>
                <a:ea typeface="Calibri" pitchFamily="34" charset="-122"/>
                <a:cs typeface="Calibri" pitchFamily="34" charset="-120"/>
              </a:rPr>
              <a:t>A live office-hours help queue.  </a:t>
            </a:r>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Office hours are chaos — students don't know their place in line, TAs lose track of who's next, and remote students get skipped. QueueUp: a student adds themselves with a topic, everyone sees their real-time position, and the TA claims the next person — remote and in-person, one line.</a:t>
            </a:r>
            <a:endParaRPr lang="en-US" sz="1550" dirty="0"/>
          </a:p>
        </p:txBody>
      </p:sp>
      <p:sp>
        <p:nvSpPr>
          <p:cNvPr id="9" name="Shape 6"/>
          <p:cNvSpPr/>
          <p:nvPr/>
        </p:nvSpPr>
        <p:spPr>
          <a:xfrm>
            <a:off x="548640" y="3493008"/>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767328"/>
            <a:ext cx="548640" cy="548640"/>
          </a:xfrm>
          <a:prstGeom prst="ellipse">
            <a:avLst/>
          </a:prstGeom>
          <a:solidFill>
            <a:srgbClr val="14233A"/>
          </a:solidFill>
          <a:ln/>
        </p:spPr>
      </p:sp>
      <p:pic>
        <p:nvPicPr>
          <p:cNvPr id="11" name="Image 1" descr="preencoded.png">    </p:cNvPr>
          <p:cNvPicPr>
            <a:picLocks noChangeAspect="1"/>
          </p:cNvPicPr>
          <p:nvPr/>
        </p:nvPicPr>
        <p:blipFill>
          <a:blip r:embed="rId2"/>
          <a:stretch>
            <a:fillRect/>
          </a:stretch>
        </p:blipFill>
        <p:spPr>
          <a:xfrm>
            <a:off x="971093" y="3915461"/>
            <a:ext cx="252374" cy="252374"/>
          </a:xfrm>
          <a:prstGeom prst="rect">
            <a:avLst/>
          </a:prstGeom>
        </p:spPr>
      </p:pic>
      <p:sp>
        <p:nvSpPr>
          <p:cNvPr id="12" name="Text 8"/>
          <p:cNvSpPr/>
          <p:nvPr/>
        </p:nvSpPr>
        <p:spPr>
          <a:xfrm>
            <a:off x="1499616" y="3803904"/>
            <a:ext cx="2414016" cy="50292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Two roles</a:t>
            </a:r>
            <a:endParaRPr lang="en-US" sz="1700" dirty="0"/>
          </a:p>
        </p:txBody>
      </p:sp>
      <p:sp>
        <p:nvSpPr>
          <p:cNvPr id="13" name="Text 9"/>
          <p:cNvSpPr/>
          <p:nvPr/>
        </p:nvSpPr>
        <p:spPr>
          <a:xfrm>
            <a:off x="822960" y="4434840"/>
            <a:ext cx="3008376" cy="74980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Student and TA — each sees a different view.</a:t>
            </a:r>
            <a:endParaRPr lang="en-US" sz="1300" dirty="0"/>
          </a:p>
        </p:txBody>
      </p:sp>
      <p:sp>
        <p:nvSpPr>
          <p:cNvPr id="14" name="Shape 10"/>
          <p:cNvSpPr/>
          <p:nvPr/>
        </p:nvSpPr>
        <p:spPr>
          <a:xfrm>
            <a:off x="4233672" y="3493008"/>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4507992" y="3767328"/>
            <a:ext cx="548640" cy="548640"/>
          </a:xfrm>
          <a:prstGeom prst="ellipse">
            <a:avLst/>
          </a:prstGeom>
          <a:solidFill>
            <a:srgbClr val="14233A"/>
          </a:solidFill>
          <a:ln/>
        </p:spPr>
      </p:sp>
      <p:pic>
        <p:nvPicPr>
          <p:cNvPr id="16" name="Image 2" descr="preencoded.png">    </p:cNvPr>
          <p:cNvPicPr>
            <a:picLocks noChangeAspect="1"/>
          </p:cNvPicPr>
          <p:nvPr/>
        </p:nvPicPr>
        <p:blipFill>
          <a:blip r:embed="rId3"/>
          <a:stretch>
            <a:fillRect/>
          </a:stretch>
        </p:blipFill>
        <p:spPr>
          <a:xfrm>
            <a:off x="4656125" y="3915461"/>
            <a:ext cx="252374" cy="252374"/>
          </a:xfrm>
          <a:prstGeom prst="rect">
            <a:avLst/>
          </a:prstGeom>
        </p:spPr>
      </p:pic>
      <p:sp>
        <p:nvSpPr>
          <p:cNvPr id="17" name="Text 12"/>
          <p:cNvSpPr/>
          <p:nvPr/>
        </p:nvSpPr>
        <p:spPr>
          <a:xfrm>
            <a:off x="5184648" y="3803904"/>
            <a:ext cx="2414016" cy="50292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A live queue</a:t>
            </a:r>
            <a:endParaRPr lang="en-US" sz="1700" dirty="0"/>
          </a:p>
        </p:txBody>
      </p:sp>
      <p:sp>
        <p:nvSpPr>
          <p:cNvPr id="18" name="Text 13"/>
          <p:cNvSpPr/>
          <p:nvPr/>
        </p:nvSpPr>
        <p:spPr>
          <a:xfrm>
            <a:off x="4507992" y="4434840"/>
            <a:ext cx="3008376" cy="74980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Positions update in real time as people join and get claimed.</a:t>
            </a:r>
            <a:endParaRPr lang="en-US" sz="1300" dirty="0"/>
          </a:p>
        </p:txBody>
      </p:sp>
      <p:sp>
        <p:nvSpPr>
          <p:cNvPr id="19" name="Shape 14"/>
          <p:cNvSpPr/>
          <p:nvPr/>
        </p:nvSpPr>
        <p:spPr>
          <a:xfrm>
            <a:off x="7918704" y="3493008"/>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20" name="Shape 15"/>
          <p:cNvSpPr/>
          <p:nvPr/>
        </p:nvSpPr>
        <p:spPr>
          <a:xfrm>
            <a:off x="8193024" y="3767328"/>
            <a:ext cx="548640" cy="548640"/>
          </a:xfrm>
          <a:prstGeom prst="ellipse">
            <a:avLst/>
          </a:prstGeom>
          <a:solidFill>
            <a:srgbClr val="14233A"/>
          </a:solidFill>
          <a:ln/>
        </p:spPr>
      </p:sp>
      <p:pic>
        <p:nvPicPr>
          <p:cNvPr id="21" name="Image 3" descr="preencoded.png">    </p:cNvPr>
          <p:cNvPicPr>
            <a:picLocks noChangeAspect="1"/>
          </p:cNvPicPr>
          <p:nvPr/>
        </p:nvPicPr>
        <p:blipFill>
          <a:blip r:embed="rId4"/>
          <a:stretch>
            <a:fillRect/>
          </a:stretch>
        </p:blipFill>
        <p:spPr>
          <a:xfrm>
            <a:off x="8341157" y="3915461"/>
            <a:ext cx="252374" cy="252374"/>
          </a:xfrm>
          <a:prstGeom prst="rect">
            <a:avLst/>
          </a:prstGeom>
        </p:spPr>
      </p:pic>
      <p:sp>
        <p:nvSpPr>
          <p:cNvPr id="22" name="Text 16"/>
          <p:cNvSpPr/>
          <p:nvPr/>
        </p:nvSpPr>
        <p:spPr>
          <a:xfrm>
            <a:off x="8869680" y="3803904"/>
            <a:ext cx="2414016" cy="50292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Room to grow</a:t>
            </a:r>
            <a:endParaRPr lang="en-US" sz="1700" dirty="0"/>
          </a:p>
        </p:txBody>
      </p:sp>
      <p:sp>
        <p:nvSpPr>
          <p:cNvPr id="23" name="Text 17"/>
          <p:cNvSpPr/>
          <p:nvPr/>
        </p:nvSpPr>
        <p:spPr>
          <a:xfrm>
            <a:off x="8193024" y="4434840"/>
            <a:ext cx="3008376" cy="749808"/>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Notifications, wait-time analytics, multi-course later.</a:t>
            </a:r>
            <a:endParaRPr lang="en-US" sz="1300" dirty="0"/>
          </a:p>
        </p:txBody>
      </p:sp>
      <p:sp>
        <p:nvSpPr>
          <p:cNvPr id="24" name="Shape 18"/>
          <p:cNvSpPr/>
          <p:nvPr/>
        </p:nvSpPr>
        <p:spPr>
          <a:xfrm>
            <a:off x="548640" y="5458968"/>
            <a:ext cx="11064240" cy="731520"/>
          </a:xfrm>
          <a:prstGeom prst="roundRect">
            <a:avLst>
              <a:gd name="adj" fmla="val 11250"/>
            </a:avLst>
          </a:prstGeom>
          <a:solidFill>
            <a:srgbClr val="14233A"/>
          </a:solidFill>
          <a:ln/>
          <a:effectLst>
            <a:outerShdw sx="100000" sy="100000" kx="0" ky="0" algn="bl" rotWithShape="0" blurRad="88900" dist="38100" dir="5400000">
              <a:srgbClr val="000000">
                <a:alpha val="13000"/>
              </a:srgbClr>
            </a:outerShdw>
          </a:effectLst>
        </p:spPr>
      </p:sp>
      <p:sp>
        <p:nvSpPr>
          <p:cNvPr id="25" name="Text 19"/>
          <p:cNvSpPr/>
          <p:nvPr/>
        </p:nvSpPr>
        <p:spPr>
          <a:xfrm>
            <a:off x="822960" y="5458968"/>
            <a:ext cx="10515600" cy="731520"/>
          </a:xfrm>
          <a:prstGeom prst="rect">
            <a:avLst/>
          </a:prstGeom>
          <a:noFill/>
          <a:ln/>
        </p:spPr>
        <p:txBody>
          <a:bodyPr wrap="square" lIns="0" tIns="0" rIns="0" bIns="0" rtlCol="0" anchor="ctr"/>
          <a:lstStyle/>
          <a:p>
            <a:pPr algn="ctr" indent="0" marL="0">
              <a:buNone/>
            </a:pPr>
            <a:r>
              <a:rPr lang="en-US" sz="1450" b="1" dirty="0">
                <a:solidFill>
                  <a:srgbClr val="E8A33D"/>
                </a:solidFill>
                <a:latin typeface="Calibri" pitchFamily="34" charset="0"/>
                <a:ea typeface="Calibri" pitchFamily="34" charset="-122"/>
                <a:cs typeface="Calibri" pitchFamily="34" charset="-120"/>
              </a:rPr>
              <a:t>We'll trace QueueUp through all of today</a:t>
            </a:r>
            <a:pPr algn="ctr" indent="0" marL="0">
              <a:buNone/>
            </a:pPr>
            <a:r>
              <a:rPr lang="en-US" sz="1450" dirty="0">
                <a:solidFill>
                  <a:srgbClr val="FFFFFF"/>
                </a:solidFill>
                <a:latin typeface="Calibri" pitchFamily="34" charset="0"/>
                <a:ea typeface="Calibri" pitchFamily="34" charset="-122"/>
                <a:cs typeface="Calibri" pitchFamily="34" charset="-120"/>
              </a:rPr>
              <a:t> — a feasibility pass, a spike, and a learning plan. It's a teaching vehicle; you find your own idea.</a:t>
            </a:r>
            <a:endParaRPr lang="en-US" sz="145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MODEL IT LIVE — QUEUEUP</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Six risks, one honest pass</a:t>
            </a:r>
            <a:endParaRPr lang="en-US" sz="3100" dirty="0"/>
          </a:p>
        </p:txBody>
      </p:sp>
      <p:sp>
        <p:nvSpPr>
          <p:cNvPr id="5" name="Text 3"/>
          <p:cNvSpPr/>
          <p:nvPr/>
        </p:nvSpPr>
        <p:spPr>
          <a:xfrm>
            <a:off x="548640" y="1572768"/>
            <a:ext cx="11064240" cy="320040"/>
          </a:xfrm>
          <a:prstGeom prst="rect">
            <a:avLst/>
          </a:prstGeom>
          <a:noFill/>
          <a:ln/>
        </p:spPr>
        <p:txBody>
          <a:bodyPr wrap="square" lIns="0" tIns="0" rIns="0" bIns="0" rtlCol="0" anchor="ctr"/>
          <a:lstStyle/>
          <a:p>
            <a:pPr indent="0" marL="0">
              <a:buNone/>
            </a:pPr>
            <a:r>
              <a:rPr lang="en-US" sz="1450" i="1" dirty="0">
                <a:solidFill>
                  <a:srgbClr val="5F7284"/>
                </a:solidFill>
                <a:latin typeface="Calibri" pitchFamily="34" charset="0"/>
                <a:ea typeface="Calibri" pitchFamily="34" charset="-122"/>
                <a:cs typeface="Calibri" pitchFamily="34" charset="-120"/>
              </a:rPr>
              <a:t>QueueUp — a live office-hours help queue. Rate its six risks with the room:</a:t>
            </a:r>
            <a:endParaRPr lang="en-US" sz="1450" dirty="0"/>
          </a:p>
        </p:txBody>
      </p:sp>
      <p:sp>
        <p:nvSpPr>
          <p:cNvPr id="6" name="Shape 4"/>
          <p:cNvSpPr/>
          <p:nvPr/>
        </p:nvSpPr>
        <p:spPr>
          <a:xfrm>
            <a:off x="548640" y="1938528"/>
            <a:ext cx="11064240" cy="457200"/>
          </a:xfrm>
          <a:prstGeom prst="rect">
            <a:avLst/>
          </a:prstGeom>
          <a:solidFill>
            <a:srgbClr val="14233A"/>
          </a:solidFill>
          <a:ln/>
        </p:spPr>
      </p:sp>
      <p:sp>
        <p:nvSpPr>
          <p:cNvPr id="7" name="Text 5"/>
          <p:cNvSpPr/>
          <p:nvPr/>
        </p:nvSpPr>
        <p:spPr>
          <a:xfrm>
            <a:off x="658368" y="1938528"/>
            <a:ext cx="2066544"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Category</a:t>
            </a:r>
            <a:endParaRPr lang="en-US" sz="1400" dirty="0"/>
          </a:p>
        </p:txBody>
      </p:sp>
      <p:sp>
        <p:nvSpPr>
          <p:cNvPr id="8" name="Text 6"/>
          <p:cNvSpPr/>
          <p:nvPr/>
        </p:nvSpPr>
        <p:spPr>
          <a:xfrm>
            <a:off x="2834640" y="1938528"/>
            <a:ext cx="11887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Read</a:t>
            </a:r>
            <a:endParaRPr lang="en-US" sz="1400" dirty="0"/>
          </a:p>
        </p:txBody>
      </p:sp>
      <p:sp>
        <p:nvSpPr>
          <p:cNvPr id="9" name="Text 7"/>
          <p:cNvSpPr/>
          <p:nvPr/>
        </p:nvSpPr>
        <p:spPr>
          <a:xfrm>
            <a:off x="4133088" y="1938528"/>
            <a:ext cx="7370064"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p>
        </p:txBody>
      </p:sp>
      <p:sp>
        <p:nvSpPr>
          <p:cNvPr id="10" name="Shape 8"/>
          <p:cNvSpPr/>
          <p:nvPr/>
        </p:nvSpPr>
        <p:spPr>
          <a:xfrm>
            <a:off x="548640" y="2450592"/>
            <a:ext cx="11064240" cy="452628"/>
          </a:xfrm>
          <a:prstGeom prst="rect">
            <a:avLst/>
          </a:prstGeom>
          <a:solidFill>
            <a:srgbClr val="F2F6F8"/>
          </a:solidFill>
          <a:ln/>
        </p:spPr>
      </p:sp>
      <p:sp>
        <p:nvSpPr>
          <p:cNvPr id="11" name="click-7"/>
          <p:cNvSpPr/>
          <p:nvPr/>
        </p:nvSpPr>
        <p:spPr>
          <a:xfrm>
            <a:off x="548640" y="2450592"/>
            <a:ext cx="11064240" cy="452628"/>
          </a:xfrm>
          <a:prstGeom prst="rect">
            <a:avLst/>
          </a:prstGeom>
          <a:solidFill>
            <a:srgbClr val="FBEAD2"/>
          </a:solidFill>
          <a:ln/>
        </p:spPr>
      </p:sp>
      <p:sp>
        <p:nvSpPr>
          <p:cNvPr id="12" name="Text 10"/>
          <p:cNvSpPr/>
          <p:nvPr/>
        </p:nvSpPr>
        <p:spPr>
          <a:xfrm>
            <a:off x="658368" y="2450592"/>
            <a:ext cx="2066544" cy="452628"/>
          </a:xfrm>
          <a:prstGeom prst="rect">
            <a:avLst/>
          </a:prstGeom>
          <a:noFill/>
          <a:ln/>
        </p:spPr>
        <p:txBody>
          <a:bodyPr wrap="square" lIns="0" tIns="0" rIns="0" bIns="0" rtlCol="0" anchor="ctr"/>
          <a:lstStyle/>
          <a:p>
            <a:pPr indent="0" marL="0">
              <a:buNone/>
            </a:pPr>
            <a:r>
              <a:rPr lang="en-US" sz="1400" b="1" dirty="0">
                <a:solidFill>
                  <a:srgbClr val="1E2A36"/>
                </a:solidFill>
                <a:latin typeface="Calibri" pitchFamily="34" charset="0"/>
                <a:ea typeface="Calibri" pitchFamily="34" charset="-122"/>
                <a:cs typeface="Calibri" pitchFamily="34" charset="-120"/>
              </a:rPr>
              <a:t>Technical</a:t>
            </a:r>
            <a:endParaRPr lang="en-US" sz="1400" dirty="0"/>
          </a:p>
        </p:txBody>
      </p:sp>
      <p:sp>
        <p:nvSpPr>
          <p:cNvPr id="13" name="click-1"/>
          <p:cNvSpPr/>
          <p:nvPr/>
        </p:nvSpPr>
        <p:spPr>
          <a:xfrm>
            <a:off x="2834640" y="2450592"/>
            <a:ext cx="1188720" cy="452628"/>
          </a:xfrm>
          <a:prstGeom prst="rect">
            <a:avLst/>
          </a:prstGeom>
          <a:noFill/>
          <a:ln/>
        </p:spPr>
        <p:txBody>
          <a:bodyPr wrap="square" lIns="0" tIns="0" rIns="0" bIns="0" rtlCol="0" anchor="ctr"/>
          <a:lstStyle/>
          <a:p>
            <a:pPr algn="ctr" indent="0" marL="0">
              <a:buNone/>
            </a:pPr>
            <a:r>
              <a:rPr lang="en-US" sz="1400" b="1" dirty="0">
                <a:solidFill>
                  <a:srgbClr val="D9614C"/>
                </a:solidFill>
                <a:latin typeface="Calibri" pitchFamily="34" charset="0"/>
                <a:ea typeface="Calibri" pitchFamily="34" charset="-122"/>
                <a:cs typeface="Calibri" pitchFamily="34" charset="-120"/>
              </a:rPr>
              <a:t>High</a:t>
            </a:r>
            <a:endParaRPr lang="en-US" sz="1400" dirty="0"/>
          </a:p>
        </p:txBody>
      </p:sp>
      <p:sp>
        <p:nvSpPr>
          <p:cNvPr id="14" name="click-1"/>
          <p:cNvSpPr/>
          <p:nvPr/>
        </p:nvSpPr>
        <p:spPr>
          <a:xfrm>
            <a:off x="4133088" y="2450592"/>
            <a:ext cx="7370064" cy="452628"/>
          </a:xfrm>
          <a:prstGeom prst="rect">
            <a:avLst/>
          </a:prstGeom>
          <a:noFill/>
          <a:ln/>
        </p:spPr>
        <p:txBody>
          <a:bodyPr wrap="square" lIns="0" tIns="0" rIns="0" bIns="0" rtlCol="0" anchor="ctr"/>
          <a:lstStyle/>
          <a:p>
            <a:pPr indent="0" marL="0">
              <a:buNone/>
            </a:pPr>
            <a:r>
              <a:rPr lang="en-US" sz="1400" dirty="0">
                <a:solidFill>
                  <a:srgbClr val="1E2A36"/>
                </a:solidFill>
                <a:latin typeface="Calibri" pitchFamily="34" charset="0"/>
                <a:ea typeface="Calibri" pitchFamily="34" charset="-122"/>
                <a:cs typeface="Calibri" pitchFamily="34" charset="-120"/>
              </a:rPr>
              <a:t>Live queue pushed to every client in ~1s — never done real-time</a:t>
            </a:r>
            <a:endParaRPr lang="en-US" sz="1400" dirty="0"/>
          </a:p>
        </p:txBody>
      </p:sp>
      <p:sp>
        <p:nvSpPr>
          <p:cNvPr id="15" name="Shape 13"/>
          <p:cNvSpPr/>
          <p:nvPr/>
        </p:nvSpPr>
        <p:spPr>
          <a:xfrm>
            <a:off x="548640" y="2939796"/>
            <a:ext cx="11064240" cy="452628"/>
          </a:xfrm>
          <a:prstGeom prst="rect">
            <a:avLst/>
          </a:prstGeom>
          <a:solidFill>
            <a:srgbClr val="F2F6F8"/>
          </a:solidFill>
          <a:ln/>
        </p:spPr>
      </p:sp>
      <p:sp>
        <p:nvSpPr>
          <p:cNvPr id="16" name="Text 14"/>
          <p:cNvSpPr/>
          <p:nvPr/>
        </p:nvSpPr>
        <p:spPr>
          <a:xfrm>
            <a:off x="658368" y="2939796"/>
            <a:ext cx="2066544" cy="452628"/>
          </a:xfrm>
          <a:prstGeom prst="rect">
            <a:avLst/>
          </a:prstGeom>
          <a:noFill/>
          <a:ln/>
        </p:spPr>
        <p:txBody>
          <a:bodyPr wrap="square" lIns="0" tIns="0" rIns="0" bIns="0" rtlCol="0" anchor="ctr"/>
          <a:lstStyle/>
          <a:p>
            <a:pPr indent="0" marL="0">
              <a:buNone/>
            </a:pPr>
            <a:r>
              <a:rPr lang="en-US" sz="1400" b="1" dirty="0">
                <a:solidFill>
                  <a:srgbClr val="1E2A36"/>
                </a:solidFill>
                <a:latin typeface="Calibri" pitchFamily="34" charset="0"/>
                <a:ea typeface="Calibri" pitchFamily="34" charset="-122"/>
                <a:cs typeface="Calibri" pitchFamily="34" charset="-120"/>
              </a:rPr>
              <a:t>Schedule</a:t>
            </a:r>
            <a:endParaRPr lang="en-US" sz="1400" dirty="0"/>
          </a:p>
        </p:txBody>
      </p:sp>
      <p:sp>
        <p:nvSpPr>
          <p:cNvPr id="17" name="click-2"/>
          <p:cNvSpPr/>
          <p:nvPr/>
        </p:nvSpPr>
        <p:spPr>
          <a:xfrm>
            <a:off x="2834640" y="2939796"/>
            <a:ext cx="1188720" cy="452628"/>
          </a:xfrm>
          <a:prstGeom prst="rect">
            <a:avLst/>
          </a:prstGeom>
          <a:noFill/>
          <a:ln/>
        </p:spPr>
        <p:txBody>
          <a:bodyPr wrap="square" lIns="0" tIns="0" rIns="0" bIns="0" rtlCol="0" anchor="ctr"/>
          <a:lstStyle/>
          <a:p>
            <a:pPr algn="ctr" indent="0" marL="0">
              <a:buNone/>
            </a:pPr>
            <a:r>
              <a:rPr lang="en-US" sz="1400" b="1" dirty="0">
                <a:solidFill>
                  <a:srgbClr val="5F7284"/>
                </a:solidFill>
                <a:latin typeface="Calibri" pitchFamily="34" charset="0"/>
                <a:ea typeface="Calibri" pitchFamily="34" charset="-122"/>
                <a:cs typeface="Calibri" pitchFamily="34" charset="-120"/>
              </a:rPr>
              <a:t>Med</a:t>
            </a:r>
            <a:endParaRPr lang="en-US" sz="1400" dirty="0"/>
          </a:p>
        </p:txBody>
      </p:sp>
      <p:sp>
        <p:nvSpPr>
          <p:cNvPr id="18" name="click-2"/>
          <p:cNvSpPr/>
          <p:nvPr/>
        </p:nvSpPr>
        <p:spPr>
          <a:xfrm>
            <a:off x="4133088" y="2939796"/>
            <a:ext cx="7370064" cy="452628"/>
          </a:xfrm>
          <a:prstGeom prst="rect">
            <a:avLst/>
          </a:prstGeom>
          <a:noFill/>
          <a:ln/>
        </p:spPr>
        <p:txBody>
          <a:bodyPr wrap="square" lIns="0" tIns="0" rIns="0" bIns="0" rtlCol="0" anchor="ctr"/>
          <a:lstStyle/>
          <a:p>
            <a:pPr indent="0" marL="0">
              <a:buNone/>
            </a:pPr>
            <a:r>
              <a:rPr lang="en-US" sz="1400" dirty="0">
                <a:solidFill>
                  <a:srgbClr val="1E2A36"/>
                </a:solidFill>
                <a:latin typeface="Calibri" pitchFamily="34" charset="0"/>
                <a:ea typeface="Calibri" pitchFamily="34" charset="-122"/>
                <a:cs typeface="Calibri" pitchFamily="34" charset="-120"/>
              </a:rPr>
              <a:t>One course, add / see-position / claim — that slice fits</a:t>
            </a:r>
            <a:endParaRPr lang="en-US" sz="1400" dirty="0"/>
          </a:p>
        </p:txBody>
      </p:sp>
      <p:sp>
        <p:nvSpPr>
          <p:cNvPr id="19" name="Shape 17"/>
          <p:cNvSpPr/>
          <p:nvPr/>
        </p:nvSpPr>
        <p:spPr>
          <a:xfrm>
            <a:off x="548640" y="3429000"/>
            <a:ext cx="11064240" cy="452628"/>
          </a:xfrm>
          <a:prstGeom prst="rect">
            <a:avLst/>
          </a:prstGeom>
          <a:solidFill>
            <a:srgbClr val="F2F6F8"/>
          </a:solidFill>
          <a:ln/>
        </p:spPr>
      </p:sp>
      <p:sp>
        <p:nvSpPr>
          <p:cNvPr id="20" name="Text 18"/>
          <p:cNvSpPr/>
          <p:nvPr/>
        </p:nvSpPr>
        <p:spPr>
          <a:xfrm>
            <a:off x="658368" y="3429000"/>
            <a:ext cx="2066544" cy="452628"/>
          </a:xfrm>
          <a:prstGeom prst="rect">
            <a:avLst/>
          </a:prstGeom>
          <a:noFill/>
          <a:ln/>
        </p:spPr>
        <p:txBody>
          <a:bodyPr wrap="square" lIns="0" tIns="0" rIns="0" bIns="0" rtlCol="0" anchor="ctr"/>
          <a:lstStyle/>
          <a:p>
            <a:pPr indent="0" marL="0">
              <a:buNone/>
            </a:pPr>
            <a:r>
              <a:rPr lang="en-US" sz="1400" b="1" dirty="0">
                <a:solidFill>
                  <a:srgbClr val="1E2A36"/>
                </a:solidFill>
                <a:latin typeface="Calibri" pitchFamily="34" charset="0"/>
                <a:ea typeface="Calibri" pitchFamily="34" charset="-122"/>
                <a:cs typeface="Calibri" pitchFamily="34" charset="-120"/>
              </a:rPr>
              <a:t>Dependency</a:t>
            </a:r>
            <a:endParaRPr lang="en-US" sz="1400" dirty="0"/>
          </a:p>
        </p:txBody>
      </p:sp>
      <p:sp>
        <p:nvSpPr>
          <p:cNvPr id="21" name="click-3"/>
          <p:cNvSpPr/>
          <p:nvPr/>
        </p:nvSpPr>
        <p:spPr>
          <a:xfrm>
            <a:off x="2834640" y="3429000"/>
            <a:ext cx="1188720" cy="452628"/>
          </a:xfrm>
          <a:prstGeom prst="rect">
            <a:avLst/>
          </a:prstGeom>
          <a:noFill/>
          <a:ln/>
        </p:spPr>
        <p:txBody>
          <a:bodyPr wrap="square" lIns="0" tIns="0" rIns="0" bIns="0" rtlCol="0" anchor="ctr"/>
          <a:lstStyle/>
          <a:p>
            <a:pPr algn="ctr" indent="0" marL="0">
              <a:buNone/>
            </a:pPr>
            <a:r>
              <a:rPr lang="en-US" sz="1400" b="1" dirty="0">
                <a:solidFill>
                  <a:srgbClr val="5F7284"/>
                </a:solidFill>
                <a:latin typeface="Calibri" pitchFamily="34" charset="0"/>
                <a:ea typeface="Calibri" pitchFamily="34" charset="-122"/>
                <a:cs typeface="Calibri" pitchFamily="34" charset="-120"/>
              </a:rPr>
              <a:t>Med</a:t>
            </a:r>
            <a:endParaRPr lang="en-US" sz="1400" dirty="0"/>
          </a:p>
        </p:txBody>
      </p:sp>
      <p:sp>
        <p:nvSpPr>
          <p:cNvPr id="22" name="click-3"/>
          <p:cNvSpPr/>
          <p:nvPr/>
        </p:nvSpPr>
        <p:spPr>
          <a:xfrm>
            <a:off x="4133088" y="3429000"/>
            <a:ext cx="7370064" cy="452628"/>
          </a:xfrm>
          <a:prstGeom prst="rect">
            <a:avLst/>
          </a:prstGeom>
          <a:noFill/>
          <a:ln/>
        </p:spPr>
        <p:txBody>
          <a:bodyPr wrap="square" lIns="0" tIns="0" rIns="0" bIns="0" rtlCol="0" anchor="ctr"/>
          <a:lstStyle/>
          <a:p>
            <a:pPr indent="0" marL="0">
              <a:buNone/>
            </a:pPr>
            <a:r>
              <a:rPr lang="en-US" sz="1400" dirty="0">
                <a:solidFill>
                  <a:srgbClr val="1E2A36"/>
                </a:solidFill>
                <a:latin typeface="Calibri" pitchFamily="34" charset="0"/>
                <a:ea typeface="Calibri" pitchFamily="34" charset="-122"/>
                <a:cs typeface="Calibri" pitchFamily="34" charset="-120"/>
              </a:rPr>
              <a:t>Build WebSockets or lean on a managed service (rate limits?)</a:t>
            </a:r>
            <a:endParaRPr lang="en-US" sz="1400" dirty="0"/>
          </a:p>
        </p:txBody>
      </p:sp>
      <p:sp>
        <p:nvSpPr>
          <p:cNvPr id="23" name="Shape 21"/>
          <p:cNvSpPr/>
          <p:nvPr/>
        </p:nvSpPr>
        <p:spPr>
          <a:xfrm>
            <a:off x="548640" y="3918204"/>
            <a:ext cx="11064240" cy="452628"/>
          </a:xfrm>
          <a:prstGeom prst="rect">
            <a:avLst/>
          </a:prstGeom>
          <a:solidFill>
            <a:srgbClr val="F2F6F8"/>
          </a:solidFill>
          <a:ln/>
        </p:spPr>
      </p:sp>
      <p:sp>
        <p:nvSpPr>
          <p:cNvPr id="24" name="click-7"/>
          <p:cNvSpPr/>
          <p:nvPr/>
        </p:nvSpPr>
        <p:spPr>
          <a:xfrm>
            <a:off x="548640" y="3918204"/>
            <a:ext cx="11064240" cy="452628"/>
          </a:xfrm>
          <a:prstGeom prst="rect">
            <a:avLst/>
          </a:prstGeom>
          <a:solidFill>
            <a:srgbClr val="FBEAD2"/>
          </a:solidFill>
          <a:ln/>
        </p:spPr>
      </p:sp>
      <p:sp>
        <p:nvSpPr>
          <p:cNvPr id="25" name="Text 23"/>
          <p:cNvSpPr/>
          <p:nvPr/>
        </p:nvSpPr>
        <p:spPr>
          <a:xfrm>
            <a:off x="658368" y="3918204"/>
            <a:ext cx="2066544" cy="452628"/>
          </a:xfrm>
          <a:prstGeom prst="rect">
            <a:avLst/>
          </a:prstGeom>
          <a:noFill/>
          <a:ln/>
        </p:spPr>
        <p:txBody>
          <a:bodyPr wrap="square" lIns="0" tIns="0" rIns="0" bIns="0" rtlCol="0" anchor="ctr"/>
          <a:lstStyle/>
          <a:p>
            <a:pPr indent="0" marL="0">
              <a:buNone/>
            </a:pPr>
            <a:r>
              <a:rPr lang="en-US" sz="1400" b="1" dirty="0">
                <a:solidFill>
                  <a:srgbClr val="1E2A36"/>
                </a:solidFill>
                <a:latin typeface="Calibri" pitchFamily="34" charset="0"/>
                <a:ea typeface="Calibri" pitchFamily="34" charset="-122"/>
                <a:cs typeface="Calibri" pitchFamily="34" charset="-120"/>
              </a:rPr>
              <a:t>Skill</a:t>
            </a:r>
            <a:endParaRPr lang="en-US" sz="1400" dirty="0"/>
          </a:p>
        </p:txBody>
      </p:sp>
      <p:sp>
        <p:nvSpPr>
          <p:cNvPr id="26" name="click-4"/>
          <p:cNvSpPr/>
          <p:nvPr/>
        </p:nvSpPr>
        <p:spPr>
          <a:xfrm>
            <a:off x="2834640" y="3918204"/>
            <a:ext cx="1188720" cy="452628"/>
          </a:xfrm>
          <a:prstGeom prst="rect">
            <a:avLst/>
          </a:prstGeom>
          <a:noFill/>
          <a:ln/>
        </p:spPr>
        <p:txBody>
          <a:bodyPr wrap="square" lIns="0" tIns="0" rIns="0" bIns="0" rtlCol="0" anchor="ctr"/>
          <a:lstStyle/>
          <a:p>
            <a:pPr algn="ctr" indent="0" marL="0">
              <a:buNone/>
            </a:pPr>
            <a:r>
              <a:rPr lang="en-US" sz="1400" b="1" dirty="0">
                <a:solidFill>
                  <a:srgbClr val="D9614C"/>
                </a:solidFill>
                <a:latin typeface="Calibri" pitchFamily="34" charset="0"/>
                <a:ea typeface="Calibri" pitchFamily="34" charset="-122"/>
                <a:cs typeface="Calibri" pitchFamily="34" charset="-120"/>
              </a:rPr>
              <a:t>High</a:t>
            </a:r>
            <a:endParaRPr lang="en-US" sz="1400" dirty="0"/>
          </a:p>
        </p:txBody>
      </p:sp>
      <p:sp>
        <p:nvSpPr>
          <p:cNvPr id="27" name="click-4"/>
          <p:cNvSpPr/>
          <p:nvPr/>
        </p:nvSpPr>
        <p:spPr>
          <a:xfrm>
            <a:off x="4133088" y="3918204"/>
            <a:ext cx="7370064" cy="452628"/>
          </a:xfrm>
          <a:prstGeom prst="rect">
            <a:avLst/>
          </a:prstGeom>
          <a:noFill/>
          <a:ln/>
        </p:spPr>
        <p:txBody>
          <a:bodyPr wrap="square" lIns="0" tIns="0" rIns="0" bIns="0" rtlCol="0" anchor="ctr"/>
          <a:lstStyle/>
          <a:p>
            <a:pPr indent="0" marL="0">
              <a:buNone/>
            </a:pPr>
            <a:r>
              <a:rPr lang="en-US" sz="1400" dirty="0">
                <a:solidFill>
                  <a:srgbClr val="1E2A36"/>
                </a:solidFill>
                <a:latin typeface="Calibri" pitchFamily="34" charset="0"/>
                <a:ea typeface="Calibri" pitchFamily="34" charset="-122"/>
                <a:cs typeface="Calibri" pitchFamily="34" charset="-120"/>
              </a:rPr>
              <a:t>Built request/response apps, never real-time — same root as Technical</a:t>
            </a:r>
            <a:endParaRPr lang="en-US" sz="1400" dirty="0"/>
          </a:p>
        </p:txBody>
      </p:sp>
      <p:sp>
        <p:nvSpPr>
          <p:cNvPr id="28" name="Shape 26"/>
          <p:cNvSpPr/>
          <p:nvPr/>
        </p:nvSpPr>
        <p:spPr>
          <a:xfrm>
            <a:off x="548640" y="4407408"/>
            <a:ext cx="11064240" cy="452628"/>
          </a:xfrm>
          <a:prstGeom prst="rect">
            <a:avLst/>
          </a:prstGeom>
          <a:solidFill>
            <a:srgbClr val="F2F6F8"/>
          </a:solidFill>
          <a:ln/>
        </p:spPr>
      </p:sp>
      <p:sp>
        <p:nvSpPr>
          <p:cNvPr id="29" name="Text 27"/>
          <p:cNvSpPr/>
          <p:nvPr/>
        </p:nvSpPr>
        <p:spPr>
          <a:xfrm>
            <a:off x="658368" y="4407408"/>
            <a:ext cx="2066544" cy="452628"/>
          </a:xfrm>
          <a:prstGeom prst="rect">
            <a:avLst/>
          </a:prstGeom>
          <a:noFill/>
          <a:ln/>
        </p:spPr>
        <p:txBody>
          <a:bodyPr wrap="square" lIns="0" tIns="0" rIns="0" bIns="0" rtlCol="0" anchor="ctr"/>
          <a:lstStyle/>
          <a:p>
            <a:pPr indent="0" marL="0">
              <a:buNone/>
            </a:pPr>
            <a:r>
              <a:rPr lang="en-US" sz="1400" b="1" dirty="0">
                <a:solidFill>
                  <a:srgbClr val="1E2A36"/>
                </a:solidFill>
                <a:latin typeface="Calibri" pitchFamily="34" charset="0"/>
                <a:ea typeface="Calibri" pitchFamily="34" charset="-122"/>
                <a:cs typeface="Calibri" pitchFamily="34" charset="-120"/>
              </a:rPr>
              <a:t>Adoption</a:t>
            </a:r>
            <a:endParaRPr lang="en-US" sz="1400" dirty="0"/>
          </a:p>
        </p:txBody>
      </p:sp>
      <p:sp>
        <p:nvSpPr>
          <p:cNvPr id="30" name="click-5"/>
          <p:cNvSpPr/>
          <p:nvPr/>
        </p:nvSpPr>
        <p:spPr>
          <a:xfrm>
            <a:off x="2834640" y="4407408"/>
            <a:ext cx="1188720" cy="452628"/>
          </a:xfrm>
          <a:prstGeom prst="rect">
            <a:avLst/>
          </a:prstGeom>
          <a:noFill/>
          <a:ln/>
        </p:spPr>
        <p:txBody>
          <a:bodyPr wrap="square" lIns="0" tIns="0" rIns="0" bIns="0" rtlCol="0" anchor="ctr"/>
          <a:lstStyle/>
          <a:p>
            <a:pPr algn="ctr" indent="0" marL="0">
              <a:buNone/>
            </a:pPr>
            <a:r>
              <a:rPr lang="en-US" sz="1400" b="1" dirty="0">
                <a:solidFill>
                  <a:srgbClr val="5F7284"/>
                </a:solidFill>
                <a:latin typeface="Calibri" pitchFamily="34" charset="0"/>
                <a:ea typeface="Calibri" pitchFamily="34" charset="-122"/>
                <a:cs typeface="Calibri" pitchFamily="34" charset="-120"/>
              </a:rPr>
              <a:t>Med</a:t>
            </a:r>
            <a:endParaRPr lang="en-US" sz="1400" dirty="0"/>
          </a:p>
        </p:txBody>
      </p:sp>
      <p:sp>
        <p:nvSpPr>
          <p:cNvPr id="31" name="click-5"/>
          <p:cNvSpPr/>
          <p:nvPr/>
        </p:nvSpPr>
        <p:spPr>
          <a:xfrm>
            <a:off x="4133088" y="4407408"/>
            <a:ext cx="7370064" cy="452628"/>
          </a:xfrm>
          <a:prstGeom prst="rect">
            <a:avLst/>
          </a:prstGeom>
          <a:noFill/>
          <a:ln/>
        </p:spPr>
        <p:txBody>
          <a:bodyPr wrap="square" lIns="0" tIns="0" rIns="0" bIns="0" rtlCol="0" anchor="ctr"/>
          <a:lstStyle/>
          <a:p>
            <a:pPr indent="0" marL="0">
              <a:buNone/>
            </a:pPr>
            <a:r>
              <a:rPr lang="en-US" sz="1400" dirty="0">
                <a:solidFill>
                  <a:srgbClr val="1E2A36"/>
                </a:solidFill>
                <a:latin typeface="Calibri" pitchFamily="34" charset="0"/>
                <a:ea typeface="Calibri" pitchFamily="34" charset="-122"/>
                <a:cs typeface="Calibri" pitchFamily="34" charset="-120"/>
              </a:rPr>
              <a:t>Will students open an app vs. just walk in? Confirm the “I get skipped” pain is real</a:t>
            </a:r>
            <a:endParaRPr lang="en-US" sz="1400" dirty="0"/>
          </a:p>
        </p:txBody>
      </p:sp>
      <p:sp>
        <p:nvSpPr>
          <p:cNvPr id="32" name="Shape 30"/>
          <p:cNvSpPr/>
          <p:nvPr/>
        </p:nvSpPr>
        <p:spPr>
          <a:xfrm>
            <a:off x="548640" y="4896612"/>
            <a:ext cx="11064240" cy="452628"/>
          </a:xfrm>
          <a:prstGeom prst="rect">
            <a:avLst/>
          </a:prstGeom>
          <a:solidFill>
            <a:srgbClr val="F2F6F8"/>
          </a:solidFill>
          <a:ln/>
        </p:spPr>
      </p:sp>
      <p:sp>
        <p:nvSpPr>
          <p:cNvPr id="33" name="Text 31"/>
          <p:cNvSpPr/>
          <p:nvPr/>
        </p:nvSpPr>
        <p:spPr>
          <a:xfrm>
            <a:off x="658368" y="4896612"/>
            <a:ext cx="2066544" cy="452628"/>
          </a:xfrm>
          <a:prstGeom prst="rect">
            <a:avLst/>
          </a:prstGeom>
          <a:noFill/>
          <a:ln/>
        </p:spPr>
        <p:txBody>
          <a:bodyPr wrap="square" lIns="0" tIns="0" rIns="0" bIns="0" rtlCol="0" anchor="ctr"/>
          <a:lstStyle/>
          <a:p>
            <a:pPr indent="0" marL="0">
              <a:buNone/>
            </a:pPr>
            <a:r>
              <a:rPr lang="en-US" sz="1400" b="1" dirty="0">
                <a:solidFill>
                  <a:srgbClr val="1E2A36"/>
                </a:solidFill>
                <a:latin typeface="Calibri" pitchFamily="34" charset="0"/>
                <a:ea typeface="Calibri" pitchFamily="34" charset="-122"/>
                <a:cs typeface="Calibri" pitchFamily="34" charset="-120"/>
              </a:rPr>
              <a:t>Maintenance</a:t>
            </a:r>
            <a:endParaRPr lang="en-US" sz="1400" dirty="0"/>
          </a:p>
        </p:txBody>
      </p:sp>
      <p:sp>
        <p:nvSpPr>
          <p:cNvPr id="34" name="click-6"/>
          <p:cNvSpPr/>
          <p:nvPr/>
        </p:nvSpPr>
        <p:spPr>
          <a:xfrm>
            <a:off x="2834640" y="4896612"/>
            <a:ext cx="1188720" cy="452628"/>
          </a:xfrm>
          <a:prstGeom prst="rect">
            <a:avLst/>
          </a:prstGeom>
          <a:noFill/>
          <a:ln/>
        </p:spPr>
        <p:txBody>
          <a:bodyPr wrap="square" lIns="0" tIns="0" rIns="0" bIns="0" rtlCol="0" anchor="ctr"/>
          <a:lstStyle/>
          <a:p>
            <a:pPr algn="ctr" indent="0" marL="0">
              <a:buNone/>
            </a:pPr>
            <a:r>
              <a:rPr lang="en-US" sz="1400" b="1" dirty="0">
                <a:solidFill>
                  <a:srgbClr val="5F7284"/>
                </a:solidFill>
                <a:latin typeface="Calibri" pitchFamily="34" charset="0"/>
                <a:ea typeface="Calibri" pitchFamily="34" charset="-122"/>
                <a:cs typeface="Calibri" pitchFamily="34" charset="-120"/>
              </a:rPr>
              <a:t>Med</a:t>
            </a:r>
            <a:endParaRPr lang="en-US" sz="1400" dirty="0"/>
          </a:p>
        </p:txBody>
      </p:sp>
      <p:sp>
        <p:nvSpPr>
          <p:cNvPr id="35" name="click-6"/>
          <p:cNvSpPr/>
          <p:nvPr/>
        </p:nvSpPr>
        <p:spPr>
          <a:xfrm>
            <a:off x="4133088" y="4896612"/>
            <a:ext cx="7370064" cy="452628"/>
          </a:xfrm>
          <a:prstGeom prst="rect">
            <a:avLst/>
          </a:prstGeom>
          <a:noFill/>
          <a:ln/>
        </p:spPr>
        <p:txBody>
          <a:bodyPr wrap="square" lIns="0" tIns="0" rIns="0" bIns="0" rtlCol="0" anchor="ctr"/>
          <a:lstStyle/>
          <a:p>
            <a:pPr indent="0" marL="0">
              <a:buNone/>
            </a:pPr>
            <a:r>
              <a:rPr lang="en-US" sz="1400" dirty="0">
                <a:solidFill>
                  <a:srgbClr val="1E2A36"/>
                </a:solidFill>
                <a:latin typeface="Calibri" pitchFamily="34" charset="0"/>
                <a:ea typeface="Calibri" pitchFamily="34" charset="-122"/>
                <a:cs typeface="Calibri" pitchFamily="34" charset="-120"/>
              </a:rPr>
              <a:t>Runs live every session; a crash is very visible</a:t>
            </a:r>
            <a:endParaRPr lang="en-US" sz="1400" dirty="0"/>
          </a:p>
        </p:txBody>
      </p:sp>
      <p:sp>
        <p:nvSpPr>
          <p:cNvPr id="36" name="click-7"/>
          <p:cNvSpPr/>
          <p:nvPr/>
        </p:nvSpPr>
        <p:spPr>
          <a:xfrm>
            <a:off x="548640" y="5422392"/>
            <a:ext cx="11064240" cy="758952"/>
          </a:xfrm>
          <a:prstGeom prst="roundRect">
            <a:avLst>
              <a:gd name="adj" fmla="val 10843"/>
            </a:avLst>
          </a:prstGeom>
          <a:solidFill>
            <a:srgbClr val="14233A"/>
          </a:solidFill>
          <a:ln/>
          <a:effectLst>
            <a:outerShdw sx="100000" sy="100000" kx="0" ky="0" algn="bl" rotWithShape="0" blurRad="88900" dist="38100" dir="5400000">
              <a:srgbClr val="000000">
                <a:alpha val="13000"/>
              </a:srgbClr>
            </a:outerShdw>
          </a:effectLst>
        </p:spPr>
      </p:sp>
      <p:sp>
        <p:nvSpPr>
          <p:cNvPr id="37" name="click-7"/>
          <p:cNvSpPr/>
          <p:nvPr/>
        </p:nvSpPr>
        <p:spPr>
          <a:xfrm>
            <a:off x="841248" y="5568696"/>
            <a:ext cx="457200" cy="457200"/>
          </a:xfrm>
          <a:prstGeom prst="ellipse">
            <a:avLst/>
          </a:prstGeom>
          <a:solidFill>
            <a:srgbClr val="E8A33D"/>
          </a:solidFill>
          <a:ln/>
        </p:spPr>
      </p:sp>
      <p:pic>
        <p:nvPicPr>
          <p:cNvPr id="38" name="click-7" descr="preencoded.png">    </p:cNvPr>
          <p:cNvPicPr>
            <a:picLocks noChangeAspect="1"/>
          </p:cNvPicPr>
          <p:nvPr/>
        </p:nvPicPr>
        <p:blipFill>
          <a:blip r:embed="rId1"/>
          <a:stretch>
            <a:fillRect/>
          </a:stretch>
        </p:blipFill>
        <p:spPr>
          <a:xfrm>
            <a:off x="964692" y="5692140"/>
            <a:ext cx="210312" cy="210312"/>
          </a:xfrm>
          <a:prstGeom prst="rect">
            <a:avLst/>
          </a:prstGeom>
        </p:spPr>
      </p:pic>
      <p:sp>
        <p:nvSpPr>
          <p:cNvPr id="39" name="click-7"/>
          <p:cNvSpPr/>
          <p:nvPr/>
        </p:nvSpPr>
        <p:spPr>
          <a:xfrm>
            <a:off x="1463040" y="5422392"/>
            <a:ext cx="9875520" cy="758952"/>
          </a:xfrm>
          <a:prstGeom prst="rect">
            <a:avLst/>
          </a:prstGeom>
          <a:noFill/>
          <a:ln/>
        </p:spPr>
        <p:txBody>
          <a:bodyPr wrap="square" lIns="0" tIns="0" rIns="0" bIns="0" rtlCol="0" anchor="ctr"/>
          <a:lstStyle/>
          <a:p>
            <a:pPr indent="0" marL="0">
              <a:lnSpc>
                <a:spcPct val="104000"/>
              </a:lnSpc>
              <a:buNone/>
            </a:pPr>
            <a:r>
              <a:rPr lang="en-US" sz="1500" b="1" dirty="0">
                <a:solidFill>
                  <a:srgbClr val="E8A33D"/>
                </a:solidFill>
                <a:latin typeface="Calibri" pitchFamily="34" charset="0"/>
                <a:ea typeface="Calibri" pitchFamily="34" charset="-122"/>
                <a:cs typeface="Calibri" pitchFamily="34" charset="-120"/>
              </a:rPr>
              <a:t>Technical (high) and Skill (high) are the same unknown</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 — real-time sync. Two boxes, one root cause. That's what you de-risk first.</a:t>
            </a:r>
            <a:endParaRPr lang="en-US" sz="1500" dirty="0"/>
          </a:p>
        </p:txBody>
      </p:sp>
      <p:sp>
        <p:nvSpPr>
          <p:cNvPr id="40" name="Text 3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41" name="Text 3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3"/>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4" presetID="1" presetClass="entr" presetSubtype="0"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3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6" presetID="1" presetClass="entr" presetSubtype="0" fill="hold" grpId="0" nodeType="clickEffect">
                                  <p:stCondLst>
                                    <p:cond delay="0"/>
                                  </p:stCondLst>
                                  <p:childTnLst>
                                    <p:set>
                                      <p:cBhvr>
                                        <p:cTn id="35" dur="1" fill="hold">
                                          <p:stCondLst>
                                            <p:cond delay="0"/>
                                          </p:stCondLst>
                                        </p:cTn>
                                        <p:tgtEl>
                                          <p:spTgt spid="3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2" presetID="1"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7" dur="1" fill="hold">
                                          <p:stCondLst>
                                            <p:cond delay="0"/>
                                          </p:stCondLst>
                                        </p:cTn>
                                        <p:tgtEl>
                                          <p:spTgt spid="37"/>
                                        </p:tgtEl>
                                        <p:attrNameLst>
                                          <p:attrName>style.visibility</p:attrName>
                                        </p:attrNameLst>
                                      </p:cBhvr>
                                      <p:to>
                                        <p:strVal val="visible"/>
                                      </p:to>
                                    </p:set>
                                  </p:childTnLst>
                                </p:cTn>
                              </p:par>
                              <p:par>
                                <p:cTn id="50" presetID="1" presetClass="entr" presetSubtype="0" fill="hold" nodeType="withEffect">
                                  <p:stCondLst>
                                    <p:cond delay="0"/>
                                  </p:stCondLst>
                                  <p:childTnLst>
                                    <p:set>
                                      <p:cBhvr>
                                        <p:cTn id="49" dur="1" fill="hold">
                                          <p:stCondLst>
                                            <p:cond delay="0"/>
                                          </p:stCondLst>
                                        </p:cTn>
                                        <p:tgtEl>
                                          <p:spTgt spid="3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1"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7" grpId="0" animBg="1"/>
      <p:bldP spid="18" grpId="0" animBg="1"/>
      <p:bldP spid="21" grpId="0" animBg="1"/>
      <p:bldP spid="22" grpId="0" animBg="1"/>
      <p:bldP spid="26" grpId="0" animBg="1"/>
      <p:bldP spid="27" grpId="0" animBg="1"/>
      <p:bldP spid="30" grpId="0" animBg="1"/>
      <p:bldP spid="31" grpId="0" animBg="1"/>
      <p:bldP spid="34" grpId="0" animBg="1"/>
      <p:bldP spid="35" grpId="0" animBg="1"/>
      <p:bldP spid="11" grpId="0" animBg="1"/>
      <p:bldP spid="24" grpId="0" animBg="1"/>
      <p:bldP spid="36" grpId="0" animBg="1"/>
      <p:bldP spid="37" grpId="0" animBg="1"/>
      <p:bldP spid="3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DE-RISKING, STEP 1</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Know / Learn / Avoid</a:t>
            </a:r>
            <a:endParaRPr lang="en-US" sz="3100" dirty="0"/>
          </a:p>
        </p:txBody>
      </p:sp>
      <p:sp>
        <p:nvSpPr>
          <p:cNvPr id="5" name="Shape 3"/>
          <p:cNvSpPr/>
          <p:nvPr/>
        </p:nvSpPr>
        <p:spPr>
          <a:xfrm>
            <a:off x="548640" y="1874520"/>
            <a:ext cx="3511296" cy="3566160"/>
          </a:xfrm>
          <a:prstGeom prst="roundRect">
            <a:avLst>
              <a:gd name="adj" fmla="val 2344"/>
            </a:avLst>
          </a:prstGeom>
          <a:solidFill>
            <a:srgbClr val="EAF4EE"/>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54480" y="2194560"/>
            <a:ext cx="2322576" cy="50292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Know</a:t>
            </a:r>
            <a:endParaRPr lang="en-US" sz="2000" dirty="0"/>
          </a:p>
        </p:txBody>
      </p:sp>
      <p:sp>
        <p:nvSpPr>
          <p:cNvPr id="9" name="Text 6"/>
          <p:cNvSpPr/>
          <p:nvPr/>
        </p:nvSpPr>
        <p:spPr>
          <a:xfrm>
            <a:off x="822960" y="2926080"/>
            <a:ext cx="2962656" cy="1234440"/>
          </a:xfrm>
          <a:prstGeom prst="rect">
            <a:avLst/>
          </a:prstGeom>
          <a:noFill/>
          <a:ln/>
        </p:spPr>
        <p:txBody>
          <a:bodyPr wrap="square" lIns="0" tIns="0" rIns="0" bIns="0" rtlCol="0" anchor="t"/>
          <a:lstStyle/>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You can already do it. No risk, no plan needed.</a:t>
            </a:r>
            <a:endParaRPr lang="en-US" sz="1500" dirty="0"/>
          </a:p>
        </p:txBody>
      </p:sp>
      <p:sp>
        <p:nvSpPr>
          <p:cNvPr id="10" name="Text 7"/>
          <p:cNvSpPr/>
          <p:nvPr/>
        </p:nvSpPr>
        <p:spPr>
          <a:xfrm>
            <a:off x="822960" y="4160520"/>
            <a:ext cx="2962656" cy="1143000"/>
          </a:xfrm>
          <a:prstGeom prst="rect">
            <a:avLst/>
          </a:prstGeom>
          <a:noFill/>
          <a:ln/>
        </p:spPr>
        <p:txBody>
          <a:bodyPr wrap="square" lIns="0" tIns="0" rIns="0" bIns="0" rtlCol="0" anchor="t"/>
          <a:lstStyle/>
          <a:p>
            <a:pPr indent="0" marL="0">
              <a:lnSpc>
                <a:spcPct val="106000"/>
              </a:lnSpc>
              <a:buNone/>
            </a:pPr>
            <a:r>
              <a:rPr lang="en-US" sz="1400" b="1" dirty="0">
                <a:solidFill>
                  <a:srgbClr val="0E6E6D"/>
                </a:solidFill>
                <a:latin typeface="Calibri" pitchFamily="34" charset="0"/>
                <a:ea typeface="Calibri" pitchFamily="34" charset="-122"/>
                <a:cs typeface="Calibri" pitchFamily="34" charset="-120"/>
              </a:rPr>
              <a:t>QueueUp:  </a:t>
            </a:r>
            <a:pPr indent="0" marL="0">
              <a:lnSpc>
                <a:spcPct val="106000"/>
              </a:lnSpc>
              <a:buNone/>
            </a:pPr>
            <a:r>
              <a:rPr lang="en-US" sz="1400" i="1" dirty="0">
                <a:solidFill>
                  <a:srgbClr val="5F7284"/>
                </a:solidFill>
                <a:latin typeface="Calibri" pitchFamily="34" charset="0"/>
                <a:ea typeface="Calibri" pitchFamily="34" charset="-122"/>
                <a:cs typeface="Calibri" pitchFamily="34" charset="-120"/>
              </a:rPr>
              <a:t>CRUD app, REST backend, component UI, basic auth.</a:t>
            </a:r>
            <a:endParaRPr lang="en-US" sz="1400" dirty="0"/>
          </a:p>
        </p:txBody>
      </p:sp>
      <p:sp>
        <p:nvSpPr>
          <p:cNvPr id="11" name="Shape 8"/>
          <p:cNvSpPr/>
          <p:nvPr/>
        </p:nvSpPr>
        <p:spPr>
          <a:xfrm>
            <a:off x="4233672" y="1874520"/>
            <a:ext cx="3511296" cy="3566160"/>
          </a:xfrm>
          <a:prstGeom prst="roundRect">
            <a:avLst>
              <a:gd name="adj" fmla="val 2344"/>
            </a:avLst>
          </a:prstGeom>
          <a:solidFill>
            <a:srgbClr val="FBEEDA"/>
          </a:solidFill>
          <a:ln/>
          <a:effectLst>
            <a:outerShdw sx="100000" sy="100000" kx="0" ky="0" algn="bl" rotWithShape="0" blurRad="88900" dist="38100" dir="5400000">
              <a:srgbClr val="000000">
                <a:alpha val="13000"/>
              </a:srgbClr>
            </a:outerShdw>
          </a:effectLst>
        </p:spPr>
      </p:sp>
      <p:sp>
        <p:nvSpPr>
          <p:cNvPr id="12" name="Shape 9"/>
          <p:cNvSpPr/>
          <p:nvPr/>
        </p:nvSpPr>
        <p:spPr>
          <a:xfrm>
            <a:off x="4507992" y="2148840"/>
            <a:ext cx="603504" cy="603504"/>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4670938" y="2311786"/>
            <a:ext cx="277612" cy="277612"/>
          </a:xfrm>
          <a:prstGeom prst="rect">
            <a:avLst/>
          </a:prstGeom>
        </p:spPr>
      </p:pic>
      <p:sp>
        <p:nvSpPr>
          <p:cNvPr id="14" name="Text 10"/>
          <p:cNvSpPr/>
          <p:nvPr/>
        </p:nvSpPr>
        <p:spPr>
          <a:xfrm>
            <a:off x="5239512" y="2194560"/>
            <a:ext cx="2322576" cy="50292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Learn</a:t>
            </a:r>
            <a:endParaRPr lang="en-US" sz="2000" dirty="0"/>
          </a:p>
        </p:txBody>
      </p:sp>
      <p:sp>
        <p:nvSpPr>
          <p:cNvPr id="15" name="Text 11"/>
          <p:cNvSpPr/>
          <p:nvPr/>
        </p:nvSpPr>
        <p:spPr>
          <a:xfrm>
            <a:off x="4507992" y="2926080"/>
            <a:ext cx="2962656" cy="1234440"/>
          </a:xfrm>
          <a:prstGeom prst="rect">
            <a:avLst/>
          </a:prstGeom>
          <a:noFill/>
          <a:ln/>
        </p:spPr>
        <p:txBody>
          <a:bodyPr wrap="square" lIns="0" tIns="0" rIns="0" bIns="0" rtlCol="0" anchor="t"/>
          <a:lstStyle/>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A real but learnable gap — this one gets a plan.</a:t>
            </a:r>
            <a:endParaRPr lang="en-US" sz="1500" dirty="0"/>
          </a:p>
        </p:txBody>
      </p:sp>
      <p:sp>
        <p:nvSpPr>
          <p:cNvPr id="16" name="Text 12"/>
          <p:cNvSpPr/>
          <p:nvPr/>
        </p:nvSpPr>
        <p:spPr>
          <a:xfrm>
            <a:off x="4507992" y="4160520"/>
            <a:ext cx="2962656" cy="1143000"/>
          </a:xfrm>
          <a:prstGeom prst="rect">
            <a:avLst/>
          </a:prstGeom>
          <a:noFill/>
          <a:ln/>
        </p:spPr>
        <p:txBody>
          <a:bodyPr wrap="square" lIns="0" tIns="0" rIns="0" bIns="0" rtlCol="0" anchor="t"/>
          <a:lstStyle/>
          <a:p>
            <a:pPr indent="0" marL="0">
              <a:lnSpc>
                <a:spcPct val="106000"/>
              </a:lnSpc>
              <a:buNone/>
            </a:pPr>
            <a:r>
              <a:rPr lang="en-US" sz="1400" b="1" dirty="0">
                <a:solidFill>
                  <a:srgbClr val="0E6E6D"/>
                </a:solidFill>
                <a:latin typeface="Calibri" pitchFamily="34" charset="0"/>
                <a:ea typeface="Calibri" pitchFamily="34" charset="-122"/>
                <a:cs typeface="Calibri" pitchFamily="34" charset="-120"/>
              </a:rPr>
              <a:t>QueueUp:  </a:t>
            </a:r>
            <a:pPr indent="0" marL="0">
              <a:lnSpc>
                <a:spcPct val="106000"/>
              </a:lnSpc>
              <a:buNone/>
            </a:pPr>
            <a:r>
              <a:rPr lang="en-US" sz="1400" i="1" dirty="0">
                <a:solidFill>
                  <a:srgbClr val="5F7284"/>
                </a:solidFill>
                <a:latin typeface="Calibri" pitchFamily="34" charset="0"/>
                <a:ea typeface="Calibri" pitchFamily="34" charset="-122"/>
                <a:cs typeface="Calibri" pitchFamily="34" charset="-120"/>
              </a:rPr>
              <a:t>Real-time sync — the circled risk.</a:t>
            </a:r>
            <a:endParaRPr lang="en-US" sz="1400" dirty="0"/>
          </a:p>
        </p:txBody>
      </p:sp>
      <p:sp>
        <p:nvSpPr>
          <p:cNvPr id="17" name="Shape 13"/>
          <p:cNvSpPr/>
          <p:nvPr/>
        </p:nvSpPr>
        <p:spPr>
          <a:xfrm>
            <a:off x="7918704" y="1874520"/>
            <a:ext cx="3511296" cy="3566160"/>
          </a:xfrm>
          <a:prstGeom prst="roundRect">
            <a:avLst>
              <a:gd name="adj" fmla="val 2344"/>
            </a:avLst>
          </a:prstGeom>
          <a:solidFill>
            <a:srgbClr val="FBECE8"/>
          </a:solidFill>
          <a:ln/>
          <a:effectLst>
            <a:outerShdw sx="100000" sy="100000" kx="0" ky="0" algn="bl" rotWithShape="0" blurRad="88900" dist="38100" dir="5400000">
              <a:srgbClr val="000000">
                <a:alpha val="13000"/>
              </a:srgbClr>
            </a:outerShdw>
          </a:effectLst>
        </p:spPr>
      </p:sp>
      <p:sp>
        <p:nvSpPr>
          <p:cNvPr id="18" name="Shape 14"/>
          <p:cNvSpPr/>
          <p:nvPr/>
        </p:nvSpPr>
        <p:spPr>
          <a:xfrm>
            <a:off x="8193024" y="2148840"/>
            <a:ext cx="603504" cy="603504"/>
          </a:xfrm>
          <a:prstGeom prst="ellipse">
            <a:avLst/>
          </a:prstGeom>
          <a:solidFill>
            <a:srgbClr val="D9614C"/>
          </a:solidFill>
          <a:ln/>
        </p:spPr>
      </p:sp>
      <p:pic>
        <p:nvPicPr>
          <p:cNvPr id="19" name="Image 2" descr="preencoded.png">    </p:cNvPr>
          <p:cNvPicPr>
            <a:picLocks noChangeAspect="1"/>
          </p:cNvPicPr>
          <p:nvPr/>
        </p:nvPicPr>
        <p:blipFill>
          <a:blip r:embed="rId3"/>
          <a:stretch>
            <a:fillRect/>
          </a:stretch>
        </p:blipFill>
        <p:spPr>
          <a:xfrm>
            <a:off x="8355970" y="2311786"/>
            <a:ext cx="277612" cy="277612"/>
          </a:xfrm>
          <a:prstGeom prst="rect">
            <a:avLst/>
          </a:prstGeom>
        </p:spPr>
      </p:pic>
      <p:sp>
        <p:nvSpPr>
          <p:cNvPr id="20" name="Text 15"/>
          <p:cNvSpPr/>
          <p:nvPr/>
        </p:nvSpPr>
        <p:spPr>
          <a:xfrm>
            <a:off x="8924544" y="2194560"/>
            <a:ext cx="2322576" cy="50292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Avoid</a:t>
            </a:r>
            <a:endParaRPr lang="en-US" sz="2000" dirty="0"/>
          </a:p>
        </p:txBody>
      </p:sp>
      <p:sp>
        <p:nvSpPr>
          <p:cNvPr id="21" name="Text 16"/>
          <p:cNvSpPr/>
          <p:nvPr/>
        </p:nvSpPr>
        <p:spPr>
          <a:xfrm>
            <a:off x="8193024" y="2926080"/>
            <a:ext cx="2962656" cy="1234440"/>
          </a:xfrm>
          <a:prstGeom prst="rect">
            <a:avLst/>
          </a:prstGeom>
          <a:noFill/>
          <a:ln/>
        </p:spPr>
        <p:txBody>
          <a:bodyPr wrap="square" lIns="0" tIns="0" rIns="0" bIns="0" rtlCol="0" anchor="t"/>
          <a:lstStyle/>
          <a:p>
            <a:pPr indent="0" marL="0">
              <a:lnSpc>
                <a:spcPct val="106000"/>
              </a:lnSpc>
              <a:buNone/>
            </a:pPr>
            <a:r>
              <a:rPr lang="en-US" sz="1500" dirty="0">
                <a:solidFill>
                  <a:srgbClr val="1E2A36"/>
                </a:solidFill>
                <a:latin typeface="Calibri" pitchFamily="34" charset="0"/>
                <a:ea typeface="Calibri" pitchFamily="34" charset="-122"/>
                <a:cs typeface="Calibri" pitchFamily="34" charset="-120"/>
              </a:rPr>
              <a:t>Complexity that doesn't earn its keep — cut or route around.</a:t>
            </a:r>
            <a:endParaRPr lang="en-US" sz="1500" dirty="0"/>
          </a:p>
        </p:txBody>
      </p:sp>
      <p:sp>
        <p:nvSpPr>
          <p:cNvPr id="22" name="Text 17"/>
          <p:cNvSpPr/>
          <p:nvPr/>
        </p:nvSpPr>
        <p:spPr>
          <a:xfrm>
            <a:off x="8193024" y="4160520"/>
            <a:ext cx="2962656" cy="1143000"/>
          </a:xfrm>
          <a:prstGeom prst="rect">
            <a:avLst/>
          </a:prstGeom>
          <a:noFill/>
          <a:ln/>
        </p:spPr>
        <p:txBody>
          <a:bodyPr wrap="square" lIns="0" tIns="0" rIns="0" bIns="0" rtlCol="0" anchor="t"/>
          <a:lstStyle/>
          <a:p>
            <a:pPr indent="0" marL="0">
              <a:lnSpc>
                <a:spcPct val="106000"/>
              </a:lnSpc>
              <a:buNone/>
            </a:pPr>
            <a:r>
              <a:rPr lang="en-US" sz="1400" b="1" dirty="0">
                <a:solidFill>
                  <a:srgbClr val="0E6E6D"/>
                </a:solidFill>
                <a:latin typeface="Calibri" pitchFamily="34" charset="0"/>
                <a:ea typeface="Calibri" pitchFamily="34" charset="-122"/>
                <a:cs typeface="Calibri" pitchFamily="34" charset="-120"/>
              </a:rPr>
              <a:t>QueueUp:  </a:t>
            </a:r>
            <a:pPr indent="0" marL="0">
              <a:lnSpc>
                <a:spcPct val="106000"/>
              </a:lnSpc>
              <a:buNone/>
            </a:pPr>
            <a:r>
              <a:rPr lang="en-US" sz="1400" i="1" dirty="0">
                <a:solidFill>
                  <a:srgbClr val="5F7284"/>
                </a:solidFill>
                <a:latin typeface="Calibri" pitchFamily="34" charset="0"/>
                <a:ea typeface="Calibri" pitchFamily="34" charset="-122"/>
                <a:cs typeface="Calibri" pitchFamily="34" charset="-120"/>
              </a:rPr>
              <a:t>Own auth, video, native mobile.</a:t>
            </a:r>
            <a:endParaRPr lang="en-US" sz="1400" dirty="0"/>
          </a:p>
        </p:txBody>
      </p:sp>
      <p:sp>
        <p:nvSpPr>
          <p:cNvPr id="23" name="Shape 18"/>
          <p:cNvSpPr/>
          <p:nvPr/>
        </p:nvSpPr>
        <p:spPr>
          <a:xfrm>
            <a:off x="548640" y="5559552"/>
            <a:ext cx="11064240" cy="621792"/>
          </a:xfrm>
          <a:prstGeom prst="roundRect">
            <a:avLst>
              <a:gd name="adj" fmla="val 13235"/>
            </a:avLst>
          </a:prstGeom>
          <a:solidFill>
            <a:srgbClr val="14233A"/>
          </a:solidFill>
          <a:ln/>
          <a:effectLst>
            <a:outerShdw sx="100000" sy="100000" kx="0" ky="0" algn="bl" rotWithShape="0" blurRad="88900" dist="38100" dir="5400000">
              <a:srgbClr val="000000">
                <a:alpha val="13000"/>
              </a:srgbClr>
            </a:outerShdw>
          </a:effectLst>
        </p:spPr>
      </p:sp>
      <p:sp>
        <p:nvSpPr>
          <p:cNvPr id="24" name="Text 19"/>
          <p:cNvSpPr/>
          <p:nvPr/>
        </p:nvSpPr>
        <p:spPr>
          <a:xfrm>
            <a:off x="822960" y="5559552"/>
            <a:ext cx="10515600" cy="621792"/>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Every honest "Avoid" reduces feasibility risk</a:t>
            </a:r>
            <a:pPr algn="ctr" indent="0" marL="0">
              <a:buNone/>
            </a:pPr>
            <a:r>
              <a:rPr lang="en-US" sz="1500" dirty="0">
                <a:solidFill>
                  <a:srgbClr val="FFFFFF"/>
                </a:solidFill>
                <a:latin typeface="Calibri" pitchFamily="34" charset="0"/>
                <a:ea typeface="Calibri" pitchFamily="34" charset="-122"/>
                <a:cs typeface="Calibri" pitchFamily="34" charset="-120"/>
              </a:rPr>
              <a:t> — routing around complexity is a skill, not a cop-out.</a:t>
            </a:r>
            <a:endParaRPr lang="en-US" sz="1500" dirty="0"/>
          </a:p>
        </p:txBody>
      </p:sp>
      <p:sp>
        <p:nvSpPr>
          <p:cNvPr id="25"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26"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DE-RISKING, STEP 2</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spike — buy a cheap answer</a:t>
            </a:r>
            <a:endParaRPr lang="en-US" sz="3100" dirty="0"/>
          </a:p>
        </p:txBody>
      </p:sp>
      <p:sp>
        <p:nvSpPr>
          <p:cNvPr id="5" name="Shape 3"/>
          <p:cNvSpPr/>
          <p:nvPr/>
        </p:nvSpPr>
        <p:spPr>
          <a:xfrm>
            <a:off x="548640" y="1783080"/>
            <a:ext cx="11064240" cy="1097280"/>
          </a:xfrm>
          <a:prstGeom prst="roundRect">
            <a:avLst>
              <a:gd name="adj" fmla="val 75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084832"/>
            <a:ext cx="512064" cy="51206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06937" y="2223089"/>
            <a:ext cx="235549" cy="235549"/>
          </a:xfrm>
          <a:prstGeom prst="rect">
            <a:avLst/>
          </a:prstGeom>
        </p:spPr>
      </p:pic>
      <p:sp>
        <p:nvSpPr>
          <p:cNvPr id="8" name="Text 5"/>
          <p:cNvSpPr/>
          <p:nvPr/>
        </p:nvSpPr>
        <p:spPr>
          <a:xfrm>
            <a:off x="1600200" y="1783080"/>
            <a:ext cx="9784080" cy="1097280"/>
          </a:xfrm>
          <a:prstGeom prst="rect">
            <a:avLst/>
          </a:prstGeom>
          <a:noFill/>
          <a:ln/>
        </p:spPr>
        <p:txBody>
          <a:bodyPr wrap="square" lIns="0" tIns="0" rIns="0" bIns="0" rtlCol="0" anchor="ctr"/>
          <a:lstStyle/>
          <a:p>
            <a:pPr indent="0" marL="0">
              <a:lnSpc>
                <a:spcPct val="105000"/>
              </a:lnSpc>
              <a:buNone/>
            </a:pPr>
            <a:r>
              <a:rPr lang="en-US" sz="1650" dirty="0">
                <a:solidFill>
                  <a:srgbClr val="1E2A36"/>
                </a:solidFill>
                <a:latin typeface="Calibri" pitchFamily="34" charset="0"/>
                <a:ea typeface="Calibri" pitchFamily="34" charset="-122"/>
                <a:cs typeface="Calibri" pitchFamily="34" charset="-120"/>
              </a:rPr>
              <a:t>A time-boxed experiment (1–3 days) whose only deliverable is an answer — not a feature. Build a throwaway; keep what you learn, not the code.</a:t>
            </a:r>
            <a:endParaRPr lang="en-US" sz="1650" dirty="0"/>
          </a:p>
        </p:txBody>
      </p:sp>
      <p:sp>
        <p:nvSpPr>
          <p:cNvPr id="9" name="Shape 6"/>
          <p:cNvSpPr/>
          <p:nvPr/>
        </p:nvSpPr>
        <p:spPr>
          <a:xfrm>
            <a:off x="548640" y="3108960"/>
            <a:ext cx="2651760"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1591056" y="3364992"/>
            <a:ext cx="566928" cy="566928"/>
          </a:xfrm>
          <a:prstGeom prst="ellipse">
            <a:avLst/>
          </a:prstGeom>
          <a:solidFill>
            <a:srgbClr val="14233A"/>
          </a:solidFill>
          <a:ln/>
        </p:spPr>
      </p:sp>
      <p:pic>
        <p:nvPicPr>
          <p:cNvPr id="11" name="Image 1" descr="preencoded.png">    </p:cNvPr>
          <p:cNvPicPr>
            <a:picLocks noChangeAspect="1"/>
          </p:cNvPicPr>
          <p:nvPr/>
        </p:nvPicPr>
        <p:blipFill>
          <a:blip r:embed="rId2"/>
          <a:stretch>
            <a:fillRect/>
          </a:stretch>
        </p:blipFill>
        <p:spPr>
          <a:xfrm>
            <a:off x="1744127" y="3518063"/>
            <a:ext cx="260787" cy="260787"/>
          </a:xfrm>
          <a:prstGeom prst="rect">
            <a:avLst/>
          </a:prstGeom>
        </p:spPr>
      </p:pic>
      <p:sp>
        <p:nvSpPr>
          <p:cNvPr id="12" name="Text 8"/>
          <p:cNvSpPr/>
          <p:nvPr/>
        </p:nvSpPr>
        <p:spPr>
          <a:xfrm>
            <a:off x="640080" y="4041648"/>
            <a:ext cx="2468880" cy="640080"/>
          </a:xfrm>
          <a:prstGeom prst="rect">
            <a:avLst/>
          </a:prstGeom>
          <a:noFill/>
          <a:ln/>
        </p:spPr>
        <p:txBody>
          <a:bodyPr wrap="square" lIns="0" tIns="0" rIns="0" bIns="0" rtlCol="0" anchor="t"/>
          <a:lstStyle/>
          <a:p>
            <a:pPr algn="ctr" indent="0" marL="0">
              <a:lnSpc>
                <a:spcPct val="100000"/>
              </a:lnSpc>
              <a:buNone/>
            </a:pPr>
            <a:r>
              <a:rPr lang="en-US" sz="1500" b="1" dirty="0">
                <a:solidFill>
                  <a:srgbClr val="1E2A36"/>
                </a:solidFill>
                <a:latin typeface="Calibri" pitchFamily="34" charset="0"/>
                <a:ea typeface="Calibri" pitchFamily="34" charset="-122"/>
                <a:cs typeface="Calibri" pitchFamily="34" charset="-120"/>
              </a:rPr>
              <a:t>One clear question</a:t>
            </a:r>
            <a:endParaRPr lang="en-US" sz="1500" dirty="0"/>
          </a:p>
        </p:txBody>
      </p:sp>
      <p:sp>
        <p:nvSpPr>
          <p:cNvPr id="13" name="Text 9"/>
          <p:cNvSpPr/>
          <p:nvPr/>
        </p:nvSpPr>
        <p:spPr>
          <a:xfrm>
            <a:off x="694944" y="4645152"/>
            <a:ext cx="2359152" cy="713232"/>
          </a:xfrm>
          <a:prstGeom prst="rect">
            <a:avLst/>
          </a:prstGeom>
          <a:noFill/>
          <a:ln/>
        </p:spPr>
        <p:txBody>
          <a:bodyPr wrap="square" lIns="0" tIns="0" rIns="0" bIns="0" rtlCol="0" anchor="t"/>
          <a:lstStyle/>
          <a:p>
            <a:pPr algn="ctr" indent="0" marL="0">
              <a:lnSpc>
                <a:spcPct val="104000"/>
              </a:lnSpc>
              <a:buNone/>
            </a:pPr>
            <a:r>
              <a:rPr lang="en-US" sz="1250" dirty="0">
                <a:solidFill>
                  <a:srgbClr val="5F7284"/>
                </a:solidFill>
                <a:latin typeface="Calibri" pitchFamily="34" charset="0"/>
                <a:ea typeface="Calibri" pitchFamily="34" charset="-122"/>
                <a:cs typeface="Calibri" pitchFamily="34" charset="-120"/>
              </a:rPr>
              <a:t>A yes/no or a number you can actually reach.</a:t>
            </a:r>
            <a:endParaRPr lang="en-US" sz="1250" dirty="0"/>
          </a:p>
        </p:txBody>
      </p:sp>
      <p:sp>
        <p:nvSpPr>
          <p:cNvPr id="14" name="Shape 10"/>
          <p:cNvSpPr/>
          <p:nvPr/>
        </p:nvSpPr>
        <p:spPr>
          <a:xfrm>
            <a:off x="3319272" y="3108960"/>
            <a:ext cx="2651760"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4361688" y="3364992"/>
            <a:ext cx="566928" cy="566928"/>
          </a:xfrm>
          <a:prstGeom prst="ellipse">
            <a:avLst/>
          </a:prstGeom>
          <a:solidFill>
            <a:srgbClr val="14233A"/>
          </a:solidFill>
          <a:ln/>
        </p:spPr>
      </p:sp>
      <p:pic>
        <p:nvPicPr>
          <p:cNvPr id="16" name="Image 2" descr="preencoded.png">    </p:cNvPr>
          <p:cNvPicPr>
            <a:picLocks noChangeAspect="1"/>
          </p:cNvPicPr>
          <p:nvPr/>
        </p:nvPicPr>
        <p:blipFill>
          <a:blip r:embed="rId3"/>
          <a:stretch>
            <a:fillRect/>
          </a:stretch>
        </p:blipFill>
        <p:spPr>
          <a:xfrm>
            <a:off x="4514759" y="3518063"/>
            <a:ext cx="260787" cy="260787"/>
          </a:xfrm>
          <a:prstGeom prst="rect">
            <a:avLst/>
          </a:prstGeom>
        </p:spPr>
      </p:pic>
      <p:sp>
        <p:nvSpPr>
          <p:cNvPr id="17" name="Text 12"/>
          <p:cNvSpPr/>
          <p:nvPr/>
        </p:nvSpPr>
        <p:spPr>
          <a:xfrm>
            <a:off x="3410712" y="4041648"/>
            <a:ext cx="2468880" cy="640080"/>
          </a:xfrm>
          <a:prstGeom prst="rect">
            <a:avLst/>
          </a:prstGeom>
          <a:noFill/>
          <a:ln/>
        </p:spPr>
        <p:txBody>
          <a:bodyPr wrap="square" lIns="0" tIns="0" rIns="0" bIns="0" rtlCol="0" anchor="t"/>
          <a:lstStyle/>
          <a:p>
            <a:pPr algn="ctr" indent="0" marL="0">
              <a:lnSpc>
                <a:spcPct val="100000"/>
              </a:lnSpc>
              <a:buNone/>
            </a:pPr>
            <a:r>
              <a:rPr lang="en-US" sz="1500" b="1" dirty="0">
                <a:solidFill>
                  <a:srgbClr val="1E2A36"/>
                </a:solidFill>
                <a:latin typeface="Calibri" pitchFamily="34" charset="0"/>
                <a:ea typeface="Calibri" pitchFamily="34" charset="-122"/>
                <a:cs typeface="Calibri" pitchFamily="34" charset="-120"/>
              </a:rPr>
              <a:t>A fixed time box</a:t>
            </a:r>
            <a:endParaRPr lang="en-US" sz="1500" dirty="0"/>
          </a:p>
        </p:txBody>
      </p:sp>
      <p:sp>
        <p:nvSpPr>
          <p:cNvPr id="18" name="Text 13"/>
          <p:cNvSpPr/>
          <p:nvPr/>
        </p:nvSpPr>
        <p:spPr>
          <a:xfrm>
            <a:off x="3465576" y="4645152"/>
            <a:ext cx="2359152" cy="713232"/>
          </a:xfrm>
          <a:prstGeom prst="rect">
            <a:avLst/>
          </a:prstGeom>
          <a:noFill/>
          <a:ln/>
        </p:spPr>
        <p:txBody>
          <a:bodyPr wrap="square" lIns="0" tIns="0" rIns="0" bIns="0" rtlCol="0" anchor="t"/>
          <a:lstStyle/>
          <a:p>
            <a:pPr algn="ctr" indent="0" marL="0">
              <a:lnSpc>
                <a:spcPct val="104000"/>
              </a:lnSpc>
              <a:buNone/>
            </a:pPr>
            <a:r>
              <a:rPr lang="en-US" sz="1250" dirty="0">
                <a:solidFill>
                  <a:srgbClr val="5F7284"/>
                </a:solidFill>
                <a:latin typeface="Calibri" pitchFamily="34" charset="0"/>
                <a:ea typeface="Calibri" pitchFamily="34" charset="-122"/>
                <a:cs typeface="Calibri" pitchFamily="34" charset="-120"/>
              </a:rPr>
              <a:t>1–3 days, set in advance. No box = digging forever.</a:t>
            </a:r>
            <a:endParaRPr lang="en-US" sz="1250" dirty="0"/>
          </a:p>
        </p:txBody>
      </p:sp>
      <p:sp>
        <p:nvSpPr>
          <p:cNvPr id="19" name="Shape 14"/>
          <p:cNvSpPr/>
          <p:nvPr/>
        </p:nvSpPr>
        <p:spPr>
          <a:xfrm>
            <a:off x="6089904" y="3108960"/>
            <a:ext cx="2651760"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20" name="Shape 15"/>
          <p:cNvSpPr/>
          <p:nvPr/>
        </p:nvSpPr>
        <p:spPr>
          <a:xfrm>
            <a:off x="7132320" y="3364992"/>
            <a:ext cx="566928" cy="566928"/>
          </a:xfrm>
          <a:prstGeom prst="ellipse">
            <a:avLst/>
          </a:prstGeom>
          <a:solidFill>
            <a:srgbClr val="14233A"/>
          </a:solidFill>
          <a:ln/>
        </p:spPr>
      </p:sp>
      <p:pic>
        <p:nvPicPr>
          <p:cNvPr id="21" name="Image 3" descr="preencoded.png">    </p:cNvPr>
          <p:cNvPicPr>
            <a:picLocks noChangeAspect="1"/>
          </p:cNvPicPr>
          <p:nvPr/>
        </p:nvPicPr>
        <p:blipFill>
          <a:blip r:embed="rId4"/>
          <a:stretch>
            <a:fillRect/>
          </a:stretch>
        </p:blipFill>
        <p:spPr>
          <a:xfrm>
            <a:off x="7285391" y="3518063"/>
            <a:ext cx="260787" cy="260787"/>
          </a:xfrm>
          <a:prstGeom prst="rect">
            <a:avLst/>
          </a:prstGeom>
        </p:spPr>
      </p:pic>
      <p:sp>
        <p:nvSpPr>
          <p:cNvPr id="22" name="Text 16"/>
          <p:cNvSpPr/>
          <p:nvPr/>
        </p:nvSpPr>
        <p:spPr>
          <a:xfrm>
            <a:off x="6181344" y="4041648"/>
            <a:ext cx="2468880" cy="640080"/>
          </a:xfrm>
          <a:prstGeom prst="rect">
            <a:avLst/>
          </a:prstGeom>
          <a:noFill/>
          <a:ln/>
        </p:spPr>
        <p:txBody>
          <a:bodyPr wrap="square" lIns="0" tIns="0" rIns="0" bIns="0" rtlCol="0" anchor="t"/>
          <a:lstStyle/>
          <a:p>
            <a:pPr algn="ctr" indent="0" marL="0">
              <a:lnSpc>
                <a:spcPct val="100000"/>
              </a:lnSpc>
              <a:buNone/>
            </a:pPr>
            <a:r>
              <a:rPr lang="en-US" sz="1500" b="1" dirty="0">
                <a:solidFill>
                  <a:srgbClr val="1E2A36"/>
                </a:solidFill>
                <a:latin typeface="Calibri" pitchFamily="34" charset="0"/>
                <a:ea typeface="Calibri" pitchFamily="34" charset="-122"/>
                <a:cs typeface="Calibri" pitchFamily="34" charset="-120"/>
              </a:rPr>
              <a:t>Green &amp; red, up front</a:t>
            </a:r>
            <a:endParaRPr lang="en-US" sz="1500" dirty="0"/>
          </a:p>
        </p:txBody>
      </p:sp>
      <p:sp>
        <p:nvSpPr>
          <p:cNvPr id="23" name="Text 17"/>
          <p:cNvSpPr/>
          <p:nvPr/>
        </p:nvSpPr>
        <p:spPr>
          <a:xfrm>
            <a:off x="6236208" y="4645152"/>
            <a:ext cx="2359152" cy="713232"/>
          </a:xfrm>
          <a:prstGeom prst="rect">
            <a:avLst/>
          </a:prstGeom>
          <a:noFill/>
          <a:ln/>
        </p:spPr>
        <p:txBody>
          <a:bodyPr wrap="square" lIns="0" tIns="0" rIns="0" bIns="0" rtlCol="0" anchor="t"/>
          <a:lstStyle/>
          <a:p>
            <a:pPr algn="ctr" indent="0" marL="0">
              <a:lnSpc>
                <a:spcPct val="104000"/>
              </a:lnSpc>
              <a:buNone/>
            </a:pPr>
            <a:r>
              <a:rPr lang="en-US" sz="1250" dirty="0">
                <a:solidFill>
                  <a:srgbClr val="5F7284"/>
                </a:solidFill>
                <a:latin typeface="Calibri" pitchFamily="34" charset="0"/>
                <a:ea typeface="Calibri" pitchFamily="34" charset="-122"/>
                <a:cs typeface="Calibri" pitchFamily="34" charset="-120"/>
              </a:rPr>
              <a:t>Decide what "feasible" vs. "rethink" looks like before you start.</a:t>
            </a:r>
            <a:endParaRPr lang="en-US" sz="1250" dirty="0"/>
          </a:p>
        </p:txBody>
      </p:sp>
      <p:sp>
        <p:nvSpPr>
          <p:cNvPr id="24" name="Shape 18"/>
          <p:cNvSpPr/>
          <p:nvPr/>
        </p:nvSpPr>
        <p:spPr>
          <a:xfrm>
            <a:off x="8860536" y="3108960"/>
            <a:ext cx="2651760"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25" name="Shape 19"/>
          <p:cNvSpPr/>
          <p:nvPr/>
        </p:nvSpPr>
        <p:spPr>
          <a:xfrm>
            <a:off x="9902952" y="3364992"/>
            <a:ext cx="566928" cy="566928"/>
          </a:xfrm>
          <a:prstGeom prst="ellipse">
            <a:avLst/>
          </a:prstGeom>
          <a:solidFill>
            <a:srgbClr val="14233A"/>
          </a:solidFill>
          <a:ln/>
        </p:spPr>
      </p:sp>
      <p:pic>
        <p:nvPicPr>
          <p:cNvPr id="26" name="Image 4" descr="preencoded.png">    </p:cNvPr>
          <p:cNvPicPr>
            <a:picLocks noChangeAspect="1"/>
          </p:cNvPicPr>
          <p:nvPr/>
        </p:nvPicPr>
        <p:blipFill>
          <a:blip r:embed="rId5"/>
          <a:stretch>
            <a:fillRect/>
          </a:stretch>
        </p:blipFill>
        <p:spPr>
          <a:xfrm>
            <a:off x="10056023" y="3518063"/>
            <a:ext cx="260787" cy="260787"/>
          </a:xfrm>
          <a:prstGeom prst="rect">
            <a:avLst/>
          </a:prstGeom>
        </p:spPr>
      </p:pic>
      <p:sp>
        <p:nvSpPr>
          <p:cNvPr id="27" name="Text 20"/>
          <p:cNvSpPr/>
          <p:nvPr/>
        </p:nvSpPr>
        <p:spPr>
          <a:xfrm>
            <a:off x="8951976" y="4041648"/>
            <a:ext cx="2468880" cy="640080"/>
          </a:xfrm>
          <a:prstGeom prst="rect">
            <a:avLst/>
          </a:prstGeom>
          <a:noFill/>
          <a:ln/>
        </p:spPr>
        <p:txBody>
          <a:bodyPr wrap="square" lIns="0" tIns="0" rIns="0" bIns="0" rtlCol="0" anchor="t"/>
          <a:lstStyle/>
          <a:p>
            <a:pPr algn="ctr" indent="0" marL="0">
              <a:lnSpc>
                <a:spcPct val="100000"/>
              </a:lnSpc>
              <a:buNone/>
            </a:pPr>
            <a:r>
              <a:rPr lang="en-US" sz="1500" b="1" dirty="0">
                <a:solidFill>
                  <a:srgbClr val="1E2A36"/>
                </a:solidFill>
                <a:latin typeface="Calibri" pitchFamily="34" charset="0"/>
                <a:ea typeface="Calibri" pitchFamily="34" charset="-122"/>
                <a:cs typeface="Calibri" pitchFamily="34" charset="-120"/>
              </a:rPr>
              <a:t>Throwaway prototype</a:t>
            </a:r>
            <a:endParaRPr lang="en-US" sz="1500" dirty="0"/>
          </a:p>
        </p:txBody>
      </p:sp>
      <p:sp>
        <p:nvSpPr>
          <p:cNvPr id="28" name="Text 21"/>
          <p:cNvSpPr/>
          <p:nvPr/>
        </p:nvSpPr>
        <p:spPr>
          <a:xfrm>
            <a:off x="9006840" y="4645152"/>
            <a:ext cx="2359152" cy="713232"/>
          </a:xfrm>
          <a:prstGeom prst="rect">
            <a:avLst/>
          </a:prstGeom>
          <a:noFill/>
          <a:ln/>
        </p:spPr>
        <p:txBody>
          <a:bodyPr wrap="square" lIns="0" tIns="0" rIns="0" bIns="0" rtlCol="0" anchor="t"/>
          <a:lstStyle/>
          <a:p>
            <a:pPr algn="ctr" indent="0" marL="0">
              <a:lnSpc>
                <a:spcPct val="104000"/>
              </a:lnSpc>
              <a:buNone/>
            </a:pPr>
            <a:r>
              <a:rPr lang="en-US" sz="1250" dirty="0">
                <a:solidFill>
                  <a:srgbClr val="5F7284"/>
                </a:solidFill>
                <a:latin typeface="Calibri" pitchFamily="34" charset="0"/>
                <a:ea typeface="Calibri" pitchFamily="34" charset="-122"/>
                <a:cs typeface="Calibri" pitchFamily="34" charset="-120"/>
              </a:rPr>
              <a:t>You're buying an answer, not shipping. Stop when it's clear.</a:t>
            </a:r>
            <a:endParaRPr lang="en-US" sz="1250" dirty="0"/>
          </a:p>
        </p:txBody>
      </p:sp>
      <p:sp>
        <p:nvSpPr>
          <p:cNvPr id="29"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30"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THE SPIKE, ON QUEUEUP</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red answer is a win</a:t>
            </a:r>
            <a:endParaRPr lang="en-US" sz="3200" dirty="0"/>
          </a:p>
        </p:txBody>
      </p:sp>
      <p:sp>
        <p:nvSpPr>
          <p:cNvPr id="6" name="Text 4"/>
          <p:cNvSpPr/>
          <p:nvPr/>
        </p:nvSpPr>
        <p:spPr>
          <a:xfrm>
            <a:off x="566928" y="1600200"/>
            <a:ext cx="11064240" cy="457200"/>
          </a:xfrm>
          <a:prstGeom prst="rect">
            <a:avLst/>
          </a:prstGeom>
          <a:noFill/>
          <a:ln/>
        </p:spPr>
        <p:txBody>
          <a:bodyPr wrap="square" lIns="0" tIns="0" rIns="0" bIns="0" rtlCol="0" anchor="ctr"/>
          <a:lstStyle/>
          <a:p>
            <a:pPr indent="0" marL="0">
              <a:buNone/>
            </a:pPr>
            <a:r>
              <a:rPr lang="en-US" sz="1650" i="1" dirty="0">
                <a:solidFill>
                  <a:srgbClr val="CFE0E9"/>
                </a:solidFill>
                <a:latin typeface="Calibri" pitchFamily="34" charset="0"/>
                <a:ea typeface="Calibri" pitchFamily="34" charset="-122"/>
                <a:cs typeface="Calibri" pitchFamily="34" charset="-120"/>
              </a:rPr>
              <a:t>"Can two browsers share a live queue in under one second — in two days?"</a:t>
            </a:r>
            <a:endParaRPr lang="en-US" sz="1650" dirty="0"/>
          </a:p>
        </p:txBody>
      </p:sp>
      <p:sp>
        <p:nvSpPr>
          <p:cNvPr id="7" name="Shape 5"/>
          <p:cNvSpPr/>
          <p:nvPr/>
        </p:nvSpPr>
        <p:spPr>
          <a:xfrm>
            <a:off x="548640" y="2194560"/>
            <a:ext cx="5440680" cy="1874520"/>
          </a:xfrm>
          <a:prstGeom prst="roundRect">
            <a:avLst>
              <a:gd name="adj" fmla="val 4390"/>
            </a:avLst>
          </a:prstGeom>
          <a:solidFill>
            <a:srgbClr val="EAF4EE"/>
          </a:solidFill>
          <a:ln/>
          <a:effectLst>
            <a:outerShdw sx="100000" sy="100000" kx="0" ky="0" algn="bl" rotWithShape="0" blurRad="88900" dist="38100" dir="5400000">
              <a:srgbClr val="000000">
                <a:alpha val="13000"/>
              </a:srgbClr>
            </a:outerShdw>
          </a:effectLst>
        </p:spPr>
      </p:sp>
      <p:sp>
        <p:nvSpPr>
          <p:cNvPr id="8" name="Text 6"/>
          <p:cNvSpPr/>
          <p:nvPr/>
        </p:nvSpPr>
        <p:spPr>
          <a:xfrm>
            <a:off x="822960" y="2377440"/>
            <a:ext cx="4937760" cy="1554480"/>
          </a:xfrm>
          <a:prstGeom prst="rect">
            <a:avLst/>
          </a:prstGeom>
          <a:noFill/>
          <a:ln/>
        </p:spPr>
        <p:txBody>
          <a:bodyPr wrap="square" lIns="0" tIns="0" rIns="0" bIns="0" rtlCol="0" anchor="t"/>
          <a:lstStyle/>
          <a:p>
            <a:pPr indent="0" marL="0">
              <a:lnSpc>
                <a:spcPct val="106000"/>
              </a:lnSpc>
              <a:buNone/>
            </a:pPr>
            <a:r>
              <a:rPr lang="en-US" sz="1700" b="1" dirty="0">
                <a:solidFill>
                  <a:srgbClr val="3E9C6B"/>
                </a:solidFill>
                <a:latin typeface="Calibri" pitchFamily="34" charset="0"/>
                <a:ea typeface="Calibri" pitchFamily="34" charset="-122"/>
                <a:cs typeface="Calibri" pitchFamily="34" charset="-120"/>
              </a:rPr>
              <a:t>GREEN → build it
</a:t>
            </a:r>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Two tabs sync live in &lt;1s. Real-time is feasible — and this retires both Technical and Skill risk at once.</a:t>
            </a:r>
            <a:endParaRPr lang="en-US" sz="1700" dirty="0"/>
          </a:p>
        </p:txBody>
      </p:sp>
      <p:sp>
        <p:nvSpPr>
          <p:cNvPr id="9" name="Shape 7"/>
          <p:cNvSpPr/>
          <p:nvPr/>
        </p:nvSpPr>
        <p:spPr>
          <a:xfrm>
            <a:off x="6172200" y="2194560"/>
            <a:ext cx="5440680" cy="1874520"/>
          </a:xfrm>
          <a:prstGeom prst="roundRect">
            <a:avLst>
              <a:gd name="adj" fmla="val 4390"/>
            </a:avLst>
          </a:prstGeom>
          <a:solidFill>
            <a:srgbClr val="FBECE8"/>
          </a:solidFill>
          <a:ln/>
          <a:effectLst>
            <a:outerShdw sx="100000" sy="100000" kx="0" ky="0" algn="bl" rotWithShape="0" blurRad="88900" dist="38100" dir="5400000">
              <a:srgbClr val="000000">
                <a:alpha val="13000"/>
              </a:srgbClr>
            </a:outerShdw>
          </a:effectLst>
        </p:spPr>
      </p:sp>
      <p:sp>
        <p:nvSpPr>
          <p:cNvPr id="10" name="Text 8"/>
          <p:cNvSpPr/>
          <p:nvPr/>
        </p:nvSpPr>
        <p:spPr>
          <a:xfrm>
            <a:off x="6446520" y="2377440"/>
            <a:ext cx="4937760" cy="1554480"/>
          </a:xfrm>
          <a:prstGeom prst="rect">
            <a:avLst/>
          </a:prstGeom>
          <a:noFill/>
          <a:ln/>
        </p:spPr>
        <p:txBody>
          <a:bodyPr wrap="square" lIns="0" tIns="0" rIns="0" bIns="0" rtlCol="0" anchor="t"/>
          <a:lstStyle/>
          <a:p>
            <a:pPr indent="0" marL="0">
              <a:lnSpc>
                <a:spcPct val="106000"/>
              </a:lnSpc>
              <a:buNone/>
            </a:pPr>
            <a:r>
              <a:rPr lang="en-US" sz="1700" b="1" dirty="0">
                <a:solidFill>
                  <a:srgbClr val="D9614C"/>
                </a:solidFill>
                <a:latin typeface="Calibri" pitchFamily="34" charset="0"/>
                <a:ea typeface="Calibri" pitchFamily="34" charset="-122"/>
                <a:cs typeface="Calibri" pitchFamily="34" charset="-120"/>
              </a:rPr>
              <a:t>RED → rescope, don't quit
</a:t>
            </a:r>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Too hard or rate-limited? Ship a 5-second refresh for v1; put true real-time on the roadmap.</a:t>
            </a:r>
            <a:endParaRPr lang="en-US" sz="1700" dirty="0"/>
          </a:p>
        </p:txBody>
      </p:sp>
      <p:sp>
        <p:nvSpPr>
          <p:cNvPr id="11" name="Shape 9"/>
          <p:cNvSpPr/>
          <p:nvPr/>
        </p:nvSpPr>
        <p:spPr>
          <a:xfrm>
            <a:off x="548640" y="4224528"/>
            <a:ext cx="11064240" cy="841248"/>
          </a:xfrm>
          <a:prstGeom prst="roundRect">
            <a:avLst>
              <a:gd name="adj" fmla="val 9783"/>
            </a:avLst>
          </a:prstGeom>
          <a:solidFill>
            <a:srgbClr val="1E3352"/>
          </a:solidFill>
          <a:ln/>
          <a:effectLst>
            <a:outerShdw sx="100000" sy="100000" kx="0" ky="0" algn="bl" rotWithShape="0" blurRad="88900" dist="38100" dir="5400000">
              <a:srgbClr val="000000">
                <a:alpha val="13000"/>
              </a:srgbClr>
            </a:outerShdw>
          </a:effectLst>
        </p:spPr>
      </p:sp>
      <p:sp>
        <p:nvSpPr>
          <p:cNvPr id="12" name="Text 10"/>
          <p:cNvSpPr/>
          <p:nvPr/>
        </p:nvSpPr>
        <p:spPr>
          <a:xfrm>
            <a:off x="822960" y="4224528"/>
            <a:ext cx="10515600" cy="841248"/>
          </a:xfrm>
          <a:prstGeom prst="rect">
            <a:avLst/>
          </a:prstGeom>
          <a:noFill/>
          <a:ln/>
        </p:spPr>
        <p:txBody>
          <a:bodyPr wrap="square" lIns="0" tIns="0" rIns="0" bIns="0" rtlCol="0" anchor="ctr"/>
          <a:lstStyle/>
          <a:p>
            <a:pPr algn="ctr" indent="0" marL="0">
              <a:buNone/>
            </a:pPr>
            <a:r>
              <a:rPr lang="en-US" sz="1550" b="1" dirty="0">
                <a:solidFill>
                  <a:srgbClr val="E8A33D"/>
                </a:solidFill>
                <a:latin typeface="Calibri" pitchFamily="34" charset="0"/>
                <a:ea typeface="Calibri" pitchFamily="34" charset="-122"/>
                <a:cs typeface="Calibri" pitchFamily="34" charset="-120"/>
              </a:rPr>
              <a:t>The spike turns "is this doomed?" into a scoping decision</a:t>
            </a:r>
            <a:pPr algn="ctr" indent="0" marL="0">
              <a:buNone/>
            </a:pPr>
            <a:r>
              <a:rPr lang="en-US" sz="1550" dirty="0">
                <a:solidFill>
                  <a:srgbClr val="FFFFFF"/>
                </a:solidFill>
                <a:latin typeface="Calibri" pitchFamily="34" charset="0"/>
                <a:ea typeface="Calibri" pitchFamily="34" charset="-122"/>
                <a:cs typeface="Calibri" pitchFamily="34" charset="-120"/>
              </a:rPr>
              <a:t> — cheaply, and early enough to change course.</a:t>
            </a:r>
            <a:endParaRPr lang="en-US" sz="1550" dirty="0"/>
          </a:p>
        </p:txBody>
      </p:sp>
      <p:sp>
        <p:nvSpPr>
          <p:cNvPr id="13" name="Shape 11"/>
          <p:cNvSpPr/>
          <p:nvPr/>
        </p:nvSpPr>
        <p:spPr>
          <a:xfrm>
            <a:off x="548640" y="5230368"/>
            <a:ext cx="11064240" cy="841248"/>
          </a:xfrm>
          <a:prstGeom prst="roundRect">
            <a:avLst>
              <a:gd name="adj" fmla="val 9783"/>
            </a:avLst>
          </a:prstGeom>
          <a:solidFill>
            <a:srgbClr val="E8A33D"/>
          </a:solidFill>
          <a:ln/>
          <a:effectLst>
            <a:outerShdw sx="100000" sy="100000" kx="0" ky="0" algn="bl" rotWithShape="0" blurRad="88900" dist="38100" dir="5400000">
              <a:srgbClr val="000000">
                <a:alpha val="13000"/>
              </a:srgbClr>
            </a:outerShdw>
          </a:effectLst>
        </p:spPr>
      </p:sp>
      <p:sp>
        <p:nvSpPr>
          <p:cNvPr id="14" name="Shape 12"/>
          <p:cNvSpPr/>
          <p:nvPr/>
        </p:nvSpPr>
        <p:spPr>
          <a:xfrm>
            <a:off x="841248" y="5431536"/>
            <a:ext cx="457200" cy="457200"/>
          </a:xfrm>
          <a:prstGeom prst="ellipse">
            <a:avLst/>
          </a:prstGeom>
          <a:solidFill>
            <a:srgbClr val="14233A"/>
          </a:solidFill>
          <a:ln/>
        </p:spPr>
      </p:sp>
      <p:pic>
        <p:nvPicPr>
          <p:cNvPr id="15" name="Image 0" descr="preencoded.png">    </p:cNvPr>
          <p:cNvPicPr>
            <a:picLocks noChangeAspect="1"/>
          </p:cNvPicPr>
          <p:nvPr/>
        </p:nvPicPr>
        <p:blipFill>
          <a:blip r:embed="rId1"/>
          <a:stretch>
            <a:fillRect/>
          </a:stretch>
        </p:blipFill>
        <p:spPr>
          <a:xfrm>
            <a:off x="964692" y="5554980"/>
            <a:ext cx="210312" cy="210312"/>
          </a:xfrm>
          <a:prstGeom prst="rect">
            <a:avLst/>
          </a:prstGeom>
        </p:spPr>
      </p:pic>
      <p:sp>
        <p:nvSpPr>
          <p:cNvPr id="16" name="Text 13"/>
          <p:cNvSpPr/>
          <p:nvPr/>
        </p:nvSpPr>
        <p:spPr>
          <a:xfrm>
            <a:off x="1463040" y="5230368"/>
            <a:ext cx="9875520" cy="841248"/>
          </a:xfrm>
          <a:prstGeom prst="rect">
            <a:avLst/>
          </a:prstGeom>
          <a:noFill/>
          <a:ln/>
        </p:spPr>
        <p:txBody>
          <a:bodyPr wrap="square" lIns="0" tIns="0" rIns="0" bIns="0" rtlCol="0" anchor="ctr"/>
          <a:lstStyle/>
          <a:p>
            <a:pPr indent="0" marL="0">
              <a:lnSpc>
                <a:spcPct val="103000"/>
              </a:lnSpc>
              <a:buNone/>
            </a:pPr>
            <a:r>
              <a:rPr lang="en-US" sz="1500" b="1" dirty="0">
                <a:solidFill>
                  <a:srgbClr val="14233A"/>
                </a:solidFill>
                <a:latin typeface="Calibri" pitchFamily="34" charset="0"/>
                <a:ea typeface="Calibri" pitchFamily="34" charset="-122"/>
                <a:cs typeface="Calibri" pitchFamily="34" charset="-120"/>
              </a:rPr>
              <a:t>Required:  </a:t>
            </a:r>
            <a:pPr indent="0" marL="0">
              <a:lnSpc>
                <a:spcPct val="103000"/>
              </a:lnSpc>
              <a:buNone/>
            </a:pPr>
            <a:r>
              <a:rPr lang="en-US" sz="1500" dirty="0">
                <a:solidFill>
                  <a:srgbClr val="14233A"/>
                </a:solidFill>
                <a:latin typeface="Calibri" pitchFamily="34" charset="0"/>
                <a:ea typeface="Calibri" pitchFamily="34" charset="-122"/>
                <a:cs typeface="Calibri" pitchFamily="34" charset="-120"/>
              </a:rPr>
              <a:t>run at least one spike on your scariest unknown. Its result goes in your proposal (CP3), graded under Feasibility.</a:t>
            </a:r>
            <a:endParaRPr lang="en-US" sz="1500" dirty="0"/>
          </a:p>
        </p:txBody>
      </p:sp>
      <p:sp>
        <p:nvSpPr>
          <p:cNvPr id="17"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18"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SKILL UNDER ALL THE OTHERS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Learning what you don't know — on purpose</a:t>
            </a:r>
            <a:endParaRPr lang="en-US" sz="3100" dirty="0"/>
          </a:p>
        </p:txBody>
      </p:sp>
      <p:sp>
        <p:nvSpPr>
          <p:cNvPr id="5" name="Shape 3"/>
          <p:cNvSpPr/>
          <p:nvPr/>
        </p:nvSpPr>
        <p:spPr>
          <a:xfrm>
            <a:off x="548640" y="1737360"/>
            <a:ext cx="11064240" cy="1371600"/>
          </a:xfrm>
          <a:prstGeom prst="roundRect">
            <a:avLst>
              <a:gd name="adj" fmla="val 6000"/>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066544"/>
            <a:ext cx="676656" cy="676656"/>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51377" y="2249241"/>
            <a:ext cx="311262" cy="311262"/>
          </a:xfrm>
          <a:prstGeom prst="rect">
            <a:avLst/>
          </a:prstGeom>
        </p:spPr>
      </p:pic>
      <p:sp>
        <p:nvSpPr>
          <p:cNvPr id="8" name="Text 5"/>
          <p:cNvSpPr/>
          <p:nvPr/>
        </p:nvSpPr>
        <p:spPr>
          <a:xfrm>
            <a:off x="1810512" y="1737360"/>
            <a:ext cx="9601200" cy="1371600"/>
          </a:xfrm>
          <a:prstGeom prst="rect">
            <a:avLst/>
          </a:prstGeom>
          <a:noFill/>
          <a:ln/>
        </p:spPr>
        <p:txBody>
          <a:bodyPr wrap="square" lIns="0" tIns="0" rIns="0" bIns="0" rtlCol="0" anchor="ctr"/>
          <a:lstStyle/>
          <a:p>
            <a:pPr indent="0" marL="0">
              <a:lnSpc>
                <a:spcPct val="106000"/>
              </a:lnSpc>
              <a:buNone/>
            </a:pPr>
            <a:r>
              <a:rPr lang="en-US" sz="1600" dirty="0">
                <a:solidFill>
                  <a:srgbClr val="CFE0E9"/>
                </a:solidFill>
                <a:latin typeface="Calibri" pitchFamily="34" charset="0"/>
                <a:ea typeface="Calibri" pitchFamily="34" charset="-122"/>
                <a:cs typeface="Calibri" pitchFamily="34" charset="-120"/>
              </a:rPr>
              <a:t>You've learned on someone else's schedule for 18+ years. After graduation, nobody assigns you the reading — you pick the topic, and the whole process is yours to design.</a:t>
            </a:r>
            <a:endParaRPr lang="en-US" sz="1600" dirty="0"/>
          </a:p>
        </p:txBody>
      </p:sp>
      <p:sp>
        <p:nvSpPr>
          <p:cNvPr id="9" name="Shape 6"/>
          <p:cNvSpPr/>
          <p:nvPr/>
        </p:nvSpPr>
        <p:spPr>
          <a:xfrm>
            <a:off x="548640" y="3273552"/>
            <a:ext cx="11064240" cy="2907792"/>
          </a:xfrm>
          <a:prstGeom prst="roundRect">
            <a:avLst>
              <a:gd name="adj" fmla="val 2830"/>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68680" y="3566160"/>
            <a:ext cx="566928" cy="566928"/>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1021751" y="3719231"/>
            <a:ext cx="260787" cy="260787"/>
          </a:xfrm>
          <a:prstGeom prst="rect">
            <a:avLst/>
          </a:prstGeom>
        </p:spPr>
      </p:pic>
      <p:sp>
        <p:nvSpPr>
          <p:cNvPr id="12" name="Text 8"/>
          <p:cNvSpPr/>
          <p:nvPr/>
        </p:nvSpPr>
        <p:spPr>
          <a:xfrm>
            <a:off x="1627632" y="3584448"/>
            <a:ext cx="9692640" cy="53035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Before we plan anything — how do you actually learn?</a:t>
            </a:r>
            <a:endParaRPr lang="en-US" sz="1800" dirty="0"/>
          </a:p>
        </p:txBody>
      </p:sp>
      <p:sp>
        <p:nvSpPr>
          <p:cNvPr id="13" name="Text 9"/>
          <p:cNvSpPr/>
          <p:nvPr/>
        </p:nvSpPr>
        <p:spPr>
          <a:xfrm>
            <a:off x="1051560" y="4279392"/>
            <a:ext cx="10332720" cy="178308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1E2A36"/>
                </a:solidFill>
                <a:latin typeface="Calibri" pitchFamily="34" charset="0"/>
                <a:ea typeface="Calibri" pitchFamily="34" charset="-122"/>
                <a:cs typeface="Calibri" pitchFamily="34" charset="-120"/>
              </a:rPr>
              <a:t>When you had to learn something genuinely new — what actually worked? What didn't?</a:t>
            </a:r>
            <a:endParaRPr lang="en-US" sz="1600" dirty="0"/>
          </a:p>
          <a:p>
            <a:pPr marL="203200" indent="-203200">
              <a:spcAft>
                <a:spcPts val="1200"/>
              </a:spcAft>
              <a:buSzPct val="100000"/>
              <a:buChar char="•"/>
            </a:pPr>
            <a:r>
              <a:rPr lang="en-US" sz="1600" dirty="0">
                <a:solidFill>
                  <a:srgbClr val="1E2A36"/>
                </a:solidFill>
                <a:latin typeface="Calibri" pitchFamily="34" charset="0"/>
                <a:ea typeface="Calibri" pitchFamily="34" charset="-122"/>
                <a:cs typeface="Calibri" pitchFamily="34" charset="-120"/>
              </a:rPr>
              <a:t>Where do you go to learn? Does your environment change how well it goes?</a:t>
            </a:r>
            <a:endParaRPr lang="en-US" sz="1600" dirty="0"/>
          </a:p>
          <a:p>
            <a:pPr marL="203200" indent="-203200">
              <a:spcAft>
                <a:spcPts val="1200"/>
              </a:spcAft>
              <a:buSzPct val="100000"/>
              <a:buChar char="•"/>
            </a:pPr>
            <a:r>
              <a:rPr lang="en-US" sz="1600" dirty="0">
                <a:solidFill>
                  <a:srgbClr val="1E2A36"/>
                </a:solidFill>
                <a:latin typeface="Calibri" pitchFamily="34" charset="0"/>
                <a:ea typeface="Calibri" pitchFamily="34" charset="-122"/>
                <a:cs typeface="Calibri" pitchFamily="34" charset="-120"/>
              </a:rPr>
              <a:t>How do you know when you've learned enough?</a:t>
            </a:r>
            <a:endParaRPr lang="en-US" sz="1600" dirty="0"/>
          </a:p>
          <a:p>
            <a:pPr marL="203200" indent="-203200">
              <a:buSzPct val="100000"/>
              <a:buChar char="•"/>
            </a:pPr>
            <a:r>
              <a:rPr lang="en-US" sz="1600" dirty="0">
                <a:solidFill>
                  <a:srgbClr val="1E2A36"/>
                </a:solidFill>
                <a:latin typeface="Calibri" pitchFamily="34" charset="0"/>
                <a:ea typeface="Calibri" pitchFamily="34" charset="-122"/>
                <a:cs typeface="Calibri" pitchFamily="34" charset="-120"/>
              </a:rPr>
              <a:t>What do you still remember six months later — and why that, and not the rest?</a:t>
            </a:r>
            <a:endParaRPr lang="en-US" sz="1600" dirty="0"/>
          </a:p>
        </p:txBody>
      </p:sp>
      <p:sp>
        <p:nvSpPr>
          <p:cNvPr id="14" name="Text 1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15"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GOOD LEARNERS ACTUALLY DO</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curve, and the techniques that pay</a:t>
            </a:r>
            <a:endParaRPr lang="en-US" sz="3100" dirty="0"/>
          </a:p>
        </p:txBody>
      </p:sp>
      <p:sp>
        <p:nvSpPr>
          <p:cNvPr id="5" name="Shape 3"/>
          <p:cNvSpPr/>
          <p:nvPr/>
        </p:nvSpPr>
        <p:spPr>
          <a:xfrm>
            <a:off x="548640" y="1737360"/>
            <a:ext cx="11064240" cy="987552"/>
          </a:xfrm>
          <a:prstGeom prst="roundRect">
            <a:avLst>
              <a:gd name="adj" fmla="val 8333"/>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47672"/>
            <a:ext cx="566928" cy="566928"/>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21751" y="2100743"/>
            <a:ext cx="260787" cy="260787"/>
          </a:xfrm>
          <a:prstGeom prst="rect">
            <a:avLst/>
          </a:prstGeom>
        </p:spPr>
      </p:pic>
      <p:sp>
        <p:nvSpPr>
          <p:cNvPr id="8" name="Text 5"/>
          <p:cNvSpPr/>
          <p:nvPr/>
        </p:nvSpPr>
        <p:spPr>
          <a:xfrm>
            <a:off x="1627632" y="1737360"/>
            <a:ext cx="9692640" cy="987552"/>
          </a:xfrm>
          <a:prstGeom prst="rect">
            <a:avLst/>
          </a:prstGeom>
          <a:noFill/>
          <a:ln/>
        </p:spPr>
        <p:txBody>
          <a:bodyPr wrap="square" lIns="0" tIns="0" rIns="0" bIns="0" rtlCol="0" anchor="ctr"/>
          <a:lstStyle/>
          <a:p>
            <a:pPr indent="0" marL="0">
              <a:lnSpc>
                <a:spcPct val="105000"/>
              </a:lnSpc>
              <a:buNone/>
            </a:pPr>
            <a:r>
              <a:rPr lang="en-US" sz="1550" b="1" dirty="0">
                <a:solidFill>
                  <a:srgbClr val="E8A33D"/>
                </a:solidFill>
                <a:latin typeface="Calibri" pitchFamily="34" charset="0"/>
                <a:ea typeface="Calibri" pitchFamily="34" charset="-122"/>
                <a:cs typeface="Calibri" pitchFamily="34" charset="-120"/>
              </a:rPr>
              <a:t>No 24-hour shortcuts:  </a:t>
            </a:r>
            <a:pPr indent="0" marL="0">
              <a:lnSpc>
                <a:spcPct val="105000"/>
              </a:lnSpc>
              <a:buNone/>
            </a:pPr>
            <a:r>
              <a:rPr lang="en-US" sz="1550" dirty="0">
                <a:solidFill>
                  <a:srgbClr val="CFE0E9"/>
                </a:solidFill>
                <a:latin typeface="Calibri" pitchFamily="34" charset="0"/>
                <a:ea typeface="Calibri" pitchFamily="34" charset="-122"/>
                <a:cs typeface="Calibri" pitchFamily="34" charset="-120"/>
              </a:rPr>
              <a:t>expertise comes from deliberate practice on real problems — not tutorials watched passively.  (Norvig)</a:t>
            </a:r>
            <a:endParaRPr lang="en-US" sz="1550" dirty="0"/>
          </a:p>
        </p:txBody>
      </p:sp>
      <p:sp>
        <p:nvSpPr>
          <p:cNvPr id="9" name="Shape 6"/>
          <p:cNvSpPr/>
          <p:nvPr/>
        </p:nvSpPr>
        <p:spPr>
          <a:xfrm>
            <a:off x="548640" y="2889504"/>
            <a:ext cx="5440680" cy="3291840"/>
          </a:xfrm>
          <a:prstGeom prst="roundRect">
            <a:avLst>
              <a:gd name="adj" fmla="val 2500"/>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163824"/>
            <a:ext cx="548640" cy="548640"/>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971093" y="3311957"/>
            <a:ext cx="252374" cy="252374"/>
          </a:xfrm>
          <a:prstGeom prst="rect">
            <a:avLst/>
          </a:prstGeom>
        </p:spPr>
      </p:pic>
      <p:sp>
        <p:nvSpPr>
          <p:cNvPr id="12" name="Text 8"/>
          <p:cNvSpPr/>
          <p:nvPr/>
        </p:nvSpPr>
        <p:spPr>
          <a:xfrm>
            <a:off x="1508760" y="3209544"/>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learning curve</a:t>
            </a:r>
            <a:endParaRPr lang="en-US" sz="1800" dirty="0"/>
          </a:p>
        </p:txBody>
      </p:sp>
      <p:sp>
        <p:nvSpPr>
          <p:cNvPr id="13" name="Text 9"/>
          <p:cNvSpPr/>
          <p:nvPr/>
        </p:nvSpPr>
        <p:spPr>
          <a:xfrm>
            <a:off x="896112" y="3886200"/>
            <a:ext cx="4892040" cy="219456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Progress isn't linear: a fast start, then a plateau where most people quit and call themselves "bad at it." Knowing it's coming is how you cross it. Retention comes from retrieval and use — not re-reading.</a:t>
            </a:r>
            <a:endParaRPr lang="en-US" sz="1450" dirty="0"/>
          </a:p>
        </p:txBody>
      </p:sp>
      <p:sp>
        <p:nvSpPr>
          <p:cNvPr id="14" name="Shape 10"/>
          <p:cNvSpPr/>
          <p:nvPr/>
        </p:nvSpPr>
        <p:spPr>
          <a:xfrm>
            <a:off x="6172200" y="2889504"/>
            <a:ext cx="5440680" cy="3291840"/>
          </a:xfrm>
          <a:prstGeom prst="roundRect">
            <a:avLst>
              <a:gd name="adj" fmla="val 2500"/>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163824"/>
            <a:ext cx="548640" cy="548640"/>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6594653" y="3311957"/>
            <a:ext cx="252374" cy="252374"/>
          </a:xfrm>
          <a:prstGeom prst="rect">
            <a:avLst/>
          </a:prstGeom>
        </p:spPr>
      </p:pic>
      <p:sp>
        <p:nvSpPr>
          <p:cNvPr id="17" name="Text 12"/>
          <p:cNvSpPr/>
          <p:nvPr/>
        </p:nvSpPr>
        <p:spPr>
          <a:xfrm>
            <a:off x="7132320" y="3209544"/>
            <a:ext cx="4206240" cy="45720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Techniques that pay</a:t>
            </a:r>
            <a:endParaRPr lang="en-US" sz="1800" dirty="0"/>
          </a:p>
        </p:txBody>
      </p:sp>
      <p:sp>
        <p:nvSpPr>
          <p:cNvPr id="18" name="Text 13"/>
          <p:cNvSpPr/>
          <p:nvPr/>
        </p:nvSpPr>
        <p:spPr>
          <a:xfrm>
            <a:off x="6519672" y="3858768"/>
            <a:ext cx="4892040" cy="219456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E2A36"/>
                </a:solidFill>
                <a:latin typeface="Calibri" pitchFamily="34" charset="0"/>
                <a:ea typeface="Calibri" pitchFamily="34" charset="-122"/>
                <a:cs typeface="Calibri" pitchFamily="34" charset="-120"/>
              </a:rPr>
              <a:t>Official docs — a trainable skill, not a chore</a:t>
            </a:r>
            <a:endParaRPr lang="en-US" sz="1350" dirty="0"/>
          </a:p>
          <a:p>
            <a:pPr marL="177800" indent="-177800">
              <a:spcAft>
                <a:spcPts val="800"/>
              </a:spcAft>
              <a:buSzPct val="100000"/>
              <a:buChar char="•"/>
            </a:pPr>
            <a:r>
              <a:rPr lang="en-US" sz="1350" dirty="0">
                <a:solidFill>
                  <a:srgbClr val="1E2A36"/>
                </a:solidFill>
                <a:latin typeface="Calibri" pitchFamily="34" charset="0"/>
                <a:ea typeface="Calibri" pitchFamily="34" charset="-122"/>
                <a:cs typeface="Calibri" pitchFamily="34" charset="-120"/>
              </a:rPr>
              <a:t>Notes in your own words — the translation is the learning</a:t>
            </a:r>
            <a:endParaRPr lang="en-US" sz="1350" dirty="0"/>
          </a:p>
          <a:p>
            <a:pPr marL="177800" indent="-177800">
              <a:spcAft>
                <a:spcPts val="800"/>
              </a:spcAft>
              <a:buSzPct val="100000"/>
              <a:buChar char="•"/>
            </a:pPr>
            <a:r>
              <a:rPr lang="en-US" sz="1350" dirty="0">
                <a:solidFill>
                  <a:srgbClr val="1E2A36"/>
                </a:solidFill>
                <a:latin typeface="Calibri" pitchFamily="34" charset="0"/>
                <a:ea typeface="Calibri" pitchFamily="34" charset="-122"/>
                <a:cs typeface="Calibri" pitchFamily="34" charset="-120"/>
              </a:rPr>
              <a:t>Experiment — poke it, check your prediction</a:t>
            </a:r>
            <a:endParaRPr lang="en-US" sz="1350" dirty="0"/>
          </a:p>
          <a:p>
            <a:pPr marL="177800" indent="-177800">
              <a:spcAft>
                <a:spcPts val="800"/>
              </a:spcAft>
              <a:buSzPct val="100000"/>
              <a:buChar char="•"/>
            </a:pPr>
            <a:r>
              <a:rPr lang="en-US" sz="1350" dirty="0">
                <a:solidFill>
                  <a:srgbClr val="1E2A36"/>
                </a:solidFill>
                <a:latin typeface="Calibri" pitchFamily="34" charset="0"/>
                <a:ea typeface="Calibri" pitchFamily="34" charset="-122"/>
                <a:cs typeface="Calibri" pitchFamily="34" charset="-120"/>
              </a:rPr>
              <a:t>Build something — concrete beats abstract</a:t>
            </a:r>
            <a:endParaRPr lang="en-US" sz="1350" dirty="0"/>
          </a:p>
          <a:p>
            <a:pPr marL="177800" indent="-177800">
              <a:buSzPct val="100000"/>
              <a:buChar char="•"/>
            </a:pPr>
            <a:r>
              <a:rPr lang="en-US" sz="1350" dirty="0">
                <a:solidFill>
                  <a:srgbClr val="1E2A36"/>
                </a:solidFill>
                <a:latin typeface="Calibri" pitchFamily="34" charset="0"/>
                <a:ea typeface="Calibri" pitchFamily="34" charset="-122"/>
                <a:cs typeface="Calibri" pitchFamily="34" charset="-120"/>
              </a:rPr>
              <a:t>Tutorials — but watching isn't doing</a:t>
            </a:r>
            <a:endParaRPr lang="en-US" sz="1350" dirty="0"/>
          </a:p>
        </p:txBody>
      </p:sp>
      <p:sp>
        <p:nvSpPr>
          <p:cNvPr id="19"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TURN A GAP INTO A PLAN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learning plan — five steps</a:t>
            </a:r>
            <a:endParaRPr lang="en-US" sz="3100" dirty="0"/>
          </a:p>
        </p:txBody>
      </p:sp>
      <p:sp>
        <p:nvSpPr>
          <p:cNvPr id="5" name="Shape 3"/>
          <p:cNvSpPr/>
          <p:nvPr/>
        </p:nvSpPr>
        <p:spPr>
          <a:xfrm>
            <a:off x="548640" y="1783080"/>
            <a:ext cx="110642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56816"/>
            <a:ext cx="457200" cy="457200"/>
          </a:xfrm>
          <a:prstGeom prst="ellipse">
            <a:avLst/>
          </a:prstGeom>
          <a:solidFill>
            <a:srgbClr val="12908F"/>
          </a:solidFill>
          <a:ln/>
        </p:spPr>
      </p:sp>
      <p:sp>
        <p:nvSpPr>
          <p:cNvPr id="7" name="Text 5"/>
          <p:cNvSpPr/>
          <p:nvPr/>
        </p:nvSpPr>
        <p:spPr>
          <a:xfrm>
            <a:off x="777240" y="195681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417320" y="1892808"/>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Know your "why"</a:t>
            </a:r>
            <a:endParaRPr lang="en-US" sz="1650" dirty="0"/>
          </a:p>
        </p:txBody>
      </p:sp>
      <p:sp>
        <p:nvSpPr>
          <p:cNvPr id="9" name="Text 7"/>
          <p:cNvSpPr/>
          <p:nvPr/>
        </p:nvSpPr>
        <p:spPr>
          <a:xfrm>
            <a:off x="5486400" y="1892808"/>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Motivation for the hard days, and an ending point so it doesn't sprawl forever.</a:t>
            </a:r>
            <a:endParaRPr lang="en-US" sz="1350" dirty="0"/>
          </a:p>
        </p:txBody>
      </p:sp>
      <p:sp>
        <p:nvSpPr>
          <p:cNvPr id="10" name="Shape 8"/>
          <p:cNvSpPr/>
          <p:nvPr/>
        </p:nvSpPr>
        <p:spPr>
          <a:xfrm>
            <a:off x="548640" y="2688336"/>
            <a:ext cx="110642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11" name="Shape 9"/>
          <p:cNvSpPr/>
          <p:nvPr/>
        </p:nvSpPr>
        <p:spPr>
          <a:xfrm>
            <a:off x="777240" y="2862072"/>
            <a:ext cx="457200" cy="457200"/>
          </a:xfrm>
          <a:prstGeom prst="ellipse">
            <a:avLst/>
          </a:prstGeom>
          <a:solidFill>
            <a:srgbClr val="12908F"/>
          </a:solidFill>
          <a:ln/>
        </p:spPr>
      </p:sp>
      <p:sp>
        <p:nvSpPr>
          <p:cNvPr id="12" name="Text 10"/>
          <p:cNvSpPr/>
          <p:nvPr/>
        </p:nvSpPr>
        <p:spPr>
          <a:xfrm>
            <a:off x="777240" y="286207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1417320" y="279806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Set goals — break them down</a:t>
            </a:r>
            <a:endParaRPr lang="en-US" sz="1650" dirty="0"/>
          </a:p>
        </p:txBody>
      </p:sp>
      <p:sp>
        <p:nvSpPr>
          <p:cNvPr id="14" name="Text 12"/>
          <p:cNvSpPr/>
          <p:nvPr/>
        </p:nvSpPr>
        <p:spPr>
          <a:xfrm>
            <a:off x="5486400" y="279806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Refine into chunks with deadlines; make at least one SMART.</a:t>
            </a:r>
            <a:endParaRPr lang="en-US" sz="1350" dirty="0"/>
          </a:p>
        </p:txBody>
      </p:sp>
      <p:sp>
        <p:nvSpPr>
          <p:cNvPr id="15" name="Shape 13"/>
          <p:cNvSpPr/>
          <p:nvPr/>
        </p:nvSpPr>
        <p:spPr>
          <a:xfrm>
            <a:off x="548640" y="3593592"/>
            <a:ext cx="110642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16" name="Shape 14"/>
          <p:cNvSpPr/>
          <p:nvPr/>
        </p:nvSpPr>
        <p:spPr>
          <a:xfrm>
            <a:off x="777240" y="3767328"/>
            <a:ext cx="457200" cy="457200"/>
          </a:xfrm>
          <a:prstGeom prst="ellipse">
            <a:avLst/>
          </a:prstGeom>
          <a:solidFill>
            <a:srgbClr val="12908F"/>
          </a:solidFill>
          <a:ln/>
        </p:spPr>
      </p:sp>
      <p:sp>
        <p:nvSpPr>
          <p:cNvPr id="17" name="Text 15"/>
          <p:cNvSpPr/>
          <p:nvPr/>
        </p:nvSpPr>
        <p:spPr>
          <a:xfrm>
            <a:off x="777240" y="376732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417320" y="3703320"/>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Make a schedule</a:t>
            </a:r>
            <a:endParaRPr lang="en-US" sz="1650" dirty="0"/>
          </a:p>
        </p:txBody>
      </p:sp>
      <p:sp>
        <p:nvSpPr>
          <p:cNvPr id="19" name="Text 17"/>
          <p:cNvSpPr/>
          <p:nvPr/>
        </p:nvSpPr>
        <p:spPr>
          <a:xfrm>
            <a:off x="5486400" y="3703320"/>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Block real time. Know your focus limit; schedule breaks — retention loves boundaries.</a:t>
            </a:r>
            <a:endParaRPr lang="en-US" sz="1350" dirty="0"/>
          </a:p>
        </p:txBody>
      </p:sp>
      <p:sp>
        <p:nvSpPr>
          <p:cNvPr id="20" name="Shape 18"/>
          <p:cNvSpPr/>
          <p:nvPr/>
        </p:nvSpPr>
        <p:spPr>
          <a:xfrm>
            <a:off x="548640" y="4498848"/>
            <a:ext cx="110642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21" name="Shape 19"/>
          <p:cNvSpPr/>
          <p:nvPr/>
        </p:nvSpPr>
        <p:spPr>
          <a:xfrm>
            <a:off x="777240" y="4672584"/>
            <a:ext cx="457200" cy="457200"/>
          </a:xfrm>
          <a:prstGeom prst="ellipse">
            <a:avLst/>
          </a:prstGeom>
          <a:solidFill>
            <a:srgbClr val="12908F"/>
          </a:solidFill>
          <a:ln/>
        </p:spPr>
      </p:sp>
      <p:sp>
        <p:nvSpPr>
          <p:cNvPr id="22" name="Text 20"/>
          <p:cNvSpPr/>
          <p:nvPr/>
        </p:nvSpPr>
        <p:spPr>
          <a:xfrm>
            <a:off x="777240" y="4672584"/>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3" name="Text 21"/>
          <p:cNvSpPr/>
          <p:nvPr/>
        </p:nvSpPr>
        <p:spPr>
          <a:xfrm>
            <a:off x="1417320" y="4608576"/>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Be accountable to someone</a:t>
            </a:r>
            <a:endParaRPr lang="en-US" sz="1650" dirty="0"/>
          </a:p>
        </p:txBody>
      </p:sp>
      <p:sp>
        <p:nvSpPr>
          <p:cNvPr id="24" name="Text 22"/>
          <p:cNvSpPr/>
          <p:nvPr/>
        </p:nvSpPr>
        <p:spPr>
          <a:xfrm>
            <a:off x="5486400" y="4608576"/>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Your neighbor now, your teammate after Oct 7. Tell them what, and by when.</a:t>
            </a:r>
            <a:endParaRPr lang="en-US" sz="1350" dirty="0"/>
          </a:p>
        </p:txBody>
      </p:sp>
      <p:sp>
        <p:nvSpPr>
          <p:cNvPr id="25" name="Shape 23"/>
          <p:cNvSpPr/>
          <p:nvPr/>
        </p:nvSpPr>
        <p:spPr>
          <a:xfrm>
            <a:off x="548640" y="5404104"/>
            <a:ext cx="110642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26" name="Shape 24"/>
          <p:cNvSpPr/>
          <p:nvPr/>
        </p:nvSpPr>
        <p:spPr>
          <a:xfrm>
            <a:off x="777240" y="5577840"/>
            <a:ext cx="457200" cy="457200"/>
          </a:xfrm>
          <a:prstGeom prst="ellipse">
            <a:avLst/>
          </a:prstGeom>
          <a:solidFill>
            <a:srgbClr val="12908F"/>
          </a:solidFill>
          <a:ln/>
        </p:spPr>
      </p:sp>
      <p:sp>
        <p:nvSpPr>
          <p:cNvPr id="27" name="Text 25"/>
          <p:cNvSpPr/>
          <p:nvPr/>
        </p:nvSpPr>
        <p:spPr>
          <a:xfrm>
            <a:off x="777240" y="557784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8" name="Text 26"/>
          <p:cNvSpPr/>
          <p:nvPr/>
        </p:nvSpPr>
        <p:spPr>
          <a:xfrm>
            <a:off x="1417320" y="5513832"/>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Build something</a:t>
            </a:r>
            <a:endParaRPr lang="en-US" sz="1650" dirty="0"/>
          </a:p>
        </p:txBody>
      </p:sp>
      <p:sp>
        <p:nvSpPr>
          <p:cNvPr id="29" name="Text 27"/>
          <p:cNvSpPr/>
          <p:nvPr/>
        </p:nvSpPr>
        <p:spPr>
          <a:xfrm>
            <a:off x="5486400" y="5513832"/>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The spike is the build: it de-risks the project and proves the learning. Two jobs.</a:t>
            </a:r>
            <a:endParaRPr lang="en-US" sz="1350" dirty="0"/>
          </a:p>
        </p:txBody>
      </p:sp>
      <p:sp>
        <p:nvSpPr>
          <p:cNvPr id="30" name="Text 2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31" name="Text 2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HEART OF THE PLAN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goal you can actually finish</a:t>
            </a:r>
            <a:endParaRPr lang="en-US" sz="3100" dirty="0"/>
          </a:p>
        </p:txBody>
      </p:sp>
      <p:sp>
        <p:nvSpPr>
          <p:cNvPr id="5" name="Shape 3"/>
          <p:cNvSpPr/>
          <p:nvPr/>
        </p:nvSpPr>
        <p:spPr>
          <a:xfrm>
            <a:off x="548640" y="1920240"/>
            <a:ext cx="5440680" cy="3246120"/>
          </a:xfrm>
          <a:prstGeom prst="roundRect">
            <a:avLst>
              <a:gd name="adj" fmla="val 2535"/>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94560"/>
            <a:ext cx="548640" cy="548640"/>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71093" y="2342693"/>
            <a:ext cx="252374" cy="252374"/>
          </a:xfrm>
          <a:prstGeom prst="rect">
            <a:avLst/>
          </a:prstGeom>
        </p:spPr>
      </p:pic>
      <p:sp>
        <p:nvSpPr>
          <p:cNvPr id="8" name="Text 5"/>
          <p:cNvSpPr/>
          <p:nvPr/>
        </p:nvSpPr>
        <p:spPr>
          <a:xfrm>
            <a:off x="1508760" y="2240280"/>
            <a:ext cx="4206240" cy="457200"/>
          </a:xfrm>
          <a:prstGeom prst="rect">
            <a:avLst/>
          </a:prstGeom>
          <a:noFill/>
          <a:ln/>
        </p:spPr>
        <p:txBody>
          <a:bodyPr wrap="square" lIns="0" tIns="0" rIns="0" bIns="0" rtlCol="0" anchor="ctr"/>
          <a:lstStyle/>
          <a:p>
            <a:pPr indent="0" marL="0">
              <a:buNone/>
            </a:pPr>
            <a:r>
              <a:rPr lang="en-US" sz="1800" b="1" dirty="0">
                <a:solidFill>
                  <a:srgbClr val="D9614C"/>
                </a:solidFill>
                <a:latin typeface="Calibri" pitchFamily="34" charset="0"/>
                <a:ea typeface="Calibri" pitchFamily="34" charset="-122"/>
                <a:cs typeface="Calibri" pitchFamily="34" charset="-120"/>
              </a:rPr>
              <a:t>Not a usable goal</a:t>
            </a:r>
            <a:endParaRPr lang="en-US" sz="1800" dirty="0"/>
          </a:p>
        </p:txBody>
      </p:sp>
      <p:sp>
        <p:nvSpPr>
          <p:cNvPr id="9" name="Text 6"/>
          <p:cNvSpPr/>
          <p:nvPr/>
        </p:nvSpPr>
        <p:spPr>
          <a:xfrm>
            <a:off x="896112" y="2971800"/>
            <a:ext cx="4892040" cy="640080"/>
          </a:xfrm>
          <a:prstGeom prst="rect">
            <a:avLst/>
          </a:prstGeom>
          <a:noFill/>
          <a:ln/>
        </p:spPr>
        <p:txBody>
          <a:bodyPr wrap="square" lIns="0" tIns="0" rIns="0" bIns="0" rtlCol="0" anchor="t"/>
          <a:lstStyle/>
          <a:p>
            <a:pPr indent="0" marL="0">
              <a:buNone/>
            </a:pPr>
            <a:r>
              <a:rPr lang="en-US" sz="1800" b="1" i="1" dirty="0">
                <a:solidFill>
                  <a:srgbClr val="1E2A36"/>
                </a:solidFill>
                <a:latin typeface="Calibri" pitchFamily="34" charset="0"/>
                <a:ea typeface="Calibri" pitchFamily="34" charset="-122"/>
                <a:cs typeface="Calibri" pitchFamily="34" charset="-120"/>
              </a:rPr>
              <a:t>"Learn real-time sync."</a:t>
            </a:r>
            <a:endParaRPr lang="en-US" sz="1800" dirty="0"/>
          </a:p>
        </p:txBody>
      </p:sp>
      <p:sp>
        <p:nvSpPr>
          <p:cNvPr id="10" name="Text 7"/>
          <p:cNvSpPr/>
          <p:nvPr/>
        </p:nvSpPr>
        <p:spPr>
          <a:xfrm>
            <a:off x="896112" y="3611880"/>
            <a:ext cx="4892040" cy="14630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No end point, nothing to measure, and you've never done it. You could "work on it" forever and never know you're done.</a:t>
            </a:r>
            <a:endParaRPr lang="en-US" sz="1450" dirty="0"/>
          </a:p>
        </p:txBody>
      </p:sp>
      <p:sp>
        <p:nvSpPr>
          <p:cNvPr id="11" name="Shape 8"/>
          <p:cNvSpPr/>
          <p:nvPr/>
        </p:nvSpPr>
        <p:spPr>
          <a:xfrm>
            <a:off x="6172200" y="1920240"/>
            <a:ext cx="5440680" cy="3246120"/>
          </a:xfrm>
          <a:prstGeom prst="roundRect">
            <a:avLst>
              <a:gd name="adj" fmla="val 2535"/>
            </a:avLst>
          </a:prstGeom>
          <a:solidFill>
            <a:srgbClr val="EAF4EE"/>
          </a:solidFill>
          <a:ln/>
          <a:effectLst>
            <a:outerShdw sx="100000" sy="100000" kx="0" ky="0" algn="bl" rotWithShape="0" blurRad="88900" dist="38100" dir="5400000">
              <a:srgbClr val="000000">
                <a:alpha val="13000"/>
              </a:srgbClr>
            </a:outerShdw>
          </a:effectLst>
        </p:spPr>
      </p:sp>
      <p:sp>
        <p:nvSpPr>
          <p:cNvPr id="12" name="Shape 9"/>
          <p:cNvSpPr/>
          <p:nvPr/>
        </p:nvSpPr>
        <p:spPr>
          <a:xfrm>
            <a:off x="6446520" y="2194560"/>
            <a:ext cx="548640" cy="548640"/>
          </a:xfrm>
          <a:prstGeom prst="ellipse">
            <a:avLst/>
          </a:prstGeom>
          <a:solidFill>
            <a:srgbClr val="3E9C6B"/>
          </a:solidFill>
          <a:ln/>
        </p:spPr>
      </p:sp>
      <p:pic>
        <p:nvPicPr>
          <p:cNvPr id="13" name="Image 1" descr="preencoded.png">    </p:cNvPr>
          <p:cNvPicPr>
            <a:picLocks noChangeAspect="1"/>
          </p:cNvPicPr>
          <p:nvPr/>
        </p:nvPicPr>
        <p:blipFill>
          <a:blip r:embed="rId2"/>
          <a:stretch>
            <a:fillRect/>
          </a:stretch>
        </p:blipFill>
        <p:spPr>
          <a:xfrm>
            <a:off x="6594653" y="2342693"/>
            <a:ext cx="252374" cy="252374"/>
          </a:xfrm>
          <a:prstGeom prst="rect">
            <a:avLst/>
          </a:prstGeom>
        </p:spPr>
      </p:pic>
      <p:sp>
        <p:nvSpPr>
          <p:cNvPr id="14" name="Text 10"/>
          <p:cNvSpPr/>
          <p:nvPr/>
        </p:nvSpPr>
        <p:spPr>
          <a:xfrm>
            <a:off x="7132320" y="2240280"/>
            <a:ext cx="4206240" cy="457200"/>
          </a:xfrm>
          <a:prstGeom prst="rect">
            <a:avLst/>
          </a:prstGeom>
          <a:noFill/>
          <a:ln/>
        </p:spPr>
        <p:txBody>
          <a:bodyPr wrap="square" lIns="0" tIns="0" rIns="0" bIns="0" rtlCol="0" anchor="ctr"/>
          <a:lstStyle/>
          <a:p>
            <a:pPr indent="0" marL="0">
              <a:buNone/>
            </a:pPr>
            <a:r>
              <a:rPr lang="en-US" sz="1800" b="1" dirty="0">
                <a:solidFill>
                  <a:srgbClr val="3E9C6B"/>
                </a:solidFill>
                <a:latin typeface="Calibri" pitchFamily="34" charset="0"/>
                <a:ea typeface="Calibri" pitchFamily="34" charset="-122"/>
                <a:cs typeface="Calibri" pitchFamily="34" charset="-120"/>
              </a:rPr>
              <a:t>SMART</a:t>
            </a:r>
            <a:endParaRPr lang="en-US" sz="1800" dirty="0"/>
          </a:p>
        </p:txBody>
      </p:sp>
      <p:sp>
        <p:nvSpPr>
          <p:cNvPr id="15" name="Text 11"/>
          <p:cNvSpPr/>
          <p:nvPr/>
        </p:nvSpPr>
        <p:spPr>
          <a:xfrm>
            <a:off x="6519672" y="2971800"/>
            <a:ext cx="4892040" cy="2103120"/>
          </a:xfrm>
          <a:prstGeom prst="rect">
            <a:avLst/>
          </a:prstGeom>
          <a:noFill/>
          <a:ln/>
        </p:spPr>
        <p:txBody>
          <a:bodyPr wrap="square" lIns="0" tIns="0" rIns="0" bIns="0" rtlCol="0" anchor="t"/>
          <a:lstStyle/>
          <a:p>
            <a:pPr indent="0" marL="0">
              <a:lnSpc>
                <a:spcPct val="108000"/>
              </a:lnSpc>
              <a:buNone/>
            </a:pPr>
            <a:r>
              <a:rPr lang="en-US" sz="1500" dirty="0">
                <a:solidFill>
                  <a:srgbClr val="1E2A36"/>
                </a:solidFill>
                <a:latin typeface="Calibri" pitchFamily="34" charset="0"/>
                <a:ea typeface="Calibri" pitchFamily="34" charset="-122"/>
                <a:cs typeface="Calibri" pitchFamily="34" charset="-120"/>
              </a:rPr>
              <a:t>"By end of day 2, two tabs share a live queue through a managed service I wired up — and I can explain how the subscription pushes updates."</a:t>
            </a:r>
            <a:endParaRPr lang="en-US" sz="1500" dirty="0"/>
          </a:p>
        </p:txBody>
      </p:sp>
      <p:sp>
        <p:nvSpPr>
          <p:cNvPr id="16" name="Shape 12"/>
          <p:cNvSpPr/>
          <p:nvPr/>
        </p:nvSpPr>
        <p:spPr>
          <a:xfrm>
            <a:off x="548640" y="5321808"/>
            <a:ext cx="11064240" cy="841248"/>
          </a:xfrm>
          <a:prstGeom prst="roundRect">
            <a:avLst>
              <a:gd name="adj" fmla="val 9783"/>
            </a:avLst>
          </a:prstGeom>
          <a:solidFill>
            <a:srgbClr val="14233A"/>
          </a:solidFill>
          <a:ln/>
          <a:effectLst>
            <a:outerShdw sx="100000" sy="100000" kx="0" ky="0" algn="bl" rotWithShape="0" blurRad="88900" dist="38100" dir="5400000">
              <a:srgbClr val="000000">
                <a:alpha val="13000"/>
              </a:srgbClr>
            </a:outerShdw>
          </a:effectLst>
        </p:spPr>
      </p:sp>
      <p:sp>
        <p:nvSpPr>
          <p:cNvPr id="17" name="Text 13"/>
          <p:cNvSpPr/>
          <p:nvPr/>
        </p:nvSpPr>
        <p:spPr>
          <a:xfrm>
            <a:off x="822960" y="5321808"/>
            <a:ext cx="10515600" cy="841248"/>
          </a:xfrm>
          <a:prstGeom prst="rect">
            <a:avLst/>
          </a:prstGeom>
          <a:noFill/>
          <a:ln/>
        </p:spPr>
        <p:txBody>
          <a:bodyPr wrap="square" lIns="0" tIns="0" rIns="0" bIns="0" rtlCol="0" anchor="ctr"/>
          <a:lstStyle/>
          <a:p>
            <a:pPr algn="ctr" indent="0" marL="0">
              <a:buNone/>
            </a:pPr>
            <a:r>
              <a:rPr lang="en-US" sz="1550" b="1" dirty="0">
                <a:solidFill>
                  <a:srgbClr val="E8A33D"/>
                </a:solidFill>
                <a:latin typeface="Calibri" pitchFamily="34" charset="0"/>
                <a:ea typeface="Calibri" pitchFamily="34" charset="-122"/>
                <a:cs typeface="Calibri" pitchFamily="34" charset="-120"/>
              </a:rPr>
              <a:t>That's the same sentence as the spike's green line.</a:t>
            </a:r>
            <a:pPr algn="ctr" indent="0" marL="0">
              <a:buNone/>
            </a:pPr>
            <a:r>
              <a:rPr lang="en-US" sz="1550" dirty="0">
                <a:solidFill>
                  <a:srgbClr val="FFFFFF"/>
                </a:solidFill>
                <a:latin typeface="Calibri" pitchFamily="34" charset="0"/>
                <a:ea typeface="Calibri" pitchFamily="34" charset="-122"/>
                <a:cs typeface="Calibri" pitchFamily="34" charset="-120"/>
              </a:rPr>
              <a:t>  A good SMART goal and a good spike are often one and the same.</a:t>
            </a:r>
            <a:endParaRPr lang="en-US" sz="1550" dirty="0"/>
          </a:p>
        </p:txBody>
      </p:sp>
      <p:sp>
        <p:nvSpPr>
          <p:cNvPr id="18"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19"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TWO HABITS THAT PROTECT YOUR TIME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Own your stack · use AI honestly</a:t>
            </a:r>
            <a:endParaRPr lang="en-US" sz="3100" dirty="0"/>
          </a:p>
        </p:txBody>
      </p:sp>
      <p:sp>
        <p:nvSpPr>
          <p:cNvPr id="5" name="Shape 3"/>
          <p:cNvSpPr/>
          <p:nvPr/>
        </p:nvSpPr>
        <p:spPr>
          <a:xfrm>
            <a:off x="548640" y="1920240"/>
            <a:ext cx="5440680" cy="3657600"/>
          </a:xfrm>
          <a:prstGeom prst="roundRect">
            <a:avLst>
              <a:gd name="adj" fmla="val 225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9456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57506"/>
            <a:ext cx="277612" cy="277612"/>
          </a:xfrm>
          <a:prstGeom prst="rect">
            <a:avLst/>
          </a:prstGeom>
        </p:spPr>
      </p:pic>
      <p:sp>
        <p:nvSpPr>
          <p:cNvPr id="8" name="Text 5"/>
          <p:cNvSpPr/>
          <p:nvPr/>
        </p:nvSpPr>
        <p:spPr>
          <a:xfrm>
            <a:off x="1554480" y="2240280"/>
            <a:ext cx="4297680" cy="50292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Tech-stack discipline</a:t>
            </a:r>
            <a:endParaRPr lang="en-US" sz="1900" dirty="0"/>
          </a:p>
        </p:txBody>
      </p:sp>
      <p:sp>
        <p:nvSpPr>
          <p:cNvPr id="9" name="Text 6"/>
          <p:cNvSpPr/>
          <p:nvPr/>
        </p:nvSpPr>
        <p:spPr>
          <a:xfrm>
            <a:off x="896112" y="2971800"/>
            <a:ext cx="4937760" cy="2514600"/>
          </a:xfrm>
          <a:prstGeom prst="rect">
            <a:avLst/>
          </a:prstGeom>
          <a:noFill/>
          <a:ln/>
        </p:spPr>
        <p:txBody>
          <a:bodyPr wrap="square" lIns="0" tIns="0" rIns="0" bIns="0" rtlCol="0" anchor="t"/>
          <a:lstStyle/>
          <a:p>
            <a:pPr indent="0" marL="0">
              <a:lnSpc>
                <a:spcPct val="108000"/>
              </a:lnSpc>
              <a:buNone/>
            </a:pPr>
            <a:r>
              <a:rPr lang="en-US" sz="1550" dirty="0">
                <a:solidFill>
                  <a:srgbClr val="1E2A36"/>
                </a:solidFill>
                <a:latin typeface="Calibri" pitchFamily="34" charset="0"/>
                <a:ea typeface="Calibri" pitchFamily="34" charset="-122"/>
                <a:cs typeface="Calibri" pitchFamily="34" charset="-120"/>
              </a:rPr>
              <a:t>Favor tools you can own, explain, and support at 1 a.m. — and onboard the next contributor into. Reach for the hot new tool only where it clearly earns its place. Every unfamiliar tool is a "Learn" item you're volunteering for.</a:t>
            </a:r>
            <a:endParaRPr lang="en-US" sz="1550" dirty="0"/>
          </a:p>
        </p:txBody>
      </p:sp>
      <p:sp>
        <p:nvSpPr>
          <p:cNvPr id="10" name="Shape 7"/>
          <p:cNvSpPr/>
          <p:nvPr/>
        </p:nvSpPr>
        <p:spPr>
          <a:xfrm>
            <a:off x="6172200" y="1920240"/>
            <a:ext cx="5440680" cy="3657600"/>
          </a:xfrm>
          <a:prstGeom prst="roundRect">
            <a:avLst>
              <a:gd name="adj" fmla="val 2250"/>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9456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57506"/>
            <a:ext cx="277612" cy="277612"/>
          </a:xfrm>
          <a:prstGeom prst="rect">
            <a:avLst/>
          </a:prstGeom>
        </p:spPr>
      </p:pic>
      <p:sp>
        <p:nvSpPr>
          <p:cNvPr id="13" name="Text 9"/>
          <p:cNvSpPr/>
          <p:nvPr/>
        </p:nvSpPr>
        <p:spPr>
          <a:xfrm>
            <a:off x="7178040" y="2240280"/>
            <a:ext cx="4297680" cy="5029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AI as a learning aid</a:t>
            </a:r>
            <a:endParaRPr lang="en-US" sz="1900" dirty="0"/>
          </a:p>
        </p:txBody>
      </p:sp>
      <p:sp>
        <p:nvSpPr>
          <p:cNvPr id="14" name="Text 10"/>
          <p:cNvSpPr/>
          <p:nvPr/>
        </p:nvSpPr>
        <p:spPr>
          <a:xfrm>
            <a:off x="6519672" y="2971800"/>
            <a:ext cx="4937760" cy="2514600"/>
          </a:xfrm>
          <a:prstGeom prst="rect">
            <a:avLst/>
          </a:prstGeom>
          <a:noFill/>
          <a:ln/>
        </p:spPr>
        <p:txBody>
          <a:bodyPr wrap="square" lIns="0" tIns="0" rIns="0" bIns="0" rtlCol="0" anchor="t"/>
          <a:lstStyle/>
          <a:p>
            <a:pPr indent="0" marL="0">
              <a:lnSpc>
                <a:spcPct val="108000"/>
              </a:lnSpc>
              <a:buNone/>
            </a:pPr>
            <a:r>
              <a:rPr lang="en-US" sz="1550" dirty="0">
                <a:solidFill>
                  <a:srgbClr val="CFE0E9"/>
                </a:solidFill>
                <a:latin typeface="Calibri" pitchFamily="34" charset="0"/>
                <a:ea typeface="Calibri" pitchFamily="34" charset="-122"/>
                <a:cs typeface="Calibri" pitchFamily="34" charset="-120"/>
              </a:rPr>
              <a:t>Great for accelerating understanding — explaining, scaffolding, unblocking. Never for skipping it. The test: could you explain how it works, and change it, without the tool? If not, it's still a gap — plan for it.</a:t>
            </a:r>
            <a:endParaRPr lang="en-US" sz="1550" dirty="0"/>
          </a:p>
        </p:txBody>
      </p:sp>
      <p:sp>
        <p:nvSpPr>
          <p:cNvPr id="15"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IN-CLASS ACTIVITY · ~10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Feasibility pass + one learning plan</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Solo, or with your neighbor — on one starred idea:</a:t>
            </a:r>
            <a:endParaRPr lang="en-US" sz="1600" dirty="0"/>
          </a:p>
        </p:txBody>
      </p:sp>
      <p:sp>
        <p:nvSpPr>
          <p:cNvPr id="7" name="Shape 5"/>
          <p:cNvSpPr/>
          <p:nvPr/>
        </p:nvSpPr>
        <p:spPr>
          <a:xfrm>
            <a:off x="548640" y="2148840"/>
            <a:ext cx="11064240" cy="822960"/>
          </a:xfrm>
          <a:prstGeom prst="roundRect">
            <a:avLst>
              <a:gd name="adj" fmla="val 10000"/>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31720"/>
            <a:ext cx="457200" cy="457200"/>
          </a:xfrm>
          <a:prstGeom prst="ellipse">
            <a:avLst/>
          </a:prstGeom>
          <a:solidFill>
            <a:srgbClr val="E8A33D"/>
          </a:solidFill>
          <a:ln/>
        </p:spPr>
      </p:sp>
      <p:sp>
        <p:nvSpPr>
          <p:cNvPr id="9" name="Text 7"/>
          <p:cNvSpPr/>
          <p:nvPr/>
        </p:nvSpPr>
        <p:spPr>
          <a:xfrm>
            <a:off x="777240" y="2331720"/>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240280"/>
            <a:ext cx="8595360" cy="640080"/>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Rate the six risks; circle the top one.</a:t>
            </a:r>
            <a:endParaRPr lang="en-US" sz="1550" dirty="0"/>
          </a:p>
        </p:txBody>
      </p:sp>
      <p:sp>
        <p:nvSpPr>
          <p:cNvPr id="11" name="Text 9"/>
          <p:cNvSpPr/>
          <p:nvPr/>
        </p:nvSpPr>
        <p:spPr>
          <a:xfrm>
            <a:off x="10149840" y="2240280"/>
            <a:ext cx="1280160" cy="640080"/>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3 min</a:t>
            </a:r>
            <a:endParaRPr lang="en-US" sz="1400" dirty="0"/>
          </a:p>
        </p:txBody>
      </p:sp>
      <p:sp>
        <p:nvSpPr>
          <p:cNvPr id="12" name="Shape 10"/>
          <p:cNvSpPr/>
          <p:nvPr/>
        </p:nvSpPr>
        <p:spPr>
          <a:xfrm>
            <a:off x="548640" y="3081528"/>
            <a:ext cx="11064240" cy="822960"/>
          </a:xfrm>
          <a:prstGeom prst="roundRect">
            <a:avLst>
              <a:gd name="adj" fmla="val 10000"/>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264408"/>
            <a:ext cx="457200" cy="457200"/>
          </a:xfrm>
          <a:prstGeom prst="ellipse">
            <a:avLst/>
          </a:prstGeom>
          <a:solidFill>
            <a:srgbClr val="E8A33D"/>
          </a:solidFill>
          <a:ln/>
        </p:spPr>
      </p:sp>
      <p:sp>
        <p:nvSpPr>
          <p:cNvPr id="14" name="Text 12"/>
          <p:cNvSpPr/>
          <p:nvPr/>
        </p:nvSpPr>
        <p:spPr>
          <a:xfrm>
            <a:off x="777240" y="326440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172968"/>
            <a:ext cx="8595360" cy="640080"/>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Bucket its needs into Know / Learn / Avoid.</a:t>
            </a:r>
            <a:endParaRPr lang="en-US" sz="1550" dirty="0"/>
          </a:p>
        </p:txBody>
      </p:sp>
      <p:sp>
        <p:nvSpPr>
          <p:cNvPr id="16" name="Text 14"/>
          <p:cNvSpPr/>
          <p:nvPr/>
        </p:nvSpPr>
        <p:spPr>
          <a:xfrm>
            <a:off x="10149840" y="3172968"/>
            <a:ext cx="1280160" cy="640080"/>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2 min</a:t>
            </a:r>
            <a:endParaRPr lang="en-US" sz="1400" dirty="0"/>
          </a:p>
        </p:txBody>
      </p:sp>
      <p:sp>
        <p:nvSpPr>
          <p:cNvPr id="17" name="Shape 15"/>
          <p:cNvSpPr/>
          <p:nvPr/>
        </p:nvSpPr>
        <p:spPr>
          <a:xfrm>
            <a:off x="548640" y="4014216"/>
            <a:ext cx="11064240" cy="822960"/>
          </a:xfrm>
          <a:prstGeom prst="roundRect">
            <a:avLst>
              <a:gd name="adj" fmla="val 10000"/>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197096"/>
            <a:ext cx="457200" cy="457200"/>
          </a:xfrm>
          <a:prstGeom prst="ellipse">
            <a:avLst/>
          </a:prstGeom>
          <a:solidFill>
            <a:srgbClr val="E8A33D"/>
          </a:solidFill>
          <a:ln/>
        </p:spPr>
      </p:sp>
      <p:sp>
        <p:nvSpPr>
          <p:cNvPr id="19" name="Text 17"/>
          <p:cNvSpPr/>
          <p:nvPr/>
        </p:nvSpPr>
        <p:spPr>
          <a:xfrm>
            <a:off x="777240" y="419709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105656"/>
            <a:ext cx="8595360" cy="640080"/>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Write a one-gap learning plan: why · one SMART goal · when · who you'll tell · the spike.</a:t>
            </a:r>
            <a:endParaRPr lang="en-US" sz="1550" dirty="0"/>
          </a:p>
        </p:txBody>
      </p:sp>
      <p:sp>
        <p:nvSpPr>
          <p:cNvPr id="21" name="Text 19"/>
          <p:cNvSpPr/>
          <p:nvPr/>
        </p:nvSpPr>
        <p:spPr>
          <a:xfrm>
            <a:off x="10149840" y="4105656"/>
            <a:ext cx="1280160" cy="640080"/>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4 min</a:t>
            </a:r>
            <a:endParaRPr lang="en-US" sz="1400" dirty="0"/>
          </a:p>
        </p:txBody>
      </p:sp>
      <p:sp>
        <p:nvSpPr>
          <p:cNvPr id="22" name="Shape 20"/>
          <p:cNvSpPr/>
          <p:nvPr/>
        </p:nvSpPr>
        <p:spPr>
          <a:xfrm>
            <a:off x="548640" y="4946904"/>
            <a:ext cx="11064240" cy="822960"/>
          </a:xfrm>
          <a:prstGeom prst="roundRect">
            <a:avLst>
              <a:gd name="adj" fmla="val 10000"/>
            </a:avLst>
          </a:prstGeom>
          <a:solidFill>
            <a:srgbClr val="1E3352"/>
          </a:solidFill>
          <a:ln/>
          <a:effectLst>
            <a:outerShdw sx="100000" sy="100000" kx="0" ky="0" algn="bl" rotWithShape="0" blurRad="88900" dist="38100" dir="5400000">
              <a:srgbClr val="000000">
                <a:alpha val="13000"/>
              </a:srgbClr>
            </a:outerShdw>
          </a:effectLst>
        </p:spPr>
      </p:sp>
      <p:sp>
        <p:nvSpPr>
          <p:cNvPr id="23" name="Shape 21"/>
          <p:cNvSpPr/>
          <p:nvPr/>
        </p:nvSpPr>
        <p:spPr>
          <a:xfrm>
            <a:off x="777240" y="5129784"/>
            <a:ext cx="457200" cy="457200"/>
          </a:xfrm>
          <a:prstGeom prst="ellipse">
            <a:avLst/>
          </a:prstGeom>
          <a:solidFill>
            <a:srgbClr val="E8A33D"/>
          </a:solidFill>
          <a:ln/>
        </p:spPr>
      </p:sp>
      <p:sp>
        <p:nvSpPr>
          <p:cNvPr id="24" name="Text 22"/>
          <p:cNvSpPr/>
          <p:nvPr/>
        </p:nvSpPr>
        <p:spPr>
          <a:xfrm>
            <a:off x="777240" y="512978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1417320" y="5038344"/>
            <a:ext cx="8595360" cy="640080"/>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Say your accountability partner's name to them before you leave.</a:t>
            </a:r>
            <a:endParaRPr lang="en-US" sz="1550" dirty="0"/>
          </a:p>
        </p:txBody>
      </p:sp>
      <p:sp>
        <p:nvSpPr>
          <p:cNvPr id="26" name="Text 24"/>
          <p:cNvSpPr/>
          <p:nvPr/>
        </p:nvSpPr>
        <p:spPr>
          <a:xfrm>
            <a:off x="10149840" y="5038344"/>
            <a:ext cx="1280160" cy="640080"/>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1 min</a:t>
            </a:r>
            <a:endParaRPr lang="en-US" sz="1400" dirty="0"/>
          </a:p>
        </p:txBody>
      </p:sp>
      <p:sp>
        <p:nvSpPr>
          <p:cNvPr id="27" name="Text 2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5 · Feasibility &amp; Learning to Learn</a:t>
            </a:r>
            <a:endParaRPr lang="en-US" sz="1000" dirty="0"/>
          </a:p>
        </p:txBody>
      </p:sp>
      <p:sp>
        <p:nvSpPr>
          <p:cNvPr id="28"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14300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365199"/>
            <a:ext cx="378562" cy="378562"/>
          </a:xfrm>
          <a:prstGeom prst="rect">
            <a:avLst/>
          </a:prstGeom>
        </p:spPr>
      </p:pic>
      <p:sp>
        <p:nvSpPr>
          <p:cNvPr id="5" name="Text 2"/>
          <p:cNvSpPr/>
          <p:nvPr/>
        </p:nvSpPr>
        <p:spPr>
          <a:xfrm>
            <a:off x="822960" y="2103120"/>
            <a:ext cx="10881360" cy="1371600"/>
          </a:xfrm>
          <a:prstGeom prst="rect">
            <a:avLst/>
          </a:prstGeom>
          <a:noFill/>
          <a:ln/>
        </p:spPr>
        <p:txBody>
          <a:bodyPr wrap="square" lIns="0" tIns="0" rIns="0" bIns="0" rtlCol="0" anchor="ctr"/>
          <a:lstStyle/>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Name your risks, reduce the scary one with a cheap experiment,</a:t>
            </a:r>
            <a:endParaRPr lang="en-US" sz="2600" dirty="0"/>
          </a:p>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and plan the learning that closes the gap.</a:t>
            </a:r>
            <a:endParaRPr lang="en-US" sz="2600" dirty="0"/>
          </a:p>
        </p:txBody>
      </p:sp>
      <p:sp>
        <p:nvSpPr>
          <p:cNvPr id="6" name="Text 3"/>
          <p:cNvSpPr/>
          <p:nvPr/>
        </p:nvSpPr>
        <p:spPr>
          <a:xfrm>
            <a:off x="841248" y="37947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WEDNESDAY, SEP 23</a:t>
            </a:r>
            <a:endParaRPr lang="en-US" sz="1400" dirty="0"/>
          </a:p>
        </p:txBody>
      </p:sp>
      <p:sp>
        <p:nvSpPr>
          <p:cNvPr id="7" name="Text 4"/>
          <p:cNvSpPr/>
          <p:nvPr/>
        </p:nvSpPr>
        <p:spPr>
          <a:xfrm>
            <a:off x="868680" y="4206240"/>
            <a:ext cx="10698480" cy="1737360"/>
          </a:xfrm>
          <a:prstGeom prst="rect">
            <a:avLst/>
          </a:prstGeom>
          <a:noFill/>
          <a:ln/>
        </p:spPr>
        <p:txBody>
          <a:bodyPr wrap="square" lIns="0" tIns="0" rIns="0" bIns="0" rtlCol="0" anchor="t"/>
          <a:lstStyle/>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Bring 2–3 candidate ideas with a feasibility read (we add richness + score them Wed)</a:t>
            </a:r>
            <a:endParaRPr lang="en-US" sz="1550" dirty="0"/>
          </a:p>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CP1 Idea Briefs due Wed, Sep 23  ·  CP2 Product Definition Brief due Mon, Sep 28</a:t>
            </a:r>
            <a:endParaRPr lang="en-US" sz="1550" dirty="0"/>
          </a:p>
          <a:p>
            <a:pPr marL="203200" indent="-203200">
              <a:buSzPct val="100000"/>
              <a:buChar char="•"/>
            </a:pPr>
            <a:r>
              <a:rPr lang="en-US" sz="1550" dirty="0">
                <a:solidFill>
                  <a:srgbClr val="CBD8E6"/>
                </a:solidFill>
                <a:latin typeface="Calibri" pitchFamily="34" charset="0"/>
                <a:ea typeface="Calibri" pitchFamily="34" charset="-122"/>
                <a:cs typeface="Calibri" pitchFamily="34" charset="-120"/>
              </a:rPr>
              <a:t>In the proposal window: run at least one spike on your scariest unknown (goes in CP3)</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5 — Feasibility &amp; Learning to Learn</dc:title>
  <dc:subject>PptxGenJS Presentation</dc:subject>
  <dc:creator>CS 301R</dc:creator>
  <cp:lastModifiedBy>CS 301R</cp:lastModifiedBy>
  <cp:revision>1</cp:revision>
  <dcterms:created xsi:type="dcterms:W3CDTF">2026-09-21T14:55:36Z</dcterms:created>
  <dcterms:modified xsi:type="dcterms:W3CDTF">2026-09-21T14:55:36Z</dcterms:modified>
</cp:coreProperties>
</file>