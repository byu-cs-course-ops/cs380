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heads-down build day; the slides are signposts, not a lecture. Before class: cut the Stranger's Read sheets (two per page, one per student plus spares), have spare CP7 Checklists, and open Prop Loft at tag session-16 plus the Contributor Covenant and choosealicense.com. For the templates block, also open: Prop Loft's New issue page (the chooser), its .github folder at session-16, Rich's .github folder, and mdx-canvas's ISSUE_TEMPLATE folder. Settle the reading pairs: two pairs with four students, a rotating triple for an odd count, and you read for anyone whose partner is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start of each block; it's the clock for people working alone. The right column is the target state at each block's end, so a founder can tell whether they're on pace. Two blocks are highlighted: the templates block, the one piece of teaching today, and the stranger's read, the one thing that needs another person. Neither moves. The build blocks are shorter than a full build needs, on purpose: what doesn't finish here finishes by Friday. On a team the same list parallelizes: split the finish items and cross-review the PRs; the order and the stranger's read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no more. Each founder says both sentences aloud or writes them; push back on 'as much as I can.' First click: the rules of the day. People lose time writing a code of conduct from scratch, or copying a README template that says nothing about their project. Second click: everything goes through a PR, even solo. On a one-person project that's a PR plus a written self-review against the checklist; partners can review later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the browser if you can. Prop Loft is built ahead of the class, and each session's state is a tag; session-16 is today's. Point at two things: CONTRIBUTING opens with a welcome, not rules, and the code of conduct is adopted, not rewritten. Then tell them to close the tab. The example shows what each file is for; copying its sentences produces a front door about someone else's project, and the stranger's read will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whole picture first: everything lives in .github at the root of the repo. One click per file. Then show it live: Prop Loft's New issue page, so they see the chooser that ISSUE_TEMPLATE and config.yml produce, including the conduct-report link. Last click: the most common reason a template 'doesn't work' is that it's still on a branch. Templates take effect from the default branch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four minutes. Left: a Markdown template is front matter (the name the chooser shows, the labels to apply) and then text that lands in the issue box. Click: the same template as a form; each item under body is a field, and required: true is the one thing Markdown can't do. Second click: the trade. Both are fine; mixing is fine. Ask: which would you pick for bugs on your project, and why? Full skeletons of both are on the templates page in Course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Prop Loft's two forms, mapped to Monday's anatomy. Left: the bug form turns the anatomy into required fields, so a reporter can't skip steps or expected-versus-actual. Click: the feature form asks for the need, the user, and today's workaround, with the solution last and optional; it points at the design's non-goals where Rich's template says no to features outright. Click: labels, created first. The YAML is in Prop Loft's .github/ISSUE_TEMPLATE at session-16, and a skeleton of each is on the templates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in the browser if you can: open each project's template folder as you click. mdx-canvas kept GitHub's starter (Settings, Features, Issues, Set up templates), which is fine to start from but asks the wrong questions until you edit it. Rich's Markdown does a lot: the diagnose command is the best environment field you'll see. Prop Loft's forms you've seen. The lesson across all three: a template should ask your project's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Click one: the top half is the Session 13 description, so they already know how to write it; the template just puts it in the box. Click two: the checklist is their CP6 definition of done, copied, so every author sees the bar before review. Click three: show it live by starting a pull request on Prop Loft and watching the box fill. Rich's PR template is the other example: its checklist says run black and update the changelog.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one small PR per item; templates may finish after class, from the templates page. Rove hard. Spot-check license fields: MIT and BSD need a year and holder; Apache's '[yyyy] [name of copyright owner]' line is a file-header template in the appendix and stays as written, so don't flag it. Check reporting contacts: an address they'll actually read, a response time, and, solo, GitHub's reporting tools for reports about the maintainer. Read README first sentences back to their authors: would a stranger know what this is? The placeholder takes five minutes; don't let anyone write real setup steps for code that doesn't exist yet. That guide comes in Session 20. Warn at ten minutes and at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shown during block 1 for anyone stuck on the README. This is the shape the rubric gives full credit for, and it's true of any project in early development: say what state it's in, what's coming, and where that's tracked. The stack line comes straight from the design doc. Install and run get graded later, in the repo audit, once there's something to run. A quickstart that fails costs points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These can't be finished here, and that's the plan: get both far enough to be read in the next block. The amber steps are the ones first drafts skip; most CONTRIBUTING files start with rules. Push on 'what should a newcomer do first?' The norms are the public parts of the charter, rewritten for a stranger. Solo founders still owe an answer on decisions. At two minutes: push what you have, even 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sheets. Pairs swap; in a triple, rotate so each person reads one repo and is read by one; read for anyone whose partner is out. Insist on the logged-out window, because a signed-in view hides what a stranger can't see. Readers who finish early should reread the README's first paragraph only and check whether their 'what is this?' still holds. Ten minutes reading, five writing. Authors stay quiet; explaining your docs is the thing the docs should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The top line is the test: ask two or three founders to read their partner's 'what is this?' aloud next to their own first sentence. The citation in the PR or issue is how the fix traces back to the read for grading. Seed issues are real next work, not busywork; they're the first items in Monday's backlog (CP8). Anything unfinished is fine as long as it's done by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Run the three commands live on Prop Loft or any repo so they see the tag appear on GitHub. A tag is how real projects mark a release: it names a state that doesn't move when main does. To resubmit before the deadline, or for a revision, move the tag with tag -fa and push -f, then resubmit; the handout has the commands. No sheet photo caps Newcomer usability at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Say the one-liner, then the Friday list. In three weeks a classmate audits these repos cold, for a grade, and adds install and run; today's read was the preview. Remind them that CP9 is due Nov 18 and that today produced good portfolio material. Monday turns the proposal and design into epics, milestones, and a populated tracker (CP8), starting from the seed issues filed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Ship the Front Door</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16 — infrastructure build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October 28,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 · THE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 start the rest, get read cold</a:t>
            </a:r>
            <a:endParaRPr lang="en-US" sz="3100" dirty="0"/>
          </a:p>
        </p:txBody>
      </p:sp>
      <p:sp>
        <p:nvSpPr>
          <p:cNvPr id="5" name="Shape 3"/>
          <p:cNvSpPr/>
          <p:nvPr/>
        </p:nvSpPr>
        <p:spPr>
          <a:xfrm>
            <a:off x="548640" y="1755648"/>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28800"/>
            <a:ext cx="420624" cy="42062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18240" y="1942368"/>
            <a:ext cx="193487" cy="193487"/>
          </a:xfrm>
          <a:prstGeom prst="rect">
            <a:avLst/>
          </a:prstGeom>
        </p:spPr>
      </p:pic>
      <p:sp>
        <p:nvSpPr>
          <p:cNvPr id="8" name="Text 5"/>
          <p:cNvSpPr/>
          <p:nvPr/>
        </p:nvSpPr>
        <p:spPr>
          <a:xfrm>
            <a:off x="1463040" y="1755648"/>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Punch-list check</a:t>
            </a:r>
            <a:endParaRPr lang="en-US" sz="1800" dirty="0"/>
          </a:p>
        </p:txBody>
      </p:sp>
      <p:sp>
        <p:nvSpPr>
          <p:cNvPr id="9" name="Text 6"/>
          <p:cNvSpPr/>
          <p:nvPr/>
        </p:nvSpPr>
        <p:spPr>
          <a:xfrm>
            <a:off x="4846320" y="1755648"/>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Your plan for today and for Friday, written down</a:t>
            </a:r>
            <a:endParaRPr lang="en-US" sz="1500" dirty="0"/>
          </a:p>
        </p:txBody>
      </p:sp>
      <p:sp>
        <p:nvSpPr>
          <p:cNvPr id="10" name="Text 7"/>
          <p:cNvSpPr/>
          <p:nvPr/>
        </p:nvSpPr>
        <p:spPr>
          <a:xfrm>
            <a:off x="10424160" y="1755648"/>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3 min</a:t>
            </a:r>
            <a:endParaRPr lang="en-US" sz="1600" dirty="0"/>
          </a:p>
        </p:txBody>
      </p:sp>
      <p:sp>
        <p:nvSpPr>
          <p:cNvPr id="11" name="Shape 8"/>
          <p:cNvSpPr/>
          <p:nvPr/>
        </p:nvSpPr>
        <p:spPr>
          <a:xfrm>
            <a:off x="548640" y="2414016"/>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12" name="Shape 9"/>
          <p:cNvSpPr/>
          <p:nvPr/>
        </p:nvSpPr>
        <p:spPr>
          <a:xfrm>
            <a:off x="804672" y="2487168"/>
            <a:ext cx="420624" cy="420624"/>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918240" y="2600736"/>
            <a:ext cx="193487" cy="193487"/>
          </a:xfrm>
          <a:prstGeom prst="rect">
            <a:avLst/>
          </a:prstGeom>
        </p:spPr>
      </p:pic>
      <p:sp>
        <p:nvSpPr>
          <p:cNvPr id="14" name="Text 10"/>
          <p:cNvSpPr/>
          <p:nvPr/>
        </p:nvSpPr>
        <p:spPr>
          <a:xfrm>
            <a:off x="1463040" y="2414016"/>
            <a:ext cx="3383280"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Templates, taught</a:t>
            </a:r>
            <a:endParaRPr lang="en-US" sz="1800" dirty="0"/>
          </a:p>
        </p:txBody>
      </p:sp>
      <p:sp>
        <p:nvSpPr>
          <p:cNvPr id="15" name="Text 11"/>
          <p:cNvSpPr/>
          <p:nvPr/>
        </p:nvSpPr>
        <p:spPr>
          <a:xfrm>
            <a:off x="4846320" y="2414016"/>
            <a:ext cx="5669280" cy="566928"/>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Where the files go, Markdown or form, the PR template, three real examples</a:t>
            </a:r>
            <a:endParaRPr lang="en-US" sz="1500" dirty="0"/>
          </a:p>
        </p:txBody>
      </p:sp>
      <p:sp>
        <p:nvSpPr>
          <p:cNvPr id="16" name="Text 12"/>
          <p:cNvSpPr/>
          <p:nvPr/>
        </p:nvSpPr>
        <p:spPr>
          <a:xfrm>
            <a:off x="10424160" y="2414016"/>
            <a:ext cx="960120" cy="566928"/>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17" name="Shape 13"/>
          <p:cNvSpPr/>
          <p:nvPr/>
        </p:nvSpPr>
        <p:spPr>
          <a:xfrm>
            <a:off x="548640" y="3072384"/>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04672" y="3145536"/>
            <a:ext cx="420624" cy="42062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918240" y="3259104"/>
            <a:ext cx="193487" cy="193487"/>
          </a:xfrm>
          <a:prstGeom prst="rect">
            <a:avLst/>
          </a:prstGeom>
        </p:spPr>
      </p:pic>
      <p:sp>
        <p:nvSpPr>
          <p:cNvPr id="20" name="Text 15"/>
          <p:cNvSpPr/>
          <p:nvPr/>
        </p:nvSpPr>
        <p:spPr>
          <a:xfrm>
            <a:off x="1463040" y="3072384"/>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Finish the fast items</a:t>
            </a:r>
            <a:endParaRPr lang="en-US" sz="1800" dirty="0"/>
          </a:p>
        </p:txBody>
      </p:sp>
      <p:sp>
        <p:nvSpPr>
          <p:cNvPr id="21" name="Text 16"/>
          <p:cNvSpPr/>
          <p:nvPr/>
        </p:nvSpPr>
        <p:spPr>
          <a:xfrm>
            <a:off x="4846320" y="3072384"/>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README status, setup placeholder, LICENSE, code of conduct, templates + labels</a:t>
            </a:r>
            <a:endParaRPr lang="en-US" sz="1500" dirty="0"/>
          </a:p>
        </p:txBody>
      </p:sp>
      <p:sp>
        <p:nvSpPr>
          <p:cNvPr id="22" name="Text 17"/>
          <p:cNvSpPr/>
          <p:nvPr/>
        </p:nvSpPr>
        <p:spPr>
          <a:xfrm>
            <a:off x="10424160" y="3072384"/>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15 min</a:t>
            </a:r>
            <a:endParaRPr lang="en-US" sz="1600" dirty="0"/>
          </a:p>
        </p:txBody>
      </p:sp>
      <p:sp>
        <p:nvSpPr>
          <p:cNvPr id="23" name="Shape 18"/>
          <p:cNvSpPr/>
          <p:nvPr/>
        </p:nvSpPr>
        <p:spPr>
          <a:xfrm>
            <a:off x="548640" y="3730752"/>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4" name="Shape 19"/>
          <p:cNvSpPr/>
          <p:nvPr/>
        </p:nvSpPr>
        <p:spPr>
          <a:xfrm>
            <a:off x="804672" y="3803904"/>
            <a:ext cx="420624" cy="420624"/>
          </a:xfrm>
          <a:prstGeom prst="ellipse">
            <a:avLst/>
          </a:prstGeom>
          <a:solidFill>
            <a:srgbClr val="12908F"/>
          </a:solidFill>
          <a:ln/>
        </p:spPr>
      </p:sp>
      <p:pic>
        <p:nvPicPr>
          <p:cNvPr id="25" name="Image 3" descr="preencoded.png">    </p:cNvPr>
          <p:cNvPicPr>
            <a:picLocks noChangeAspect="1"/>
          </p:cNvPicPr>
          <p:nvPr/>
        </p:nvPicPr>
        <p:blipFill>
          <a:blip r:embed="rId4"/>
          <a:stretch>
            <a:fillRect/>
          </a:stretch>
        </p:blipFill>
        <p:spPr>
          <a:xfrm>
            <a:off x="918240" y="3917472"/>
            <a:ext cx="193487" cy="193487"/>
          </a:xfrm>
          <a:prstGeom prst="rect">
            <a:avLst/>
          </a:prstGeom>
        </p:spPr>
      </p:pic>
      <p:sp>
        <p:nvSpPr>
          <p:cNvPr id="26" name="Text 20"/>
          <p:cNvSpPr/>
          <p:nvPr/>
        </p:nvSpPr>
        <p:spPr>
          <a:xfrm>
            <a:off x="1463040" y="3730752"/>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Start CONTRIBUTING + norms</a:t>
            </a:r>
            <a:endParaRPr lang="en-US" sz="1800" dirty="0"/>
          </a:p>
        </p:txBody>
      </p:sp>
      <p:sp>
        <p:nvSpPr>
          <p:cNvPr id="27" name="Text 21"/>
          <p:cNvSpPr/>
          <p:nvPr/>
        </p:nvSpPr>
        <p:spPr>
          <a:xfrm>
            <a:off x="4846320" y="3730752"/>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Both drafted far enough to read: merged or on an open PR</a:t>
            </a:r>
            <a:endParaRPr lang="en-US" sz="1500" dirty="0"/>
          </a:p>
        </p:txBody>
      </p:sp>
      <p:sp>
        <p:nvSpPr>
          <p:cNvPr id="28" name="Text 22"/>
          <p:cNvSpPr/>
          <p:nvPr/>
        </p:nvSpPr>
        <p:spPr>
          <a:xfrm>
            <a:off x="10424160" y="3730752"/>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15 min</a:t>
            </a:r>
            <a:endParaRPr lang="en-US" sz="1600" dirty="0"/>
          </a:p>
        </p:txBody>
      </p:sp>
      <p:sp>
        <p:nvSpPr>
          <p:cNvPr id="29" name="Shape 23"/>
          <p:cNvSpPr/>
          <p:nvPr/>
        </p:nvSpPr>
        <p:spPr>
          <a:xfrm>
            <a:off x="548640" y="4389120"/>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30" name="Shape 24"/>
          <p:cNvSpPr/>
          <p:nvPr/>
        </p:nvSpPr>
        <p:spPr>
          <a:xfrm>
            <a:off x="804672" y="4462272"/>
            <a:ext cx="420624" cy="420624"/>
          </a:xfrm>
          <a:prstGeom prst="ellipse">
            <a:avLst/>
          </a:prstGeom>
          <a:solidFill>
            <a:srgbClr val="E8A33D"/>
          </a:solidFill>
          <a:ln/>
        </p:spPr>
      </p:sp>
      <p:pic>
        <p:nvPicPr>
          <p:cNvPr id="31" name="Image 4" descr="preencoded.png">    </p:cNvPr>
          <p:cNvPicPr>
            <a:picLocks noChangeAspect="1"/>
          </p:cNvPicPr>
          <p:nvPr/>
        </p:nvPicPr>
        <p:blipFill>
          <a:blip r:embed="rId5"/>
          <a:stretch>
            <a:fillRect/>
          </a:stretch>
        </p:blipFill>
        <p:spPr>
          <a:xfrm>
            <a:off x="918240" y="4575840"/>
            <a:ext cx="193487" cy="193487"/>
          </a:xfrm>
          <a:prstGeom prst="rect">
            <a:avLst/>
          </a:prstGeom>
        </p:spPr>
      </p:pic>
      <p:sp>
        <p:nvSpPr>
          <p:cNvPr id="32" name="Text 25"/>
          <p:cNvSpPr/>
          <p:nvPr/>
        </p:nvSpPr>
        <p:spPr>
          <a:xfrm>
            <a:off x="1463040" y="4389120"/>
            <a:ext cx="3383280"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Stranger's read</a:t>
            </a:r>
            <a:endParaRPr lang="en-US" sz="1800" dirty="0"/>
          </a:p>
        </p:txBody>
      </p:sp>
      <p:sp>
        <p:nvSpPr>
          <p:cNvPr id="33" name="Text 26"/>
          <p:cNvSpPr/>
          <p:nvPr/>
        </p:nvSpPr>
        <p:spPr>
          <a:xfrm>
            <a:off x="4846320" y="4389120"/>
            <a:ext cx="5669280" cy="566928"/>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Your partner reads your README and CONTRIBUTING cold</a:t>
            </a:r>
            <a:endParaRPr lang="en-US" sz="1500" dirty="0"/>
          </a:p>
        </p:txBody>
      </p:sp>
      <p:sp>
        <p:nvSpPr>
          <p:cNvPr id="34" name="Text 27"/>
          <p:cNvSpPr/>
          <p:nvPr/>
        </p:nvSpPr>
        <p:spPr>
          <a:xfrm>
            <a:off x="10424160" y="4389120"/>
            <a:ext cx="960120" cy="566928"/>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35" name="Shape 28"/>
          <p:cNvSpPr/>
          <p:nvPr/>
        </p:nvSpPr>
        <p:spPr>
          <a:xfrm>
            <a:off x="548640" y="5047488"/>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6" name="Shape 29"/>
          <p:cNvSpPr/>
          <p:nvPr/>
        </p:nvSpPr>
        <p:spPr>
          <a:xfrm>
            <a:off x="804672" y="5120640"/>
            <a:ext cx="420624" cy="420624"/>
          </a:xfrm>
          <a:prstGeom prst="ellipse">
            <a:avLst/>
          </a:prstGeom>
          <a:solidFill>
            <a:srgbClr val="12908F"/>
          </a:solidFill>
          <a:ln/>
        </p:spPr>
      </p:sp>
      <p:pic>
        <p:nvPicPr>
          <p:cNvPr id="37" name="Image 5" descr="preencoded.png">    </p:cNvPr>
          <p:cNvPicPr>
            <a:picLocks noChangeAspect="1"/>
          </p:cNvPicPr>
          <p:nvPr/>
        </p:nvPicPr>
        <p:blipFill>
          <a:blip r:embed="rId6"/>
          <a:stretch>
            <a:fillRect/>
          </a:stretch>
        </p:blipFill>
        <p:spPr>
          <a:xfrm>
            <a:off x="918240" y="5234208"/>
            <a:ext cx="193487" cy="193487"/>
          </a:xfrm>
          <a:prstGeom prst="rect">
            <a:avLst/>
          </a:prstGeom>
        </p:spPr>
      </p:pic>
      <p:sp>
        <p:nvSpPr>
          <p:cNvPr id="38" name="Text 30"/>
          <p:cNvSpPr/>
          <p:nvPr/>
        </p:nvSpPr>
        <p:spPr>
          <a:xfrm>
            <a:off x="1463040" y="5047488"/>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Act on it + seed issues</a:t>
            </a:r>
            <a:endParaRPr lang="en-US" sz="1800" dirty="0"/>
          </a:p>
        </p:txBody>
      </p:sp>
      <p:sp>
        <p:nvSpPr>
          <p:cNvPr id="39" name="Text 31"/>
          <p:cNvSpPr/>
          <p:nvPr/>
        </p:nvSpPr>
        <p:spPr>
          <a:xfrm>
            <a:off x="4846320" y="5047488"/>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Fixes in or filed; seed issues started</a:t>
            </a:r>
            <a:endParaRPr lang="en-US" sz="1500" dirty="0"/>
          </a:p>
        </p:txBody>
      </p:sp>
      <p:sp>
        <p:nvSpPr>
          <p:cNvPr id="40" name="Text 32"/>
          <p:cNvSpPr/>
          <p:nvPr/>
        </p:nvSpPr>
        <p:spPr>
          <a:xfrm>
            <a:off x="10424160" y="5047488"/>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8 min</a:t>
            </a:r>
            <a:endParaRPr lang="en-US" sz="1600" dirty="0"/>
          </a:p>
        </p:txBody>
      </p:sp>
      <p:sp>
        <p:nvSpPr>
          <p:cNvPr id="41" name="Shape 33"/>
          <p:cNvSpPr/>
          <p:nvPr/>
        </p:nvSpPr>
        <p:spPr>
          <a:xfrm>
            <a:off x="548640" y="5705856"/>
            <a:ext cx="1106424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42" name="Shape 34"/>
          <p:cNvSpPr/>
          <p:nvPr/>
        </p:nvSpPr>
        <p:spPr>
          <a:xfrm>
            <a:off x="804672" y="5779008"/>
            <a:ext cx="420624" cy="420624"/>
          </a:xfrm>
          <a:prstGeom prst="ellipse">
            <a:avLst/>
          </a:prstGeom>
          <a:solidFill>
            <a:srgbClr val="12908F"/>
          </a:solidFill>
          <a:ln/>
        </p:spPr>
      </p:sp>
      <p:pic>
        <p:nvPicPr>
          <p:cNvPr id="43" name="Image 6" descr="preencoded.png">    </p:cNvPr>
          <p:cNvPicPr>
            <a:picLocks noChangeAspect="1"/>
          </p:cNvPicPr>
          <p:nvPr/>
        </p:nvPicPr>
        <p:blipFill>
          <a:blip r:embed="rId7"/>
          <a:stretch>
            <a:fillRect/>
          </a:stretch>
        </p:blipFill>
        <p:spPr>
          <a:xfrm>
            <a:off x="918240" y="5892576"/>
            <a:ext cx="193487" cy="193487"/>
          </a:xfrm>
          <a:prstGeom prst="rect">
            <a:avLst/>
          </a:prstGeom>
        </p:spPr>
      </p:pic>
      <p:sp>
        <p:nvSpPr>
          <p:cNvPr id="44" name="Text 35"/>
          <p:cNvSpPr/>
          <p:nvPr/>
        </p:nvSpPr>
        <p:spPr>
          <a:xfrm>
            <a:off x="1463040" y="5705856"/>
            <a:ext cx="33832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Wrap</a:t>
            </a:r>
            <a:endParaRPr lang="en-US" sz="1800" dirty="0"/>
          </a:p>
        </p:txBody>
      </p:sp>
      <p:sp>
        <p:nvSpPr>
          <p:cNvPr id="45" name="Text 36"/>
          <p:cNvSpPr/>
          <p:nvPr/>
        </p:nvSpPr>
        <p:spPr>
          <a:xfrm>
            <a:off x="4846320" y="5705856"/>
            <a:ext cx="5669280" cy="566928"/>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What's left for Friday, and how to submit</a:t>
            </a:r>
            <a:endParaRPr lang="en-US" sz="1500" dirty="0"/>
          </a:p>
        </p:txBody>
      </p:sp>
      <p:sp>
        <p:nvSpPr>
          <p:cNvPr id="46" name="Text 37"/>
          <p:cNvSpPr/>
          <p:nvPr/>
        </p:nvSpPr>
        <p:spPr>
          <a:xfrm>
            <a:off x="10424160" y="5705856"/>
            <a:ext cx="960120" cy="566928"/>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4 min</a:t>
            </a:r>
            <a:endParaRPr lang="en-US" sz="1600" dirty="0"/>
          </a:p>
        </p:txBody>
      </p:sp>
      <p:sp>
        <p:nvSpPr>
          <p:cNvPr id="47" name="Text 3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48" name="Text 3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PUNCH-LIST CHECK · 3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each, written on your punch list</a:t>
            </a:r>
            <a:endParaRPr lang="en-US" sz="3100" dirty="0"/>
          </a:p>
        </p:txBody>
      </p:sp>
      <p:sp>
        <p:nvSpPr>
          <p:cNvPr id="5" name="Shape 3"/>
          <p:cNvSpPr/>
          <p:nvPr/>
        </p:nvSpPr>
        <p:spPr>
          <a:xfrm>
            <a:off x="54864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In class today,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Name the items, not "as much as I can."</a:t>
            </a:r>
            <a:endParaRPr lang="en-US" sz="1700" dirty="0"/>
          </a:p>
        </p:txBody>
      </p:sp>
      <p:sp>
        <p:nvSpPr>
          <p:cNvPr id="7" name="Shape 5"/>
          <p:cNvSpPr/>
          <p:nvPr/>
        </p:nvSpPr>
        <p:spPr>
          <a:xfrm>
            <a:off x="617220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8" name="Text 6"/>
          <p:cNvSpPr/>
          <p:nvPr/>
        </p:nvSpPr>
        <p:spPr>
          <a:xfrm>
            <a:off x="649224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By Friday,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Usually CONTRIBUTING, the norms, and whatever the read turns up.</a:t>
            </a:r>
            <a:endParaRPr lang="en-US" sz="1700" dirty="0"/>
          </a:p>
        </p:txBody>
      </p:sp>
      <p:sp>
        <p:nvSpPr>
          <p:cNvPr id="9" name="click-1"/>
          <p:cNvSpPr/>
          <p:nvPr/>
        </p:nvSpPr>
        <p:spPr>
          <a:xfrm>
            <a:off x="54864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0" name="click-1"/>
          <p:cNvSpPr/>
          <p:nvPr/>
        </p:nvSpPr>
        <p:spPr>
          <a:xfrm>
            <a:off x="86868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Adapt, don't invent</a:t>
            </a:r>
            <a:pPr indent="0" marL="0">
              <a:buNone/>
            </a:pPr>
            <a:r>
              <a:rPr lang="en-US" sz="1500" dirty="0">
                <a:solidFill>
                  <a:srgbClr val="5F7284"/>
                </a:solidFill>
                <a:latin typeface="Calibri" pitchFamily="34" charset="0"/>
                <a:ea typeface="Calibri" pitchFamily="34" charset="-122"/>
                <a:cs typeface="Calibri" pitchFamily="34" charset="-120"/>
              </a:rPr>
              <a:t>  where a standard exists</a:t>
            </a:r>
            <a:endParaRPr lang="en-US" sz="1900" dirty="0"/>
          </a:p>
        </p:txBody>
      </p:sp>
      <p:sp>
        <p:nvSpPr>
          <p:cNvPr id="11" name="click-1"/>
          <p:cNvSpPr/>
          <p:nvPr/>
        </p:nvSpPr>
        <p:spPr>
          <a:xfrm>
            <a:off x="86868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License text, the Contributor Covenant, the shape of an issue form. Experts wrote them; fill in your blanks.</a:t>
            </a:r>
            <a:endParaRPr lang="en-US" sz="1600" dirty="0"/>
          </a:p>
        </p:txBody>
      </p:sp>
      <p:sp>
        <p:nvSpPr>
          <p:cNvPr id="12" name="click-1"/>
          <p:cNvSpPr/>
          <p:nvPr/>
        </p:nvSpPr>
        <p:spPr>
          <a:xfrm>
            <a:off x="617220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3" name="click-1"/>
          <p:cNvSpPr/>
          <p:nvPr/>
        </p:nvSpPr>
        <p:spPr>
          <a:xfrm>
            <a:off x="649224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Write, don't copy</a:t>
            </a:r>
            <a:pPr indent="0" marL="0">
              <a:buNone/>
            </a:pPr>
            <a:r>
              <a:rPr lang="en-US" sz="1500" dirty="0">
                <a:solidFill>
                  <a:srgbClr val="5F7284"/>
                </a:solidFill>
                <a:latin typeface="Calibri" pitchFamily="34" charset="0"/>
                <a:ea typeface="Calibri" pitchFamily="34" charset="-122"/>
                <a:cs typeface="Calibri" pitchFamily="34" charset="-120"/>
              </a:rPr>
              <a:t>  where your project is the content</a:t>
            </a:r>
            <a:endParaRPr lang="en-US" sz="1900" dirty="0"/>
          </a:p>
        </p:txBody>
      </p:sp>
      <p:sp>
        <p:nvSpPr>
          <p:cNvPr id="14" name="click-1"/>
          <p:cNvSpPr/>
          <p:nvPr/>
        </p:nvSpPr>
        <p:spPr>
          <a:xfrm>
            <a:off x="649224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README, CONTRIBUTING, communication norms. Nobody else can write these, and a stranger can tell.</a:t>
            </a:r>
            <a:endParaRPr lang="en-US" sz="1600" dirty="0"/>
          </a:p>
        </p:txBody>
      </p:sp>
      <p:sp>
        <p:nvSpPr>
          <p:cNvPr id="15" name="click-2"/>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44068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Every item ships through its own pull request, the way your git standards say. The process documents itself.</a:t>
            </a:r>
            <a:endParaRPr lang="en-US" sz="1650" dirty="0"/>
          </a:p>
        </p:txBody>
      </p:sp>
      <p:sp>
        <p:nvSpPr>
          <p:cNvPr id="17"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20" presetID="1"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WORKED EXAMPLE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front door, at tag session-16</a:t>
            </a:r>
            <a:endParaRPr lang="en-US" sz="3100" dirty="0"/>
          </a:p>
        </p:txBody>
      </p:sp>
      <p:sp>
        <p:nvSpPr>
          <p:cNvPr id="5" name="Shape 3"/>
          <p:cNvSpPr/>
          <p:nvPr/>
        </p:nvSpPr>
        <p:spPr>
          <a:xfrm>
            <a:off x="54864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CONTRIBUTING.md</a:t>
            </a:r>
            <a:endParaRPr lang="en-US" sz="1600" dirty="0"/>
          </a:p>
        </p:txBody>
      </p:sp>
      <p:sp>
        <p:nvSpPr>
          <p:cNvPr id="7" name="Text 5"/>
          <p:cNvSpPr/>
          <p:nvPr/>
        </p:nvSpPr>
        <p:spPr>
          <a:xfrm>
            <a:off x="77724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Welcome and "your first contribution" come first. Policy and the license rationale come last.</a:t>
            </a:r>
            <a:endParaRPr lang="en-US" sz="1500" dirty="0"/>
          </a:p>
        </p:txBody>
      </p:sp>
      <p:sp>
        <p:nvSpPr>
          <p:cNvPr id="8" name="Shape 6"/>
          <p:cNvSpPr/>
          <p:nvPr/>
        </p:nvSpPr>
        <p:spPr>
          <a:xfrm>
            <a:off x="429768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CODE_OF_CONDUCT.md</a:t>
            </a:r>
            <a:endParaRPr lang="en-US" sz="1600" dirty="0"/>
          </a:p>
        </p:txBody>
      </p:sp>
      <p:sp>
        <p:nvSpPr>
          <p:cNvPr id="10" name="Text 8"/>
          <p:cNvSpPr/>
          <p:nvPr/>
        </p:nvSpPr>
        <p:spPr>
          <a:xfrm>
            <a:off x="452628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Contributor Covenant 3.0, word for word. Only the two blanks are filled in.</a:t>
            </a:r>
            <a:endParaRPr lang="en-US" sz="1500" dirty="0"/>
          </a:p>
        </p:txBody>
      </p:sp>
      <p:sp>
        <p:nvSpPr>
          <p:cNvPr id="11" name="Shape 9"/>
          <p:cNvSpPr/>
          <p:nvPr/>
        </p:nvSpPr>
        <p:spPr>
          <a:xfrm>
            <a:off x="804672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.github/</a:t>
            </a:r>
            <a:endParaRPr lang="en-US" sz="1600" dirty="0"/>
          </a:p>
        </p:txBody>
      </p:sp>
      <p:sp>
        <p:nvSpPr>
          <p:cNvPr id="13" name="Text 11"/>
          <p:cNvSpPr/>
          <p:nvPr/>
        </p:nvSpPr>
        <p:spPr>
          <a:xfrm>
            <a:off x="827532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Bug and feature issue forms, a PR template whose checklist is the git standards.</a:t>
            </a:r>
            <a:endParaRPr lang="en-US" sz="1500" dirty="0"/>
          </a:p>
        </p:txBody>
      </p:sp>
      <p:sp>
        <p:nvSpPr>
          <p:cNvPr id="14" name="Shape 12"/>
          <p:cNvSpPr/>
          <p:nvPr/>
        </p:nvSpPr>
        <p:spPr>
          <a:xfrm>
            <a:off x="54864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docs/communication-norms.md</a:t>
            </a:r>
            <a:endParaRPr lang="en-US" sz="1600" dirty="0"/>
          </a:p>
        </p:txBody>
      </p:sp>
      <p:sp>
        <p:nvSpPr>
          <p:cNvPr id="16" name="Text 14"/>
          <p:cNvSpPr/>
          <p:nvPr/>
        </p:nvSpPr>
        <p:spPr>
          <a:xfrm>
            <a:off x="77724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Issues and PRs only, replies within a week, who decides, and what's out of scope.</a:t>
            </a:r>
            <a:endParaRPr lang="en-US" sz="1500" dirty="0"/>
          </a:p>
        </p:txBody>
      </p:sp>
      <p:sp>
        <p:nvSpPr>
          <p:cNvPr id="17" name="Shape 15"/>
          <p:cNvSpPr/>
          <p:nvPr/>
        </p:nvSpPr>
        <p:spPr>
          <a:xfrm>
            <a:off x="429768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19" name="Text 17"/>
          <p:cNvSpPr/>
          <p:nvPr/>
        </p:nvSpPr>
        <p:spPr>
          <a:xfrm>
            <a:off x="452628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A Contributing section that links all of the above, plus the maintainer's response time.</a:t>
            </a:r>
            <a:endParaRPr lang="en-US" sz="1500" dirty="0"/>
          </a:p>
        </p:txBody>
      </p:sp>
      <p:sp>
        <p:nvSpPr>
          <p:cNvPr id="20" name="Shape 18"/>
          <p:cNvSpPr/>
          <p:nvPr/>
        </p:nvSpPr>
        <p:spPr>
          <a:xfrm>
            <a:off x="804672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Issues tab</a:t>
            </a:r>
            <a:endParaRPr lang="en-US" sz="1600" dirty="0"/>
          </a:p>
        </p:txBody>
      </p:sp>
      <p:sp>
        <p:nvSpPr>
          <p:cNvPr id="22" name="Text 20"/>
          <p:cNvSpPr/>
          <p:nvPr/>
        </p:nvSpPr>
        <p:spPr>
          <a:xfrm>
            <a:off x="827532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seed issues written through the templates. One is a good first issue.</a:t>
            </a:r>
            <a:endParaRPr lang="en-US" sz="1500" dirty="0"/>
          </a:p>
        </p:txBody>
      </p:sp>
      <p:sp>
        <p:nvSpPr>
          <p:cNvPr id="23" name="Shape 21"/>
          <p:cNvSpPr/>
          <p:nvPr/>
        </p:nvSpPr>
        <p:spPr>
          <a:xfrm>
            <a:off x="548640" y="5715000"/>
            <a:ext cx="11064240" cy="502920"/>
          </a:xfrm>
          <a:prstGeom prst="roundRect">
            <a:avLst>
              <a:gd name="adj" fmla="val 16364"/>
            </a:avLst>
          </a:prstGeom>
          <a:solidFill>
            <a:srgbClr val="FBEEDA"/>
          </a:solidFill>
          <a:ln/>
          <a:effectLst>
            <a:outerShdw sx="100000" sy="100000" kx="0" ky="0" algn="bl" rotWithShape="0" blurRad="88900" dist="38100" dir="5400000">
              <a:srgbClr val="000000">
                <a:alpha val="13000"/>
              </a:srgbClr>
            </a:outerShdw>
          </a:effectLst>
        </p:spPr>
      </p:sp>
      <p:sp>
        <p:nvSpPr>
          <p:cNvPr id="24" name="Text 22"/>
          <p:cNvSpPr/>
          <p:nvPr/>
        </p:nvSpPr>
        <p:spPr>
          <a:xfrm>
            <a:off x="868680" y="5715000"/>
            <a:ext cx="10424160" cy="50292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github.com/prop-loft/prop-loft/tree/session-16   ·   Read it for shape. Your content has to be yours.</a:t>
            </a:r>
            <a:endParaRPr lang="en-US" sz="15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Where the files go, and what each one does</a:t>
            </a:r>
            <a:endParaRPr lang="en-US" sz="3100" dirty="0"/>
          </a:p>
        </p:txBody>
      </p:sp>
      <p:sp>
        <p:nvSpPr>
          <p:cNvPr id="5" name="Text 3"/>
          <p:cNvSpPr/>
          <p:nvPr/>
        </p:nvSpPr>
        <p:spPr>
          <a:xfrm>
            <a:off x="548640" y="1691640"/>
            <a:ext cx="56692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Your repository</a:t>
            </a:r>
            <a:endParaRPr lang="en-US" sz="1500" dirty="0"/>
          </a:p>
        </p:txBody>
      </p:sp>
      <p:sp>
        <p:nvSpPr>
          <p:cNvPr id="6" name="Shape 4"/>
          <p:cNvSpPr/>
          <p:nvPr/>
        </p:nvSpPr>
        <p:spPr>
          <a:xfrm>
            <a:off x="548640" y="2057400"/>
            <a:ext cx="5669280" cy="3154680"/>
          </a:xfrm>
          <a:prstGeom prst="roundRect">
            <a:avLst>
              <a:gd name="adj" fmla="val 2319"/>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120640" cy="2825496"/>
          </a:xfrm>
          <a:prstGeom prst="rect">
            <a:avLst/>
          </a:prstGeom>
          <a:noFill/>
          <a:ln/>
        </p:spPr>
        <p:txBody>
          <a:bodyPr wrap="square" lIns="0" tIns="0" rIns="0" bIns="0" rtlCol="0" anchor="t"/>
          <a:lstStyle/>
          <a:p>
            <a:pPr indent="0" marL="0">
              <a:lnSpc>
                <a:spcPct val="105000"/>
              </a:lnSpc>
              <a:buNone/>
            </a:pPr>
            <a:r>
              <a:rPr lang="en-US" sz="1600" dirty="0">
                <a:solidFill>
                  <a:srgbClr val="E8A33D"/>
                </a:solidFill>
                <a:latin typeface="Consolas" pitchFamily="34" charset="0"/>
                <a:ea typeface="Consolas" pitchFamily="34" charset="-122"/>
                <a:cs typeface="Consolas" pitchFamily="34" charset="-120"/>
              </a:rPr>
              <a:t>.github/</a:t>
            </a:r>
            <a:endParaRPr lang="en-US" sz="1600" dirty="0"/>
          </a:p>
          <a:p>
            <a:pPr indent="0" marL="0">
              <a:lnSpc>
                <a:spcPct val="105000"/>
              </a:lnSpc>
              <a:buNone/>
            </a:pPr>
            <a:r>
              <a:rPr lang="en-US" sz="1600" dirty="0">
                <a:solidFill>
                  <a:srgbClr val="E8A33D"/>
                </a:solidFill>
                <a:latin typeface="Consolas" pitchFamily="34" charset="0"/>
                <a:ea typeface="Consolas" pitchFamily="34" charset="-122"/>
                <a:cs typeface="Consolas" pitchFamily="34" charset="-120"/>
              </a:rPr>
              <a:t>  ISSUE_TEMPLATE/</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bug_report.md   or  .yml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feature_request.md  or  .yml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config.yml</a:t>
            </a:r>
            <a:endParaRPr lang="en-US" sz="1600" dirty="0"/>
          </a:p>
          <a:p>
            <a:pPr indent="0" marL="0">
              <a:lnSpc>
                <a:spcPct val="105000"/>
              </a:lnSpc>
              <a:buNone/>
            </a:pPr>
            <a:r>
              <a:rPr lang="en-US" sz="1600" dirty="0">
                <a:solidFill>
                  <a:srgbClr val="9FE0B5"/>
                </a:solidFill>
                <a:latin typeface="Consolas" pitchFamily="34" charset="0"/>
                <a:ea typeface="Consolas" pitchFamily="34" charset="-122"/>
                <a:cs typeface="Consolas" pitchFamily="34" charset="-120"/>
              </a:rPr>
              <a:t>  pull_request_template.md</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README.md  CONTRIBUTING.md  ...</a:t>
            </a:r>
            <a:endParaRPr lang="en-US" sz="1600" dirty="0"/>
          </a:p>
        </p:txBody>
      </p:sp>
      <p:sp>
        <p:nvSpPr>
          <p:cNvPr id="8" name="click-1"/>
          <p:cNvSpPr/>
          <p:nvPr/>
        </p:nvSpPr>
        <p:spPr>
          <a:xfrm>
            <a:off x="6446520" y="1783080"/>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6675120" y="1783080"/>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ISSUE_TEMPLATE/</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Each file is one choice when someone clicks New issue.</a:t>
            </a:r>
            <a:endParaRPr lang="en-US" sz="1600" dirty="0"/>
          </a:p>
        </p:txBody>
      </p:sp>
      <p:sp>
        <p:nvSpPr>
          <p:cNvPr id="10" name="click-2"/>
          <p:cNvSpPr/>
          <p:nvPr/>
        </p:nvSpPr>
        <p:spPr>
          <a:xfrm>
            <a:off x="6446520" y="2944368"/>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6675120" y="2944368"/>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config.yml</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The chooser: allow a blank issue? Send conduct reports somewhere private?</a:t>
            </a:r>
            <a:endParaRPr lang="en-US" sz="1600" dirty="0"/>
          </a:p>
        </p:txBody>
      </p:sp>
      <p:sp>
        <p:nvSpPr>
          <p:cNvPr id="12" name="click-3"/>
          <p:cNvSpPr/>
          <p:nvPr/>
        </p:nvSpPr>
        <p:spPr>
          <a:xfrm>
            <a:off x="6446520" y="4105656"/>
            <a:ext cx="516636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3" name="click-3"/>
          <p:cNvSpPr/>
          <p:nvPr/>
        </p:nvSpPr>
        <p:spPr>
          <a:xfrm>
            <a:off x="6675120" y="4105656"/>
            <a:ext cx="4754880" cy="1024128"/>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pull_request_template.md</a:t>
            </a:r>
            <a:endParaRPr lang="en-US" sz="1600" dirty="0"/>
          </a:p>
          <a:p>
            <a:pPr indent="0" marL="0">
              <a:buNone/>
            </a:pPr>
            <a:r>
              <a:rPr lang="en-US" sz="1550" dirty="0">
                <a:solidFill>
                  <a:srgbClr val="1E2A36"/>
                </a:solidFill>
                <a:latin typeface="Calibri" pitchFamily="34" charset="0"/>
                <a:ea typeface="Calibri" pitchFamily="34" charset="-122"/>
                <a:cs typeface="Calibri" pitchFamily="34" charset="-120"/>
              </a:rPr>
              <a:t>Pre-fills the description of every new pull request.</a:t>
            </a:r>
            <a:endParaRPr lang="en-US" sz="1600" dirty="0"/>
          </a:p>
        </p:txBody>
      </p:sp>
      <p:sp>
        <p:nvSpPr>
          <p:cNvPr id="14" name="click-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15" name="click-4"/>
          <p:cNvSpPr/>
          <p:nvPr/>
        </p:nvSpPr>
        <p:spPr>
          <a:xfrm>
            <a:off x="868680" y="5440680"/>
            <a:ext cx="10424160" cy="73152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Nothing works until it's merged to main.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A template on a branch does nothing.</a:t>
            </a:r>
            <a:endParaRPr lang="en-US" sz="1700" dirty="0"/>
          </a:p>
        </p:txBody>
      </p:sp>
      <p:sp>
        <p:nvSpPr>
          <p:cNvPr id="16"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7"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TWO FORMATS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same bug template, written both ways</a:t>
            </a:r>
            <a:endParaRPr lang="en-US" sz="3100" dirty="0"/>
          </a:p>
        </p:txBody>
      </p:sp>
      <p:sp>
        <p:nvSpPr>
          <p:cNvPr id="5" name="Text 3"/>
          <p:cNvSpPr/>
          <p:nvPr/>
        </p:nvSpPr>
        <p:spPr>
          <a:xfrm>
            <a:off x="54864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bug_report.md  ·  Markdown template</a:t>
            </a:r>
            <a:endParaRPr lang="en-US" sz="1500" dirty="0"/>
          </a:p>
        </p:txBody>
      </p:sp>
      <p:sp>
        <p:nvSpPr>
          <p:cNvPr id="6" name="Shape 4"/>
          <p:cNvSpPr/>
          <p:nvPr/>
        </p:nvSpPr>
        <p:spPr>
          <a:xfrm>
            <a:off x="548640" y="2057400"/>
            <a:ext cx="5440680" cy="2514600"/>
          </a:xfrm>
          <a:prstGeom prst="roundRect">
            <a:avLst>
              <a:gd name="adj" fmla="val 2909"/>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2185416"/>
          </a:xfrm>
          <a:prstGeom prst="rect">
            <a:avLst/>
          </a:prstGeom>
          <a:noFill/>
          <a:ln/>
        </p:spPr>
        <p:txBody>
          <a:bodyPr wrap="square" lIns="0" tIns="0" rIns="0" bIns="0" rtlCol="0" anchor="t"/>
          <a:lstStyle/>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name: Bug report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labels: bug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**Steps 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1.</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**What you expected to happen**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**What actually happened**</a:t>
            </a:r>
            <a:endParaRPr lang="en-US" sz="1450" dirty="0"/>
          </a:p>
        </p:txBody>
      </p:sp>
      <p:sp>
        <p:nvSpPr>
          <p:cNvPr id="8" name="click-1"/>
          <p:cNvSpPr/>
          <p:nvPr/>
        </p:nvSpPr>
        <p:spPr>
          <a:xfrm>
            <a:off x="617220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bug_report.yml  ·  issue form</a:t>
            </a:r>
            <a:endParaRPr lang="en-US" sz="1500" dirty="0"/>
          </a:p>
        </p:txBody>
      </p:sp>
      <p:sp>
        <p:nvSpPr>
          <p:cNvPr id="9" name="click-1"/>
          <p:cNvSpPr/>
          <p:nvPr/>
        </p:nvSpPr>
        <p:spPr>
          <a:xfrm>
            <a:off x="6172200" y="2057400"/>
            <a:ext cx="5440680" cy="2514600"/>
          </a:xfrm>
          <a:prstGeom prst="roundRect">
            <a:avLst>
              <a:gd name="adj" fmla="val 2909"/>
            </a:avLst>
          </a:prstGeom>
          <a:solidFill>
            <a:srgbClr val="1E3352"/>
          </a:solidFill>
          <a:ln/>
          <a:effectLst>
            <a:outerShdw sx="100000" sy="100000" kx="0" ky="0" algn="bl" rotWithShape="0" blurRad="88900" dist="38100" dir="5400000">
              <a:srgbClr val="000000">
                <a:alpha val="13000"/>
              </a:srgbClr>
            </a:outerShdw>
          </a:effectLst>
        </p:spPr>
      </p:sp>
      <p:sp>
        <p:nvSpPr>
          <p:cNvPr id="10" name="click-1"/>
          <p:cNvSpPr/>
          <p:nvPr/>
        </p:nvSpPr>
        <p:spPr>
          <a:xfrm>
            <a:off x="6446520" y="2221992"/>
            <a:ext cx="4892040" cy="218541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name: Bug report</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labels: ["bug"]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body: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type: textarea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attributes: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label: Steps 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validations: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required: true</a:t>
            </a:r>
            <a:endParaRPr lang="en-US" sz="1450" dirty="0"/>
          </a:p>
        </p:txBody>
      </p:sp>
      <p:sp>
        <p:nvSpPr>
          <p:cNvPr id="11" name="click-2"/>
          <p:cNvSpPr/>
          <p:nvPr/>
        </p:nvSpPr>
        <p:spPr>
          <a:xfrm>
            <a:off x="548640" y="47548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2" name="click-2"/>
          <p:cNvSpPr/>
          <p:nvPr/>
        </p:nvSpPr>
        <p:spPr>
          <a:xfrm>
            <a:off x="822960" y="4754880"/>
            <a:ext cx="4937760" cy="141732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One pre-filled text box.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The reporter can delete anything. Quick to write; most repos you'll browse use it.</a:t>
            </a:r>
            <a:endParaRPr lang="en-US" sz="1600" dirty="0"/>
          </a:p>
        </p:txBody>
      </p:sp>
      <p:sp>
        <p:nvSpPr>
          <p:cNvPr id="13" name="click-2"/>
          <p:cNvSpPr/>
          <p:nvPr/>
        </p:nvSpPr>
        <p:spPr>
          <a:xfrm>
            <a:off x="6172200" y="47548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6446520" y="4754880"/>
            <a:ext cx="4937760" cy="141732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Separate fields.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required: true means it can't be skipped. More to write, and indentation matters.</a:t>
            </a:r>
            <a:endParaRPr lang="en-US" sz="16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A FORM IN FULL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required field is a norm you only write once</a:t>
            </a:r>
            <a:endParaRPr lang="en-US" sz="3100" dirty="0"/>
          </a:p>
        </p:txBody>
      </p:sp>
      <p:sp>
        <p:nvSpPr>
          <p:cNvPr id="5" name="Shape 3"/>
          <p:cNvSpPr/>
          <p:nvPr/>
        </p:nvSpPr>
        <p:spPr>
          <a:xfrm>
            <a:off x="548640" y="1737360"/>
            <a:ext cx="5440680" cy="566928"/>
          </a:xfrm>
          <a:prstGeom prst="roundRect">
            <a:avLst>
              <a:gd name="adj" fmla="val 14516"/>
            </a:avLst>
          </a:prstGeom>
          <a:solidFill>
            <a:srgbClr val="D9614C"/>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37360"/>
            <a:ext cx="493776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Bug report</a:t>
            </a:r>
            <a:pPr indent="0" marL="0">
              <a:buNone/>
            </a:pPr>
            <a:r>
              <a:rPr lang="en-US" sz="1500" dirty="0">
                <a:solidFill>
                  <a:srgbClr val="FFFFFF"/>
                </a:solidFill>
                <a:latin typeface="Calibri" pitchFamily="34" charset="0"/>
                <a:ea typeface="Calibri" pitchFamily="34" charset="-122"/>
                <a:cs typeface="Calibri" pitchFamily="34" charset="-120"/>
              </a:rPr>
              <a:t>   labels: bug · needs triage</a:t>
            </a:r>
            <a:endParaRPr lang="en-US" sz="1900" dirty="0"/>
          </a:p>
        </p:txBody>
      </p:sp>
      <p:sp>
        <p:nvSpPr>
          <p:cNvPr id="7" name="Shape 5"/>
          <p:cNvSpPr/>
          <p:nvPr/>
        </p:nvSpPr>
        <p:spPr>
          <a:xfrm>
            <a:off x="548640" y="2395728"/>
            <a:ext cx="5440680" cy="2907792"/>
          </a:xfrm>
          <a:prstGeom prst="roundRect">
            <a:avLst>
              <a:gd name="adj" fmla="val 283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777240" y="2487168"/>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Before you file (required box)</a:t>
            </a:r>
            <a:endParaRPr lang="en-US" sz="1500" dirty="0"/>
          </a:p>
        </p:txBody>
      </p:sp>
      <p:sp>
        <p:nvSpPr>
          <p:cNvPr id="9" name="Text 7"/>
          <p:cNvSpPr/>
          <p:nvPr/>
        </p:nvSpPr>
        <p:spPr>
          <a:xfrm>
            <a:off x="2926080" y="2487168"/>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I searched open and closed issues: no duplicates</a:t>
            </a:r>
            <a:endParaRPr lang="en-US" sz="1500" dirty="0"/>
          </a:p>
        </p:txBody>
      </p:sp>
      <p:sp>
        <p:nvSpPr>
          <p:cNvPr id="10" name="Text 8"/>
          <p:cNvSpPr/>
          <p:nvPr/>
        </p:nvSpPr>
        <p:spPr>
          <a:xfrm>
            <a:off x="777240" y="3044952"/>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Steps to reproduce</a:t>
            </a:r>
            <a:endParaRPr lang="en-US" sz="1500" dirty="0"/>
          </a:p>
        </p:txBody>
      </p:sp>
      <p:sp>
        <p:nvSpPr>
          <p:cNvPr id="11" name="Text 9"/>
          <p:cNvSpPr/>
          <p:nvPr/>
        </p:nvSpPr>
        <p:spPr>
          <a:xfrm>
            <a:off x="2926080" y="3044952"/>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Numbered, from somewhere a stranger can get to</a:t>
            </a:r>
            <a:endParaRPr lang="en-US" sz="1500" dirty="0"/>
          </a:p>
        </p:txBody>
      </p:sp>
      <p:sp>
        <p:nvSpPr>
          <p:cNvPr id="12" name="Text 10"/>
          <p:cNvSpPr/>
          <p:nvPr/>
        </p:nvSpPr>
        <p:spPr>
          <a:xfrm>
            <a:off x="777240" y="3602736"/>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Expected  /  What actually happened</a:t>
            </a:r>
            <a:endParaRPr lang="en-US" sz="1500" dirty="0"/>
          </a:p>
        </p:txBody>
      </p:sp>
      <p:sp>
        <p:nvSpPr>
          <p:cNvPr id="13" name="Text 11"/>
          <p:cNvSpPr/>
          <p:nvPr/>
        </p:nvSpPr>
        <p:spPr>
          <a:xfrm>
            <a:off x="2926080" y="3602736"/>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Two fields, so neither gets skipped</a:t>
            </a:r>
            <a:endParaRPr lang="en-US" sz="1500" dirty="0"/>
          </a:p>
        </p:txBody>
      </p:sp>
      <p:sp>
        <p:nvSpPr>
          <p:cNvPr id="14" name="Text 12"/>
          <p:cNvSpPr/>
          <p:nvPr/>
        </p:nvSpPr>
        <p:spPr>
          <a:xfrm>
            <a:off x="777240" y="4160520"/>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Environment</a:t>
            </a:r>
            <a:endParaRPr lang="en-US" sz="1500" dirty="0"/>
          </a:p>
        </p:txBody>
      </p:sp>
      <p:sp>
        <p:nvSpPr>
          <p:cNvPr id="15" name="Text 13"/>
          <p:cNvSpPr/>
          <p:nvPr/>
        </p:nvSpPr>
        <p:spPr>
          <a:xfrm>
            <a:off x="2926080" y="4160520"/>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An example shows the shape: "Firefox 131 on Windows 11"</a:t>
            </a:r>
            <a:endParaRPr lang="en-US" sz="1500" dirty="0"/>
          </a:p>
        </p:txBody>
      </p:sp>
      <p:sp>
        <p:nvSpPr>
          <p:cNvPr id="16" name="Text 14"/>
          <p:cNvSpPr/>
          <p:nvPr/>
        </p:nvSpPr>
        <p:spPr>
          <a:xfrm>
            <a:off x="777240" y="4718304"/>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Anything else</a:t>
            </a:r>
            <a:endParaRPr lang="en-US" sz="1500" dirty="0"/>
          </a:p>
        </p:txBody>
      </p:sp>
      <p:sp>
        <p:nvSpPr>
          <p:cNvPr id="17" name="Text 15"/>
          <p:cNvSpPr/>
          <p:nvPr/>
        </p:nvSpPr>
        <p:spPr>
          <a:xfrm>
            <a:off x="2926080" y="4718304"/>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Logs, screenshots, how often: the evidence</a:t>
            </a:r>
            <a:endParaRPr lang="en-US" sz="1500" dirty="0"/>
          </a:p>
        </p:txBody>
      </p:sp>
      <p:sp>
        <p:nvSpPr>
          <p:cNvPr id="18" name="click-1"/>
          <p:cNvSpPr/>
          <p:nvPr/>
        </p:nvSpPr>
        <p:spPr>
          <a:xfrm>
            <a:off x="6172200" y="1737360"/>
            <a:ext cx="5440680" cy="566928"/>
          </a:xfrm>
          <a:prstGeom prst="roundRect">
            <a:avLst>
              <a:gd name="adj" fmla="val 14516"/>
            </a:avLst>
          </a:prstGeom>
          <a:solidFill>
            <a:srgbClr val="12908F"/>
          </a:solidFill>
          <a:ln/>
          <a:effectLst>
            <a:outerShdw sx="100000" sy="100000" kx="0" ky="0" algn="bl" rotWithShape="0" blurRad="88900" dist="38100" dir="5400000">
              <a:srgbClr val="000000">
                <a:alpha val="13000"/>
              </a:srgbClr>
            </a:outerShdw>
          </a:effectLst>
        </p:spPr>
      </p:sp>
      <p:sp>
        <p:nvSpPr>
          <p:cNvPr id="19" name="click-1"/>
          <p:cNvSpPr/>
          <p:nvPr/>
        </p:nvSpPr>
        <p:spPr>
          <a:xfrm>
            <a:off x="6446520" y="1737360"/>
            <a:ext cx="493776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Feature request</a:t>
            </a:r>
            <a:pPr indent="0" marL="0">
              <a:buNone/>
            </a:pPr>
            <a:r>
              <a:rPr lang="en-US" sz="1500" dirty="0">
                <a:solidFill>
                  <a:srgbClr val="FFFFFF"/>
                </a:solidFill>
                <a:latin typeface="Calibri" pitchFamily="34" charset="0"/>
                <a:ea typeface="Calibri" pitchFamily="34" charset="-122"/>
                <a:cs typeface="Calibri" pitchFamily="34" charset="-120"/>
              </a:rPr>
              <a:t>   labels: enhancement · needs triage</a:t>
            </a:r>
            <a:endParaRPr lang="en-US" sz="1900" dirty="0"/>
          </a:p>
        </p:txBody>
      </p:sp>
      <p:sp>
        <p:nvSpPr>
          <p:cNvPr id="20" name="click-1"/>
          <p:cNvSpPr/>
          <p:nvPr/>
        </p:nvSpPr>
        <p:spPr>
          <a:xfrm>
            <a:off x="6172200" y="2395728"/>
            <a:ext cx="5440680" cy="2907792"/>
          </a:xfrm>
          <a:prstGeom prst="roundRect">
            <a:avLst>
              <a:gd name="adj" fmla="val 2830"/>
            </a:avLst>
          </a:prstGeom>
          <a:solidFill>
            <a:srgbClr val="F2F6F8"/>
          </a:solidFill>
          <a:ln/>
          <a:effectLst>
            <a:outerShdw sx="100000" sy="100000" kx="0" ky="0" algn="bl" rotWithShape="0" blurRad="88900" dist="38100" dir="5400000">
              <a:srgbClr val="000000">
                <a:alpha val="13000"/>
              </a:srgbClr>
            </a:outerShdw>
          </a:effectLst>
        </p:spPr>
      </p:sp>
      <p:sp>
        <p:nvSpPr>
          <p:cNvPr id="21" name="click-1"/>
          <p:cNvSpPr/>
          <p:nvPr/>
        </p:nvSpPr>
        <p:spPr>
          <a:xfrm>
            <a:off x="6400800" y="2487168"/>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Opening note</a:t>
            </a:r>
            <a:endParaRPr lang="en-US" sz="1500" dirty="0"/>
          </a:p>
        </p:txBody>
      </p:sp>
      <p:sp>
        <p:nvSpPr>
          <p:cNvPr id="22" name="click-1"/>
          <p:cNvSpPr/>
          <p:nvPr/>
        </p:nvSpPr>
        <p:spPr>
          <a:xfrm>
            <a:off x="8549640" y="2487168"/>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"Start with the problem, not the solution," and a link to the non-goals</a:t>
            </a:r>
            <a:endParaRPr lang="en-US" sz="1500" dirty="0"/>
          </a:p>
        </p:txBody>
      </p:sp>
      <p:sp>
        <p:nvSpPr>
          <p:cNvPr id="23" name="click-1"/>
          <p:cNvSpPr/>
          <p:nvPr/>
        </p:nvSpPr>
        <p:spPr>
          <a:xfrm>
            <a:off x="6400800" y="3044952"/>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The problem</a:t>
            </a:r>
            <a:endParaRPr lang="en-US" sz="1500" dirty="0"/>
          </a:p>
        </p:txBody>
      </p:sp>
      <p:sp>
        <p:nvSpPr>
          <p:cNvPr id="24" name="click-1"/>
          <p:cNvSpPr/>
          <p:nvPr/>
        </p:nvSpPr>
        <p:spPr>
          <a:xfrm>
            <a:off x="8549640" y="3044952"/>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What you're trying to do, and what gets in the way: the need</a:t>
            </a:r>
            <a:endParaRPr lang="en-US" sz="1500" dirty="0"/>
          </a:p>
        </p:txBody>
      </p:sp>
      <p:sp>
        <p:nvSpPr>
          <p:cNvPr id="25" name="click-1"/>
          <p:cNvSpPr/>
          <p:nvPr/>
        </p:nvSpPr>
        <p:spPr>
          <a:xfrm>
            <a:off x="6400800" y="3602736"/>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Who has this problem</a:t>
            </a:r>
            <a:endParaRPr lang="en-US" sz="1500" dirty="0"/>
          </a:p>
        </p:txBody>
      </p:sp>
      <p:sp>
        <p:nvSpPr>
          <p:cNvPr id="26" name="click-1"/>
          <p:cNvSpPr/>
          <p:nvPr/>
        </p:nvSpPr>
        <p:spPr>
          <a:xfrm>
            <a:off x="8549640" y="3602736"/>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user, named</a:t>
            </a:r>
            <a:endParaRPr lang="en-US" sz="1500" dirty="0"/>
          </a:p>
        </p:txBody>
      </p:sp>
      <p:sp>
        <p:nvSpPr>
          <p:cNvPr id="27" name="click-1"/>
          <p:cNvSpPr/>
          <p:nvPr/>
        </p:nvSpPr>
        <p:spPr>
          <a:xfrm>
            <a:off x="6400800" y="4160520"/>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What you do today instead</a:t>
            </a:r>
            <a:endParaRPr lang="en-US" sz="1500" dirty="0"/>
          </a:p>
        </p:txBody>
      </p:sp>
      <p:sp>
        <p:nvSpPr>
          <p:cNvPr id="28" name="click-1"/>
          <p:cNvSpPr/>
          <p:nvPr/>
        </p:nvSpPr>
        <p:spPr>
          <a:xfrm>
            <a:off x="8549640" y="4160520"/>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workaround: how much the problem costs now</a:t>
            </a:r>
            <a:endParaRPr lang="en-US" sz="1500" dirty="0"/>
          </a:p>
        </p:txBody>
      </p:sp>
      <p:sp>
        <p:nvSpPr>
          <p:cNvPr id="29" name="click-1"/>
          <p:cNvSpPr/>
          <p:nvPr/>
        </p:nvSpPr>
        <p:spPr>
          <a:xfrm>
            <a:off x="6400800" y="4718304"/>
            <a:ext cx="2057400" cy="530352"/>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An idea (optional)</a:t>
            </a:r>
            <a:endParaRPr lang="en-US" sz="1500" dirty="0"/>
          </a:p>
        </p:txBody>
      </p:sp>
      <p:sp>
        <p:nvSpPr>
          <p:cNvPr id="30" name="click-1"/>
          <p:cNvSpPr/>
          <p:nvPr/>
        </p:nvSpPr>
        <p:spPr>
          <a:xfrm>
            <a:off x="8549640" y="4718304"/>
            <a:ext cx="2880360" cy="530352"/>
          </a:xfrm>
          <a:prstGeom prst="rect">
            <a:avLst/>
          </a:prstGeom>
          <a:noFill/>
          <a:ln/>
        </p:spPr>
        <p:txBody>
          <a:bodyPr wrap="square" lIns="0" tIns="0" rIns="0" bIns="0" rtlCol="0" anchor="ctr"/>
          <a:lstStyle/>
          <a:p>
            <a:pPr indent="0" marL="0">
              <a:lnSpc>
                <a:spcPct val="98000"/>
              </a:lnSpc>
              <a:buNone/>
            </a:pPr>
            <a:r>
              <a:rPr lang="en-US" sz="1500" dirty="0">
                <a:solidFill>
                  <a:srgbClr val="5F7284"/>
                </a:solidFill>
                <a:latin typeface="Calibri" pitchFamily="34" charset="0"/>
                <a:ea typeface="Calibri" pitchFamily="34" charset="-122"/>
                <a:cs typeface="Calibri" pitchFamily="34" charset="-120"/>
              </a:rPr>
              <a:t>The solution comes last, and it's optional</a:t>
            </a:r>
            <a:endParaRPr lang="en-US" sz="1500" dirty="0"/>
          </a:p>
        </p:txBody>
      </p:sp>
      <p:sp>
        <p:nvSpPr>
          <p:cNvPr id="31" name="click-2"/>
          <p:cNvSpPr/>
          <p:nvPr/>
        </p:nvSpPr>
        <p:spPr>
          <a:xfrm>
            <a:off x="548640" y="5468112"/>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32" name="click-2"/>
          <p:cNvSpPr/>
          <p:nvPr/>
        </p:nvSpPr>
        <p:spPr>
          <a:xfrm>
            <a:off x="868680" y="5468112"/>
            <a:ext cx="1042416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Each form's labels: line triages it on arrival. Create the labels first: a form silently skips any label the repo doesn't have.</a:t>
            </a:r>
            <a:endParaRPr lang="en-US" sz="1600" dirty="0"/>
          </a:p>
        </p:txBody>
      </p:sp>
      <p:sp>
        <p:nvSpPr>
          <p:cNvPr id="33"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4"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4" presetID="1"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THREE REAL PROJECTS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them for what they ask, and what they don't</a:t>
            </a:r>
            <a:endParaRPr lang="en-US" sz="3100" dirty="0"/>
          </a:p>
        </p:txBody>
      </p:sp>
      <p:sp>
        <p:nvSpPr>
          <p:cNvPr id="5" name="click-1"/>
          <p:cNvSpPr/>
          <p:nvPr/>
        </p:nvSpPr>
        <p:spPr>
          <a:xfrm>
            <a:off x="54864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mdx-canvas</a:t>
            </a:r>
            <a:endParaRPr lang="en-US" sz="2000" dirty="0"/>
          </a:p>
        </p:txBody>
      </p:sp>
      <p:sp>
        <p:nvSpPr>
          <p:cNvPr id="7" name="click-1"/>
          <p:cNvSpPr/>
          <p:nvPr/>
        </p:nvSpPr>
        <p:spPr>
          <a:xfrm>
            <a:off x="2788920" y="1947672"/>
            <a:ext cx="1051560" cy="365760"/>
          </a:xfrm>
          <a:prstGeom prst="rect">
            <a:avLst/>
          </a:prstGeom>
          <a:solidFill>
            <a:srgbClr val="5F72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Markdown</a:t>
            </a:r>
            <a:endParaRPr lang="en-US" sz="1400" dirty="0"/>
          </a:p>
        </p:txBody>
      </p:sp>
      <p:sp>
        <p:nvSpPr>
          <p:cNvPr id="8" name="click-1"/>
          <p:cNvSpPr/>
          <p:nvPr/>
        </p:nvSpPr>
        <p:spPr>
          <a:xfrm>
            <a:off x="77724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GitHub's generated starter, unchanged. It works, and it asks a command-line tool's users which smartphone they have.</a:t>
            </a:r>
            <a:endParaRPr lang="en-US" sz="1550" dirty="0"/>
          </a:p>
        </p:txBody>
      </p:sp>
      <p:sp>
        <p:nvSpPr>
          <p:cNvPr id="9" name="click-1"/>
          <p:cNvSpPr/>
          <p:nvPr/>
        </p:nvSpPr>
        <p:spPr>
          <a:xfrm>
            <a:off x="77724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Adapt the starter.</a:t>
            </a:r>
            <a:endParaRPr lang="en-US" sz="1600" dirty="0"/>
          </a:p>
        </p:txBody>
      </p:sp>
      <p:sp>
        <p:nvSpPr>
          <p:cNvPr id="10" name="click-2"/>
          <p:cNvSpPr/>
          <p:nvPr/>
        </p:nvSpPr>
        <p:spPr>
          <a:xfrm>
            <a:off x="434340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457200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Rich</a:t>
            </a:r>
            <a:endParaRPr lang="en-US" sz="2000" dirty="0"/>
          </a:p>
        </p:txBody>
      </p:sp>
      <p:sp>
        <p:nvSpPr>
          <p:cNvPr id="12" name="click-2"/>
          <p:cNvSpPr/>
          <p:nvPr/>
        </p:nvSpPr>
        <p:spPr>
          <a:xfrm>
            <a:off x="6583680" y="1947672"/>
            <a:ext cx="1051560" cy="365760"/>
          </a:xfrm>
          <a:prstGeom prst="rect">
            <a:avLst/>
          </a:prstGeom>
          <a:solidFill>
            <a:srgbClr val="5F72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Markdown</a:t>
            </a:r>
            <a:endParaRPr lang="en-US" sz="1400" dirty="0"/>
          </a:p>
        </p:txBody>
      </p:sp>
      <p:sp>
        <p:nvSpPr>
          <p:cNvPr id="13" name="click-2"/>
          <p:cNvSpPr/>
          <p:nvPr/>
        </p:nvSpPr>
        <p:spPr>
          <a:xfrm>
            <a:off x="457200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Search-first checkboxes, a diagnostic command that captures the environment in one paste, and "we're not accepting new features" in a comment.</a:t>
            </a:r>
            <a:endParaRPr lang="en-US" sz="1550" dirty="0"/>
          </a:p>
        </p:txBody>
      </p:sp>
      <p:sp>
        <p:nvSpPr>
          <p:cNvPr id="14" name="click-2"/>
          <p:cNvSpPr/>
          <p:nvPr/>
        </p:nvSpPr>
        <p:spPr>
          <a:xfrm>
            <a:off x="457200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Say no once, in writing.</a:t>
            </a:r>
            <a:endParaRPr lang="en-US" sz="1600" dirty="0"/>
          </a:p>
        </p:txBody>
      </p:sp>
      <p:sp>
        <p:nvSpPr>
          <p:cNvPr id="15" name="click-3"/>
          <p:cNvSpPr/>
          <p:nvPr/>
        </p:nvSpPr>
        <p:spPr>
          <a:xfrm>
            <a:off x="8138160" y="1783080"/>
            <a:ext cx="3474720" cy="3657600"/>
          </a:xfrm>
          <a:prstGeom prst="roundRect">
            <a:avLst>
              <a:gd name="adj" fmla="val 2368"/>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8366760" y="1901952"/>
            <a:ext cx="210312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Prop Loft</a:t>
            </a:r>
            <a:endParaRPr lang="en-US" sz="2000" dirty="0"/>
          </a:p>
        </p:txBody>
      </p:sp>
      <p:sp>
        <p:nvSpPr>
          <p:cNvPr id="17" name="click-3"/>
          <p:cNvSpPr/>
          <p:nvPr/>
        </p:nvSpPr>
        <p:spPr>
          <a:xfrm>
            <a:off x="10378440" y="1947672"/>
            <a:ext cx="1051560" cy="365760"/>
          </a:xfrm>
          <a:prstGeom prst="rect">
            <a:avLst/>
          </a:prstGeom>
          <a:solidFill>
            <a:srgbClr val="12908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Forms</a:t>
            </a:r>
            <a:endParaRPr lang="en-US" sz="1400" dirty="0"/>
          </a:p>
        </p:txBody>
      </p:sp>
      <p:sp>
        <p:nvSpPr>
          <p:cNvPr id="18" name="click-3"/>
          <p:cNvSpPr/>
          <p:nvPr/>
        </p:nvSpPr>
        <p:spPr>
          <a:xfrm>
            <a:off x="8366760" y="2514600"/>
            <a:ext cx="3017520" cy="214884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Required fields, a needs triage label on every new issue, and a config.yml that sends conduct reports somewhere private.</a:t>
            </a:r>
            <a:endParaRPr lang="en-US" sz="1550" dirty="0"/>
          </a:p>
        </p:txBody>
      </p:sp>
      <p:sp>
        <p:nvSpPr>
          <p:cNvPr id="19" name="click-3"/>
          <p:cNvSpPr/>
          <p:nvPr/>
        </p:nvSpPr>
        <p:spPr>
          <a:xfrm>
            <a:off x="8366760" y="4754880"/>
            <a:ext cx="3017520" cy="548640"/>
          </a:xfrm>
          <a:prstGeom prst="rect">
            <a:avLst/>
          </a:prstGeom>
          <a:noFill/>
          <a:ln/>
        </p:spPr>
        <p:txBody>
          <a:bodyPr wrap="square" lIns="0" tIns="0" rIns="0" bIns="0" rtlCol="0" anchor="ctr"/>
          <a:lstStyle/>
          <a:p>
            <a:pPr indent="0" marL="0">
              <a:buNone/>
            </a:pPr>
            <a:r>
              <a:rPr lang="en-US" sz="1600" b="1" i="1" dirty="0">
                <a:solidFill>
                  <a:srgbClr val="0E6E6D"/>
                </a:solidFill>
                <a:latin typeface="Calibri" pitchFamily="34" charset="0"/>
                <a:ea typeface="Calibri" pitchFamily="34" charset="-122"/>
                <a:cs typeface="Calibri" pitchFamily="34" charset="-120"/>
              </a:rPr>
              <a:t>Make the anatomy the default.</a:t>
            </a:r>
            <a:endParaRPr lang="en-US" sz="1600" dirty="0"/>
          </a:p>
        </p:txBody>
      </p:sp>
      <p:sp>
        <p:nvSpPr>
          <p:cNvPr id="20" name="Shape 18"/>
          <p:cNvSpPr/>
          <p:nvPr/>
        </p:nvSpPr>
        <p:spPr>
          <a:xfrm>
            <a:off x="548640" y="5623560"/>
            <a:ext cx="11064240" cy="594360"/>
          </a:xfrm>
          <a:prstGeom prst="roundRect">
            <a:avLst>
              <a:gd name="adj" fmla="val 13846"/>
            </a:avLst>
          </a:prstGeom>
          <a:solidFill>
            <a:srgbClr val="FBEEDA"/>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623560"/>
            <a:ext cx="10424160" cy="5943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Links to all three: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Canvas → Course Resources → Issue and Pull Request Templates</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TEMPLATES · THE PULL REQUEST TEMPLATE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review policy, made unavoidable</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.github/pull_request_template.md  ·  Prop Loft</a:t>
            </a:r>
            <a:endParaRPr lang="en-US" sz="1500" dirty="0"/>
          </a:p>
        </p:txBody>
      </p:sp>
      <p:sp>
        <p:nvSpPr>
          <p:cNvPr id="6" name="Shape 4"/>
          <p:cNvSpPr/>
          <p:nvPr/>
        </p:nvSpPr>
        <p:spPr>
          <a:xfrm>
            <a:off x="548640" y="2057400"/>
            <a:ext cx="6309360" cy="4114800"/>
          </a:xfrm>
          <a:prstGeom prst="roundRect">
            <a:avLst>
              <a:gd name="adj" fmla="val 177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85616"/>
          </a:xfrm>
          <a:prstGeom prst="rect">
            <a:avLst/>
          </a:prstGeom>
          <a:noFill/>
          <a:ln/>
        </p:spPr>
        <p:txBody>
          <a:bodyPr wrap="square" lIns="0" tIns="0" rIns="0" bIns="0" rtlCol="0" anchor="t"/>
          <a:lstStyle/>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**Problem.** What does this change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fix or add? Closes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**Approach.** How you solved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**Where to look first.**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**How you tested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 Checklist (from our git standards)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One logical change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Commit messages follow the rules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python manage.py test passes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 ] Docs updated if behavior changed</a:t>
            </a:r>
            <a:endParaRPr lang="en-US" sz="1450" dirty="0"/>
          </a:p>
        </p:txBody>
      </p:sp>
      <p:sp>
        <p:nvSpPr>
          <p:cNvPr id="8" name="click-1"/>
          <p:cNvSpPr/>
          <p:nvPr/>
        </p:nvSpPr>
        <p:spPr>
          <a:xfrm>
            <a:off x="7086600" y="1783080"/>
            <a:ext cx="4526280" cy="1353312"/>
          </a:xfrm>
          <a:prstGeom prst="roundRect">
            <a:avLst>
              <a:gd name="adj" fmla="val 6081"/>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7315200" y="1783080"/>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The top half</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The description you've written by hand since Session 13: the problem, the approach, where to look, how you tested.</a:t>
            </a:r>
            <a:endParaRPr lang="en-US" sz="1700" dirty="0"/>
          </a:p>
        </p:txBody>
      </p:sp>
      <p:sp>
        <p:nvSpPr>
          <p:cNvPr id="10" name="click-2"/>
          <p:cNvSpPr/>
          <p:nvPr/>
        </p:nvSpPr>
        <p:spPr>
          <a:xfrm>
            <a:off x="7086600" y="3264408"/>
            <a:ext cx="4526280" cy="1353312"/>
          </a:xfrm>
          <a:prstGeom prst="roundRect">
            <a:avLst>
              <a:gd name="adj" fmla="val 6081"/>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315200" y="3264408"/>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The checklist</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Copied from your git standards' definition of done. The author checks each box before asking for review.</a:t>
            </a:r>
            <a:endParaRPr lang="en-US" sz="1700" dirty="0"/>
          </a:p>
        </p:txBody>
      </p:sp>
      <p:sp>
        <p:nvSpPr>
          <p:cNvPr id="12" name="click-3"/>
          <p:cNvSpPr/>
          <p:nvPr/>
        </p:nvSpPr>
        <p:spPr>
          <a:xfrm>
            <a:off x="7086600" y="4745736"/>
            <a:ext cx="4526280" cy="1353312"/>
          </a:xfrm>
          <a:prstGeom prst="roundRect">
            <a:avLst>
              <a:gd name="adj" fmla="val 6081"/>
            </a:avLst>
          </a:prstGeom>
          <a:solidFill>
            <a:srgbClr val="FBEEDA"/>
          </a:solidFill>
          <a:ln/>
          <a:effectLst>
            <a:outerShdw sx="100000" sy="100000" kx="0" ky="0" algn="bl" rotWithShape="0" blurRad="88900" dist="38100" dir="5400000">
              <a:srgbClr val="000000">
                <a:alpha val="13000"/>
              </a:srgbClr>
            </a:outerShdw>
          </a:effectLst>
        </p:spPr>
      </p:sp>
      <p:sp>
        <p:nvSpPr>
          <p:cNvPr id="13" name="click-3"/>
          <p:cNvSpPr/>
          <p:nvPr/>
        </p:nvSpPr>
        <p:spPr>
          <a:xfrm>
            <a:off x="7315200" y="4745736"/>
            <a:ext cx="4114800" cy="1353312"/>
          </a:xfrm>
          <a:prstGeom prst="rect">
            <a:avLst/>
          </a:prstGeom>
          <a:noFill/>
          <a:ln/>
        </p:spPr>
        <p:txBody>
          <a:bodyPr wrap="square" lIns="0" tIns="0" rIns="0" bIns="0" rtlCol="0" anchor="ctr"/>
          <a:lstStyle/>
          <a:p>
            <a:pPr indent="0" marL="0">
              <a:lnSpc>
                <a:spcPct val="102000"/>
              </a:lnSpc>
              <a:buNone/>
            </a:pPr>
            <a:r>
              <a:rPr lang="en-US" sz="1700" b="1" dirty="0">
                <a:solidFill>
                  <a:srgbClr val="0E6E6D"/>
                </a:solidFill>
                <a:latin typeface="Calibri" pitchFamily="34" charset="0"/>
                <a:ea typeface="Calibri" pitchFamily="34" charset="-122"/>
                <a:cs typeface="Calibri" pitchFamily="34" charset="-120"/>
              </a:rPr>
              <a:t>Markdown only</a:t>
            </a:r>
            <a:endParaRPr lang="en-US" sz="17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No form for pull requests. It pre-fills every new PR, once it's on main.</a:t>
            </a:r>
            <a:endParaRPr lang="en-US" sz="17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1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a:t>
            </a:r>
            <a:endParaRPr lang="en-US" sz="3100" dirty="0"/>
          </a:p>
        </p:txBody>
      </p:sp>
      <p:sp>
        <p:nvSpPr>
          <p:cNvPr id="5" name="Shape 3"/>
          <p:cNvSpPr/>
          <p:nvPr/>
        </p:nvSpPr>
        <p:spPr>
          <a:xfrm>
            <a:off x="54864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README</a:t>
            </a:r>
            <a:endParaRPr lang="en-US" sz="1800" dirty="0"/>
          </a:p>
        </p:txBody>
      </p:sp>
      <p:sp>
        <p:nvSpPr>
          <p:cNvPr id="9" name="Text 6"/>
          <p:cNvSpPr/>
          <p:nvPr/>
        </p:nvSpPr>
        <p:spPr>
          <a:xfrm>
            <a:off x="68580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First sentence, rewritten. A status line. How to contribute, and a license line.</a:t>
            </a:r>
            <a:endParaRPr lang="en-US" sz="1500" dirty="0"/>
          </a:p>
        </p:txBody>
      </p:sp>
      <p:sp>
        <p:nvSpPr>
          <p:cNvPr id="10" name="Shape 7"/>
          <p:cNvSpPr/>
          <p:nvPr/>
        </p:nvSpPr>
        <p:spPr>
          <a:xfrm>
            <a:off x="278892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Setup placeholder</a:t>
            </a:r>
            <a:endParaRPr lang="en-US" sz="1800" dirty="0"/>
          </a:p>
        </p:txBody>
      </p:sp>
      <p:sp>
        <p:nvSpPr>
          <p:cNvPr id="14" name="Text 10"/>
          <p:cNvSpPr/>
          <p:nvPr/>
        </p:nvSpPr>
        <p:spPr>
          <a:xfrm>
            <a:off x="292608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docs/setup.md: your stack, "arrives with the first runnable build," and the issue tracking it.</a:t>
            </a:r>
            <a:endParaRPr lang="en-US" sz="1500" dirty="0"/>
          </a:p>
        </p:txBody>
      </p:sp>
      <p:sp>
        <p:nvSpPr>
          <p:cNvPr id="15" name="Shape 11"/>
          <p:cNvSpPr/>
          <p:nvPr/>
        </p:nvSpPr>
        <p:spPr>
          <a:xfrm>
            <a:off x="502920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LICENSE</a:t>
            </a:r>
            <a:endParaRPr lang="en-US" sz="1800" dirty="0"/>
          </a:p>
        </p:txBody>
      </p:sp>
      <p:sp>
        <p:nvSpPr>
          <p:cNvPr id="19" name="Text 14"/>
          <p:cNvSpPr/>
          <p:nvPr/>
        </p:nvSpPr>
        <p:spPr>
          <a:xfrm>
            <a:off x="516636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The exact text. Fill in fields only if it has them (MIT, BSD). Rationale goes in CONTRIBUTING.</a:t>
            </a:r>
            <a:endParaRPr lang="en-US" sz="1500" dirty="0"/>
          </a:p>
        </p:txBody>
      </p:sp>
      <p:sp>
        <p:nvSpPr>
          <p:cNvPr id="20" name="Shape 15"/>
          <p:cNvSpPr/>
          <p:nvPr/>
        </p:nvSpPr>
        <p:spPr>
          <a:xfrm>
            <a:off x="726948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Contributor Covenant, adopted. A contact you'll check, a response time, and a route if it's about you.</a:t>
            </a:r>
            <a:endParaRPr lang="en-US" sz="1500" dirty="0"/>
          </a:p>
        </p:txBody>
      </p:sp>
      <p:sp>
        <p:nvSpPr>
          <p:cNvPr id="25" name="Shape 19"/>
          <p:cNvSpPr/>
          <p:nvPr/>
        </p:nvSpPr>
        <p:spPr>
          <a:xfrm>
            <a:off x="950976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Templates + labels</a:t>
            </a:r>
            <a:endParaRPr lang="en-US" sz="1800" dirty="0"/>
          </a:p>
        </p:txBody>
      </p:sp>
      <p:sp>
        <p:nvSpPr>
          <p:cNvPr id="29" name="Text 22"/>
          <p:cNvSpPr/>
          <p:nvPr/>
        </p:nvSpPr>
        <p:spPr>
          <a:xfrm>
            <a:off x="964692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Labels first. Then a skeleton from the templates page, made yours: bug, feature, PR.</a:t>
            </a:r>
            <a:endParaRPr lang="en-US" sz="1500" dirty="0"/>
          </a:p>
        </p:txBody>
      </p:sp>
      <p:sp>
        <p:nvSpPr>
          <p:cNvPr id="30" name="Shape 23"/>
          <p:cNvSpPr/>
          <p:nvPr/>
        </p:nvSpPr>
        <p:spPr>
          <a:xfrm>
            <a:off x="548640" y="539496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394960"/>
            <a:ext cx="1042416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File the setup-guide issue now. It's your first seed issue, and the placeholder links to it.</a:t>
            </a:r>
            <a:endParaRPr lang="en-US" sz="17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THERE'S CODE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honest status beats a quickstart that fails</a:t>
            </a:r>
            <a:endParaRPr lang="en-US" sz="3100" dirty="0"/>
          </a:p>
        </p:txBody>
      </p:sp>
      <p:sp>
        <p:nvSpPr>
          <p:cNvPr id="5" name="Text 3"/>
          <p:cNvSpPr/>
          <p:nvPr/>
        </p:nvSpPr>
        <p:spPr>
          <a:xfrm>
            <a:off x="54864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6" name="Shape 4"/>
          <p:cNvSpPr/>
          <p:nvPr/>
        </p:nvSpPr>
        <p:spPr>
          <a:xfrm>
            <a:off x="54864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Status</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Early development. Nothing</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runs yet: the first build</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lands in November. Setup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instructions will be in</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docs/setup.md.</a:t>
            </a:r>
            <a:endParaRPr lang="en-US" sz="1800" dirty="0"/>
          </a:p>
        </p:txBody>
      </p:sp>
      <p:sp>
        <p:nvSpPr>
          <p:cNvPr id="8" name="Text 6"/>
          <p:cNvSpPr/>
          <p:nvPr/>
        </p:nvSpPr>
        <p:spPr>
          <a:xfrm>
            <a:off x="617220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docs/setup.md</a:t>
            </a:r>
            <a:endParaRPr lang="en-US" sz="1600" dirty="0"/>
          </a:p>
        </p:txBody>
      </p:sp>
      <p:sp>
        <p:nvSpPr>
          <p:cNvPr id="9" name="Shape 7"/>
          <p:cNvSpPr/>
          <p:nvPr/>
        </p:nvSpPr>
        <p:spPr>
          <a:xfrm>
            <a:off x="617220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Setting 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Stack: Python 3.12, Django,</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SQLite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Setup instructions arrive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with the first runnable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build. Tracked in #1.</a:t>
            </a:r>
            <a:endParaRPr lang="en-US" sz="1800" dirty="0"/>
          </a:p>
        </p:txBody>
      </p:sp>
      <p:sp>
        <p:nvSpPr>
          <p:cNvPr id="11" name="Shape 9"/>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2" name="Text 10"/>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 stranger who reads "not yet" knows what to expect. A stranger whose quickstart fails assumes the whole project is broken.</a:t>
            </a:r>
            <a:endParaRPr lang="en-US" sz="165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2 · 15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Start the write-it-yourself items</a:t>
            </a:r>
            <a:endParaRPr lang="en-US" sz="3100" dirty="0"/>
          </a:p>
        </p:txBody>
      </p:sp>
      <p:sp>
        <p:nvSpPr>
          <p:cNvPr id="5" name="Shape 3"/>
          <p:cNvSpPr/>
          <p:nvPr/>
        </p:nvSpPr>
        <p:spPr>
          <a:xfrm>
            <a:off x="54864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CONTRIBUTING.md</a:t>
            </a:r>
            <a:endParaRPr lang="en-US" sz="1800" dirty="0"/>
          </a:p>
        </p:txBody>
      </p:sp>
      <p:sp>
        <p:nvSpPr>
          <p:cNvPr id="7" name="Text 5"/>
          <p:cNvSpPr/>
          <p:nvPr/>
        </p:nvSpPr>
        <p:spPr>
          <a:xfrm>
            <a:off x="868680" y="2377440"/>
            <a:ext cx="4846320" cy="36576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Grow it from your git standards, in this order:</a:t>
            </a:r>
            <a:endParaRPr lang="en-US" sz="1500" dirty="0"/>
          </a:p>
        </p:txBody>
      </p:sp>
      <p:sp>
        <p:nvSpPr>
          <p:cNvPr id="8" name="Shape 6"/>
          <p:cNvSpPr/>
          <p:nvPr/>
        </p:nvSpPr>
        <p:spPr>
          <a:xfrm>
            <a:off x="868680" y="2871216"/>
            <a:ext cx="329184" cy="329184"/>
          </a:xfrm>
          <a:prstGeom prst="ellipse">
            <a:avLst/>
          </a:prstGeom>
          <a:solidFill>
            <a:srgbClr val="E8A33D"/>
          </a:solidFill>
          <a:ln/>
        </p:spPr>
      </p:sp>
      <p:sp>
        <p:nvSpPr>
          <p:cNvPr id="9" name="Text 7"/>
          <p:cNvSpPr/>
          <p:nvPr/>
        </p:nvSpPr>
        <p:spPr>
          <a:xfrm>
            <a:off x="868680" y="28712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371600" y="28346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Welcome</a:t>
            </a:r>
            <a:endParaRPr lang="en-US" sz="1700" dirty="0"/>
          </a:p>
        </p:txBody>
      </p:sp>
      <p:sp>
        <p:nvSpPr>
          <p:cNvPr id="11" name="Shape 9"/>
          <p:cNvSpPr/>
          <p:nvPr/>
        </p:nvSpPr>
        <p:spPr>
          <a:xfrm>
            <a:off x="868680" y="3328416"/>
            <a:ext cx="329184" cy="329184"/>
          </a:xfrm>
          <a:prstGeom prst="ellipse">
            <a:avLst/>
          </a:prstGeom>
          <a:solidFill>
            <a:srgbClr val="E8A33D"/>
          </a:solidFill>
          <a:ln/>
        </p:spPr>
      </p:sp>
      <p:sp>
        <p:nvSpPr>
          <p:cNvPr id="12" name="Text 10"/>
          <p:cNvSpPr/>
          <p:nvPr/>
        </p:nvSpPr>
        <p:spPr>
          <a:xfrm>
            <a:off x="868680" y="33284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371600" y="32918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What to do first</a:t>
            </a:r>
            <a:endParaRPr lang="en-US" sz="1700" dirty="0"/>
          </a:p>
        </p:txBody>
      </p:sp>
      <p:sp>
        <p:nvSpPr>
          <p:cNvPr id="14" name="Shape 12"/>
          <p:cNvSpPr/>
          <p:nvPr/>
        </p:nvSpPr>
        <p:spPr>
          <a:xfrm>
            <a:off x="868680" y="3785616"/>
            <a:ext cx="329184" cy="329184"/>
          </a:xfrm>
          <a:prstGeom prst="ellipse">
            <a:avLst/>
          </a:prstGeom>
          <a:solidFill>
            <a:srgbClr val="12908F"/>
          </a:solidFill>
          <a:ln/>
        </p:spPr>
      </p:sp>
      <p:sp>
        <p:nvSpPr>
          <p:cNvPr id="15" name="Text 13"/>
          <p:cNvSpPr/>
          <p:nvPr/>
        </p:nvSpPr>
        <p:spPr>
          <a:xfrm>
            <a:off x="868680" y="37856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371600" y="37490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How to pick work</a:t>
            </a:r>
            <a:endParaRPr lang="en-US" sz="1700" dirty="0"/>
          </a:p>
        </p:txBody>
      </p:sp>
      <p:sp>
        <p:nvSpPr>
          <p:cNvPr id="17" name="Shape 15"/>
          <p:cNvSpPr/>
          <p:nvPr/>
        </p:nvSpPr>
        <p:spPr>
          <a:xfrm>
            <a:off x="868680" y="4242816"/>
            <a:ext cx="329184" cy="329184"/>
          </a:xfrm>
          <a:prstGeom prst="ellipse">
            <a:avLst/>
          </a:prstGeom>
          <a:solidFill>
            <a:srgbClr val="12908F"/>
          </a:solidFill>
          <a:ln/>
        </p:spPr>
      </p:sp>
      <p:sp>
        <p:nvSpPr>
          <p:cNvPr id="18" name="Text 16"/>
          <p:cNvSpPr/>
          <p:nvPr/>
        </p:nvSpPr>
        <p:spPr>
          <a:xfrm>
            <a:off x="868680" y="42428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371600" y="42062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The PR process and reviews</a:t>
            </a:r>
            <a:endParaRPr lang="en-US" sz="1700" dirty="0"/>
          </a:p>
        </p:txBody>
      </p:sp>
      <p:sp>
        <p:nvSpPr>
          <p:cNvPr id="20" name="Shape 18"/>
          <p:cNvSpPr/>
          <p:nvPr/>
        </p:nvSpPr>
        <p:spPr>
          <a:xfrm>
            <a:off x="868680" y="4700016"/>
            <a:ext cx="329184" cy="329184"/>
          </a:xfrm>
          <a:prstGeom prst="ellipse">
            <a:avLst/>
          </a:prstGeom>
          <a:solidFill>
            <a:srgbClr val="12908F"/>
          </a:solidFill>
          <a:ln/>
        </p:spPr>
      </p:sp>
      <p:sp>
        <p:nvSpPr>
          <p:cNvPr id="21" name="Text 19"/>
          <p:cNvSpPr/>
          <p:nvPr/>
        </p:nvSpPr>
        <p:spPr>
          <a:xfrm>
            <a:off x="868680" y="47000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371600" y="46634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Policy, last</a:t>
            </a:r>
            <a:endParaRPr lang="en-US" sz="1700" dirty="0"/>
          </a:p>
        </p:txBody>
      </p:sp>
      <p:sp>
        <p:nvSpPr>
          <p:cNvPr id="23" name="Shape 21"/>
          <p:cNvSpPr/>
          <p:nvPr/>
        </p:nvSpPr>
        <p:spPr>
          <a:xfrm>
            <a:off x="617220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docs/communication-norms.md</a:t>
            </a:r>
            <a:endParaRPr lang="en-US" sz="1800" dirty="0"/>
          </a:p>
        </p:txBody>
      </p:sp>
      <p:sp>
        <p:nvSpPr>
          <p:cNvPr id="25" name="Text 23"/>
          <p:cNvSpPr/>
          <p:nvPr/>
        </p:nvSpPr>
        <p:spPr>
          <a:xfrm>
            <a:off x="6492240" y="2468880"/>
            <a:ext cx="4892040" cy="265176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Where discussion happens</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Response times you can keep: "within a week," not "24/7"</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Who maintains</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How decisions get made. Solo: how does a contributor's proposal get decided, and where?</a:t>
            </a:r>
            <a:endParaRPr lang="en-US" sz="1600" dirty="0"/>
          </a:p>
        </p:txBody>
      </p:sp>
      <p:sp>
        <p:nvSpPr>
          <p:cNvPr id="26" name="Shape 2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Target: both drafted far enough that a stranger can read them, merged or on an open PR.</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STRANGER'S READ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your partner's front door cold</a:t>
            </a:r>
            <a:endParaRPr lang="en-US" sz="3200" dirty="0"/>
          </a:p>
        </p:txBody>
      </p:sp>
      <p:sp>
        <p:nvSpPr>
          <p:cNvPr id="6" name="Shape 4"/>
          <p:cNvSpPr/>
          <p:nvPr/>
        </p:nvSpPr>
        <p:spPr>
          <a:xfrm>
            <a:off x="548640" y="178308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1920240"/>
            <a:ext cx="475488" cy="475488"/>
          </a:xfrm>
          <a:prstGeom prst="ellipse">
            <a:avLst/>
          </a:prstGeom>
          <a:solidFill>
            <a:srgbClr val="E8A33D"/>
          </a:solidFill>
          <a:ln/>
        </p:spPr>
      </p:sp>
      <p:sp>
        <p:nvSpPr>
          <p:cNvPr id="8" name="Text 6"/>
          <p:cNvSpPr/>
          <p:nvPr/>
        </p:nvSpPr>
        <p:spPr>
          <a:xfrm>
            <a:off x="777240" y="192024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463040" y="178308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Open it the way a stranger would</a:t>
            </a:r>
            <a:endParaRPr lang="en-US" sz="1700" dirty="0"/>
          </a:p>
        </p:txBody>
      </p:sp>
      <p:sp>
        <p:nvSpPr>
          <p:cNvPr id="10" name="Text 8"/>
          <p:cNvSpPr/>
          <p:nvPr/>
        </p:nvSpPr>
        <p:spPr>
          <a:xfrm>
            <a:off x="5120640" y="178308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Private, logged-out browser window. Their repo, not their screen.</a:t>
            </a:r>
            <a:endParaRPr lang="en-US" sz="1500" dirty="0"/>
          </a:p>
        </p:txBody>
      </p:sp>
      <p:sp>
        <p:nvSpPr>
          <p:cNvPr id="11" name="Shape 9"/>
          <p:cNvSpPr/>
          <p:nvPr/>
        </p:nvSpPr>
        <p:spPr>
          <a:xfrm>
            <a:off x="548640" y="265176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2788920"/>
            <a:ext cx="475488" cy="475488"/>
          </a:xfrm>
          <a:prstGeom prst="ellipse">
            <a:avLst/>
          </a:prstGeom>
          <a:solidFill>
            <a:srgbClr val="E8A33D"/>
          </a:solidFill>
          <a:ln/>
        </p:spPr>
      </p:sp>
      <p:sp>
        <p:nvSpPr>
          <p:cNvPr id="13" name="Text 11"/>
          <p:cNvSpPr/>
          <p:nvPr/>
        </p:nvSpPr>
        <p:spPr>
          <a:xfrm>
            <a:off x="777240" y="278892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463040" y="265176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README, then CONTRIBUTING</a:t>
            </a:r>
            <a:endParaRPr lang="en-US" sz="1700" dirty="0"/>
          </a:p>
        </p:txBody>
      </p:sp>
      <p:sp>
        <p:nvSpPr>
          <p:cNvPr id="15" name="Text 13"/>
          <p:cNvSpPr/>
          <p:nvPr/>
        </p:nvSpPr>
        <p:spPr>
          <a:xfrm>
            <a:off x="5120640" y="265176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About five minutes each. Don't ask the author anything; if you'd have to ask, write it down.</a:t>
            </a:r>
            <a:endParaRPr lang="en-US" sz="1500" dirty="0"/>
          </a:p>
        </p:txBody>
      </p:sp>
      <p:sp>
        <p:nvSpPr>
          <p:cNvPr id="16" name="Shape 14"/>
          <p:cNvSpPr/>
          <p:nvPr/>
        </p:nvSpPr>
        <p:spPr>
          <a:xfrm>
            <a:off x="548640" y="352044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3657600"/>
            <a:ext cx="475488" cy="475488"/>
          </a:xfrm>
          <a:prstGeom prst="ellipse">
            <a:avLst/>
          </a:prstGeom>
          <a:solidFill>
            <a:srgbClr val="E8A33D"/>
          </a:solidFill>
          <a:ln/>
        </p:spPr>
      </p:sp>
      <p:sp>
        <p:nvSpPr>
          <p:cNvPr id="18" name="Text 16"/>
          <p:cNvSpPr/>
          <p:nvPr/>
        </p:nvSpPr>
        <p:spPr>
          <a:xfrm>
            <a:off x="777240" y="365760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463040" y="352044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Fill in the Stranger's Read sheet</a:t>
            </a:r>
            <a:endParaRPr lang="en-US" sz="1700" dirty="0"/>
          </a:p>
        </p:txBody>
      </p:sp>
      <p:sp>
        <p:nvSpPr>
          <p:cNvPr id="20" name="Text 18"/>
          <p:cNvSpPr/>
          <p:nvPr/>
        </p:nvSpPr>
        <p:spPr>
          <a:xfrm>
            <a:off x="5120640" y="352044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What is this? How would I start helping? The one thing that most stopped me. Tick what the docs told you.</a:t>
            </a:r>
            <a:endParaRPr lang="en-US" sz="1500" dirty="0"/>
          </a:p>
        </p:txBody>
      </p:sp>
      <p:sp>
        <p:nvSpPr>
          <p:cNvPr id="21" name="Shape 19"/>
          <p:cNvSpPr/>
          <p:nvPr/>
        </p:nvSpPr>
        <p:spPr>
          <a:xfrm>
            <a:off x="548640" y="438912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77240" y="4526280"/>
            <a:ext cx="475488" cy="475488"/>
          </a:xfrm>
          <a:prstGeom prst="ellipse">
            <a:avLst/>
          </a:prstGeom>
          <a:solidFill>
            <a:srgbClr val="E8A33D"/>
          </a:solidFill>
          <a:ln/>
        </p:spPr>
      </p:sp>
      <p:sp>
        <p:nvSpPr>
          <p:cNvPr id="23" name="Text 21"/>
          <p:cNvSpPr/>
          <p:nvPr/>
        </p:nvSpPr>
        <p:spPr>
          <a:xfrm>
            <a:off x="777240" y="452628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4" name="Text 22"/>
          <p:cNvSpPr/>
          <p:nvPr/>
        </p:nvSpPr>
        <p:spPr>
          <a:xfrm>
            <a:off x="1463040" y="438912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 it back</a:t>
            </a:r>
            <a:endParaRPr lang="en-US" sz="1700" dirty="0"/>
          </a:p>
        </p:txBody>
      </p:sp>
      <p:sp>
        <p:nvSpPr>
          <p:cNvPr id="25" name="Text 23"/>
          <p:cNvSpPr/>
          <p:nvPr/>
        </p:nvSpPr>
        <p:spPr>
          <a:xfrm>
            <a:off x="5120640" y="438912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The author keeps it, acts on it, and submits a photo of it with CP7.</a:t>
            </a:r>
            <a:endParaRPr lang="en-US" sz="1500" dirty="0"/>
          </a:p>
        </p:txBody>
      </p:sp>
      <p:sp>
        <p:nvSpPr>
          <p:cNvPr id="26" name="Shape 2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349240"/>
            <a:ext cx="10424160" cy="82296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The author is the worst reader of their own docs: they already know everything the docs leave out.</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ACT ON IT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your sheet, then fix or file</a:t>
            </a:r>
            <a:endParaRPr lang="en-US" sz="3100" dirty="0"/>
          </a:p>
        </p:txBody>
      </p:sp>
      <p:sp>
        <p:nvSpPr>
          <p:cNvPr id="5" name="Shape 3"/>
          <p:cNvSpPr/>
          <p:nvPr/>
        </p:nvSpPr>
        <p:spPr>
          <a:xfrm>
            <a:off x="548640" y="1783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9601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If your partner's "what is this?" doesn't match what you meant, your first sentence isn't done.</a:t>
            </a:r>
            <a:endParaRPr lang="en-US" sz="2000" dirty="0"/>
          </a:p>
        </p:txBody>
      </p:sp>
      <p:sp>
        <p:nvSpPr>
          <p:cNvPr id="7" name="Shape 5"/>
          <p:cNvSpPr/>
          <p:nvPr/>
        </p:nvSpPr>
        <p:spPr>
          <a:xfrm>
            <a:off x="54864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22960" y="3200400"/>
            <a:ext cx="603504" cy="603504"/>
          </a:xfrm>
          <a:prstGeom prst="ellipse">
            <a:avLst/>
          </a:prstGeom>
          <a:solidFill>
            <a:srgbClr val="12908F"/>
          </a:solidFill>
          <a:ln/>
        </p:spPr>
      </p:sp>
      <p:pic>
        <p:nvPicPr>
          <p:cNvPr id="9" name="Image 0" descr="preencoded.png">    </p:cNvPr>
          <p:cNvPicPr>
            <a:picLocks noChangeAspect="1"/>
          </p:cNvPicPr>
          <p:nvPr/>
        </p:nvPicPr>
        <p:blipFill>
          <a:blip r:embed="rId1"/>
          <a:stretch>
            <a:fillRect/>
          </a:stretch>
        </p:blipFill>
        <p:spPr>
          <a:xfrm>
            <a:off x="985906" y="3363346"/>
            <a:ext cx="277612" cy="277612"/>
          </a:xfrm>
          <a:prstGeom prst="rect">
            <a:avLst/>
          </a:prstGeom>
        </p:spPr>
      </p:pic>
      <p:sp>
        <p:nvSpPr>
          <p:cNvPr id="10" name="Text 7"/>
          <p:cNvSpPr/>
          <p:nvPr/>
        </p:nvSpPr>
        <p:spPr>
          <a:xfrm>
            <a:off x="160020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Fix it or file it</a:t>
            </a:r>
            <a:endParaRPr lang="en-US" sz="1900" dirty="0"/>
          </a:p>
        </p:txBody>
      </p:sp>
      <p:sp>
        <p:nvSpPr>
          <p:cNvPr id="11" name="Text 8"/>
          <p:cNvSpPr/>
          <p:nvPr/>
        </p:nvSpPr>
        <p:spPr>
          <a:xfrm>
            <a:off x="82296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Under ten minutes: fix it now. Bigger: file an issue. Write the number on the sheet and say "from the stranger's read" in the description. Keep the sheet: finish the rest by Friday and photograph it for CP7.</a:t>
            </a:r>
            <a:endParaRPr lang="en-US" sz="1550" dirty="0"/>
          </a:p>
        </p:txBody>
      </p:sp>
      <p:sp>
        <p:nvSpPr>
          <p:cNvPr id="12" name="Shape 9"/>
          <p:cNvSpPr/>
          <p:nvPr/>
        </p:nvSpPr>
        <p:spPr>
          <a:xfrm>
            <a:off x="429768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572000" y="3200400"/>
            <a:ext cx="603504" cy="603504"/>
          </a:xfrm>
          <a:prstGeom prst="ellipse">
            <a:avLst/>
          </a:prstGeom>
          <a:solidFill>
            <a:srgbClr val="12908F"/>
          </a:solidFill>
          <a:ln/>
        </p:spPr>
      </p:sp>
      <p:pic>
        <p:nvPicPr>
          <p:cNvPr id="14" name="Image 1" descr="preencoded.png">    </p:cNvPr>
          <p:cNvPicPr>
            <a:picLocks noChangeAspect="1"/>
          </p:cNvPicPr>
          <p:nvPr/>
        </p:nvPicPr>
        <p:blipFill>
          <a:blip r:embed="rId2"/>
          <a:stretch>
            <a:fillRect/>
          </a:stretch>
        </p:blipFill>
        <p:spPr>
          <a:xfrm>
            <a:off x="4734946" y="3363346"/>
            <a:ext cx="277612" cy="277612"/>
          </a:xfrm>
          <a:prstGeom prst="rect">
            <a:avLst/>
          </a:prstGeom>
        </p:spPr>
      </p:pic>
      <p:sp>
        <p:nvSpPr>
          <p:cNvPr id="15" name="Text 11"/>
          <p:cNvSpPr/>
          <p:nvPr/>
        </p:nvSpPr>
        <p:spPr>
          <a:xfrm>
            <a:off x="534924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Seed the tracker</a:t>
            </a:r>
            <a:endParaRPr lang="en-US" sz="1900" dirty="0"/>
          </a:p>
        </p:txBody>
      </p:sp>
      <p:sp>
        <p:nvSpPr>
          <p:cNvPr id="16" name="Text 12"/>
          <p:cNvSpPr/>
          <p:nvPr/>
        </p:nvSpPr>
        <p:spPr>
          <a:xfrm>
            <a:off x="457200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2–3 real next-work issues, written through your own templates. The setup-guide issue counts as one. They start Monday's backlog.</a:t>
            </a:r>
            <a:endParaRPr lang="en-US" sz="1550" dirty="0"/>
          </a:p>
        </p:txBody>
      </p:sp>
      <p:sp>
        <p:nvSpPr>
          <p:cNvPr id="17" name="Shape 13"/>
          <p:cNvSpPr/>
          <p:nvPr/>
        </p:nvSpPr>
        <p:spPr>
          <a:xfrm>
            <a:off x="804672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21040" y="3200400"/>
            <a:ext cx="603504" cy="60350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483986" y="3363346"/>
            <a:ext cx="277612" cy="277612"/>
          </a:xfrm>
          <a:prstGeom prst="rect">
            <a:avLst/>
          </a:prstGeom>
        </p:spPr>
      </p:pic>
      <p:sp>
        <p:nvSpPr>
          <p:cNvPr id="20" name="Text 15"/>
          <p:cNvSpPr/>
          <p:nvPr/>
        </p:nvSpPr>
        <p:spPr>
          <a:xfrm>
            <a:off x="909828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Time left?</a:t>
            </a:r>
            <a:endParaRPr lang="en-US" sz="1900" dirty="0"/>
          </a:p>
        </p:txBody>
      </p:sp>
      <p:sp>
        <p:nvSpPr>
          <p:cNvPr id="21" name="Text 16"/>
          <p:cNvSpPr/>
          <p:nvPr/>
        </p:nvSpPr>
        <p:spPr>
          <a:xfrm>
            <a:off x="832104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Review your partner's open PRs. A real review comment is CP9 evidence; save the link.</a:t>
            </a:r>
            <a:endParaRPr lang="en-US" sz="155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SUBMITTING CP7</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Tag it, the way a project marks a release</a:t>
            </a:r>
            <a:endParaRPr lang="en-US" sz="3100" dirty="0"/>
          </a:p>
        </p:txBody>
      </p:sp>
      <p:sp>
        <p:nvSpPr>
          <p:cNvPr id="5" name="Text 3"/>
          <p:cNvSpPr/>
          <p:nvPr/>
        </p:nvSpPr>
        <p:spPr>
          <a:xfrm>
            <a:off x="548640" y="1737360"/>
            <a:ext cx="10972800" cy="36576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When everything is merged to main:</a:t>
            </a:r>
            <a:endParaRPr lang="en-US" sz="1600" dirty="0"/>
          </a:p>
        </p:txBody>
      </p:sp>
      <p:sp>
        <p:nvSpPr>
          <p:cNvPr id="6" name="Shape 4"/>
          <p:cNvSpPr/>
          <p:nvPr/>
        </p:nvSpPr>
        <p:spPr>
          <a:xfrm>
            <a:off x="548640" y="2148840"/>
            <a:ext cx="11064240" cy="1600200"/>
          </a:xfrm>
          <a:prstGeom prst="roundRect">
            <a:avLst>
              <a:gd name="adj" fmla="val 457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10515600" cy="1271016"/>
          </a:xfrm>
          <a:prstGeom prst="rect">
            <a:avLst/>
          </a:prstGeom>
          <a:noFill/>
          <a:ln/>
        </p:spPr>
        <p:txBody>
          <a:bodyPr wrap="square" lIns="0" tIns="0" rIns="0" bIns="0" rtlCol="0" anchor="t"/>
          <a:lstStyle/>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switch main &amp;&amp; git pull</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tag -a cp7 -m "CP7: infrastructure package"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push origin cp7</a:t>
            </a:r>
            <a:endParaRPr lang="en-US" sz="1800" dirty="0"/>
          </a:p>
        </p:txBody>
      </p:sp>
      <p:sp>
        <p:nvSpPr>
          <p:cNvPr id="8" name="Shape 6"/>
          <p:cNvSpPr/>
          <p:nvPr/>
        </p:nvSpPr>
        <p:spPr>
          <a:xfrm>
            <a:off x="54864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822960" y="4206240"/>
            <a:ext cx="566928" cy="566928"/>
          </a:xfrm>
          <a:prstGeom prst="ellipse">
            <a:avLst/>
          </a:prstGeom>
          <a:solidFill>
            <a:srgbClr val="12908F"/>
          </a:solidFill>
          <a:ln/>
        </p:spPr>
      </p:sp>
      <p:pic>
        <p:nvPicPr>
          <p:cNvPr id="10" name="Image 0" descr="preencoded.png">    </p:cNvPr>
          <p:cNvPicPr>
            <a:picLocks noChangeAspect="1"/>
          </p:cNvPicPr>
          <p:nvPr/>
        </p:nvPicPr>
        <p:blipFill>
          <a:blip r:embed="rId1"/>
          <a:stretch>
            <a:fillRect/>
          </a:stretch>
        </p:blipFill>
        <p:spPr>
          <a:xfrm>
            <a:off x="976031" y="4359311"/>
            <a:ext cx="260787" cy="260787"/>
          </a:xfrm>
          <a:prstGeom prst="rect">
            <a:avLst/>
          </a:prstGeom>
        </p:spPr>
      </p:pic>
      <p:sp>
        <p:nvSpPr>
          <p:cNvPr id="11" name="Text 8"/>
          <p:cNvSpPr/>
          <p:nvPr/>
        </p:nvSpPr>
        <p:spPr>
          <a:xfrm>
            <a:off x="155448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In Canvas, paste the tag URL</a:t>
            </a:r>
            <a:endParaRPr lang="en-US" sz="1800" dirty="0"/>
          </a:p>
        </p:txBody>
      </p:sp>
      <p:sp>
        <p:nvSpPr>
          <p:cNvPr id="12" name="Text 9"/>
          <p:cNvSpPr/>
          <p:nvPr/>
        </p:nvSpPr>
        <p:spPr>
          <a:xfrm>
            <a:off x="86868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…/YOUR-REPO/tree/cp7. That frozen state is what's graded, so work you merge later doesn't change it.</a:t>
            </a:r>
            <a:endParaRPr lang="en-US" sz="1550" dirty="0"/>
          </a:p>
        </p:txBody>
      </p:sp>
      <p:sp>
        <p:nvSpPr>
          <p:cNvPr id="13" name="Shape 10"/>
          <p:cNvSpPr/>
          <p:nvPr/>
        </p:nvSpPr>
        <p:spPr>
          <a:xfrm>
            <a:off x="617220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14" name="Shape 11"/>
          <p:cNvSpPr/>
          <p:nvPr/>
        </p:nvSpPr>
        <p:spPr>
          <a:xfrm>
            <a:off x="6446520" y="4206240"/>
            <a:ext cx="566928" cy="566928"/>
          </a:xfrm>
          <a:prstGeom prst="ellipse">
            <a:avLst/>
          </a:prstGeom>
          <a:solidFill>
            <a:srgbClr val="12908F"/>
          </a:solidFill>
          <a:ln/>
        </p:spPr>
      </p:sp>
      <p:pic>
        <p:nvPicPr>
          <p:cNvPr id="15" name="Image 1" descr="preencoded.png">    </p:cNvPr>
          <p:cNvPicPr>
            <a:picLocks noChangeAspect="1"/>
          </p:cNvPicPr>
          <p:nvPr/>
        </p:nvPicPr>
        <p:blipFill>
          <a:blip r:embed="rId2"/>
          <a:stretch>
            <a:fillRect/>
          </a:stretch>
        </p:blipFill>
        <p:spPr>
          <a:xfrm>
            <a:off x="6599591" y="4359311"/>
            <a:ext cx="260787" cy="260787"/>
          </a:xfrm>
          <a:prstGeom prst="rect">
            <a:avLst/>
          </a:prstGeom>
        </p:spPr>
      </p:pic>
      <p:sp>
        <p:nvSpPr>
          <p:cNvPr id="16" name="Text 12"/>
          <p:cNvSpPr/>
          <p:nvPr/>
        </p:nvSpPr>
        <p:spPr>
          <a:xfrm>
            <a:off x="717804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Add a photo of the sheet</a:t>
            </a:r>
            <a:endParaRPr lang="en-US" sz="1800" dirty="0"/>
          </a:p>
        </p:txBody>
      </p:sp>
      <p:sp>
        <p:nvSpPr>
          <p:cNvPr id="17" name="Text 13"/>
          <p:cNvSpPr/>
          <p:nvPr/>
        </p:nvSpPr>
        <p:spPr>
          <a:xfrm>
            <a:off x="649224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 Stranger's Read sheet, with what you did about it filled in. Flat page, good light, legible.</a:t>
            </a:r>
            <a:endParaRPr lang="en-US" sz="155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bar for every file isn't "exists." It's "works for a stranger."</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BY END OF DAY FRIDAY, OCT 30</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CONTRIBUTING and the norms finished; the read acted on; everything merged to main</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Tag cp7, then submit the tag URL and a photo of your sheet in Canvas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Save today's links for CP9: PR descriptions, review comments, seed issues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Monday, Nov 2: Phase 4 begins. Today's seed issues are the first items in your backlog.</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16 — Ship the Front Door</dc:title>
  <dc:subject>PptxGenJS Presentation</dc:subject>
  <dc:creator>CS 301R</dc:creator>
  <cp:lastModifiedBy>CS 301R</cp:lastModifiedBy>
  <cp:revision>1</cp:revision>
  <dcterms:created xsi:type="dcterms:W3CDTF">2026-10-28T13:25:40Z</dcterms:created>
  <dcterms:modified xsi:type="dcterms:W3CDTF">2026-10-28T13:25:40Z</dcterms:modified>
</cp:coreProperties>
</file>