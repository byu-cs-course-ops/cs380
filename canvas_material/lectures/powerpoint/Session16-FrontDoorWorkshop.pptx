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heads-down build day; the slides are signposts, not a lecture. Before class: cut the Stranger's Read sheets (two per page, one per student plus spares), have spare CP7 Checklists, and open Prop Loft at tag session-16 plus the Contributor Covenant, choosealicense.com, and GitHub's issue-form and label docs. Settle the reading pairs: two pairs with four students, a rotating triple for an odd count, and you read for anyone whose partner is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at the start of each block; it's the clock for people working alone. The right column is the target state at each block's end, so a founder can tell whether they're on pace. The highlighted block is the one thing that needs another person, so it doesn't move. On a team the same list parallelizes: split the finish items and cross-review the PRs; the order and the stranger's read stay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no more. Each founder says both sentences aloud or writes them; push back on 'as much as I can.' First click: the rules of the day. People lose time writing a code of conduct from scratch, or copying a README template that says nothing about their project. Second click: everything goes through a PR, even solo. On a one-person project that's a PR plus a written self-review against the checklist; partners can review later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in the browser if you can. Prop Loft is built ahead of the class, and each session's state is a tag; session-16 is today's. Point at two things: CONTRIBUTING opens with a welcome, not rules, and the code of conduct is adopted, not rewritten. Then tell them to close the tab. The example shows what each file is for; copying its sentences produces a front door about someone else's project, and the stranger's read will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one small PR per item. Rove hard. Spot-check license fields: MIT and BSD need a year and holder; Apache's '[yyyy] [name of copyright owner]' line is a file-header template in the appendix and stays as written, so don't flag it. Check reporting contacts: an address they'll actually read, a response time, and, solo, GitHub's reporting tools for reports about the maintainer. Read README first sentences back to their authors: would a stranger know what this is? The placeholder takes five minutes; don't let anyone write real setup steps for code that doesn't exist yet. That guide comes in Session 20. Warn at ten minutes and at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as block 1 opens, because templates are on its list. Left: the bug form is Monday's anatomy turned into required fields, so a reporter can't skip steps or expected-versus-actual. Click: the feature form is the other half of Monday, the need, the user, and today's workaround, with the solution last and optional. Rich's form said no to new features; this one points at the non-goals instead. Click: labels. Point them at github.com/prop-loft/prop-loft/tree/session-16/.github/ISSUE_TEMPLATE for the YAML; their fields should fit their own project. Say that both kinds are fine: forms (.yml, what Prop Loft uses) can require fields; Markdown templates (.md, what Rich and most repos they'll browse use) are a pre-filled text box, quicker to write. Same folder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shown during block 1 for anyone stuck on the README. This is the shape the rubric gives full credit for, and it's true of any project in early development: say what state it's in, what's coming, and where that's tracked. The stack line comes straight from the design doc. Install and run get graded later, in the repo audit, once there's something to run. A quickstart that fails costs points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These can't be finished here, and that's the plan: get both far enough to be read in the next block. The amber steps are the ones first drafts skip; most CONTRIBUTING files start with rules. Push on 'what should a newcomer do first?' The norms are the public parts of the charter, rewritten for a stranger. Solo founders still owe an answer on decisions. At two minutes: push what you have, even 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sheets. Pairs swap; in a triple, rotate so each person reads one repo and is read by one; read for anyone whose partner is out. Insist on the logged-out window, because a signed-in view hides what a stranger can't see. Readers who finish early should reread the README's first paragraph only and check whether their 'what is this?' still holds. Ten minutes reading, five writing. Authors stay quiet; explaining your docs is the thing the docs should have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The top line is the test: ask two or three founders to read their partner's 'what is this?' aloud next to their own first sentence. The citation in the PR or issue is how the fix traces back to the read for grading. Seed issues are real next work, not busywork; they're the first items in Monday's backlog (CP8). Anything unfinished is fine as long as it's done by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Run the three commands live on Prop Loft or any repo so they see the tag appear on GitHub. A tag is how real projects mark a release: it names a state that doesn't move when main does. To resubmit before the deadline, or for a revision, move the tag with tag -fa and push -f, then resubmit; the handout has the commands. No sheet photo caps Newcomer usability at Proficient.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Say the one-liner, then the Friday list. In three weeks a classmate audits these repos cold, for a grade, and adds install and run; today's read was the preview. Remind them that CP9 is due Nov 18 and that today produced good portfolio material. Monday turns the proposal and design into epics, milestones, and a populated tracker (CP8), starting from the seed issues filed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Ship the Front Door</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16 — infrastructure build workshop</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October 28,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 · THE ORDER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Finish the fast items, start the rest, get read cold</a:t>
            </a:r>
            <a:endParaRPr lang="en-US" sz="3100" dirty="0"/>
          </a:p>
        </p:txBody>
      </p:sp>
      <p:sp>
        <p:nvSpPr>
          <p:cNvPr id="5" name="Shape 3"/>
          <p:cNvSpPr/>
          <p:nvPr/>
        </p:nvSpPr>
        <p:spPr>
          <a:xfrm>
            <a:off x="548640" y="17830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74520"/>
            <a:ext cx="438912" cy="438912"/>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3178" y="1993026"/>
            <a:ext cx="201900" cy="201900"/>
          </a:xfrm>
          <a:prstGeom prst="rect">
            <a:avLst/>
          </a:prstGeom>
        </p:spPr>
      </p:pic>
      <p:sp>
        <p:nvSpPr>
          <p:cNvPr id="8" name="Text 5"/>
          <p:cNvSpPr/>
          <p:nvPr/>
        </p:nvSpPr>
        <p:spPr>
          <a:xfrm>
            <a:off x="1463040" y="1783080"/>
            <a:ext cx="338328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Punch-list check</a:t>
            </a:r>
            <a:endParaRPr lang="en-US" sz="1800" dirty="0"/>
          </a:p>
        </p:txBody>
      </p:sp>
      <p:sp>
        <p:nvSpPr>
          <p:cNvPr id="9" name="Text 6"/>
          <p:cNvSpPr/>
          <p:nvPr/>
        </p:nvSpPr>
        <p:spPr>
          <a:xfrm>
            <a:off x="4846320" y="1783080"/>
            <a:ext cx="5669280" cy="621792"/>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Your plan for today and for Friday, written down</a:t>
            </a:r>
            <a:endParaRPr lang="en-US" sz="1500" dirty="0"/>
          </a:p>
        </p:txBody>
      </p:sp>
      <p:sp>
        <p:nvSpPr>
          <p:cNvPr id="10" name="Text 7"/>
          <p:cNvSpPr/>
          <p:nvPr/>
        </p:nvSpPr>
        <p:spPr>
          <a:xfrm>
            <a:off x="10424160" y="1783080"/>
            <a:ext cx="9601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11" name="Shape 8"/>
          <p:cNvSpPr/>
          <p:nvPr/>
        </p:nvSpPr>
        <p:spPr>
          <a:xfrm>
            <a:off x="548640" y="251460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2" name="Shape 9"/>
          <p:cNvSpPr/>
          <p:nvPr/>
        </p:nvSpPr>
        <p:spPr>
          <a:xfrm>
            <a:off x="804672" y="2606040"/>
            <a:ext cx="438912" cy="438912"/>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923178" y="2724546"/>
            <a:ext cx="201900" cy="201900"/>
          </a:xfrm>
          <a:prstGeom prst="rect">
            <a:avLst/>
          </a:prstGeom>
        </p:spPr>
      </p:pic>
      <p:sp>
        <p:nvSpPr>
          <p:cNvPr id="14" name="Text 10"/>
          <p:cNvSpPr/>
          <p:nvPr/>
        </p:nvSpPr>
        <p:spPr>
          <a:xfrm>
            <a:off x="1463040" y="2514600"/>
            <a:ext cx="338328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Finish the fast items</a:t>
            </a:r>
            <a:endParaRPr lang="en-US" sz="1800" dirty="0"/>
          </a:p>
        </p:txBody>
      </p:sp>
      <p:sp>
        <p:nvSpPr>
          <p:cNvPr id="15" name="Text 11"/>
          <p:cNvSpPr/>
          <p:nvPr/>
        </p:nvSpPr>
        <p:spPr>
          <a:xfrm>
            <a:off x="4846320" y="2514600"/>
            <a:ext cx="5669280" cy="621792"/>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README status, setup placeholder, LICENSE, code of conduct, templates + labels: merged</a:t>
            </a:r>
            <a:endParaRPr lang="en-US" sz="1500" dirty="0"/>
          </a:p>
        </p:txBody>
      </p:sp>
      <p:sp>
        <p:nvSpPr>
          <p:cNvPr id="16" name="Text 12"/>
          <p:cNvSpPr/>
          <p:nvPr/>
        </p:nvSpPr>
        <p:spPr>
          <a:xfrm>
            <a:off x="10424160" y="2514600"/>
            <a:ext cx="9601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20 min</a:t>
            </a:r>
            <a:endParaRPr lang="en-US" sz="1600" dirty="0"/>
          </a:p>
        </p:txBody>
      </p:sp>
      <p:sp>
        <p:nvSpPr>
          <p:cNvPr id="17" name="Shape 13"/>
          <p:cNvSpPr/>
          <p:nvPr/>
        </p:nvSpPr>
        <p:spPr>
          <a:xfrm>
            <a:off x="548640" y="324612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804672" y="3337560"/>
            <a:ext cx="438912" cy="438912"/>
          </a:xfrm>
          <a:prstGeom prst="ellipse">
            <a:avLst/>
          </a:prstGeom>
          <a:solidFill>
            <a:srgbClr val="12908F"/>
          </a:solidFill>
          <a:ln/>
        </p:spPr>
      </p:sp>
      <p:pic>
        <p:nvPicPr>
          <p:cNvPr id="19" name="Image 2" descr="preencoded.png">    </p:cNvPr>
          <p:cNvPicPr>
            <a:picLocks noChangeAspect="1"/>
          </p:cNvPicPr>
          <p:nvPr/>
        </p:nvPicPr>
        <p:blipFill>
          <a:blip r:embed="rId3"/>
          <a:stretch>
            <a:fillRect/>
          </a:stretch>
        </p:blipFill>
        <p:spPr>
          <a:xfrm>
            <a:off x="923178" y="3456066"/>
            <a:ext cx="201900" cy="201900"/>
          </a:xfrm>
          <a:prstGeom prst="rect">
            <a:avLst/>
          </a:prstGeom>
        </p:spPr>
      </p:pic>
      <p:sp>
        <p:nvSpPr>
          <p:cNvPr id="20" name="Text 15"/>
          <p:cNvSpPr/>
          <p:nvPr/>
        </p:nvSpPr>
        <p:spPr>
          <a:xfrm>
            <a:off x="1463040" y="3246120"/>
            <a:ext cx="338328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Start CONTRIBUTING + norms</a:t>
            </a:r>
            <a:endParaRPr lang="en-US" sz="1800" dirty="0"/>
          </a:p>
        </p:txBody>
      </p:sp>
      <p:sp>
        <p:nvSpPr>
          <p:cNvPr id="21" name="Text 16"/>
          <p:cNvSpPr/>
          <p:nvPr/>
        </p:nvSpPr>
        <p:spPr>
          <a:xfrm>
            <a:off x="4846320" y="3246120"/>
            <a:ext cx="5669280" cy="621792"/>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Both drafted far enough to read: merged or on an open PR</a:t>
            </a:r>
            <a:endParaRPr lang="en-US" sz="1500" dirty="0"/>
          </a:p>
        </p:txBody>
      </p:sp>
      <p:sp>
        <p:nvSpPr>
          <p:cNvPr id="22" name="Text 17"/>
          <p:cNvSpPr/>
          <p:nvPr/>
        </p:nvSpPr>
        <p:spPr>
          <a:xfrm>
            <a:off x="10424160" y="3246120"/>
            <a:ext cx="9601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20 min</a:t>
            </a:r>
            <a:endParaRPr lang="en-US" sz="1600" dirty="0"/>
          </a:p>
        </p:txBody>
      </p:sp>
      <p:sp>
        <p:nvSpPr>
          <p:cNvPr id="23" name="Shape 18"/>
          <p:cNvSpPr/>
          <p:nvPr/>
        </p:nvSpPr>
        <p:spPr>
          <a:xfrm>
            <a:off x="548640" y="3977640"/>
            <a:ext cx="11064240" cy="621792"/>
          </a:xfrm>
          <a:prstGeom prst="roundRect">
            <a:avLst>
              <a:gd name="adj" fmla="val 13235"/>
            </a:avLst>
          </a:prstGeom>
          <a:solidFill>
            <a:srgbClr val="14233A"/>
          </a:solidFill>
          <a:ln/>
          <a:effectLst>
            <a:outerShdw sx="100000" sy="100000" kx="0" ky="0" algn="bl" rotWithShape="0" blurRad="88900" dist="38100" dir="5400000">
              <a:srgbClr val="000000">
                <a:alpha val="13000"/>
              </a:srgbClr>
            </a:outerShdw>
          </a:effectLst>
        </p:spPr>
      </p:sp>
      <p:sp>
        <p:nvSpPr>
          <p:cNvPr id="24" name="Shape 19"/>
          <p:cNvSpPr/>
          <p:nvPr/>
        </p:nvSpPr>
        <p:spPr>
          <a:xfrm>
            <a:off x="804672" y="4069080"/>
            <a:ext cx="438912" cy="438912"/>
          </a:xfrm>
          <a:prstGeom prst="ellipse">
            <a:avLst/>
          </a:prstGeom>
          <a:solidFill>
            <a:srgbClr val="E8A33D"/>
          </a:solidFill>
          <a:ln/>
        </p:spPr>
      </p:sp>
      <p:pic>
        <p:nvPicPr>
          <p:cNvPr id="25" name="Image 3" descr="preencoded.png">    </p:cNvPr>
          <p:cNvPicPr>
            <a:picLocks noChangeAspect="1"/>
          </p:cNvPicPr>
          <p:nvPr/>
        </p:nvPicPr>
        <p:blipFill>
          <a:blip r:embed="rId4"/>
          <a:stretch>
            <a:fillRect/>
          </a:stretch>
        </p:blipFill>
        <p:spPr>
          <a:xfrm>
            <a:off x="923178" y="4187586"/>
            <a:ext cx="201900" cy="201900"/>
          </a:xfrm>
          <a:prstGeom prst="rect">
            <a:avLst/>
          </a:prstGeom>
        </p:spPr>
      </p:pic>
      <p:sp>
        <p:nvSpPr>
          <p:cNvPr id="26" name="Text 20"/>
          <p:cNvSpPr/>
          <p:nvPr/>
        </p:nvSpPr>
        <p:spPr>
          <a:xfrm>
            <a:off x="1463040" y="3977640"/>
            <a:ext cx="3383280" cy="62179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Stranger's read</a:t>
            </a:r>
            <a:endParaRPr lang="en-US" sz="1800" dirty="0"/>
          </a:p>
        </p:txBody>
      </p:sp>
      <p:sp>
        <p:nvSpPr>
          <p:cNvPr id="27" name="Text 21"/>
          <p:cNvSpPr/>
          <p:nvPr/>
        </p:nvSpPr>
        <p:spPr>
          <a:xfrm>
            <a:off x="4846320" y="3977640"/>
            <a:ext cx="5669280" cy="621792"/>
          </a:xfrm>
          <a:prstGeom prst="rect">
            <a:avLst/>
          </a:prstGeom>
          <a:noFill/>
          <a:ln/>
        </p:spPr>
        <p:txBody>
          <a:bodyPr wrap="square" lIns="0" tIns="0" rIns="0" bIns="0" rtlCol="0" anchor="ctr"/>
          <a:lstStyle/>
          <a:p>
            <a:pPr indent="0" marL="0">
              <a:buNone/>
            </a:pPr>
            <a:r>
              <a:rPr lang="en-US" sz="1500" dirty="0">
                <a:solidFill>
                  <a:srgbClr val="CFE0E9"/>
                </a:solidFill>
                <a:latin typeface="Calibri" pitchFamily="34" charset="0"/>
                <a:ea typeface="Calibri" pitchFamily="34" charset="-122"/>
                <a:cs typeface="Calibri" pitchFamily="34" charset="-120"/>
              </a:rPr>
              <a:t>Your partner reads your README and CONTRIBUTING cold</a:t>
            </a:r>
            <a:endParaRPr lang="en-US" sz="1500" dirty="0"/>
          </a:p>
        </p:txBody>
      </p:sp>
      <p:sp>
        <p:nvSpPr>
          <p:cNvPr id="28" name="Text 22"/>
          <p:cNvSpPr/>
          <p:nvPr/>
        </p:nvSpPr>
        <p:spPr>
          <a:xfrm>
            <a:off x="10424160" y="3977640"/>
            <a:ext cx="960120" cy="62179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15 min</a:t>
            </a:r>
            <a:endParaRPr lang="en-US" sz="1600" dirty="0"/>
          </a:p>
        </p:txBody>
      </p:sp>
      <p:sp>
        <p:nvSpPr>
          <p:cNvPr id="29" name="Shape 23"/>
          <p:cNvSpPr/>
          <p:nvPr/>
        </p:nvSpPr>
        <p:spPr>
          <a:xfrm>
            <a:off x="548640" y="470916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30" name="Shape 24"/>
          <p:cNvSpPr/>
          <p:nvPr/>
        </p:nvSpPr>
        <p:spPr>
          <a:xfrm>
            <a:off x="804672" y="4800600"/>
            <a:ext cx="438912" cy="438912"/>
          </a:xfrm>
          <a:prstGeom prst="ellipse">
            <a:avLst/>
          </a:prstGeom>
          <a:solidFill>
            <a:srgbClr val="12908F"/>
          </a:solidFill>
          <a:ln/>
        </p:spPr>
      </p:sp>
      <p:pic>
        <p:nvPicPr>
          <p:cNvPr id="31" name="Image 4" descr="preencoded.png">    </p:cNvPr>
          <p:cNvPicPr>
            <a:picLocks noChangeAspect="1"/>
          </p:cNvPicPr>
          <p:nvPr/>
        </p:nvPicPr>
        <p:blipFill>
          <a:blip r:embed="rId5"/>
          <a:stretch>
            <a:fillRect/>
          </a:stretch>
        </p:blipFill>
        <p:spPr>
          <a:xfrm>
            <a:off x="923178" y="4919106"/>
            <a:ext cx="201900" cy="201900"/>
          </a:xfrm>
          <a:prstGeom prst="rect">
            <a:avLst/>
          </a:prstGeom>
        </p:spPr>
      </p:pic>
      <p:sp>
        <p:nvSpPr>
          <p:cNvPr id="32" name="Text 25"/>
          <p:cNvSpPr/>
          <p:nvPr/>
        </p:nvSpPr>
        <p:spPr>
          <a:xfrm>
            <a:off x="1463040" y="4709160"/>
            <a:ext cx="338328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Act on it + seed issues</a:t>
            </a:r>
            <a:endParaRPr lang="en-US" sz="1800" dirty="0"/>
          </a:p>
        </p:txBody>
      </p:sp>
      <p:sp>
        <p:nvSpPr>
          <p:cNvPr id="33" name="Text 26"/>
          <p:cNvSpPr/>
          <p:nvPr/>
        </p:nvSpPr>
        <p:spPr>
          <a:xfrm>
            <a:off x="4846320" y="4709160"/>
            <a:ext cx="5669280" cy="621792"/>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Fixes in or filed; 2–3 seed issues on your tracker</a:t>
            </a:r>
            <a:endParaRPr lang="en-US" sz="1500" dirty="0"/>
          </a:p>
        </p:txBody>
      </p:sp>
      <p:sp>
        <p:nvSpPr>
          <p:cNvPr id="34" name="Text 27"/>
          <p:cNvSpPr/>
          <p:nvPr/>
        </p:nvSpPr>
        <p:spPr>
          <a:xfrm>
            <a:off x="10424160" y="4709160"/>
            <a:ext cx="9601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10 min</a:t>
            </a:r>
            <a:endParaRPr lang="en-US" sz="1600" dirty="0"/>
          </a:p>
        </p:txBody>
      </p:sp>
      <p:sp>
        <p:nvSpPr>
          <p:cNvPr id="35" name="Shape 28"/>
          <p:cNvSpPr/>
          <p:nvPr/>
        </p:nvSpPr>
        <p:spPr>
          <a:xfrm>
            <a:off x="548640" y="5440680"/>
            <a:ext cx="11064240" cy="621792"/>
          </a:xfrm>
          <a:prstGeom prst="roundRect">
            <a:avLst>
              <a:gd name="adj" fmla="val 13235"/>
            </a:avLst>
          </a:prstGeom>
          <a:solidFill>
            <a:srgbClr val="F2F6F8"/>
          </a:solidFill>
          <a:ln/>
          <a:effectLst>
            <a:outerShdw sx="100000" sy="100000" kx="0" ky="0" algn="bl" rotWithShape="0" blurRad="88900" dist="38100" dir="5400000">
              <a:srgbClr val="000000">
                <a:alpha val="13000"/>
              </a:srgbClr>
            </a:outerShdw>
          </a:effectLst>
        </p:spPr>
      </p:sp>
      <p:sp>
        <p:nvSpPr>
          <p:cNvPr id="36" name="Shape 29"/>
          <p:cNvSpPr/>
          <p:nvPr/>
        </p:nvSpPr>
        <p:spPr>
          <a:xfrm>
            <a:off x="804672" y="5532120"/>
            <a:ext cx="438912" cy="438912"/>
          </a:xfrm>
          <a:prstGeom prst="ellipse">
            <a:avLst/>
          </a:prstGeom>
          <a:solidFill>
            <a:srgbClr val="12908F"/>
          </a:solidFill>
          <a:ln/>
        </p:spPr>
      </p:sp>
      <p:pic>
        <p:nvPicPr>
          <p:cNvPr id="37" name="Image 5" descr="preencoded.png">    </p:cNvPr>
          <p:cNvPicPr>
            <a:picLocks noChangeAspect="1"/>
          </p:cNvPicPr>
          <p:nvPr/>
        </p:nvPicPr>
        <p:blipFill>
          <a:blip r:embed="rId6"/>
          <a:stretch>
            <a:fillRect/>
          </a:stretch>
        </p:blipFill>
        <p:spPr>
          <a:xfrm>
            <a:off x="923178" y="5650626"/>
            <a:ext cx="201900" cy="201900"/>
          </a:xfrm>
          <a:prstGeom prst="rect">
            <a:avLst/>
          </a:prstGeom>
        </p:spPr>
      </p:pic>
      <p:sp>
        <p:nvSpPr>
          <p:cNvPr id="38" name="Text 30"/>
          <p:cNvSpPr/>
          <p:nvPr/>
        </p:nvSpPr>
        <p:spPr>
          <a:xfrm>
            <a:off x="1463040" y="5440680"/>
            <a:ext cx="3383280" cy="62179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Wrap</a:t>
            </a:r>
            <a:endParaRPr lang="en-US" sz="1800" dirty="0"/>
          </a:p>
        </p:txBody>
      </p:sp>
      <p:sp>
        <p:nvSpPr>
          <p:cNvPr id="39" name="Text 31"/>
          <p:cNvSpPr/>
          <p:nvPr/>
        </p:nvSpPr>
        <p:spPr>
          <a:xfrm>
            <a:off x="4846320" y="5440680"/>
            <a:ext cx="5669280" cy="621792"/>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What's left for Friday, and how to submit</a:t>
            </a:r>
            <a:endParaRPr lang="en-US" sz="1500" dirty="0"/>
          </a:p>
        </p:txBody>
      </p:sp>
      <p:sp>
        <p:nvSpPr>
          <p:cNvPr id="40" name="Text 32"/>
          <p:cNvSpPr/>
          <p:nvPr/>
        </p:nvSpPr>
        <p:spPr>
          <a:xfrm>
            <a:off x="10424160" y="5440680"/>
            <a:ext cx="960120" cy="62179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5 min</a:t>
            </a:r>
            <a:endParaRPr lang="en-US" sz="1600" dirty="0"/>
          </a:p>
        </p:txBody>
      </p:sp>
      <p:sp>
        <p:nvSpPr>
          <p:cNvPr id="41" name="Text 3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42" name="Text 3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PUNCH-LIST CHECK · 5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sentence each, written on your punch list</a:t>
            </a:r>
            <a:endParaRPr lang="en-US" sz="3100" dirty="0"/>
          </a:p>
        </p:txBody>
      </p:sp>
      <p:sp>
        <p:nvSpPr>
          <p:cNvPr id="5" name="Shape 3"/>
          <p:cNvSpPr/>
          <p:nvPr/>
        </p:nvSpPr>
        <p:spPr>
          <a:xfrm>
            <a:off x="548640" y="1783080"/>
            <a:ext cx="544068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4846320" cy="1417320"/>
          </a:xfrm>
          <a:prstGeom prst="rect">
            <a:avLst/>
          </a:prstGeom>
          <a:noFill/>
          <a:ln/>
        </p:spPr>
        <p:txBody>
          <a:bodyPr wrap="square" lIns="0" tIns="0" rIns="0" bIns="0" rtlCol="0" anchor="ctr"/>
          <a:lstStyle/>
          <a:p>
            <a:pPr indent="0" marL="0">
              <a:lnSpc>
                <a:spcPct val="110000"/>
              </a:lnSpc>
              <a:buNone/>
            </a:pPr>
            <a:r>
              <a:rPr lang="en-US" sz="1700" b="1" dirty="0">
                <a:solidFill>
                  <a:srgbClr val="E8A33D"/>
                </a:solidFill>
                <a:latin typeface="Calibri" pitchFamily="34" charset="0"/>
                <a:ea typeface="Calibri" pitchFamily="34" charset="-122"/>
                <a:cs typeface="Calibri" pitchFamily="34" charset="-120"/>
              </a:rPr>
              <a:t>In class today, I'll finish…</a:t>
            </a:r>
            <a:endParaRPr lang="en-US" sz="1700" dirty="0"/>
          </a:p>
          <a:p>
            <a:pPr indent="0" marL="0">
              <a:lnSpc>
                <a:spcPct val="110000"/>
              </a:lnSpc>
              <a:buNone/>
            </a:pPr>
            <a:r>
              <a:rPr lang="en-US" sz="1700" dirty="0">
                <a:solidFill>
                  <a:srgbClr val="CFE0E9"/>
                </a:solidFill>
                <a:latin typeface="Calibri" pitchFamily="34" charset="0"/>
                <a:ea typeface="Calibri" pitchFamily="34" charset="-122"/>
                <a:cs typeface="Calibri" pitchFamily="34" charset="-120"/>
              </a:rPr>
              <a:t>Name the items, not "as much as I can."</a:t>
            </a:r>
            <a:endParaRPr lang="en-US" sz="1700" dirty="0"/>
          </a:p>
        </p:txBody>
      </p:sp>
      <p:sp>
        <p:nvSpPr>
          <p:cNvPr id="7" name="Shape 5"/>
          <p:cNvSpPr/>
          <p:nvPr/>
        </p:nvSpPr>
        <p:spPr>
          <a:xfrm>
            <a:off x="6172200" y="1783080"/>
            <a:ext cx="5440680" cy="1417320"/>
          </a:xfrm>
          <a:prstGeom prst="roundRect">
            <a:avLst>
              <a:gd name="adj" fmla="val 5806"/>
            </a:avLst>
          </a:prstGeom>
          <a:solidFill>
            <a:srgbClr val="14233A"/>
          </a:solidFill>
          <a:ln/>
          <a:effectLst>
            <a:outerShdw sx="100000" sy="100000" kx="0" ky="0" algn="bl" rotWithShape="0" blurRad="88900" dist="38100" dir="5400000">
              <a:srgbClr val="000000">
                <a:alpha val="13000"/>
              </a:srgbClr>
            </a:outerShdw>
          </a:effectLst>
        </p:spPr>
      </p:sp>
      <p:sp>
        <p:nvSpPr>
          <p:cNvPr id="8" name="Text 6"/>
          <p:cNvSpPr/>
          <p:nvPr/>
        </p:nvSpPr>
        <p:spPr>
          <a:xfrm>
            <a:off x="6492240" y="1783080"/>
            <a:ext cx="4846320" cy="1417320"/>
          </a:xfrm>
          <a:prstGeom prst="rect">
            <a:avLst/>
          </a:prstGeom>
          <a:noFill/>
          <a:ln/>
        </p:spPr>
        <p:txBody>
          <a:bodyPr wrap="square" lIns="0" tIns="0" rIns="0" bIns="0" rtlCol="0" anchor="ctr"/>
          <a:lstStyle/>
          <a:p>
            <a:pPr indent="0" marL="0">
              <a:lnSpc>
                <a:spcPct val="110000"/>
              </a:lnSpc>
              <a:buNone/>
            </a:pPr>
            <a:r>
              <a:rPr lang="en-US" sz="1700" b="1" dirty="0">
                <a:solidFill>
                  <a:srgbClr val="E8A33D"/>
                </a:solidFill>
                <a:latin typeface="Calibri" pitchFamily="34" charset="0"/>
                <a:ea typeface="Calibri" pitchFamily="34" charset="-122"/>
                <a:cs typeface="Calibri" pitchFamily="34" charset="-120"/>
              </a:rPr>
              <a:t>By Friday, I'll finish…</a:t>
            </a:r>
            <a:endParaRPr lang="en-US" sz="1700" dirty="0"/>
          </a:p>
          <a:p>
            <a:pPr indent="0" marL="0">
              <a:lnSpc>
                <a:spcPct val="110000"/>
              </a:lnSpc>
              <a:buNone/>
            </a:pPr>
            <a:r>
              <a:rPr lang="en-US" sz="1700" dirty="0">
                <a:solidFill>
                  <a:srgbClr val="CFE0E9"/>
                </a:solidFill>
                <a:latin typeface="Calibri" pitchFamily="34" charset="0"/>
                <a:ea typeface="Calibri" pitchFamily="34" charset="-122"/>
                <a:cs typeface="Calibri" pitchFamily="34" charset="-120"/>
              </a:rPr>
              <a:t>Usually CONTRIBUTING, the norms, and whatever the read turns up.</a:t>
            </a:r>
            <a:endParaRPr lang="en-US" sz="1700" dirty="0"/>
          </a:p>
        </p:txBody>
      </p:sp>
      <p:sp>
        <p:nvSpPr>
          <p:cNvPr id="9" name="click-1"/>
          <p:cNvSpPr/>
          <p:nvPr/>
        </p:nvSpPr>
        <p:spPr>
          <a:xfrm>
            <a:off x="548640" y="342900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0" name="click-1"/>
          <p:cNvSpPr/>
          <p:nvPr/>
        </p:nvSpPr>
        <p:spPr>
          <a:xfrm>
            <a:off x="868680" y="3566160"/>
            <a:ext cx="4846320" cy="457200"/>
          </a:xfrm>
          <a:prstGeom prst="rect">
            <a:avLst/>
          </a:prstGeom>
          <a:noFill/>
          <a:ln/>
        </p:spPr>
        <p:txBody>
          <a:bodyPr wrap="square" lIns="0" tIns="0" rIns="0" bIns="0" rtlCol="0" anchor="ctr"/>
          <a:lstStyle/>
          <a:p>
            <a:pPr indent="0" marL="0">
              <a:buNone/>
            </a:pPr>
            <a:r>
              <a:rPr lang="en-US" sz="1900" b="1" dirty="0">
                <a:solidFill>
                  <a:srgbClr val="0E6E6D"/>
                </a:solidFill>
                <a:latin typeface="Calibri" pitchFamily="34" charset="0"/>
                <a:ea typeface="Calibri" pitchFamily="34" charset="-122"/>
                <a:cs typeface="Calibri" pitchFamily="34" charset="-120"/>
              </a:rPr>
              <a:t>Adapt, don't invent</a:t>
            </a:r>
            <a:pPr indent="0" marL="0">
              <a:buNone/>
            </a:pPr>
            <a:r>
              <a:rPr lang="en-US" sz="1500" dirty="0">
                <a:solidFill>
                  <a:srgbClr val="5F7284"/>
                </a:solidFill>
                <a:latin typeface="Calibri" pitchFamily="34" charset="0"/>
                <a:ea typeface="Calibri" pitchFamily="34" charset="-122"/>
                <a:cs typeface="Calibri" pitchFamily="34" charset="-120"/>
              </a:rPr>
              <a:t>  where a standard exists</a:t>
            </a:r>
            <a:endParaRPr lang="en-US" sz="1900" dirty="0"/>
          </a:p>
        </p:txBody>
      </p:sp>
      <p:sp>
        <p:nvSpPr>
          <p:cNvPr id="11" name="click-1"/>
          <p:cNvSpPr/>
          <p:nvPr/>
        </p:nvSpPr>
        <p:spPr>
          <a:xfrm>
            <a:off x="868680" y="4069080"/>
            <a:ext cx="4846320" cy="109728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License text, the Contributor Covenant, the shape of an issue form. Experts wrote them; fill in your blanks.</a:t>
            </a:r>
            <a:endParaRPr lang="en-US" sz="1600" dirty="0"/>
          </a:p>
        </p:txBody>
      </p:sp>
      <p:sp>
        <p:nvSpPr>
          <p:cNvPr id="12" name="click-1"/>
          <p:cNvSpPr/>
          <p:nvPr/>
        </p:nvSpPr>
        <p:spPr>
          <a:xfrm>
            <a:off x="6172200" y="3429000"/>
            <a:ext cx="544068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3" name="click-1"/>
          <p:cNvSpPr/>
          <p:nvPr/>
        </p:nvSpPr>
        <p:spPr>
          <a:xfrm>
            <a:off x="6492240" y="3566160"/>
            <a:ext cx="4846320" cy="457200"/>
          </a:xfrm>
          <a:prstGeom prst="rect">
            <a:avLst/>
          </a:prstGeom>
          <a:noFill/>
          <a:ln/>
        </p:spPr>
        <p:txBody>
          <a:bodyPr wrap="square" lIns="0" tIns="0" rIns="0" bIns="0" rtlCol="0" anchor="ctr"/>
          <a:lstStyle/>
          <a:p>
            <a:pPr indent="0" marL="0">
              <a:buNone/>
            </a:pPr>
            <a:r>
              <a:rPr lang="en-US" sz="1900" b="1" dirty="0">
                <a:solidFill>
                  <a:srgbClr val="0E6E6D"/>
                </a:solidFill>
                <a:latin typeface="Calibri" pitchFamily="34" charset="0"/>
                <a:ea typeface="Calibri" pitchFamily="34" charset="-122"/>
                <a:cs typeface="Calibri" pitchFamily="34" charset="-120"/>
              </a:rPr>
              <a:t>Write, don't copy</a:t>
            </a:r>
            <a:pPr indent="0" marL="0">
              <a:buNone/>
            </a:pPr>
            <a:r>
              <a:rPr lang="en-US" sz="1500" dirty="0">
                <a:solidFill>
                  <a:srgbClr val="5F7284"/>
                </a:solidFill>
                <a:latin typeface="Calibri" pitchFamily="34" charset="0"/>
                <a:ea typeface="Calibri" pitchFamily="34" charset="-122"/>
                <a:cs typeface="Calibri" pitchFamily="34" charset="-120"/>
              </a:rPr>
              <a:t>  where your project is the content</a:t>
            </a:r>
            <a:endParaRPr lang="en-US" sz="1900" dirty="0"/>
          </a:p>
        </p:txBody>
      </p:sp>
      <p:sp>
        <p:nvSpPr>
          <p:cNvPr id="14" name="click-1"/>
          <p:cNvSpPr/>
          <p:nvPr/>
        </p:nvSpPr>
        <p:spPr>
          <a:xfrm>
            <a:off x="6492240" y="4069080"/>
            <a:ext cx="4846320" cy="109728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README, CONTRIBUTING, communication norms. Nobody else can write these, and a stranger can tell.</a:t>
            </a:r>
            <a:endParaRPr lang="en-US" sz="1600" dirty="0"/>
          </a:p>
        </p:txBody>
      </p:sp>
      <p:sp>
        <p:nvSpPr>
          <p:cNvPr id="15" name="click-2"/>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16" name="click-2"/>
          <p:cNvSpPr/>
          <p:nvPr/>
        </p:nvSpPr>
        <p:spPr>
          <a:xfrm>
            <a:off x="868680" y="5440680"/>
            <a:ext cx="10424160" cy="731520"/>
          </a:xfrm>
          <a:prstGeom prst="rect">
            <a:avLst/>
          </a:prstGeom>
          <a:noFill/>
          <a:ln/>
        </p:spPr>
        <p:txBody>
          <a:bodyPr wrap="square" lIns="0" tIns="0" rIns="0" bIns="0" rtlCol="0" anchor="ctr"/>
          <a:lstStyle/>
          <a:p>
            <a:pPr indent="0" marL="0">
              <a:buNone/>
            </a:pPr>
            <a:r>
              <a:rPr lang="en-US" sz="1650" b="1" dirty="0">
                <a:solidFill>
                  <a:srgbClr val="14233A"/>
                </a:solidFill>
                <a:latin typeface="Calibri" pitchFamily="34" charset="0"/>
                <a:ea typeface="Calibri" pitchFamily="34" charset="-122"/>
                <a:cs typeface="Calibri" pitchFamily="34" charset="-120"/>
              </a:rPr>
              <a:t>Every item ships through its own pull request, the way your git standards say. The process documents itself.</a:t>
            </a:r>
            <a:endParaRPr lang="en-US" sz="1650" dirty="0"/>
          </a:p>
        </p:txBody>
      </p:sp>
      <p:sp>
        <p:nvSpPr>
          <p:cNvPr id="17" name="Text 1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18" name="Text 1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20" presetID="1"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 WORKED EXAMPLE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Prop Loft's front door, at tag session-16</a:t>
            </a:r>
            <a:endParaRPr lang="en-US" sz="3100" dirty="0"/>
          </a:p>
        </p:txBody>
      </p:sp>
      <p:sp>
        <p:nvSpPr>
          <p:cNvPr id="5" name="Shape 3"/>
          <p:cNvSpPr/>
          <p:nvPr/>
        </p:nvSpPr>
        <p:spPr>
          <a:xfrm>
            <a:off x="548640" y="1783080"/>
            <a:ext cx="356616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77240" y="1892808"/>
            <a:ext cx="3108960" cy="45720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CONTRIBUTING.md</a:t>
            </a:r>
            <a:endParaRPr lang="en-US" sz="1600" dirty="0"/>
          </a:p>
        </p:txBody>
      </p:sp>
      <p:sp>
        <p:nvSpPr>
          <p:cNvPr id="7" name="Text 5"/>
          <p:cNvSpPr/>
          <p:nvPr/>
        </p:nvSpPr>
        <p:spPr>
          <a:xfrm>
            <a:off x="777240" y="2377440"/>
            <a:ext cx="3108960" cy="1097280"/>
          </a:xfrm>
          <a:prstGeom prst="rect">
            <a:avLst/>
          </a:prstGeom>
          <a:noFill/>
          <a:ln/>
        </p:spPr>
        <p:txBody>
          <a:bodyPr wrap="square" lIns="0" tIns="0" rIns="0" bIns="0" rtlCol="0" anchor="t"/>
          <a:lstStyle/>
          <a:p>
            <a:pPr indent="0" marL="0">
              <a:lnSpc>
                <a:spcPct val="103000"/>
              </a:lnSpc>
              <a:buNone/>
            </a:pPr>
            <a:r>
              <a:rPr lang="en-US" sz="1500" dirty="0">
                <a:solidFill>
                  <a:srgbClr val="1E2A36"/>
                </a:solidFill>
                <a:latin typeface="Calibri" pitchFamily="34" charset="0"/>
                <a:ea typeface="Calibri" pitchFamily="34" charset="-122"/>
                <a:cs typeface="Calibri" pitchFamily="34" charset="-120"/>
              </a:rPr>
              <a:t>Welcome and "your first contribution" come first. Policy and the license rationale come last.</a:t>
            </a:r>
            <a:endParaRPr lang="en-US" sz="1500" dirty="0"/>
          </a:p>
        </p:txBody>
      </p:sp>
      <p:sp>
        <p:nvSpPr>
          <p:cNvPr id="8" name="Shape 6"/>
          <p:cNvSpPr/>
          <p:nvPr/>
        </p:nvSpPr>
        <p:spPr>
          <a:xfrm>
            <a:off x="4297680" y="1783080"/>
            <a:ext cx="356616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4526280" y="1892808"/>
            <a:ext cx="3108960" cy="45720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CODE_OF_CONDUCT.md</a:t>
            </a:r>
            <a:endParaRPr lang="en-US" sz="1600" dirty="0"/>
          </a:p>
        </p:txBody>
      </p:sp>
      <p:sp>
        <p:nvSpPr>
          <p:cNvPr id="10" name="Text 8"/>
          <p:cNvSpPr/>
          <p:nvPr/>
        </p:nvSpPr>
        <p:spPr>
          <a:xfrm>
            <a:off x="4526280" y="2377440"/>
            <a:ext cx="3108960" cy="1097280"/>
          </a:xfrm>
          <a:prstGeom prst="rect">
            <a:avLst/>
          </a:prstGeom>
          <a:noFill/>
          <a:ln/>
        </p:spPr>
        <p:txBody>
          <a:bodyPr wrap="square" lIns="0" tIns="0" rIns="0" bIns="0" rtlCol="0" anchor="t"/>
          <a:lstStyle/>
          <a:p>
            <a:pPr indent="0" marL="0">
              <a:lnSpc>
                <a:spcPct val="103000"/>
              </a:lnSpc>
              <a:buNone/>
            </a:pPr>
            <a:r>
              <a:rPr lang="en-US" sz="1500" dirty="0">
                <a:solidFill>
                  <a:srgbClr val="1E2A36"/>
                </a:solidFill>
                <a:latin typeface="Calibri" pitchFamily="34" charset="0"/>
                <a:ea typeface="Calibri" pitchFamily="34" charset="-122"/>
                <a:cs typeface="Calibri" pitchFamily="34" charset="-120"/>
              </a:rPr>
              <a:t>Contributor Covenant 3.0, word for word. Only the two blanks are filled in.</a:t>
            </a:r>
            <a:endParaRPr lang="en-US" sz="1500" dirty="0"/>
          </a:p>
        </p:txBody>
      </p:sp>
      <p:sp>
        <p:nvSpPr>
          <p:cNvPr id="11" name="Shape 9"/>
          <p:cNvSpPr/>
          <p:nvPr/>
        </p:nvSpPr>
        <p:spPr>
          <a:xfrm>
            <a:off x="8046720" y="1783080"/>
            <a:ext cx="356616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8275320" y="1892808"/>
            <a:ext cx="3108960" cy="45720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.github/</a:t>
            </a:r>
            <a:endParaRPr lang="en-US" sz="1600" dirty="0"/>
          </a:p>
        </p:txBody>
      </p:sp>
      <p:sp>
        <p:nvSpPr>
          <p:cNvPr id="13" name="Text 11"/>
          <p:cNvSpPr/>
          <p:nvPr/>
        </p:nvSpPr>
        <p:spPr>
          <a:xfrm>
            <a:off x="8275320" y="2377440"/>
            <a:ext cx="3108960" cy="1097280"/>
          </a:xfrm>
          <a:prstGeom prst="rect">
            <a:avLst/>
          </a:prstGeom>
          <a:noFill/>
          <a:ln/>
        </p:spPr>
        <p:txBody>
          <a:bodyPr wrap="square" lIns="0" tIns="0" rIns="0" bIns="0" rtlCol="0" anchor="t"/>
          <a:lstStyle/>
          <a:p>
            <a:pPr indent="0" marL="0">
              <a:lnSpc>
                <a:spcPct val="103000"/>
              </a:lnSpc>
              <a:buNone/>
            </a:pPr>
            <a:r>
              <a:rPr lang="en-US" sz="1500" dirty="0">
                <a:solidFill>
                  <a:srgbClr val="1E2A36"/>
                </a:solidFill>
                <a:latin typeface="Calibri" pitchFamily="34" charset="0"/>
                <a:ea typeface="Calibri" pitchFamily="34" charset="-122"/>
                <a:cs typeface="Calibri" pitchFamily="34" charset="-120"/>
              </a:rPr>
              <a:t>Bug and feature issue forms, a PR template whose checklist is the git standards.</a:t>
            </a:r>
            <a:endParaRPr lang="en-US" sz="1500" dirty="0"/>
          </a:p>
        </p:txBody>
      </p:sp>
      <p:sp>
        <p:nvSpPr>
          <p:cNvPr id="14" name="Shape 12"/>
          <p:cNvSpPr/>
          <p:nvPr/>
        </p:nvSpPr>
        <p:spPr>
          <a:xfrm>
            <a:off x="548640" y="3749040"/>
            <a:ext cx="356616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5" name="Text 13"/>
          <p:cNvSpPr/>
          <p:nvPr/>
        </p:nvSpPr>
        <p:spPr>
          <a:xfrm>
            <a:off x="777240" y="3858768"/>
            <a:ext cx="3108960" cy="45720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docs/communication-norms.md</a:t>
            </a:r>
            <a:endParaRPr lang="en-US" sz="1600" dirty="0"/>
          </a:p>
        </p:txBody>
      </p:sp>
      <p:sp>
        <p:nvSpPr>
          <p:cNvPr id="16" name="Text 14"/>
          <p:cNvSpPr/>
          <p:nvPr/>
        </p:nvSpPr>
        <p:spPr>
          <a:xfrm>
            <a:off x="777240" y="4343400"/>
            <a:ext cx="3108960" cy="1097280"/>
          </a:xfrm>
          <a:prstGeom prst="rect">
            <a:avLst/>
          </a:prstGeom>
          <a:noFill/>
          <a:ln/>
        </p:spPr>
        <p:txBody>
          <a:bodyPr wrap="square" lIns="0" tIns="0" rIns="0" bIns="0" rtlCol="0" anchor="t"/>
          <a:lstStyle/>
          <a:p>
            <a:pPr indent="0" marL="0">
              <a:lnSpc>
                <a:spcPct val="103000"/>
              </a:lnSpc>
              <a:buNone/>
            </a:pPr>
            <a:r>
              <a:rPr lang="en-US" sz="1500" dirty="0">
                <a:solidFill>
                  <a:srgbClr val="1E2A36"/>
                </a:solidFill>
                <a:latin typeface="Calibri" pitchFamily="34" charset="0"/>
                <a:ea typeface="Calibri" pitchFamily="34" charset="-122"/>
                <a:cs typeface="Calibri" pitchFamily="34" charset="-120"/>
              </a:rPr>
              <a:t>Issues and PRs only, replies within a week, who decides, and what's out of scope.</a:t>
            </a:r>
            <a:endParaRPr lang="en-US" sz="1500" dirty="0"/>
          </a:p>
        </p:txBody>
      </p:sp>
      <p:sp>
        <p:nvSpPr>
          <p:cNvPr id="17" name="Shape 15"/>
          <p:cNvSpPr/>
          <p:nvPr/>
        </p:nvSpPr>
        <p:spPr>
          <a:xfrm>
            <a:off x="4297680" y="3749040"/>
            <a:ext cx="356616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4526280" y="3858768"/>
            <a:ext cx="3108960" cy="45720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README.md</a:t>
            </a:r>
            <a:endParaRPr lang="en-US" sz="1600" dirty="0"/>
          </a:p>
        </p:txBody>
      </p:sp>
      <p:sp>
        <p:nvSpPr>
          <p:cNvPr id="19" name="Text 17"/>
          <p:cNvSpPr/>
          <p:nvPr/>
        </p:nvSpPr>
        <p:spPr>
          <a:xfrm>
            <a:off x="4526280" y="4343400"/>
            <a:ext cx="3108960" cy="1097280"/>
          </a:xfrm>
          <a:prstGeom prst="rect">
            <a:avLst/>
          </a:prstGeom>
          <a:noFill/>
          <a:ln/>
        </p:spPr>
        <p:txBody>
          <a:bodyPr wrap="square" lIns="0" tIns="0" rIns="0" bIns="0" rtlCol="0" anchor="t"/>
          <a:lstStyle/>
          <a:p>
            <a:pPr indent="0" marL="0">
              <a:lnSpc>
                <a:spcPct val="103000"/>
              </a:lnSpc>
              <a:buNone/>
            </a:pPr>
            <a:r>
              <a:rPr lang="en-US" sz="1500" dirty="0">
                <a:solidFill>
                  <a:srgbClr val="1E2A36"/>
                </a:solidFill>
                <a:latin typeface="Calibri" pitchFamily="34" charset="0"/>
                <a:ea typeface="Calibri" pitchFamily="34" charset="-122"/>
                <a:cs typeface="Calibri" pitchFamily="34" charset="-120"/>
              </a:rPr>
              <a:t>A Contributing section that links all of the above, plus the maintainer's response time.</a:t>
            </a:r>
            <a:endParaRPr lang="en-US" sz="1500" dirty="0"/>
          </a:p>
        </p:txBody>
      </p:sp>
      <p:sp>
        <p:nvSpPr>
          <p:cNvPr id="20" name="Shape 18"/>
          <p:cNvSpPr/>
          <p:nvPr/>
        </p:nvSpPr>
        <p:spPr>
          <a:xfrm>
            <a:off x="8046720" y="3749040"/>
            <a:ext cx="356616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1" name="Text 19"/>
          <p:cNvSpPr/>
          <p:nvPr/>
        </p:nvSpPr>
        <p:spPr>
          <a:xfrm>
            <a:off x="8275320" y="3858768"/>
            <a:ext cx="3108960" cy="45720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Issues tab</a:t>
            </a:r>
            <a:endParaRPr lang="en-US" sz="1600" dirty="0"/>
          </a:p>
        </p:txBody>
      </p:sp>
      <p:sp>
        <p:nvSpPr>
          <p:cNvPr id="22" name="Text 20"/>
          <p:cNvSpPr/>
          <p:nvPr/>
        </p:nvSpPr>
        <p:spPr>
          <a:xfrm>
            <a:off x="8275320" y="4343400"/>
            <a:ext cx="3108960" cy="1097280"/>
          </a:xfrm>
          <a:prstGeom prst="rect">
            <a:avLst/>
          </a:prstGeom>
          <a:noFill/>
          <a:ln/>
        </p:spPr>
        <p:txBody>
          <a:bodyPr wrap="square" lIns="0" tIns="0" rIns="0" bIns="0" rtlCol="0" anchor="t"/>
          <a:lstStyle/>
          <a:p>
            <a:pPr indent="0" marL="0">
              <a:lnSpc>
                <a:spcPct val="103000"/>
              </a:lnSpc>
              <a:buNone/>
            </a:pPr>
            <a:r>
              <a:rPr lang="en-US" sz="1500" dirty="0">
                <a:solidFill>
                  <a:srgbClr val="1E2A36"/>
                </a:solidFill>
                <a:latin typeface="Calibri" pitchFamily="34" charset="0"/>
                <a:ea typeface="Calibri" pitchFamily="34" charset="-122"/>
                <a:cs typeface="Calibri" pitchFamily="34" charset="-120"/>
              </a:rPr>
              <a:t>Three seed issues written through the templates. One is a good first issue.</a:t>
            </a:r>
            <a:endParaRPr lang="en-US" sz="1500" dirty="0"/>
          </a:p>
        </p:txBody>
      </p:sp>
      <p:sp>
        <p:nvSpPr>
          <p:cNvPr id="23" name="Shape 21"/>
          <p:cNvSpPr/>
          <p:nvPr/>
        </p:nvSpPr>
        <p:spPr>
          <a:xfrm>
            <a:off x="548640" y="5715000"/>
            <a:ext cx="11064240" cy="502920"/>
          </a:xfrm>
          <a:prstGeom prst="roundRect">
            <a:avLst>
              <a:gd name="adj" fmla="val 16364"/>
            </a:avLst>
          </a:prstGeom>
          <a:solidFill>
            <a:srgbClr val="FBEEDA"/>
          </a:solidFill>
          <a:ln/>
          <a:effectLst>
            <a:outerShdw sx="100000" sy="100000" kx="0" ky="0" algn="bl" rotWithShape="0" blurRad="88900" dist="38100" dir="5400000">
              <a:srgbClr val="000000">
                <a:alpha val="13000"/>
              </a:srgbClr>
            </a:outerShdw>
          </a:effectLst>
        </p:spPr>
      </p:sp>
      <p:sp>
        <p:nvSpPr>
          <p:cNvPr id="24" name="Text 22"/>
          <p:cNvSpPr/>
          <p:nvPr/>
        </p:nvSpPr>
        <p:spPr>
          <a:xfrm>
            <a:off x="868680" y="5715000"/>
            <a:ext cx="10424160" cy="502920"/>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github.com/prop-loft/prop-loft/tree/session-16   ·   Read it for shape. Your content has to be yours.</a:t>
            </a:r>
            <a:endParaRPr lang="en-US" sz="1500" dirty="0"/>
          </a:p>
        </p:txBody>
      </p:sp>
      <p:sp>
        <p:nvSpPr>
          <p:cNvPr id="25"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26"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BUILD BLOCK 1 · 20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Finish the fast items</a:t>
            </a:r>
            <a:endParaRPr lang="en-US" sz="3100" dirty="0"/>
          </a:p>
        </p:txBody>
      </p:sp>
      <p:sp>
        <p:nvSpPr>
          <p:cNvPr id="5" name="Shape 3"/>
          <p:cNvSpPr/>
          <p:nvPr/>
        </p:nvSpPr>
        <p:spPr>
          <a:xfrm>
            <a:off x="548640" y="1783080"/>
            <a:ext cx="2103120" cy="33832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271016" y="2011680"/>
            <a:ext cx="658368" cy="65836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448775" y="2189439"/>
            <a:ext cx="302849" cy="302849"/>
          </a:xfrm>
          <a:prstGeom prst="rect">
            <a:avLst/>
          </a:prstGeom>
        </p:spPr>
      </p:pic>
      <p:sp>
        <p:nvSpPr>
          <p:cNvPr id="8" name="Text 5"/>
          <p:cNvSpPr/>
          <p:nvPr/>
        </p:nvSpPr>
        <p:spPr>
          <a:xfrm>
            <a:off x="640080" y="2788920"/>
            <a:ext cx="1920240"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README</a:t>
            </a:r>
            <a:endParaRPr lang="en-US" sz="1800" dirty="0"/>
          </a:p>
        </p:txBody>
      </p:sp>
      <p:sp>
        <p:nvSpPr>
          <p:cNvPr id="9" name="Text 6"/>
          <p:cNvSpPr/>
          <p:nvPr/>
        </p:nvSpPr>
        <p:spPr>
          <a:xfrm>
            <a:off x="685800" y="3429000"/>
            <a:ext cx="1828800" cy="16916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First sentence, rewritten. A status line. How to contribute, and a license line.</a:t>
            </a:r>
            <a:endParaRPr lang="en-US" sz="1500" dirty="0"/>
          </a:p>
        </p:txBody>
      </p:sp>
      <p:sp>
        <p:nvSpPr>
          <p:cNvPr id="10" name="Shape 7"/>
          <p:cNvSpPr/>
          <p:nvPr/>
        </p:nvSpPr>
        <p:spPr>
          <a:xfrm>
            <a:off x="2788920" y="1783080"/>
            <a:ext cx="2103120" cy="33832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3511296" y="2011680"/>
            <a:ext cx="658368" cy="65836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3689055" y="2189439"/>
            <a:ext cx="302849" cy="302849"/>
          </a:xfrm>
          <a:prstGeom prst="rect">
            <a:avLst/>
          </a:prstGeom>
        </p:spPr>
      </p:pic>
      <p:sp>
        <p:nvSpPr>
          <p:cNvPr id="13" name="Text 9"/>
          <p:cNvSpPr/>
          <p:nvPr/>
        </p:nvSpPr>
        <p:spPr>
          <a:xfrm>
            <a:off x="2880360" y="2788920"/>
            <a:ext cx="1920240"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Setup placeholder</a:t>
            </a:r>
            <a:endParaRPr lang="en-US" sz="1800" dirty="0"/>
          </a:p>
        </p:txBody>
      </p:sp>
      <p:sp>
        <p:nvSpPr>
          <p:cNvPr id="14" name="Text 10"/>
          <p:cNvSpPr/>
          <p:nvPr/>
        </p:nvSpPr>
        <p:spPr>
          <a:xfrm>
            <a:off x="2926080" y="3429000"/>
            <a:ext cx="1828800" cy="16916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docs/setup.md: your stack, "arrives with the first runnable build," and the issue tracking it.</a:t>
            </a:r>
            <a:endParaRPr lang="en-US" sz="1500" dirty="0"/>
          </a:p>
        </p:txBody>
      </p:sp>
      <p:sp>
        <p:nvSpPr>
          <p:cNvPr id="15" name="Shape 11"/>
          <p:cNvSpPr/>
          <p:nvPr/>
        </p:nvSpPr>
        <p:spPr>
          <a:xfrm>
            <a:off x="5029200" y="1783080"/>
            <a:ext cx="2103120" cy="33832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5751576" y="2011680"/>
            <a:ext cx="658368" cy="65836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5929335" y="2189439"/>
            <a:ext cx="302849" cy="302849"/>
          </a:xfrm>
          <a:prstGeom prst="rect">
            <a:avLst/>
          </a:prstGeom>
        </p:spPr>
      </p:pic>
      <p:sp>
        <p:nvSpPr>
          <p:cNvPr id="18" name="Text 13"/>
          <p:cNvSpPr/>
          <p:nvPr/>
        </p:nvSpPr>
        <p:spPr>
          <a:xfrm>
            <a:off x="5120640" y="2788920"/>
            <a:ext cx="1920240"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LICENSE</a:t>
            </a:r>
            <a:endParaRPr lang="en-US" sz="1800" dirty="0"/>
          </a:p>
        </p:txBody>
      </p:sp>
      <p:sp>
        <p:nvSpPr>
          <p:cNvPr id="19" name="Text 14"/>
          <p:cNvSpPr/>
          <p:nvPr/>
        </p:nvSpPr>
        <p:spPr>
          <a:xfrm>
            <a:off x="5166360" y="3429000"/>
            <a:ext cx="1828800" cy="16916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The exact text. Fill in fields only if it has them (MIT, BSD). Rationale goes in CONTRIBUTING.</a:t>
            </a:r>
            <a:endParaRPr lang="en-US" sz="1500" dirty="0"/>
          </a:p>
        </p:txBody>
      </p:sp>
      <p:sp>
        <p:nvSpPr>
          <p:cNvPr id="20" name="Shape 15"/>
          <p:cNvSpPr/>
          <p:nvPr/>
        </p:nvSpPr>
        <p:spPr>
          <a:xfrm>
            <a:off x="7269480" y="1783080"/>
            <a:ext cx="2103120" cy="33832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991856" y="2011680"/>
            <a:ext cx="658368" cy="658368"/>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8169615" y="2189439"/>
            <a:ext cx="302849" cy="302849"/>
          </a:xfrm>
          <a:prstGeom prst="rect">
            <a:avLst/>
          </a:prstGeom>
        </p:spPr>
      </p:pic>
      <p:sp>
        <p:nvSpPr>
          <p:cNvPr id="23" name="Text 17"/>
          <p:cNvSpPr/>
          <p:nvPr/>
        </p:nvSpPr>
        <p:spPr>
          <a:xfrm>
            <a:off x="7360920" y="2788920"/>
            <a:ext cx="1920240"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Code of conduct</a:t>
            </a:r>
            <a:endParaRPr lang="en-US" sz="1800" dirty="0"/>
          </a:p>
        </p:txBody>
      </p:sp>
      <p:sp>
        <p:nvSpPr>
          <p:cNvPr id="24" name="Text 18"/>
          <p:cNvSpPr/>
          <p:nvPr/>
        </p:nvSpPr>
        <p:spPr>
          <a:xfrm>
            <a:off x="7406640" y="3429000"/>
            <a:ext cx="1828800" cy="16916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Contributor Covenant, adopted. A contact you'll check, a response time, and a route if it's about you.</a:t>
            </a:r>
            <a:endParaRPr lang="en-US" sz="1500" dirty="0"/>
          </a:p>
        </p:txBody>
      </p:sp>
      <p:sp>
        <p:nvSpPr>
          <p:cNvPr id="25" name="Shape 19"/>
          <p:cNvSpPr/>
          <p:nvPr/>
        </p:nvSpPr>
        <p:spPr>
          <a:xfrm>
            <a:off x="9509760" y="1783080"/>
            <a:ext cx="2103120" cy="338328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10232136" y="2011680"/>
            <a:ext cx="658368" cy="658368"/>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10409895" y="2189439"/>
            <a:ext cx="302849" cy="302849"/>
          </a:xfrm>
          <a:prstGeom prst="rect">
            <a:avLst/>
          </a:prstGeom>
        </p:spPr>
      </p:pic>
      <p:sp>
        <p:nvSpPr>
          <p:cNvPr id="28" name="Text 21"/>
          <p:cNvSpPr/>
          <p:nvPr/>
        </p:nvSpPr>
        <p:spPr>
          <a:xfrm>
            <a:off x="9601200" y="2788920"/>
            <a:ext cx="1920240"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Templates + labels</a:t>
            </a:r>
            <a:endParaRPr lang="en-US" sz="1800" dirty="0"/>
          </a:p>
        </p:txBody>
      </p:sp>
      <p:sp>
        <p:nvSpPr>
          <p:cNvPr id="29" name="Text 22"/>
          <p:cNvSpPr/>
          <p:nvPr/>
        </p:nvSpPr>
        <p:spPr>
          <a:xfrm>
            <a:off x="9646920" y="3429000"/>
            <a:ext cx="1828800" cy="169164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Monday's sketches, built: bug, feature, PR template. bug · enhancement · good first issue</a:t>
            </a:r>
            <a:endParaRPr lang="en-US" sz="1500" dirty="0"/>
          </a:p>
        </p:txBody>
      </p:sp>
      <p:sp>
        <p:nvSpPr>
          <p:cNvPr id="30" name="Shape 23"/>
          <p:cNvSpPr/>
          <p:nvPr/>
        </p:nvSpPr>
        <p:spPr>
          <a:xfrm>
            <a:off x="548640" y="539496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31" name="Text 24"/>
          <p:cNvSpPr/>
          <p:nvPr/>
        </p:nvSpPr>
        <p:spPr>
          <a:xfrm>
            <a:off x="868680" y="5394960"/>
            <a:ext cx="1042416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File the setup-guide issue now. It's your first seed issue, and the placeholder links to it.</a:t>
            </a:r>
            <a:endParaRPr lang="en-US" sz="1700" dirty="0"/>
          </a:p>
        </p:txBody>
      </p:sp>
      <p:sp>
        <p:nvSpPr>
          <p:cNvPr id="32"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33"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TEMPLATES · PROP LOFT'S TWO ISSUE FORMS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Every required field is a norm you only write once</a:t>
            </a:r>
            <a:endParaRPr lang="en-US" sz="3100" dirty="0"/>
          </a:p>
        </p:txBody>
      </p:sp>
      <p:sp>
        <p:nvSpPr>
          <p:cNvPr id="5" name="Shape 3"/>
          <p:cNvSpPr/>
          <p:nvPr/>
        </p:nvSpPr>
        <p:spPr>
          <a:xfrm>
            <a:off x="548640" y="1737360"/>
            <a:ext cx="5440680" cy="566928"/>
          </a:xfrm>
          <a:prstGeom prst="roundRect">
            <a:avLst>
              <a:gd name="adj" fmla="val 14516"/>
            </a:avLst>
          </a:prstGeom>
          <a:solidFill>
            <a:srgbClr val="D9614C"/>
          </a:solidFill>
          <a:ln/>
          <a:effectLst>
            <a:outerShdw sx="100000" sy="100000" kx="0" ky="0" algn="bl" rotWithShape="0" blurRad="88900" dist="38100" dir="5400000">
              <a:srgbClr val="000000">
                <a:alpha val="13000"/>
              </a:srgbClr>
            </a:outerShdw>
          </a:effectLst>
        </p:spPr>
      </p:sp>
      <p:sp>
        <p:nvSpPr>
          <p:cNvPr id="6" name="Text 4"/>
          <p:cNvSpPr/>
          <p:nvPr/>
        </p:nvSpPr>
        <p:spPr>
          <a:xfrm>
            <a:off x="822960" y="1737360"/>
            <a:ext cx="49377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Bug report</a:t>
            </a:r>
            <a:pPr indent="0" marL="0">
              <a:buNone/>
            </a:pPr>
            <a:r>
              <a:rPr lang="en-US" sz="1500" dirty="0">
                <a:solidFill>
                  <a:srgbClr val="FFFFFF"/>
                </a:solidFill>
                <a:latin typeface="Calibri" pitchFamily="34" charset="0"/>
                <a:ea typeface="Calibri" pitchFamily="34" charset="-122"/>
                <a:cs typeface="Calibri" pitchFamily="34" charset="-120"/>
              </a:rPr>
              <a:t>   labels: bug · needs triage</a:t>
            </a:r>
            <a:endParaRPr lang="en-US" sz="1900" dirty="0"/>
          </a:p>
        </p:txBody>
      </p:sp>
      <p:sp>
        <p:nvSpPr>
          <p:cNvPr id="7" name="Shape 5"/>
          <p:cNvSpPr/>
          <p:nvPr/>
        </p:nvSpPr>
        <p:spPr>
          <a:xfrm>
            <a:off x="548640" y="2395728"/>
            <a:ext cx="5440680" cy="2907792"/>
          </a:xfrm>
          <a:prstGeom prst="roundRect">
            <a:avLst>
              <a:gd name="adj" fmla="val 2830"/>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777240" y="2487168"/>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Before you file (required box)</a:t>
            </a:r>
            <a:endParaRPr lang="en-US" sz="1500" dirty="0"/>
          </a:p>
        </p:txBody>
      </p:sp>
      <p:sp>
        <p:nvSpPr>
          <p:cNvPr id="9" name="Text 7"/>
          <p:cNvSpPr/>
          <p:nvPr/>
        </p:nvSpPr>
        <p:spPr>
          <a:xfrm>
            <a:off x="2926080" y="2487168"/>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I searched open and closed issues: no duplicates</a:t>
            </a:r>
            <a:endParaRPr lang="en-US" sz="1500" dirty="0"/>
          </a:p>
        </p:txBody>
      </p:sp>
      <p:sp>
        <p:nvSpPr>
          <p:cNvPr id="10" name="Text 8"/>
          <p:cNvSpPr/>
          <p:nvPr/>
        </p:nvSpPr>
        <p:spPr>
          <a:xfrm>
            <a:off x="777240" y="3044952"/>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Steps to reproduce</a:t>
            </a:r>
            <a:endParaRPr lang="en-US" sz="1500" dirty="0"/>
          </a:p>
        </p:txBody>
      </p:sp>
      <p:sp>
        <p:nvSpPr>
          <p:cNvPr id="11" name="Text 9"/>
          <p:cNvSpPr/>
          <p:nvPr/>
        </p:nvSpPr>
        <p:spPr>
          <a:xfrm>
            <a:off x="2926080" y="3044952"/>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Numbered, from somewhere a stranger can get to</a:t>
            </a:r>
            <a:endParaRPr lang="en-US" sz="1500" dirty="0"/>
          </a:p>
        </p:txBody>
      </p:sp>
      <p:sp>
        <p:nvSpPr>
          <p:cNvPr id="12" name="Text 10"/>
          <p:cNvSpPr/>
          <p:nvPr/>
        </p:nvSpPr>
        <p:spPr>
          <a:xfrm>
            <a:off x="777240" y="3602736"/>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Expected  /  What actually happened</a:t>
            </a:r>
            <a:endParaRPr lang="en-US" sz="1500" dirty="0"/>
          </a:p>
        </p:txBody>
      </p:sp>
      <p:sp>
        <p:nvSpPr>
          <p:cNvPr id="13" name="Text 11"/>
          <p:cNvSpPr/>
          <p:nvPr/>
        </p:nvSpPr>
        <p:spPr>
          <a:xfrm>
            <a:off x="2926080" y="3602736"/>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Two fields, so neither gets skipped</a:t>
            </a:r>
            <a:endParaRPr lang="en-US" sz="1500" dirty="0"/>
          </a:p>
        </p:txBody>
      </p:sp>
      <p:sp>
        <p:nvSpPr>
          <p:cNvPr id="14" name="Text 12"/>
          <p:cNvSpPr/>
          <p:nvPr/>
        </p:nvSpPr>
        <p:spPr>
          <a:xfrm>
            <a:off x="777240" y="4160520"/>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Environment</a:t>
            </a:r>
            <a:endParaRPr lang="en-US" sz="1500" dirty="0"/>
          </a:p>
        </p:txBody>
      </p:sp>
      <p:sp>
        <p:nvSpPr>
          <p:cNvPr id="15" name="Text 13"/>
          <p:cNvSpPr/>
          <p:nvPr/>
        </p:nvSpPr>
        <p:spPr>
          <a:xfrm>
            <a:off x="2926080" y="4160520"/>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An example shows the shape: "Firefox 131 on Windows 11"</a:t>
            </a:r>
            <a:endParaRPr lang="en-US" sz="1500" dirty="0"/>
          </a:p>
        </p:txBody>
      </p:sp>
      <p:sp>
        <p:nvSpPr>
          <p:cNvPr id="16" name="Text 14"/>
          <p:cNvSpPr/>
          <p:nvPr/>
        </p:nvSpPr>
        <p:spPr>
          <a:xfrm>
            <a:off x="777240" y="4718304"/>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Anything else</a:t>
            </a:r>
            <a:endParaRPr lang="en-US" sz="1500" dirty="0"/>
          </a:p>
        </p:txBody>
      </p:sp>
      <p:sp>
        <p:nvSpPr>
          <p:cNvPr id="17" name="Text 15"/>
          <p:cNvSpPr/>
          <p:nvPr/>
        </p:nvSpPr>
        <p:spPr>
          <a:xfrm>
            <a:off x="2926080" y="4718304"/>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Logs, screenshots, how often: the evidence</a:t>
            </a:r>
            <a:endParaRPr lang="en-US" sz="1500" dirty="0"/>
          </a:p>
        </p:txBody>
      </p:sp>
      <p:sp>
        <p:nvSpPr>
          <p:cNvPr id="18" name="click-1"/>
          <p:cNvSpPr/>
          <p:nvPr/>
        </p:nvSpPr>
        <p:spPr>
          <a:xfrm>
            <a:off x="6172200" y="1737360"/>
            <a:ext cx="5440680" cy="566928"/>
          </a:xfrm>
          <a:prstGeom prst="roundRect">
            <a:avLst>
              <a:gd name="adj" fmla="val 14516"/>
            </a:avLst>
          </a:prstGeom>
          <a:solidFill>
            <a:srgbClr val="12908F"/>
          </a:solidFill>
          <a:ln/>
          <a:effectLst>
            <a:outerShdw sx="100000" sy="100000" kx="0" ky="0" algn="bl" rotWithShape="0" blurRad="88900" dist="38100" dir="5400000">
              <a:srgbClr val="000000">
                <a:alpha val="13000"/>
              </a:srgbClr>
            </a:outerShdw>
          </a:effectLst>
        </p:spPr>
      </p:sp>
      <p:sp>
        <p:nvSpPr>
          <p:cNvPr id="19" name="click-1"/>
          <p:cNvSpPr/>
          <p:nvPr/>
        </p:nvSpPr>
        <p:spPr>
          <a:xfrm>
            <a:off x="6446520" y="1737360"/>
            <a:ext cx="49377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Feature request</a:t>
            </a:r>
            <a:pPr indent="0" marL="0">
              <a:buNone/>
            </a:pPr>
            <a:r>
              <a:rPr lang="en-US" sz="1500" dirty="0">
                <a:solidFill>
                  <a:srgbClr val="FFFFFF"/>
                </a:solidFill>
                <a:latin typeface="Calibri" pitchFamily="34" charset="0"/>
                <a:ea typeface="Calibri" pitchFamily="34" charset="-122"/>
                <a:cs typeface="Calibri" pitchFamily="34" charset="-120"/>
              </a:rPr>
              <a:t>   labels: enhancement · needs triage</a:t>
            </a:r>
            <a:endParaRPr lang="en-US" sz="1900" dirty="0"/>
          </a:p>
        </p:txBody>
      </p:sp>
      <p:sp>
        <p:nvSpPr>
          <p:cNvPr id="20" name="click-1"/>
          <p:cNvSpPr/>
          <p:nvPr/>
        </p:nvSpPr>
        <p:spPr>
          <a:xfrm>
            <a:off x="6172200" y="2395728"/>
            <a:ext cx="5440680" cy="2907792"/>
          </a:xfrm>
          <a:prstGeom prst="roundRect">
            <a:avLst>
              <a:gd name="adj" fmla="val 2830"/>
            </a:avLst>
          </a:prstGeom>
          <a:solidFill>
            <a:srgbClr val="F2F6F8"/>
          </a:solidFill>
          <a:ln/>
          <a:effectLst>
            <a:outerShdw sx="100000" sy="100000" kx="0" ky="0" algn="bl" rotWithShape="0" blurRad="88900" dist="38100" dir="5400000">
              <a:srgbClr val="000000">
                <a:alpha val="13000"/>
              </a:srgbClr>
            </a:outerShdw>
          </a:effectLst>
        </p:spPr>
      </p:sp>
      <p:sp>
        <p:nvSpPr>
          <p:cNvPr id="21" name="click-1"/>
          <p:cNvSpPr/>
          <p:nvPr/>
        </p:nvSpPr>
        <p:spPr>
          <a:xfrm>
            <a:off x="6400800" y="2487168"/>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Opening note</a:t>
            </a:r>
            <a:endParaRPr lang="en-US" sz="1500" dirty="0"/>
          </a:p>
        </p:txBody>
      </p:sp>
      <p:sp>
        <p:nvSpPr>
          <p:cNvPr id="22" name="click-1"/>
          <p:cNvSpPr/>
          <p:nvPr/>
        </p:nvSpPr>
        <p:spPr>
          <a:xfrm>
            <a:off x="8549640" y="2487168"/>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"Start with the problem, not the solution," and a link to the non-goals</a:t>
            </a:r>
            <a:endParaRPr lang="en-US" sz="1500" dirty="0"/>
          </a:p>
        </p:txBody>
      </p:sp>
      <p:sp>
        <p:nvSpPr>
          <p:cNvPr id="23" name="click-1"/>
          <p:cNvSpPr/>
          <p:nvPr/>
        </p:nvSpPr>
        <p:spPr>
          <a:xfrm>
            <a:off x="6400800" y="3044952"/>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The problem</a:t>
            </a:r>
            <a:endParaRPr lang="en-US" sz="1500" dirty="0"/>
          </a:p>
        </p:txBody>
      </p:sp>
      <p:sp>
        <p:nvSpPr>
          <p:cNvPr id="24" name="click-1"/>
          <p:cNvSpPr/>
          <p:nvPr/>
        </p:nvSpPr>
        <p:spPr>
          <a:xfrm>
            <a:off x="8549640" y="3044952"/>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What you're trying to do, and what gets in the way: the need</a:t>
            </a:r>
            <a:endParaRPr lang="en-US" sz="1500" dirty="0"/>
          </a:p>
        </p:txBody>
      </p:sp>
      <p:sp>
        <p:nvSpPr>
          <p:cNvPr id="25" name="click-1"/>
          <p:cNvSpPr/>
          <p:nvPr/>
        </p:nvSpPr>
        <p:spPr>
          <a:xfrm>
            <a:off x="6400800" y="3602736"/>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Who has this problem</a:t>
            </a:r>
            <a:endParaRPr lang="en-US" sz="1500" dirty="0"/>
          </a:p>
        </p:txBody>
      </p:sp>
      <p:sp>
        <p:nvSpPr>
          <p:cNvPr id="26" name="click-1"/>
          <p:cNvSpPr/>
          <p:nvPr/>
        </p:nvSpPr>
        <p:spPr>
          <a:xfrm>
            <a:off x="8549640" y="3602736"/>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The user, named</a:t>
            </a:r>
            <a:endParaRPr lang="en-US" sz="1500" dirty="0"/>
          </a:p>
        </p:txBody>
      </p:sp>
      <p:sp>
        <p:nvSpPr>
          <p:cNvPr id="27" name="click-1"/>
          <p:cNvSpPr/>
          <p:nvPr/>
        </p:nvSpPr>
        <p:spPr>
          <a:xfrm>
            <a:off x="6400800" y="4160520"/>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What you do today instead</a:t>
            </a:r>
            <a:endParaRPr lang="en-US" sz="1500" dirty="0"/>
          </a:p>
        </p:txBody>
      </p:sp>
      <p:sp>
        <p:nvSpPr>
          <p:cNvPr id="28" name="click-1"/>
          <p:cNvSpPr/>
          <p:nvPr/>
        </p:nvSpPr>
        <p:spPr>
          <a:xfrm>
            <a:off x="8549640" y="4160520"/>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The workaround: how much the problem costs now</a:t>
            </a:r>
            <a:endParaRPr lang="en-US" sz="1500" dirty="0"/>
          </a:p>
        </p:txBody>
      </p:sp>
      <p:sp>
        <p:nvSpPr>
          <p:cNvPr id="29" name="click-1"/>
          <p:cNvSpPr/>
          <p:nvPr/>
        </p:nvSpPr>
        <p:spPr>
          <a:xfrm>
            <a:off x="6400800" y="4718304"/>
            <a:ext cx="2057400" cy="530352"/>
          </a:xfrm>
          <a:prstGeom prst="rect">
            <a:avLst/>
          </a:prstGeom>
          <a:noFill/>
          <a:ln/>
        </p:spPr>
        <p:txBody>
          <a:bodyPr wrap="square" lIns="0" tIns="0" rIns="0" bIns="0" rtlCol="0" anchor="ctr"/>
          <a:lstStyle/>
          <a:p>
            <a:pPr indent="0" marL="0">
              <a:buNone/>
            </a:pPr>
            <a:r>
              <a:rPr lang="en-US" sz="1500" b="1" dirty="0">
                <a:solidFill>
                  <a:srgbClr val="1E2A36"/>
                </a:solidFill>
                <a:latin typeface="Calibri" pitchFamily="34" charset="0"/>
                <a:ea typeface="Calibri" pitchFamily="34" charset="-122"/>
                <a:cs typeface="Calibri" pitchFamily="34" charset="-120"/>
              </a:rPr>
              <a:t>An idea (optional)</a:t>
            </a:r>
            <a:endParaRPr lang="en-US" sz="1500" dirty="0"/>
          </a:p>
        </p:txBody>
      </p:sp>
      <p:sp>
        <p:nvSpPr>
          <p:cNvPr id="30" name="click-1"/>
          <p:cNvSpPr/>
          <p:nvPr/>
        </p:nvSpPr>
        <p:spPr>
          <a:xfrm>
            <a:off x="8549640" y="4718304"/>
            <a:ext cx="2880360" cy="530352"/>
          </a:xfrm>
          <a:prstGeom prst="rect">
            <a:avLst/>
          </a:prstGeom>
          <a:noFill/>
          <a:ln/>
        </p:spPr>
        <p:txBody>
          <a:bodyPr wrap="square" lIns="0" tIns="0" rIns="0" bIns="0" rtlCol="0" anchor="ctr"/>
          <a:lstStyle/>
          <a:p>
            <a:pPr indent="0" marL="0">
              <a:lnSpc>
                <a:spcPct val="98000"/>
              </a:lnSpc>
              <a:buNone/>
            </a:pPr>
            <a:r>
              <a:rPr lang="en-US" sz="1500" dirty="0">
                <a:solidFill>
                  <a:srgbClr val="5F7284"/>
                </a:solidFill>
                <a:latin typeface="Calibri" pitchFamily="34" charset="0"/>
                <a:ea typeface="Calibri" pitchFamily="34" charset="-122"/>
                <a:cs typeface="Calibri" pitchFamily="34" charset="-120"/>
              </a:rPr>
              <a:t>The solution comes last, and it's optional</a:t>
            </a:r>
            <a:endParaRPr lang="en-US" sz="1500" dirty="0"/>
          </a:p>
        </p:txBody>
      </p:sp>
      <p:sp>
        <p:nvSpPr>
          <p:cNvPr id="31" name="click-2"/>
          <p:cNvSpPr/>
          <p:nvPr/>
        </p:nvSpPr>
        <p:spPr>
          <a:xfrm>
            <a:off x="548640" y="5468112"/>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32" name="click-2"/>
          <p:cNvSpPr/>
          <p:nvPr/>
        </p:nvSpPr>
        <p:spPr>
          <a:xfrm>
            <a:off x="868680" y="5468112"/>
            <a:ext cx="10424160"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Each form's labels: line triages it on arrival. Create the labels first: a form silently skips any label the repo doesn't have.</a:t>
            </a:r>
            <a:endParaRPr lang="en-US" sz="1600" dirty="0"/>
          </a:p>
        </p:txBody>
      </p:sp>
      <p:sp>
        <p:nvSpPr>
          <p:cNvPr id="33" name="Text 3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34" name="Text 3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4" presetID="1" presetClass="entr" presetSubtype="0"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BEFORE THERE'S CODE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An honest status beats a quickstart that fails</a:t>
            </a:r>
            <a:endParaRPr lang="en-US" sz="3100" dirty="0"/>
          </a:p>
        </p:txBody>
      </p:sp>
      <p:sp>
        <p:nvSpPr>
          <p:cNvPr id="5" name="Text 3"/>
          <p:cNvSpPr/>
          <p:nvPr/>
        </p:nvSpPr>
        <p:spPr>
          <a:xfrm>
            <a:off x="548640" y="1737360"/>
            <a:ext cx="5440680" cy="36576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README.md</a:t>
            </a:r>
            <a:endParaRPr lang="en-US" sz="1600" dirty="0"/>
          </a:p>
        </p:txBody>
      </p:sp>
      <p:sp>
        <p:nvSpPr>
          <p:cNvPr id="6" name="Shape 4"/>
          <p:cNvSpPr/>
          <p:nvPr/>
        </p:nvSpPr>
        <p:spPr>
          <a:xfrm>
            <a:off x="548640" y="2148840"/>
            <a:ext cx="5440680" cy="2834640"/>
          </a:xfrm>
          <a:prstGeom prst="roundRect">
            <a:avLst>
              <a:gd name="adj" fmla="val 2581"/>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313432"/>
            <a:ext cx="4892040" cy="2505456"/>
          </a:xfrm>
          <a:prstGeom prst="rect">
            <a:avLst/>
          </a:prstGeom>
          <a:noFill/>
          <a:ln/>
        </p:spPr>
        <p:txBody>
          <a:bodyPr wrap="square" lIns="0" tIns="0" rIns="0" bIns="0" rtlCol="0" anchor="t"/>
          <a:lstStyle/>
          <a:p>
            <a:pPr indent="0" marL="0">
              <a:lnSpc>
                <a:spcPct val="105000"/>
              </a:lnSpc>
              <a:buNone/>
            </a:pPr>
            <a:r>
              <a:rPr lang="en-US" sz="1800" dirty="0">
                <a:solidFill>
                  <a:srgbClr val="9FE0B5"/>
                </a:solidFill>
                <a:latin typeface="Consolas" pitchFamily="34" charset="0"/>
                <a:ea typeface="Consolas" pitchFamily="34" charset="-122"/>
                <a:cs typeface="Consolas" pitchFamily="34" charset="-120"/>
              </a:rPr>
              <a:t>## Status</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 </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Early development. Nothing</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runs yet: the first build</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lands in November. Setup</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instructions will be in</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docs/setup.md.</a:t>
            </a:r>
            <a:endParaRPr lang="en-US" sz="1800" dirty="0"/>
          </a:p>
        </p:txBody>
      </p:sp>
      <p:sp>
        <p:nvSpPr>
          <p:cNvPr id="8" name="Text 6"/>
          <p:cNvSpPr/>
          <p:nvPr/>
        </p:nvSpPr>
        <p:spPr>
          <a:xfrm>
            <a:off x="6172200" y="1737360"/>
            <a:ext cx="5440680" cy="365760"/>
          </a:xfrm>
          <a:prstGeom prst="rect">
            <a:avLst/>
          </a:prstGeom>
          <a:noFill/>
          <a:ln/>
        </p:spPr>
        <p:txBody>
          <a:bodyPr wrap="square" lIns="0" tIns="0" rIns="0" bIns="0" rtlCol="0" anchor="ctr"/>
          <a:lstStyle/>
          <a:p>
            <a:pPr indent="0" marL="0">
              <a:buNone/>
            </a:pPr>
            <a:r>
              <a:rPr lang="en-US" sz="1600" b="1" dirty="0">
                <a:solidFill>
                  <a:srgbClr val="0E6E6D"/>
                </a:solidFill>
                <a:latin typeface="Consolas" pitchFamily="34" charset="0"/>
                <a:ea typeface="Consolas" pitchFamily="34" charset="-122"/>
                <a:cs typeface="Consolas" pitchFamily="34" charset="-120"/>
              </a:rPr>
              <a:t>docs/setup.md</a:t>
            </a:r>
            <a:endParaRPr lang="en-US" sz="1600" dirty="0"/>
          </a:p>
        </p:txBody>
      </p:sp>
      <p:sp>
        <p:nvSpPr>
          <p:cNvPr id="9" name="Shape 7"/>
          <p:cNvSpPr/>
          <p:nvPr/>
        </p:nvSpPr>
        <p:spPr>
          <a:xfrm>
            <a:off x="6172200" y="2148840"/>
            <a:ext cx="5440680" cy="2834640"/>
          </a:xfrm>
          <a:prstGeom prst="roundRect">
            <a:avLst>
              <a:gd name="adj" fmla="val 2581"/>
            </a:avLst>
          </a:prstGeom>
          <a:solidFill>
            <a:srgbClr val="1E3352"/>
          </a:solidFill>
          <a:ln/>
          <a:effectLst>
            <a:outerShdw sx="100000" sy="100000" kx="0" ky="0" algn="bl" rotWithShape="0" blurRad="88900" dist="38100" dir="5400000">
              <a:srgbClr val="000000">
                <a:alpha val="13000"/>
              </a:srgbClr>
            </a:outerShdw>
          </a:effectLst>
        </p:spPr>
      </p:sp>
      <p:sp>
        <p:nvSpPr>
          <p:cNvPr id="10" name="Text 8"/>
          <p:cNvSpPr/>
          <p:nvPr/>
        </p:nvSpPr>
        <p:spPr>
          <a:xfrm>
            <a:off x="6446520" y="2313432"/>
            <a:ext cx="4892040" cy="2505456"/>
          </a:xfrm>
          <a:prstGeom prst="rect">
            <a:avLst/>
          </a:prstGeom>
          <a:noFill/>
          <a:ln/>
        </p:spPr>
        <p:txBody>
          <a:bodyPr wrap="square" lIns="0" tIns="0" rIns="0" bIns="0" rtlCol="0" anchor="t"/>
          <a:lstStyle/>
          <a:p>
            <a:pPr indent="0" marL="0">
              <a:lnSpc>
                <a:spcPct val="105000"/>
              </a:lnSpc>
              <a:buNone/>
            </a:pPr>
            <a:r>
              <a:rPr lang="en-US" sz="1800" dirty="0">
                <a:solidFill>
                  <a:srgbClr val="9FE0B5"/>
                </a:solidFill>
                <a:latin typeface="Consolas" pitchFamily="34" charset="0"/>
                <a:ea typeface="Consolas" pitchFamily="34" charset="-122"/>
                <a:cs typeface="Consolas" pitchFamily="34" charset="-120"/>
              </a:rPr>
              <a:t># Setting up</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 </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Stack: Python 3.12, Django,</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SQLite</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 </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Setup instructions arrive</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with the first runnable</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build. Tracked in #1.</a:t>
            </a:r>
            <a:endParaRPr lang="en-US" sz="1800" dirty="0"/>
          </a:p>
        </p:txBody>
      </p:sp>
      <p:sp>
        <p:nvSpPr>
          <p:cNvPr id="11" name="Shape 9"/>
          <p:cNvSpPr/>
          <p:nvPr/>
        </p:nvSpPr>
        <p:spPr>
          <a:xfrm>
            <a:off x="548640" y="5212080"/>
            <a:ext cx="1106424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12" name="Text 10"/>
          <p:cNvSpPr/>
          <p:nvPr/>
        </p:nvSpPr>
        <p:spPr>
          <a:xfrm>
            <a:off x="868680" y="5212080"/>
            <a:ext cx="10424160" cy="960120"/>
          </a:xfrm>
          <a:prstGeom prst="rect">
            <a:avLst/>
          </a:prstGeom>
          <a:noFill/>
          <a:ln/>
        </p:spPr>
        <p:txBody>
          <a:bodyPr wrap="square" lIns="0" tIns="0" rIns="0" bIns="0" rtlCol="0" anchor="ctr"/>
          <a:lstStyle/>
          <a:p>
            <a:pPr indent="0" marL="0">
              <a:lnSpc>
                <a:spcPct val="104000"/>
              </a:lnSpc>
              <a:buNone/>
            </a:pPr>
            <a:r>
              <a:rPr lang="en-US" sz="1650" b="1" dirty="0">
                <a:solidFill>
                  <a:srgbClr val="1E2A36"/>
                </a:solidFill>
                <a:latin typeface="Calibri" pitchFamily="34" charset="0"/>
                <a:ea typeface="Calibri" pitchFamily="34" charset="-122"/>
                <a:cs typeface="Calibri" pitchFamily="34" charset="-120"/>
              </a:rPr>
              <a:t>A stranger who reads "not yet" knows what to expect. A stranger whose quickstart fails assumes the whole project is broken.</a:t>
            </a:r>
            <a:endParaRPr lang="en-US" sz="165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BUILD BLOCK 2 · 20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Start the write-it-yourself items</a:t>
            </a:r>
            <a:endParaRPr lang="en-US" sz="3100" dirty="0"/>
          </a:p>
        </p:txBody>
      </p:sp>
      <p:sp>
        <p:nvSpPr>
          <p:cNvPr id="5" name="Shape 3"/>
          <p:cNvSpPr/>
          <p:nvPr/>
        </p:nvSpPr>
        <p:spPr>
          <a:xfrm>
            <a:off x="548640" y="1783080"/>
            <a:ext cx="5440680" cy="3429000"/>
          </a:xfrm>
          <a:prstGeom prst="roundRect">
            <a:avLst>
              <a:gd name="adj" fmla="val 2400"/>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68680" y="1920240"/>
            <a:ext cx="4846320" cy="457200"/>
          </a:xfrm>
          <a:prstGeom prst="rect">
            <a:avLst/>
          </a:prstGeom>
          <a:noFill/>
          <a:ln/>
        </p:spPr>
        <p:txBody>
          <a:bodyPr wrap="square" lIns="0" tIns="0" rIns="0" bIns="0" rtlCol="0" anchor="ctr"/>
          <a:lstStyle/>
          <a:p>
            <a:pPr indent="0" marL="0">
              <a:buNone/>
            </a:pPr>
            <a:r>
              <a:rPr lang="en-US" sz="1800" b="1" dirty="0">
                <a:solidFill>
                  <a:srgbClr val="0E6E6D"/>
                </a:solidFill>
                <a:latin typeface="Consolas" pitchFamily="34" charset="0"/>
                <a:ea typeface="Consolas" pitchFamily="34" charset="-122"/>
                <a:cs typeface="Consolas" pitchFamily="34" charset="-120"/>
              </a:rPr>
              <a:t>CONTRIBUTING.md</a:t>
            </a:r>
            <a:endParaRPr lang="en-US" sz="1800" dirty="0"/>
          </a:p>
        </p:txBody>
      </p:sp>
      <p:sp>
        <p:nvSpPr>
          <p:cNvPr id="7" name="Text 5"/>
          <p:cNvSpPr/>
          <p:nvPr/>
        </p:nvSpPr>
        <p:spPr>
          <a:xfrm>
            <a:off x="868680" y="2377440"/>
            <a:ext cx="4846320" cy="365760"/>
          </a:xfrm>
          <a:prstGeom prst="rect">
            <a:avLst/>
          </a:prstGeom>
          <a:noFill/>
          <a:ln/>
        </p:spPr>
        <p:txBody>
          <a:bodyPr wrap="square" lIns="0" tIns="0" rIns="0" bIns="0" rtlCol="0" anchor="ctr"/>
          <a:lstStyle/>
          <a:p>
            <a:pPr indent="0" marL="0">
              <a:buNone/>
            </a:pPr>
            <a:r>
              <a:rPr lang="en-US" sz="1500" i="1" dirty="0">
                <a:solidFill>
                  <a:srgbClr val="5F7284"/>
                </a:solidFill>
                <a:latin typeface="Calibri" pitchFamily="34" charset="0"/>
                <a:ea typeface="Calibri" pitchFamily="34" charset="-122"/>
                <a:cs typeface="Calibri" pitchFamily="34" charset="-120"/>
              </a:rPr>
              <a:t>Grow it from your git standards, in this order:</a:t>
            </a:r>
            <a:endParaRPr lang="en-US" sz="1500" dirty="0"/>
          </a:p>
        </p:txBody>
      </p:sp>
      <p:sp>
        <p:nvSpPr>
          <p:cNvPr id="8" name="Shape 6"/>
          <p:cNvSpPr/>
          <p:nvPr/>
        </p:nvSpPr>
        <p:spPr>
          <a:xfrm>
            <a:off x="868680" y="2871216"/>
            <a:ext cx="329184" cy="329184"/>
          </a:xfrm>
          <a:prstGeom prst="ellipse">
            <a:avLst/>
          </a:prstGeom>
          <a:solidFill>
            <a:srgbClr val="E8A33D"/>
          </a:solidFill>
          <a:ln/>
        </p:spPr>
      </p:sp>
      <p:sp>
        <p:nvSpPr>
          <p:cNvPr id="9" name="Text 7"/>
          <p:cNvSpPr/>
          <p:nvPr/>
        </p:nvSpPr>
        <p:spPr>
          <a:xfrm>
            <a:off x="868680" y="2871216"/>
            <a:ext cx="329184" cy="329184"/>
          </a:xfrm>
          <a:prstGeom prst="rect">
            <a:avLst/>
          </a:prstGeom>
          <a:noFill/>
          <a:ln/>
        </p:spPr>
        <p:txBody>
          <a:bodyPr wrap="square" lIns="0" tIns="0" rIns="0" bIns="0" rtlCol="0" anchor="ctr"/>
          <a:lstStyle/>
          <a:p>
            <a:pPr algn="ctr" indent="0" marL="0">
              <a:buNone/>
            </a:pPr>
            <a:r>
              <a:rPr lang="en-US" sz="1400" b="1" dirty="0">
                <a:solidFill>
                  <a:srgbClr val="14233A"/>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371600" y="2834640"/>
            <a:ext cx="4389120" cy="402336"/>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Welcome</a:t>
            </a:r>
            <a:endParaRPr lang="en-US" sz="1700" dirty="0"/>
          </a:p>
        </p:txBody>
      </p:sp>
      <p:sp>
        <p:nvSpPr>
          <p:cNvPr id="11" name="Shape 9"/>
          <p:cNvSpPr/>
          <p:nvPr/>
        </p:nvSpPr>
        <p:spPr>
          <a:xfrm>
            <a:off x="868680" y="3328416"/>
            <a:ext cx="329184" cy="329184"/>
          </a:xfrm>
          <a:prstGeom prst="ellipse">
            <a:avLst/>
          </a:prstGeom>
          <a:solidFill>
            <a:srgbClr val="E8A33D"/>
          </a:solidFill>
          <a:ln/>
        </p:spPr>
      </p:sp>
      <p:sp>
        <p:nvSpPr>
          <p:cNvPr id="12" name="Text 10"/>
          <p:cNvSpPr/>
          <p:nvPr/>
        </p:nvSpPr>
        <p:spPr>
          <a:xfrm>
            <a:off x="868680" y="3328416"/>
            <a:ext cx="329184" cy="329184"/>
          </a:xfrm>
          <a:prstGeom prst="rect">
            <a:avLst/>
          </a:prstGeom>
          <a:noFill/>
          <a:ln/>
        </p:spPr>
        <p:txBody>
          <a:bodyPr wrap="square" lIns="0" tIns="0" rIns="0" bIns="0" rtlCol="0" anchor="ctr"/>
          <a:lstStyle/>
          <a:p>
            <a:pPr algn="ctr" indent="0" marL="0">
              <a:buNone/>
            </a:pPr>
            <a:r>
              <a:rPr lang="en-US" sz="1400" b="1" dirty="0">
                <a:solidFill>
                  <a:srgbClr val="14233A"/>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71600" y="3291840"/>
            <a:ext cx="4389120" cy="402336"/>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What to do first</a:t>
            </a:r>
            <a:endParaRPr lang="en-US" sz="1700" dirty="0"/>
          </a:p>
        </p:txBody>
      </p:sp>
      <p:sp>
        <p:nvSpPr>
          <p:cNvPr id="14" name="Shape 12"/>
          <p:cNvSpPr/>
          <p:nvPr/>
        </p:nvSpPr>
        <p:spPr>
          <a:xfrm>
            <a:off x="868680" y="3785616"/>
            <a:ext cx="329184" cy="329184"/>
          </a:xfrm>
          <a:prstGeom prst="ellipse">
            <a:avLst/>
          </a:prstGeom>
          <a:solidFill>
            <a:srgbClr val="12908F"/>
          </a:solidFill>
          <a:ln/>
        </p:spPr>
      </p:sp>
      <p:sp>
        <p:nvSpPr>
          <p:cNvPr id="15" name="Text 13"/>
          <p:cNvSpPr/>
          <p:nvPr/>
        </p:nvSpPr>
        <p:spPr>
          <a:xfrm>
            <a:off x="868680" y="37856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371600" y="3749040"/>
            <a:ext cx="4389120" cy="402336"/>
          </a:xfrm>
          <a:prstGeom prst="rect">
            <a:avLst/>
          </a:prstGeom>
          <a:noFill/>
          <a:ln/>
        </p:spPr>
        <p:txBody>
          <a:bodyPr wrap="square" lIns="0" tIns="0" rIns="0" bIns="0" rtlCol="0" anchor="ctr"/>
          <a:lstStyle/>
          <a:p>
            <a:pPr indent="0" marL="0">
              <a:buNone/>
            </a:pPr>
            <a:r>
              <a:rPr lang="en-US" sz="1700" dirty="0">
                <a:solidFill>
                  <a:srgbClr val="1E2A36"/>
                </a:solidFill>
                <a:latin typeface="Calibri" pitchFamily="34" charset="0"/>
                <a:ea typeface="Calibri" pitchFamily="34" charset="-122"/>
                <a:cs typeface="Calibri" pitchFamily="34" charset="-120"/>
              </a:rPr>
              <a:t>How to pick work</a:t>
            </a:r>
            <a:endParaRPr lang="en-US" sz="1700" dirty="0"/>
          </a:p>
        </p:txBody>
      </p:sp>
      <p:sp>
        <p:nvSpPr>
          <p:cNvPr id="17" name="Shape 15"/>
          <p:cNvSpPr/>
          <p:nvPr/>
        </p:nvSpPr>
        <p:spPr>
          <a:xfrm>
            <a:off x="868680" y="4242816"/>
            <a:ext cx="329184" cy="329184"/>
          </a:xfrm>
          <a:prstGeom prst="ellipse">
            <a:avLst/>
          </a:prstGeom>
          <a:solidFill>
            <a:srgbClr val="12908F"/>
          </a:solidFill>
          <a:ln/>
        </p:spPr>
      </p:sp>
      <p:sp>
        <p:nvSpPr>
          <p:cNvPr id="18" name="Text 16"/>
          <p:cNvSpPr/>
          <p:nvPr/>
        </p:nvSpPr>
        <p:spPr>
          <a:xfrm>
            <a:off x="868680" y="42428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371600" y="4206240"/>
            <a:ext cx="4389120" cy="402336"/>
          </a:xfrm>
          <a:prstGeom prst="rect">
            <a:avLst/>
          </a:prstGeom>
          <a:noFill/>
          <a:ln/>
        </p:spPr>
        <p:txBody>
          <a:bodyPr wrap="square" lIns="0" tIns="0" rIns="0" bIns="0" rtlCol="0" anchor="ctr"/>
          <a:lstStyle/>
          <a:p>
            <a:pPr indent="0" marL="0">
              <a:buNone/>
            </a:pPr>
            <a:r>
              <a:rPr lang="en-US" sz="1700" dirty="0">
                <a:solidFill>
                  <a:srgbClr val="1E2A36"/>
                </a:solidFill>
                <a:latin typeface="Calibri" pitchFamily="34" charset="0"/>
                <a:ea typeface="Calibri" pitchFamily="34" charset="-122"/>
                <a:cs typeface="Calibri" pitchFamily="34" charset="-120"/>
              </a:rPr>
              <a:t>The PR process and reviews</a:t>
            </a:r>
            <a:endParaRPr lang="en-US" sz="1700" dirty="0"/>
          </a:p>
        </p:txBody>
      </p:sp>
      <p:sp>
        <p:nvSpPr>
          <p:cNvPr id="20" name="Shape 18"/>
          <p:cNvSpPr/>
          <p:nvPr/>
        </p:nvSpPr>
        <p:spPr>
          <a:xfrm>
            <a:off x="868680" y="4700016"/>
            <a:ext cx="329184" cy="329184"/>
          </a:xfrm>
          <a:prstGeom prst="ellipse">
            <a:avLst/>
          </a:prstGeom>
          <a:solidFill>
            <a:srgbClr val="12908F"/>
          </a:solidFill>
          <a:ln/>
        </p:spPr>
      </p:sp>
      <p:sp>
        <p:nvSpPr>
          <p:cNvPr id="21" name="Text 19"/>
          <p:cNvSpPr/>
          <p:nvPr/>
        </p:nvSpPr>
        <p:spPr>
          <a:xfrm>
            <a:off x="868680" y="470001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371600" y="4663440"/>
            <a:ext cx="4389120" cy="402336"/>
          </a:xfrm>
          <a:prstGeom prst="rect">
            <a:avLst/>
          </a:prstGeom>
          <a:noFill/>
          <a:ln/>
        </p:spPr>
        <p:txBody>
          <a:bodyPr wrap="square" lIns="0" tIns="0" rIns="0" bIns="0" rtlCol="0" anchor="ctr"/>
          <a:lstStyle/>
          <a:p>
            <a:pPr indent="0" marL="0">
              <a:buNone/>
            </a:pPr>
            <a:r>
              <a:rPr lang="en-US" sz="1700" dirty="0">
                <a:solidFill>
                  <a:srgbClr val="1E2A36"/>
                </a:solidFill>
                <a:latin typeface="Calibri" pitchFamily="34" charset="0"/>
                <a:ea typeface="Calibri" pitchFamily="34" charset="-122"/>
                <a:cs typeface="Calibri" pitchFamily="34" charset="-120"/>
              </a:rPr>
              <a:t>Policy, last</a:t>
            </a:r>
            <a:endParaRPr lang="en-US" sz="1700" dirty="0"/>
          </a:p>
        </p:txBody>
      </p:sp>
      <p:sp>
        <p:nvSpPr>
          <p:cNvPr id="23" name="Shape 21"/>
          <p:cNvSpPr/>
          <p:nvPr/>
        </p:nvSpPr>
        <p:spPr>
          <a:xfrm>
            <a:off x="6172200" y="1783080"/>
            <a:ext cx="5440680" cy="3429000"/>
          </a:xfrm>
          <a:prstGeom prst="roundRect">
            <a:avLst>
              <a:gd name="adj" fmla="val 2400"/>
            </a:avLst>
          </a:prstGeom>
          <a:solidFill>
            <a:srgbClr val="F2F6F8"/>
          </a:solidFill>
          <a:ln/>
          <a:effectLst>
            <a:outerShdw sx="100000" sy="100000" kx="0" ky="0" algn="bl" rotWithShape="0" blurRad="88900" dist="38100" dir="5400000">
              <a:srgbClr val="000000">
                <a:alpha val="13000"/>
              </a:srgbClr>
            </a:outerShdw>
          </a:effectLst>
        </p:spPr>
      </p:sp>
      <p:sp>
        <p:nvSpPr>
          <p:cNvPr id="24" name="Text 22"/>
          <p:cNvSpPr/>
          <p:nvPr/>
        </p:nvSpPr>
        <p:spPr>
          <a:xfrm>
            <a:off x="6492240" y="1920240"/>
            <a:ext cx="4846320" cy="457200"/>
          </a:xfrm>
          <a:prstGeom prst="rect">
            <a:avLst/>
          </a:prstGeom>
          <a:noFill/>
          <a:ln/>
        </p:spPr>
        <p:txBody>
          <a:bodyPr wrap="square" lIns="0" tIns="0" rIns="0" bIns="0" rtlCol="0" anchor="ctr"/>
          <a:lstStyle/>
          <a:p>
            <a:pPr indent="0" marL="0">
              <a:buNone/>
            </a:pPr>
            <a:r>
              <a:rPr lang="en-US" sz="1800" b="1" dirty="0">
                <a:solidFill>
                  <a:srgbClr val="0E6E6D"/>
                </a:solidFill>
                <a:latin typeface="Consolas" pitchFamily="34" charset="0"/>
                <a:ea typeface="Consolas" pitchFamily="34" charset="-122"/>
                <a:cs typeface="Consolas" pitchFamily="34" charset="-120"/>
              </a:rPr>
              <a:t>docs/communication-norms.md</a:t>
            </a:r>
            <a:endParaRPr lang="en-US" sz="1800" dirty="0"/>
          </a:p>
        </p:txBody>
      </p:sp>
      <p:sp>
        <p:nvSpPr>
          <p:cNvPr id="25" name="Text 23"/>
          <p:cNvSpPr/>
          <p:nvPr/>
        </p:nvSpPr>
        <p:spPr>
          <a:xfrm>
            <a:off x="6492240" y="2468880"/>
            <a:ext cx="4892040" cy="265176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rgbClr val="1E2A36"/>
                </a:solidFill>
                <a:latin typeface="Calibri" pitchFamily="34" charset="0"/>
                <a:ea typeface="Calibri" pitchFamily="34" charset="-122"/>
                <a:cs typeface="Calibri" pitchFamily="34" charset="-120"/>
              </a:rPr>
              <a:t>Where discussion happens</a:t>
            </a:r>
            <a:endParaRPr lang="en-US" sz="1600" dirty="0"/>
          </a:p>
          <a:p>
            <a:pPr marL="203200" indent="-203200">
              <a:spcAft>
                <a:spcPts val="700"/>
              </a:spcAft>
              <a:buSzPct val="100000"/>
              <a:buChar char="•"/>
            </a:pPr>
            <a:r>
              <a:rPr lang="en-US" sz="1600" dirty="0">
                <a:solidFill>
                  <a:srgbClr val="1E2A36"/>
                </a:solidFill>
                <a:latin typeface="Calibri" pitchFamily="34" charset="0"/>
                <a:ea typeface="Calibri" pitchFamily="34" charset="-122"/>
                <a:cs typeface="Calibri" pitchFamily="34" charset="-120"/>
              </a:rPr>
              <a:t>Response times you can keep: "within a week," not "24/7"</a:t>
            </a:r>
            <a:endParaRPr lang="en-US" sz="1600" dirty="0"/>
          </a:p>
          <a:p>
            <a:pPr marL="203200" indent="-203200">
              <a:spcAft>
                <a:spcPts val="700"/>
              </a:spcAft>
              <a:buSzPct val="100000"/>
              <a:buChar char="•"/>
            </a:pPr>
            <a:r>
              <a:rPr lang="en-US" sz="1600" dirty="0">
                <a:solidFill>
                  <a:srgbClr val="1E2A36"/>
                </a:solidFill>
                <a:latin typeface="Calibri" pitchFamily="34" charset="0"/>
                <a:ea typeface="Calibri" pitchFamily="34" charset="-122"/>
                <a:cs typeface="Calibri" pitchFamily="34" charset="-120"/>
              </a:rPr>
              <a:t>Who maintains</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How decisions get made. Solo: how does a contributor's proposal get decided, and where?</a:t>
            </a:r>
            <a:endParaRPr lang="en-US" sz="1600" dirty="0"/>
          </a:p>
        </p:txBody>
      </p:sp>
      <p:sp>
        <p:nvSpPr>
          <p:cNvPr id="26" name="Shape 24"/>
          <p:cNvSpPr/>
          <p:nvPr/>
        </p:nvSpPr>
        <p:spPr>
          <a:xfrm>
            <a:off x="548640" y="5440680"/>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27" name="Text 25"/>
          <p:cNvSpPr/>
          <p:nvPr/>
        </p:nvSpPr>
        <p:spPr>
          <a:xfrm>
            <a:off x="868680" y="5440680"/>
            <a:ext cx="1042416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both drafted far enough that a stranger can read them, merged or on an open PR.</a:t>
            </a:r>
            <a:endParaRPr lang="en-US" sz="1700" dirty="0"/>
          </a:p>
        </p:txBody>
      </p:sp>
      <p:sp>
        <p:nvSpPr>
          <p:cNvPr id="28" name="Text 2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29"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STRANGER'S READ · 15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Read your partner's front door cold</a:t>
            </a:r>
            <a:endParaRPr lang="en-US" sz="3200" dirty="0"/>
          </a:p>
        </p:txBody>
      </p:sp>
      <p:sp>
        <p:nvSpPr>
          <p:cNvPr id="6" name="Shape 4"/>
          <p:cNvSpPr/>
          <p:nvPr/>
        </p:nvSpPr>
        <p:spPr>
          <a:xfrm>
            <a:off x="548640" y="1783080"/>
            <a:ext cx="11064240" cy="749808"/>
          </a:xfrm>
          <a:prstGeom prst="roundRect">
            <a:avLst>
              <a:gd name="adj" fmla="val 10976"/>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77240" y="1920240"/>
            <a:ext cx="475488" cy="475488"/>
          </a:xfrm>
          <a:prstGeom prst="ellipse">
            <a:avLst/>
          </a:prstGeom>
          <a:solidFill>
            <a:srgbClr val="E8A33D"/>
          </a:solidFill>
          <a:ln/>
        </p:spPr>
      </p:sp>
      <p:sp>
        <p:nvSpPr>
          <p:cNvPr id="8" name="Text 6"/>
          <p:cNvSpPr/>
          <p:nvPr/>
        </p:nvSpPr>
        <p:spPr>
          <a:xfrm>
            <a:off x="777240" y="1920240"/>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1463040" y="1783080"/>
            <a:ext cx="3657600" cy="7498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Open it the way a stranger would</a:t>
            </a:r>
            <a:endParaRPr lang="en-US" sz="1700" dirty="0"/>
          </a:p>
        </p:txBody>
      </p:sp>
      <p:sp>
        <p:nvSpPr>
          <p:cNvPr id="10" name="Text 8"/>
          <p:cNvSpPr/>
          <p:nvPr/>
        </p:nvSpPr>
        <p:spPr>
          <a:xfrm>
            <a:off x="5120640" y="1783080"/>
            <a:ext cx="6263640" cy="749808"/>
          </a:xfrm>
          <a:prstGeom prst="rect">
            <a:avLst/>
          </a:prstGeom>
          <a:noFill/>
          <a:ln/>
        </p:spPr>
        <p:txBody>
          <a:bodyPr wrap="square" lIns="0" tIns="0" rIns="0" bIns="0" rtlCol="0" anchor="ctr"/>
          <a:lstStyle/>
          <a:p>
            <a:pPr indent="0" marL="0">
              <a:lnSpc>
                <a:spcPct val="102000"/>
              </a:lnSpc>
              <a:buNone/>
            </a:pPr>
            <a:r>
              <a:rPr lang="en-US" sz="1500" dirty="0">
                <a:solidFill>
                  <a:srgbClr val="CFE0E9"/>
                </a:solidFill>
                <a:latin typeface="Calibri" pitchFamily="34" charset="0"/>
                <a:ea typeface="Calibri" pitchFamily="34" charset="-122"/>
                <a:cs typeface="Calibri" pitchFamily="34" charset="-120"/>
              </a:rPr>
              <a:t>Private, logged-out browser window. Their repo, not their screen.</a:t>
            </a:r>
            <a:endParaRPr lang="en-US" sz="1500" dirty="0"/>
          </a:p>
        </p:txBody>
      </p:sp>
      <p:sp>
        <p:nvSpPr>
          <p:cNvPr id="11" name="Shape 9"/>
          <p:cNvSpPr/>
          <p:nvPr/>
        </p:nvSpPr>
        <p:spPr>
          <a:xfrm>
            <a:off x="548640" y="2651760"/>
            <a:ext cx="11064240" cy="749808"/>
          </a:xfrm>
          <a:prstGeom prst="roundRect">
            <a:avLst>
              <a:gd name="adj" fmla="val 10976"/>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77240" y="2788920"/>
            <a:ext cx="475488" cy="475488"/>
          </a:xfrm>
          <a:prstGeom prst="ellipse">
            <a:avLst/>
          </a:prstGeom>
          <a:solidFill>
            <a:srgbClr val="E8A33D"/>
          </a:solidFill>
          <a:ln/>
        </p:spPr>
      </p:sp>
      <p:sp>
        <p:nvSpPr>
          <p:cNvPr id="13" name="Text 11"/>
          <p:cNvSpPr/>
          <p:nvPr/>
        </p:nvSpPr>
        <p:spPr>
          <a:xfrm>
            <a:off x="777240" y="2788920"/>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1463040" y="2651760"/>
            <a:ext cx="3657600" cy="7498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README, then CONTRIBUTING</a:t>
            </a:r>
            <a:endParaRPr lang="en-US" sz="1700" dirty="0"/>
          </a:p>
        </p:txBody>
      </p:sp>
      <p:sp>
        <p:nvSpPr>
          <p:cNvPr id="15" name="Text 13"/>
          <p:cNvSpPr/>
          <p:nvPr/>
        </p:nvSpPr>
        <p:spPr>
          <a:xfrm>
            <a:off x="5120640" y="2651760"/>
            <a:ext cx="6263640" cy="749808"/>
          </a:xfrm>
          <a:prstGeom prst="rect">
            <a:avLst/>
          </a:prstGeom>
          <a:noFill/>
          <a:ln/>
        </p:spPr>
        <p:txBody>
          <a:bodyPr wrap="square" lIns="0" tIns="0" rIns="0" bIns="0" rtlCol="0" anchor="ctr"/>
          <a:lstStyle/>
          <a:p>
            <a:pPr indent="0" marL="0">
              <a:lnSpc>
                <a:spcPct val="102000"/>
              </a:lnSpc>
              <a:buNone/>
            </a:pPr>
            <a:r>
              <a:rPr lang="en-US" sz="1500" dirty="0">
                <a:solidFill>
                  <a:srgbClr val="CFE0E9"/>
                </a:solidFill>
                <a:latin typeface="Calibri" pitchFamily="34" charset="0"/>
                <a:ea typeface="Calibri" pitchFamily="34" charset="-122"/>
                <a:cs typeface="Calibri" pitchFamily="34" charset="-120"/>
              </a:rPr>
              <a:t>About five minutes each. Don't ask the author anything; if you'd have to ask, write it down.</a:t>
            </a:r>
            <a:endParaRPr lang="en-US" sz="1500" dirty="0"/>
          </a:p>
        </p:txBody>
      </p:sp>
      <p:sp>
        <p:nvSpPr>
          <p:cNvPr id="16" name="Shape 14"/>
          <p:cNvSpPr/>
          <p:nvPr/>
        </p:nvSpPr>
        <p:spPr>
          <a:xfrm>
            <a:off x="548640" y="3520440"/>
            <a:ext cx="11064240" cy="749808"/>
          </a:xfrm>
          <a:prstGeom prst="roundRect">
            <a:avLst>
              <a:gd name="adj" fmla="val 10976"/>
            </a:avLst>
          </a:prstGeom>
          <a:solidFill>
            <a:srgbClr val="1E3352"/>
          </a:solidFill>
          <a:ln/>
          <a:effectLst>
            <a:outerShdw sx="100000" sy="100000" kx="0" ky="0" algn="bl" rotWithShape="0" blurRad="88900" dist="38100" dir="5400000">
              <a:srgbClr val="000000">
                <a:alpha val="13000"/>
              </a:srgbClr>
            </a:outerShdw>
          </a:effectLst>
        </p:spPr>
      </p:sp>
      <p:sp>
        <p:nvSpPr>
          <p:cNvPr id="17" name="Shape 15"/>
          <p:cNvSpPr/>
          <p:nvPr/>
        </p:nvSpPr>
        <p:spPr>
          <a:xfrm>
            <a:off x="777240" y="3657600"/>
            <a:ext cx="475488" cy="475488"/>
          </a:xfrm>
          <a:prstGeom prst="ellipse">
            <a:avLst/>
          </a:prstGeom>
          <a:solidFill>
            <a:srgbClr val="E8A33D"/>
          </a:solidFill>
          <a:ln/>
        </p:spPr>
      </p:sp>
      <p:sp>
        <p:nvSpPr>
          <p:cNvPr id="18" name="Text 16"/>
          <p:cNvSpPr/>
          <p:nvPr/>
        </p:nvSpPr>
        <p:spPr>
          <a:xfrm>
            <a:off x="777240" y="3657600"/>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1463040" y="3520440"/>
            <a:ext cx="3657600" cy="7498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Fill in the Stranger's Read sheet</a:t>
            </a:r>
            <a:endParaRPr lang="en-US" sz="1700" dirty="0"/>
          </a:p>
        </p:txBody>
      </p:sp>
      <p:sp>
        <p:nvSpPr>
          <p:cNvPr id="20" name="Text 18"/>
          <p:cNvSpPr/>
          <p:nvPr/>
        </p:nvSpPr>
        <p:spPr>
          <a:xfrm>
            <a:off x="5120640" y="3520440"/>
            <a:ext cx="6263640" cy="749808"/>
          </a:xfrm>
          <a:prstGeom prst="rect">
            <a:avLst/>
          </a:prstGeom>
          <a:noFill/>
          <a:ln/>
        </p:spPr>
        <p:txBody>
          <a:bodyPr wrap="square" lIns="0" tIns="0" rIns="0" bIns="0" rtlCol="0" anchor="ctr"/>
          <a:lstStyle/>
          <a:p>
            <a:pPr indent="0" marL="0">
              <a:lnSpc>
                <a:spcPct val="102000"/>
              </a:lnSpc>
              <a:buNone/>
            </a:pPr>
            <a:r>
              <a:rPr lang="en-US" sz="1500" dirty="0">
                <a:solidFill>
                  <a:srgbClr val="CFE0E9"/>
                </a:solidFill>
                <a:latin typeface="Calibri" pitchFamily="34" charset="0"/>
                <a:ea typeface="Calibri" pitchFamily="34" charset="-122"/>
                <a:cs typeface="Calibri" pitchFamily="34" charset="-120"/>
              </a:rPr>
              <a:t>What is this? How would I start helping? The one thing that most stopped me. Tick what the docs told you.</a:t>
            </a:r>
            <a:endParaRPr lang="en-US" sz="1500" dirty="0"/>
          </a:p>
        </p:txBody>
      </p:sp>
      <p:sp>
        <p:nvSpPr>
          <p:cNvPr id="21" name="Shape 19"/>
          <p:cNvSpPr/>
          <p:nvPr/>
        </p:nvSpPr>
        <p:spPr>
          <a:xfrm>
            <a:off x="548640" y="4389120"/>
            <a:ext cx="11064240" cy="749808"/>
          </a:xfrm>
          <a:prstGeom prst="roundRect">
            <a:avLst>
              <a:gd name="adj" fmla="val 10976"/>
            </a:avLst>
          </a:prstGeom>
          <a:solidFill>
            <a:srgbClr val="1E3352"/>
          </a:solidFill>
          <a:ln/>
          <a:effectLst>
            <a:outerShdw sx="100000" sy="100000" kx="0" ky="0" algn="bl" rotWithShape="0" blurRad="88900" dist="38100" dir="5400000">
              <a:srgbClr val="000000">
                <a:alpha val="13000"/>
              </a:srgbClr>
            </a:outerShdw>
          </a:effectLst>
        </p:spPr>
      </p:sp>
      <p:sp>
        <p:nvSpPr>
          <p:cNvPr id="22" name="Shape 20"/>
          <p:cNvSpPr/>
          <p:nvPr/>
        </p:nvSpPr>
        <p:spPr>
          <a:xfrm>
            <a:off x="777240" y="4526280"/>
            <a:ext cx="475488" cy="475488"/>
          </a:xfrm>
          <a:prstGeom prst="ellipse">
            <a:avLst/>
          </a:prstGeom>
          <a:solidFill>
            <a:srgbClr val="E8A33D"/>
          </a:solidFill>
          <a:ln/>
        </p:spPr>
      </p:sp>
      <p:sp>
        <p:nvSpPr>
          <p:cNvPr id="23" name="Text 21"/>
          <p:cNvSpPr/>
          <p:nvPr/>
        </p:nvSpPr>
        <p:spPr>
          <a:xfrm>
            <a:off x="777240" y="4526280"/>
            <a:ext cx="475488" cy="475488"/>
          </a:xfrm>
          <a:prstGeom prst="rect">
            <a:avLst/>
          </a:prstGeom>
          <a:noFill/>
          <a:ln/>
        </p:spPr>
        <p:txBody>
          <a:bodyPr wrap="square" lIns="0" tIns="0" rIns="0" bIns="0" rtlCol="0" anchor="ctr"/>
          <a:lstStyle/>
          <a:p>
            <a:pPr algn="ctr" indent="0" marL="0">
              <a:buNone/>
            </a:pPr>
            <a:r>
              <a:rPr lang="en-US" sz="1800" b="1" dirty="0">
                <a:solidFill>
                  <a:srgbClr val="14233A"/>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1463040" y="4389120"/>
            <a:ext cx="3657600" cy="74980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Hand it back</a:t>
            </a:r>
            <a:endParaRPr lang="en-US" sz="1700" dirty="0"/>
          </a:p>
        </p:txBody>
      </p:sp>
      <p:sp>
        <p:nvSpPr>
          <p:cNvPr id="25" name="Text 23"/>
          <p:cNvSpPr/>
          <p:nvPr/>
        </p:nvSpPr>
        <p:spPr>
          <a:xfrm>
            <a:off x="5120640" y="4389120"/>
            <a:ext cx="6263640" cy="749808"/>
          </a:xfrm>
          <a:prstGeom prst="rect">
            <a:avLst/>
          </a:prstGeom>
          <a:noFill/>
          <a:ln/>
        </p:spPr>
        <p:txBody>
          <a:bodyPr wrap="square" lIns="0" tIns="0" rIns="0" bIns="0" rtlCol="0" anchor="ctr"/>
          <a:lstStyle/>
          <a:p>
            <a:pPr indent="0" marL="0">
              <a:lnSpc>
                <a:spcPct val="102000"/>
              </a:lnSpc>
              <a:buNone/>
            </a:pPr>
            <a:r>
              <a:rPr lang="en-US" sz="1500" dirty="0">
                <a:solidFill>
                  <a:srgbClr val="CFE0E9"/>
                </a:solidFill>
                <a:latin typeface="Calibri" pitchFamily="34" charset="0"/>
                <a:ea typeface="Calibri" pitchFamily="34" charset="-122"/>
                <a:cs typeface="Calibri" pitchFamily="34" charset="-120"/>
              </a:rPr>
              <a:t>The author keeps it, acts on it, and submits a photo of it with CP7.</a:t>
            </a:r>
            <a:endParaRPr lang="en-US" sz="1500" dirty="0"/>
          </a:p>
        </p:txBody>
      </p:sp>
      <p:sp>
        <p:nvSpPr>
          <p:cNvPr id="26" name="Shape 24"/>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27" name="Text 25"/>
          <p:cNvSpPr/>
          <p:nvPr/>
        </p:nvSpPr>
        <p:spPr>
          <a:xfrm>
            <a:off x="868680" y="5349240"/>
            <a:ext cx="10424160" cy="822960"/>
          </a:xfrm>
          <a:prstGeom prst="rect">
            <a:avLst/>
          </a:prstGeom>
          <a:noFill/>
          <a:ln/>
        </p:spPr>
        <p:txBody>
          <a:bodyPr wrap="square" lIns="0" tIns="0" rIns="0" bIns="0" rtlCol="0" anchor="ctr"/>
          <a:lstStyle/>
          <a:p>
            <a:pPr indent="0" marL="0">
              <a:buNone/>
            </a:pPr>
            <a:r>
              <a:rPr lang="en-US" sz="1700" b="1" dirty="0">
                <a:solidFill>
                  <a:srgbClr val="14233A"/>
                </a:solidFill>
                <a:latin typeface="Calibri" pitchFamily="34" charset="0"/>
                <a:ea typeface="Calibri" pitchFamily="34" charset="-122"/>
                <a:cs typeface="Calibri" pitchFamily="34" charset="-120"/>
              </a:rPr>
              <a:t>The author is the worst reader of their own docs: they already know everything the docs leave out.</a:t>
            </a:r>
            <a:endParaRPr lang="en-US" sz="1700" dirty="0"/>
          </a:p>
        </p:txBody>
      </p:sp>
      <p:sp>
        <p:nvSpPr>
          <p:cNvPr id="28" name="Text 2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16 · Ship the Front Door</a:t>
            </a:r>
            <a:endParaRPr lang="en-US" sz="1000" dirty="0"/>
          </a:p>
        </p:txBody>
      </p:sp>
      <p:sp>
        <p:nvSpPr>
          <p:cNvPr id="29" name="Text 2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ACT ON IT · 10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Read your sheet, then fix or file</a:t>
            </a:r>
            <a:endParaRPr lang="en-US" sz="3100" dirty="0"/>
          </a:p>
        </p:txBody>
      </p:sp>
      <p:sp>
        <p:nvSpPr>
          <p:cNvPr id="5" name="Shape 3"/>
          <p:cNvSpPr/>
          <p:nvPr/>
        </p:nvSpPr>
        <p:spPr>
          <a:xfrm>
            <a:off x="548640" y="1783080"/>
            <a:ext cx="11064240" cy="960120"/>
          </a:xfrm>
          <a:prstGeom prst="roundRect">
            <a:avLst>
              <a:gd name="adj" fmla="val 8571"/>
            </a:avLst>
          </a:prstGeom>
          <a:solidFill>
            <a:srgbClr val="14233A"/>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10424160" cy="9601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If your partner's "what is this?" doesn't match what you meant, your first sentence isn't done.</a:t>
            </a:r>
            <a:endParaRPr lang="en-US" sz="2000" dirty="0"/>
          </a:p>
        </p:txBody>
      </p:sp>
      <p:sp>
        <p:nvSpPr>
          <p:cNvPr id="7" name="Shape 5"/>
          <p:cNvSpPr/>
          <p:nvPr/>
        </p:nvSpPr>
        <p:spPr>
          <a:xfrm>
            <a:off x="548640" y="2971800"/>
            <a:ext cx="356616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8" name="Shape 6"/>
          <p:cNvSpPr/>
          <p:nvPr/>
        </p:nvSpPr>
        <p:spPr>
          <a:xfrm>
            <a:off x="822960" y="3200400"/>
            <a:ext cx="603504" cy="603504"/>
          </a:xfrm>
          <a:prstGeom prst="ellipse">
            <a:avLst/>
          </a:prstGeom>
          <a:solidFill>
            <a:srgbClr val="12908F"/>
          </a:solidFill>
          <a:ln/>
        </p:spPr>
      </p:sp>
      <p:pic>
        <p:nvPicPr>
          <p:cNvPr id="9" name="Image 0" descr="preencoded.png">    </p:cNvPr>
          <p:cNvPicPr>
            <a:picLocks noChangeAspect="1"/>
          </p:cNvPicPr>
          <p:nvPr/>
        </p:nvPicPr>
        <p:blipFill>
          <a:blip r:embed="rId1"/>
          <a:stretch>
            <a:fillRect/>
          </a:stretch>
        </p:blipFill>
        <p:spPr>
          <a:xfrm>
            <a:off x="985906" y="3363346"/>
            <a:ext cx="277612" cy="277612"/>
          </a:xfrm>
          <a:prstGeom prst="rect">
            <a:avLst/>
          </a:prstGeom>
        </p:spPr>
      </p:pic>
      <p:sp>
        <p:nvSpPr>
          <p:cNvPr id="10" name="Text 7"/>
          <p:cNvSpPr/>
          <p:nvPr/>
        </p:nvSpPr>
        <p:spPr>
          <a:xfrm>
            <a:off x="1600200" y="3200400"/>
            <a:ext cx="237744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Fix it or file it</a:t>
            </a:r>
            <a:endParaRPr lang="en-US" sz="1900" dirty="0"/>
          </a:p>
        </p:txBody>
      </p:sp>
      <p:sp>
        <p:nvSpPr>
          <p:cNvPr id="11" name="Text 8"/>
          <p:cNvSpPr/>
          <p:nvPr/>
        </p:nvSpPr>
        <p:spPr>
          <a:xfrm>
            <a:off x="822960" y="3977640"/>
            <a:ext cx="3017520" cy="2103120"/>
          </a:xfrm>
          <a:prstGeom prst="rect">
            <a:avLst/>
          </a:prstGeom>
          <a:noFill/>
          <a:ln/>
        </p:spPr>
        <p:txBody>
          <a:bodyPr wrap="square" lIns="0" tIns="0" rIns="0" bIns="0" rtlCol="0" anchor="t"/>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Under ten minutes: fix it now. Bigger: file an issue. Either way, write the number on the sheet and say "from the stranger's read" in the description.</a:t>
            </a:r>
            <a:endParaRPr lang="en-US" sz="1550" dirty="0"/>
          </a:p>
        </p:txBody>
      </p:sp>
      <p:sp>
        <p:nvSpPr>
          <p:cNvPr id="12" name="Shape 9"/>
          <p:cNvSpPr/>
          <p:nvPr/>
        </p:nvSpPr>
        <p:spPr>
          <a:xfrm>
            <a:off x="4297680" y="2971800"/>
            <a:ext cx="356616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13" name="Shape 10"/>
          <p:cNvSpPr/>
          <p:nvPr/>
        </p:nvSpPr>
        <p:spPr>
          <a:xfrm>
            <a:off x="4572000" y="3200400"/>
            <a:ext cx="603504" cy="603504"/>
          </a:xfrm>
          <a:prstGeom prst="ellipse">
            <a:avLst/>
          </a:prstGeom>
          <a:solidFill>
            <a:srgbClr val="12908F"/>
          </a:solidFill>
          <a:ln/>
        </p:spPr>
      </p:sp>
      <p:pic>
        <p:nvPicPr>
          <p:cNvPr id="14" name="Image 1" descr="preencoded.png">    </p:cNvPr>
          <p:cNvPicPr>
            <a:picLocks noChangeAspect="1"/>
          </p:cNvPicPr>
          <p:nvPr/>
        </p:nvPicPr>
        <p:blipFill>
          <a:blip r:embed="rId2"/>
          <a:stretch>
            <a:fillRect/>
          </a:stretch>
        </p:blipFill>
        <p:spPr>
          <a:xfrm>
            <a:off x="4734946" y="3363346"/>
            <a:ext cx="277612" cy="277612"/>
          </a:xfrm>
          <a:prstGeom prst="rect">
            <a:avLst/>
          </a:prstGeom>
        </p:spPr>
      </p:pic>
      <p:sp>
        <p:nvSpPr>
          <p:cNvPr id="15" name="Text 11"/>
          <p:cNvSpPr/>
          <p:nvPr/>
        </p:nvSpPr>
        <p:spPr>
          <a:xfrm>
            <a:off x="5349240" y="3200400"/>
            <a:ext cx="237744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Seed the tracker</a:t>
            </a:r>
            <a:endParaRPr lang="en-US" sz="1900" dirty="0"/>
          </a:p>
        </p:txBody>
      </p:sp>
      <p:sp>
        <p:nvSpPr>
          <p:cNvPr id="16" name="Text 12"/>
          <p:cNvSpPr/>
          <p:nvPr/>
        </p:nvSpPr>
        <p:spPr>
          <a:xfrm>
            <a:off x="4572000" y="3977640"/>
            <a:ext cx="3017520" cy="2103120"/>
          </a:xfrm>
          <a:prstGeom prst="rect">
            <a:avLst/>
          </a:prstGeom>
          <a:noFill/>
          <a:ln/>
        </p:spPr>
        <p:txBody>
          <a:bodyPr wrap="square" lIns="0" tIns="0" rIns="0" bIns="0" rtlCol="0" anchor="t"/>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2–3 real next-work issues, written through your own templates. The setup-guide issue counts as one. They start Monday's backlog.</a:t>
            </a:r>
            <a:endParaRPr lang="en-US" sz="1550" dirty="0"/>
          </a:p>
        </p:txBody>
      </p:sp>
      <p:sp>
        <p:nvSpPr>
          <p:cNvPr id="17" name="Shape 13"/>
          <p:cNvSpPr/>
          <p:nvPr/>
        </p:nvSpPr>
        <p:spPr>
          <a:xfrm>
            <a:off x="8046720" y="2971800"/>
            <a:ext cx="356616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8321040" y="3200400"/>
            <a:ext cx="603504" cy="603504"/>
          </a:xfrm>
          <a:prstGeom prst="ellipse">
            <a:avLst/>
          </a:prstGeom>
          <a:solidFill>
            <a:srgbClr val="12908F"/>
          </a:solidFill>
          <a:ln/>
        </p:spPr>
      </p:sp>
      <p:pic>
        <p:nvPicPr>
          <p:cNvPr id="19" name="Image 2" descr="preencoded.png">    </p:cNvPr>
          <p:cNvPicPr>
            <a:picLocks noChangeAspect="1"/>
          </p:cNvPicPr>
          <p:nvPr/>
        </p:nvPicPr>
        <p:blipFill>
          <a:blip r:embed="rId3"/>
          <a:stretch>
            <a:fillRect/>
          </a:stretch>
        </p:blipFill>
        <p:spPr>
          <a:xfrm>
            <a:off x="8483986" y="3363346"/>
            <a:ext cx="277612" cy="277612"/>
          </a:xfrm>
          <a:prstGeom prst="rect">
            <a:avLst/>
          </a:prstGeom>
        </p:spPr>
      </p:pic>
      <p:sp>
        <p:nvSpPr>
          <p:cNvPr id="20" name="Text 15"/>
          <p:cNvSpPr/>
          <p:nvPr/>
        </p:nvSpPr>
        <p:spPr>
          <a:xfrm>
            <a:off x="9098280" y="3200400"/>
            <a:ext cx="2377440" cy="603504"/>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Time left?</a:t>
            </a:r>
            <a:endParaRPr lang="en-US" sz="1900" dirty="0"/>
          </a:p>
        </p:txBody>
      </p:sp>
      <p:sp>
        <p:nvSpPr>
          <p:cNvPr id="21" name="Text 16"/>
          <p:cNvSpPr/>
          <p:nvPr/>
        </p:nvSpPr>
        <p:spPr>
          <a:xfrm>
            <a:off x="8321040" y="3977640"/>
            <a:ext cx="3017520" cy="2103120"/>
          </a:xfrm>
          <a:prstGeom prst="rect">
            <a:avLst/>
          </a:prstGeom>
          <a:noFill/>
          <a:ln/>
        </p:spPr>
        <p:txBody>
          <a:bodyPr wrap="square" lIns="0" tIns="0" rIns="0" bIns="0" rtlCol="0" anchor="t"/>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Review your partner's open PRs. Unfinished fixes carry to Friday; that's what the sheet is for.</a:t>
            </a:r>
            <a:endParaRPr lang="en-US" sz="1550" dirty="0"/>
          </a:p>
        </p:txBody>
      </p:sp>
      <p:sp>
        <p:nvSpPr>
          <p:cNvPr id="22"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SUBMITTING CP7</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Tag it, the way a project marks a release</a:t>
            </a:r>
            <a:endParaRPr lang="en-US" sz="3100" dirty="0"/>
          </a:p>
        </p:txBody>
      </p:sp>
      <p:sp>
        <p:nvSpPr>
          <p:cNvPr id="5" name="Text 3"/>
          <p:cNvSpPr/>
          <p:nvPr/>
        </p:nvSpPr>
        <p:spPr>
          <a:xfrm>
            <a:off x="548640" y="1737360"/>
            <a:ext cx="10972800" cy="365760"/>
          </a:xfrm>
          <a:prstGeom prst="rect">
            <a:avLst/>
          </a:prstGeom>
          <a:noFill/>
          <a:ln/>
        </p:spPr>
        <p:txBody>
          <a:bodyPr wrap="square" lIns="0" tIns="0" rIns="0" bIns="0" rtlCol="0" anchor="ctr"/>
          <a:lstStyle/>
          <a:p>
            <a:pPr indent="0" marL="0">
              <a:buNone/>
            </a:pPr>
            <a:r>
              <a:rPr lang="en-US" sz="1600" i="1" dirty="0">
                <a:solidFill>
                  <a:srgbClr val="5F7284"/>
                </a:solidFill>
                <a:latin typeface="Calibri" pitchFamily="34" charset="0"/>
                <a:ea typeface="Calibri" pitchFamily="34" charset="-122"/>
                <a:cs typeface="Calibri" pitchFamily="34" charset="-120"/>
              </a:rPr>
              <a:t>When everything is merged to main:</a:t>
            </a:r>
            <a:endParaRPr lang="en-US" sz="1600" dirty="0"/>
          </a:p>
        </p:txBody>
      </p:sp>
      <p:sp>
        <p:nvSpPr>
          <p:cNvPr id="6" name="Shape 4"/>
          <p:cNvSpPr/>
          <p:nvPr/>
        </p:nvSpPr>
        <p:spPr>
          <a:xfrm>
            <a:off x="548640" y="2148840"/>
            <a:ext cx="11064240" cy="1600200"/>
          </a:xfrm>
          <a:prstGeom prst="roundRect">
            <a:avLst>
              <a:gd name="adj" fmla="val 4571"/>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313432"/>
            <a:ext cx="10515600" cy="1271016"/>
          </a:xfrm>
          <a:prstGeom prst="rect">
            <a:avLst/>
          </a:prstGeom>
          <a:noFill/>
          <a:ln/>
        </p:spPr>
        <p:txBody>
          <a:bodyPr wrap="square" lIns="0" tIns="0" rIns="0" bIns="0" rtlCol="0" anchor="t"/>
          <a:lstStyle/>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git switch main &amp;&amp; git pull</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git tag -a cp7 -m "CP7: infrastructure package"</a:t>
            </a:r>
            <a:endParaRPr lang="en-US" sz="1800" dirty="0"/>
          </a:p>
          <a:p>
            <a:pPr indent="0" marL="0">
              <a:lnSpc>
                <a:spcPct val="105000"/>
              </a:lnSpc>
              <a:buNone/>
            </a:pPr>
            <a:r>
              <a:rPr lang="en-US" sz="1800" dirty="0">
                <a:solidFill>
                  <a:srgbClr val="E8EEF3"/>
                </a:solidFill>
                <a:latin typeface="Consolas" pitchFamily="34" charset="0"/>
                <a:ea typeface="Consolas" pitchFamily="34" charset="-122"/>
                <a:cs typeface="Consolas" pitchFamily="34" charset="-120"/>
              </a:rPr>
              <a:t>git push origin cp7</a:t>
            </a:r>
            <a:endParaRPr lang="en-US" sz="1800" dirty="0"/>
          </a:p>
        </p:txBody>
      </p:sp>
      <p:sp>
        <p:nvSpPr>
          <p:cNvPr id="8" name="Shape 6"/>
          <p:cNvSpPr/>
          <p:nvPr/>
        </p:nvSpPr>
        <p:spPr>
          <a:xfrm>
            <a:off x="548640" y="3977640"/>
            <a:ext cx="5440680" cy="2194560"/>
          </a:xfrm>
          <a:prstGeom prst="roundRect">
            <a:avLst>
              <a:gd name="adj" fmla="val 3750"/>
            </a:avLst>
          </a:prstGeom>
          <a:solidFill>
            <a:srgbClr val="F2F6F8"/>
          </a:solidFill>
          <a:ln/>
          <a:effectLst>
            <a:outerShdw sx="100000" sy="100000" kx="0" ky="0" algn="bl" rotWithShape="0" blurRad="88900" dist="38100" dir="5400000">
              <a:srgbClr val="000000">
                <a:alpha val="13000"/>
              </a:srgbClr>
            </a:outerShdw>
          </a:effectLst>
        </p:spPr>
      </p:sp>
      <p:sp>
        <p:nvSpPr>
          <p:cNvPr id="9" name="Shape 7"/>
          <p:cNvSpPr/>
          <p:nvPr/>
        </p:nvSpPr>
        <p:spPr>
          <a:xfrm>
            <a:off x="822960" y="4206240"/>
            <a:ext cx="566928" cy="566928"/>
          </a:xfrm>
          <a:prstGeom prst="ellipse">
            <a:avLst/>
          </a:prstGeom>
          <a:solidFill>
            <a:srgbClr val="12908F"/>
          </a:solidFill>
          <a:ln/>
        </p:spPr>
      </p:sp>
      <p:pic>
        <p:nvPicPr>
          <p:cNvPr id="10" name="Image 0" descr="preencoded.png">    </p:cNvPr>
          <p:cNvPicPr>
            <a:picLocks noChangeAspect="1"/>
          </p:cNvPicPr>
          <p:nvPr/>
        </p:nvPicPr>
        <p:blipFill>
          <a:blip r:embed="rId1"/>
          <a:stretch>
            <a:fillRect/>
          </a:stretch>
        </p:blipFill>
        <p:spPr>
          <a:xfrm>
            <a:off x="976031" y="4359311"/>
            <a:ext cx="260787" cy="260787"/>
          </a:xfrm>
          <a:prstGeom prst="rect">
            <a:avLst/>
          </a:prstGeom>
        </p:spPr>
      </p:pic>
      <p:sp>
        <p:nvSpPr>
          <p:cNvPr id="11" name="Text 8"/>
          <p:cNvSpPr/>
          <p:nvPr/>
        </p:nvSpPr>
        <p:spPr>
          <a:xfrm>
            <a:off x="1554480" y="4206240"/>
            <a:ext cx="4297680" cy="56692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In Canvas, paste the tag URL</a:t>
            </a:r>
            <a:endParaRPr lang="en-US" sz="1800" dirty="0"/>
          </a:p>
        </p:txBody>
      </p:sp>
      <p:sp>
        <p:nvSpPr>
          <p:cNvPr id="12" name="Text 9"/>
          <p:cNvSpPr/>
          <p:nvPr/>
        </p:nvSpPr>
        <p:spPr>
          <a:xfrm>
            <a:off x="868680" y="4892040"/>
            <a:ext cx="4892040" cy="1188720"/>
          </a:xfrm>
          <a:prstGeom prst="rect">
            <a:avLst/>
          </a:prstGeom>
          <a:noFill/>
          <a:ln/>
        </p:spPr>
        <p:txBody>
          <a:bodyPr wrap="square" lIns="0" tIns="0" rIns="0" bIns="0" rtlCol="0" anchor="t"/>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…/YOUR-REPO/tree/cp7. That frozen state is what's graded, so work you merge later doesn't change it.</a:t>
            </a:r>
            <a:endParaRPr lang="en-US" sz="1550" dirty="0"/>
          </a:p>
        </p:txBody>
      </p:sp>
      <p:sp>
        <p:nvSpPr>
          <p:cNvPr id="13" name="Shape 10"/>
          <p:cNvSpPr/>
          <p:nvPr/>
        </p:nvSpPr>
        <p:spPr>
          <a:xfrm>
            <a:off x="6172200" y="3977640"/>
            <a:ext cx="5440680" cy="2194560"/>
          </a:xfrm>
          <a:prstGeom prst="roundRect">
            <a:avLst>
              <a:gd name="adj" fmla="val 3750"/>
            </a:avLst>
          </a:prstGeom>
          <a:solidFill>
            <a:srgbClr val="F2F6F8"/>
          </a:solidFill>
          <a:ln/>
          <a:effectLst>
            <a:outerShdw sx="100000" sy="100000" kx="0" ky="0" algn="bl" rotWithShape="0" blurRad="88900" dist="38100" dir="5400000">
              <a:srgbClr val="000000">
                <a:alpha val="13000"/>
              </a:srgbClr>
            </a:outerShdw>
          </a:effectLst>
        </p:spPr>
      </p:sp>
      <p:sp>
        <p:nvSpPr>
          <p:cNvPr id="14" name="Shape 11"/>
          <p:cNvSpPr/>
          <p:nvPr/>
        </p:nvSpPr>
        <p:spPr>
          <a:xfrm>
            <a:off x="6446520" y="4206240"/>
            <a:ext cx="566928" cy="566928"/>
          </a:xfrm>
          <a:prstGeom prst="ellipse">
            <a:avLst/>
          </a:prstGeom>
          <a:solidFill>
            <a:srgbClr val="12908F"/>
          </a:solidFill>
          <a:ln/>
        </p:spPr>
      </p:sp>
      <p:pic>
        <p:nvPicPr>
          <p:cNvPr id="15" name="Image 1" descr="preencoded.png">    </p:cNvPr>
          <p:cNvPicPr>
            <a:picLocks noChangeAspect="1"/>
          </p:cNvPicPr>
          <p:nvPr/>
        </p:nvPicPr>
        <p:blipFill>
          <a:blip r:embed="rId2"/>
          <a:stretch>
            <a:fillRect/>
          </a:stretch>
        </p:blipFill>
        <p:spPr>
          <a:xfrm>
            <a:off x="6599591" y="4359311"/>
            <a:ext cx="260787" cy="260787"/>
          </a:xfrm>
          <a:prstGeom prst="rect">
            <a:avLst/>
          </a:prstGeom>
        </p:spPr>
      </p:pic>
      <p:sp>
        <p:nvSpPr>
          <p:cNvPr id="16" name="Text 12"/>
          <p:cNvSpPr/>
          <p:nvPr/>
        </p:nvSpPr>
        <p:spPr>
          <a:xfrm>
            <a:off x="7178040" y="4206240"/>
            <a:ext cx="4297680" cy="56692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Add a photo of the sheet</a:t>
            </a:r>
            <a:endParaRPr lang="en-US" sz="1800" dirty="0"/>
          </a:p>
        </p:txBody>
      </p:sp>
      <p:sp>
        <p:nvSpPr>
          <p:cNvPr id="17" name="Text 13"/>
          <p:cNvSpPr/>
          <p:nvPr/>
        </p:nvSpPr>
        <p:spPr>
          <a:xfrm>
            <a:off x="6492240" y="4892040"/>
            <a:ext cx="4892040" cy="1188720"/>
          </a:xfrm>
          <a:prstGeom prst="rect">
            <a:avLst/>
          </a:prstGeom>
          <a:noFill/>
          <a:ln/>
        </p:spPr>
        <p:txBody>
          <a:bodyPr wrap="square" lIns="0" tIns="0" rIns="0" bIns="0" rtlCol="0" anchor="t"/>
          <a:lstStyle/>
          <a:p>
            <a:pPr indent="0" marL="0">
              <a:lnSpc>
                <a:spcPct val="103000"/>
              </a:lnSpc>
              <a:buNone/>
            </a:pPr>
            <a:r>
              <a:rPr lang="en-US" sz="1550" dirty="0">
                <a:solidFill>
                  <a:srgbClr val="1E2A36"/>
                </a:solidFill>
                <a:latin typeface="Calibri" pitchFamily="34" charset="0"/>
                <a:ea typeface="Calibri" pitchFamily="34" charset="-122"/>
                <a:cs typeface="Calibri" pitchFamily="34" charset="-120"/>
              </a:rPr>
              <a:t>Your Stranger's Read sheet, with what you did about it filled in. Flat page, good light, legible.</a:t>
            </a:r>
            <a:endParaRPr lang="en-US" sz="1550" dirty="0"/>
          </a:p>
        </p:txBody>
      </p:sp>
      <p:sp>
        <p:nvSpPr>
          <p:cNvPr id="18"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16 · Ship the Front Door</a:t>
            </a:r>
            <a:endParaRPr lang="en-US" sz="1000" dirty="0"/>
          </a:p>
        </p:txBody>
      </p:sp>
      <p:sp>
        <p:nvSpPr>
          <p:cNvPr id="19"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96012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The bar for every file isn't "exists." It's "works for a stranger."</a:t>
            </a:r>
            <a:endParaRPr lang="en-US" sz="2600" dirty="0"/>
          </a:p>
        </p:txBody>
      </p:sp>
      <p:sp>
        <p:nvSpPr>
          <p:cNvPr id="6" name="Text 3"/>
          <p:cNvSpPr/>
          <p:nvPr/>
        </p:nvSpPr>
        <p:spPr>
          <a:xfrm>
            <a:off x="841248" y="31089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BY END OF DAY FRIDAY, OCT 30</a:t>
            </a:r>
            <a:endParaRPr lang="en-US" sz="1400" dirty="0"/>
          </a:p>
        </p:txBody>
      </p:sp>
      <p:sp>
        <p:nvSpPr>
          <p:cNvPr id="7" name="Text 4"/>
          <p:cNvSpPr/>
          <p:nvPr/>
        </p:nvSpPr>
        <p:spPr>
          <a:xfrm>
            <a:off x="868680" y="3520440"/>
            <a:ext cx="10698480" cy="178308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CONTRIBUTING and the norms finished; the read acted on; everything merged to main</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Tag cp7, then submit the tag URL and a photo of your sheet in Canvas</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Save today's links for CP9: PR descriptions, review comments, seed issues</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Monday, Nov 2: Phase 4 begins. Today's seed issues are the first items in your backlog.</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16 · Ship the Front Door</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16 — Ship the Front Door</dc:title>
  <dc:subject>PptxGenJS Presentation</dc:subject>
  <dc:creator>CS 301R</dc:creator>
  <cp:lastModifiedBy>CS 301R</cp:lastModifiedBy>
  <cp:revision>1</cp:revision>
  <dcterms:created xsi:type="dcterms:W3CDTF">2026-10-26T15:15:10Z</dcterms:created>
  <dcterms:modified xsi:type="dcterms:W3CDTF">2026-10-26T15:15:10Z</dcterms:modified>
</cp:coreProperties>
</file>