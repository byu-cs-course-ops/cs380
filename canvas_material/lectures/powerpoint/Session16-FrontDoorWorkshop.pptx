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heads-down build day; the slides are signposts, not a lecture. Before class: cut the Stranger's Read sheets (two per page, one per student plus spares), have spare CP7 Checklists, and open Prop Loft at tag session-16 plus the Contributor Covenant, choosealicense.com, and GitHub's issue-form and label docs. Settle the reading pairs: two pairs with four students, a rotating triple for an odd count, and you read for anyone whose partner is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start of each block; it's the clock for people working alone. The right column is the target state at each block's end, so a founder can tell whether they're on pace. The highlighted block is the one thing that needs another person, so it doesn't move. On a team the same list parallelizes: split the finish items and cross-review the PRs; the order and the stranger's read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no more. Each founder says both sentences aloud or writes them; push back on 'as much as I can.' First click: the rules of the day. People lose time writing a code of conduct from scratch, or copying a README template that says nothing about their project. Second click: everything goes through a PR, even solo. On a one-person project that's a PR plus a written self-review against the checklist; partners can review later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the browser if you can. Prop Loft is built ahead of the class, and each session's state is a tag; session-16 is today's. Point at two things: CONTRIBUTING opens with a welcome, not rules, and the code of conduct is adopted, not rewritten. Then tell them to close the tab. The example shows what each file is for; copying its sentences produces a front door about someone else's project, and the stranger's read will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one small PR per item. Rove hard. Spot-check license fields (wrong year and 'Copyright [yyyy] [name]' left in are the common misses). Read README first sentences back to their authors: would a stranger know what this is? The placeholder takes five minutes; don't let anyone write real setup steps for code that doesn't exist yet. That guide comes in Session 20. Warn at ten minutes and at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shown during block 1 for anyone stuck on the README. This is the shape the rubric gives full credit for, and it's true of any project in early development: say what state it's in, what's coming, and where that's tracked. The stack line comes straight from the design doc. Install and run get graded later, in the repo audit, once there's something to run. A quickstart that fails costs points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These can't be finished here, and that's the plan: get both far enough to be read in the next block. The amber steps are the ones first drafts skip; most CONTRIBUTING files start with rules. Push on 'what should a newcomer do first?' The norms are the public parts of the charter, rewritten for a stranger. Solo founders still owe an answer on decisions. At two minutes: push what you have, even 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sheets. Pairs swap; in a triple, rotate so each person reads one repo and is read by one; read for anyone whose partner is out. Insist on the logged-out window, because a signed-in view hides what a stranger can't see. Readers who finish early should reread the README's first paragraph only and check whether their 'what is this?' still holds. Ten minutes reading, five writing. Authors stay quiet; explaining your docs is the thing the docs should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top line is the test: ask two or three founders to read their partner's 'what is this?' aloud next to their own first sentence. The citation in the PR or issue is how the fix traces back to the read for grading. Seed issues are real next work, not busywork; they're the first items in Monday's backlog (CP8). Anything unfinished is fine as long as it's done by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Run the three commands live on Prop Loft or any repo so they see the tag appear on GitHub. A tag is how real projects mark a release: it names a state that doesn't move when main does. To resubmit before the deadline, or for a revision, move the tag with tag -fa and push -f, then resubmit; the handout has the commands. No sheet photo caps Newcomer usability at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Say the one-liner, then the Friday list. In three weeks a classmate audits these repos cold, for a grade, and adds install and run; today's read was the preview. Remind them that CP9 is due Nov 18 and that today produced good portfolio material. Monday turns the proposal and design into epics, milestones, and a populated tracker (CP8), starting from the seed issues filed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Ship the Front Door</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16 — infrastructure build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October 28,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 · THE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 start the rest, get read cold</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Punch-list check</a:t>
            </a:r>
            <a:endParaRPr lang="en-US" sz="1800" dirty="0"/>
          </a:p>
        </p:txBody>
      </p:sp>
      <p:sp>
        <p:nvSpPr>
          <p:cNvPr id="9" name="Text 6"/>
          <p:cNvSpPr/>
          <p:nvPr/>
        </p:nvSpPr>
        <p:spPr>
          <a:xfrm>
            <a:off x="4846320" y="178308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Your plan for today and for Friday, written down</a:t>
            </a:r>
            <a:endParaRPr lang="en-US" sz="1500" dirty="0"/>
          </a:p>
        </p:txBody>
      </p:sp>
      <p:sp>
        <p:nvSpPr>
          <p:cNvPr id="10" name="Text 7"/>
          <p:cNvSpPr/>
          <p:nvPr/>
        </p:nvSpPr>
        <p:spPr>
          <a:xfrm>
            <a:off x="10424160" y="178308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1" name="Shape 8"/>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804672" y="2606040"/>
            <a:ext cx="438912" cy="438912"/>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4" name="Text 10"/>
          <p:cNvSpPr/>
          <p:nvPr/>
        </p:nvSpPr>
        <p:spPr>
          <a:xfrm>
            <a:off x="1463040" y="251460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Finish the fast items</a:t>
            </a:r>
            <a:endParaRPr lang="en-US" sz="1800" dirty="0"/>
          </a:p>
        </p:txBody>
      </p:sp>
      <p:sp>
        <p:nvSpPr>
          <p:cNvPr id="15" name="Text 11"/>
          <p:cNvSpPr/>
          <p:nvPr/>
        </p:nvSpPr>
        <p:spPr>
          <a:xfrm>
            <a:off x="4846320" y="251460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README status, setup placeholder, LICENSE, code of conduct, templates + labels: merged</a:t>
            </a:r>
            <a:endParaRPr lang="en-US" sz="1500" dirty="0"/>
          </a:p>
        </p:txBody>
      </p:sp>
      <p:sp>
        <p:nvSpPr>
          <p:cNvPr id="16" name="Text 12"/>
          <p:cNvSpPr/>
          <p:nvPr/>
        </p:nvSpPr>
        <p:spPr>
          <a:xfrm>
            <a:off x="10424160" y="251460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20 min</a:t>
            </a:r>
            <a:endParaRPr lang="en-US" sz="1600" dirty="0"/>
          </a:p>
        </p:txBody>
      </p:sp>
      <p:sp>
        <p:nvSpPr>
          <p:cNvPr id="17" name="Shape 13"/>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04672" y="3337560"/>
            <a:ext cx="438912" cy="438912"/>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20" name="Text 15"/>
          <p:cNvSpPr/>
          <p:nvPr/>
        </p:nvSpPr>
        <p:spPr>
          <a:xfrm>
            <a:off x="1463040" y="324612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Start CONTRIBUTING + norms</a:t>
            </a:r>
            <a:endParaRPr lang="en-US" sz="1800" dirty="0"/>
          </a:p>
        </p:txBody>
      </p:sp>
      <p:sp>
        <p:nvSpPr>
          <p:cNvPr id="21" name="Text 16"/>
          <p:cNvSpPr/>
          <p:nvPr/>
        </p:nvSpPr>
        <p:spPr>
          <a:xfrm>
            <a:off x="4846320" y="324612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Both drafted far enough to read: merged or on an open PR</a:t>
            </a:r>
            <a:endParaRPr lang="en-US" sz="1500" dirty="0"/>
          </a:p>
        </p:txBody>
      </p:sp>
      <p:sp>
        <p:nvSpPr>
          <p:cNvPr id="22" name="Text 17"/>
          <p:cNvSpPr/>
          <p:nvPr/>
        </p:nvSpPr>
        <p:spPr>
          <a:xfrm>
            <a:off x="10424160" y="324612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20 min</a:t>
            </a:r>
            <a:endParaRPr lang="en-US" sz="1600" dirty="0"/>
          </a:p>
        </p:txBody>
      </p:sp>
      <p:sp>
        <p:nvSpPr>
          <p:cNvPr id="23" name="Shape 18"/>
          <p:cNvSpPr/>
          <p:nvPr/>
        </p:nvSpPr>
        <p:spPr>
          <a:xfrm>
            <a:off x="548640" y="397764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4" name="Shape 19"/>
          <p:cNvSpPr/>
          <p:nvPr/>
        </p:nvSpPr>
        <p:spPr>
          <a:xfrm>
            <a:off x="804672" y="4069080"/>
            <a:ext cx="438912" cy="438912"/>
          </a:xfrm>
          <a:prstGeom prst="ellipse">
            <a:avLst/>
          </a:prstGeom>
          <a:solidFill>
            <a:srgbClr val="E8A33D"/>
          </a:solidFill>
          <a:ln/>
        </p:spPr>
      </p:sp>
      <p:pic>
        <p:nvPicPr>
          <p:cNvPr id="25"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6" name="Text 20"/>
          <p:cNvSpPr/>
          <p:nvPr/>
        </p:nvSpPr>
        <p:spPr>
          <a:xfrm>
            <a:off x="1463040" y="3977640"/>
            <a:ext cx="338328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Stranger's read</a:t>
            </a:r>
            <a:endParaRPr lang="en-US" sz="1800" dirty="0"/>
          </a:p>
        </p:txBody>
      </p:sp>
      <p:sp>
        <p:nvSpPr>
          <p:cNvPr id="27" name="Text 21"/>
          <p:cNvSpPr/>
          <p:nvPr/>
        </p:nvSpPr>
        <p:spPr>
          <a:xfrm>
            <a:off x="4846320" y="3977640"/>
            <a:ext cx="5669280" cy="621792"/>
          </a:xfrm>
          <a:prstGeom prst="rect">
            <a:avLst/>
          </a:prstGeom>
          <a:noFill/>
          <a:ln/>
        </p:spPr>
        <p:txBody>
          <a:bodyPr wrap="square" lIns="0" tIns="0" rIns="0" bIns="0" rtlCol="0" anchor="ctr"/>
          <a:lstStyle/>
          <a:p>
            <a:pPr indent="0" marL="0">
              <a:buNone/>
            </a:pPr>
            <a:r>
              <a:rPr lang="en-US" sz="1500" dirty="0">
                <a:solidFill>
                  <a:srgbClr val="CFE0E9"/>
                </a:solidFill>
                <a:latin typeface="Calibri" pitchFamily="34" charset="0"/>
                <a:ea typeface="Calibri" pitchFamily="34" charset="-122"/>
                <a:cs typeface="Calibri" pitchFamily="34" charset="-120"/>
              </a:rPr>
              <a:t>Your partner reads your README and CONTRIBUTING cold</a:t>
            </a:r>
            <a:endParaRPr lang="en-US" sz="1500" dirty="0"/>
          </a:p>
        </p:txBody>
      </p:sp>
      <p:sp>
        <p:nvSpPr>
          <p:cNvPr id="28" name="Text 22"/>
          <p:cNvSpPr/>
          <p:nvPr/>
        </p:nvSpPr>
        <p:spPr>
          <a:xfrm>
            <a:off x="10424160" y="3977640"/>
            <a:ext cx="9601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29" name="Shape 23"/>
          <p:cNvSpPr/>
          <p:nvPr/>
        </p:nvSpPr>
        <p:spPr>
          <a:xfrm>
            <a:off x="548640" y="470916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0" name="Shape 24"/>
          <p:cNvSpPr/>
          <p:nvPr/>
        </p:nvSpPr>
        <p:spPr>
          <a:xfrm>
            <a:off x="804672" y="4800600"/>
            <a:ext cx="438912" cy="438912"/>
          </a:xfrm>
          <a:prstGeom prst="ellipse">
            <a:avLst/>
          </a:prstGeom>
          <a:solidFill>
            <a:srgbClr val="12908F"/>
          </a:solidFill>
          <a:ln/>
        </p:spPr>
      </p:sp>
      <p:pic>
        <p:nvPicPr>
          <p:cNvPr id="31"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32" name="Text 25"/>
          <p:cNvSpPr/>
          <p:nvPr/>
        </p:nvSpPr>
        <p:spPr>
          <a:xfrm>
            <a:off x="1463040" y="470916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Act on it + seed issues</a:t>
            </a:r>
            <a:endParaRPr lang="en-US" sz="1800" dirty="0"/>
          </a:p>
        </p:txBody>
      </p:sp>
      <p:sp>
        <p:nvSpPr>
          <p:cNvPr id="33" name="Text 26"/>
          <p:cNvSpPr/>
          <p:nvPr/>
        </p:nvSpPr>
        <p:spPr>
          <a:xfrm>
            <a:off x="4846320" y="470916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Fixes in or filed; 2–3 seed issues on your tracker</a:t>
            </a:r>
            <a:endParaRPr lang="en-US" sz="1500" dirty="0"/>
          </a:p>
        </p:txBody>
      </p:sp>
      <p:sp>
        <p:nvSpPr>
          <p:cNvPr id="34" name="Text 27"/>
          <p:cNvSpPr/>
          <p:nvPr/>
        </p:nvSpPr>
        <p:spPr>
          <a:xfrm>
            <a:off x="10424160" y="470916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10 min</a:t>
            </a:r>
            <a:endParaRPr lang="en-US" sz="1600" dirty="0"/>
          </a:p>
        </p:txBody>
      </p:sp>
      <p:sp>
        <p:nvSpPr>
          <p:cNvPr id="35" name="Shape 28"/>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6" name="Shape 29"/>
          <p:cNvSpPr/>
          <p:nvPr/>
        </p:nvSpPr>
        <p:spPr>
          <a:xfrm>
            <a:off x="804672" y="5532120"/>
            <a:ext cx="438912" cy="438912"/>
          </a:xfrm>
          <a:prstGeom prst="ellipse">
            <a:avLst/>
          </a:prstGeom>
          <a:solidFill>
            <a:srgbClr val="12908F"/>
          </a:solidFill>
          <a:ln/>
        </p:spPr>
      </p:sp>
      <p:pic>
        <p:nvPicPr>
          <p:cNvPr id="37"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8" name="Text 30"/>
          <p:cNvSpPr/>
          <p:nvPr/>
        </p:nvSpPr>
        <p:spPr>
          <a:xfrm>
            <a:off x="1463040" y="5440680"/>
            <a:ext cx="338328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Wrap</a:t>
            </a:r>
            <a:endParaRPr lang="en-US" sz="1800" dirty="0"/>
          </a:p>
        </p:txBody>
      </p:sp>
      <p:sp>
        <p:nvSpPr>
          <p:cNvPr id="39" name="Text 31"/>
          <p:cNvSpPr/>
          <p:nvPr/>
        </p:nvSpPr>
        <p:spPr>
          <a:xfrm>
            <a:off x="4846320" y="5440680"/>
            <a:ext cx="5669280" cy="621792"/>
          </a:xfrm>
          <a:prstGeom prst="rect">
            <a:avLst/>
          </a:prstGeom>
          <a:noFill/>
          <a:ln/>
        </p:spPr>
        <p:txBody>
          <a:bodyPr wrap="square" lIns="0" tIns="0" rIns="0" bIns="0" rtlCol="0" anchor="ctr"/>
          <a:lstStyle/>
          <a:p>
            <a:pPr indent="0" marL="0">
              <a:buNone/>
            </a:pPr>
            <a:r>
              <a:rPr lang="en-US" sz="1500" dirty="0">
                <a:solidFill>
                  <a:srgbClr val="5F7284"/>
                </a:solidFill>
                <a:latin typeface="Calibri" pitchFamily="34" charset="0"/>
                <a:ea typeface="Calibri" pitchFamily="34" charset="-122"/>
                <a:cs typeface="Calibri" pitchFamily="34" charset="-120"/>
              </a:rPr>
              <a:t>What's left for Friday, and how to submit</a:t>
            </a:r>
            <a:endParaRPr lang="en-US" sz="1500" dirty="0"/>
          </a:p>
        </p:txBody>
      </p:sp>
      <p:sp>
        <p:nvSpPr>
          <p:cNvPr id="40" name="Text 32"/>
          <p:cNvSpPr/>
          <p:nvPr/>
        </p:nvSpPr>
        <p:spPr>
          <a:xfrm>
            <a:off x="10424160" y="5440680"/>
            <a:ext cx="9601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41" name="Text 3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42" name="Text 3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PUNCH-LIST CHECK · 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each, written on your punch list</a:t>
            </a:r>
            <a:endParaRPr lang="en-US" sz="3100" dirty="0"/>
          </a:p>
        </p:txBody>
      </p:sp>
      <p:sp>
        <p:nvSpPr>
          <p:cNvPr id="5" name="Shape 3"/>
          <p:cNvSpPr/>
          <p:nvPr/>
        </p:nvSpPr>
        <p:spPr>
          <a:xfrm>
            <a:off x="54864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In class today,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Name the items, not "as much as I can."</a:t>
            </a:r>
            <a:endParaRPr lang="en-US" sz="1700" dirty="0"/>
          </a:p>
        </p:txBody>
      </p:sp>
      <p:sp>
        <p:nvSpPr>
          <p:cNvPr id="7" name="Shape 5"/>
          <p:cNvSpPr/>
          <p:nvPr/>
        </p:nvSpPr>
        <p:spPr>
          <a:xfrm>
            <a:off x="6172200" y="1783080"/>
            <a:ext cx="54406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8" name="Text 6"/>
          <p:cNvSpPr/>
          <p:nvPr/>
        </p:nvSpPr>
        <p:spPr>
          <a:xfrm>
            <a:off x="6492240" y="1783080"/>
            <a:ext cx="4846320" cy="1417320"/>
          </a:xfrm>
          <a:prstGeom prst="rect">
            <a:avLst/>
          </a:prstGeom>
          <a:noFill/>
          <a:ln/>
        </p:spPr>
        <p:txBody>
          <a:bodyPr wrap="square" lIns="0" tIns="0" rIns="0" bIns="0" rtlCol="0" anchor="ctr"/>
          <a:lstStyle/>
          <a:p>
            <a:pPr indent="0" marL="0">
              <a:lnSpc>
                <a:spcPct val="110000"/>
              </a:lnSpc>
              <a:buNone/>
            </a:pPr>
            <a:r>
              <a:rPr lang="en-US" sz="1700" b="1" dirty="0">
                <a:solidFill>
                  <a:srgbClr val="E8A33D"/>
                </a:solidFill>
                <a:latin typeface="Calibri" pitchFamily="34" charset="0"/>
                <a:ea typeface="Calibri" pitchFamily="34" charset="-122"/>
                <a:cs typeface="Calibri" pitchFamily="34" charset="-120"/>
              </a:rPr>
              <a:t>By Friday, I'll finish…</a:t>
            </a:r>
            <a:endParaRPr lang="en-US" sz="1700" dirty="0"/>
          </a:p>
          <a:p>
            <a:pPr indent="0" marL="0">
              <a:lnSpc>
                <a:spcPct val="110000"/>
              </a:lnSpc>
              <a:buNone/>
            </a:pPr>
            <a:r>
              <a:rPr lang="en-US" sz="1700" dirty="0">
                <a:solidFill>
                  <a:srgbClr val="CFE0E9"/>
                </a:solidFill>
                <a:latin typeface="Calibri" pitchFamily="34" charset="0"/>
                <a:ea typeface="Calibri" pitchFamily="34" charset="-122"/>
                <a:cs typeface="Calibri" pitchFamily="34" charset="-120"/>
              </a:rPr>
              <a:t>Usually CONTRIBUTING, the norms, and whatever the read turns up.</a:t>
            </a:r>
            <a:endParaRPr lang="en-US" sz="1700" dirty="0"/>
          </a:p>
        </p:txBody>
      </p:sp>
      <p:sp>
        <p:nvSpPr>
          <p:cNvPr id="9" name="click-1"/>
          <p:cNvSpPr/>
          <p:nvPr/>
        </p:nvSpPr>
        <p:spPr>
          <a:xfrm>
            <a:off x="54864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0" name="click-1"/>
          <p:cNvSpPr/>
          <p:nvPr/>
        </p:nvSpPr>
        <p:spPr>
          <a:xfrm>
            <a:off x="86868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Adapt, don't invent</a:t>
            </a:r>
            <a:pPr indent="0" marL="0">
              <a:buNone/>
            </a:pPr>
            <a:r>
              <a:rPr lang="en-US" sz="1500" dirty="0">
                <a:solidFill>
                  <a:srgbClr val="5F7284"/>
                </a:solidFill>
                <a:latin typeface="Calibri" pitchFamily="34" charset="0"/>
                <a:ea typeface="Calibri" pitchFamily="34" charset="-122"/>
                <a:cs typeface="Calibri" pitchFamily="34" charset="-120"/>
              </a:rPr>
              <a:t>  where a standard exists</a:t>
            </a:r>
            <a:endParaRPr lang="en-US" sz="1900" dirty="0"/>
          </a:p>
        </p:txBody>
      </p:sp>
      <p:sp>
        <p:nvSpPr>
          <p:cNvPr id="11" name="click-1"/>
          <p:cNvSpPr/>
          <p:nvPr/>
        </p:nvSpPr>
        <p:spPr>
          <a:xfrm>
            <a:off x="86868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License text, the Contributor Covenant, the shape of an issue form. Experts wrote them; fill in your blanks.</a:t>
            </a:r>
            <a:endParaRPr lang="en-US" sz="1600" dirty="0"/>
          </a:p>
        </p:txBody>
      </p:sp>
      <p:sp>
        <p:nvSpPr>
          <p:cNvPr id="12" name="click-1"/>
          <p:cNvSpPr/>
          <p:nvPr/>
        </p:nvSpPr>
        <p:spPr>
          <a:xfrm>
            <a:off x="6172200" y="34290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3" name="click-1"/>
          <p:cNvSpPr/>
          <p:nvPr/>
        </p:nvSpPr>
        <p:spPr>
          <a:xfrm>
            <a:off x="6492240" y="356616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Write, don't copy</a:t>
            </a:r>
            <a:pPr indent="0" marL="0">
              <a:buNone/>
            </a:pPr>
            <a:r>
              <a:rPr lang="en-US" sz="1500" dirty="0">
                <a:solidFill>
                  <a:srgbClr val="5F7284"/>
                </a:solidFill>
                <a:latin typeface="Calibri" pitchFamily="34" charset="0"/>
                <a:ea typeface="Calibri" pitchFamily="34" charset="-122"/>
                <a:cs typeface="Calibri" pitchFamily="34" charset="-120"/>
              </a:rPr>
              <a:t>  where your project is the content</a:t>
            </a:r>
            <a:endParaRPr lang="en-US" sz="1900" dirty="0"/>
          </a:p>
        </p:txBody>
      </p:sp>
      <p:sp>
        <p:nvSpPr>
          <p:cNvPr id="14" name="click-1"/>
          <p:cNvSpPr/>
          <p:nvPr/>
        </p:nvSpPr>
        <p:spPr>
          <a:xfrm>
            <a:off x="6492240" y="4069080"/>
            <a:ext cx="4846320" cy="109728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README, CONTRIBUTING, communication norms. Nobody else can write these, and a stranger can tell.</a:t>
            </a:r>
            <a:endParaRPr lang="en-US" sz="1600" dirty="0"/>
          </a:p>
        </p:txBody>
      </p:sp>
      <p:sp>
        <p:nvSpPr>
          <p:cNvPr id="15" name="click-2"/>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44068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Every item ships through its own pull request, the way your git standards say. The process documents itself.</a:t>
            </a:r>
            <a:endParaRPr lang="en-US" sz="1650" dirty="0"/>
          </a:p>
        </p:txBody>
      </p:sp>
      <p:sp>
        <p:nvSpPr>
          <p:cNvPr id="17"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20" presetID="1" presetClass="entr" presetSubtype="0" fill="hold" grpId="0" nodeType="clickEffect">
                                  <p:stCondLst>
                                    <p:cond delay="0"/>
                                  </p:stCondLst>
                                  <p:childTnLst>
                                    <p:set>
                                      <p:cBhvr>
                                        <p:cTn id="19" dur="1" fill="hold">
                                          <p:stCondLst>
                                            <p:cond delay="0"/>
                                          </p:stCondLst>
                                        </p:cTn>
                                        <p:tgtEl>
                                          <p:spTgt spid="15"/>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 WORKED EXAMPLE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front door, at tag session-16</a:t>
            </a:r>
            <a:endParaRPr lang="en-US" sz="3100" dirty="0"/>
          </a:p>
        </p:txBody>
      </p:sp>
      <p:sp>
        <p:nvSpPr>
          <p:cNvPr id="5" name="Shape 3"/>
          <p:cNvSpPr/>
          <p:nvPr/>
        </p:nvSpPr>
        <p:spPr>
          <a:xfrm>
            <a:off x="54864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CONTRIBUTING.md</a:t>
            </a:r>
            <a:endParaRPr lang="en-US" sz="1600" dirty="0"/>
          </a:p>
        </p:txBody>
      </p:sp>
      <p:sp>
        <p:nvSpPr>
          <p:cNvPr id="7" name="Text 5"/>
          <p:cNvSpPr/>
          <p:nvPr/>
        </p:nvSpPr>
        <p:spPr>
          <a:xfrm>
            <a:off x="77724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Welcome and "your first contribution" come first. Policy and the license rationale come last.</a:t>
            </a:r>
            <a:endParaRPr lang="en-US" sz="1500" dirty="0"/>
          </a:p>
        </p:txBody>
      </p:sp>
      <p:sp>
        <p:nvSpPr>
          <p:cNvPr id="8" name="Shape 6"/>
          <p:cNvSpPr/>
          <p:nvPr/>
        </p:nvSpPr>
        <p:spPr>
          <a:xfrm>
            <a:off x="429768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CODE_OF_CONDUCT.md</a:t>
            </a:r>
            <a:endParaRPr lang="en-US" sz="1600" dirty="0"/>
          </a:p>
        </p:txBody>
      </p:sp>
      <p:sp>
        <p:nvSpPr>
          <p:cNvPr id="10" name="Text 8"/>
          <p:cNvSpPr/>
          <p:nvPr/>
        </p:nvSpPr>
        <p:spPr>
          <a:xfrm>
            <a:off x="452628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Contributor Covenant 3.0, word for word. Only the two blanks are filled in.</a:t>
            </a:r>
            <a:endParaRPr lang="en-US" sz="1500" dirty="0"/>
          </a:p>
        </p:txBody>
      </p:sp>
      <p:sp>
        <p:nvSpPr>
          <p:cNvPr id="11" name="Shape 9"/>
          <p:cNvSpPr/>
          <p:nvPr/>
        </p:nvSpPr>
        <p:spPr>
          <a:xfrm>
            <a:off x="8046720" y="178308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.github/</a:t>
            </a:r>
            <a:endParaRPr lang="en-US" sz="1600" dirty="0"/>
          </a:p>
        </p:txBody>
      </p:sp>
      <p:sp>
        <p:nvSpPr>
          <p:cNvPr id="13" name="Text 11"/>
          <p:cNvSpPr/>
          <p:nvPr/>
        </p:nvSpPr>
        <p:spPr>
          <a:xfrm>
            <a:off x="8275320" y="237744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Bug and feature issue forms, a PR template whose checklist is the git standards.</a:t>
            </a:r>
            <a:endParaRPr lang="en-US" sz="1500" dirty="0"/>
          </a:p>
        </p:txBody>
      </p:sp>
      <p:sp>
        <p:nvSpPr>
          <p:cNvPr id="14" name="Shape 12"/>
          <p:cNvSpPr/>
          <p:nvPr/>
        </p:nvSpPr>
        <p:spPr>
          <a:xfrm>
            <a:off x="54864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docs/communication-norms.md</a:t>
            </a:r>
            <a:endParaRPr lang="en-US" sz="1600" dirty="0"/>
          </a:p>
        </p:txBody>
      </p:sp>
      <p:sp>
        <p:nvSpPr>
          <p:cNvPr id="16" name="Text 14"/>
          <p:cNvSpPr/>
          <p:nvPr/>
        </p:nvSpPr>
        <p:spPr>
          <a:xfrm>
            <a:off x="77724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Issues and PRs only, replies within a week, who decides, and what's out of scope.</a:t>
            </a:r>
            <a:endParaRPr lang="en-US" sz="1500" dirty="0"/>
          </a:p>
        </p:txBody>
      </p:sp>
      <p:sp>
        <p:nvSpPr>
          <p:cNvPr id="17" name="Shape 15"/>
          <p:cNvSpPr/>
          <p:nvPr/>
        </p:nvSpPr>
        <p:spPr>
          <a:xfrm>
            <a:off x="429768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19" name="Text 17"/>
          <p:cNvSpPr/>
          <p:nvPr/>
        </p:nvSpPr>
        <p:spPr>
          <a:xfrm>
            <a:off x="452628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A Contributing section that links all of the above, plus the maintainer's response time.</a:t>
            </a:r>
            <a:endParaRPr lang="en-US" sz="1500" dirty="0"/>
          </a:p>
        </p:txBody>
      </p:sp>
      <p:sp>
        <p:nvSpPr>
          <p:cNvPr id="20" name="Shape 18"/>
          <p:cNvSpPr/>
          <p:nvPr/>
        </p:nvSpPr>
        <p:spPr>
          <a:xfrm>
            <a:off x="8046720" y="3749040"/>
            <a:ext cx="356616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3858768"/>
            <a:ext cx="3108960" cy="45720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Issues tab</a:t>
            </a:r>
            <a:endParaRPr lang="en-US" sz="1600" dirty="0"/>
          </a:p>
        </p:txBody>
      </p:sp>
      <p:sp>
        <p:nvSpPr>
          <p:cNvPr id="22" name="Text 20"/>
          <p:cNvSpPr/>
          <p:nvPr/>
        </p:nvSpPr>
        <p:spPr>
          <a:xfrm>
            <a:off x="8275320" y="4343400"/>
            <a:ext cx="3108960" cy="109728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seed issues written through the templates. One is a good first issue.</a:t>
            </a:r>
            <a:endParaRPr lang="en-US" sz="1500" dirty="0"/>
          </a:p>
        </p:txBody>
      </p:sp>
      <p:sp>
        <p:nvSpPr>
          <p:cNvPr id="23" name="Shape 21"/>
          <p:cNvSpPr/>
          <p:nvPr/>
        </p:nvSpPr>
        <p:spPr>
          <a:xfrm>
            <a:off x="548640" y="5715000"/>
            <a:ext cx="11064240" cy="502920"/>
          </a:xfrm>
          <a:prstGeom prst="roundRect">
            <a:avLst>
              <a:gd name="adj" fmla="val 16364"/>
            </a:avLst>
          </a:prstGeom>
          <a:solidFill>
            <a:srgbClr val="FBEEDA"/>
          </a:solidFill>
          <a:ln/>
          <a:effectLst>
            <a:outerShdw sx="100000" sy="100000" kx="0" ky="0" algn="bl" rotWithShape="0" blurRad="88900" dist="38100" dir="5400000">
              <a:srgbClr val="000000">
                <a:alpha val="13000"/>
              </a:srgbClr>
            </a:outerShdw>
          </a:effectLst>
        </p:spPr>
      </p:sp>
      <p:sp>
        <p:nvSpPr>
          <p:cNvPr id="24" name="Text 22"/>
          <p:cNvSpPr/>
          <p:nvPr/>
        </p:nvSpPr>
        <p:spPr>
          <a:xfrm>
            <a:off x="868680" y="5715000"/>
            <a:ext cx="10424160" cy="50292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github.com/prop-loft/prop-loft/tree/session-16   ·   Read it for shape. Your content has to be yours.</a:t>
            </a:r>
            <a:endParaRPr lang="en-US" sz="1500" dirty="0"/>
          </a:p>
        </p:txBody>
      </p:sp>
      <p:sp>
        <p:nvSpPr>
          <p:cNvPr id="25"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6"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1 · 20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Finish the fast items</a:t>
            </a:r>
            <a:endParaRPr lang="en-US" sz="3100" dirty="0"/>
          </a:p>
        </p:txBody>
      </p:sp>
      <p:sp>
        <p:nvSpPr>
          <p:cNvPr id="5" name="Shape 3"/>
          <p:cNvSpPr/>
          <p:nvPr/>
        </p:nvSpPr>
        <p:spPr>
          <a:xfrm>
            <a:off x="54864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README</a:t>
            </a:r>
            <a:endParaRPr lang="en-US" sz="1800" dirty="0"/>
          </a:p>
        </p:txBody>
      </p:sp>
      <p:sp>
        <p:nvSpPr>
          <p:cNvPr id="9" name="Text 6"/>
          <p:cNvSpPr/>
          <p:nvPr/>
        </p:nvSpPr>
        <p:spPr>
          <a:xfrm>
            <a:off x="68580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First sentence, rewritten. A status line. How to contribute, and a license line.</a:t>
            </a:r>
            <a:endParaRPr lang="en-US" sz="1500" dirty="0"/>
          </a:p>
        </p:txBody>
      </p:sp>
      <p:sp>
        <p:nvSpPr>
          <p:cNvPr id="10" name="Shape 7"/>
          <p:cNvSpPr/>
          <p:nvPr/>
        </p:nvSpPr>
        <p:spPr>
          <a:xfrm>
            <a:off x="278892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Setup placeholder</a:t>
            </a:r>
            <a:endParaRPr lang="en-US" sz="1800" dirty="0"/>
          </a:p>
        </p:txBody>
      </p:sp>
      <p:sp>
        <p:nvSpPr>
          <p:cNvPr id="14" name="Text 10"/>
          <p:cNvSpPr/>
          <p:nvPr/>
        </p:nvSpPr>
        <p:spPr>
          <a:xfrm>
            <a:off x="292608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docs/setup.md: your stack, "arrives with the first runnable build," and the issue tracking it.</a:t>
            </a:r>
            <a:endParaRPr lang="en-US" sz="1500" dirty="0"/>
          </a:p>
        </p:txBody>
      </p:sp>
      <p:sp>
        <p:nvSpPr>
          <p:cNvPr id="15" name="Shape 11"/>
          <p:cNvSpPr/>
          <p:nvPr/>
        </p:nvSpPr>
        <p:spPr>
          <a:xfrm>
            <a:off x="502920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LICENSE</a:t>
            </a:r>
            <a:endParaRPr lang="en-US" sz="1800" dirty="0"/>
          </a:p>
        </p:txBody>
      </p:sp>
      <p:sp>
        <p:nvSpPr>
          <p:cNvPr id="19" name="Text 14"/>
          <p:cNvSpPr/>
          <p:nvPr/>
        </p:nvSpPr>
        <p:spPr>
          <a:xfrm>
            <a:off x="516636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The exact text. Year and holder filled in. Rationale goes in CONTRIBUTING.</a:t>
            </a:r>
            <a:endParaRPr lang="en-US" sz="1500" dirty="0"/>
          </a:p>
        </p:txBody>
      </p:sp>
      <p:sp>
        <p:nvSpPr>
          <p:cNvPr id="20" name="Shape 15"/>
          <p:cNvSpPr/>
          <p:nvPr/>
        </p:nvSpPr>
        <p:spPr>
          <a:xfrm>
            <a:off x="726948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Contributor Covenant via GitHub's template. Fill in the reporting contact; read the enforcement section.</a:t>
            </a:r>
            <a:endParaRPr lang="en-US" sz="1500" dirty="0"/>
          </a:p>
        </p:txBody>
      </p:sp>
      <p:sp>
        <p:nvSpPr>
          <p:cNvPr id="25" name="Shape 19"/>
          <p:cNvSpPr/>
          <p:nvPr/>
        </p:nvSpPr>
        <p:spPr>
          <a:xfrm>
            <a:off x="9509760" y="1783080"/>
            <a:ext cx="2103120" cy="33832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78892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Templates + labels</a:t>
            </a:r>
            <a:endParaRPr lang="en-US" sz="1800" dirty="0"/>
          </a:p>
        </p:txBody>
      </p:sp>
      <p:sp>
        <p:nvSpPr>
          <p:cNvPr id="29" name="Text 22"/>
          <p:cNvSpPr/>
          <p:nvPr/>
        </p:nvSpPr>
        <p:spPr>
          <a:xfrm>
            <a:off x="9646920" y="3429000"/>
            <a:ext cx="1828800" cy="169164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Monday's sketches, built: bug, feature, PR template. bug · enhancement · good first issue</a:t>
            </a:r>
            <a:endParaRPr lang="en-US" sz="1500" dirty="0"/>
          </a:p>
        </p:txBody>
      </p:sp>
      <p:sp>
        <p:nvSpPr>
          <p:cNvPr id="30" name="Shape 23"/>
          <p:cNvSpPr/>
          <p:nvPr/>
        </p:nvSpPr>
        <p:spPr>
          <a:xfrm>
            <a:off x="548640" y="539496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394960"/>
            <a:ext cx="10424160" cy="7772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File the setup-guide issue now. It's your first seed issue, and the placeholder links to it.</a:t>
            </a:r>
            <a:endParaRPr lang="en-US" sz="17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THERE'S CODE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honest status beats a quickstart that fails</a:t>
            </a:r>
            <a:endParaRPr lang="en-US" sz="3100" dirty="0"/>
          </a:p>
        </p:txBody>
      </p:sp>
      <p:sp>
        <p:nvSpPr>
          <p:cNvPr id="5" name="Text 3"/>
          <p:cNvSpPr/>
          <p:nvPr/>
        </p:nvSpPr>
        <p:spPr>
          <a:xfrm>
            <a:off x="54864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README.md</a:t>
            </a:r>
            <a:endParaRPr lang="en-US" sz="1600" dirty="0"/>
          </a:p>
        </p:txBody>
      </p:sp>
      <p:sp>
        <p:nvSpPr>
          <p:cNvPr id="6" name="Shape 4"/>
          <p:cNvSpPr/>
          <p:nvPr/>
        </p:nvSpPr>
        <p:spPr>
          <a:xfrm>
            <a:off x="54864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Status</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Early development. Nothing</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runs yet: the first build</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lands in November. Setup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instructions will be in</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docs/setup.md.</a:t>
            </a:r>
            <a:endParaRPr lang="en-US" sz="1800" dirty="0"/>
          </a:p>
        </p:txBody>
      </p:sp>
      <p:sp>
        <p:nvSpPr>
          <p:cNvPr id="8" name="Text 6"/>
          <p:cNvSpPr/>
          <p:nvPr/>
        </p:nvSpPr>
        <p:spPr>
          <a:xfrm>
            <a:off x="6172200" y="1737360"/>
            <a:ext cx="5440680" cy="365760"/>
          </a:xfrm>
          <a:prstGeom prst="rect">
            <a:avLst/>
          </a:prstGeom>
          <a:noFill/>
          <a:ln/>
        </p:spPr>
        <p:txBody>
          <a:bodyPr wrap="square" lIns="0" tIns="0" rIns="0" bIns="0" rtlCol="0" anchor="ctr"/>
          <a:lstStyle/>
          <a:p>
            <a:pPr indent="0" marL="0">
              <a:buNone/>
            </a:pPr>
            <a:r>
              <a:rPr lang="en-US" sz="1600" b="1" dirty="0">
                <a:solidFill>
                  <a:srgbClr val="0E6E6D"/>
                </a:solidFill>
                <a:latin typeface="Consolas" pitchFamily="34" charset="0"/>
                <a:ea typeface="Consolas" pitchFamily="34" charset="-122"/>
                <a:cs typeface="Consolas" pitchFamily="34" charset="-120"/>
              </a:rPr>
              <a:t>docs/setup.md</a:t>
            </a:r>
            <a:endParaRPr lang="en-US" sz="1600" dirty="0"/>
          </a:p>
        </p:txBody>
      </p:sp>
      <p:sp>
        <p:nvSpPr>
          <p:cNvPr id="9" name="Shape 7"/>
          <p:cNvSpPr/>
          <p:nvPr/>
        </p:nvSpPr>
        <p:spPr>
          <a:xfrm>
            <a:off x="6172200" y="2148840"/>
            <a:ext cx="5440680" cy="2834640"/>
          </a:xfrm>
          <a:prstGeom prst="roundRect">
            <a:avLst>
              <a:gd name="adj" fmla="val 2581"/>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313432"/>
            <a:ext cx="4892040" cy="2505456"/>
          </a:xfrm>
          <a:prstGeom prst="rect">
            <a:avLst/>
          </a:prstGeom>
          <a:noFill/>
          <a:ln/>
        </p:spPr>
        <p:txBody>
          <a:bodyPr wrap="square" lIns="0" tIns="0" rIns="0" bIns="0" rtlCol="0" anchor="t"/>
          <a:lstStyle/>
          <a:p>
            <a:pPr indent="0" marL="0">
              <a:lnSpc>
                <a:spcPct val="105000"/>
              </a:lnSpc>
              <a:buNone/>
            </a:pPr>
            <a:r>
              <a:rPr lang="en-US" sz="1800" dirty="0">
                <a:solidFill>
                  <a:srgbClr val="9FE0B5"/>
                </a:solidFill>
                <a:latin typeface="Consolas" pitchFamily="34" charset="0"/>
                <a:ea typeface="Consolas" pitchFamily="34" charset="-122"/>
                <a:cs typeface="Consolas" pitchFamily="34" charset="-120"/>
              </a:rPr>
              <a:t># Setting up</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Stack: Python 3.12, Django,</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SQLite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 </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Setup instructions arrive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with the first runnable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build. Tracked in #1.</a:t>
            </a:r>
            <a:endParaRPr lang="en-US" sz="1800" dirty="0"/>
          </a:p>
        </p:txBody>
      </p:sp>
      <p:sp>
        <p:nvSpPr>
          <p:cNvPr id="11" name="Shape 9"/>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2" name="Text 10"/>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50" b="1" dirty="0">
                <a:solidFill>
                  <a:srgbClr val="1E2A36"/>
                </a:solidFill>
                <a:latin typeface="Calibri" pitchFamily="34" charset="0"/>
                <a:ea typeface="Calibri" pitchFamily="34" charset="-122"/>
                <a:cs typeface="Calibri" pitchFamily="34" charset="-120"/>
              </a:rPr>
              <a:t>A stranger who reads "not yet" knows what to expect. A stranger whose quickstart fails assumes the whole project is broken.</a:t>
            </a:r>
            <a:endParaRPr lang="en-US" sz="165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BUILD BLOCK 2 · 20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Start the write-it-yourself items</a:t>
            </a:r>
            <a:endParaRPr lang="en-US" sz="3100" dirty="0"/>
          </a:p>
        </p:txBody>
      </p:sp>
      <p:sp>
        <p:nvSpPr>
          <p:cNvPr id="5" name="Shape 3"/>
          <p:cNvSpPr/>
          <p:nvPr/>
        </p:nvSpPr>
        <p:spPr>
          <a:xfrm>
            <a:off x="54864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CONTRIBUTING.md</a:t>
            </a:r>
            <a:endParaRPr lang="en-US" sz="1800" dirty="0"/>
          </a:p>
        </p:txBody>
      </p:sp>
      <p:sp>
        <p:nvSpPr>
          <p:cNvPr id="7" name="Text 5"/>
          <p:cNvSpPr/>
          <p:nvPr/>
        </p:nvSpPr>
        <p:spPr>
          <a:xfrm>
            <a:off x="868680" y="2377440"/>
            <a:ext cx="4846320" cy="36576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Grow it from your git standards, in this order:</a:t>
            </a:r>
            <a:endParaRPr lang="en-US" sz="1500" dirty="0"/>
          </a:p>
        </p:txBody>
      </p:sp>
      <p:sp>
        <p:nvSpPr>
          <p:cNvPr id="8" name="Shape 6"/>
          <p:cNvSpPr/>
          <p:nvPr/>
        </p:nvSpPr>
        <p:spPr>
          <a:xfrm>
            <a:off x="868680" y="2871216"/>
            <a:ext cx="329184" cy="329184"/>
          </a:xfrm>
          <a:prstGeom prst="ellipse">
            <a:avLst/>
          </a:prstGeom>
          <a:solidFill>
            <a:srgbClr val="E8A33D"/>
          </a:solidFill>
          <a:ln/>
        </p:spPr>
      </p:sp>
      <p:sp>
        <p:nvSpPr>
          <p:cNvPr id="9" name="Text 7"/>
          <p:cNvSpPr/>
          <p:nvPr/>
        </p:nvSpPr>
        <p:spPr>
          <a:xfrm>
            <a:off x="868680" y="28712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371600" y="28346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Welcome</a:t>
            </a:r>
            <a:endParaRPr lang="en-US" sz="1700" dirty="0"/>
          </a:p>
        </p:txBody>
      </p:sp>
      <p:sp>
        <p:nvSpPr>
          <p:cNvPr id="11" name="Shape 9"/>
          <p:cNvSpPr/>
          <p:nvPr/>
        </p:nvSpPr>
        <p:spPr>
          <a:xfrm>
            <a:off x="868680" y="3328416"/>
            <a:ext cx="329184" cy="329184"/>
          </a:xfrm>
          <a:prstGeom prst="ellipse">
            <a:avLst/>
          </a:prstGeom>
          <a:solidFill>
            <a:srgbClr val="E8A33D"/>
          </a:solidFill>
          <a:ln/>
        </p:spPr>
      </p:sp>
      <p:sp>
        <p:nvSpPr>
          <p:cNvPr id="12" name="Text 10"/>
          <p:cNvSpPr/>
          <p:nvPr/>
        </p:nvSpPr>
        <p:spPr>
          <a:xfrm>
            <a:off x="868680" y="3328416"/>
            <a:ext cx="329184" cy="329184"/>
          </a:xfrm>
          <a:prstGeom prst="rect">
            <a:avLst/>
          </a:prstGeom>
          <a:noFill/>
          <a:ln/>
        </p:spPr>
        <p:txBody>
          <a:bodyPr wrap="square" lIns="0" tIns="0" rIns="0" bIns="0" rtlCol="0" anchor="ctr"/>
          <a:lstStyle/>
          <a:p>
            <a:pPr algn="ctr" indent="0" marL="0">
              <a:buNone/>
            </a:pPr>
            <a:r>
              <a:rPr lang="en-US" sz="1400" b="1" dirty="0">
                <a:solidFill>
                  <a:srgbClr val="14233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371600" y="3291840"/>
            <a:ext cx="4389120" cy="402336"/>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What to do first</a:t>
            </a:r>
            <a:endParaRPr lang="en-US" sz="1700" dirty="0"/>
          </a:p>
        </p:txBody>
      </p:sp>
      <p:sp>
        <p:nvSpPr>
          <p:cNvPr id="14" name="Shape 12"/>
          <p:cNvSpPr/>
          <p:nvPr/>
        </p:nvSpPr>
        <p:spPr>
          <a:xfrm>
            <a:off x="868680" y="3785616"/>
            <a:ext cx="329184" cy="329184"/>
          </a:xfrm>
          <a:prstGeom prst="ellipse">
            <a:avLst/>
          </a:prstGeom>
          <a:solidFill>
            <a:srgbClr val="12908F"/>
          </a:solidFill>
          <a:ln/>
        </p:spPr>
      </p:sp>
      <p:sp>
        <p:nvSpPr>
          <p:cNvPr id="15" name="Text 13"/>
          <p:cNvSpPr/>
          <p:nvPr/>
        </p:nvSpPr>
        <p:spPr>
          <a:xfrm>
            <a:off x="868680" y="37856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371600" y="37490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How to pick work</a:t>
            </a:r>
            <a:endParaRPr lang="en-US" sz="1700" dirty="0"/>
          </a:p>
        </p:txBody>
      </p:sp>
      <p:sp>
        <p:nvSpPr>
          <p:cNvPr id="17" name="Shape 15"/>
          <p:cNvSpPr/>
          <p:nvPr/>
        </p:nvSpPr>
        <p:spPr>
          <a:xfrm>
            <a:off x="868680" y="4242816"/>
            <a:ext cx="329184" cy="329184"/>
          </a:xfrm>
          <a:prstGeom prst="ellipse">
            <a:avLst/>
          </a:prstGeom>
          <a:solidFill>
            <a:srgbClr val="12908F"/>
          </a:solidFill>
          <a:ln/>
        </p:spPr>
      </p:sp>
      <p:sp>
        <p:nvSpPr>
          <p:cNvPr id="18" name="Text 16"/>
          <p:cNvSpPr/>
          <p:nvPr/>
        </p:nvSpPr>
        <p:spPr>
          <a:xfrm>
            <a:off x="868680" y="42428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371600" y="42062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The PR process and reviews</a:t>
            </a:r>
            <a:endParaRPr lang="en-US" sz="1700" dirty="0"/>
          </a:p>
        </p:txBody>
      </p:sp>
      <p:sp>
        <p:nvSpPr>
          <p:cNvPr id="20" name="Shape 18"/>
          <p:cNvSpPr/>
          <p:nvPr/>
        </p:nvSpPr>
        <p:spPr>
          <a:xfrm>
            <a:off x="868680" y="4700016"/>
            <a:ext cx="329184" cy="329184"/>
          </a:xfrm>
          <a:prstGeom prst="ellipse">
            <a:avLst/>
          </a:prstGeom>
          <a:solidFill>
            <a:srgbClr val="12908F"/>
          </a:solidFill>
          <a:ln/>
        </p:spPr>
      </p:sp>
      <p:sp>
        <p:nvSpPr>
          <p:cNvPr id="21" name="Text 19"/>
          <p:cNvSpPr/>
          <p:nvPr/>
        </p:nvSpPr>
        <p:spPr>
          <a:xfrm>
            <a:off x="868680" y="4700016"/>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p:nvPr/>
        </p:nvSpPr>
        <p:spPr>
          <a:xfrm>
            <a:off x="1371600" y="4663440"/>
            <a:ext cx="4389120" cy="402336"/>
          </a:xfrm>
          <a:prstGeom prst="rect">
            <a:avLst/>
          </a:prstGeom>
          <a:noFill/>
          <a:ln/>
        </p:spPr>
        <p:txBody>
          <a:bodyPr wrap="square" lIns="0" tIns="0" rIns="0" bIns="0" rtlCol="0" anchor="ctr"/>
          <a:lstStyle/>
          <a:p>
            <a:pPr indent="0" marL="0">
              <a:buNone/>
            </a:pPr>
            <a:r>
              <a:rPr lang="en-US" sz="1700" dirty="0">
                <a:solidFill>
                  <a:srgbClr val="1E2A36"/>
                </a:solidFill>
                <a:latin typeface="Calibri" pitchFamily="34" charset="0"/>
                <a:ea typeface="Calibri" pitchFamily="34" charset="-122"/>
                <a:cs typeface="Calibri" pitchFamily="34" charset="-120"/>
              </a:rPr>
              <a:t>Policy, last</a:t>
            </a:r>
            <a:endParaRPr lang="en-US" sz="1700" dirty="0"/>
          </a:p>
        </p:txBody>
      </p:sp>
      <p:sp>
        <p:nvSpPr>
          <p:cNvPr id="23" name="Shape 21"/>
          <p:cNvSpPr/>
          <p:nvPr/>
        </p:nvSpPr>
        <p:spPr>
          <a:xfrm>
            <a:off x="6172200" y="1783080"/>
            <a:ext cx="5440680" cy="3429000"/>
          </a:xfrm>
          <a:prstGeom prst="roundRect">
            <a:avLst>
              <a:gd name="adj" fmla="val 24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onsolas" pitchFamily="34" charset="0"/>
                <a:ea typeface="Consolas" pitchFamily="34" charset="-122"/>
                <a:cs typeface="Consolas" pitchFamily="34" charset="-120"/>
              </a:rPr>
              <a:t>docs/communication-norms.md</a:t>
            </a:r>
            <a:endParaRPr lang="en-US" sz="1800" dirty="0"/>
          </a:p>
        </p:txBody>
      </p:sp>
      <p:sp>
        <p:nvSpPr>
          <p:cNvPr id="25" name="Text 23"/>
          <p:cNvSpPr/>
          <p:nvPr/>
        </p:nvSpPr>
        <p:spPr>
          <a:xfrm>
            <a:off x="6492240" y="2468880"/>
            <a:ext cx="4892040" cy="265176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Where discussion happens</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Response times you can keep: "within a week," not "24/7"</a:t>
            </a:r>
            <a:endParaRPr lang="en-US" sz="1600" dirty="0"/>
          </a:p>
          <a:p>
            <a:pPr marL="203200" indent="-203200">
              <a:spcAft>
                <a:spcPts val="700"/>
              </a:spcAft>
              <a:buSzPct val="100000"/>
              <a:buChar char="•"/>
            </a:pPr>
            <a:r>
              <a:rPr lang="en-US" sz="1600" dirty="0">
                <a:solidFill>
                  <a:srgbClr val="1E2A36"/>
                </a:solidFill>
                <a:latin typeface="Calibri" pitchFamily="34" charset="0"/>
                <a:ea typeface="Calibri" pitchFamily="34" charset="-122"/>
                <a:cs typeface="Calibri" pitchFamily="34" charset="-120"/>
              </a:rPr>
              <a:t>Who maintains</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How decisions get made. Solo: how does a contributor's proposal get decided, and where?</a:t>
            </a:r>
            <a:endParaRPr lang="en-US" sz="1600" dirty="0"/>
          </a:p>
        </p:txBody>
      </p:sp>
      <p:sp>
        <p:nvSpPr>
          <p:cNvPr id="26" name="Shape 24"/>
          <p:cNvSpPr/>
          <p:nvPr/>
        </p:nvSpPr>
        <p:spPr>
          <a:xfrm>
            <a:off x="548640" y="5440680"/>
            <a:ext cx="11064240" cy="731520"/>
          </a:xfrm>
          <a:prstGeom prst="roundRect">
            <a:avLst>
              <a:gd name="adj" fmla="val 11250"/>
            </a:avLst>
          </a:prstGeom>
          <a:solidFill>
            <a:srgbClr val="14233A"/>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Target: both drafted far enough that a stranger can read them, merged or on an open PR.</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STRANGER'S READ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your partner's front door cold</a:t>
            </a:r>
            <a:endParaRPr lang="en-US" sz="3200" dirty="0"/>
          </a:p>
        </p:txBody>
      </p:sp>
      <p:sp>
        <p:nvSpPr>
          <p:cNvPr id="6" name="Shape 4"/>
          <p:cNvSpPr/>
          <p:nvPr/>
        </p:nvSpPr>
        <p:spPr>
          <a:xfrm>
            <a:off x="548640" y="178308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1920240"/>
            <a:ext cx="475488" cy="475488"/>
          </a:xfrm>
          <a:prstGeom prst="ellipse">
            <a:avLst/>
          </a:prstGeom>
          <a:solidFill>
            <a:srgbClr val="E8A33D"/>
          </a:solidFill>
          <a:ln/>
        </p:spPr>
      </p:sp>
      <p:sp>
        <p:nvSpPr>
          <p:cNvPr id="8" name="Text 6"/>
          <p:cNvSpPr/>
          <p:nvPr/>
        </p:nvSpPr>
        <p:spPr>
          <a:xfrm>
            <a:off x="777240" y="192024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463040" y="178308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Open it the way a stranger would</a:t>
            </a:r>
            <a:endParaRPr lang="en-US" sz="1700" dirty="0"/>
          </a:p>
        </p:txBody>
      </p:sp>
      <p:sp>
        <p:nvSpPr>
          <p:cNvPr id="10" name="Text 8"/>
          <p:cNvSpPr/>
          <p:nvPr/>
        </p:nvSpPr>
        <p:spPr>
          <a:xfrm>
            <a:off x="5120640" y="178308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Private, logged-out browser window. Their repo, not their screen.</a:t>
            </a:r>
            <a:endParaRPr lang="en-US" sz="1500" dirty="0"/>
          </a:p>
        </p:txBody>
      </p:sp>
      <p:sp>
        <p:nvSpPr>
          <p:cNvPr id="11" name="Shape 9"/>
          <p:cNvSpPr/>
          <p:nvPr/>
        </p:nvSpPr>
        <p:spPr>
          <a:xfrm>
            <a:off x="548640" y="265176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2788920"/>
            <a:ext cx="475488" cy="475488"/>
          </a:xfrm>
          <a:prstGeom prst="ellipse">
            <a:avLst/>
          </a:prstGeom>
          <a:solidFill>
            <a:srgbClr val="E8A33D"/>
          </a:solidFill>
          <a:ln/>
        </p:spPr>
      </p:sp>
      <p:sp>
        <p:nvSpPr>
          <p:cNvPr id="13" name="Text 11"/>
          <p:cNvSpPr/>
          <p:nvPr/>
        </p:nvSpPr>
        <p:spPr>
          <a:xfrm>
            <a:off x="777240" y="278892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463040" y="265176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README, then CONTRIBUTING</a:t>
            </a:r>
            <a:endParaRPr lang="en-US" sz="1700" dirty="0"/>
          </a:p>
        </p:txBody>
      </p:sp>
      <p:sp>
        <p:nvSpPr>
          <p:cNvPr id="15" name="Text 13"/>
          <p:cNvSpPr/>
          <p:nvPr/>
        </p:nvSpPr>
        <p:spPr>
          <a:xfrm>
            <a:off x="5120640" y="265176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About five minutes each. Don't ask the author anything; if you'd have to ask, write it down.</a:t>
            </a:r>
            <a:endParaRPr lang="en-US" sz="1500" dirty="0"/>
          </a:p>
        </p:txBody>
      </p:sp>
      <p:sp>
        <p:nvSpPr>
          <p:cNvPr id="16" name="Shape 14"/>
          <p:cNvSpPr/>
          <p:nvPr/>
        </p:nvSpPr>
        <p:spPr>
          <a:xfrm>
            <a:off x="548640" y="352044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3657600"/>
            <a:ext cx="475488" cy="475488"/>
          </a:xfrm>
          <a:prstGeom prst="ellipse">
            <a:avLst/>
          </a:prstGeom>
          <a:solidFill>
            <a:srgbClr val="E8A33D"/>
          </a:solidFill>
          <a:ln/>
        </p:spPr>
      </p:sp>
      <p:sp>
        <p:nvSpPr>
          <p:cNvPr id="18" name="Text 16"/>
          <p:cNvSpPr/>
          <p:nvPr/>
        </p:nvSpPr>
        <p:spPr>
          <a:xfrm>
            <a:off x="777240" y="365760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463040" y="352044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Fill in the Stranger's Read sheet</a:t>
            </a:r>
            <a:endParaRPr lang="en-US" sz="1700" dirty="0"/>
          </a:p>
        </p:txBody>
      </p:sp>
      <p:sp>
        <p:nvSpPr>
          <p:cNvPr id="20" name="Text 18"/>
          <p:cNvSpPr/>
          <p:nvPr/>
        </p:nvSpPr>
        <p:spPr>
          <a:xfrm>
            <a:off x="5120640" y="352044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What is this? How would I start helping? The one thing that most stopped me. Tick what the docs told you.</a:t>
            </a:r>
            <a:endParaRPr lang="en-US" sz="1500" dirty="0"/>
          </a:p>
        </p:txBody>
      </p:sp>
      <p:sp>
        <p:nvSpPr>
          <p:cNvPr id="21" name="Shape 19"/>
          <p:cNvSpPr/>
          <p:nvPr/>
        </p:nvSpPr>
        <p:spPr>
          <a:xfrm>
            <a:off x="548640" y="4389120"/>
            <a:ext cx="11064240" cy="749808"/>
          </a:xfrm>
          <a:prstGeom prst="roundRect">
            <a:avLst>
              <a:gd name="adj" fmla="val 10976"/>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77240" y="4526280"/>
            <a:ext cx="475488" cy="475488"/>
          </a:xfrm>
          <a:prstGeom prst="ellipse">
            <a:avLst/>
          </a:prstGeom>
          <a:solidFill>
            <a:srgbClr val="E8A33D"/>
          </a:solidFill>
          <a:ln/>
        </p:spPr>
      </p:sp>
      <p:sp>
        <p:nvSpPr>
          <p:cNvPr id="23" name="Text 21"/>
          <p:cNvSpPr/>
          <p:nvPr/>
        </p:nvSpPr>
        <p:spPr>
          <a:xfrm>
            <a:off x="777240" y="4526280"/>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4</a:t>
            </a:r>
            <a:endParaRPr lang="en-US" sz="1800" dirty="0"/>
          </a:p>
        </p:txBody>
      </p:sp>
      <p:sp>
        <p:nvSpPr>
          <p:cNvPr id="24" name="Text 22"/>
          <p:cNvSpPr/>
          <p:nvPr/>
        </p:nvSpPr>
        <p:spPr>
          <a:xfrm>
            <a:off x="1463040" y="4389120"/>
            <a:ext cx="3657600" cy="74980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Hand it back</a:t>
            </a:r>
            <a:endParaRPr lang="en-US" sz="1700" dirty="0"/>
          </a:p>
        </p:txBody>
      </p:sp>
      <p:sp>
        <p:nvSpPr>
          <p:cNvPr id="25" name="Text 23"/>
          <p:cNvSpPr/>
          <p:nvPr/>
        </p:nvSpPr>
        <p:spPr>
          <a:xfrm>
            <a:off x="5120640" y="4389120"/>
            <a:ext cx="6263640" cy="749808"/>
          </a:xfrm>
          <a:prstGeom prst="rect">
            <a:avLst/>
          </a:prstGeom>
          <a:noFill/>
          <a:ln/>
        </p:spPr>
        <p:txBody>
          <a:bodyPr wrap="square" lIns="0" tIns="0" rIns="0" bIns="0" rtlCol="0" anchor="ctr"/>
          <a:lstStyle/>
          <a:p>
            <a:pPr indent="0" marL="0">
              <a:lnSpc>
                <a:spcPct val="102000"/>
              </a:lnSpc>
              <a:buNone/>
            </a:pPr>
            <a:r>
              <a:rPr lang="en-US" sz="1500" dirty="0">
                <a:solidFill>
                  <a:srgbClr val="CFE0E9"/>
                </a:solidFill>
                <a:latin typeface="Calibri" pitchFamily="34" charset="0"/>
                <a:ea typeface="Calibri" pitchFamily="34" charset="-122"/>
                <a:cs typeface="Calibri" pitchFamily="34" charset="-120"/>
              </a:rPr>
              <a:t>The author keeps it, acts on it, and submits a photo of it with CP7.</a:t>
            </a:r>
            <a:endParaRPr lang="en-US" sz="1500" dirty="0"/>
          </a:p>
        </p:txBody>
      </p:sp>
      <p:sp>
        <p:nvSpPr>
          <p:cNvPr id="26" name="Shape 2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349240"/>
            <a:ext cx="10424160" cy="82296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The author is the worst reader of their own docs: they already know everything the docs leave out.</a:t>
            </a:r>
            <a:endParaRPr lang="en-US" sz="170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ACT ON IT · 10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 your sheet, then fix or file</a:t>
            </a:r>
            <a:endParaRPr lang="en-US" sz="3100" dirty="0"/>
          </a:p>
        </p:txBody>
      </p:sp>
      <p:sp>
        <p:nvSpPr>
          <p:cNvPr id="5" name="Shape 3"/>
          <p:cNvSpPr/>
          <p:nvPr/>
        </p:nvSpPr>
        <p:spPr>
          <a:xfrm>
            <a:off x="548640" y="1783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9601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If your partner's "what is this?" doesn't match what you meant, your first sentence isn't done.</a:t>
            </a:r>
            <a:endParaRPr lang="en-US" sz="2000" dirty="0"/>
          </a:p>
        </p:txBody>
      </p:sp>
      <p:sp>
        <p:nvSpPr>
          <p:cNvPr id="7" name="Shape 5"/>
          <p:cNvSpPr/>
          <p:nvPr/>
        </p:nvSpPr>
        <p:spPr>
          <a:xfrm>
            <a:off x="54864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22960" y="3200400"/>
            <a:ext cx="603504" cy="603504"/>
          </a:xfrm>
          <a:prstGeom prst="ellipse">
            <a:avLst/>
          </a:prstGeom>
          <a:solidFill>
            <a:srgbClr val="12908F"/>
          </a:solidFill>
          <a:ln/>
        </p:spPr>
      </p:sp>
      <p:pic>
        <p:nvPicPr>
          <p:cNvPr id="9" name="Image 0" descr="preencoded.png">    </p:cNvPr>
          <p:cNvPicPr>
            <a:picLocks noChangeAspect="1"/>
          </p:cNvPicPr>
          <p:nvPr/>
        </p:nvPicPr>
        <p:blipFill>
          <a:blip r:embed="rId1"/>
          <a:stretch>
            <a:fillRect/>
          </a:stretch>
        </p:blipFill>
        <p:spPr>
          <a:xfrm>
            <a:off x="985906" y="3363346"/>
            <a:ext cx="277612" cy="277612"/>
          </a:xfrm>
          <a:prstGeom prst="rect">
            <a:avLst/>
          </a:prstGeom>
        </p:spPr>
      </p:pic>
      <p:sp>
        <p:nvSpPr>
          <p:cNvPr id="10" name="Text 7"/>
          <p:cNvSpPr/>
          <p:nvPr/>
        </p:nvSpPr>
        <p:spPr>
          <a:xfrm>
            <a:off x="160020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Fix it or file it</a:t>
            </a:r>
            <a:endParaRPr lang="en-US" sz="1900" dirty="0"/>
          </a:p>
        </p:txBody>
      </p:sp>
      <p:sp>
        <p:nvSpPr>
          <p:cNvPr id="11" name="Text 8"/>
          <p:cNvSpPr/>
          <p:nvPr/>
        </p:nvSpPr>
        <p:spPr>
          <a:xfrm>
            <a:off x="82296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Under ten minutes: fix it now. Bigger: file an issue. Either way, write the number on the sheet and say "from the stranger's read" in the description.</a:t>
            </a:r>
            <a:endParaRPr lang="en-US" sz="1550" dirty="0"/>
          </a:p>
        </p:txBody>
      </p:sp>
      <p:sp>
        <p:nvSpPr>
          <p:cNvPr id="12" name="Shape 9"/>
          <p:cNvSpPr/>
          <p:nvPr/>
        </p:nvSpPr>
        <p:spPr>
          <a:xfrm>
            <a:off x="429768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572000" y="3200400"/>
            <a:ext cx="603504" cy="603504"/>
          </a:xfrm>
          <a:prstGeom prst="ellipse">
            <a:avLst/>
          </a:prstGeom>
          <a:solidFill>
            <a:srgbClr val="12908F"/>
          </a:solidFill>
          <a:ln/>
        </p:spPr>
      </p:sp>
      <p:pic>
        <p:nvPicPr>
          <p:cNvPr id="14" name="Image 1" descr="preencoded.png">    </p:cNvPr>
          <p:cNvPicPr>
            <a:picLocks noChangeAspect="1"/>
          </p:cNvPicPr>
          <p:nvPr/>
        </p:nvPicPr>
        <p:blipFill>
          <a:blip r:embed="rId2"/>
          <a:stretch>
            <a:fillRect/>
          </a:stretch>
        </p:blipFill>
        <p:spPr>
          <a:xfrm>
            <a:off x="4734946" y="3363346"/>
            <a:ext cx="277612" cy="277612"/>
          </a:xfrm>
          <a:prstGeom prst="rect">
            <a:avLst/>
          </a:prstGeom>
        </p:spPr>
      </p:pic>
      <p:sp>
        <p:nvSpPr>
          <p:cNvPr id="15" name="Text 11"/>
          <p:cNvSpPr/>
          <p:nvPr/>
        </p:nvSpPr>
        <p:spPr>
          <a:xfrm>
            <a:off x="534924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Seed the tracker</a:t>
            </a:r>
            <a:endParaRPr lang="en-US" sz="1900" dirty="0"/>
          </a:p>
        </p:txBody>
      </p:sp>
      <p:sp>
        <p:nvSpPr>
          <p:cNvPr id="16" name="Text 12"/>
          <p:cNvSpPr/>
          <p:nvPr/>
        </p:nvSpPr>
        <p:spPr>
          <a:xfrm>
            <a:off x="457200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2–3 real next-work issues, written through your own templates. The setup-guide issue counts as one. They start Monday's backlog.</a:t>
            </a:r>
            <a:endParaRPr lang="en-US" sz="1550" dirty="0"/>
          </a:p>
        </p:txBody>
      </p:sp>
      <p:sp>
        <p:nvSpPr>
          <p:cNvPr id="17" name="Shape 13"/>
          <p:cNvSpPr/>
          <p:nvPr/>
        </p:nvSpPr>
        <p:spPr>
          <a:xfrm>
            <a:off x="8046720" y="2971800"/>
            <a:ext cx="356616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321040" y="3200400"/>
            <a:ext cx="603504" cy="603504"/>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483986" y="3363346"/>
            <a:ext cx="277612" cy="277612"/>
          </a:xfrm>
          <a:prstGeom prst="rect">
            <a:avLst/>
          </a:prstGeom>
        </p:spPr>
      </p:pic>
      <p:sp>
        <p:nvSpPr>
          <p:cNvPr id="20" name="Text 15"/>
          <p:cNvSpPr/>
          <p:nvPr/>
        </p:nvSpPr>
        <p:spPr>
          <a:xfrm>
            <a:off x="9098280" y="3200400"/>
            <a:ext cx="237744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Time left?</a:t>
            </a:r>
            <a:endParaRPr lang="en-US" sz="1900" dirty="0"/>
          </a:p>
        </p:txBody>
      </p:sp>
      <p:sp>
        <p:nvSpPr>
          <p:cNvPr id="21" name="Text 16"/>
          <p:cNvSpPr/>
          <p:nvPr/>
        </p:nvSpPr>
        <p:spPr>
          <a:xfrm>
            <a:off x="8321040" y="3977640"/>
            <a:ext cx="3017520" cy="21031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Review your partner's open PRs. Unfinished fixes carry to Friday; that's what the sheet is for.</a:t>
            </a:r>
            <a:endParaRPr lang="en-US" sz="155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SUBMITTING CP7</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Tag it, the way a project marks a release</a:t>
            </a:r>
            <a:endParaRPr lang="en-US" sz="3100" dirty="0"/>
          </a:p>
        </p:txBody>
      </p:sp>
      <p:sp>
        <p:nvSpPr>
          <p:cNvPr id="5" name="Text 3"/>
          <p:cNvSpPr/>
          <p:nvPr/>
        </p:nvSpPr>
        <p:spPr>
          <a:xfrm>
            <a:off x="548640" y="1737360"/>
            <a:ext cx="10972800" cy="36576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When everything is merged to main:</a:t>
            </a:r>
            <a:endParaRPr lang="en-US" sz="1600" dirty="0"/>
          </a:p>
        </p:txBody>
      </p:sp>
      <p:sp>
        <p:nvSpPr>
          <p:cNvPr id="6" name="Shape 4"/>
          <p:cNvSpPr/>
          <p:nvPr/>
        </p:nvSpPr>
        <p:spPr>
          <a:xfrm>
            <a:off x="548640" y="2148840"/>
            <a:ext cx="11064240" cy="1600200"/>
          </a:xfrm>
          <a:prstGeom prst="roundRect">
            <a:avLst>
              <a:gd name="adj" fmla="val 4571"/>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313432"/>
            <a:ext cx="10515600" cy="1271016"/>
          </a:xfrm>
          <a:prstGeom prst="rect">
            <a:avLst/>
          </a:prstGeom>
          <a:noFill/>
          <a:ln/>
        </p:spPr>
        <p:txBody>
          <a:bodyPr wrap="square" lIns="0" tIns="0" rIns="0" bIns="0" rtlCol="0" anchor="t"/>
          <a:lstStyle/>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switch main &amp;&amp; git pull</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tag -a cp7 -m "CP7: infrastructure package"</a:t>
            </a:r>
            <a:endParaRPr lang="en-US" sz="1800" dirty="0"/>
          </a:p>
          <a:p>
            <a:pPr indent="0" marL="0">
              <a:lnSpc>
                <a:spcPct val="105000"/>
              </a:lnSpc>
              <a:buNone/>
            </a:pPr>
            <a:r>
              <a:rPr lang="en-US" sz="1800" dirty="0">
                <a:solidFill>
                  <a:srgbClr val="E8EEF3"/>
                </a:solidFill>
                <a:latin typeface="Consolas" pitchFamily="34" charset="0"/>
                <a:ea typeface="Consolas" pitchFamily="34" charset="-122"/>
                <a:cs typeface="Consolas" pitchFamily="34" charset="-120"/>
              </a:rPr>
              <a:t>git push origin cp7</a:t>
            </a:r>
            <a:endParaRPr lang="en-US" sz="1800" dirty="0"/>
          </a:p>
        </p:txBody>
      </p:sp>
      <p:sp>
        <p:nvSpPr>
          <p:cNvPr id="8" name="Shape 6"/>
          <p:cNvSpPr/>
          <p:nvPr/>
        </p:nvSpPr>
        <p:spPr>
          <a:xfrm>
            <a:off x="54864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822960" y="4206240"/>
            <a:ext cx="566928" cy="566928"/>
          </a:xfrm>
          <a:prstGeom prst="ellipse">
            <a:avLst/>
          </a:prstGeom>
          <a:solidFill>
            <a:srgbClr val="12908F"/>
          </a:solidFill>
          <a:ln/>
        </p:spPr>
      </p:sp>
      <p:pic>
        <p:nvPicPr>
          <p:cNvPr id="10" name="Image 0" descr="preencoded.png">    </p:cNvPr>
          <p:cNvPicPr>
            <a:picLocks noChangeAspect="1"/>
          </p:cNvPicPr>
          <p:nvPr/>
        </p:nvPicPr>
        <p:blipFill>
          <a:blip r:embed="rId1"/>
          <a:stretch>
            <a:fillRect/>
          </a:stretch>
        </p:blipFill>
        <p:spPr>
          <a:xfrm>
            <a:off x="976031" y="4359311"/>
            <a:ext cx="260787" cy="260787"/>
          </a:xfrm>
          <a:prstGeom prst="rect">
            <a:avLst/>
          </a:prstGeom>
        </p:spPr>
      </p:pic>
      <p:sp>
        <p:nvSpPr>
          <p:cNvPr id="11" name="Text 8"/>
          <p:cNvSpPr/>
          <p:nvPr/>
        </p:nvSpPr>
        <p:spPr>
          <a:xfrm>
            <a:off x="155448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In Canvas, paste the tag URL</a:t>
            </a:r>
            <a:endParaRPr lang="en-US" sz="1800" dirty="0"/>
          </a:p>
        </p:txBody>
      </p:sp>
      <p:sp>
        <p:nvSpPr>
          <p:cNvPr id="12" name="Text 9"/>
          <p:cNvSpPr/>
          <p:nvPr/>
        </p:nvSpPr>
        <p:spPr>
          <a:xfrm>
            <a:off x="86868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…/YOUR-REPO/tree/cp7. That frozen state is what's graded, so work you merge later doesn't change it.</a:t>
            </a:r>
            <a:endParaRPr lang="en-US" sz="1550" dirty="0"/>
          </a:p>
        </p:txBody>
      </p:sp>
      <p:sp>
        <p:nvSpPr>
          <p:cNvPr id="13" name="Shape 10"/>
          <p:cNvSpPr/>
          <p:nvPr/>
        </p:nvSpPr>
        <p:spPr>
          <a:xfrm>
            <a:off x="6172200" y="3977640"/>
            <a:ext cx="5440680" cy="2194560"/>
          </a:xfrm>
          <a:prstGeom prst="roundRect">
            <a:avLst>
              <a:gd name="adj" fmla="val 3750"/>
            </a:avLst>
          </a:prstGeom>
          <a:solidFill>
            <a:srgbClr val="F2F6F8"/>
          </a:solidFill>
          <a:ln/>
          <a:effectLst>
            <a:outerShdw sx="100000" sy="100000" kx="0" ky="0" algn="bl" rotWithShape="0" blurRad="88900" dist="38100" dir="5400000">
              <a:srgbClr val="000000">
                <a:alpha val="13000"/>
              </a:srgbClr>
            </a:outerShdw>
          </a:effectLst>
        </p:spPr>
      </p:sp>
      <p:sp>
        <p:nvSpPr>
          <p:cNvPr id="14" name="Shape 11"/>
          <p:cNvSpPr/>
          <p:nvPr/>
        </p:nvSpPr>
        <p:spPr>
          <a:xfrm>
            <a:off x="6446520" y="4206240"/>
            <a:ext cx="566928" cy="566928"/>
          </a:xfrm>
          <a:prstGeom prst="ellipse">
            <a:avLst/>
          </a:prstGeom>
          <a:solidFill>
            <a:srgbClr val="12908F"/>
          </a:solidFill>
          <a:ln/>
        </p:spPr>
      </p:sp>
      <p:pic>
        <p:nvPicPr>
          <p:cNvPr id="15" name="Image 1" descr="preencoded.png">    </p:cNvPr>
          <p:cNvPicPr>
            <a:picLocks noChangeAspect="1"/>
          </p:cNvPicPr>
          <p:nvPr/>
        </p:nvPicPr>
        <p:blipFill>
          <a:blip r:embed="rId2"/>
          <a:stretch>
            <a:fillRect/>
          </a:stretch>
        </p:blipFill>
        <p:spPr>
          <a:xfrm>
            <a:off x="6599591" y="4359311"/>
            <a:ext cx="260787" cy="260787"/>
          </a:xfrm>
          <a:prstGeom prst="rect">
            <a:avLst/>
          </a:prstGeom>
        </p:spPr>
      </p:pic>
      <p:sp>
        <p:nvSpPr>
          <p:cNvPr id="16" name="Text 12"/>
          <p:cNvSpPr/>
          <p:nvPr/>
        </p:nvSpPr>
        <p:spPr>
          <a:xfrm>
            <a:off x="7178040" y="4206240"/>
            <a:ext cx="4297680" cy="56692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Add a photo of the sheet</a:t>
            </a:r>
            <a:endParaRPr lang="en-US" sz="1800" dirty="0"/>
          </a:p>
        </p:txBody>
      </p:sp>
      <p:sp>
        <p:nvSpPr>
          <p:cNvPr id="17" name="Text 13"/>
          <p:cNvSpPr/>
          <p:nvPr/>
        </p:nvSpPr>
        <p:spPr>
          <a:xfrm>
            <a:off x="6492240" y="4892040"/>
            <a:ext cx="4892040" cy="118872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Your Stranger's Read sheet, with what you did about it filled in. Flat page, good light, legible.</a:t>
            </a:r>
            <a:endParaRPr lang="en-US" sz="155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16 · Ship the Front Door</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The bar for every file isn't "exists." It's "works for a stranger."</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BY END OF DAY FRIDAY, OCT 30</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CONTRIBUTING and the norms finished; the read acted on; everything merged to main</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Tag cp7, then submit the tag URL and a photo of your sheet in Canvas</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Save today's links for CP9: PR descriptions, review comments, seed issues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Monday, Nov 2: Phase 4 begins. Today's seed issues are the first items in your backlog.</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16 · Ship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16 — Ship the Front Door</dc:title>
  <dc:subject>PptxGenJS Presentation</dc:subject>
  <dc:creator>CS 301R</dc:creator>
  <cp:lastModifiedBy>CS 301R</cp:lastModifiedBy>
  <cp:revision>1</cp:revision>
  <dcterms:created xsi:type="dcterms:W3CDTF">2026-10-16T18:29:52Z</dcterms:created>
  <dcterms:modified xsi:type="dcterms:W3CDTF">2026-10-16T18:29:52Z</dcterms:modified>
</cp:coreProperties>
</file>