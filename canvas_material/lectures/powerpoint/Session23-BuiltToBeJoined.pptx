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teaching session of the course; everything after is studio, rehearsal, and the demo. Before class: pick three or four anonymized findings from last Wednesday's audit sheets to write on the board for slide 7. Print the Contributor-Readiness Checklist, one per student. Students bring their audit sheet and top-five fix list. This week turns outward again: lead every block with the general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For three weeks class has been about your own repository, out of necessity. Today steps back out: what we cover applies to any project anyone ever joins, at work or in open source, and your project is the example rather than the subject. The highlighted workshop is where it turns into a plan for the next nine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Take two or three answers and write them on the board in the students' words. Expect things like: how to get it running, who to ask, what the code is even for, which part is safe to touch. You'll map their answers onto the five needs on slide 5, which makes the list feel discovered rather than handed down. Every student has been a newcomer somewhere.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Most projects stop at usable: they work, and only their authors can change them. A founded project has to be joinable too, and that's what makes it last past its founder's attention. Click: the audit measured whether a stranger survived your front door. Second click: the final demo's third question is answered by what you write down in the next nine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Map the students' answers from slide 3 onto these five; most will land on 1, 3, and 4. Point out that the right column is the same need inside a company: good teams onboard a new hire in days instead of months because they answer these on purpose. The middle column is what your repository answers with, and Prop Loft has one artifact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Each bar is something a stranger could check, not something an author feels. Need 2 is the one the reading is about: newcomers decide from a first reply, a tone, a closed issue nobody answered. Need 5 is where student projects most often overpromise; a response time you can't keep after the term ends is worse than an honest slower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Point at the anonymized findings you wrote on the board before class, such as 'three of four auditors stalled at the same configuration step', and ask which need each belongs to. Most will be need 3. Then the amber line: the audit never asked whether a newcomer would feel welcome or get a reply, and the onboarding test on Dec 2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This is the general principle: whoever changes the code next, a teammate, a contributor, or you after a long break, needs these three things. Nothing about it is specific to this course. An MVP doesn't owe a contributor polish or completeness, but it does owe them these. The next two slides are this course's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Read the floor aloud. One click per card. The first is the reasoning: the bar went up because the audience changed. The second matters most: a test that can't fail proves nothing, which is the same idea as last week's proven-or-shown. If a project has no test yet, the slice's single most important rule is the place to start; Prop Loft's is one open checkout per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Every real codebase carries debt; the professional move is to write it down where the next person will look. The three sources are all things students already have: corners from Session 19, cuts from Session 21, and findings from last Wednesday. The known-issues log they started for CP10 becomes CP11's known-issues and tech-debt log; it's one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Walk the six pieces and, for each, ask where its draft already lives: the design doc, the setup guide, the roadmap from CP8, the known-issues file from CP10, CONTRIBUTING and the norms, the test command. The point to land is that the package is mostly refresh and verify. Students mark each one exists, needs refresh, or needs writing during the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hand out the checklist. It isn't the audit sheet again on purpose: the audit tested whether a stranger could get in, and this tests whether they'd stay, including welcome and response. The Since the audit section ties the two together: authors write their two worst stalls from last Wednesday, and the Dec 2 tester marks each fixed, logged, or still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Twenty-five minutes; leave this up. Circulate to every project at least twice with the January question. Most punch lists come out top-heavy with features; push joinability items up. Each item becomes an issue so the tracker stays the source of truth to the end. Make sure every student has filled in Since the audit before they leave; the Dec 2 tester needs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Say the one-liner. Be clear that nothing is expected over Thanksgiving: this is a real break. Anyone who wants to close issues may, and the punch list makes that easy, but don't imply it. Monday after the break is the retrospective and the pitch frame; Wednesday is assembly and the onboarding test, with CP11 due that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Built to Be Joined</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23 — what every newcomer needs, and how a project answers it</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Monday, November 23,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TODAY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From a project people can use to one people can join</a:t>
            </a:r>
            <a:endParaRPr lang="en-US" sz="3100" dirty="0"/>
          </a:p>
        </p:txBody>
      </p:sp>
      <p:sp>
        <p:nvSpPr>
          <p:cNvPr id="5" name="Shape 3"/>
          <p:cNvSpPr/>
          <p:nvPr/>
        </p:nvSpPr>
        <p:spPr>
          <a:xfrm>
            <a:off x="548640" y="178308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04672" y="1874520"/>
            <a:ext cx="438912" cy="438912"/>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23178" y="1993026"/>
            <a:ext cx="201900" cy="201900"/>
          </a:xfrm>
          <a:prstGeom prst="rect">
            <a:avLst/>
          </a:prstGeom>
        </p:spPr>
      </p:pic>
      <p:sp>
        <p:nvSpPr>
          <p:cNvPr id="8" name="Text 5"/>
          <p:cNvSpPr/>
          <p:nvPr/>
        </p:nvSpPr>
        <p:spPr>
          <a:xfrm>
            <a:off x="1463040" y="1783080"/>
            <a:ext cx="822960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Joined, not just used</a:t>
            </a:r>
            <a:endParaRPr lang="en-US" sz="1800" dirty="0"/>
          </a:p>
        </p:txBody>
      </p:sp>
      <p:sp>
        <p:nvSpPr>
          <p:cNvPr id="9" name="Text 6"/>
          <p:cNvSpPr/>
          <p:nvPr/>
        </p:nvSpPr>
        <p:spPr>
          <a:xfrm>
            <a:off x="9692640" y="1783080"/>
            <a:ext cx="16459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6 min</a:t>
            </a:r>
            <a:endParaRPr lang="en-US" sz="1600" dirty="0"/>
          </a:p>
        </p:txBody>
      </p:sp>
      <p:sp>
        <p:nvSpPr>
          <p:cNvPr id="10" name="Shape 7"/>
          <p:cNvSpPr/>
          <p:nvPr/>
        </p:nvSpPr>
        <p:spPr>
          <a:xfrm>
            <a:off x="548640" y="251460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804672" y="2606040"/>
            <a:ext cx="438912" cy="438912"/>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923178" y="2724546"/>
            <a:ext cx="201900" cy="201900"/>
          </a:xfrm>
          <a:prstGeom prst="rect">
            <a:avLst/>
          </a:prstGeom>
        </p:spPr>
      </p:pic>
      <p:sp>
        <p:nvSpPr>
          <p:cNvPr id="13" name="Text 9"/>
          <p:cNvSpPr/>
          <p:nvPr/>
        </p:nvSpPr>
        <p:spPr>
          <a:xfrm>
            <a:off x="1463040" y="2514600"/>
            <a:ext cx="822960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five questions every newcomer asks</a:t>
            </a:r>
            <a:endParaRPr lang="en-US" sz="1800" dirty="0"/>
          </a:p>
        </p:txBody>
      </p:sp>
      <p:sp>
        <p:nvSpPr>
          <p:cNvPr id="14" name="Text 10"/>
          <p:cNvSpPr/>
          <p:nvPr/>
        </p:nvSpPr>
        <p:spPr>
          <a:xfrm>
            <a:off x="9692640" y="2514600"/>
            <a:ext cx="16459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15 min</a:t>
            </a:r>
            <a:endParaRPr lang="en-US" sz="1600" dirty="0"/>
          </a:p>
        </p:txBody>
      </p:sp>
      <p:sp>
        <p:nvSpPr>
          <p:cNvPr id="15" name="Shape 11"/>
          <p:cNvSpPr/>
          <p:nvPr/>
        </p:nvSpPr>
        <p:spPr>
          <a:xfrm>
            <a:off x="548640" y="324612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04672" y="3337560"/>
            <a:ext cx="438912" cy="438912"/>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923178" y="3456066"/>
            <a:ext cx="201900" cy="201900"/>
          </a:xfrm>
          <a:prstGeom prst="rect">
            <a:avLst/>
          </a:prstGeom>
        </p:spPr>
      </p:pic>
      <p:sp>
        <p:nvSpPr>
          <p:cNvPr id="18" name="Text 13"/>
          <p:cNvSpPr/>
          <p:nvPr/>
        </p:nvSpPr>
        <p:spPr>
          <a:xfrm>
            <a:off x="1463040" y="3246120"/>
            <a:ext cx="822960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What any codebase owes the next person</a:t>
            </a:r>
            <a:endParaRPr lang="en-US" sz="1800" dirty="0"/>
          </a:p>
        </p:txBody>
      </p:sp>
      <p:sp>
        <p:nvSpPr>
          <p:cNvPr id="19" name="Text 14"/>
          <p:cNvSpPr/>
          <p:nvPr/>
        </p:nvSpPr>
        <p:spPr>
          <a:xfrm>
            <a:off x="9692640" y="3246120"/>
            <a:ext cx="16459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12 min</a:t>
            </a:r>
            <a:endParaRPr lang="en-US" sz="1600" dirty="0"/>
          </a:p>
        </p:txBody>
      </p:sp>
      <p:sp>
        <p:nvSpPr>
          <p:cNvPr id="20" name="Shape 15"/>
          <p:cNvSpPr/>
          <p:nvPr/>
        </p:nvSpPr>
        <p:spPr>
          <a:xfrm>
            <a:off x="548640" y="397764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804672" y="4069080"/>
            <a:ext cx="438912" cy="438912"/>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923178" y="4187586"/>
            <a:ext cx="201900" cy="201900"/>
          </a:xfrm>
          <a:prstGeom prst="rect">
            <a:avLst/>
          </a:prstGeom>
        </p:spPr>
      </p:pic>
      <p:sp>
        <p:nvSpPr>
          <p:cNvPr id="23" name="Text 17"/>
          <p:cNvSpPr/>
          <p:nvPr/>
        </p:nvSpPr>
        <p:spPr>
          <a:xfrm>
            <a:off x="1463040" y="3977640"/>
            <a:ext cx="822960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launch package, laid out</a:t>
            </a:r>
            <a:endParaRPr lang="en-US" sz="1800" dirty="0"/>
          </a:p>
        </p:txBody>
      </p:sp>
      <p:sp>
        <p:nvSpPr>
          <p:cNvPr id="24" name="Text 18"/>
          <p:cNvSpPr/>
          <p:nvPr/>
        </p:nvSpPr>
        <p:spPr>
          <a:xfrm>
            <a:off x="9692640" y="3977640"/>
            <a:ext cx="16459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12 min</a:t>
            </a:r>
            <a:endParaRPr lang="en-US" sz="1600" dirty="0"/>
          </a:p>
        </p:txBody>
      </p:sp>
      <p:sp>
        <p:nvSpPr>
          <p:cNvPr id="25" name="Shape 19"/>
          <p:cNvSpPr/>
          <p:nvPr/>
        </p:nvSpPr>
        <p:spPr>
          <a:xfrm>
            <a:off x="548640" y="4709160"/>
            <a:ext cx="11064240" cy="621792"/>
          </a:xfrm>
          <a:prstGeom prst="roundRect">
            <a:avLst>
              <a:gd name="adj" fmla="val 13235"/>
            </a:avLst>
          </a:prstGeom>
          <a:solidFill>
            <a:srgbClr val="14233A"/>
          </a:solidFill>
          <a:ln/>
          <a:effectLst>
            <a:outerShdw sx="100000" sy="100000" kx="0" ky="0" algn="bl" rotWithShape="0" blurRad="88900" dist="38100" dir="5400000">
              <a:srgbClr val="000000">
                <a:alpha val="13000"/>
              </a:srgbClr>
            </a:outerShdw>
          </a:effectLst>
        </p:spPr>
      </p:sp>
      <p:sp>
        <p:nvSpPr>
          <p:cNvPr id="26" name="Shape 20"/>
          <p:cNvSpPr/>
          <p:nvPr/>
        </p:nvSpPr>
        <p:spPr>
          <a:xfrm>
            <a:off x="804672" y="4800600"/>
            <a:ext cx="438912" cy="438912"/>
          </a:xfrm>
          <a:prstGeom prst="ellipse">
            <a:avLst/>
          </a:prstGeom>
          <a:solidFill>
            <a:srgbClr val="E8A33D"/>
          </a:solidFill>
          <a:ln/>
        </p:spPr>
      </p:sp>
      <p:pic>
        <p:nvPicPr>
          <p:cNvPr id="27" name="Image 4" descr="preencoded.png">    </p:cNvPr>
          <p:cNvPicPr>
            <a:picLocks noChangeAspect="1"/>
          </p:cNvPicPr>
          <p:nvPr/>
        </p:nvPicPr>
        <p:blipFill>
          <a:blip r:embed="rId5"/>
          <a:stretch>
            <a:fillRect/>
          </a:stretch>
        </p:blipFill>
        <p:spPr>
          <a:xfrm>
            <a:off x="923178" y="4919106"/>
            <a:ext cx="201900" cy="201900"/>
          </a:xfrm>
          <a:prstGeom prst="rect">
            <a:avLst/>
          </a:prstGeom>
        </p:spPr>
      </p:pic>
      <p:sp>
        <p:nvSpPr>
          <p:cNvPr id="28" name="Text 21"/>
          <p:cNvSpPr/>
          <p:nvPr/>
        </p:nvSpPr>
        <p:spPr>
          <a:xfrm>
            <a:off x="1463040" y="4709160"/>
            <a:ext cx="8229600" cy="62179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Workshop: your launch punch list</a:t>
            </a:r>
            <a:endParaRPr lang="en-US" sz="1800" dirty="0"/>
          </a:p>
        </p:txBody>
      </p:sp>
      <p:sp>
        <p:nvSpPr>
          <p:cNvPr id="29" name="Text 22"/>
          <p:cNvSpPr/>
          <p:nvPr/>
        </p:nvSpPr>
        <p:spPr>
          <a:xfrm>
            <a:off x="9692640" y="4709160"/>
            <a:ext cx="1645920" cy="621792"/>
          </a:xfrm>
          <a:prstGeom prst="rect">
            <a:avLst/>
          </a:prstGeom>
          <a:noFill/>
          <a:ln/>
        </p:spPr>
        <p:txBody>
          <a:bodyPr wrap="square" lIns="0" tIns="0" rIns="0" bIns="0" rtlCol="0" anchor="ctr"/>
          <a:lstStyle/>
          <a:p>
            <a:pPr algn="r" indent="0" marL="0">
              <a:buNone/>
            </a:pPr>
            <a:r>
              <a:rPr lang="en-US" sz="1600" b="1" dirty="0">
                <a:solidFill>
                  <a:srgbClr val="E8A33D"/>
                </a:solidFill>
                <a:latin typeface="Calibri" pitchFamily="34" charset="0"/>
                <a:ea typeface="Calibri" pitchFamily="34" charset="-122"/>
                <a:cs typeface="Calibri" pitchFamily="34" charset="-120"/>
              </a:rPr>
              <a:t>25 min</a:t>
            </a:r>
            <a:endParaRPr lang="en-US" sz="1600" dirty="0"/>
          </a:p>
        </p:txBody>
      </p:sp>
      <p:sp>
        <p:nvSpPr>
          <p:cNvPr id="30" name="Shape 23"/>
          <p:cNvSpPr/>
          <p:nvPr/>
        </p:nvSpPr>
        <p:spPr>
          <a:xfrm>
            <a:off x="548640" y="544068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31" name="Shape 24"/>
          <p:cNvSpPr/>
          <p:nvPr/>
        </p:nvSpPr>
        <p:spPr>
          <a:xfrm>
            <a:off x="804672" y="5532120"/>
            <a:ext cx="438912" cy="438912"/>
          </a:xfrm>
          <a:prstGeom prst="ellipse">
            <a:avLst/>
          </a:prstGeom>
          <a:solidFill>
            <a:srgbClr val="12908F"/>
          </a:solidFill>
          <a:ln/>
        </p:spPr>
      </p:sp>
      <p:pic>
        <p:nvPicPr>
          <p:cNvPr id="32" name="Image 5" descr="preencoded.png">    </p:cNvPr>
          <p:cNvPicPr>
            <a:picLocks noChangeAspect="1"/>
          </p:cNvPicPr>
          <p:nvPr/>
        </p:nvPicPr>
        <p:blipFill>
          <a:blip r:embed="rId6"/>
          <a:stretch>
            <a:fillRect/>
          </a:stretch>
        </p:blipFill>
        <p:spPr>
          <a:xfrm>
            <a:off x="923178" y="5650626"/>
            <a:ext cx="201900" cy="201900"/>
          </a:xfrm>
          <a:prstGeom prst="rect">
            <a:avLst/>
          </a:prstGeom>
        </p:spPr>
      </p:pic>
      <p:sp>
        <p:nvSpPr>
          <p:cNvPr id="33" name="Text 25"/>
          <p:cNvSpPr/>
          <p:nvPr/>
        </p:nvSpPr>
        <p:spPr>
          <a:xfrm>
            <a:off x="1463040" y="5440680"/>
            <a:ext cx="822960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Thanksgiving, then the last stretch</a:t>
            </a:r>
            <a:endParaRPr lang="en-US" sz="1800" dirty="0"/>
          </a:p>
        </p:txBody>
      </p:sp>
      <p:sp>
        <p:nvSpPr>
          <p:cNvPr id="34" name="Text 26"/>
          <p:cNvSpPr/>
          <p:nvPr/>
        </p:nvSpPr>
        <p:spPr>
          <a:xfrm>
            <a:off x="9692640" y="5440680"/>
            <a:ext cx="16459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5 min</a:t>
            </a:r>
            <a:endParaRPr lang="en-US" sz="1600" dirty="0"/>
          </a:p>
        </p:txBody>
      </p:sp>
      <p:sp>
        <p:nvSpPr>
          <p:cNvPr id="35" name="Text 2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23 · Built to Be Joined</a:t>
            </a:r>
            <a:endParaRPr lang="en-US" sz="1000" dirty="0"/>
          </a:p>
        </p:txBody>
      </p:sp>
      <p:sp>
        <p:nvSpPr>
          <p:cNvPr id="36" name="Text 2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THINK BACK</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last time you were new to a codebase</a:t>
            </a:r>
            <a:endParaRPr lang="en-US" sz="3200" dirty="0"/>
          </a:p>
        </p:txBody>
      </p:sp>
      <p:sp>
        <p:nvSpPr>
          <p:cNvPr id="6" name="Shape 4"/>
          <p:cNvSpPr/>
          <p:nvPr/>
        </p:nvSpPr>
        <p:spPr>
          <a:xfrm>
            <a:off x="548640" y="1783080"/>
            <a:ext cx="3566160" cy="1737360"/>
          </a:xfrm>
          <a:prstGeom prst="roundRect">
            <a:avLst>
              <a:gd name="adj" fmla="val 4737"/>
            </a:avLst>
          </a:prstGeom>
          <a:solidFill>
            <a:srgbClr val="1E3352"/>
          </a:solidFill>
          <a:ln/>
          <a:effectLst>
            <a:outerShdw sx="100000" sy="100000" kx="0" ky="0" algn="bl" rotWithShape="0" blurRad="88900" dist="38100" dir="5400000">
              <a:srgbClr val="000000">
                <a:alpha val="13000"/>
              </a:srgbClr>
            </a:outerShdw>
          </a:effectLst>
        </p:spPr>
      </p:sp>
      <p:sp>
        <p:nvSpPr>
          <p:cNvPr id="7" name="Shape 5"/>
          <p:cNvSpPr/>
          <p:nvPr/>
        </p:nvSpPr>
        <p:spPr>
          <a:xfrm>
            <a:off x="822960" y="2011680"/>
            <a:ext cx="566928" cy="566928"/>
          </a:xfrm>
          <a:prstGeom prst="ellipse">
            <a:avLst/>
          </a:prstGeom>
          <a:solidFill>
            <a:srgbClr val="E8A33D"/>
          </a:solidFill>
          <a:ln/>
        </p:spPr>
      </p:sp>
      <p:pic>
        <p:nvPicPr>
          <p:cNvPr id="8" name="Image 0" descr="preencoded.png">    </p:cNvPr>
          <p:cNvPicPr>
            <a:picLocks noChangeAspect="1"/>
          </p:cNvPicPr>
          <p:nvPr/>
        </p:nvPicPr>
        <p:blipFill>
          <a:blip r:embed="rId1"/>
          <a:stretch>
            <a:fillRect/>
          </a:stretch>
        </p:blipFill>
        <p:spPr>
          <a:xfrm>
            <a:off x="976031" y="2164751"/>
            <a:ext cx="260787" cy="260787"/>
          </a:xfrm>
          <a:prstGeom prst="rect">
            <a:avLst/>
          </a:prstGeom>
        </p:spPr>
      </p:pic>
      <p:sp>
        <p:nvSpPr>
          <p:cNvPr id="9" name="Text 6"/>
          <p:cNvSpPr/>
          <p:nvPr/>
        </p:nvSpPr>
        <p:spPr>
          <a:xfrm>
            <a:off x="1554480" y="2011680"/>
            <a:ext cx="2468880" cy="56692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job or internship</a:t>
            </a:r>
            <a:endParaRPr lang="en-US" sz="1800" dirty="0"/>
          </a:p>
        </p:txBody>
      </p:sp>
      <p:sp>
        <p:nvSpPr>
          <p:cNvPr id="10" name="Text 7"/>
          <p:cNvSpPr/>
          <p:nvPr/>
        </p:nvSpPr>
        <p:spPr>
          <a:xfrm>
            <a:off x="822960" y="2743200"/>
            <a:ext cx="3017520" cy="640080"/>
          </a:xfrm>
          <a:prstGeom prst="rect">
            <a:avLst/>
          </a:prstGeom>
          <a:noFill/>
          <a:ln/>
        </p:spPr>
        <p:txBody>
          <a:bodyPr wrap="square" lIns="0" tIns="0" rIns="0" bIns="0" rtlCol="0" anchor="t"/>
          <a:lstStyle/>
          <a:p>
            <a:pPr indent="0" marL="0">
              <a:buNone/>
            </a:pPr>
            <a:r>
              <a:rPr lang="en-US" sz="1600" dirty="0">
                <a:solidFill>
                  <a:srgbClr val="CFE0E9"/>
                </a:solidFill>
                <a:latin typeface="Calibri" pitchFamily="34" charset="0"/>
                <a:ea typeface="Calibri" pitchFamily="34" charset="-122"/>
                <a:cs typeface="Calibri" pitchFamily="34" charset="-120"/>
              </a:rPr>
              <a:t>The team's repository, on your first day</a:t>
            </a:r>
            <a:endParaRPr lang="en-US" sz="1600" dirty="0"/>
          </a:p>
        </p:txBody>
      </p:sp>
      <p:sp>
        <p:nvSpPr>
          <p:cNvPr id="11" name="Shape 8"/>
          <p:cNvSpPr/>
          <p:nvPr/>
        </p:nvSpPr>
        <p:spPr>
          <a:xfrm>
            <a:off x="4297680" y="1783080"/>
            <a:ext cx="3566160" cy="1737360"/>
          </a:xfrm>
          <a:prstGeom prst="roundRect">
            <a:avLst>
              <a:gd name="adj" fmla="val 4737"/>
            </a:avLst>
          </a:prstGeom>
          <a:solidFill>
            <a:srgbClr val="1E3352"/>
          </a:solidFill>
          <a:ln/>
          <a:effectLst>
            <a:outerShdw sx="100000" sy="100000" kx="0" ky="0" algn="bl" rotWithShape="0" blurRad="88900" dist="38100" dir="5400000">
              <a:srgbClr val="000000">
                <a:alpha val="13000"/>
              </a:srgbClr>
            </a:outerShdw>
          </a:effectLst>
        </p:spPr>
      </p:sp>
      <p:sp>
        <p:nvSpPr>
          <p:cNvPr id="12" name="Shape 9"/>
          <p:cNvSpPr/>
          <p:nvPr/>
        </p:nvSpPr>
        <p:spPr>
          <a:xfrm>
            <a:off x="4572000" y="2011680"/>
            <a:ext cx="566928" cy="566928"/>
          </a:xfrm>
          <a:prstGeom prst="ellipse">
            <a:avLst/>
          </a:prstGeom>
          <a:solidFill>
            <a:srgbClr val="E8A33D"/>
          </a:solidFill>
          <a:ln/>
        </p:spPr>
      </p:sp>
      <p:pic>
        <p:nvPicPr>
          <p:cNvPr id="13" name="Image 1" descr="preencoded.png">    </p:cNvPr>
          <p:cNvPicPr>
            <a:picLocks noChangeAspect="1"/>
          </p:cNvPicPr>
          <p:nvPr/>
        </p:nvPicPr>
        <p:blipFill>
          <a:blip r:embed="rId2"/>
          <a:stretch>
            <a:fillRect/>
          </a:stretch>
        </p:blipFill>
        <p:spPr>
          <a:xfrm>
            <a:off x="4725071" y="2164751"/>
            <a:ext cx="260787" cy="260787"/>
          </a:xfrm>
          <a:prstGeom prst="rect">
            <a:avLst/>
          </a:prstGeom>
        </p:spPr>
      </p:pic>
      <p:sp>
        <p:nvSpPr>
          <p:cNvPr id="14" name="Text 10"/>
          <p:cNvSpPr/>
          <p:nvPr/>
        </p:nvSpPr>
        <p:spPr>
          <a:xfrm>
            <a:off x="5303520" y="2011680"/>
            <a:ext cx="2468880" cy="56692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An open-source project</a:t>
            </a:r>
            <a:endParaRPr lang="en-US" sz="1800" dirty="0"/>
          </a:p>
        </p:txBody>
      </p:sp>
      <p:sp>
        <p:nvSpPr>
          <p:cNvPr id="15" name="Text 11"/>
          <p:cNvSpPr/>
          <p:nvPr/>
        </p:nvSpPr>
        <p:spPr>
          <a:xfrm>
            <a:off x="4572000" y="2743200"/>
            <a:ext cx="3017520" cy="640080"/>
          </a:xfrm>
          <a:prstGeom prst="rect">
            <a:avLst/>
          </a:prstGeom>
          <a:noFill/>
          <a:ln/>
        </p:spPr>
        <p:txBody>
          <a:bodyPr wrap="square" lIns="0" tIns="0" rIns="0" bIns="0" rtlCol="0" anchor="t"/>
          <a:lstStyle/>
          <a:p>
            <a:pPr indent="0" marL="0">
              <a:buNone/>
            </a:pPr>
            <a:r>
              <a:rPr lang="en-US" sz="1600" dirty="0">
                <a:solidFill>
                  <a:srgbClr val="CFE0E9"/>
                </a:solidFill>
                <a:latin typeface="Calibri" pitchFamily="34" charset="0"/>
                <a:ea typeface="Calibri" pitchFamily="34" charset="-122"/>
                <a:cs typeface="Calibri" pitchFamily="34" charset="-120"/>
              </a:rPr>
              <a:t>A library you wanted to fix or extend</a:t>
            </a:r>
            <a:endParaRPr lang="en-US" sz="1600" dirty="0"/>
          </a:p>
        </p:txBody>
      </p:sp>
      <p:sp>
        <p:nvSpPr>
          <p:cNvPr id="16" name="Shape 12"/>
          <p:cNvSpPr/>
          <p:nvPr/>
        </p:nvSpPr>
        <p:spPr>
          <a:xfrm>
            <a:off x="8046720" y="1783080"/>
            <a:ext cx="3566160" cy="1737360"/>
          </a:xfrm>
          <a:prstGeom prst="roundRect">
            <a:avLst>
              <a:gd name="adj" fmla="val 4737"/>
            </a:avLst>
          </a:prstGeom>
          <a:solidFill>
            <a:srgbClr val="1E3352"/>
          </a:solidFill>
          <a:ln/>
          <a:effectLst>
            <a:outerShdw sx="100000" sy="100000" kx="0" ky="0" algn="bl" rotWithShape="0" blurRad="88900" dist="38100" dir="5400000">
              <a:srgbClr val="000000">
                <a:alpha val="13000"/>
              </a:srgbClr>
            </a:outerShdw>
          </a:effectLst>
        </p:spPr>
      </p:sp>
      <p:sp>
        <p:nvSpPr>
          <p:cNvPr id="17" name="Shape 13"/>
          <p:cNvSpPr/>
          <p:nvPr/>
        </p:nvSpPr>
        <p:spPr>
          <a:xfrm>
            <a:off x="8321040" y="2011680"/>
            <a:ext cx="566928" cy="566928"/>
          </a:xfrm>
          <a:prstGeom prst="ellipse">
            <a:avLst/>
          </a:prstGeom>
          <a:solidFill>
            <a:srgbClr val="E8A33D"/>
          </a:solidFill>
          <a:ln/>
        </p:spPr>
      </p:sp>
      <p:pic>
        <p:nvPicPr>
          <p:cNvPr id="18" name="Image 2" descr="preencoded.png">    </p:cNvPr>
          <p:cNvPicPr>
            <a:picLocks noChangeAspect="1"/>
          </p:cNvPicPr>
          <p:nvPr/>
        </p:nvPicPr>
        <p:blipFill>
          <a:blip r:embed="rId3"/>
          <a:stretch>
            <a:fillRect/>
          </a:stretch>
        </p:blipFill>
        <p:spPr>
          <a:xfrm>
            <a:off x="8474111" y="2164751"/>
            <a:ext cx="260787" cy="260787"/>
          </a:xfrm>
          <a:prstGeom prst="rect">
            <a:avLst/>
          </a:prstGeom>
        </p:spPr>
      </p:pic>
      <p:sp>
        <p:nvSpPr>
          <p:cNvPr id="19" name="Text 14"/>
          <p:cNvSpPr/>
          <p:nvPr/>
        </p:nvSpPr>
        <p:spPr>
          <a:xfrm>
            <a:off x="9052560" y="2011680"/>
            <a:ext cx="2468880" cy="56692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class or a lab</a:t>
            </a:r>
            <a:endParaRPr lang="en-US" sz="1800" dirty="0"/>
          </a:p>
        </p:txBody>
      </p:sp>
      <p:sp>
        <p:nvSpPr>
          <p:cNvPr id="20" name="Text 15"/>
          <p:cNvSpPr/>
          <p:nvPr/>
        </p:nvSpPr>
        <p:spPr>
          <a:xfrm>
            <a:off x="8321040" y="2743200"/>
            <a:ext cx="3017520" cy="640080"/>
          </a:xfrm>
          <a:prstGeom prst="rect">
            <a:avLst/>
          </a:prstGeom>
          <a:noFill/>
          <a:ln/>
        </p:spPr>
        <p:txBody>
          <a:bodyPr wrap="square" lIns="0" tIns="0" rIns="0" bIns="0" rtlCol="0" anchor="t"/>
          <a:lstStyle/>
          <a:p>
            <a:pPr indent="0" marL="0">
              <a:buNone/>
            </a:pPr>
            <a:r>
              <a:rPr lang="en-US" sz="1600" dirty="0">
                <a:solidFill>
                  <a:srgbClr val="CFE0E9"/>
                </a:solidFill>
                <a:latin typeface="Calibri" pitchFamily="34" charset="0"/>
                <a:ea typeface="Calibri" pitchFamily="34" charset="-122"/>
                <a:cs typeface="Calibri" pitchFamily="34" charset="-120"/>
              </a:rPr>
              <a:t>Code someone else wrote, handed to you</a:t>
            </a:r>
            <a:endParaRPr lang="en-US" sz="1600" dirty="0"/>
          </a:p>
        </p:txBody>
      </p:sp>
      <p:sp>
        <p:nvSpPr>
          <p:cNvPr id="21" name="Shape 16"/>
          <p:cNvSpPr/>
          <p:nvPr/>
        </p:nvSpPr>
        <p:spPr>
          <a:xfrm>
            <a:off x="548640" y="3794760"/>
            <a:ext cx="11064240" cy="1234440"/>
          </a:xfrm>
          <a:prstGeom prst="roundRect">
            <a:avLst>
              <a:gd name="adj" fmla="val 6667"/>
            </a:avLst>
          </a:prstGeom>
          <a:solidFill>
            <a:srgbClr val="E8A33D"/>
          </a:solidFill>
          <a:ln/>
          <a:effectLst>
            <a:outerShdw sx="100000" sy="100000" kx="0" ky="0" algn="bl" rotWithShape="0" blurRad="88900" dist="38100" dir="5400000">
              <a:srgbClr val="000000">
                <a:alpha val="13000"/>
              </a:srgbClr>
            </a:outerShdw>
          </a:effectLst>
        </p:spPr>
      </p:sp>
      <p:sp>
        <p:nvSpPr>
          <p:cNvPr id="22" name="Text 17"/>
          <p:cNvSpPr/>
          <p:nvPr/>
        </p:nvSpPr>
        <p:spPr>
          <a:xfrm>
            <a:off x="868680" y="3794760"/>
            <a:ext cx="10424160" cy="1234440"/>
          </a:xfrm>
          <a:prstGeom prst="rect">
            <a:avLst/>
          </a:prstGeom>
          <a:noFill/>
          <a:ln/>
        </p:spPr>
        <p:txBody>
          <a:bodyPr wrap="square" lIns="0" tIns="0" rIns="0" bIns="0" rtlCol="0" anchor="ctr"/>
          <a:lstStyle/>
          <a:p>
            <a:pPr indent="0" marL="0">
              <a:buNone/>
            </a:pPr>
            <a:r>
              <a:rPr lang="en-US" sz="2600" b="1" dirty="0">
                <a:solidFill>
                  <a:srgbClr val="14233A"/>
                </a:solidFill>
                <a:latin typeface="Cambria" pitchFamily="34" charset="0"/>
                <a:ea typeface="Cambria" pitchFamily="34" charset="-122"/>
                <a:cs typeface="Cambria" pitchFamily="34" charset="-120"/>
              </a:rPr>
              <a:t>What did you need before you could do anything useful?</a:t>
            </a:r>
            <a:endParaRPr lang="en-US" sz="2600" dirty="0"/>
          </a:p>
        </p:txBody>
      </p:sp>
      <p:sp>
        <p:nvSpPr>
          <p:cNvPr id="23" name="Text 18"/>
          <p:cNvSpPr/>
          <p:nvPr/>
        </p:nvSpPr>
        <p:spPr>
          <a:xfrm>
            <a:off x="548640" y="5303520"/>
            <a:ext cx="11064240" cy="457200"/>
          </a:xfrm>
          <a:prstGeom prst="rect">
            <a:avLst/>
          </a:prstGeom>
          <a:noFill/>
          <a:ln/>
        </p:spPr>
        <p:txBody>
          <a:bodyPr wrap="square" lIns="0" tIns="0" rIns="0" bIns="0" rtlCol="0" anchor="ctr"/>
          <a:lstStyle/>
          <a:p>
            <a:pPr indent="0" marL="0">
              <a:buNone/>
            </a:pPr>
            <a:r>
              <a:rPr lang="en-US" sz="1700" i="1" dirty="0">
                <a:solidFill>
                  <a:srgbClr val="CFE0E9"/>
                </a:solidFill>
                <a:latin typeface="Calibri" pitchFamily="34" charset="0"/>
                <a:ea typeface="Calibri" pitchFamily="34" charset="-122"/>
                <a:cs typeface="Calibri" pitchFamily="34" charset="-120"/>
              </a:rPr>
              <a:t>Two or three answers, out loud. Then we'll name them.</a:t>
            </a:r>
            <a:endParaRPr lang="en-US" sz="1700" dirty="0"/>
          </a:p>
        </p:txBody>
      </p:sp>
      <p:sp>
        <p:nvSpPr>
          <p:cNvPr id="24" name="Text 19"/>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23 · Built to Be Joined</a:t>
            </a:r>
            <a:endParaRPr lang="en-US" sz="1000" dirty="0"/>
          </a:p>
        </p:txBody>
      </p:sp>
      <p:sp>
        <p:nvSpPr>
          <p:cNvPr id="25" name="Text 2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JOINED, NOT JUST USED</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 stranger survived your repo. Would they stay?</a:t>
            </a:r>
            <a:endParaRPr lang="en-US" sz="3100" dirty="0"/>
          </a:p>
        </p:txBody>
      </p:sp>
      <p:sp>
        <p:nvSpPr>
          <p:cNvPr id="5" name="Shape 3"/>
          <p:cNvSpPr/>
          <p:nvPr/>
        </p:nvSpPr>
        <p:spPr>
          <a:xfrm>
            <a:off x="548640" y="1783080"/>
            <a:ext cx="5440680" cy="210312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822960" y="1920240"/>
            <a:ext cx="4937760" cy="365760"/>
          </a:xfrm>
          <a:prstGeom prst="rect">
            <a:avLst/>
          </a:prstGeom>
          <a:noFill/>
          <a:ln/>
        </p:spPr>
        <p:txBody>
          <a:bodyPr wrap="square" lIns="0" tIns="0" rIns="0" bIns="0" rtlCol="0" anchor="ctr"/>
          <a:lstStyle/>
          <a:p>
            <a:pPr indent="0" marL="0">
              <a:buNone/>
            </a:pPr>
            <a:r>
              <a:rPr lang="en-US" sz="1500" b="1" spc="200" kern="0" dirty="0">
                <a:solidFill>
                  <a:srgbClr val="0E6E6D"/>
                </a:solidFill>
                <a:latin typeface="Calibri" pitchFamily="34" charset="0"/>
                <a:ea typeface="Calibri" pitchFamily="34" charset="-122"/>
                <a:cs typeface="Calibri" pitchFamily="34" charset="-120"/>
              </a:rPr>
              <a:t>USABLE</a:t>
            </a:r>
            <a:endParaRPr lang="en-US" sz="1500" dirty="0"/>
          </a:p>
        </p:txBody>
      </p:sp>
      <p:sp>
        <p:nvSpPr>
          <p:cNvPr id="7" name="Text 5"/>
          <p:cNvSpPr/>
          <p:nvPr/>
        </p:nvSpPr>
        <p:spPr>
          <a:xfrm>
            <a:off x="822960" y="2286000"/>
            <a:ext cx="4937760" cy="548640"/>
          </a:xfrm>
          <a:prstGeom prst="rect">
            <a:avLst/>
          </a:prstGeom>
          <a:noFill/>
          <a:ln/>
        </p:spPr>
        <p:txBody>
          <a:bodyPr wrap="square" lIns="0" tIns="0" rIns="0" bIns="0" rtlCol="0" anchor="ctr"/>
          <a:lstStyle/>
          <a:p>
            <a:pPr indent="0" marL="0">
              <a:buNone/>
            </a:pPr>
            <a:r>
              <a:rPr lang="en-US" sz="2400" b="1" dirty="0">
                <a:solidFill>
                  <a:srgbClr val="1E2A36"/>
                </a:solidFill>
                <a:latin typeface="Cambria" pitchFamily="34" charset="0"/>
                <a:ea typeface="Cambria" pitchFamily="34" charset="-122"/>
                <a:cs typeface="Cambria" pitchFamily="34" charset="-120"/>
              </a:rPr>
              <a:t>Serves its users</a:t>
            </a:r>
            <a:endParaRPr lang="en-US" sz="2400" dirty="0"/>
          </a:p>
        </p:txBody>
      </p:sp>
      <p:sp>
        <p:nvSpPr>
          <p:cNvPr id="8" name="Text 6"/>
          <p:cNvSpPr/>
          <p:nvPr/>
        </p:nvSpPr>
        <p:spPr>
          <a:xfrm>
            <a:off x="822960" y="2880360"/>
            <a:ext cx="4937760" cy="868680"/>
          </a:xfrm>
          <a:prstGeom prst="rect">
            <a:avLst/>
          </a:prstGeom>
          <a:noFill/>
          <a:ln/>
        </p:spPr>
        <p:txBody>
          <a:bodyPr wrap="square" lIns="0" tIns="0" rIns="0" bIns="0" rtlCol="0" anchor="t"/>
          <a:lstStyle/>
          <a:p>
            <a:pPr indent="0" marL="0">
              <a:buNone/>
            </a:pPr>
            <a:r>
              <a:rPr lang="en-US" sz="1700" dirty="0">
                <a:solidFill>
                  <a:srgbClr val="1E2A36"/>
                </a:solidFill>
                <a:latin typeface="Calibri" pitchFamily="34" charset="0"/>
                <a:ea typeface="Calibri" pitchFamily="34" charset="-122"/>
                <a:cs typeface="Calibri" pitchFamily="34" charset="-120"/>
              </a:rPr>
              <a:t>Someone can run it and get value from it</a:t>
            </a:r>
            <a:endParaRPr lang="en-US" sz="1700" dirty="0"/>
          </a:p>
        </p:txBody>
      </p:sp>
      <p:sp>
        <p:nvSpPr>
          <p:cNvPr id="9" name="Shape 7"/>
          <p:cNvSpPr/>
          <p:nvPr/>
        </p:nvSpPr>
        <p:spPr>
          <a:xfrm>
            <a:off x="6172200" y="1783080"/>
            <a:ext cx="5440680" cy="2103120"/>
          </a:xfrm>
          <a:prstGeom prst="roundRect">
            <a:avLst>
              <a:gd name="adj" fmla="val 3913"/>
            </a:avLst>
          </a:prstGeom>
          <a:solidFill>
            <a:srgbClr val="14233A"/>
          </a:solidFill>
          <a:ln/>
          <a:effectLst>
            <a:outerShdw sx="100000" sy="100000" kx="0" ky="0" algn="bl" rotWithShape="0" blurRad="88900" dist="38100" dir="5400000">
              <a:srgbClr val="000000">
                <a:alpha val="13000"/>
              </a:srgbClr>
            </a:outerShdw>
          </a:effectLst>
        </p:spPr>
      </p:sp>
      <p:sp>
        <p:nvSpPr>
          <p:cNvPr id="10" name="Text 8"/>
          <p:cNvSpPr/>
          <p:nvPr/>
        </p:nvSpPr>
        <p:spPr>
          <a:xfrm>
            <a:off x="6446520" y="1920240"/>
            <a:ext cx="4937760" cy="365760"/>
          </a:xfrm>
          <a:prstGeom prst="rect">
            <a:avLst/>
          </a:prstGeom>
          <a:noFill/>
          <a:ln/>
        </p:spPr>
        <p:txBody>
          <a:bodyPr wrap="square" lIns="0" tIns="0" rIns="0" bIns="0" rtlCol="0" anchor="ctr"/>
          <a:lstStyle/>
          <a:p>
            <a:pPr indent="0" marL="0">
              <a:buNone/>
            </a:pPr>
            <a:r>
              <a:rPr lang="en-US" sz="1500" b="1" spc="200" kern="0" dirty="0">
                <a:solidFill>
                  <a:srgbClr val="E8A33D"/>
                </a:solidFill>
                <a:latin typeface="Calibri" pitchFamily="34" charset="0"/>
                <a:ea typeface="Calibri" pitchFamily="34" charset="-122"/>
                <a:cs typeface="Calibri" pitchFamily="34" charset="-120"/>
              </a:rPr>
              <a:t>JOINABLE</a:t>
            </a:r>
            <a:endParaRPr lang="en-US" sz="1500" dirty="0"/>
          </a:p>
        </p:txBody>
      </p:sp>
      <p:sp>
        <p:nvSpPr>
          <p:cNvPr id="11" name="Text 9"/>
          <p:cNvSpPr/>
          <p:nvPr/>
        </p:nvSpPr>
        <p:spPr>
          <a:xfrm>
            <a:off x="6446520" y="2286000"/>
            <a:ext cx="493776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Grows its builders</a:t>
            </a:r>
            <a:endParaRPr lang="en-US" sz="2400" dirty="0"/>
          </a:p>
        </p:txBody>
      </p:sp>
      <p:sp>
        <p:nvSpPr>
          <p:cNvPr id="12" name="Text 10"/>
          <p:cNvSpPr/>
          <p:nvPr/>
        </p:nvSpPr>
        <p:spPr>
          <a:xfrm>
            <a:off x="6446520" y="2880360"/>
            <a:ext cx="4937760" cy="868680"/>
          </a:xfrm>
          <a:prstGeom prst="rect">
            <a:avLst/>
          </a:prstGeom>
          <a:noFill/>
          <a:ln/>
        </p:spPr>
        <p:txBody>
          <a:bodyPr wrap="square" lIns="0" tIns="0" rIns="0" bIns="0" rtlCol="0" anchor="t"/>
          <a:lstStyle/>
          <a:p>
            <a:pPr indent="0" marL="0">
              <a:buNone/>
            </a:pPr>
            <a:r>
              <a:rPr lang="en-US" sz="1700" dirty="0">
                <a:solidFill>
                  <a:srgbClr val="CFE0E9"/>
                </a:solidFill>
                <a:latin typeface="Calibri" pitchFamily="34" charset="0"/>
                <a:ea typeface="Calibri" pitchFamily="34" charset="-122"/>
                <a:cs typeface="Calibri" pitchFamily="34" charset="-120"/>
              </a:rPr>
              <a:t>Someone new can understand it, change it safely, and want to come back</a:t>
            </a:r>
            <a:endParaRPr lang="en-US" sz="1700" dirty="0"/>
          </a:p>
        </p:txBody>
      </p:sp>
      <p:sp>
        <p:nvSpPr>
          <p:cNvPr id="13" name="click-1"/>
          <p:cNvSpPr/>
          <p:nvPr/>
        </p:nvSpPr>
        <p:spPr>
          <a:xfrm>
            <a:off x="548640" y="4160520"/>
            <a:ext cx="11064240" cy="868680"/>
          </a:xfrm>
          <a:prstGeom prst="roundRect">
            <a:avLst>
              <a:gd name="adj" fmla="val 9474"/>
            </a:avLst>
          </a:prstGeom>
          <a:solidFill>
            <a:srgbClr val="F2F6F8"/>
          </a:solidFill>
          <a:ln/>
          <a:effectLst>
            <a:outerShdw sx="100000" sy="100000" kx="0" ky="0" algn="bl" rotWithShape="0" blurRad="88900" dist="38100" dir="5400000">
              <a:srgbClr val="000000">
                <a:alpha val="13000"/>
              </a:srgbClr>
            </a:outerShdw>
          </a:effectLst>
        </p:spPr>
      </p:sp>
      <p:sp>
        <p:nvSpPr>
          <p:cNvPr id="14" name="click-1"/>
          <p:cNvSpPr/>
          <p:nvPr/>
        </p:nvSpPr>
        <p:spPr>
          <a:xfrm>
            <a:off x="868680" y="4160520"/>
            <a:ext cx="10424160" cy="868680"/>
          </a:xfrm>
          <a:prstGeom prst="rect">
            <a:avLst/>
          </a:prstGeom>
          <a:noFill/>
          <a:ln/>
        </p:spPr>
        <p:txBody>
          <a:bodyPr wrap="square" lIns="0" tIns="0" rIns="0" bIns="0" rtlCol="0" anchor="ctr"/>
          <a:lstStyle/>
          <a:p>
            <a:pPr indent="0" marL="0">
              <a:lnSpc>
                <a:spcPct val="104000"/>
              </a:lnSpc>
              <a:buNone/>
            </a:pPr>
            <a:r>
              <a:rPr lang="en-US" sz="1700" b="1" dirty="0">
                <a:solidFill>
                  <a:srgbClr val="0E6E6D"/>
                </a:solidFill>
                <a:latin typeface="Calibri" pitchFamily="34" charset="0"/>
                <a:ea typeface="Calibri" pitchFamily="34" charset="-122"/>
                <a:cs typeface="Calibri" pitchFamily="34" charset="-120"/>
              </a:rPr>
              <a:t>Last Wednesday:  </a:t>
            </a:r>
            <a:pPr indent="0" marL="0">
              <a:lnSpc>
                <a:spcPct val="104000"/>
              </a:lnSpc>
              <a:buNone/>
            </a:pPr>
            <a:r>
              <a:rPr lang="en-US" sz="1700" dirty="0">
                <a:solidFill>
                  <a:srgbClr val="1E2A36"/>
                </a:solidFill>
                <a:latin typeface="Calibri" pitchFamily="34" charset="0"/>
                <a:ea typeface="Calibri" pitchFamily="34" charset="-122"/>
                <a:cs typeface="Calibri" pitchFamily="34" charset="-120"/>
              </a:rPr>
              <a:t>a stranger got in, or didn't. That's your baseline.</a:t>
            </a:r>
            <a:endParaRPr lang="en-US" sz="1700" dirty="0"/>
          </a:p>
        </p:txBody>
      </p:sp>
      <p:sp>
        <p:nvSpPr>
          <p:cNvPr id="15" name="click-2"/>
          <p:cNvSpPr/>
          <p:nvPr/>
        </p:nvSpPr>
        <p:spPr>
          <a:xfrm>
            <a:off x="548640" y="5212080"/>
            <a:ext cx="11064240" cy="960120"/>
          </a:xfrm>
          <a:prstGeom prst="roundRect">
            <a:avLst>
              <a:gd name="adj" fmla="val 8571"/>
            </a:avLst>
          </a:prstGeom>
          <a:solidFill>
            <a:srgbClr val="E8A33D"/>
          </a:solidFill>
          <a:ln/>
          <a:effectLst>
            <a:outerShdw sx="100000" sy="100000" kx="0" ky="0" algn="bl" rotWithShape="0" blurRad="88900" dist="38100" dir="5400000">
              <a:srgbClr val="000000">
                <a:alpha val="13000"/>
              </a:srgbClr>
            </a:outerShdw>
          </a:effectLst>
        </p:spPr>
      </p:sp>
      <p:sp>
        <p:nvSpPr>
          <p:cNvPr id="16" name="click-2"/>
          <p:cNvSpPr/>
          <p:nvPr/>
        </p:nvSpPr>
        <p:spPr>
          <a:xfrm>
            <a:off x="868680" y="5212080"/>
            <a:ext cx="10424160" cy="96012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Where does it go next, and how can others join? On Demo Day, you answer that with artifacts, not hopes.</a:t>
            </a:r>
            <a:endParaRPr lang="en-US" sz="1700" dirty="0"/>
          </a:p>
        </p:txBody>
      </p:sp>
      <p:sp>
        <p:nvSpPr>
          <p:cNvPr id="17" name="Text 1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23 · Built to Be Joined</a:t>
            </a:r>
            <a:endParaRPr lang="en-US" sz="1000" dirty="0"/>
          </a:p>
        </p:txBody>
      </p:sp>
      <p:sp>
        <p:nvSpPr>
          <p:cNvPr id="18" name="Text 1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3"/>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2" presetID="1"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FIVE NEWCOMER NEEDS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Every project answers them, on purpose or by accident</a:t>
            </a:r>
            <a:endParaRPr lang="en-US" sz="3100" dirty="0"/>
          </a:p>
        </p:txBody>
      </p:sp>
      <p:sp>
        <p:nvSpPr>
          <p:cNvPr id="5" name="Text 3"/>
          <p:cNvSpPr/>
          <p:nvPr/>
        </p:nvSpPr>
        <p:spPr>
          <a:xfrm>
            <a:off x="4983480" y="1691640"/>
            <a:ext cx="3291840" cy="320040"/>
          </a:xfrm>
          <a:prstGeom prst="rect">
            <a:avLst/>
          </a:prstGeom>
          <a:noFill/>
          <a:ln/>
        </p:spPr>
        <p:txBody>
          <a:bodyPr wrap="square" lIns="0" tIns="0" rIns="0" bIns="0" rtlCol="0" anchor="ctr"/>
          <a:lstStyle/>
          <a:p>
            <a:pPr indent="0" marL="0">
              <a:buNone/>
            </a:pPr>
            <a:r>
              <a:rPr lang="en-US" sz="1400" b="1" spc="100" kern="0" dirty="0">
                <a:solidFill>
                  <a:srgbClr val="5F7284"/>
                </a:solidFill>
                <a:latin typeface="Calibri" pitchFamily="34" charset="0"/>
                <a:ea typeface="Calibri" pitchFamily="34" charset="-122"/>
                <a:cs typeface="Calibri" pitchFamily="34" charset="-120"/>
              </a:rPr>
              <a:t>ON AN OPEN-SOURCE PROJECT</a:t>
            </a:r>
            <a:endParaRPr lang="en-US" sz="1400" dirty="0"/>
          </a:p>
        </p:txBody>
      </p:sp>
      <p:sp>
        <p:nvSpPr>
          <p:cNvPr id="6" name="Text 4"/>
          <p:cNvSpPr/>
          <p:nvPr/>
        </p:nvSpPr>
        <p:spPr>
          <a:xfrm>
            <a:off x="8458200" y="1691640"/>
            <a:ext cx="3108960" cy="320040"/>
          </a:xfrm>
          <a:prstGeom prst="rect">
            <a:avLst/>
          </a:prstGeom>
          <a:noFill/>
          <a:ln/>
        </p:spPr>
        <p:txBody>
          <a:bodyPr wrap="square" lIns="0" tIns="0" rIns="0" bIns="0" rtlCol="0" anchor="ctr"/>
          <a:lstStyle/>
          <a:p>
            <a:pPr indent="0" marL="0">
              <a:buNone/>
            </a:pPr>
            <a:r>
              <a:rPr lang="en-US" sz="1400" b="1" spc="100" kern="0" dirty="0">
                <a:solidFill>
                  <a:srgbClr val="5F7284"/>
                </a:solidFill>
                <a:latin typeface="Calibri" pitchFamily="34" charset="0"/>
                <a:ea typeface="Calibri" pitchFamily="34" charset="-122"/>
                <a:cs typeface="Calibri" pitchFamily="34" charset="-120"/>
              </a:rPr>
              <a:t>ON A TEAM AT WORK</a:t>
            </a:r>
            <a:endParaRPr lang="en-US" sz="1400" dirty="0"/>
          </a:p>
        </p:txBody>
      </p:sp>
      <p:sp>
        <p:nvSpPr>
          <p:cNvPr id="7" name="Shape 5"/>
          <p:cNvSpPr/>
          <p:nvPr/>
        </p:nvSpPr>
        <p:spPr>
          <a:xfrm>
            <a:off x="548640" y="2057400"/>
            <a:ext cx="11064240" cy="713232"/>
          </a:xfrm>
          <a:prstGeom prst="roundRect">
            <a:avLst>
              <a:gd name="adj" fmla="val 11538"/>
            </a:avLst>
          </a:prstGeom>
          <a:solidFill>
            <a:srgbClr val="F2F6F8"/>
          </a:solidFill>
          <a:ln/>
          <a:effectLst>
            <a:outerShdw sx="100000" sy="100000" kx="0" ky="0" algn="bl" rotWithShape="0" blurRad="88900" dist="38100" dir="5400000">
              <a:srgbClr val="000000">
                <a:alpha val="13000"/>
              </a:srgbClr>
            </a:outerShdw>
          </a:effectLst>
        </p:spPr>
      </p:sp>
      <p:sp>
        <p:nvSpPr>
          <p:cNvPr id="8" name="Shape 6"/>
          <p:cNvSpPr/>
          <p:nvPr/>
        </p:nvSpPr>
        <p:spPr>
          <a:xfrm>
            <a:off x="749808" y="2176272"/>
            <a:ext cx="475488" cy="475488"/>
          </a:xfrm>
          <a:prstGeom prst="ellipse">
            <a:avLst/>
          </a:prstGeom>
          <a:solidFill>
            <a:srgbClr val="12908F"/>
          </a:solidFill>
          <a:ln/>
        </p:spPr>
      </p:sp>
      <p:sp>
        <p:nvSpPr>
          <p:cNvPr id="9" name="Text 7"/>
          <p:cNvSpPr/>
          <p:nvPr/>
        </p:nvSpPr>
        <p:spPr>
          <a:xfrm>
            <a:off x="749808" y="2176272"/>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1417320" y="2057400"/>
            <a:ext cx="3474720" cy="713232"/>
          </a:xfrm>
          <a:prstGeom prst="rect">
            <a:avLst/>
          </a:prstGeom>
          <a:noFill/>
          <a:ln/>
        </p:spPr>
        <p:txBody>
          <a:bodyPr wrap="square" lIns="0" tIns="0" rIns="0" bIns="0" rtlCol="0" anchor="ctr"/>
          <a:lstStyle/>
          <a:p>
            <a:pPr indent="0" marL="0">
              <a:buNone/>
            </a:pPr>
            <a:r>
              <a:rPr lang="en-US" sz="2000" b="1" dirty="0">
                <a:solidFill>
                  <a:srgbClr val="1E2A36"/>
                </a:solidFill>
                <a:latin typeface="Cambria" pitchFamily="34" charset="0"/>
                <a:ea typeface="Cambria" pitchFamily="34" charset="-122"/>
                <a:cs typeface="Cambria" pitchFamily="34" charset="-120"/>
              </a:rPr>
              <a:t>What is this?</a:t>
            </a:r>
            <a:endParaRPr lang="en-US" sz="2000" dirty="0"/>
          </a:p>
        </p:txBody>
      </p:sp>
      <p:sp>
        <p:nvSpPr>
          <p:cNvPr id="11" name="Text 9"/>
          <p:cNvSpPr/>
          <p:nvPr/>
        </p:nvSpPr>
        <p:spPr>
          <a:xfrm>
            <a:off x="4983480" y="2057400"/>
            <a:ext cx="3337560" cy="713232"/>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The README's first screen</a:t>
            </a:r>
            <a:endParaRPr lang="en-US" sz="1600" dirty="0"/>
          </a:p>
        </p:txBody>
      </p:sp>
      <p:sp>
        <p:nvSpPr>
          <p:cNvPr id="12" name="Text 10"/>
          <p:cNvSpPr/>
          <p:nvPr/>
        </p:nvSpPr>
        <p:spPr>
          <a:xfrm>
            <a:off x="8458200" y="2057400"/>
            <a:ext cx="3017520" cy="713232"/>
          </a:xfrm>
          <a:prstGeom prst="rect">
            <a:avLst/>
          </a:prstGeom>
          <a:noFill/>
          <a:ln/>
        </p:spPr>
        <p:txBody>
          <a:bodyPr wrap="square" lIns="0" tIns="0" rIns="0" bIns="0" rtlCol="0" anchor="ctr"/>
          <a:lstStyle/>
          <a:p>
            <a:pPr indent="0" marL="0">
              <a:buNone/>
            </a:pPr>
            <a:r>
              <a:rPr lang="en-US" sz="1600" dirty="0">
                <a:solidFill>
                  <a:srgbClr val="5F7284"/>
                </a:solidFill>
                <a:latin typeface="Calibri" pitchFamily="34" charset="0"/>
                <a:ea typeface="Calibri" pitchFamily="34" charset="-122"/>
                <a:cs typeface="Calibri" pitchFamily="34" charset="-120"/>
              </a:rPr>
              <a:t>The team's one-page overview</a:t>
            </a:r>
            <a:endParaRPr lang="en-US" sz="1600" dirty="0"/>
          </a:p>
        </p:txBody>
      </p:sp>
      <p:sp>
        <p:nvSpPr>
          <p:cNvPr id="13" name="Shape 11"/>
          <p:cNvSpPr/>
          <p:nvPr/>
        </p:nvSpPr>
        <p:spPr>
          <a:xfrm>
            <a:off x="548640" y="2880360"/>
            <a:ext cx="11064240" cy="713232"/>
          </a:xfrm>
          <a:prstGeom prst="roundRect">
            <a:avLst>
              <a:gd name="adj" fmla="val 11538"/>
            </a:avLst>
          </a:prstGeom>
          <a:solidFill>
            <a:srgbClr val="F2F6F8"/>
          </a:solidFill>
          <a:ln/>
          <a:effectLst>
            <a:outerShdw sx="100000" sy="100000" kx="0" ky="0" algn="bl" rotWithShape="0" blurRad="88900" dist="38100" dir="5400000">
              <a:srgbClr val="000000">
                <a:alpha val="13000"/>
              </a:srgbClr>
            </a:outerShdw>
          </a:effectLst>
        </p:spPr>
      </p:sp>
      <p:sp>
        <p:nvSpPr>
          <p:cNvPr id="14" name="Shape 12"/>
          <p:cNvSpPr/>
          <p:nvPr/>
        </p:nvSpPr>
        <p:spPr>
          <a:xfrm>
            <a:off x="749808" y="2999232"/>
            <a:ext cx="475488" cy="475488"/>
          </a:xfrm>
          <a:prstGeom prst="ellipse">
            <a:avLst/>
          </a:prstGeom>
          <a:solidFill>
            <a:srgbClr val="12908F"/>
          </a:solidFill>
          <a:ln/>
        </p:spPr>
      </p:sp>
      <p:sp>
        <p:nvSpPr>
          <p:cNvPr id="15" name="Text 13"/>
          <p:cNvSpPr/>
          <p:nvPr/>
        </p:nvSpPr>
        <p:spPr>
          <a:xfrm>
            <a:off x="749808" y="2999232"/>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4"/>
          <p:cNvSpPr/>
          <p:nvPr/>
        </p:nvSpPr>
        <p:spPr>
          <a:xfrm>
            <a:off x="1417320" y="2880360"/>
            <a:ext cx="3474720" cy="713232"/>
          </a:xfrm>
          <a:prstGeom prst="rect">
            <a:avLst/>
          </a:prstGeom>
          <a:noFill/>
          <a:ln/>
        </p:spPr>
        <p:txBody>
          <a:bodyPr wrap="square" lIns="0" tIns="0" rIns="0" bIns="0" rtlCol="0" anchor="ctr"/>
          <a:lstStyle/>
          <a:p>
            <a:pPr indent="0" marL="0">
              <a:buNone/>
            </a:pPr>
            <a:r>
              <a:rPr lang="en-US" sz="2000" b="1" dirty="0">
                <a:solidFill>
                  <a:srgbClr val="1E2A36"/>
                </a:solidFill>
                <a:latin typeface="Cambria" pitchFamily="34" charset="0"/>
                <a:ea typeface="Cambria" pitchFamily="34" charset="-122"/>
                <a:cs typeface="Cambria" pitchFamily="34" charset="-120"/>
              </a:rPr>
              <a:t>Am I welcome?</a:t>
            </a:r>
            <a:endParaRPr lang="en-US" sz="2000" dirty="0"/>
          </a:p>
        </p:txBody>
      </p:sp>
      <p:sp>
        <p:nvSpPr>
          <p:cNvPr id="17" name="Text 15"/>
          <p:cNvSpPr/>
          <p:nvPr/>
        </p:nvSpPr>
        <p:spPr>
          <a:xfrm>
            <a:off x="4983480" y="2880360"/>
            <a:ext cx="3337560" cy="713232"/>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CONTRIBUTING, code of conduct, past replies</a:t>
            </a:r>
            <a:endParaRPr lang="en-US" sz="1600" dirty="0"/>
          </a:p>
        </p:txBody>
      </p:sp>
      <p:sp>
        <p:nvSpPr>
          <p:cNvPr id="18" name="Text 16"/>
          <p:cNvSpPr/>
          <p:nvPr/>
        </p:nvSpPr>
        <p:spPr>
          <a:xfrm>
            <a:off x="8458200" y="2880360"/>
            <a:ext cx="3017520" cy="713232"/>
          </a:xfrm>
          <a:prstGeom prst="rect">
            <a:avLst/>
          </a:prstGeom>
          <a:noFill/>
          <a:ln/>
        </p:spPr>
        <p:txBody>
          <a:bodyPr wrap="square" lIns="0" tIns="0" rIns="0" bIns="0" rtlCol="0" anchor="ctr"/>
          <a:lstStyle/>
          <a:p>
            <a:pPr indent="0" marL="0">
              <a:buNone/>
            </a:pPr>
            <a:r>
              <a:rPr lang="en-US" sz="1600" dirty="0">
                <a:solidFill>
                  <a:srgbClr val="5F7284"/>
                </a:solidFill>
                <a:latin typeface="Calibri" pitchFamily="34" charset="0"/>
                <a:ea typeface="Calibri" pitchFamily="34" charset="-122"/>
                <a:cs typeface="Calibri" pitchFamily="34" charset="-120"/>
              </a:rPr>
              <a:t>How the team treats new people's questions</a:t>
            </a:r>
            <a:endParaRPr lang="en-US" sz="1600" dirty="0"/>
          </a:p>
        </p:txBody>
      </p:sp>
      <p:sp>
        <p:nvSpPr>
          <p:cNvPr id="19" name="Shape 17"/>
          <p:cNvSpPr/>
          <p:nvPr/>
        </p:nvSpPr>
        <p:spPr>
          <a:xfrm>
            <a:off x="548640" y="3703320"/>
            <a:ext cx="11064240" cy="713232"/>
          </a:xfrm>
          <a:prstGeom prst="roundRect">
            <a:avLst>
              <a:gd name="adj" fmla="val 11538"/>
            </a:avLst>
          </a:prstGeom>
          <a:solidFill>
            <a:srgbClr val="F2F6F8"/>
          </a:solidFill>
          <a:ln/>
          <a:effectLst>
            <a:outerShdw sx="100000" sy="100000" kx="0" ky="0" algn="bl" rotWithShape="0" blurRad="88900" dist="38100" dir="5400000">
              <a:srgbClr val="000000">
                <a:alpha val="13000"/>
              </a:srgbClr>
            </a:outerShdw>
          </a:effectLst>
        </p:spPr>
      </p:sp>
      <p:sp>
        <p:nvSpPr>
          <p:cNvPr id="20" name="Shape 18"/>
          <p:cNvSpPr/>
          <p:nvPr/>
        </p:nvSpPr>
        <p:spPr>
          <a:xfrm>
            <a:off x="749808" y="3822192"/>
            <a:ext cx="475488" cy="475488"/>
          </a:xfrm>
          <a:prstGeom prst="ellipse">
            <a:avLst/>
          </a:prstGeom>
          <a:solidFill>
            <a:srgbClr val="12908F"/>
          </a:solidFill>
          <a:ln/>
        </p:spPr>
      </p:sp>
      <p:sp>
        <p:nvSpPr>
          <p:cNvPr id="21" name="Text 19"/>
          <p:cNvSpPr/>
          <p:nvPr/>
        </p:nvSpPr>
        <p:spPr>
          <a:xfrm>
            <a:off x="749808" y="3822192"/>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Text 20"/>
          <p:cNvSpPr/>
          <p:nvPr/>
        </p:nvSpPr>
        <p:spPr>
          <a:xfrm>
            <a:off x="1417320" y="3703320"/>
            <a:ext cx="3474720" cy="713232"/>
          </a:xfrm>
          <a:prstGeom prst="rect">
            <a:avLst/>
          </a:prstGeom>
          <a:noFill/>
          <a:ln/>
        </p:spPr>
        <p:txBody>
          <a:bodyPr wrap="square" lIns="0" tIns="0" rIns="0" bIns="0" rtlCol="0" anchor="ctr"/>
          <a:lstStyle/>
          <a:p>
            <a:pPr indent="0" marL="0">
              <a:buNone/>
            </a:pPr>
            <a:r>
              <a:rPr lang="en-US" sz="2000" b="1" dirty="0">
                <a:solidFill>
                  <a:srgbClr val="1E2A36"/>
                </a:solidFill>
                <a:latin typeface="Cambria" pitchFamily="34" charset="0"/>
                <a:ea typeface="Cambria" pitchFamily="34" charset="-122"/>
                <a:cs typeface="Cambria" pitchFamily="34" charset="-120"/>
              </a:rPr>
              <a:t>How do I start?</a:t>
            </a:r>
            <a:endParaRPr lang="en-US" sz="2000" dirty="0"/>
          </a:p>
        </p:txBody>
      </p:sp>
      <p:sp>
        <p:nvSpPr>
          <p:cNvPr id="23" name="Text 21"/>
          <p:cNvSpPr/>
          <p:nvPr/>
        </p:nvSpPr>
        <p:spPr>
          <a:xfrm>
            <a:off x="4983480" y="3703320"/>
            <a:ext cx="3337560" cy="713232"/>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The setup guide, followed exactly</a:t>
            </a:r>
            <a:endParaRPr lang="en-US" sz="1600" dirty="0"/>
          </a:p>
        </p:txBody>
      </p:sp>
      <p:sp>
        <p:nvSpPr>
          <p:cNvPr id="24" name="Text 22"/>
          <p:cNvSpPr/>
          <p:nvPr/>
        </p:nvSpPr>
        <p:spPr>
          <a:xfrm>
            <a:off x="8458200" y="3703320"/>
            <a:ext cx="3017520" cy="713232"/>
          </a:xfrm>
          <a:prstGeom prst="rect">
            <a:avLst/>
          </a:prstGeom>
          <a:noFill/>
          <a:ln/>
        </p:spPr>
        <p:txBody>
          <a:bodyPr wrap="square" lIns="0" tIns="0" rIns="0" bIns="0" rtlCol="0" anchor="ctr"/>
          <a:lstStyle/>
          <a:p>
            <a:pPr indent="0" marL="0">
              <a:buNone/>
            </a:pPr>
            <a:r>
              <a:rPr lang="en-US" sz="1600" dirty="0">
                <a:solidFill>
                  <a:srgbClr val="5F7284"/>
                </a:solidFill>
                <a:latin typeface="Calibri" pitchFamily="34" charset="0"/>
                <a:ea typeface="Calibri" pitchFamily="34" charset="-122"/>
                <a:cs typeface="Calibri" pitchFamily="34" charset="-120"/>
              </a:rPr>
              <a:t>The new-hire setup doc</a:t>
            </a:r>
            <a:endParaRPr lang="en-US" sz="1600" dirty="0"/>
          </a:p>
        </p:txBody>
      </p:sp>
      <p:sp>
        <p:nvSpPr>
          <p:cNvPr id="25" name="Shape 23"/>
          <p:cNvSpPr/>
          <p:nvPr/>
        </p:nvSpPr>
        <p:spPr>
          <a:xfrm>
            <a:off x="548640" y="4526280"/>
            <a:ext cx="11064240" cy="713232"/>
          </a:xfrm>
          <a:prstGeom prst="roundRect">
            <a:avLst>
              <a:gd name="adj" fmla="val 11538"/>
            </a:avLst>
          </a:prstGeom>
          <a:solidFill>
            <a:srgbClr val="F2F6F8"/>
          </a:solidFill>
          <a:ln/>
          <a:effectLst>
            <a:outerShdw sx="100000" sy="100000" kx="0" ky="0" algn="bl" rotWithShape="0" blurRad="88900" dist="38100" dir="5400000">
              <a:srgbClr val="000000">
                <a:alpha val="13000"/>
              </a:srgbClr>
            </a:outerShdw>
          </a:effectLst>
        </p:spPr>
      </p:sp>
      <p:sp>
        <p:nvSpPr>
          <p:cNvPr id="26" name="Shape 24"/>
          <p:cNvSpPr/>
          <p:nvPr/>
        </p:nvSpPr>
        <p:spPr>
          <a:xfrm>
            <a:off x="749808" y="4645152"/>
            <a:ext cx="475488" cy="475488"/>
          </a:xfrm>
          <a:prstGeom prst="ellipse">
            <a:avLst/>
          </a:prstGeom>
          <a:solidFill>
            <a:srgbClr val="12908F"/>
          </a:solidFill>
          <a:ln/>
        </p:spPr>
      </p:sp>
      <p:sp>
        <p:nvSpPr>
          <p:cNvPr id="27" name="Text 25"/>
          <p:cNvSpPr/>
          <p:nvPr/>
        </p:nvSpPr>
        <p:spPr>
          <a:xfrm>
            <a:off x="749808" y="4645152"/>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8" name="Text 26"/>
          <p:cNvSpPr/>
          <p:nvPr/>
        </p:nvSpPr>
        <p:spPr>
          <a:xfrm>
            <a:off x="1417320" y="4526280"/>
            <a:ext cx="3474720" cy="713232"/>
          </a:xfrm>
          <a:prstGeom prst="rect">
            <a:avLst/>
          </a:prstGeom>
          <a:noFill/>
          <a:ln/>
        </p:spPr>
        <p:txBody>
          <a:bodyPr wrap="square" lIns="0" tIns="0" rIns="0" bIns="0" rtlCol="0" anchor="ctr"/>
          <a:lstStyle/>
          <a:p>
            <a:pPr indent="0" marL="0">
              <a:buNone/>
            </a:pPr>
            <a:r>
              <a:rPr lang="en-US" sz="2000" b="1" dirty="0">
                <a:solidFill>
                  <a:srgbClr val="1E2A36"/>
                </a:solidFill>
                <a:latin typeface="Cambria" pitchFamily="34" charset="0"/>
                <a:ea typeface="Cambria" pitchFamily="34" charset="-122"/>
                <a:cs typeface="Cambria" pitchFamily="34" charset="-120"/>
              </a:rPr>
              <a:t>Where do I start?</a:t>
            </a:r>
            <a:endParaRPr lang="en-US" sz="2000" dirty="0"/>
          </a:p>
        </p:txBody>
      </p:sp>
      <p:sp>
        <p:nvSpPr>
          <p:cNvPr id="29" name="Text 27"/>
          <p:cNvSpPr/>
          <p:nvPr/>
        </p:nvSpPr>
        <p:spPr>
          <a:xfrm>
            <a:off x="4983480" y="4526280"/>
            <a:ext cx="3337560" cy="713232"/>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Good first issues, the roadmap</a:t>
            </a:r>
            <a:endParaRPr lang="en-US" sz="1600" dirty="0"/>
          </a:p>
        </p:txBody>
      </p:sp>
      <p:sp>
        <p:nvSpPr>
          <p:cNvPr id="30" name="Text 28"/>
          <p:cNvSpPr/>
          <p:nvPr/>
        </p:nvSpPr>
        <p:spPr>
          <a:xfrm>
            <a:off x="8458200" y="4526280"/>
            <a:ext cx="3017520" cy="713232"/>
          </a:xfrm>
          <a:prstGeom prst="rect">
            <a:avLst/>
          </a:prstGeom>
          <a:noFill/>
          <a:ln/>
        </p:spPr>
        <p:txBody>
          <a:bodyPr wrap="square" lIns="0" tIns="0" rIns="0" bIns="0" rtlCol="0" anchor="ctr"/>
          <a:lstStyle/>
          <a:p>
            <a:pPr indent="0" marL="0">
              <a:buNone/>
            </a:pPr>
            <a:r>
              <a:rPr lang="en-US" sz="1600" dirty="0">
                <a:solidFill>
                  <a:srgbClr val="5F7284"/>
                </a:solidFill>
                <a:latin typeface="Calibri" pitchFamily="34" charset="0"/>
                <a:ea typeface="Calibri" pitchFamily="34" charset="-122"/>
                <a:cs typeface="Calibri" pitchFamily="34" charset="-120"/>
              </a:rPr>
              <a:t>A starter task, picked for you</a:t>
            </a:r>
            <a:endParaRPr lang="en-US" sz="1600" dirty="0"/>
          </a:p>
        </p:txBody>
      </p:sp>
      <p:sp>
        <p:nvSpPr>
          <p:cNvPr id="31" name="Shape 29"/>
          <p:cNvSpPr/>
          <p:nvPr/>
        </p:nvSpPr>
        <p:spPr>
          <a:xfrm>
            <a:off x="548640" y="5349240"/>
            <a:ext cx="11064240" cy="713232"/>
          </a:xfrm>
          <a:prstGeom prst="roundRect">
            <a:avLst>
              <a:gd name="adj" fmla="val 11538"/>
            </a:avLst>
          </a:prstGeom>
          <a:solidFill>
            <a:srgbClr val="F2F6F8"/>
          </a:solidFill>
          <a:ln/>
          <a:effectLst>
            <a:outerShdw sx="100000" sy="100000" kx="0" ky="0" algn="bl" rotWithShape="0" blurRad="88900" dist="38100" dir="5400000">
              <a:srgbClr val="000000">
                <a:alpha val="13000"/>
              </a:srgbClr>
            </a:outerShdw>
          </a:effectLst>
        </p:spPr>
      </p:sp>
      <p:sp>
        <p:nvSpPr>
          <p:cNvPr id="32" name="Shape 30"/>
          <p:cNvSpPr/>
          <p:nvPr/>
        </p:nvSpPr>
        <p:spPr>
          <a:xfrm>
            <a:off x="749808" y="5468112"/>
            <a:ext cx="475488" cy="475488"/>
          </a:xfrm>
          <a:prstGeom prst="ellipse">
            <a:avLst/>
          </a:prstGeom>
          <a:solidFill>
            <a:srgbClr val="12908F"/>
          </a:solidFill>
          <a:ln/>
        </p:spPr>
      </p:sp>
      <p:sp>
        <p:nvSpPr>
          <p:cNvPr id="33" name="Text 31"/>
          <p:cNvSpPr/>
          <p:nvPr/>
        </p:nvSpPr>
        <p:spPr>
          <a:xfrm>
            <a:off x="749808" y="5468112"/>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4" name="Text 32"/>
          <p:cNvSpPr/>
          <p:nvPr/>
        </p:nvSpPr>
        <p:spPr>
          <a:xfrm>
            <a:off x="1417320" y="5349240"/>
            <a:ext cx="3474720" cy="713232"/>
          </a:xfrm>
          <a:prstGeom prst="rect">
            <a:avLst/>
          </a:prstGeom>
          <a:noFill/>
          <a:ln/>
        </p:spPr>
        <p:txBody>
          <a:bodyPr wrap="square" lIns="0" tIns="0" rIns="0" bIns="0" rtlCol="0" anchor="ctr"/>
          <a:lstStyle/>
          <a:p>
            <a:pPr indent="0" marL="0">
              <a:buNone/>
            </a:pPr>
            <a:r>
              <a:rPr lang="en-US" sz="2000" b="1" dirty="0">
                <a:solidFill>
                  <a:srgbClr val="1E2A36"/>
                </a:solidFill>
                <a:latin typeface="Cambria" pitchFamily="34" charset="0"/>
                <a:ea typeface="Cambria" pitchFamily="34" charset="-122"/>
                <a:cs typeface="Cambria" pitchFamily="34" charset="-120"/>
              </a:rPr>
              <a:t>Will anyone respond?</a:t>
            </a:r>
            <a:endParaRPr lang="en-US" sz="2000" dirty="0"/>
          </a:p>
        </p:txBody>
      </p:sp>
      <p:sp>
        <p:nvSpPr>
          <p:cNvPr id="35" name="Text 33"/>
          <p:cNvSpPr/>
          <p:nvPr/>
        </p:nvSpPr>
        <p:spPr>
          <a:xfrm>
            <a:off x="4983480" y="5349240"/>
            <a:ext cx="3337560" cy="713232"/>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Communication norms, the record</a:t>
            </a:r>
            <a:endParaRPr lang="en-US" sz="1600" dirty="0"/>
          </a:p>
        </p:txBody>
      </p:sp>
      <p:sp>
        <p:nvSpPr>
          <p:cNvPr id="36" name="Text 34"/>
          <p:cNvSpPr/>
          <p:nvPr/>
        </p:nvSpPr>
        <p:spPr>
          <a:xfrm>
            <a:off x="8458200" y="5349240"/>
            <a:ext cx="3017520" cy="713232"/>
          </a:xfrm>
          <a:prstGeom prst="rect">
            <a:avLst/>
          </a:prstGeom>
          <a:noFill/>
          <a:ln/>
        </p:spPr>
        <p:txBody>
          <a:bodyPr wrap="square" lIns="0" tIns="0" rIns="0" bIns="0" rtlCol="0" anchor="ctr"/>
          <a:lstStyle/>
          <a:p>
            <a:pPr indent="0" marL="0">
              <a:buNone/>
            </a:pPr>
            <a:r>
              <a:rPr lang="en-US" sz="1600" dirty="0">
                <a:solidFill>
                  <a:srgbClr val="5F7284"/>
                </a:solidFill>
                <a:latin typeface="Calibri" pitchFamily="34" charset="0"/>
                <a:ea typeface="Calibri" pitchFamily="34" charset="-122"/>
                <a:cs typeface="Calibri" pitchFamily="34" charset="-120"/>
              </a:rPr>
              <a:t>Who reviews your work, and when</a:t>
            </a:r>
            <a:endParaRPr lang="en-US" sz="1600" dirty="0"/>
          </a:p>
        </p:txBody>
      </p:sp>
      <p:sp>
        <p:nvSpPr>
          <p:cNvPr id="37" name="Text 3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23 · Built to Be Joined</a:t>
            </a:r>
            <a:endParaRPr lang="en-US" sz="1000" dirty="0"/>
          </a:p>
        </p:txBody>
      </p:sp>
      <p:sp>
        <p:nvSpPr>
          <p:cNvPr id="38" name="Text 3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BAR FOR EACH</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How you'd know a need is actually met</a:t>
            </a:r>
            <a:endParaRPr lang="en-US" sz="3100" dirty="0"/>
          </a:p>
        </p:txBody>
      </p:sp>
      <p:sp>
        <p:nvSpPr>
          <p:cNvPr id="5" name="Shape 3"/>
          <p:cNvSpPr/>
          <p:nvPr/>
        </p:nvSpPr>
        <p:spPr>
          <a:xfrm>
            <a:off x="548640" y="178308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1920240"/>
            <a:ext cx="475488" cy="475488"/>
          </a:xfrm>
          <a:prstGeom prst="ellipse">
            <a:avLst/>
          </a:prstGeom>
          <a:solidFill>
            <a:srgbClr val="12908F"/>
          </a:solidFill>
          <a:ln/>
        </p:spPr>
      </p:sp>
      <p:sp>
        <p:nvSpPr>
          <p:cNvPr id="7" name="Text 5"/>
          <p:cNvSpPr/>
          <p:nvPr/>
        </p:nvSpPr>
        <p:spPr>
          <a:xfrm>
            <a:off x="777240" y="192024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463040" y="1783080"/>
            <a:ext cx="9966960" cy="749808"/>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What is this?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A stranger explains it back in one sentence after 60 seconds, and the status matches what runs.</a:t>
            </a:r>
            <a:endParaRPr lang="en-US" sz="1700" dirty="0"/>
          </a:p>
        </p:txBody>
      </p:sp>
      <p:sp>
        <p:nvSpPr>
          <p:cNvPr id="9" name="Shape 7"/>
          <p:cNvSpPr/>
          <p:nvPr/>
        </p:nvSpPr>
        <p:spPr>
          <a:xfrm>
            <a:off x="548640" y="265176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0" name="Shape 8"/>
          <p:cNvSpPr/>
          <p:nvPr/>
        </p:nvSpPr>
        <p:spPr>
          <a:xfrm>
            <a:off x="777240" y="2788920"/>
            <a:ext cx="475488" cy="475488"/>
          </a:xfrm>
          <a:prstGeom prst="ellipse">
            <a:avLst/>
          </a:prstGeom>
          <a:solidFill>
            <a:srgbClr val="12908F"/>
          </a:solidFill>
          <a:ln/>
        </p:spPr>
      </p:sp>
      <p:sp>
        <p:nvSpPr>
          <p:cNvPr id="11" name="Text 9"/>
          <p:cNvSpPr/>
          <p:nvPr/>
        </p:nvSpPr>
        <p:spPr>
          <a:xfrm>
            <a:off x="777240" y="278892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463040" y="2651760"/>
            <a:ext cx="9966960" cy="749808"/>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Am I welcome?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The small signals say yes. The reading: people decide whether to stay from small signals, fast.</a:t>
            </a:r>
            <a:endParaRPr lang="en-US" sz="1700" dirty="0"/>
          </a:p>
        </p:txBody>
      </p:sp>
      <p:sp>
        <p:nvSpPr>
          <p:cNvPr id="13" name="Shape 11"/>
          <p:cNvSpPr/>
          <p:nvPr/>
        </p:nvSpPr>
        <p:spPr>
          <a:xfrm>
            <a:off x="548640" y="352044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4" name="Shape 12"/>
          <p:cNvSpPr/>
          <p:nvPr/>
        </p:nvSpPr>
        <p:spPr>
          <a:xfrm>
            <a:off x="777240" y="3657600"/>
            <a:ext cx="475488" cy="475488"/>
          </a:xfrm>
          <a:prstGeom prst="ellipse">
            <a:avLst/>
          </a:prstGeom>
          <a:solidFill>
            <a:srgbClr val="12908F"/>
          </a:solidFill>
          <a:ln/>
        </p:spPr>
      </p:sp>
      <p:sp>
        <p:nvSpPr>
          <p:cNvPr id="15" name="Text 13"/>
          <p:cNvSpPr/>
          <p:nvPr/>
        </p:nvSpPr>
        <p:spPr>
          <a:xfrm>
            <a:off x="777240" y="365760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1463040" y="3520440"/>
            <a:ext cx="9966960" cy="749808"/>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How do I start?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Running, with tests passing, from the docs alone. Nothing anyone had to guess.</a:t>
            </a:r>
            <a:endParaRPr lang="en-US" sz="1700" dirty="0"/>
          </a:p>
        </p:txBody>
      </p:sp>
      <p:sp>
        <p:nvSpPr>
          <p:cNvPr id="17" name="Shape 15"/>
          <p:cNvSpPr/>
          <p:nvPr/>
        </p:nvSpPr>
        <p:spPr>
          <a:xfrm>
            <a:off x="548640" y="438912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8" name="Shape 16"/>
          <p:cNvSpPr/>
          <p:nvPr/>
        </p:nvSpPr>
        <p:spPr>
          <a:xfrm>
            <a:off x="777240" y="4526280"/>
            <a:ext cx="475488" cy="475488"/>
          </a:xfrm>
          <a:prstGeom prst="ellipse">
            <a:avLst/>
          </a:prstGeom>
          <a:solidFill>
            <a:srgbClr val="12908F"/>
          </a:solidFill>
          <a:ln/>
        </p:spPr>
      </p:sp>
      <p:sp>
        <p:nvSpPr>
          <p:cNvPr id="19" name="Text 17"/>
          <p:cNvSpPr/>
          <p:nvPr/>
        </p:nvSpPr>
        <p:spPr>
          <a:xfrm>
            <a:off x="777240" y="452628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0" name="Text 18"/>
          <p:cNvSpPr/>
          <p:nvPr/>
        </p:nvSpPr>
        <p:spPr>
          <a:xfrm>
            <a:off x="1463040" y="4389120"/>
            <a:ext cx="9966960" cy="749808"/>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Where do I start?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A starter issue with enough context to attempt without asking anyone.</a:t>
            </a:r>
            <a:endParaRPr lang="en-US" sz="1700" dirty="0"/>
          </a:p>
        </p:txBody>
      </p:sp>
      <p:sp>
        <p:nvSpPr>
          <p:cNvPr id="21" name="Shape 19"/>
          <p:cNvSpPr/>
          <p:nvPr/>
        </p:nvSpPr>
        <p:spPr>
          <a:xfrm>
            <a:off x="548640" y="525780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22" name="Shape 20"/>
          <p:cNvSpPr/>
          <p:nvPr/>
        </p:nvSpPr>
        <p:spPr>
          <a:xfrm>
            <a:off x="777240" y="5394960"/>
            <a:ext cx="475488" cy="475488"/>
          </a:xfrm>
          <a:prstGeom prst="ellipse">
            <a:avLst/>
          </a:prstGeom>
          <a:solidFill>
            <a:srgbClr val="12908F"/>
          </a:solidFill>
          <a:ln/>
        </p:spPr>
      </p:sp>
      <p:sp>
        <p:nvSpPr>
          <p:cNvPr id="23" name="Text 21"/>
          <p:cNvSpPr/>
          <p:nvPr/>
        </p:nvSpPr>
        <p:spPr>
          <a:xfrm>
            <a:off x="777240" y="539496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4" name="Text 22"/>
          <p:cNvSpPr/>
          <p:nvPr/>
        </p:nvSpPr>
        <p:spPr>
          <a:xfrm>
            <a:off x="1463040" y="5257800"/>
            <a:ext cx="9966960" cy="749808"/>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Will anyone respond?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Promises you'll keep. "Reviews within a week," not "24/7."</a:t>
            </a:r>
            <a:endParaRPr lang="en-US" sz="1700" dirty="0"/>
          </a:p>
        </p:txBody>
      </p:sp>
      <p:sp>
        <p:nvSpPr>
          <p:cNvPr id="25" name="Text 2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23 · Built to Be Joined</a:t>
            </a:r>
            <a:endParaRPr lang="en-US" sz="1000" dirty="0"/>
          </a:p>
        </p:txBody>
      </p:sp>
      <p:sp>
        <p:nvSpPr>
          <p:cNvPr id="26" name="Text 2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YOUR AUDIT, BY NEED</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What last Wednesday tested, and what it didn't</a:t>
            </a:r>
            <a:endParaRPr lang="en-US" sz="3100" dirty="0"/>
          </a:p>
        </p:txBody>
      </p:sp>
      <p:sp>
        <p:nvSpPr>
          <p:cNvPr id="5" name="Shape 3"/>
          <p:cNvSpPr/>
          <p:nvPr/>
        </p:nvSpPr>
        <p:spPr>
          <a:xfrm>
            <a:off x="548640" y="1783080"/>
            <a:ext cx="2103120" cy="1920240"/>
          </a:xfrm>
          <a:prstGeom prst="roundRect">
            <a:avLst>
              <a:gd name="adj" fmla="val 4286"/>
            </a:avLst>
          </a:prstGeom>
          <a:solidFill>
            <a:srgbClr val="EAF4EE"/>
          </a:solidFill>
          <a:ln/>
          <a:effectLst>
            <a:outerShdw sx="100000" sy="100000" kx="0" ky="0" algn="bl" rotWithShape="0" blurRad="88900" dist="38100" dir="5400000">
              <a:srgbClr val="000000">
                <a:alpha val="13000"/>
              </a:srgbClr>
            </a:outerShdw>
          </a:effectLst>
        </p:spPr>
      </p:sp>
      <p:sp>
        <p:nvSpPr>
          <p:cNvPr id="6" name="Text 4"/>
          <p:cNvSpPr/>
          <p:nvPr/>
        </p:nvSpPr>
        <p:spPr>
          <a:xfrm>
            <a:off x="731520" y="1874520"/>
            <a:ext cx="1737360" cy="502920"/>
          </a:xfrm>
          <a:prstGeom prst="rect">
            <a:avLst/>
          </a:prstGeom>
          <a:noFill/>
          <a:ln/>
        </p:spPr>
        <p:txBody>
          <a:bodyPr wrap="square" lIns="0" tIns="0" rIns="0" bIns="0" rtlCol="0" anchor="ctr"/>
          <a:lstStyle/>
          <a:p>
            <a:pPr indent="0" marL="0">
              <a:buNone/>
            </a:pPr>
            <a:r>
              <a:rPr lang="en-US" sz="2600" b="1" dirty="0">
                <a:solidFill>
                  <a:srgbClr val="3E9C6B"/>
                </a:solidFill>
                <a:latin typeface="Cambria" pitchFamily="34" charset="0"/>
                <a:ea typeface="Cambria" pitchFamily="34" charset="-122"/>
                <a:cs typeface="Cambria" pitchFamily="34" charset="-120"/>
              </a:rPr>
              <a:t>1</a:t>
            </a:r>
            <a:endParaRPr lang="en-US" sz="2600" dirty="0"/>
          </a:p>
        </p:txBody>
      </p:sp>
      <p:sp>
        <p:nvSpPr>
          <p:cNvPr id="7" name="Text 5"/>
          <p:cNvSpPr/>
          <p:nvPr/>
        </p:nvSpPr>
        <p:spPr>
          <a:xfrm>
            <a:off x="731520" y="2377440"/>
            <a:ext cx="1783080" cy="685800"/>
          </a:xfrm>
          <a:prstGeom prst="rect">
            <a:avLst/>
          </a:prstGeom>
          <a:noFill/>
          <a:ln/>
        </p:spPr>
        <p:txBody>
          <a:bodyPr wrap="square" lIns="0" tIns="0" rIns="0" bIns="0" rtlCol="0" anchor="t"/>
          <a:lstStyle/>
          <a:p>
            <a:pPr indent="0" marL="0">
              <a:buNone/>
            </a:pPr>
            <a:r>
              <a:rPr lang="en-US" sz="1700" b="1" dirty="0">
                <a:solidFill>
                  <a:srgbClr val="1E2A36"/>
                </a:solidFill>
                <a:latin typeface="Calibri" pitchFamily="34" charset="0"/>
                <a:ea typeface="Calibri" pitchFamily="34" charset="-122"/>
                <a:cs typeface="Calibri" pitchFamily="34" charset="-120"/>
              </a:rPr>
              <a:t>What is this?</a:t>
            </a:r>
            <a:endParaRPr lang="en-US" sz="1700" dirty="0"/>
          </a:p>
        </p:txBody>
      </p:sp>
      <p:sp>
        <p:nvSpPr>
          <p:cNvPr id="8" name="Text 6"/>
          <p:cNvSpPr/>
          <p:nvPr/>
        </p:nvSpPr>
        <p:spPr>
          <a:xfrm>
            <a:off x="731520" y="3154680"/>
            <a:ext cx="1737360" cy="411480"/>
          </a:xfrm>
          <a:prstGeom prst="rect">
            <a:avLst/>
          </a:prstGeom>
          <a:noFill/>
          <a:ln/>
        </p:spPr>
        <p:txBody>
          <a:bodyPr wrap="square" lIns="0" tIns="0" rIns="0" bIns="0" rtlCol="0" anchor="ctr"/>
          <a:lstStyle/>
          <a:p>
            <a:pPr indent="0" marL="0">
              <a:buNone/>
            </a:pPr>
            <a:r>
              <a:rPr lang="en-US" sz="1500" b="1" dirty="0">
                <a:solidFill>
                  <a:srgbClr val="3E9C6B"/>
                </a:solidFill>
                <a:latin typeface="Calibri" pitchFamily="34" charset="0"/>
                <a:ea typeface="Calibri" pitchFamily="34" charset="-122"/>
                <a:cs typeface="Calibri" pitchFamily="34" charset="-120"/>
              </a:rPr>
              <a:t>Tested</a:t>
            </a:r>
            <a:endParaRPr lang="en-US" sz="1500" dirty="0"/>
          </a:p>
        </p:txBody>
      </p:sp>
      <p:sp>
        <p:nvSpPr>
          <p:cNvPr id="9" name="Shape 7"/>
          <p:cNvSpPr/>
          <p:nvPr/>
        </p:nvSpPr>
        <p:spPr>
          <a:xfrm>
            <a:off x="2798064" y="1783080"/>
            <a:ext cx="2103120" cy="1920240"/>
          </a:xfrm>
          <a:prstGeom prst="roundRect">
            <a:avLst>
              <a:gd name="adj" fmla="val 4286"/>
            </a:avLst>
          </a:prstGeom>
          <a:solidFill>
            <a:srgbClr val="FBEEDA"/>
          </a:solidFill>
          <a:ln/>
          <a:effectLst>
            <a:outerShdw sx="100000" sy="100000" kx="0" ky="0" algn="bl" rotWithShape="0" blurRad="88900" dist="38100" dir="5400000">
              <a:srgbClr val="000000">
                <a:alpha val="13000"/>
              </a:srgbClr>
            </a:outerShdw>
          </a:effectLst>
        </p:spPr>
      </p:sp>
      <p:sp>
        <p:nvSpPr>
          <p:cNvPr id="10" name="Text 8"/>
          <p:cNvSpPr/>
          <p:nvPr/>
        </p:nvSpPr>
        <p:spPr>
          <a:xfrm>
            <a:off x="2980944" y="1874520"/>
            <a:ext cx="1737360" cy="502920"/>
          </a:xfrm>
          <a:prstGeom prst="rect">
            <a:avLst/>
          </a:prstGeom>
          <a:noFill/>
          <a:ln/>
        </p:spPr>
        <p:txBody>
          <a:bodyPr wrap="square" lIns="0" tIns="0" rIns="0" bIns="0" rtlCol="0" anchor="ctr"/>
          <a:lstStyle/>
          <a:p>
            <a:pPr indent="0" marL="0">
              <a:buNone/>
            </a:pPr>
            <a:r>
              <a:rPr lang="en-US" sz="2600" b="1" dirty="0">
                <a:solidFill>
                  <a:srgbClr val="D9614C"/>
                </a:solidFill>
                <a:latin typeface="Cambria" pitchFamily="34" charset="0"/>
                <a:ea typeface="Cambria" pitchFamily="34" charset="-122"/>
                <a:cs typeface="Cambria" pitchFamily="34" charset="-120"/>
              </a:rPr>
              <a:t>2</a:t>
            </a:r>
            <a:endParaRPr lang="en-US" sz="2600" dirty="0"/>
          </a:p>
        </p:txBody>
      </p:sp>
      <p:sp>
        <p:nvSpPr>
          <p:cNvPr id="11" name="Text 9"/>
          <p:cNvSpPr/>
          <p:nvPr/>
        </p:nvSpPr>
        <p:spPr>
          <a:xfrm>
            <a:off x="2980944" y="2377440"/>
            <a:ext cx="1783080" cy="685800"/>
          </a:xfrm>
          <a:prstGeom prst="rect">
            <a:avLst/>
          </a:prstGeom>
          <a:noFill/>
          <a:ln/>
        </p:spPr>
        <p:txBody>
          <a:bodyPr wrap="square" lIns="0" tIns="0" rIns="0" bIns="0" rtlCol="0" anchor="t"/>
          <a:lstStyle/>
          <a:p>
            <a:pPr indent="0" marL="0">
              <a:buNone/>
            </a:pPr>
            <a:r>
              <a:rPr lang="en-US" sz="1700" b="1" dirty="0">
                <a:solidFill>
                  <a:srgbClr val="1E2A36"/>
                </a:solidFill>
                <a:latin typeface="Calibri" pitchFamily="34" charset="0"/>
                <a:ea typeface="Calibri" pitchFamily="34" charset="-122"/>
                <a:cs typeface="Calibri" pitchFamily="34" charset="-120"/>
              </a:rPr>
              <a:t>Am I welcome?</a:t>
            </a:r>
            <a:endParaRPr lang="en-US" sz="1700" dirty="0"/>
          </a:p>
        </p:txBody>
      </p:sp>
      <p:sp>
        <p:nvSpPr>
          <p:cNvPr id="12" name="Text 10"/>
          <p:cNvSpPr/>
          <p:nvPr/>
        </p:nvSpPr>
        <p:spPr>
          <a:xfrm>
            <a:off x="2980944" y="3154680"/>
            <a:ext cx="1737360" cy="411480"/>
          </a:xfrm>
          <a:prstGeom prst="rect">
            <a:avLst/>
          </a:prstGeom>
          <a:noFill/>
          <a:ln/>
        </p:spPr>
        <p:txBody>
          <a:bodyPr wrap="square" lIns="0" tIns="0" rIns="0" bIns="0" rtlCol="0" anchor="ctr"/>
          <a:lstStyle/>
          <a:p>
            <a:pPr indent="0" marL="0">
              <a:buNone/>
            </a:pPr>
            <a:r>
              <a:rPr lang="en-US" sz="1500" b="1" dirty="0">
                <a:solidFill>
                  <a:srgbClr val="D9614C"/>
                </a:solidFill>
                <a:latin typeface="Calibri" pitchFamily="34" charset="0"/>
                <a:ea typeface="Calibri" pitchFamily="34" charset="-122"/>
                <a:cs typeface="Calibri" pitchFamily="34" charset="-120"/>
              </a:rPr>
              <a:t>Not tested</a:t>
            </a:r>
            <a:endParaRPr lang="en-US" sz="1500" dirty="0"/>
          </a:p>
        </p:txBody>
      </p:sp>
      <p:sp>
        <p:nvSpPr>
          <p:cNvPr id="13" name="Shape 11"/>
          <p:cNvSpPr/>
          <p:nvPr/>
        </p:nvSpPr>
        <p:spPr>
          <a:xfrm>
            <a:off x="5047488" y="1783080"/>
            <a:ext cx="2103120" cy="1920240"/>
          </a:xfrm>
          <a:prstGeom prst="roundRect">
            <a:avLst>
              <a:gd name="adj" fmla="val 4286"/>
            </a:avLst>
          </a:prstGeom>
          <a:solidFill>
            <a:srgbClr val="EAF4EE"/>
          </a:solidFill>
          <a:ln/>
          <a:effectLst>
            <a:outerShdw sx="100000" sy="100000" kx="0" ky="0" algn="bl" rotWithShape="0" blurRad="88900" dist="38100" dir="5400000">
              <a:srgbClr val="000000">
                <a:alpha val="13000"/>
              </a:srgbClr>
            </a:outerShdw>
          </a:effectLst>
        </p:spPr>
      </p:sp>
      <p:sp>
        <p:nvSpPr>
          <p:cNvPr id="14" name="Text 12"/>
          <p:cNvSpPr/>
          <p:nvPr/>
        </p:nvSpPr>
        <p:spPr>
          <a:xfrm>
            <a:off x="5230368" y="1874520"/>
            <a:ext cx="1737360" cy="502920"/>
          </a:xfrm>
          <a:prstGeom prst="rect">
            <a:avLst/>
          </a:prstGeom>
          <a:noFill/>
          <a:ln/>
        </p:spPr>
        <p:txBody>
          <a:bodyPr wrap="square" lIns="0" tIns="0" rIns="0" bIns="0" rtlCol="0" anchor="ctr"/>
          <a:lstStyle/>
          <a:p>
            <a:pPr indent="0" marL="0">
              <a:buNone/>
            </a:pPr>
            <a:r>
              <a:rPr lang="en-US" sz="2600" b="1" dirty="0">
                <a:solidFill>
                  <a:srgbClr val="3E9C6B"/>
                </a:solidFill>
                <a:latin typeface="Cambria" pitchFamily="34" charset="0"/>
                <a:ea typeface="Cambria" pitchFamily="34" charset="-122"/>
                <a:cs typeface="Cambria" pitchFamily="34" charset="-120"/>
              </a:rPr>
              <a:t>3</a:t>
            </a:r>
            <a:endParaRPr lang="en-US" sz="2600" dirty="0"/>
          </a:p>
        </p:txBody>
      </p:sp>
      <p:sp>
        <p:nvSpPr>
          <p:cNvPr id="15" name="Text 13"/>
          <p:cNvSpPr/>
          <p:nvPr/>
        </p:nvSpPr>
        <p:spPr>
          <a:xfrm>
            <a:off x="5230368" y="2377440"/>
            <a:ext cx="1783080" cy="685800"/>
          </a:xfrm>
          <a:prstGeom prst="rect">
            <a:avLst/>
          </a:prstGeom>
          <a:noFill/>
          <a:ln/>
        </p:spPr>
        <p:txBody>
          <a:bodyPr wrap="square" lIns="0" tIns="0" rIns="0" bIns="0" rtlCol="0" anchor="t"/>
          <a:lstStyle/>
          <a:p>
            <a:pPr indent="0" marL="0">
              <a:buNone/>
            </a:pPr>
            <a:r>
              <a:rPr lang="en-US" sz="1700" b="1" dirty="0">
                <a:solidFill>
                  <a:srgbClr val="1E2A36"/>
                </a:solidFill>
                <a:latin typeface="Calibri" pitchFamily="34" charset="0"/>
                <a:ea typeface="Calibri" pitchFamily="34" charset="-122"/>
                <a:cs typeface="Calibri" pitchFamily="34" charset="-120"/>
              </a:rPr>
              <a:t>How do I start?</a:t>
            </a:r>
            <a:endParaRPr lang="en-US" sz="1700" dirty="0"/>
          </a:p>
        </p:txBody>
      </p:sp>
      <p:sp>
        <p:nvSpPr>
          <p:cNvPr id="16" name="Text 14"/>
          <p:cNvSpPr/>
          <p:nvPr/>
        </p:nvSpPr>
        <p:spPr>
          <a:xfrm>
            <a:off x="5230368" y="3154680"/>
            <a:ext cx="1737360" cy="411480"/>
          </a:xfrm>
          <a:prstGeom prst="rect">
            <a:avLst/>
          </a:prstGeom>
          <a:noFill/>
          <a:ln/>
        </p:spPr>
        <p:txBody>
          <a:bodyPr wrap="square" lIns="0" tIns="0" rIns="0" bIns="0" rtlCol="0" anchor="ctr"/>
          <a:lstStyle/>
          <a:p>
            <a:pPr indent="0" marL="0">
              <a:buNone/>
            </a:pPr>
            <a:r>
              <a:rPr lang="en-US" sz="1500" b="1" dirty="0">
                <a:solidFill>
                  <a:srgbClr val="3E9C6B"/>
                </a:solidFill>
                <a:latin typeface="Calibri" pitchFamily="34" charset="0"/>
                <a:ea typeface="Calibri" pitchFamily="34" charset="-122"/>
                <a:cs typeface="Calibri" pitchFamily="34" charset="-120"/>
              </a:rPr>
              <a:t>Tested</a:t>
            </a:r>
            <a:endParaRPr lang="en-US" sz="1500" dirty="0"/>
          </a:p>
        </p:txBody>
      </p:sp>
      <p:sp>
        <p:nvSpPr>
          <p:cNvPr id="17" name="Shape 15"/>
          <p:cNvSpPr/>
          <p:nvPr/>
        </p:nvSpPr>
        <p:spPr>
          <a:xfrm>
            <a:off x="7296912" y="1783080"/>
            <a:ext cx="2103120" cy="1920240"/>
          </a:xfrm>
          <a:prstGeom prst="roundRect">
            <a:avLst>
              <a:gd name="adj" fmla="val 4286"/>
            </a:avLst>
          </a:prstGeom>
          <a:solidFill>
            <a:srgbClr val="EAF4EE"/>
          </a:solidFill>
          <a:ln/>
          <a:effectLst>
            <a:outerShdw sx="100000" sy="100000" kx="0" ky="0" algn="bl" rotWithShape="0" blurRad="88900" dist="38100" dir="5400000">
              <a:srgbClr val="000000">
                <a:alpha val="13000"/>
              </a:srgbClr>
            </a:outerShdw>
          </a:effectLst>
        </p:spPr>
      </p:sp>
      <p:sp>
        <p:nvSpPr>
          <p:cNvPr id="18" name="Text 16"/>
          <p:cNvSpPr/>
          <p:nvPr/>
        </p:nvSpPr>
        <p:spPr>
          <a:xfrm>
            <a:off x="7479792" y="1874520"/>
            <a:ext cx="1737360" cy="502920"/>
          </a:xfrm>
          <a:prstGeom prst="rect">
            <a:avLst/>
          </a:prstGeom>
          <a:noFill/>
          <a:ln/>
        </p:spPr>
        <p:txBody>
          <a:bodyPr wrap="square" lIns="0" tIns="0" rIns="0" bIns="0" rtlCol="0" anchor="ctr"/>
          <a:lstStyle/>
          <a:p>
            <a:pPr indent="0" marL="0">
              <a:buNone/>
            </a:pPr>
            <a:r>
              <a:rPr lang="en-US" sz="2600" b="1" dirty="0">
                <a:solidFill>
                  <a:srgbClr val="3E9C6B"/>
                </a:solidFill>
                <a:latin typeface="Cambria" pitchFamily="34" charset="0"/>
                <a:ea typeface="Cambria" pitchFamily="34" charset="-122"/>
                <a:cs typeface="Cambria" pitchFamily="34" charset="-120"/>
              </a:rPr>
              <a:t>4</a:t>
            </a:r>
            <a:endParaRPr lang="en-US" sz="2600" dirty="0"/>
          </a:p>
        </p:txBody>
      </p:sp>
      <p:sp>
        <p:nvSpPr>
          <p:cNvPr id="19" name="Text 17"/>
          <p:cNvSpPr/>
          <p:nvPr/>
        </p:nvSpPr>
        <p:spPr>
          <a:xfrm>
            <a:off x="7479792" y="2377440"/>
            <a:ext cx="1783080" cy="685800"/>
          </a:xfrm>
          <a:prstGeom prst="rect">
            <a:avLst/>
          </a:prstGeom>
          <a:noFill/>
          <a:ln/>
        </p:spPr>
        <p:txBody>
          <a:bodyPr wrap="square" lIns="0" tIns="0" rIns="0" bIns="0" rtlCol="0" anchor="t"/>
          <a:lstStyle/>
          <a:p>
            <a:pPr indent="0" marL="0">
              <a:buNone/>
            </a:pPr>
            <a:r>
              <a:rPr lang="en-US" sz="1700" b="1" dirty="0">
                <a:solidFill>
                  <a:srgbClr val="1E2A36"/>
                </a:solidFill>
                <a:latin typeface="Calibri" pitchFamily="34" charset="0"/>
                <a:ea typeface="Calibri" pitchFamily="34" charset="-122"/>
                <a:cs typeface="Calibri" pitchFamily="34" charset="-120"/>
              </a:rPr>
              <a:t>Where do I start?</a:t>
            </a:r>
            <a:endParaRPr lang="en-US" sz="1700" dirty="0"/>
          </a:p>
        </p:txBody>
      </p:sp>
      <p:sp>
        <p:nvSpPr>
          <p:cNvPr id="20" name="Text 18"/>
          <p:cNvSpPr/>
          <p:nvPr/>
        </p:nvSpPr>
        <p:spPr>
          <a:xfrm>
            <a:off x="7479792" y="3154680"/>
            <a:ext cx="1737360" cy="411480"/>
          </a:xfrm>
          <a:prstGeom prst="rect">
            <a:avLst/>
          </a:prstGeom>
          <a:noFill/>
          <a:ln/>
        </p:spPr>
        <p:txBody>
          <a:bodyPr wrap="square" lIns="0" tIns="0" rIns="0" bIns="0" rtlCol="0" anchor="ctr"/>
          <a:lstStyle/>
          <a:p>
            <a:pPr indent="0" marL="0">
              <a:buNone/>
            </a:pPr>
            <a:r>
              <a:rPr lang="en-US" sz="1500" b="1" dirty="0">
                <a:solidFill>
                  <a:srgbClr val="3E9C6B"/>
                </a:solidFill>
                <a:latin typeface="Calibri" pitchFamily="34" charset="0"/>
                <a:ea typeface="Calibri" pitchFamily="34" charset="-122"/>
                <a:cs typeface="Calibri" pitchFamily="34" charset="-120"/>
              </a:rPr>
              <a:t>Tested</a:t>
            </a:r>
            <a:endParaRPr lang="en-US" sz="1500" dirty="0"/>
          </a:p>
        </p:txBody>
      </p:sp>
      <p:sp>
        <p:nvSpPr>
          <p:cNvPr id="21" name="Shape 19"/>
          <p:cNvSpPr/>
          <p:nvPr/>
        </p:nvSpPr>
        <p:spPr>
          <a:xfrm>
            <a:off x="9546336" y="1783080"/>
            <a:ext cx="2103120" cy="1920240"/>
          </a:xfrm>
          <a:prstGeom prst="roundRect">
            <a:avLst>
              <a:gd name="adj" fmla="val 4286"/>
            </a:avLst>
          </a:prstGeom>
          <a:solidFill>
            <a:srgbClr val="FBEEDA"/>
          </a:solidFill>
          <a:ln/>
          <a:effectLst>
            <a:outerShdw sx="100000" sy="100000" kx="0" ky="0" algn="bl" rotWithShape="0" blurRad="88900" dist="38100" dir="5400000">
              <a:srgbClr val="000000">
                <a:alpha val="13000"/>
              </a:srgbClr>
            </a:outerShdw>
          </a:effectLst>
        </p:spPr>
      </p:sp>
      <p:sp>
        <p:nvSpPr>
          <p:cNvPr id="22" name="Text 20"/>
          <p:cNvSpPr/>
          <p:nvPr/>
        </p:nvSpPr>
        <p:spPr>
          <a:xfrm>
            <a:off x="9729216" y="1874520"/>
            <a:ext cx="1737360" cy="502920"/>
          </a:xfrm>
          <a:prstGeom prst="rect">
            <a:avLst/>
          </a:prstGeom>
          <a:noFill/>
          <a:ln/>
        </p:spPr>
        <p:txBody>
          <a:bodyPr wrap="square" lIns="0" tIns="0" rIns="0" bIns="0" rtlCol="0" anchor="ctr"/>
          <a:lstStyle/>
          <a:p>
            <a:pPr indent="0" marL="0">
              <a:buNone/>
            </a:pPr>
            <a:r>
              <a:rPr lang="en-US" sz="2600" b="1" dirty="0">
                <a:solidFill>
                  <a:srgbClr val="D9614C"/>
                </a:solidFill>
                <a:latin typeface="Cambria" pitchFamily="34" charset="0"/>
                <a:ea typeface="Cambria" pitchFamily="34" charset="-122"/>
                <a:cs typeface="Cambria" pitchFamily="34" charset="-120"/>
              </a:rPr>
              <a:t>5</a:t>
            </a:r>
            <a:endParaRPr lang="en-US" sz="2600" dirty="0"/>
          </a:p>
        </p:txBody>
      </p:sp>
      <p:sp>
        <p:nvSpPr>
          <p:cNvPr id="23" name="Text 21"/>
          <p:cNvSpPr/>
          <p:nvPr/>
        </p:nvSpPr>
        <p:spPr>
          <a:xfrm>
            <a:off x="9729216" y="2377440"/>
            <a:ext cx="1783080" cy="685800"/>
          </a:xfrm>
          <a:prstGeom prst="rect">
            <a:avLst/>
          </a:prstGeom>
          <a:noFill/>
          <a:ln/>
        </p:spPr>
        <p:txBody>
          <a:bodyPr wrap="square" lIns="0" tIns="0" rIns="0" bIns="0" rtlCol="0" anchor="t"/>
          <a:lstStyle/>
          <a:p>
            <a:pPr indent="0" marL="0">
              <a:buNone/>
            </a:pPr>
            <a:r>
              <a:rPr lang="en-US" sz="1700" b="1" dirty="0">
                <a:solidFill>
                  <a:srgbClr val="1E2A36"/>
                </a:solidFill>
                <a:latin typeface="Calibri" pitchFamily="34" charset="0"/>
                <a:ea typeface="Calibri" pitchFamily="34" charset="-122"/>
                <a:cs typeface="Calibri" pitchFamily="34" charset="-120"/>
              </a:rPr>
              <a:t>Will anyone respond?</a:t>
            </a:r>
            <a:endParaRPr lang="en-US" sz="1700" dirty="0"/>
          </a:p>
        </p:txBody>
      </p:sp>
      <p:sp>
        <p:nvSpPr>
          <p:cNvPr id="24" name="Text 22"/>
          <p:cNvSpPr/>
          <p:nvPr/>
        </p:nvSpPr>
        <p:spPr>
          <a:xfrm>
            <a:off x="9729216" y="3154680"/>
            <a:ext cx="1737360" cy="411480"/>
          </a:xfrm>
          <a:prstGeom prst="rect">
            <a:avLst/>
          </a:prstGeom>
          <a:noFill/>
          <a:ln/>
        </p:spPr>
        <p:txBody>
          <a:bodyPr wrap="square" lIns="0" tIns="0" rIns="0" bIns="0" rtlCol="0" anchor="ctr"/>
          <a:lstStyle/>
          <a:p>
            <a:pPr indent="0" marL="0">
              <a:buNone/>
            </a:pPr>
            <a:r>
              <a:rPr lang="en-US" sz="1500" b="1" dirty="0">
                <a:solidFill>
                  <a:srgbClr val="D9614C"/>
                </a:solidFill>
                <a:latin typeface="Calibri" pitchFamily="34" charset="0"/>
                <a:ea typeface="Calibri" pitchFamily="34" charset="-122"/>
                <a:cs typeface="Calibri" pitchFamily="34" charset="-120"/>
              </a:rPr>
              <a:t>Not tested</a:t>
            </a:r>
            <a:endParaRPr lang="en-US" sz="1500" dirty="0"/>
          </a:p>
        </p:txBody>
      </p:sp>
      <p:sp>
        <p:nvSpPr>
          <p:cNvPr id="25" name="Shape 23"/>
          <p:cNvSpPr/>
          <p:nvPr/>
        </p:nvSpPr>
        <p:spPr>
          <a:xfrm>
            <a:off x="548640" y="3977640"/>
            <a:ext cx="11064240" cy="1234440"/>
          </a:xfrm>
          <a:prstGeom prst="roundRect">
            <a:avLst>
              <a:gd name="adj" fmla="val 6667"/>
            </a:avLst>
          </a:prstGeom>
          <a:solidFill>
            <a:srgbClr val="14233A"/>
          </a:solidFill>
          <a:ln/>
          <a:effectLst>
            <a:outerShdw sx="100000" sy="100000" kx="0" ky="0" algn="bl" rotWithShape="0" blurRad="88900" dist="38100" dir="5400000">
              <a:srgbClr val="000000">
                <a:alpha val="13000"/>
              </a:srgbClr>
            </a:outerShdw>
          </a:effectLst>
        </p:spPr>
      </p:sp>
      <p:sp>
        <p:nvSpPr>
          <p:cNvPr id="26" name="Text 24"/>
          <p:cNvSpPr/>
          <p:nvPr/>
        </p:nvSpPr>
        <p:spPr>
          <a:xfrm>
            <a:off x="868680" y="3977640"/>
            <a:ext cx="10424160" cy="1234440"/>
          </a:xfrm>
          <a:prstGeom prst="rect">
            <a:avLst/>
          </a:prstGeom>
          <a:noFill/>
          <a:ln/>
        </p:spPr>
        <p:txBody>
          <a:bodyPr wrap="square" lIns="0" tIns="0" rIns="0" bIns="0" rtlCol="0" anchor="ctr"/>
          <a:lstStyle/>
          <a:p>
            <a:pPr indent="0" marL="0">
              <a:buNone/>
            </a:pPr>
            <a:r>
              <a:rPr lang="en-US" sz="1900" b="1" dirty="0">
                <a:solidFill>
                  <a:srgbClr val="E8A33D"/>
                </a:solidFill>
                <a:latin typeface="Calibri" pitchFamily="34" charset="0"/>
                <a:ea typeface="Calibri" pitchFamily="34" charset="-122"/>
                <a:cs typeface="Calibri" pitchFamily="34" charset="-120"/>
              </a:rPr>
              <a:t>From your audit sheets:  </a:t>
            </a:r>
            <a:pPr indent="0" marL="0">
              <a:buNone/>
            </a:pPr>
            <a:r>
              <a:rPr lang="en-US" sz="1900" dirty="0">
                <a:solidFill>
                  <a:srgbClr val="FFFFFF"/>
                </a:solidFill>
                <a:latin typeface="Calibri" pitchFamily="34" charset="0"/>
                <a:ea typeface="Calibri" pitchFamily="34" charset="-122"/>
                <a:cs typeface="Calibri" pitchFamily="34" charset="-120"/>
              </a:rPr>
              <a:t>the stalls on the board. Which need does each one belong to?</a:t>
            </a:r>
            <a:endParaRPr lang="en-US" sz="1900" dirty="0"/>
          </a:p>
        </p:txBody>
      </p:sp>
      <p:sp>
        <p:nvSpPr>
          <p:cNvPr id="27" name="Shape 25"/>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28" name="Text 26"/>
          <p:cNvSpPr/>
          <p:nvPr/>
        </p:nvSpPr>
        <p:spPr>
          <a:xfrm>
            <a:off x="868680" y="5440680"/>
            <a:ext cx="10424160" cy="73152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Welcome and response are the two no one has checked yet. They're on Dec 2's test.</a:t>
            </a:r>
            <a:endParaRPr lang="en-US" sz="1700" dirty="0"/>
          </a:p>
        </p:txBody>
      </p:sp>
      <p:sp>
        <p:nvSpPr>
          <p:cNvPr id="29" name="Text 2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23 · Built to Be Joined</a:t>
            </a:r>
            <a:endParaRPr lang="en-US" sz="1000" dirty="0"/>
          </a:p>
        </p:txBody>
      </p:sp>
      <p:sp>
        <p:nvSpPr>
          <p:cNvPr id="30" name="Text 2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WHAT ANY CODEBASE OWES THE NEXT PERSON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At work, in open source, or to you in eight months</a:t>
            </a:r>
            <a:endParaRPr lang="en-US" sz="3100" dirty="0"/>
          </a:p>
        </p:txBody>
      </p:sp>
      <p:sp>
        <p:nvSpPr>
          <p:cNvPr id="5" name="Shape 3"/>
          <p:cNvSpPr/>
          <p:nvPr/>
        </p:nvSpPr>
        <p:spPr>
          <a:xfrm>
            <a:off x="548640" y="1783080"/>
            <a:ext cx="3566160" cy="3017520"/>
          </a:xfrm>
          <a:prstGeom prst="roundRect">
            <a:avLst>
              <a:gd name="adj" fmla="val 2727"/>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011680"/>
            <a:ext cx="640080" cy="64008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95782" y="2184502"/>
            <a:ext cx="294437" cy="294437"/>
          </a:xfrm>
          <a:prstGeom prst="rect">
            <a:avLst/>
          </a:prstGeom>
        </p:spPr>
      </p:pic>
      <p:sp>
        <p:nvSpPr>
          <p:cNvPr id="8" name="Text 5"/>
          <p:cNvSpPr/>
          <p:nvPr/>
        </p:nvSpPr>
        <p:spPr>
          <a:xfrm>
            <a:off x="822960" y="2788920"/>
            <a:ext cx="3017520" cy="822960"/>
          </a:xfrm>
          <a:prstGeom prst="rect">
            <a:avLst/>
          </a:prstGeom>
          <a:noFill/>
          <a:ln/>
        </p:spPr>
        <p:txBody>
          <a:bodyPr wrap="square" lIns="0" tIns="0" rIns="0" bIns="0" rtlCol="0" anchor="t"/>
          <a:lstStyle/>
          <a:p>
            <a:pPr indent="0" marL="0">
              <a:buNone/>
            </a:pPr>
            <a:r>
              <a:rPr lang="en-US" sz="1900" b="1" dirty="0">
                <a:solidFill>
                  <a:srgbClr val="1E2A36"/>
                </a:solidFill>
                <a:latin typeface="Calibri" pitchFamily="34" charset="0"/>
                <a:ea typeface="Calibri" pitchFamily="34" charset="-122"/>
                <a:cs typeface="Calibri" pitchFamily="34" charset="-120"/>
              </a:rPr>
              <a:t>A way to know they didn't break it</a:t>
            </a:r>
            <a:endParaRPr lang="en-US" sz="1900" dirty="0"/>
          </a:p>
        </p:txBody>
      </p:sp>
      <p:sp>
        <p:nvSpPr>
          <p:cNvPr id="9" name="Text 6"/>
          <p:cNvSpPr/>
          <p:nvPr/>
        </p:nvSpPr>
        <p:spPr>
          <a:xfrm>
            <a:off x="822960" y="3611880"/>
            <a:ext cx="3017520" cy="1097280"/>
          </a:xfrm>
          <a:prstGeom prst="rect">
            <a:avLst/>
          </a:prstGeom>
          <a:noFill/>
          <a:ln/>
        </p:spPr>
        <p:txBody>
          <a:bodyPr wrap="square" lIns="0" tIns="0" rIns="0" bIns="0" rtlCol="0" anchor="t"/>
          <a:lstStyle/>
          <a:p>
            <a:pPr indent="0" marL="0">
              <a:buNone/>
            </a:pPr>
            <a:r>
              <a:rPr lang="en-US" sz="1600" dirty="0">
                <a:solidFill>
                  <a:srgbClr val="5F7284"/>
                </a:solidFill>
                <a:latin typeface="Calibri" pitchFamily="34" charset="0"/>
                <a:ea typeface="Calibri" pitchFamily="34" charset="-122"/>
                <a:cs typeface="Calibri" pitchFamily="34" charset="-120"/>
              </a:rPr>
              <a:t>Tests on the logic that matters. Not coverage theater.</a:t>
            </a:r>
            <a:endParaRPr lang="en-US" sz="1600" dirty="0"/>
          </a:p>
        </p:txBody>
      </p:sp>
      <p:sp>
        <p:nvSpPr>
          <p:cNvPr id="10" name="Shape 7"/>
          <p:cNvSpPr/>
          <p:nvPr/>
        </p:nvSpPr>
        <p:spPr>
          <a:xfrm>
            <a:off x="4297680" y="1783080"/>
            <a:ext cx="3566160" cy="3017520"/>
          </a:xfrm>
          <a:prstGeom prst="roundRect">
            <a:avLst>
              <a:gd name="adj" fmla="val 2727"/>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4572000" y="2011680"/>
            <a:ext cx="640080" cy="640080"/>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4744822" y="2184502"/>
            <a:ext cx="294437" cy="294437"/>
          </a:xfrm>
          <a:prstGeom prst="rect">
            <a:avLst/>
          </a:prstGeom>
        </p:spPr>
      </p:pic>
      <p:sp>
        <p:nvSpPr>
          <p:cNvPr id="13" name="Text 9"/>
          <p:cNvSpPr/>
          <p:nvPr/>
        </p:nvSpPr>
        <p:spPr>
          <a:xfrm>
            <a:off x="4572000" y="2788920"/>
            <a:ext cx="3017520" cy="822960"/>
          </a:xfrm>
          <a:prstGeom prst="rect">
            <a:avLst/>
          </a:prstGeom>
          <a:noFill/>
          <a:ln/>
        </p:spPr>
        <p:txBody>
          <a:bodyPr wrap="square" lIns="0" tIns="0" rIns="0" bIns="0" rtlCol="0" anchor="t"/>
          <a:lstStyle/>
          <a:p>
            <a:pPr indent="0" marL="0">
              <a:buNone/>
            </a:pPr>
            <a:r>
              <a:rPr lang="en-US" sz="1900" b="1" dirty="0">
                <a:solidFill>
                  <a:srgbClr val="1E2A36"/>
                </a:solidFill>
                <a:latin typeface="Calibri" pitchFamily="34" charset="0"/>
                <a:ea typeface="Calibri" pitchFamily="34" charset="-122"/>
                <a:cs typeface="Calibri" pitchFamily="34" charset="-120"/>
              </a:rPr>
              <a:t>Docs that are true</a:t>
            </a:r>
            <a:endParaRPr lang="en-US" sz="1900" dirty="0"/>
          </a:p>
        </p:txBody>
      </p:sp>
      <p:sp>
        <p:nvSpPr>
          <p:cNvPr id="14" name="Text 10"/>
          <p:cNvSpPr/>
          <p:nvPr/>
        </p:nvSpPr>
        <p:spPr>
          <a:xfrm>
            <a:off x="4572000" y="3611880"/>
            <a:ext cx="3017520" cy="1097280"/>
          </a:xfrm>
          <a:prstGeom prst="rect">
            <a:avLst/>
          </a:prstGeom>
          <a:noFill/>
          <a:ln/>
        </p:spPr>
        <p:txBody>
          <a:bodyPr wrap="square" lIns="0" tIns="0" rIns="0" bIns="0" rtlCol="0" anchor="t"/>
          <a:lstStyle/>
          <a:p>
            <a:pPr indent="0" marL="0">
              <a:buNone/>
            </a:pPr>
            <a:r>
              <a:rPr lang="en-US" sz="1600" dirty="0">
                <a:solidFill>
                  <a:srgbClr val="5F7284"/>
                </a:solidFill>
                <a:latin typeface="Calibri" pitchFamily="34" charset="0"/>
                <a:ea typeface="Calibri" pitchFamily="34" charset="-122"/>
                <a:cs typeface="Calibri" pitchFamily="34" charset="-120"/>
              </a:rPr>
              <a:t>A short, accurate overview beats a complete, stale one. Newcomers trust what they read.</a:t>
            </a:r>
            <a:endParaRPr lang="en-US" sz="1600" dirty="0"/>
          </a:p>
        </p:txBody>
      </p:sp>
      <p:sp>
        <p:nvSpPr>
          <p:cNvPr id="15" name="Shape 11"/>
          <p:cNvSpPr/>
          <p:nvPr/>
        </p:nvSpPr>
        <p:spPr>
          <a:xfrm>
            <a:off x="8046720" y="1783080"/>
            <a:ext cx="3566160" cy="3017520"/>
          </a:xfrm>
          <a:prstGeom prst="roundRect">
            <a:avLst>
              <a:gd name="adj" fmla="val 2727"/>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321040" y="2011680"/>
            <a:ext cx="640080" cy="640080"/>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8493862" y="2184502"/>
            <a:ext cx="294437" cy="294437"/>
          </a:xfrm>
          <a:prstGeom prst="rect">
            <a:avLst/>
          </a:prstGeom>
        </p:spPr>
      </p:pic>
      <p:sp>
        <p:nvSpPr>
          <p:cNvPr id="18" name="Text 13"/>
          <p:cNvSpPr/>
          <p:nvPr/>
        </p:nvSpPr>
        <p:spPr>
          <a:xfrm>
            <a:off x="8321040" y="2788920"/>
            <a:ext cx="3017520" cy="822960"/>
          </a:xfrm>
          <a:prstGeom prst="rect">
            <a:avLst/>
          </a:prstGeom>
          <a:noFill/>
          <a:ln/>
        </p:spPr>
        <p:txBody>
          <a:bodyPr wrap="square" lIns="0" tIns="0" rIns="0" bIns="0" rtlCol="0" anchor="t"/>
          <a:lstStyle/>
          <a:p>
            <a:pPr indent="0" marL="0">
              <a:buNone/>
            </a:pPr>
            <a:r>
              <a:rPr lang="en-US" sz="1900" b="1" dirty="0">
                <a:solidFill>
                  <a:srgbClr val="1E2A36"/>
                </a:solidFill>
                <a:latin typeface="Calibri" pitchFamily="34" charset="0"/>
                <a:ea typeface="Calibri" pitchFamily="34" charset="-122"/>
                <a:cs typeface="Calibri" pitchFamily="34" charset="-120"/>
              </a:rPr>
              <a:t>What's broken, written down</a:t>
            </a:r>
            <a:endParaRPr lang="en-US" sz="1900" dirty="0"/>
          </a:p>
        </p:txBody>
      </p:sp>
      <p:sp>
        <p:nvSpPr>
          <p:cNvPr id="19" name="Text 14"/>
          <p:cNvSpPr/>
          <p:nvPr/>
        </p:nvSpPr>
        <p:spPr>
          <a:xfrm>
            <a:off x="8321040" y="3611880"/>
            <a:ext cx="3017520" cy="1097280"/>
          </a:xfrm>
          <a:prstGeom prst="rect">
            <a:avLst/>
          </a:prstGeom>
          <a:noFill/>
          <a:ln/>
        </p:spPr>
        <p:txBody>
          <a:bodyPr wrap="square" lIns="0" tIns="0" rIns="0" bIns="0" rtlCol="0" anchor="t"/>
          <a:lstStyle/>
          <a:p>
            <a:pPr indent="0" marL="0">
              <a:buNone/>
            </a:pPr>
            <a:r>
              <a:rPr lang="en-US" sz="1600" dirty="0">
                <a:solidFill>
                  <a:srgbClr val="5F7284"/>
                </a:solidFill>
                <a:latin typeface="Calibri" pitchFamily="34" charset="0"/>
                <a:ea typeface="Calibri" pitchFamily="34" charset="-122"/>
                <a:cs typeface="Calibri" pitchFamily="34" charset="-120"/>
              </a:rPr>
              <a:t>Every shortcut, cut, and known bug, where a newcomer will see it.</a:t>
            </a:r>
            <a:endParaRPr lang="en-US" sz="1600" dirty="0"/>
          </a:p>
        </p:txBody>
      </p:sp>
      <p:sp>
        <p:nvSpPr>
          <p:cNvPr id="20" name="Shape 15"/>
          <p:cNvSpPr/>
          <p:nvPr/>
        </p:nvSpPr>
        <p:spPr>
          <a:xfrm>
            <a:off x="548640" y="5074920"/>
            <a:ext cx="11064240" cy="1097280"/>
          </a:xfrm>
          <a:prstGeom prst="roundRect">
            <a:avLst>
              <a:gd name="adj" fmla="val 7500"/>
            </a:avLst>
          </a:prstGeom>
          <a:solidFill>
            <a:srgbClr val="14233A"/>
          </a:solidFill>
          <a:ln/>
          <a:effectLst>
            <a:outerShdw sx="100000" sy="100000" kx="0" ky="0" algn="bl" rotWithShape="0" blurRad="88900" dist="38100" dir="5400000">
              <a:srgbClr val="000000">
                <a:alpha val="13000"/>
              </a:srgbClr>
            </a:outerShdw>
          </a:effectLst>
        </p:spPr>
      </p:sp>
      <p:sp>
        <p:nvSpPr>
          <p:cNvPr id="21" name="Text 16"/>
          <p:cNvSpPr/>
          <p:nvPr/>
        </p:nvSpPr>
        <p:spPr>
          <a:xfrm>
            <a:off x="868680" y="5074920"/>
            <a:ext cx="10424160" cy="1097280"/>
          </a:xfrm>
          <a:prstGeom prst="rect">
            <a:avLst/>
          </a:prstGeom>
          <a:noFill/>
          <a:ln/>
        </p:spPr>
        <p:txBody>
          <a:bodyPr wrap="square" lIns="0" tIns="0" rIns="0" bIns="0" rtlCol="0" anchor="ctr"/>
          <a:lstStyle/>
          <a:p>
            <a:pPr indent="0" marL="0">
              <a:lnSpc>
                <a:spcPct val="104000"/>
              </a:lnSpc>
              <a:buNone/>
            </a:pPr>
            <a:r>
              <a:rPr lang="en-US" sz="1700" b="1" dirty="0">
                <a:solidFill>
                  <a:srgbClr val="E8A33D"/>
                </a:solidFill>
                <a:latin typeface="Calibri" pitchFamily="34" charset="0"/>
                <a:ea typeface="Calibri" pitchFamily="34" charset="-122"/>
                <a:cs typeface="Calibri" pitchFamily="34" charset="-120"/>
              </a:rPr>
              <a:t>For an MVP:  </a:t>
            </a:r>
            <a:pPr indent="0" marL="0">
              <a:lnSpc>
                <a:spcPct val="104000"/>
              </a:lnSpc>
              <a:buNone/>
            </a:pPr>
            <a:r>
              <a:rPr lang="en-US" sz="1700" dirty="0">
                <a:solidFill>
                  <a:srgbClr val="FFFFFF"/>
                </a:solidFill>
                <a:latin typeface="Calibri" pitchFamily="34" charset="0"/>
                <a:ea typeface="Calibri" pitchFamily="34" charset="-122"/>
                <a:cs typeface="Calibri" pitchFamily="34" charset="-120"/>
              </a:rPr>
              <a:t>not a polished product, just these three, honestly. The next two slides are what that means here.</a:t>
            </a:r>
            <a:endParaRPr lang="en-US" sz="1700" dirty="0"/>
          </a:p>
        </p:txBody>
      </p:sp>
      <p:sp>
        <p:nvSpPr>
          <p:cNvPr id="22" name="Text 1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23 · Built to Be Joined</a:t>
            </a:r>
            <a:endParaRPr lang="en-US" sz="1000" dirty="0"/>
          </a:p>
        </p:txBody>
      </p:sp>
      <p:sp>
        <p:nvSpPr>
          <p:cNvPr id="23" name="Text 1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TESTING FLOOR</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By launch, a newcomer can tell if they broke something</a:t>
            </a:r>
            <a:endParaRPr lang="en-US" sz="3100" dirty="0"/>
          </a:p>
        </p:txBody>
      </p:sp>
      <p:sp>
        <p:nvSpPr>
          <p:cNvPr id="5" name="Shape 3"/>
          <p:cNvSpPr/>
          <p:nvPr/>
        </p:nvSpPr>
        <p:spPr>
          <a:xfrm>
            <a:off x="548640" y="1783080"/>
            <a:ext cx="11064240" cy="1371600"/>
          </a:xfrm>
          <a:prstGeom prst="roundRect">
            <a:avLst>
              <a:gd name="adj" fmla="val 6000"/>
            </a:avLst>
          </a:prstGeom>
          <a:solidFill>
            <a:srgbClr val="14233A"/>
          </a:solidFill>
          <a:ln/>
          <a:effectLst>
            <a:outerShdw sx="100000" sy="100000" kx="0" ky="0" algn="bl" rotWithShape="0" blurRad="88900" dist="38100" dir="5400000">
              <a:srgbClr val="000000">
                <a:alpha val="13000"/>
              </a:srgbClr>
            </a:outerShdw>
          </a:effectLst>
        </p:spPr>
      </p:sp>
      <p:sp>
        <p:nvSpPr>
          <p:cNvPr id="6" name="Text 4"/>
          <p:cNvSpPr/>
          <p:nvPr/>
        </p:nvSpPr>
        <p:spPr>
          <a:xfrm>
            <a:off x="868680" y="1783080"/>
            <a:ext cx="10424160" cy="1371600"/>
          </a:xfrm>
          <a:prstGeom prst="rect">
            <a:avLst/>
          </a:prstGeom>
          <a:noFill/>
          <a:ln/>
        </p:spPr>
        <p:txBody>
          <a:bodyPr wrap="square" lIns="0" tIns="0" rIns="0" bIns="0" rtlCol="0" anchor="ctr"/>
          <a:lstStyle/>
          <a:p>
            <a:pPr indent="0" marL="0">
              <a:lnSpc>
                <a:spcPct val="105000"/>
              </a:lnSpc>
              <a:buNone/>
            </a:pPr>
            <a:r>
              <a:rPr lang="en-US" sz="2000" b="1" dirty="0">
                <a:solidFill>
                  <a:srgbClr val="FFFFFF"/>
                </a:solidFill>
                <a:latin typeface="Calibri" pitchFamily="34" charset="0"/>
                <a:ea typeface="Calibri" pitchFamily="34" charset="-122"/>
                <a:cs typeface="Calibri" pitchFamily="34" charset="-120"/>
              </a:rPr>
              <a:t>At least one automated test on your slice's core logic, run by the command your setup guide names, passing at the launch tag.</a:t>
            </a:r>
            <a:endParaRPr lang="en-US" sz="2000" dirty="0"/>
          </a:p>
        </p:txBody>
      </p:sp>
      <p:sp>
        <p:nvSpPr>
          <p:cNvPr id="7" name="click-1"/>
          <p:cNvSpPr/>
          <p:nvPr/>
        </p:nvSpPr>
        <p:spPr>
          <a:xfrm>
            <a:off x="548640" y="3429000"/>
            <a:ext cx="3566160" cy="2697480"/>
          </a:xfrm>
          <a:prstGeom prst="roundRect">
            <a:avLst>
              <a:gd name="adj" fmla="val 3051"/>
            </a:avLst>
          </a:prstGeom>
          <a:solidFill>
            <a:srgbClr val="F2F6F8"/>
          </a:solidFill>
          <a:ln/>
          <a:effectLst>
            <a:outerShdw sx="100000" sy="100000" kx="0" ky="0" algn="bl" rotWithShape="0" blurRad="88900" dist="38100" dir="5400000">
              <a:srgbClr val="000000">
                <a:alpha val="13000"/>
              </a:srgbClr>
            </a:outerShdw>
          </a:effectLst>
        </p:spPr>
      </p:sp>
      <p:sp>
        <p:nvSpPr>
          <p:cNvPr id="8" name="click-1"/>
          <p:cNvSpPr/>
          <p:nvPr/>
        </p:nvSpPr>
        <p:spPr>
          <a:xfrm>
            <a:off x="822960" y="3429000"/>
            <a:ext cx="3017520" cy="2697480"/>
          </a:xfrm>
          <a:prstGeom prst="rect">
            <a:avLst/>
          </a:prstGeom>
          <a:noFill/>
          <a:ln/>
        </p:spPr>
        <p:txBody>
          <a:bodyPr wrap="square" lIns="0" tIns="0" rIns="0" bIns="0" rtlCol="0" anchor="ctr"/>
          <a:lstStyle/>
          <a:p>
            <a:pPr indent="0" marL="0">
              <a:lnSpc>
                <a:spcPct val="106000"/>
              </a:lnSpc>
              <a:buNone/>
            </a:pPr>
            <a:r>
              <a:rPr lang="en-US" sz="1700" b="1" dirty="0">
                <a:solidFill>
                  <a:srgbClr val="0E6E6D"/>
                </a:solidFill>
                <a:latin typeface="Calibri" pitchFamily="34" charset="0"/>
                <a:ea typeface="Calibri" pitchFamily="34" charset="-122"/>
                <a:cs typeface="Calibri" pitchFamily="34" charset="-120"/>
              </a:rPr>
              <a:t>Why now</a:t>
            </a:r>
            <a:endParaRPr lang="en-US" sz="1700" dirty="0"/>
          </a:p>
          <a:p>
            <a:pPr indent="0" marL="0">
              <a:lnSpc>
                <a:spcPct val="106000"/>
              </a:lnSpc>
              <a:buNone/>
            </a:pPr>
            <a:r>
              <a:rPr lang="en-US" sz="1700" dirty="0">
                <a:solidFill>
                  <a:srgbClr val="1E2A36"/>
                </a:solidFill>
                <a:latin typeface="Calibri" pitchFamily="34" charset="0"/>
                <a:ea typeface="Calibri" pitchFamily="34" charset="-122"/>
                <a:cs typeface="Calibri" pitchFamily="34" charset="-120"/>
              </a:rPr>
              <a:t>CP10 asked whether it works, so a test was extra credit. CP11 asks whether someone else can safely change it.</a:t>
            </a:r>
            <a:endParaRPr lang="en-US" sz="1700" dirty="0"/>
          </a:p>
        </p:txBody>
      </p:sp>
      <p:sp>
        <p:nvSpPr>
          <p:cNvPr id="9" name="click-2"/>
          <p:cNvSpPr/>
          <p:nvPr/>
        </p:nvSpPr>
        <p:spPr>
          <a:xfrm>
            <a:off x="4297680" y="3429000"/>
            <a:ext cx="3566160" cy="2697480"/>
          </a:xfrm>
          <a:prstGeom prst="roundRect">
            <a:avLst>
              <a:gd name="adj" fmla="val 3051"/>
            </a:avLst>
          </a:prstGeom>
          <a:solidFill>
            <a:srgbClr val="F2F6F8"/>
          </a:solidFill>
          <a:ln/>
          <a:effectLst>
            <a:outerShdw sx="100000" sy="100000" kx="0" ky="0" algn="bl" rotWithShape="0" blurRad="88900" dist="38100" dir="5400000">
              <a:srgbClr val="000000">
                <a:alpha val="13000"/>
              </a:srgbClr>
            </a:outerShdw>
          </a:effectLst>
        </p:spPr>
      </p:sp>
      <p:sp>
        <p:nvSpPr>
          <p:cNvPr id="10" name="click-2"/>
          <p:cNvSpPr/>
          <p:nvPr/>
        </p:nvSpPr>
        <p:spPr>
          <a:xfrm>
            <a:off x="4572000" y="3429000"/>
            <a:ext cx="3017520" cy="2697480"/>
          </a:xfrm>
          <a:prstGeom prst="rect">
            <a:avLst/>
          </a:prstGeom>
          <a:noFill/>
          <a:ln/>
        </p:spPr>
        <p:txBody>
          <a:bodyPr wrap="square" lIns="0" tIns="0" rIns="0" bIns="0" rtlCol="0" anchor="ctr"/>
          <a:lstStyle/>
          <a:p>
            <a:pPr indent="0" marL="0">
              <a:lnSpc>
                <a:spcPct val="106000"/>
              </a:lnSpc>
              <a:buNone/>
            </a:pPr>
            <a:r>
              <a:rPr lang="en-US" sz="1700" b="1" dirty="0">
                <a:solidFill>
                  <a:srgbClr val="0E6E6D"/>
                </a:solidFill>
                <a:latin typeface="Calibri" pitchFamily="34" charset="0"/>
                <a:ea typeface="Calibri" pitchFamily="34" charset="-122"/>
                <a:cs typeface="Calibri" pitchFamily="34" charset="-120"/>
              </a:rPr>
              <a:t>What counts</a:t>
            </a:r>
            <a:endParaRPr lang="en-US" sz="1700" dirty="0"/>
          </a:p>
          <a:p>
            <a:pPr indent="0" marL="0">
              <a:lnSpc>
                <a:spcPct val="106000"/>
              </a:lnSpc>
              <a:buNone/>
            </a:pPr>
            <a:r>
              <a:rPr lang="en-US" sz="1700" dirty="0">
                <a:solidFill>
                  <a:srgbClr val="1E2A36"/>
                </a:solidFill>
                <a:latin typeface="Calibri" pitchFamily="34" charset="0"/>
                <a:ea typeface="Calibri" pitchFamily="34" charset="-122"/>
                <a:cs typeface="Calibri" pitchFamily="34" charset="-120"/>
              </a:rPr>
              <a:t>A test that would fail if the core logic broke. One real test beats twenty that assert nothing.</a:t>
            </a:r>
            <a:endParaRPr lang="en-US" sz="1700" dirty="0"/>
          </a:p>
        </p:txBody>
      </p:sp>
      <p:sp>
        <p:nvSpPr>
          <p:cNvPr id="11" name="click-3"/>
          <p:cNvSpPr/>
          <p:nvPr/>
        </p:nvSpPr>
        <p:spPr>
          <a:xfrm>
            <a:off x="8046720" y="3429000"/>
            <a:ext cx="3566160" cy="2697480"/>
          </a:xfrm>
          <a:prstGeom prst="roundRect">
            <a:avLst>
              <a:gd name="adj" fmla="val 3051"/>
            </a:avLst>
          </a:prstGeom>
          <a:solidFill>
            <a:srgbClr val="F2F6F8"/>
          </a:solidFill>
          <a:ln/>
          <a:effectLst>
            <a:outerShdw sx="100000" sy="100000" kx="0" ky="0" algn="bl" rotWithShape="0" blurRad="88900" dist="38100" dir="5400000">
              <a:srgbClr val="000000">
                <a:alpha val="13000"/>
              </a:srgbClr>
            </a:outerShdw>
          </a:effectLst>
        </p:spPr>
      </p:sp>
      <p:sp>
        <p:nvSpPr>
          <p:cNvPr id="12" name="click-3"/>
          <p:cNvSpPr/>
          <p:nvPr/>
        </p:nvSpPr>
        <p:spPr>
          <a:xfrm>
            <a:off x="8321040" y="3429000"/>
            <a:ext cx="3017520" cy="2697480"/>
          </a:xfrm>
          <a:prstGeom prst="rect">
            <a:avLst/>
          </a:prstGeom>
          <a:noFill/>
          <a:ln/>
        </p:spPr>
        <p:txBody>
          <a:bodyPr wrap="square" lIns="0" tIns="0" rIns="0" bIns="0" rtlCol="0" anchor="ctr"/>
          <a:lstStyle/>
          <a:p>
            <a:pPr indent="0" marL="0">
              <a:lnSpc>
                <a:spcPct val="106000"/>
              </a:lnSpc>
              <a:buNone/>
            </a:pPr>
            <a:r>
              <a:rPr lang="en-US" sz="1700" b="1" dirty="0">
                <a:solidFill>
                  <a:srgbClr val="0E6E6D"/>
                </a:solidFill>
                <a:latin typeface="Calibri" pitchFamily="34" charset="0"/>
                <a:ea typeface="Calibri" pitchFamily="34" charset="-122"/>
                <a:cs typeface="Calibri" pitchFamily="34" charset="-120"/>
              </a:rPr>
              <a:t>What happens without one</a:t>
            </a:r>
            <a:endParaRPr lang="en-US" sz="1700" dirty="0"/>
          </a:p>
          <a:p>
            <a:pPr indent="0" marL="0">
              <a:lnSpc>
                <a:spcPct val="106000"/>
              </a:lnSpc>
              <a:buNone/>
            </a:pPr>
            <a:r>
              <a:rPr lang="en-US" sz="1700" dirty="0">
                <a:solidFill>
                  <a:srgbClr val="1E2A36"/>
                </a:solidFill>
                <a:latin typeface="Calibri" pitchFamily="34" charset="0"/>
                <a:ea typeface="Calibri" pitchFamily="34" charset="-122"/>
                <a:cs typeface="Calibri" pitchFamily="34" charset="-120"/>
              </a:rPr>
              <a:t>Contributor-readiness on CP11 caps at Developing, however good the rest is.</a:t>
            </a:r>
            <a:endParaRPr lang="en-US" sz="1700" dirty="0"/>
          </a:p>
        </p:txBody>
      </p:sp>
      <p:sp>
        <p:nvSpPr>
          <p:cNvPr id="13" name="Text 1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23 · Built to Be Joined</a:t>
            </a:r>
            <a:endParaRPr lang="en-US" sz="1000" dirty="0"/>
          </a:p>
        </p:txBody>
      </p:sp>
      <p:sp>
        <p:nvSpPr>
          <p:cNvPr id="14"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9</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7"/>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2" presetID="1"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TECHNICAL DEBT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Debt isn't shameful. Undocumented debt is.</a:t>
            </a:r>
            <a:endParaRPr lang="en-US" sz="3100" dirty="0"/>
          </a:p>
        </p:txBody>
      </p:sp>
      <p:sp>
        <p:nvSpPr>
          <p:cNvPr id="5" name="Shape 3"/>
          <p:cNvSpPr/>
          <p:nvPr/>
        </p:nvSpPr>
        <p:spPr>
          <a:xfrm>
            <a:off x="548640" y="1783080"/>
            <a:ext cx="11064240" cy="822960"/>
          </a:xfrm>
          <a:prstGeom prst="roundRect">
            <a:avLst>
              <a:gd name="adj" fmla="val 100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1956816"/>
            <a:ext cx="475488" cy="475488"/>
          </a:xfrm>
          <a:prstGeom prst="ellipse">
            <a:avLst/>
          </a:prstGeom>
          <a:solidFill>
            <a:srgbClr val="12908F"/>
          </a:solidFill>
          <a:ln/>
        </p:spPr>
      </p:sp>
      <p:sp>
        <p:nvSpPr>
          <p:cNvPr id="7" name="Text 5"/>
          <p:cNvSpPr/>
          <p:nvPr/>
        </p:nvSpPr>
        <p:spPr>
          <a:xfrm>
            <a:off x="777240" y="195681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463040" y="1783080"/>
            <a:ext cx="9966960" cy="822960"/>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Throwaway corners: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the mocks, hardcoded settings, and stand-ins you labeled in Week 10</a:t>
            </a:r>
            <a:endParaRPr lang="en-US" sz="1700" dirty="0"/>
          </a:p>
        </p:txBody>
      </p:sp>
      <p:sp>
        <p:nvSpPr>
          <p:cNvPr id="9" name="Shape 7"/>
          <p:cNvSpPr/>
          <p:nvPr/>
        </p:nvSpPr>
        <p:spPr>
          <a:xfrm>
            <a:off x="548640" y="2743200"/>
            <a:ext cx="11064240" cy="822960"/>
          </a:xfrm>
          <a:prstGeom prst="roundRect">
            <a:avLst>
              <a:gd name="adj" fmla="val 10000"/>
            </a:avLst>
          </a:prstGeom>
          <a:solidFill>
            <a:srgbClr val="F2F6F8"/>
          </a:solidFill>
          <a:ln/>
          <a:effectLst>
            <a:outerShdw sx="100000" sy="100000" kx="0" ky="0" algn="bl" rotWithShape="0" blurRad="88900" dist="38100" dir="5400000">
              <a:srgbClr val="000000">
                <a:alpha val="13000"/>
              </a:srgbClr>
            </a:outerShdw>
          </a:effectLst>
        </p:spPr>
      </p:sp>
      <p:sp>
        <p:nvSpPr>
          <p:cNvPr id="10" name="Shape 8"/>
          <p:cNvSpPr/>
          <p:nvPr/>
        </p:nvSpPr>
        <p:spPr>
          <a:xfrm>
            <a:off x="777240" y="2916936"/>
            <a:ext cx="475488" cy="475488"/>
          </a:xfrm>
          <a:prstGeom prst="ellipse">
            <a:avLst/>
          </a:prstGeom>
          <a:solidFill>
            <a:srgbClr val="12908F"/>
          </a:solidFill>
          <a:ln/>
        </p:spPr>
      </p:sp>
      <p:sp>
        <p:nvSpPr>
          <p:cNvPr id="11" name="Text 9"/>
          <p:cNvSpPr/>
          <p:nvPr/>
        </p:nvSpPr>
        <p:spPr>
          <a:xfrm>
            <a:off x="777240" y="291693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463040" y="2743200"/>
            <a:ext cx="9966960" cy="822960"/>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Deliberate cuts: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what you dropped to make the demo, and why</a:t>
            </a:r>
            <a:endParaRPr lang="en-US" sz="1700" dirty="0"/>
          </a:p>
        </p:txBody>
      </p:sp>
      <p:sp>
        <p:nvSpPr>
          <p:cNvPr id="13" name="Shape 11"/>
          <p:cNvSpPr/>
          <p:nvPr/>
        </p:nvSpPr>
        <p:spPr>
          <a:xfrm>
            <a:off x="548640" y="3703320"/>
            <a:ext cx="11064240" cy="822960"/>
          </a:xfrm>
          <a:prstGeom prst="roundRect">
            <a:avLst>
              <a:gd name="adj" fmla="val 10000"/>
            </a:avLst>
          </a:prstGeom>
          <a:solidFill>
            <a:srgbClr val="F2F6F8"/>
          </a:solidFill>
          <a:ln/>
          <a:effectLst>
            <a:outerShdw sx="100000" sy="100000" kx="0" ky="0" algn="bl" rotWithShape="0" blurRad="88900" dist="38100" dir="5400000">
              <a:srgbClr val="000000">
                <a:alpha val="13000"/>
              </a:srgbClr>
            </a:outerShdw>
          </a:effectLst>
        </p:spPr>
      </p:sp>
      <p:sp>
        <p:nvSpPr>
          <p:cNvPr id="14" name="Shape 12"/>
          <p:cNvSpPr/>
          <p:nvPr/>
        </p:nvSpPr>
        <p:spPr>
          <a:xfrm>
            <a:off x="777240" y="3877056"/>
            <a:ext cx="475488" cy="475488"/>
          </a:xfrm>
          <a:prstGeom prst="ellipse">
            <a:avLst/>
          </a:prstGeom>
          <a:solidFill>
            <a:srgbClr val="12908F"/>
          </a:solidFill>
          <a:ln/>
        </p:spPr>
      </p:sp>
      <p:sp>
        <p:nvSpPr>
          <p:cNvPr id="15" name="Text 13"/>
          <p:cNvSpPr/>
          <p:nvPr/>
        </p:nvSpPr>
        <p:spPr>
          <a:xfrm>
            <a:off x="777240" y="387705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1463040" y="3703320"/>
            <a:ext cx="9966960" cy="822960"/>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Unfixed findings: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whatever the audit or the onboarding test turned up that you haven't fixed</a:t>
            </a:r>
            <a:endParaRPr lang="en-US" sz="1700" dirty="0"/>
          </a:p>
        </p:txBody>
      </p:sp>
      <p:sp>
        <p:nvSpPr>
          <p:cNvPr id="17" name="Shape 15"/>
          <p:cNvSpPr/>
          <p:nvPr/>
        </p:nvSpPr>
        <p:spPr>
          <a:xfrm>
            <a:off x="548640" y="4800600"/>
            <a:ext cx="11064240" cy="1325880"/>
          </a:xfrm>
          <a:prstGeom prst="roundRect">
            <a:avLst>
              <a:gd name="adj" fmla="val 6207"/>
            </a:avLst>
          </a:prstGeom>
          <a:solidFill>
            <a:srgbClr val="14233A"/>
          </a:solidFill>
          <a:ln/>
          <a:effectLst>
            <a:outerShdw sx="100000" sy="100000" kx="0" ky="0" algn="bl" rotWithShape="0" blurRad="88900" dist="38100" dir="5400000">
              <a:srgbClr val="000000">
                <a:alpha val="13000"/>
              </a:srgbClr>
            </a:outerShdw>
          </a:effectLst>
        </p:spPr>
      </p:sp>
      <p:sp>
        <p:nvSpPr>
          <p:cNvPr id="18" name="Text 16"/>
          <p:cNvSpPr/>
          <p:nvPr/>
        </p:nvSpPr>
        <p:spPr>
          <a:xfrm>
            <a:off x="868680" y="4800600"/>
            <a:ext cx="10424160" cy="1325880"/>
          </a:xfrm>
          <a:prstGeom prst="rect">
            <a:avLst/>
          </a:prstGeom>
          <a:noFill/>
          <a:ln/>
        </p:spPr>
        <p:txBody>
          <a:bodyPr wrap="square" lIns="0" tIns="0" rIns="0" bIns="0" rtlCol="0" anchor="ctr"/>
          <a:lstStyle/>
          <a:p>
            <a:pPr indent="0" marL="0">
              <a:lnSpc>
                <a:spcPct val="105000"/>
              </a:lnSpc>
              <a:buNone/>
            </a:pPr>
            <a:r>
              <a:rPr lang="en-US" sz="1700" b="1" dirty="0">
                <a:solidFill>
                  <a:srgbClr val="E8A33D"/>
                </a:solidFill>
                <a:latin typeface="Calibri" pitchFamily="34" charset="0"/>
                <a:ea typeface="Calibri" pitchFamily="34" charset="-122"/>
                <a:cs typeface="Calibri" pitchFamily="34" charset="-120"/>
              </a:rPr>
              <a:t>Every entry:  </a:t>
            </a:r>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what happens, when it bites, any workaround, and the issue that tracks it. An honest log tells a newcomer what's real, which is why it's a joinability feature, not a confession.</a:t>
            </a:r>
            <a:endParaRPr lang="en-US" sz="1700" dirty="0"/>
          </a:p>
        </p:txBody>
      </p:sp>
      <p:sp>
        <p:nvSpPr>
          <p:cNvPr id="19" name="Text 1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23 · Built to Be Joined</a:t>
            </a:r>
            <a:endParaRPr lang="en-US" sz="1000" dirty="0"/>
          </a:p>
        </p:txBody>
      </p:sp>
      <p:sp>
        <p:nvSpPr>
          <p:cNvPr id="20" name="Text 1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LAUNCH PACKAGE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Assembly and honesty, not new invention</a:t>
            </a:r>
            <a:endParaRPr lang="en-US" sz="3100" dirty="0"/>
          </a:p>
        </p:txBody>
      </p:sp>
      <p:sp>
        <p:nvSpPr>
          <p:cNvPr id="5" name="Text 3"/>
          <p:cNvSpPr/>
          <p:nvPr/>
        </p:nvSpPr>
        <p:spPr>
          <a:xfrm>
            <a:off x="548640" y="1691640"/>
            <a:ext cx="11064240" cy="320040"/>
          </a:xfrm>
          <a:prstGeom prst="rect">
            <a:avLst/>
          </a:prstGeom>
          <a:noFill/>
          <a:ln/>
        </p:spPr>
        <p:txBody>
          <a:bodyPr wrap="square" lIns="0" tIns="0" rIns="0" bIns="0" rtlCol="0" anchor="ctr"/>
          <a:lstStyle/>
          <a:p>
            <a:pPr indent="0" marL="0">
              <a:buNone/>
            </a:pPr>
            <a:r>
              <a:rPr lang="en-US" sz="1400" b="1" spc="100" kern="0" dirty="0">
                <a:solidFill>
                  <a:srgbClr val="5F7284"/>
                </a:solidFill>
                <a:latin typeface="Calibri" pitchFamily="34" charset="0"/>
                <a:ea typeface="Calibri" pitchFamily="34" charset="-122"/>
                <a:cs typeface="Calibri" pitchFamily="34" charset="-120"/>
              </a:rPr>
              <a:t>FOR EACH, MARK:  EXISTS · NEEDS REFRESH · NEEDS WRITING</a:t>
            </a:r>
            <a:endParaRPr lang="en-US" sz="1400" dirty="0"/>
          </a:p>
        </p:txBody>
      </p:sp>
      <p:sp>
        <p:nvSpPr>
          <p:cNvPr id="6" name="Shape 4"/>
          <p:cNvSpPr/>
          <p:nvPr/>
        </p:nvSpPr>
        <p:spPr>
          <a:xfrm>
            <a:off x="548640" y="2103120"/>
            <a:ext cx="5440680" cy="1170432"/>
          </a:xfrm>
          <a:prstGeom prst="roundRect">
            <a:avLst>
              <a:gd name="adj" fmla="val 7031"/>
            </a:avLst>
          </a:prstGeom>
          <a:solidFill>
            <a:srgbClr val="F2F6F8"/>
          </a:solidFill>
          <a:ln/>
          <a:effectLst>
            <a:outerShdw sx="100000" sy="100000" kx="0" ky="0" algn="bl" rotWithShape="0" blurRad="88900" dist="38100" dir="5400000">
              <a:srgbClr val="000000">
                <a:alpha val="13000"/>
              </a:srgbClr>
            </a:outerShdw>
          </a:effectLst>
        </p:spPr>
      </p:sp>
      <p:sp>
        <p:nvSpPr>
          <p:cNvPr id="7" name="Text 5"/>
          <p:cNvSpPr/>
          <p:nvPr/>
        </p:nvSpPr>
        <p:spPr>
          <a:xfrm>
            <a:off x="822960" y="2103120"/>
            <a:ext cx="4937760" cy="117043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Architecture overview</a:t>
            </a:r>
            <a:endParaRPr lang="en-US" sz="1800" dirty="0"/>
          </a:p>
          <a:p>
            <a:pPr indent="0" marL="0">
              <a:buNone/>
            </a:pPr>
            <a:r>
              <a:rPr lang="en-US" sz="1600" dirty="0">
                <a:solidFill>
                  <a:srgbClr val="5F7284"/>
                </a:solidFill>
                <a:latin typeface="Calibri" pitchFamily="34" charset="0"/>
                <a:ea typeface="Calibri" pitchFamily="34" charset="-122"/>
                <a:cs typeface="Calibri" pitchFamily="34" charset="-120"/>
              </a:rPr>
              <a:t>Your design diagrams, redrawn as built</a:t>
            </a:r>
            <a:endParaRPr lang="en-US" sz="1800" dirty="0"/>
          </a:p>
        </p:txBody>
      </p:sp>
      <p:sp>
        <p:nvSpPr>
          <p:cNvPr id="8" name="Shape 6"/>
          <p:cNvSpPr/>
          <p:nvPr/>
        </p:nvSpPr>
        <p:spPr>
          <a:xfrm>
            <a:off x="6172200" y="2103120"/>
            <a:ext cx="5440680" cy="1170432"/>
          </a:xfrm>
          <a:prstGeom prst="roundRect">
            <a:avLst>
              <a:gd name="adj" fmla="val 7031"/>
            </a:avLst>
          </a:prstGeom>
          <a:solidFill>
            <a:srgbClr val="F2F6F8"/>
          </a:solidFill>
          <a:ln/>
          <a:effectLst>
            <a:outerShdw sx="100000" sy="100000" kx="0" ky="0" algn="bl" rotWithShape="0" blurRad="88900" dist="38100" dir="5400000">
              <a:srgbClr val="000000">
                <a:alpha val="13000"/>
              </a:srgbClr>
            </a:outerShdw>
          </a:effectLst>
        </p:spPr>
      </p:sp>
      <p:sp>
        <p:nvSpPr>
          <p:cNvPr id="9" name="Text 7"/>
          <p:cNvSpPr/>
          <p:nvPr/>
        </p:nvSpPr>
        <p:spPr>
          <a:xfrm>
            <a:off x="6446520" y="2103120"/>
            <a:ext cx="4937760" cy="117043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Setup verification</a:t>
            </a:r>
            <a:endParaRPr lang="en-US" sz="1800" dirty="0"/>
          </a:p>
          <a:p>
            <a:pPr indent="0" marL="0">
              <a:buNone/>
            </a:pPr>
            <a:r>
              <a:rPr lang="en-US" sz="1600" dirty="0">
                <a:solidFill>
                  <a:srgbClr val="5F7284"/>
                </a:solidFill>
                <a:latin typeface="Calibri" pitchFamily="34" charset="0"/>
                <a:ea typeface="Calibri" pitchFamily="34" charset="-122"/>
                <a:cs typeface="Calibri" pitchFamily="34" charset="-120"/>
              </a:rPr>
              <a:t>Your setup guide, passed by a fresh tester on Dec 2</a:t>
            </a:r>
            <a:endParaRPr lang="en-US" sz="1800" dirty="0"/>
          </a:p>
        </p:txBody>
      </p:sp>
      <p:sp>
        <p:nvSpPr>
          <p:cNvPr id="10" name="Shape 8"/>
          <p:cNvSpPr/>
          <p:nvPr/>
        </p:nvSpPr>
        <p:spPr>
          <a:xfrm>
            <a:off x="548640" y="3429000"/>
            <a:ext cx="5440680" cy="1170432"/>
          </a:xfrm>
          <a:prstGeom prst="roundRect">
            <a:avLst>
              <a:gd name="adj" fmla="val 7031"/>
            </a:avLst>
          </a:prstGeom>
          <a:solidFill>
            <a:srgbClr val="F2F6F8"/>
          </a:solidFill>
          <a:ln/>
          <a:effectLst>
            <a:outerShdw sx="100000" sy="100000" kx="0" ky="0" algn="bl" rotWithShape="0" blurRad="88900" dist="38100" dir="5400000">
              <a:srgbClr val="000000">
                <a:alpha val="13000"/>
              </a:srgbClr>
            </a:outerShdw>
          </a:effectLst>
        </p:spPr>
      </p:sp>
      <p:sp>
        <p:nvSpPr>
          <p:cNvPr id="11" name="Text 9"/>
          <p:cNvSpPr/>
          <p:nvPr/>
        </p:nvSpPr>
        <p:spPr>
          <a:xfrm>
            <a:off x="822960" y="3429000"/>
            <a:ext cx="4937760" cy="117043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Roadmap</a:t>
            </a:r>
            <a:endParaRPr lang="en-US" sz="1800" dirty="0"/>
          </a:p>
          <a:p>
            <a:pPr indent="0" marL="0">
              <a:buNone/>
            </a:pPr>
            <a:r>
              <a:rPr lang="en-US" sz="1600" dirty="0">
                <a:solidFill>
                  <a:srgbClr val="5F7284"/>
                </a:solidFill>
                <a:latin typeface="Calibri" pitchFamily="34" charset="0"/>
                <a:ea typeface="Calibri" pitchFamily="34" charset="-122"/>
                <a:cs typeface="Calibri" pitchFamily="34" charset="-120"/>
              </a:rPr>
              <a:t>Beyond December, framed as an invitation</a:t>
            </a:r>
            <a:endParaRPr lang="en-US" sz="1800" dirty="0"/>
          </a:p>
        </p:txBody>
      </p:sp>
      <p:sp>
        <p:nvSpPr>
          <p:cNvPr id="12" name="Shape 10"/>
          <p:cNvSpPr/>
          <p:nvPr/>
        </p:nvSpPr>
        <p:spPr>
          <a:xfrm>
            <a:off x="6172200" y="3429000"/>
            <a:ext cx="5440680" cy="1170432"/>
          </a:xfrm>
          <a:prstGeom prst="roundRect">
            <a:avLst>
              <a:gd name="adj" fmla="val 7031"/>
            </a:avLst>
          </a:prstGeom>
          <a:solidFill>
            <a:srgbClr val="F2F6F8"/>
          </a:solidFill>
          <a:ln/>
          <a:effectLst>
            <a:outerShdw sx="100000" sy="100000" kx="0" ky="0" algn="bl" rotWithShape="0" blurRad="88900" dist="38100" dir="5400000">
              <a:srgbClr val="000000">
                <a:alpha val="13000"/>
              </a:srgbClr>
            </a:outerShdw>
          </a:effectLst>
        </p:spPr>
      </p:sp>
      <p:sp>
        <p:nvSpPr>
          <p:cNvPr id="13" name="Text 11"/>
          <p:cNvSpPr/>
          <p:nvPr/>
        </p:nvSpPr>
        <p:spPr>
          <a:xfrm>
            <a:off x="6446520" y="3429000"/>
            <a:ext cx="4937760" cy="117043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Known issues and tech debt</a:t>
            </a:r>
            <a:endParaRPr lang="en-US" sz="1800" dirty="0"/>
          </a:p>
          <a:p>
            <a:pPr indent="0" marL="0">
              <a:buNone/>
            </a:pPr>
            <a:r>
              <a:rPr lang="en-US" sz="1600" dirty="0">
                <a:solidFill>
                  <a:srgbClr val="5F7284"/>
                </a:solidFill>
                <a:latin typeface="Calibri" pitchFamily="34" charset="0"/>
                <a:ea typeface="Calibri" pitchFamily="34" charset="-122"/>
                <a:cs typeface="Calibri" pitchFamily="34" charset="-120"/>
              </a:rPr>
              <a:t>One log: corners, cuts, open findings</a:t>
            </a:r>
            <a:endParaRPr lang="en-US" sz="1800" dirty="0"/>
          </a:p>
        </p:txBody>
      </p:sp>
      <p:sp>
        <p:nvSpPr>
          <p:cNvPr id="14" name="Shape 12"/>
          <p:cNvSpPr/>
          <p:nvPr/>
        </p:nvSpPr>
        <p:spPr>
          <a:xfrm>
            <a:off x="548640" y="4754880"/>
            <a:ext cx="5440680" cy="1170432"/>
          </a:xfrm>
          <a:prstGeom prst="roundRect">
            <a:avLst>
              <a:gd name="adj" fmla="val 7031"/>
            </a:avLst>
          </a:prstGeom>
          <a:solidFill>
            <a:srgbClr val="F2F6F8"/>
          </a:solidFill>
          <a:ln/>
          <a:effectLst>
            <a:outerShdw sx="100000" sy="100000" kx="0" ky="0" algn="bl" rotWithShape="0" blurRad="88900" dist="38100" dir="5400000">
              <a:srgbClr val="000000">
                <a:alpha val="13000"/>
              </a:srgbClr>
            </a:outerShdw>
          </a:effectLst>
        </p:spPr>
      </p:sp>
      <p:sp>
        <p:nvSpPr>
          <p:cNvPr id="15" name="Text 13"/>
          <p:cNvSpPr/>
          <p:nvPr/>
        </p:nvSpPr>
        <p:spPr>
          <a:xfrm>
            <a:off x="822960" y="4754880"/>
            <a:ext cx="4937760" cy="117043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Onboarding guide</a:t>
            </a:r>
            <a:endParaRPr lang="en-US" sz="1800" dirty="0"/>
          </a:p>
          <a:p>
            <a:pPr indent="0" marL="0">
              <a:buNone/>
            </a:pPr>
            <a:r>
              <a:rPr lang="en-US" sz="1600" dirty="0">
                <a:solidFill>
                  <a:srgbClr val="5F7284"/>
                </a:solidFill>
                <a:latin typeface="Calibri" pitchFamily="34" charset="0"/>
                <a:ea typeface="Calibri" pitchFamily="34" charset="-122"/>
                <a:cs typeface="Calibri" pitchFamily="34" charset="-120"/>
              </a:rPr>
              <a:t>The five needs, answered in one place</a:t>
            </a:r>
            <a:endParaRPr lang="en-US" sz="1800" dirty="0"/>
          </a:p>
        </p:txBody>
      </p:sp>
      <p:sp>
        <p:nvSpPr>
          <p:cNvPr id="16" name="Shape 14"/>
          <p:cNvSpPr/>
          <p:nvPr/>
        </p:nvSpPr>
        <p:spPr>
          <a:xfrm>
            <a:off x="6172200" y="4754880"/>
            <a:ext cx="5440680" cy="1170432"/>
          </a:xfrm>
          <a:prstGeom prst="roundRect">
            <a:avLst>
              <a:gd name="adj" fmla="val 7031"/>
            </a:avLst>
          </a:prstGeom>
          <a:solidFill>
            <a:srgbClr val="F2F6F8"/>
          </a:solidFill>
          <a:ln/>
          <a:effectLst>
            <a:outerShdw sx="100000" sy="100000" kx="0" ky="0" algn="bl" rotWithShape="0" blurRad="88900" dist="38100" dir="5400000">
              <a:srgbClr val="000000">
                <a:alpha val="13000"/>
              </a:srgbClr>
            </a:outerShdw>
          </a:effectLst>
        </p:spPr>
      </p:sp>
      <p:sp>
        <p:nvSpPr>
          <p:cNvPr id="17" name="Text 15"/>
          <p:cNvSpPr/>
          <p:nvPr/>
        </p:nvSpPr>
        <p:spPr>
          <a:xfrm>
            <a:off x="6446520" y="4754880"/>
            <a:ext cx="4937760" cy="117043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A test a newcomer can run</a:t>
            </a:r>
            <a:endParaRPr lang="en-US" sz="1800" dirty="0"/>
          </a:p>
          <a:p>
            <a:pPr indent="0" marL="0">
              <a:buNone/>
            </a:pPr>
            <a:r>
              <a:rPr lang="en-US" sz="1600" dirty="0">
                <a:solidFill>
                  <a:srgbClr val="5F7284"/>
                </a:solidFill>
                <a:latin typeface="Calibri" pitchFamily="34" charset="0"/>
                <a:ea typeface="Calibri" pitchFamily="34" charset="-122"/>
                <a:cs typeface="Calibri" pitchFamily="34" charset="-120"/>
              </a:rPr>
              <a:t>The testing floor</a:t>
            </a:r>
            <a:endParaRPr lang="en-US" sz="1800" dirty="0"/>
          </a:p>
        </p:txBody>
      </p:sp>
      <p:sp>
        <p:nvSpPr>
          <p:cNvPr id="18" name="Text 16"/>
          <p:cNvSpPr/>
          <p:nvPr/>
        </p:nvSpPr>
        <p:spPr>
          <a:xfrm>
            <a:off x="548640" y="5943600"/>
            <a:ext cx="11064240" cy="365760"/>
          </a:xfrm>
          <a:prstGeom prst="rect">
            <a:avLst/>
          </a:prstGeom>
          <a:noFill/>
          <a:ln/>
        </p:spPr>
        <p:txBody>
          <a:bodyPr wrap="square" lIns="0" tIns="0" rIns="0" bIns="0" rtlCol="0" anchor="ctr"/>
          <a:lstStyle/>
          <a:p>
            <a:pPr indent="0" marL="0">
              <a:buNone/>
            </a:pPr>
            <a:r>
              <a:rPr lang="en-US" sz="1700" b="1" i="1" dirty="0">
                <a:solidFill>
                  <a:srgbClr val="0E6E6D"/>
                </a:solidFill>
                <a:latin typeface="Calibri" pitchFamily="34" charset="0"/>
                <a:ea typeface="Calibri" pitchFamily="34" charset="-122"/>
                <a:cs typeface="Calibri" pitchFamily="34" charset="-120"/>
              </a:rPr>
              <a:t>Each piece traces to something you already have in draft. CP11 is due Dec 2.</a:t>
            </a:r>
            <a:endParaRPr lang="en-US" sz="1700" dirty="0"/>
          </a:p>
        </p:txBody>
      </p:sp>
      <p:sp>
        <p:nvSpPr>
          <p:cNvPr id="19" name="Text 1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23 · Built to Be Joined</a:t>
            </a:r>
            <a:endParaRPr lang="en-US" sz="1000" dirty="0"/>
          </a:p>
        </p:txBody>
      </p:sp>
      <p:sp>
        <p:nvSpPr>
          <p:cNvPr id="20" name="Text 1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CONTRIBUTOR-READINESS CHECKLIST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One page, two uses</a:t>
            </a:r>
            <a:endParaRPr lang="en-US" sz="3100" dirty="0"/>
          </a:p>
        </p:txBody>
      </p:sp>
      <p:sp>
        <p:nvSpPr>
          <p:cNvPr id="5" name="Shape 3"/>
          <p:cNvSpPr/>
          <p:nvPr/>
        </p:nvSpPr>
        <p:spPr>
          <a:xfrm>
            <a:off x="548640" y="1783080"/>
            <a:ext cx="5440680"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011680"/>
            <a:ext cx="594360" cy="59436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83437" y="2172157"/>
            <a:ext cx="273406" cy="273406"/>
          </a:xfrm>
          <a:prstGeom prst="rect">
            <a:avLst/>
          </a:prstGeom>
        </p:spPr>
      </p:pic>
      <p:sp>
        <p:nvSpPr>
          <p:cNvPr id="8" name="Text 5"/>
          <p:cNvSpPr/>
          <p:nvPr/>
        </p:nvSpPr>
        <p:spPr>
          <a:xfrm>
            <a:off x="1600200" y="2011680"/>
            <a:ext cx="4206240" cy="59436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Today: a self-check</a:t>
            </a:r>
            <a:endParaRPr lang="en-US" sz="2000" dirty="0"/>
          </a:p>
        </p:txBody>
      </p:sp>
      <p:sp>
        <p:nvSpPr>
          <p:cNvPr id="9" name="Text 6"/>
          <p:cNvSpPr/>
          <p:nvPr/>
        </p:nvSpPr>
        <p:spPr>
          <a:xfrm>
            <a:off x="822960" y="2788920"/>
            <a:ext cx="4892040" cy="1188720"/>
          </a:xfrm>
          <a:prstGeom prst="rect">
            <a:avLst/>
          </a:prstGeom>
          <a:noFill/>
          <a:ln/>
        </p:spPr>
        <p:txBody>
          <a:bodyPr wrap="square" lIns="0" tIns="0" rIns="0" bIns="0" rtlCol="0" anchor="t"/>
          <a:lstStyle/>
          <a:p>
            <a:pPr indent="0" marL="0">
              <a:buNone/>
            </a:pPr>
            <a:r>
              <a:rPr lang="en-US" sz="1700" dirty="0">
                <a:solidFill>
                  <a:srgbClr val="1E2A36"/>
                </a:solidFill>
                <a:latin typeface="Calibri" pitchFamily="34" charset="0"/>
                <a:ea typeface="Calibri" pitchFamily="34" charset="-122"/>
                <a:cs typeface="Calibri" pitchFamily="34" charset="-120"/>
              </a:rPr>
              <a:t>Mark your own project against the five needs, honestly. Every stall or fail goes on your punch list.</a:t>
            </a:r>
            <a:endParaRPr lang="en-US" sz="1700" dirty="0"/>
          </a:p>
        </p:txBody>
      </p:sp>
      <p:sp>
        <p:nvSpPr>
          <p:cNvPr id="10" name="Shape 7"/>
          <p:cNvSpPr/>
          <p:nvPr/>
        </p:nvSpPr>
        <p:spPr>
          <a:xfrm>
            <a:off x="6172200" y="1783080"/>
            <a:ext cx="5440680"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011680"/>
            <a:ext cx="594360" cy="594360"/>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6606997" y="2172157"/>
            <a:ext cx="273406" cy="273406"/>
          </a:xfrm>
          <a:prstGeom prst="rect">
            <a:avLst/>
          </a:prstGeom>
        </p:spPr>
      </p:pic>
      <p:sp>
        <p:nvSpPr>
          <p:cNvPr id="13" name="Text 9"/>
          <p:cNvSpPr/>
          <p:nvPr/>
        </p:nvSpPr>
        <p:spPr>
          <a:xfrm>
            <a:off x="7223760" y="2011680"/>
            <a:ext cx="4206240" cy="59436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Dec 2: the test script</a:t>
            </a:r>
            <a:endParaRPr lang="en-US" sz="2000" dirty="0"/>
          </a:p>
        </p:txBody>
      </p:sp>
      <p:sp>
        <p:nvSpPr>
          <p:cNvPr id="14" name="Text 10"/>
          <p:cNvSpPr/>
          <p:nvPr/>
        </p:nvSpPr>
        <p:spPr>
          <a:xfrm>
            <a:off x="6446520" y="2788920"/>
            <a:ext cx="4892040" cy="1188720"/>
          </a:xfrm>
          <a:prstGeom prst="rect">
            <a:avLst/>
          </a:prstGeom>
          <a:noFill/>
          <a:ln/>
        </p:spPr>
        <p:txBody>
          <a:bodyPr wrap="square" lIns="0" tIns="0" rIns="0" bIns="0" rtlCol="0" anchor="t"/>
          <a:lstStyle/>
          <a:p>
            <a:pPr indent="0" marL="0">
              <a:buNone/>
            </a:pPr>
            <a:r>
              <a:rPr lang="en-US" sz="1700" dirty="0">
                <a:solidFill>
                  <a:srgbClr val="1E2A36"/>
                </a:solidFill>
                <a:latin typeface="Calibri" pitchFamily="34" charset="0"/>
                <a:ea typeface="Calibri" pitchFamily="34" charset="-122"/>
                <a:cs typeface="Calibri" pitchFamily="34" charset="-120"/>
              </a:rPr>
              <a:t>A classmate who's never seen your project works through it cold and signs it. That's CP11's evidence.</a:t>
            </a:r>
            <a:endParaRPr lang="en-US" sz="1700" dirty="0"/>
          </a:p>
        </p:txBody>
      </p:sp>
      <p:sp>
        <p:nvSpPr>
          <p:cNvPr id="15" name="Shape 11"/>
          <p:cNvSpPr/>
          <p:nvPr/>
        </p:nvSpPr>
        <p:spPr>
          <a:xfrm>
            <a:off x="548640" y="4343400"/>
            <a:ext cx="11064240" cy="868680"/>
          </a:xfrm>
          <a:prstGeom prst="roundRect">
            <a:avLst>
              <a:gd name="adj" fmla="val 9474"/>
            </a:avLst>
          </a:prstGeom>
          <a:solidFill>
            <a:srgbClr val="F2F6F8"/>
          </a:solidFill>
          <a:ln/>
          <a:effectLst>
            <a:outerShdw sx="100000" sy="100000" kx="0" ky="0" algn="bl" rotWithShape="0" blurRad="88900" dist="38100" dir="5400000">
              <a:srgbClr val="000000">
                <a:alpha val="13000"/>
              </a:srgbClr>
            </a:outerShdw>
          </a:effectLst>
        </p:spPr>
      </p:sp>
      <p:sp>
        <p:nvSpPr>
          <p:cNvPr id="16" name="Text 12"/>
          <p:cNvSpPr/>
          <p:nvPr/>
        </p:nvSpPr>
        <p:spPr>
          <a:xfrm>
            <a:off x="868680" y="4343400"/>
            <a:ext cx="10424160" cy="868680"/>
          </a:xfrm>
          <a:prstGeom prst="rect">
            <a:avLst/>
          </a:prstGeom>
          <a:noFill/>
          <a:ln/>
        </p:spPr>
        <p:txBody>
          <a:bodyPr wrap="square" lIns="0" tIns="0" rIns="0" bIns="0" rtlCol="0" anchor="ctr"/>
          <a:lstStyle/>
          <a:p>
            <a:pPr indent="0" marL="0">
              <a:lnSpc>
                <a:spcPct val="104000"/>
              </a:lnSpc>
              <a:buNone/>
            </a:pPr>
            <a:r>
              <a:rPr lang="en-US" sz="1700" b="1" dirty="0">
                <a:solidFill>
                  <a:srgbClr val="0E6E6D"/>
                </a:solidFill>
                <a:latin typeface="Calibri" pitchFamily="34" charset="0"/>
                <a:ea typeface="Calibri" pitchFamily="34" charset="-122"/>
                <a:cs typeface="Calibri" pitchFamily="34" charset="-120"/>
              </a:rPr>
              <a:t>Under the hood:  </a:t>
            </a:r>
            <a:pPr indent="0" marL="0">
              <a:lnSpc>
                <a:spcPct val="104000"/>
              </a:lnSpc>
              <a:buNone/>
            </a:pPr>
            <a:r>
              <a:rPr lang="en-US" sz="1700" dirty="0">
                <a:solidFill>
                  <a:srgbClr val="1E2A36"/>
                </a:solidFill>
                <a:latin typeface="Calibri" pitchFamily="34" charset="0"/>
                <a:ea typeface="Calibri" pitchFamily="34" charset="-122"/>
                <a:cs typeface="Calibri" pitchFamily="34" charset="-120"/>
              </a:rPr>
              <a:t>the test, the known-issues log, an architecture that matches, a roadmap, promises you'll keep.</a:t>
            </a:r>
            <a:endParaRPr lang="en-US" sz="1700" dirty="0"/>
          </a:p>
        </p:txBody>
      </p:sp>
      <p:sp>
        <p:nvSpPr>
          <p:cNvPr id="17" name="Shape 13"/>
          <p:cNvSpPr/>
          <p:nvPr/>
        </p:nvSpPr>
        <p:spPr>
          <a:xfrm>
            <a:off x="548640" y="5349240"/>
            <a:ext cx="11064240" cy="822960"/>
          </a:xfrm>
          <a:prstGeom prst="roundRect">
            <a:avLst>
              <a:gd name="adj" fmla="val 10000"/>
            </a:avLst>
          </a:prstGeom>
          <a:solidFill>
            <a:srgbClr val="E8A33D"/>
          </a:solidFill>
          <a:ln/>
          <a:effectLst>
            <a:outerShdw sx="100000" sy="100000" kx="0" ky="0" algn="bl" rotWithShape="0" blurRad="88900" dist="38100" dir="5400000">
              <a:srgbClr val="000000">
                <a:alpha val="13000"/>
              </a:srgbClr>
            </a:outerShdw>
          </a:effectLst>
        </p:spPr>
      </p:sp>
      <p:sp>
        <p:nvSpPr>
          <p:cNvPr id="18" name="Text 14"/>
          <p:cNvSpPr/>
          <p:nvPr/>
        </p:nvSpPr>
        <p:spPr>
          <a:xfrm>
            <a:off x="868680" y="5349240"/>
            <a:ext cx="10424160" cy="82296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Since the audit:  </a:t>
            </a:r>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before Dec 2, write your two worst audit stalls. The tester checks each one.</a:t>
            </a:r>
            <a:endParaRPr lang="en-US" sz="1700" dirty="0"/>
          </a:p>
        </p:txBody>
      </p:sp>
      <p:sp>
        <p:nvSpPr>
          <p:cNvPr id="19" name="Text 1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23 · Built to Be Joined</a:t>
            </a:r>
            <a:endParaRPr lang="en-US" sz="1000" dirty="0"/>
          </a:p>
        </p:txBody>
      </p:sp>
      <p:sp>
        <p:nvSpPr>
          <p:cNvPr id="20" name="Text 1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WORKSHOP · 25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One launch punch list, in your tracker</a:t>
            </a:r>
            <a:endParaRPr lang="en-US" sz="3200" dirty="0"/>
          </a:p>
        </p:txBody>
      </p:sp>
      <p:sp>
        <p:nvSpPr>
          <p:cNvPr id="6" name="Shape 4"/>
          <p:cNvSpPr/>
          <p:nvPr/>
        </p:nvSpPr>
        <p:spPr>
          <a:xfrm>
            <a:off x="548640" y="1783080"/>
            <a:ext cx="11064240" cy="731520"/>
          </a:xfrm>
          <a:prstGeom prst="roundRect">
            <a:avLst>
              <a:gd name="adj" fmla="val 11250"/>
            </a:avLst>
          </a:prstGeom>
          <a:solidFill>
            <a:srgbClr val="1E3352"/>
          </a:solidFill>
          <a:ln/>
          <a:effectLst>
            <a:outerShdw sx="100000" sy="100000" kx="0" ky="0" algn="bl" rotWithShape="0" blurRad="88900" dist="38100" dir="5400000">
              <a:srgbClr val="000000">
                <a:alpha val="13000"/>
              </a:srgbClr>
            </a:outerShdw>
          </a:effectLst>
        </p:spPr>
      </p:sp>
      <p:sp>
        <p:nvSpPr>
          <p:cNvPr id="7" name="Text 5"/>
          <p:cNvSpPr/>
          <p:nvPr/>
        </p:nvSpPr>
        <p:spPr>
          <a:xfrm>
            <a:off x="777240" y="1783080"/>
            <a:ext cx="365760" cy="731520"/>
          </a:xfrm>
          <a:prstGeom prst="rect">
            <a:avLst/>
          </a:prstGeom>
          <a:noFill/>
          <a:ln/>
        </p:spPr>
        <p:txBody>
          <a:bodyPr wrap="square" lIns="0" tIns="0" rIns="0" bIns="0" rtlCol="0" anchor="ctr"/>
          <a:lstStyle/>
          <a:p>
            <a:pPr indent="0" marL="0">
              <a:buNone/>
            </a:pPr>
            <a:r>
              <a:rPr lang="en-US" sz="2000" b="1" dirty="0">
                <a:solidFill>
                  <a:srgbClr val="E8A33D"/>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1234440" y="1783080"/>
            <a:ext cx="301752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Three inputs</a:t>
            </a:r>
            <a:endParaRPr lang="en-US" sz="1800" dirty="0"/>
          </a:p>
        </p:txBody>
      </p:sp>
      <p:sp>
        <p:nvSpPr>
          <p:cNvPr id="9" name="Text 7"/>
          <p:cNvSpPr/>
          <p:nvPr/>
        </p:nvSpPr>
        <p:spPr>
          <a:xfrm>
            <a:off x="4251960" y="1783080"/>
            <a:ext cx="7178040" cy="731520"/>
          </a:xfrm>
          <a:prstGeom prst="rect">
            <a:avLst/>
          </a:prstGeom>
          <a:noFill/>
          <a:ln/>
        </p:spPr>
        <p:txBody>
          <a:bodyPr wrap="square" lIns="0" tIns="0" rIns="0" bIns="0" rtlCol="0" anchor="ctr"/>
          <a:lstStyle/>
          <a:p>
            <a:pPr indent="0" marL="0">
              <a:buNone/>
            </a:pPr>
            <a:r>
              <a:rPr lang="en-US" sz="1600" dirty="0">
                <a:solidFill>
                  <a:srgbClr val="CFE0E9"/>
                </a:solidFill>
                <a:latin typeface="Calibri" pitchFamily="34" charset="0"/>
                <a:ea typeface="Calibri" pitchFamily="34" charset="-122"/>
                <a:cs typeface="Calibri" pitchFamily="34" charset="-120"/>
              </a:rPr>
              <a:t>Your top-five fix list · today's self-check (every stall or fail) · the package map (what needs writing)</a:t>
            </a:r>
            <a:endParaRPr lang="en-US" sz="1600" dirty="0"/>
          </a:p>
        </p:txBody>
      </p:sp>
      <p:sp>
        <p:nvSpPr>
          <p:cNvPr id="10" name="Shape 8"/>
          <p:cNvSpPr/>
          <p:nvPr/>
        </p:nvSpPr>
        <p:spPr>
          <a:xfrm>
            <a:off x="548640" y="2624328"/>
            <a:ext cx="11064240" cy="731520"/>
          </a:xfrm>
          <a:prstGeom prst="roundRect">
            <a:avLst>
              <a:gd name="adj" fmla="val 11250"/>
            </a:avLst>
          </a:prstGeom>
          <a:solidFill>
            <a:srgbClr val="1E3352"/>
          </a:solidFill>
          <a:ln/>
          <a:effectLst>
            <a:outerShdw sx="100000" sy="100000" kx="0" ky="0" algn="bl" rotWithShape="0" blurRad="88900" dist="38100" dir="5400000">
              <a:srgbClr val="000000">
                <a:alpha val="13000"/>
              </a:srgbClr>
            </a:outerShdw>
          </a:effectLst>
        </p:spPr>
      </p:sp>
      <p:sp>
        <p:nvSpPr>
          <p:cNvPr id="11" name="Text 9"/>
          <p:cNvSpPr/>
          <p:nvPr/>
        </p:nvSpPr>
        <p:spPr>
          <a:xfrm>
            <a:off x="777240" y="2624328"/>
            <a:ext cx="365760" cy="731520"/>
          </a:xfrm>
          <a:prstGeom prst="rect">
            <a:avLst/>
          </a:prstGeom>
          <a:noFill/>
          <a:ln/>
        </p:spPr>
        <p:txBody>
          <a:bodyPr wrap="square" lIns="0" tIns="0" rIns="0" bIns="0" rtlCol="0" anchor="ctr"/>
          <a:lstStyle/>
          <a:p>
            <a:pPr indent="0" marL="0">
              <a:buNone/>
            </a:pPr>
            <a:r>
              <a:rPr lang="en-US" sz="2000" b="1" dirty="0">
                <a:solidFill>
                  <a:srgbClr val="E8A33D"/>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1234440" y="2624328"/>
            <a:ext cx="301752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Merge and rank</a:t>
            </a:r>
            <a:endParaRPr lang="en-US" sz="1800" dirty="0"/>
          </a:p>
        </p:txBody>
      </p:sp>
      <p:sp>
        <p:nvSpPr>
          <p:cNvPr id="13" name="Text 11"/>
          <p:cNvSpPr/>
          <p:nvPr/>
        </p:nvSpPr>
        <p:spPr>
          <a:xfrm>
            <a:off x="4251960" y="2624328"/>
            <a:ext cx="7178040" cy="731520"/>
          </a:xfrm>
          <a:prstGeom prst="rect">
            <a:avLst/>
          </a:prstGeom>
          <a:noFill/>
          <a:ln/>
        </p:spPr>
        <p:txBody>
          <a:bodyPr wrap="square" lIns="0" tIns="0" rIns="0" bIns="0" rtlCol="0" anchor="ctr"/>
          <a:lstStyle/>
          <a:p>
            <a:pPr indent="0" marL="0">
              <a:buNone/>
            </a:pPr>
            <a:r>
              <a:rPr lang="en-US" sz="1600" dirty="0">
                <a:solidFill>
                  <a:srgbClr val="CFE0E9"/>
                </a:solidFill>
                <a:latin typeface="Calibri" pitchFamily="34" charset="0"/>
                <a:ea typeface="Calibri" pitchFamily="34" charset="-122"/>
                <a:cs typeface="Calibri" pitchFamily="34" charset="-120"/>
              </a:rPr>
              <a:t>By joinability: what would stop a newcomer first goes first</a:t>
            </a:r>
            <a:endParaRPr lang="en-US" sz="1600" dirty="0"/>
          </a:p>
        </p:txBody>
      </p:sp>
      <p:sp>
        <p:nvSpPr>
          <p:cNvPr id="14" name="Shape 12"/>
          <p:cNvSpPr/>
          <p:nvPr/>
        </p:nvSpPr>
        <p:spPr>
          <a:xfrm>
            <a:off x="548640" y="3465576"/>
            <a:ext cx="11064240" cy="731520"/>
          </a:xfrm>
          <a:prstGeom prst="roundRect">
            <a:avLst>
              <a:gd name="adj" fmla="val 11250"/>
            </a:avLst>
          </a:prstGeom>
          <a:solidFill>
            <a:srgbClr val="1E3352"/>
          </a:solidFill>
          <a:ln/>
          <a:effectLst>
            <a:outerShdw sx="100000" sy="100000" kx="0" ky="0" algn="bl" rotWithShape="0" blurRad="88900" dist="38100" dir="5400000">
              <a:srgbClr val="000000">
                <a:alpha val="13000"/>
              </a:srgbClr>
            </a:outerShdw>
          </a:effectLst>
        </p:spPr>
      </p:sp>
      <p:sp>
        <p:nvSpPr>
          <p:cNvPr id="15" name="Text 13"/>
          <p:cNvSpPr/>
          <p:nvPr/>
        </p:nvSpPr>
        <p:spPr>
          <a:xfrm>
            <a:off x="777240" y="3465576"/>
            <a:ext cx="365760" cy="731520"/>
          </a:xfrm>
          <a:prstGeom prst="rect">
            <a:avLst/>
          </a:prstGeom>
          <a:noFill/>
          <a:ln/>
        </p:spPr>
        <p:txBody>
          <a:bodyPr wrap="square" lIns="0" tIns="0" rIns="0" bIns="0" rtlCol="0" anchor="ctr"/>
          <a:lstStyle/>
          <a:p>
            <a:pPr indent="0" marL="0">
              <a:buNone/>
            </a:pPr>
            <a:r>
              <a:rPr lang="en-US" sz="2000" b="1" dirty="0">
                <a:solidFill>
                  <a:srgbClr val="E8A33D"/>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1234440" y="3465576"/>
            <a:ext cx="301752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Into the tracker</a:t>
            </a:r>
            <a:endParaRPr lang="en-US" sz="1800" dirty="0"/>
          </a:p>
        </p:txBody>
      </p:sp>
      <p:sp>
        <p:nvSpPr>
          <p:cNvPr id="17" name="Text 15"/>
          <p:cNvSpPr/>
          <p:nvPr/>
        </p:nvSpPr>
        <p:spPr>
          <a:xfrm>
            <a:off x="4251960" y="3465576"/>
            <a:ext cx="7178040" cy="731520"/>
          </a:xfrm>
          <a:prstGeom prst="rect">
            <a:avLst/>
          </a:prstGeom>
          <a:noFill/>
          <a:ln/>
        </p:spPr>
        <p:txBody>
          <a:bodyPr wrap="square" lIns="0" tIns="0" rIns="0" bIns="0" rtlCol="0" anchor="ctr"/>
          <a:lstStyle/>
          <a:p>
            <a:pPr indent="0" marL="0">
              <a:buNone/>
            </a:pPr>
            <a:r>
              <a:rPr lang="en-US" sz="1600" dirty="0">
                <a:solidFill>
                  <a:srgbClr val="CFE0E9"/>
                </a:solidFill>
                <a:latin typeface="Calibri" pitchFamily="34" charset="0"/>
                <a:ea typeface="Calibri" pitchFamily="34" charset="-122"/>
                <a:cs typeface="Calibri" pitchFamily="34" charset="-120"/>
              </a:rPr>
              <a:t>Each item an issue, like everything else. Assigned, in a milestone, on the board</a:t>
            </a:r>
            <a:endParaRPr lang="en-US" sz="1600" dirty="0"/>
          </a:p>
        </p:txBody>
      </p:sp>
      <p:sp>
        <p:nvSpPr>
          <p:cNvPr id="18" name="Shape 16"/>
          <p:cNvSpPr/>
          <p:nvPr/>
        </p:nvSpPr>
        <p:spPr>
          <a:xfrm>
            <a:off x="548640" y="4306824"/>
            <a:ext cx="11064240" cy="731520"/>
          </a:xfrm>
          <a:prstGeom prst="roundRect">
            <a:avLst>
              <a:gd name="adj" fmla="val 11250"/>
            </a:avLst>
          </a:prstGeom>
          <a:solidFill>
            <a:srgbClr val="1E3352"/>
          </a:solidFill>
          <a:ln/>
          <a:effectLst>
            <a:outerShdw sx="100000" sy="100000" kx="0" ky="0" algn="bl" rotWithShape="0" blurRad="88900" dist="38100" dir="5400000">
              <a:srgbClr val="000000">
                <a:alpha val="13000"/>
              </a:srgbClr>
            </a:outerShdw>
          </a:effectLst>
        </p:spPr>
      </p:sp>
      <p:sp>
        <p:nvSpPr>
          <p:cNvPr id="19" name="Text 17"/>
          <p:cNvSpPr/>
          <p:nvPr/>
        </p:nvSpPr>
        <p:spPr>
          <a:xfrm>
            <a:off x="777240" y="4306824"/>
            <a:ext cx="365760" cy="731520"/>
          </a:xfrm>
          <a:prstGeom prst="rect">
            <a:avLst/>
          </a:prstGeom>
          <a:noFill/>
          <a:ln/>
        </p:spPr>
        <p:txBody>
          <a:bodyPr wrap="square" lIns="0" tIns="0" rIns="0" bIns="0" rtlCol="0" anchor="ctr"/>
          <a:lstStyle/>
          <a:p>
            <a:pPr indent="0" marL="0">
              <a:buNone/>
            </a:pPr>
            <a:r>
              <a:rPr lang="en-US" sz="2000" b="1" dirty="0">
                <a:solidFill>
                  <a:srgbClr val="E8A33D"/>
                </a:solidFill>
                <a:latin typeface="Calibri" pitchFamily="34" charset="0"/>
                <a:ea typeface="Calibri" pitchFamily="34" charset="-122"/>
                <a:cs typeface="Calibri" pitchFamily="34" charset="-120"/>
              </a:rPr>
              <a:t>4</a:t>
            </a:r>
            <a:endParaRPr lang="en-US" sz="2000" dirty="0"/>
          </a:p>
        </p:txBody>
      </p:sp>
      <p:sp>
        <p:nvSpPr>
          <p:cNvPr id="20" name="Text 18"/>
          <p:cNvSpPr/>
          <p:nvPr/>
        </p:nvSpPr>
        <p:spPr>
          <a:xfrm>
            <a:off x="1234440" y="4306824"/>
            <a:ext cx="301752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Fill in Since the audit</a:t>
            </a:r>
            <a:endParaRPr lang="en-US" sz="1800" dirty="0"/>
          </a:p>
        </p:txBody>
      </p:sp>
      <p:sp>
        <p:nvSpPr>
          <p:cNvPr id="21" name="Text 19"/>
          <p:cNvSpPr/>
          <p:nvPr/>
        </p:nvSpPr>
        <p:spPr>
          <a:xfrm>
            <a:off x="4251960" y="4306824"/>
            <a:ext cx="7178040" cy="731520"/>
          </a:xfrm>
          <a:prstGeom prst="rect">
            <a:avLst/>
          </a:prstGeom>
          <a:noFill/>
          <a:ln/>
        </p:spPr>
        <p:txBody>
          <a:bodyPr wrap="square" lIns="0" tIns="0" rIns="0" bIns="0" rtlCol="0" anchor="ctr"/>
          <a:lstStyle/>
          <a:p>
            <a:pPr indent="0" marL="0">
              <a:buNone/>
            </a:pPr>
            <a:r>
              <a:rPr lang="en-US" sz="1600" dirty="0">
                <a:solidFill>
                  <a:srgbClr val="CFE0E9"/>
                </a:solidFill>
                <a:latin typeface="Calibri" pitchFamily="34" charset="0"/>
                <a:ea typeface="Calibri" pitchFamily="34" charset="-122"/>
                <a:cs typeface="Calibri" pitchFamily="34" charset="-120"/>
              </a:rPr>
              <a:t>Your two worst audit stalls, written on the checklist now</a:t>
            </a:r>
            <a:endParaRPr lang="en-US" sz="1600" dirty="0"/>
          </a:p>
        </p:txBody>
      </p:sp>
      <p:sp>
        <p:nvSpPr>
          <p:cNvPr id="22" name="Shape 20"/>
          <p:cNvSpPr/>
          <p:nvPr/>
        </p:nvSpPr>
        <p:spPr>
          <a:xfrm>
            <a:off x="548640" y="5257800"/>
            <a:ext cx="11064240" cy="914400"/>
          </a:xfrm>
          <a:prstGeom prst="roundRect">
            <a:avLst>
              <a:gd name="adj" fmla="val 9000"/>
            </a:avLst>
          </a:prstGeom>
          <a:solidFill>
            <a:srgbClr val="E8A33D"/>
          </a:solidFill>
          <a:ln/>
          <a:effectLst>
            <a:outerShdw sx="100000" sy="100000" kx="0" ky="0" algn="bl" rotWithShape="0" blurRad="88900" dist="38100" dir="5400000">
              <a:srgbClr val="000000">
                <a:alpha val="13000"/>
              </a:srgbClr>
            </a:outerShdw>
          </a:effectLst>
        </p:spPr>
      </p:sp>
      <p:sp>
        <p:nvSpPr>
          <p:cNvPr id="23" name="Text 21"/>
          <p:cNvSpPr/>
          <p:nvPr/>
        </p:nvSpPr>
        <p:spPr>
          <a:xfrm>
            <a:off x="868680" y="5257800"/>
            <a:ext cx="10424160" cy="91440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I'll ask:  </a:t>
            </a:r>
            <a:pPr indent="0" marL="0">
              <a:lnSpc>
                <a:spcPct val="104000"/>
              </a:lnSpc>
              <a:buNone/>
            </a:pPr>
            <a:r>
              <a:rPr lang="en-US" sz="1700" dirty="0">
                <a:solidFill>
                  <a:srgbClr val="14233A"/>
                </a:solidFill>
                <a:latin typeface="Calibri" pitchFamily="34" charset="0"/>
                <a:ea typeface="Calibri" pitchFamily="34" charset="-122"/>
                <a:cs typeface="Calibri" pitchFamily="34" charset="-120"/>
              </a:rPr>
              <a:t>If someone forked this in January, with no one to ask, what would stop them first? That item goes to the top.</a:t>
            </a:r>
            <a:endParaRPr lang="en-US" sz="1700" dirty="0"/>
          </a:p>
        </p:txBody>
      </p:sp>
      <p:sp>
        <p:nvSpPr>
          <p:cNvPr id="24" name="Text 2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23 · Built to Be Joined</a:t>
            </a:r>
            <a:endParaRPr lang="en-US" sz="1000" dirty="0"/>
          </a:p>
        </p:txBody>
      </p:sp>
      <p:sp>
        <p:nvSpPr>
          <p:cNvPr id="25" name="Text 2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914400"/>
            <a:ext cx="777240" cy="77724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32815" y="1124255"/>
            <a:ext cx="357530" cy="357530"/>
          </a:xfrm>
          <a:prstGeom prst="rect">
            <a:avLst/>
          </a:prstGeom>
        </p:spPr>
      </p:pic>
      <p:sp>
        <p:nvSpPr>
          <p:cNvPr id="5" name="Text 2"/>
          <p:cNvSpPr/>
          <p:nvPr/>
        </p:nvSpPr>
        <p:spPr>
          <a:xfrm>
            <a:off x="822960" y="1828800"/>
            <a:ext cx="10881360" cy="914400"/>
          </a:xfrm>
          <a:prstGeom prst="rect">
            <a:avLst/>
          </a:prstGeom>
          <a:noFill/>
          <a:ln/>
        </p:spPr>
        <p:txBody>
          <a:bodyPr wrap="square" lIns="0" tIns="0" rIns="0" bIns="0" rtlCol="0" anchor="ctr"/>
          <a:lstStyle/>
          <a:p>
            <a:pPr indent="0" marL="0">
              <a:buNone/>
            </a:pPr>
            <a:r>
              <a:rPr lang="en-US" sz="2500" b="1" i="1" dirty="0">
                <a:solidFill>
                  <a:srgbClr val="FFFFFF"/>
                </a:solidFill>
                <a:latin typeface="Cambria" pitchFamily="34" charset="0"/>
                <a:ea typeface="Cambria" pitchFamily="34" charset="-122"/>
                <a:cs typeface="Cambria" pitchFamily="34" charset="-120"/>
              </a:rPr>
              <a:t>Five needs, honest quality, and a package that's mostly assembly.</a:t>
            </a:r>
            <a:endParaRPr lang="en-US" sz="2500" dirty="0"/>
          </a:p>
        </p:txBody>
      </p:sp>
      <p:sp>
        <p:nvSpPr>
          <p:cNvPr id="6" name="Text 3"/>
          <p:cNvSpPr/>
          <p:nvPr/>
        </p:nvSpPr>
        <p:spPr>
          <a:xfrm>
            <a:off x="841248" y="292608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WHAT'S NEXT</a:t>
            </a:r>
            <a:endParaRPr lang="en-US" sz="1400" dirty="0"/>
          </a:p>
        </p:txBody>
      </p:sp>
      <p:sp>
        <p:nvSpPr>
          <p:cNvPr id="7" name="Text 4"/>
          <p:cNvSpPr/>
          <p:nvPr/>
        </p:nvSpPr>
        <p:spPr>
          <a:xfrm>
            <a:off x="868680" y="3310128"/>
            <a:ext cx="10698480" cy="1965960"/>
          </a:xfrm>
          <a:prstGeom prst="rect">
            <a:avLst/>
          </a:prstGeom>
          <a:noFill/>
          <a:ln/>
        </p:spPr>
        <p:txBody>
          <a:bodyPr wrap="square" lIns="0" tIns="0" rIns="0" bIns="0" rtlCol="0" anchor="t"/>
          <a:lstStyle/>
          <a:p>
            <a:pPr marL="203200" indent="-203200">
              <a:spcAft>
                <a:spcPts val="600"/>
              </a:spcAft>
              <a:buSzPct val="100000"/>
              <a:buChar char="•"/>
            </a:pPr>
            <a:r>
              <a:rPr lang="en-US" sz="1700" b="1" dirty="0">
                <a:solidFill>
                  <a:srgbClr val="FFFFFF"/>
                </a:solidFill>
                <a:latin typeface="Calibri" pitchFamily="34" charset="0"/>
                <a:ea typeface="Calibri" pitchFamily="34" charset="-122"/>
                <a:cs typeface="Calibri" pitchFamily="34" charset="-120"/>
              </a:rPr>
              <a:t>Wednesday, Nov 25: no class. No expectation over Thanksgiving; enjoy it</a:t>
            </a:r>
            <a:endParaRPr lang="en-US" sz="1700" dirty="0"/>
          </a:p>
          <a:p>
            <a:pPr marL="203200" indent="-203200">
              <a:spcAft>
                <a:spcPts val="600"/>
              </a:spcAft>
              <a:buSzPct val="100000"/>
              <a:buChar char="•"/>
            </a:pPr>
            <a:r>
              <a:rPr lang="en-US" sz="1700" dirty="0">
                <a:solidFill>
                  <a:srgbClr val="CBD8E6"/>
                </a:solidFill>
                <a:latin typeface="Calibri" pitchFamily="34" charset="0"/>
                <a:ea typeface="Calibri" pitchFamily="34" charset="-122"/>
                <a:cs typeface="Calibri" pitchFamily="34" charset="-120"/>
              </a:rPr>
              <a:t>Want to keep going anyway? Your punch list is ready. That's up to you.</a:t>
            </a:r>
            <a:endParaRPr lang="en-US" sz="1700" dirty="0"/>
          </a:p>
          <a:p>
            <a:pPr marL="203200" indent="-203200">
              <a:spcAft>
                <a:spcPts val="600"/>
              </a:spcAft>
              <a:buSzPct val="100000"/>
              <a:buChar char="•"/>
            </a:pPr>
            <a:r>
              <a:rPr lang="en-US" sz="1700" dirty="0">
                <a:solidFill>
                  <a:srgbClr val="CBD8E6"/>
                </a:solidFill>
                <a:latin typeface="Calibri" pitchFamily="34" charset="0"/>
                <a:ea typeface="Calibri" pitchFamily="34" charset="-122"/>
                <a:cs typeface="Calibri" pitchFamily="34" charset="-120"/>
              </a:rPr>
              <a:t>Monday, Nov 30: the retrospective, and framing your final pitch</a:t>
            </a:r>
            <a:endParaRPr lang="en-US" sz="1700" dirty="0"/>
          </a:p>
          <a:p>
            <a:pPr marL="203200" indent="-203200">
              <a:buSzPct val="100000"/>
              <a:buChar char="•"/>
            </a:pPr>
            <a:r>
              <a:rPr lang="en-US" sz="1700" dirty="0">
                <a:solidFill>
                  <a:srgbClr val="CBD8E6"/>
                </a:solidFill>
                <a:latin typeface="Calibri" pitchFamily="34" charset="0"/>
                <a:ea typeface="Calibri" pitchFamily="34" charset="-122"/>
                <a:cs typeface="Calibri" pitchFamily="34" charset="-120"/>
              </a:rPr>
              <a:t>Wednesday, Dec 2: launch studio and the onboarding test</a:t>
            </a:r>
            <a:endParaRPr lang="en-US" sz="1700" dirty="0"/>
          </a:p>
        </p:txBody>
      </p:sp>
      <p:sp>
        <p:nvSpPr>
          <p:cNvPr id="8" name="Shape 5"/>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9" name="Text 6"/>
          <p:cNvSpPr/>
          <p:nvPr/>
        </p:nvSpPr>
        <p:spPr>
          <a:xfrm>
            <a:off x="822960" y="5440680"/>
            <a:ext cx="10515600" cy="731520"/>
          </a:xfrm>
          <a:prstGeom prst="rect">
            <a:avLst/>
          </a:prstGeom>
          <a:noFill/>
          <a:ln/>
        </p:spPr>
        <p:txBody>
          <a:bodyPr wrap="square" lIns="0" tIns="0" rIns="0" bIns="0" rtlCol="0" anchor="ctr"/>
          <a:lstStyle/>
          <a:p>
            <a:pPr algn="ctr" indent="0" marL="0">
              <a:buNone/>
            </a:pPr>
            <a:r>
              <a:rPr lang="en-US" sz="1600" b="1" dirty="0">
                <a:solidFill>
                  <a:srgbClr val="14233A"/>
                </a:solidFill>
                <a:latin typeface="Calibri" pitchFamily="34" charset="0"/>
                <a:ea typeface="Calibri" pitchFamily="34" charset="-122"/>
                <a:cs typeface="Calibri" pitchFamily="34" charset="-120"/>
              </a:rPr>
              <a:t>CP11 Launch Package + Retrospective is due end of day Wednesday, Dec 2.</a:t>
            </a:r>
            <a:endParaRPr lang="en-US" sz="1600" dirty="0"/>
          </a:p>
        </p:txBody>
      </p:sp>
      <p:sp>
        <p:nvSpPr>
          <p:cNvPr id="10" name="Text 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23 · Built to Be Joined</a:t>
            </a:r>
            <a:endParaRPr lang="en-US" sz="1000" dirty="0"/>
          </a:p>
        </p:txBody>
      </p:sp>
      <p:sp>
        <p:nvSpPr>
          <p:cNvPr id="11" name="Text 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23 — Built to Be Joined</dc:title>
  <dc:subject>PptxGenJS Presentation</dc:subject>
  <dc:creator>CS 301R</dc:creator>
  <cp:lastModifiedBy>CS 301R</cp:lastModifiedBy>
  <cp:revision>1</cp:revision>
  <dcterms:created xsi:type="dcterms:W3CDTF">2026-10-31T00:24:40Z</dcterms:created>
  <dcterms:modified xsi:type="dcterms:W3CDTF">2026-10-31T00:24:40Z</dcterms:modified>
</cp:coreProperties>
</file>