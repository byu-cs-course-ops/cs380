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for the heaviest build fortnight: sharper judgment about what v1 is for, and a method for when the build fights back. Before class: run demos/session19-debugging/setup.sh, start the dev server, open the list and the admin (the run sheet's part A). Print the V1 Proof Sheet, one per student, and the Debugging Loop Card, one half per student. The MVP Plan is due Wednesday; today is its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Two halves. The first is judgment: what your first version is for, which decides a hundred small build decisions over the next week. The highlighted row is your time, on the V1 Proof Sheet; hand it out now. The second half is method: the reading's debugging loop, run live on a real bug in Prop Loft, including a wrong guess. The last ten minutes preview known issues, which CP10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Kniberg's real point, the one the skateboard cartoon hides: each stage exists to test something with a thing people can actually use. One click per stage, and ask what each one teaches. Most of you are aiming at earliest testable or earliest usable for Nov 18, and that's right. Last click: the question that decides the next week. The slice statement says what you'll demo; today sharpens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Left: the spike from Week 3 is the model throwaway. It bought an answer, and the code was the receipt. Click: the MVP is built to keep, so it plays by the project's rules: PRs, review, the definition of done. Second click, and the honest middle on the next slide: most real MVPs are evolutionary with a corner or two you know you'll replace. That's fine, if it's labeled.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Three common corners. The third is Prop Loft's own, from Session 18's order: the slice walks through the admin before the form exists. Click: an unlabeled corner is a trap for the next person, who builds on top of it. Second click: the label costs one sentence in the code and one in docs/known-issues.md, which we'll start at the end of class. Third: say Prop Loft's out loud as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it's the V1 Proof Sheet, top to bottom. Read the three claims. Need traces back to CP2's success criteria. Technical is your risk register from Week 3. Usability is about a real person, unaided. Click: the falsifier is the one that keeps everyone honest; a claim no result could disprove isn't a claim. Second click: rank them, then the cut question. Prop Loft's answers are next, so they see the bar before writing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one click per claim. The ranking is the lesson: the technical claim is ranked last because a database constraint is a known technique, while whether volunteers abandon the notebook is the real unknown. Ask the room why need outranks technical here. Fourth click: the falsifier comes straight from the design's risk table. A good falsifier is usually already written down somewhere in your design; go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 cut: the Out marker is convenience, not proof, so it's the first thing to defer. That's the same next cut Session 18 named, and now they know why. Click: the corners, each of which gets a line in known issues. Second click: the subtle one. Some work in your first milestone doesn't prove a v1 claim but has to stay anyway, because CP10 also asks whether a stranger can join. Don't cut the front door to save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about fifteen writing and five sharing. Circulate. The common failure is a claim with no evidence line, or evidence nobody could see on Nov 18 ("users like it"). Push for a person and an observation. Second most common: no falsifier. Ask what would make them change the plan. For the cut, every project has one; if someone says they don't, ask which issue they'd defer first if they lost three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Read the left card, then ask the room the four prompts before each click. The point is the ranking: Linus bet everything on speed and left usability for later, knowingly. The first multi-branch merge came on April 18; it managed the 2.6.12 kernel release on June 16. Evolutionary: the code he wrote that week is the ancestor of the git on your laptop. Source: the commit itself,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An accidental demand test: nobody meant it as an MVP, which makes it a clean example of what a throwaway is for. If there's time: Ronacher's own post-mortem lesson was "don't be honest: be bold." Ask whether that survives a contributor who clones the repo. It's the opposite of CP10's honesty criterion, and a good argument. Source: his post, April 1st Post Mortem, on lucumr.pocoo.org.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Run the four prompts and let each one come back empty; the room usually gets there before the click. The contrast with Session 18 is exact: the same hours, spent screen-first instead of slice-first. Last click, one sentence only: Chandler, from Scott Rosenberg's Dreaming in Code, shipped 1.0 in 2008, years after work began. Accounts blame complexity, feature creep, and management. Don't claim more than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it's the reading and the Debugging Loop Card, so hand the card out now. One click per step, briefly: they read it. Spend the time on step 2's twist: you test the cheapest guess first, not your favorite, because a thirty-second test that kills a guess beats an hour confirming one. Last click: the reason any of this matters. Then go straight to the live bug; the loop is easier to see than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it's reference, not lecture. Point out two they underuse: looking at the stored data directly, and asking what changed. A bug that wasn't there yesterday lives in yesterday's diff. git bisect is worth one sentence: it finds the breaking commit by binary search, and it's the reason small commits pay off. Click: the rule. Now watch all of it on a real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four minutes, run live from demos/session19-debugging/DEMO-SCRIPT.md; this slide is the backdrop. Check out the waistcoat in the admin, reload the list: every row reads Out. Say the failure exactly, and point at the bar: same date everywhere is a clue. Click: three guesses. Test the cheapest first, the admin; click when it dies. Paste the log line; click when the template is cleared. Then read the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two minutes, still live. Name the chain backward: the failure is every row out; the fault is the subquery returning the first open checkout for every row; the defect is the line, not tied to its item; the error was the author's. Apply the regression test and run it: it fails for the right reason. Ask why the old tests missed it. Click: the fix. Second click: run everything, re-walk the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as a recap of what they just watched. The vocabulary is Session 15's, from the bug-report anatomy; today they see why it's useful. You only ever observe the failure. Clicks reveal the chain one step back at a time. The last click is the payoff: "the data, the display, the query" were three guesses about where the defect lived, and evidence moved us along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 demo's own log, so they see the bar: precise, wrong guesses included, and the test that now covers it. Click: where it lives. Ours was on the maintainer's own branch, so it goes in the PR. Second click: the floor. More than an hour, or left unfixed. It isn't a separate grade; it shows up in CP9's bug reports and CP10's honesty criterion. Two minutes to write, and the retrospective will thank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 time box is the spike rule again: decide the limit before you're tired. The rubber duck works because it's slow. Third click is the standing AI policy applied: an assistant is a fine source of guesses, and a guess gets tested like any other. If it explains the bug and you can't confirm it with evidence, you don't know anything yet. Last click: the three habits that turn one hour into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Why now: CP10's Documentation and honesty criterion reads the repo at your cp10 tag on Nov 18, five days before we cover the full log. Show Prop Loft's first entry: what happens, when it bites, the workaround, the issue. Then the three sources. Click: Linus's 0.02 announcement listed its own limits. A short honest list reads as a project that tells the truth; "no known issues" reads as one that didn't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Say the one-liner. The MVP Plan is due end of day Wednesday as a URL to docs/mvp-plan.md on main; bring the draft for the review. CP10's handout and rubric are on Canvas now: point at the cp10 tag rule and the clip rule so nobody meets them the night before. Keep the Proof Sheet and the card; neither is a turn-in.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What Must V1 Prove?</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19 — MVP thinking and systematic debugging</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November 9,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An MVP is an instrument, and so is a debugger</a:t>
            </a:r>
            <a:endParaRPr lang="en-US" sz="3100" dirty="0"/>
          </a:p>
        </p:txBody>
      </p:sp>
      <p:sp>
        <p:nvSpPr>
          <p:cNvPr id="5" name="Shape 3"/>
          <p:cNvSpPr/>
          <p:nvPr/>
        </p:nvSpPr>
        <p:spPr>
          <a:xfrm>
            <a:off x="548640" y="17830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874520"/>
            <a:ext cx="438912" cy="438912"/>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3178" y="1993026"/>
            <a:ext cx="201900" cy="201900"/>
          </a:xfrm>
          <a:prstGeom prst="rect">
            <a:avLst/>
          </a:prstGeom>
        </p:spPr>
      </p:pic>
      <p:sp>
        <p:nvSpPr>
          <p:cNvPr id="8" name="Text 5"/>
          <p:cNvSpPr/>
          <p:nvPr/>
        </p:nvSpPr>
        <p:spPr>
          <a:xfrm>
            <a:off x="1463040" y="178308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MVP is an instrument</a:t>
            </a:r>
            <a:endParaRPr lang="en-US" sz="1800" dirty="0"/>
          </a:p>
        </p:txBody>
      </p:sp>
      <p:sp>
        <p:nvSpPr>
          <p:cNvPr id="9" name="Text 6"/>
          <p:cNvSpPr/>
          <p:nvPr/>
        </p:nvSpPr>
        <p:spPr>
          <a:xfrm>
            <a:off x="9692640" y="178308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5 min</a:t>
            </a:r>
            <a:endParaRPr lang="en-US" sz="1600" dirty="0"/>
          </a:p>
        </p:txBody>
      </p:sp>
      <p:sp>
        <p:nvSpPr>
          <p:cNvPr id="10" name="Shape 7"/>
          <p:cNvSpPr/>
          <p:nvPr/>
        </p:nvSpPr>
        <p:spPr>
          <a:xfrm>
            <a:off x="548640" y="251460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606040"/>
            <a:ext cx="438912" cy="438912"/>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23178" y="2724546"/>
            <a:ext cx="201900" cy="201900"/>
          </a:xfrm>
          <a:prstGeom prst="rect">
            <a:avLst/>
          </a:prstGeom>
        </p:spPr>
      </p:pic>
      <p:sp>
        <p:nvSpPr>
          <p:cNvPr id="13" name="Text 9"/>
          <p:cNvSpPr/>
          <p:nvPr/>
        </p:nvSpPr>
        <p:spPr>
          <a:xfrm>
            <a:off x="1463040" y="251460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Throwaway or evolutionary?</a:t>
            </a:r>
            <a:endParaRPr lang="en-US" sz="1800" dirty="0"/>
          </a:p>
        </p:txBody>
      </p:sp>
      <p:sp>
        <p:nvSpPr>
          <p:cNvPr id="14" name="Text 10"/>
          <p:cNvSpPr/>
          <p:nvPr/>
        </p:nvSpPr>
        <p:spPr>
          <a:xfrm>
            <a:off x="9692640" y="251460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8 min</a:t>
            </a:r>
            <a:endParaRPr lang="en-US" sz="1600" dirty="0"/>
          </a:p>
        </p:txBody>
      </p:sp>
      <p:sp>
        <p:nvSpPr>
          <p:cNvPr id="15" name="Shape 11"/>
          <p:cNvSpPr/>
          <p:nvPr/>
        </p:nvSpPr>
        <p:spPr>
          <a:xfrm>
            <a:off x="548640" y="3246120"/>
            <a:ext cx="11064240" cy="621792"/>
          </a:xfrm>
          <a:prstGeom prst="roundRect">
            <a:avLst>
              <a:gd name="adj" fmla="val 13235"/>
            </a:avLst>
          </a:prstGeom>
          <a:solidFill>
            <a:srgbClr val="14233A"/>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337560"/>
            <a:ext cx="438912" cy="438912"/>
          </a:xfrm>
          <a:prstGeom prst="ellipse">
            <a:avLst/>
          </a:prstGeom>
          <a:solidFill>
            <a:srgbClr val="E8A33D"/>
          </a:solidFill>
          <a:ln/>
        </p:spPr>
      </p:sp>
      <p:pic>
        <p:nvPicPr>
          <p:cNvPr id="17" name="Image 2" descr="preencoded.png">    </p:cNvPr>
          <p:cNvPicPr>
            <a:picLocks noChangeAspect="1"/>
          </p:cNvPicPr>
          <p:nvPr/>
        </p:nvPicPr>
        <p:blipFill>
          <a:blip r:embed="rId3"/>
          <a:stretch>
            <a:fillRect/>
          </a:stretch>
        </p:blipFill>
        <p:spPr>
          <a:xfrm>
            <a:off x="923178" y="3456066"/>
            <a:ext cx="201900" cy="201900"/>
          </a:xfrm>
          <a:prstGeom prst="rect">
            <a:avLst/>
          </a:prstGeom>
        </p:spPr>
      </p:pic>
      <p:sp>
        <p:nvSpPr>
          <p:cNvPr id="18" name="Text 13"/>
          <p:cNvSpPr/>
          <p:nvPr/>
        </p:nvSpPr>
        <p:spPr>
          <a:xfrm>
            <a:off x="1463040" y="3246120"/>
            <a:ext cx="8229600" cy="62179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Workshop: what must your v1 prove?</a:t>
            </a:r>
            <a:endParaRPr lang="en-US" sz="1800" dirty="0"/>
          </a:p>
        </p:txBody>
      </p:sp>
      <p:sp>
        <p:nvSpPr>
          <p:cNvPr id="19" name="Text 14"/>
          <p:cNvSpPr/>
          <p:nvPr/>
        </p:nvSpPr>
        <p:spPr>
          <a:xfrm>
            <a:off x="9692640" y="3246120"/>
            <a:ext cx="1645920" cy="62179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20 min</a:t>
            </a:r>
            <a:endParaRPr lang="en-US" sz="1600" dirty="0"/>
          </a:p>
        </p:txBody>
      </p:sp>
      <p:sp>
        <p:nvSpPr>
          <p:cNvPr id="20" name="Shape 15"/>
          <p:cNvSpPr/>
          <p:nvPr/>
        </p:nvSpPr>
        <p:spPr>
          <a:xfrm>
            <a:off x="548640" y="397764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069080"/>
            <a:ext cx="438912" cy="438912"/>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23178" y="4187586"/>
            <a:ext cx="201900" cy="201900"/>
          </a:xfrm>
          <a:prstGeom prst="rect">
            <a:avLst/>
          </a:prstGeom>
        </p:spPr>
      </p:pic>
      <p:sp>
        <p:nvSpPr>
          <p:cNvPr id="23" name="Text 17"/>
          <p:cNvSpPr/>
          <p:nvPr/>
        </p:nvSpPr>
        <p:spPr>
          <a:xfrm>
            <a:off x="1463040" y="397764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Three MVPs, evaluated as a room</a:t>
            </a:r>
            <a:endParaRPr lang="en-US" sz="1800" dirty="0"/>
          </a:p>
        </p:txBody>
      </p:sp>
      <p:sp>
        <p:nvSpPr>
          <p:cNvPr id="24" name="Text 18"/>
          <p:cNvSpPr/>
          <p:nvPr/>
        </p:nvSpPr>
        <p:spPr>
          <a:xfrm>
            <a:off x="9692640" y="397764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12 min</a:t>
            </a:r>
            <a:endParaRPr lang="en-US" sz="1600" dirty="0"/>
          </a:p>
        </p:txBody>
      </p:sp>
      <p:sp>
        <p:nvSpPr>
          <p:cNvPr id="25" name="Shape 19"/>
          <p:cNvSpPr/>
          <p:nvPr/>
        </p:nvSpPr>
        <p:spPr>
          <a:xfrm>
            <a:off x="548640" y="470916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804672" y="4800600"/>
            <a:ext cx="438912" cy="438912"/>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923178" y="4919106"/>
            <a:ext cx="201900" cy="201900"/>
          </a:xfrm>
          <a:prstGeom prst="rect">
            <a:avLst/>
          </a:prstGeom>
        </p:spPr>
      </p:pic>
      <p:sp>
        <p:nvSpPr>
          <p:cNvPr id="28" name="Text 21"/>
          <p:cNvSpPr/>
          <p:nvPr/>
        </p:nvSpPr>
        <p:spPr>
          <a:xfrm>
            <a:off x="1463040" y="470916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Debugging on purpose, with a live bug</a:t>
            </a:r>
            <a:endParaRPr lang="en-US" sz="1800" dirty="0"/>
          </a:p>
        </p:txBody>
      </p:sp>
      <p:sp>
        <p:nvSpPr>
          <p:cNvPr id="29" name="Text 22"/>
          <p:cNvSpPr/>
          <p:nvPr/>
        </p:nvSpPr>
        <p:spPr>
          <a:xfrm>
            <a:off x="9692640" y="470916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20 min</a:t>
            </a:r>
            <a:endParaRPr lang="en-US" sz="1600" dirty="0"/>
          </a:p>
        </p:txBody>
      </p:sp>
      <p:sp>
        <p:nvSpPr>
          <p:cNvPr id="30" name="Shape 23"/>
          <p:cNvSpPr/>
          <p:nvPr/>
        </p:nvSpPr>
        <p:spPr>
          <a:xfrm>
            <a:off x="548640" y="54406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04672" y="5532120"/>
            <a:ext cx="438912" cy="438912"/>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923178" y="5650626"/>
            <a:ext cx="201900" cy="201900"/>
          </a:xfrm>
          <a:prstGeom prst="rect">
            <a:avLst/>
          </a:prstGeom>
        </p:spPr>
      </p:pic>
      <p:sp>
        <p:nvSpPr>
          <p:cNvPr id="33" name="Text 25"/>
          <p:cNvSpPr/>
          <p:nvPr/>
        </p:nvSpPr>
        <p:spPr>
          <a:xfrm>
            <a:off x="1463040" y="544068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Known issues, and the wrap</a:t>
            </a:r>
            <a:endParaRPr lang="en-US" sz="1800" dirty="0"/>
          </a:p>
        </p:txBody>
      </p:sp>
      <p:sp>
        <p:nvSpPr>
          <p:cNvPr id="34" name="Text 26"/>
          <p:cNvSpPr/>
          <p:nvPr/>
        </p:nvSpPr>
        <p:spPr>
          <a:xfrm>
            <a:off x="9692640" y="544068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10 min</a:t>
            </a:r>
            <a:endParaRPr lang="en-US" sz="1600" dirty="0"/>
          </a:p>
        </p:txBody>
      </p:sp>
      <p:sp>
        <p:nvSpPr>
          <p:cNvPr id="35" name="Text 27"/>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36"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MVP IS AN INSTRUMENT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Not a small product: a way to test a claim</a:t>
            </a:r>
            <a:endParaRPr lang="en-US" sz="3100" dirty="0"/>
          </a:p>
        </p:txBody>
      </p:sp>
      <p:sp>
        <p:nvSpPr>
          <p:cNvPr id="5" name="click-1"/>
          <p:cNvSpPr/>
          <p:nvPr/>
        </p:nvSpPr>
        <p:spPr>
          <a:xfrm>
            <a:off x="548640" y="1783080"/>
            <a:ext cx="3474720" cy="2468880"/>
          </a:xfrm>
          <a:prstGeom prst="roundRect">
            <a:avLst>
              <a:gd name="adj" fmla="val 3333"/>
            </a:avLst>
          </a:prstGeom>
          <a:solidFill>
            <a:srgbClr val="F2F6F8"/>
          </a:solidFill>
          <a:ln/>
          <a:effectLst>
            <a:outerShdw sx="100000" sy="100000" kx="0" ky="0" algn="bl" rotWithShape="0" blurRad="88900" dist="38100" dir="5400000">
              <a:srgbClr val="000000">
                <a:alpha val="13000"/>
              </a:srgbClr>
            </a:outerShdw>
          </a:effectLst>
        </p:spPr>
      </p:sp>
      <p:sp>
        <p:nvSpPr>
          <p:cNvPr id="6" name="click-1"/>
          <p:cNvSpPr/>
          <p:nvPr/>
        </p:nvSpPr>
        <p:spPr>
          <a:xfrm>
            <a:off x="777240" y="1965960"/>
            <a:ext cx="502920" cy="502920"/>
          </a:xfrm>
          <a:prstGeom prst="ellipse">
            <a:avLst/>
          </a:prstGeom>
          <a:solidFill>
            <a:srgbClr val="12908F"/>
          </a:solidFill>
          <a:ln/>
        </p:spPr>
      </p:sp>
      <p:sp>
        <p:nvSpPr>
          <p:cNvPr id="7" name="click-1"/>
          <p:cNvSpPr/>
          <p:nvPr/>
        </p:nvSpPr>
        <p:spPr>
          <a:xfrm>
            <a:off x="777240" y="196596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click-1"/>
          <p:cNvSpPr/>
          <p:nvPr/>
        </p:nvSpPr>
        <p:spPr>
          <a:xfrm>
            <a:off x="1417320" y="1965960"/>
            <a:ext cx="2468880" cy="5029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Earliest testable</a:t>
            </a:r>
            <a:endParaRPr lang="en-US" sz="1900" dirty="0"/>
          </a:p>
        </p:txBody>
      </p:sp>
      <p:sp>
        <p:nvSpPr>
          <p:cNvPr id="9" name="click-1"/>
          <p:cNvSpPr/>
          <p:nvPr/>
        </p:nvSpPr>
        <p:spPr>
          <a:xfrm>
            <a:off x="777240" y="2651760"/>
            <a:ext cx="3017520" cy="150876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Can a real person use it at all? You learn whether the core idea works.</a:t>
            </a:r>
            <a:endParaRPr lang="en-US" sz="1600" dirty="0"/>
          </a:p>
        </p:txBody>
      </p:sp>
      <p:sp>
        <p:nvSpPr>
          <p:cNvPr id="10" name="click-2"/>
          <p:cNvSpPr/>
          <p:nvPr/>
        </p:nvSpPr>
        <p:spPr>
          <a:xfrm>
            <a:off x="4343400" y="1783080"/>
            <a:ext cx="3474720" cy="2468880"/>
          </a:xfrm>
          <a:prstGeom prst="roundRect">
            <a:avLst>
              <a:gd name="adj" fmla="val 3333"/>
            </a:avLst>
          </a:prstGeom>
          <a:solidFill>
            <a:srgbClr val="F2F6F8"/>
          </a:solidFill>
          <a:ln/>
          <a:effectLst>
            <a:outerShdw sx="100000" sy="100000" kx="0" ky="0" algn="bl" rotWithShape="0" blurRad="88900" dist="38100" dir="5400000">
              <a:srgbClr val="000000">
                <a:alpha val="13000"/>
              </a:srgbClr>
            </a:outerShdw>
          </a:effectLst>
        </p:spPr>
      </p:sp>
      <p:sp>
        <p:nvSpPr>
          <p:cNvPr id="11" name="click-2"/>
          <p:cNvSpPr/>
          <p:nvPr/>
        </p:nvSpPr>
        <p:spPr>
          <a:xfrm>
            <a:off x="4572000" y="1965960"/>
            <a:ext cx="502920" cy="502920"/>
          </a:xfrm>
          <a:prstGeom prst="ellipse">
            <a:avLst/>
          </a:prstGeom>
          <a:solidFill>
            <a:srgbClr val="12908F"/>
          </a:solidFill>
          <a:ln/>
        </p:spPr>
      </p:sp>
      <p:sp>
        <p:nvSpPr>
          <p:cNvPr id="12" name="click-2"/>
          <p:cNvSpPr/>
          <p:nvPr/>
        </p:nvSpPr>
        <p:spPr>
          <a:xfrm>
            <a:off x="4572000" y="196596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click-2"/>
          <p:cNvSpPr/>
          <p:nvPr/>
        </p:nvSpPr>
        <p:spPr>
          <a:xfrm>
            <a:off x="5212080" y="1965960"/>
            <a:ext cx="2468880" cy="5029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Earliest usable</a:t>
            </a:r>
            <a:endParaRPr lang="en-US" sz="1900" dirty="0"/>
          </a:p>
        </p:txBody>
      </p:sp>
      <p:sp>
        <p:nvSpPr>
          <p:cNvPr id="14" name="click-2"/>
          <p:cNvSpPr/>
          <p:nvPr/>
        </p:nvSpPr>
        <p:spPr>
          <a:xfrm>
            <a:off x="4572000" y="2651760"/>
            <a:ext cx="3017520" cy="150876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Would they choose it over what they do now? You learn whether it's worth using.</a:t>
            </a:r>
            <a:endParaRPr lang="en-US" sz="1600" dirty="0"/>
          </a:p>
        </p:txBody>
      </p:sp>
      <p:sp>
        <p:nvSpPr>
          <p:cNvPr id="15" name="click-3"/>
          <p:cNvSpPr/>
          <p:nvPr/>
        </p:nvSpPr>
        <p:spPr>
          <a:xfrm>
            <a:off x="8138160" y="1783080"/>
            <a:ext cx="3474720" cy="2468880"/>
          </a:xfrm>
          <a:prstGeom prst="roundRect">
            <a:avLst>
              <a:gd name="adj" fmla="val 3333"/>
            </a:avLst>
          </a:prstGeom>
          <a:solidFill>
            <a:srgbClr val="F2F6F8"/>
          </a:solidFill>
          <a:ln/>
          <a:effectLst>
            <a:outerShdw sx="100000" sy="100000" kx="0" ky="0" algn="bl" rotWithShape="0" blurRad="88900" dist="38100" dir="5400000">
              <a:srgbClr val="000000">
                <a:alpha val="13000"/>
              </a:srgbClr>
            </a:outerShdw>
          </a:effectLst>
        </p:spPr>
      </p:sp>
      <p:sp>
        <p:nvSpPr>
          <p:cNvPr id="16" name="click-3"/>
          <p:cNvSpPr/>
          <p:nvPr/>
        </p:nvSpPr>
        <p:spPr>
          <a:xfrm>
            <a:off x="8366760" y="1965960"/>
            <a:ext cx="502920" cy="502920"/>
          </a:xfrm>
          <a:prstGeom prst="ellipse">
            <a:avLst/>
          </a:prstGeom>
          <a:solidFill>
            <a:srgbClr val="12908F"/>
          </a:solidFill>
          <a:ln/>
        </p:spPr>
      </p:sp>
      <p:sp>
        <p:nvSpPr>
          <p:cNvPr id="17" name="click-3"/>
          <p:cNvSpPr/>
          <p:nvPr/>
        </p:nvSpPr>
        <p:spPr>
          <a:xfrm>
            <a:off x="8366760" y="196596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click-3"/>
          <p:cNvSpPr/>
          <p:nvPr/>
        </p:nvSpPr>
        <p:spPr>
          <a:xfrm>
            <a:off x="9006840" y="1965960"/>
            <a:ext cx="2468880" cy="5029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Earliest lovable</a:t>
            </a:r>
            <a:endParaRPr lang="en-US" sz="1900" dirty="0"/>
          </a:p>
        </p:txBody>
      </p:sp>
      <p:sp>
        <p:nvSpPr>
          <p:cNvPr id="19" name="click-3"/>
          <p:cNvSpPr/>
          <p:nvPr/>
        </p:nvSpPr>
        <p:spPr>
          <a:xfrm>
            <a:off x="8366760" y="2651760"/>
            <a:ext cx="3017520" cy="150876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Would they tell someone? You learn whether it can grow.</a:t>
            </a:r>
            <a:endParaRPr lang="en-US" sz="1600" dirty="0"/>
          </a:p>
        </p:txBody>
      </p:sp>
      <p:sp>
        <p:nvSpPr>
          <p:cNvPr id="20" name="Text 18"/>
          <p:cNvSpPr/>
          <p:nvPr/>
        </p:nvSpPr>
        <p:spPr>
          <a:xfrm>
            <a:off x="548640" y="4389120"/>
            <a:ext cx="11064240" cy="45720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Henrik Kniberg, Making sense of MVP: every stage is something usable, and each one exists to teach you something.</a:t>
            </a:r>
            <a:endParaRPr lang="en-US" sz="1500" dirty="0"/>
          </a:p>
        </p:txBody>
      </p:sp>
      <p:sp>
        <p:nvSpPr>
          <p:cNvPr id="21" name="click-4"/>
          <p:cNvSpPr/>
          <p:nvPr/>
        </p:nvSpPr>
        <p:spPr>
          <a:xfrm>
            <a:off x="548640" y="5120640"/>
            <a:ext cx="11064240" cy="1051560"/>
          </a:xfrm>
          <a:prstGeom prst="roundRect">
            <a:avLst>
              <a:gd name="adj" fmla="val 7826"/>
            </a:avLst>
          </a:prstGeom>
          <a:solidFill>
            <a:srgbClr val="14233A"/>
          </a:solidFill>
          <a:ln/>
          <a:effectLst>
            <a:outerShdw sx="100000" sy="100000" kx="0" ky="0" algn="bl" rotWithShape="0" blurRad="88900" dist="38100" dir="5400000">
              <a:srgbClr val="000000">
                <a:alpha val="13000"/>
              </a:srgbClr>
            </a:outerShdw>
          </a:effectLst>
        </p:spPr>
      </p:sp>
      <p:sp>
        <p:nvSpPr>
          <p:cNvPr id="22" name="click-4"/>
          <p:cNvSpPr/>
          <p:nvPr/>
        </p:nvSpPr>
        <p:spPr>
          <a:xfrm>
            <a:off x="868680" y="5120640"/>
            <a:ext cx="10424160" cy="105156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The wrong question: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"How much can we build by the demo?"   The right one: "What will the demo prove?"</a:t>
            </a:r>
            <a:endParaRPr lang="en-US" sz="1700" dirty="0"/>
          </a:p>
        </p:txBody>
      </p:sp>
      <p:sp>
        <p:nvSpPr>
          <p:cNvPr id="23" name="Text 21"/>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2" presetID="1"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TWO KINDS OF PROTOTYPE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Built to answer a question, or built to keep?</a:t>
            </a:r>
            <a:endParaRPr lang="en-US" sz="3100" dirty="0"/>
          </a:p>
        </p:txBody>
      </p:sp>
      <p:sp>
        <p:nvSpPr>
          <p:cNvPr id="5" name="Shape 3"/>
          <p:cNvSpPr/>
          <p:nvPr/>
        </p:nvSpPr>
        <p:spPr>
          <a:xfrm>
            <a:off x="548640" y="1783080"/>
            <a:ext cx="5440680" cy="3154680"/>
          </a:xfrm>
          <a:prstGeom prst="roundRect">
            <a:avLst>
              <a:gd name="adj" fmla="val 2609"/>
            </a:avLst>
          </a:prstGeom>
          <a:solidFill>
            <a:srgbClr val="FBEEDA"/>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965960"/>
            <a:ext cx="566928" cy="566928"/>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976031" y="2119031"/>
            <a:ext cx="260787" cy="260787"/>
          </a:xfrm>
          <a:prstGeom prst="rect">
            <a:avLst/>
          </a:prstGeom>
        </p:spPr>
      </p:pic>
      <p:sp>
        <p:nvSpPr>
          <p:cNvPr id="8" name="Text 5"/>
          <p:cNvSpPr/>
          <p:nvPr/>
        </p:nvSpPr>
        <p:spPr>
          <a:xfrm>
            <a:off x="1554480" y="1965960"/>
            <a:ext cx="4206240" cy="566928"/>
          </a:xfrm>
          <a:prstGeom prst="rect">
            <a:avLst/>
          </a:prstGeom>
          <a:noFill/>
          <a:ln/>
        </p:spPr>
        <p:txBody>
          <a:bodyPr wrap="square" lIns="0" tIns="0" rIns="0" bIns="0" rtlCol="0" anchor="ctr"/>
          <a:lstStyle/>
          <a:p>
            <a:pPr indent="0" marL="0">
              <a:buNone/>
            </a:pPr>
            <a:r>
              <a:rPr lang="en-US" sz="2100" b="1" dirty="0">
                <a:solidFill>
                  <a:srgbClr val="1E2A36"/>
                </a:solidFill>
                <a:latin typeface="Calibri" pitchFamily="34" charset="0"/>
                <a:ea typeface="Calibri" pitchFamily="34" charset="-122"/>
                <a:cs typeface="Calibri" pitchFamily="34" charset="-120"/>
              </a:rPr>
              <a:t>Throwaway</a:t>
            </a:r>
            <a:endParaRPr lang="en-US" sz="2100" dirty="0"/>
          </a:p>
        </p:txBody>
      </p:sp>
      <p:sp>
        <p:nvSpPr>
          <p:cNvPr id="9" name="Text 6"/>
          <p:cNvSpPr/>
          <p:nvPr/>
        </p:nvSpPr>
        <p:spPr>
          <a:xfrm>
            <a:off x="822960" y="2697480"/>
            <a:ext cx="4892040" cy="2103120"/>
          </a:xfrm>
          <a:prstGeom prst="rect">
            <a:avLst/>
          </a:prstGeom>
          <a:noFill/>
          <a:ln/>
        </p:spPr>
        <p:txBody>
          <a:bodyPr wrap="square" lIns="0" tIns="0" rIns="0" bIns="0" rtlCol="0" anchor="t"/>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Built to answer a question, then thrown away. Your spike was this.</a:t>
            </a:r>
            <a:endParaRPr lang="en-US" sz="1700" dirty="0"/>
          </a:p>
          <a:p>
            <a:pPr indent="0" marL="0">
              <a:lnSpc>
                <a:spcPct val="105000"/>
              </a:lnSpc>
              <a:buNone/>
            </a:pPr>
            <a:r>
              <a:rPr lang="en-US" sz="800" dirty="0">
                <a:solidFill>
                  <a:srgbClr val="1E2A36"/>
                </a:solidFill>
                <a:latin typeface="Calibri" pitchFamily="34" charset="0"/>
                <a:ea typeface="Calibri" pitchFamily="34" charset="-122"/>
                <a:cs typeface="Calibri" pitchFamily="34" charset="-120"/>
              </a:rPr>
              <a:t> </a:t>
            </a:r>
            <a:endParaRPr lang="en-US" sz="1700" dirty="0"/>
          </a:p>
          <a:p>
            <a:pPr indent="0" marL="0">
              <a:lnSpc>
                <a:spcPct val="105000"/>
              </a:lnSpc>
              <a:buNone/>
            </a:pPr>
            <a:r>
              <a:rPr lang="en-US" sz="1700" b="1" dirty="0">
                <a:solidFill>
                  <a:srgbClr val="1E2A36"/>
                </a:solidFill>
                <a:latin typeface="Calibri" pitchFamily="34" charset="0"/>
                <a:ea typeface="Calibri" pitchFamily="34" charset="-122"/>
                <a:cs typeface="Calibri" pitchFamily="34" charset="-120"/>
              </a:rPr>
              <a:t>Allowed to be ugly. </a:t>
            </a:r>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Not allowed to sneak into main.</a:t>
            </a:r>
            <a:endParaRPr lang="en-US" sz="1700" dirty="0"/>
          </a:p>
        </p:txBody>
      </p:sp>
      <p:sp>
        <p:nvSpPr>
          <p:cNvPr id="10" name="click-1"/>
          <p:cNvSpPr/>
          <p:nvPr/>
        </p:nvSpPr>
        <p:spPr>
          <a:xfrm>
            <a:off x="6172200" y="1783080"/>
            <a:ext cx="5440680" cy="3154680"/>
          </a:xfrm>
          <a:prstGeom prst="roundRect">
            <a:avLst>
              <a:gd name="adj" fmla="val 2609"/>
            </a:avLst>
          </a:prstGeom>
          <a:solidFill>
            <a:srgbClr val="EAF4EE"/>
          </a:solidFill>
          <a:ln/>
          <a:effectLst>
            <a:outerShdw sx="100000" sy="100000" kx="0" ky="0" algn="bl" rotWithShape="0" blurRad="88900" dist="38100" dir="5400000">
              <a:srgbClr val="000000">
                <a:alpha val="13000"/>
              </a:srgbClr>
            </a:outerShdw>
          </a:effectLst>
        </p:spPr>
      </p:sp>
      <p:sp>
        <p:nvSpPr>
          <p:cNvPr id="11" name="click-1"/>
          <p:cNvSpPr/>
          <p:nvPr/>
        </p:nvSpPr>
        <p:spPr>
          <a:xfrm>
            <a:off x="6446520" y="1965960"/>
            <a:ext cx="566928" cy="566928"/>
          </a:xfrm>
          <a:prstGeom prst="ellipse">
            <a:avLst/>
          </a:prstGeom>
          <a:solidFill>
            <a:srgbClr val="3E9C6B"/>
          </a:solidFill>
          <a:ln/>
        </p:spPr>
      </p:sp>
      <p:pic>
        <p:nvPicPr>
          <p:cNvPr id="12" name="click-1" descr="preencoded.png">    </p:cNvPr>
          <p:cNvPicPr>
            <a:picLocks noChangeAspect="1"/>
          </p:cNvPicPr>
          <p:nvPr/>
        </p:nvPicPr>
        <p:blipFill>
          <a:blip r:embed="rId2"/>
          <a:stretch>
            <a:fillRect/>
          </a:stretch>
        </p:blipFill>
        <p:spPr>
          <a:xfrm>
            <a:off x="6599591" y="2119031"/>
            <a:ext cx="260787" cy="260787"/>
          </a:xfrm>
          <a:prstGeom prst="rect">
            <a:avLst/>
          </a:prstGeom>
        </p:spPr>
      </p:pic>
      <p:sp>
        <p:nvSpPr>
          <p:cNvPr id="13" name="click-1"/>
          <p:cNvSpPr/>
          <p:nvPr/>
        </p:nvSpPr>
        <p:spPr>
          <a:xfrm>
            <a:off x="7178040" y="1965960"/>
            <a:ext cx="4206240" cy="566928"/>
          </a:xfrm>
          <a:prstGeom prst="rect">
            <a:avLst/>
          </a:prstGeom>
          <a:noFill/>
          <a:ln/>
        </p:spPr>
        <p:txBody>
          <a:bodyPr wrap="square" lIns="0" tIns="0" rIns="0" bIns="0" rtlCol="0" anchor="ctr"/>
          <a:lstStyle/>
          <a:p>
            <a:pPr indent="0" marL="0">
              <a:buNone/>
            </a:pPr>
            <a:r>
              <a:rPr lang="en-US" sz="2100" b="1" dirty="0">
                <a:solidFill>
                  <a:srgbClr val="1E2A36"/>
                </a:solidFill>
                <a:latin typeface="Calibri" pitchFamily="34" charset="0"/>
                <a:ea typeface="Calibri" pitchFamily="34" charset="-122"/>
                <a:cs typeface="Calibri" pitchFamily="34" charset="-120"/>
              </a:rPr>
              <a:t>Evolutionary</a:t>
            </a:r>
            <a:endParaRPr lang="en-US" sz="2100" dirty="0"/>
          </a:p>
        </p:txBody>
      </p:sp>
      <p:sp>
        <p:nvSpPr>
          <p:cNvPr id="14" name="click-1"/>
          <p:cNvSpPr/>
          <p:nvPr/>
        </p:nvSpPr>
        <p:spPr>
          <a:xfrm>
            <a:off x="6446520" y="2697480"/>
            <a:ext cx="4892040" cy="2103120"/>
          </a:xfrm>
          <a:prstGeom prst="rect">
            <a:avLst/>
          </a:prstGeom>
          <a:noFill/>
          <a:ln/>
        </p:spPr>
        <p:txBody>
          <a:bodyPr wrap="square" lIns="0" tIns="0" rIns="0" bIns="0" rtlCol="0" anchor="t"/>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Built to keep. Your MVP is this.</a:t>
            </a:r>
            <a:endParaRPr lang="en-US" sz="1700" dirty="0"/>
          </a:p>
          <a:p>
            <a:pPr indent="0" marL="0">
              <a:lnSpc>
                <a:spcPct val="105000"/>
              </a:lnSpc>
              <a:buNone/>
            </a:pPr>
            <a:r>
              <a:rPr lang="en-US" sz="800" dirty="0">
                <a:solidFill>
                  <a:srgbClr val="1E2A36"/>
                </a:solidFill>
                <a:latin typeface="Calibri" pitchFamily="34" charset="0"/>
                <a:ea typeface="Calibri" pitchFamily="34" charset="-122"/>
                <a:cs typeface="Calibri" pitchFamily="34" charset="-120"/>
              </a:rPr>
              <a:t> </a:t>
            </a:r>
            <a:endParaRPr lang="en-US" sz="1700" dirty="0"/>
          </a:p>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It goes through pull requests, meets your definition of done, and is what a stranger audits on Nov 18.</a:t>
            </a:r>
            <a:endParaRPr lang="en-US" sz="1700" dirty="0"/>
          </a:p>
        </p:txBody>
      </p:sp>
      <p:sp>
        <p:nvSpPr>
          <p:cNvPr id="15" name="click-2"/>
          <p:cNvSpPr/>
          <p:nvPr/>
        </p:nvSpPr>
        <p:spPr>
          <a:xfrm>
            <a:off x="548640" y="5166360"/>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16" name="click-2"/>
          <p:cNvSpPr/>
          <p:nvPr/>
        </p:nvSpPr>
        <p:spPr>
          <a:xfrm>
            <a:off x="868680" y="5166360"/>
            <a:ext cx="10424160" cy="100584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Which is yours?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Almost always evolutionary, with a throwaway corner or two inside it.</a:t>
            </a:r>
            <a:endParaRPr lang="en-US" sz="1700" dirty="0"/>
          </a:p>
        </p:txBody>
      </p:sp>
      <p:sp>
        <p:nvSpPr>
          <p:cNvPr id="17" name="Text 13"/>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HONEST MIDDLE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throwaway corner is fine, if it's labeled</a:t>
            </a:r>
            <a:endParaRPr lang="en-US" sz="3100" dirty="0"/>
          </a:p>
        </p:txBody>
      </p:sp>
      <p:sp>
        <p:nvSpPr>
          <p:cNvPr id="5" name="Shape 3"/>
          <p:cNvSpPr/>
          <p:nvPr/>
        </p:nvSpPr>
        <p:spPr>
          <a:xfrm>
            <a:off x="548640" y="1783080"/>
            <a:ext cx="3474720" cy="1691640"/>
          </a:xfrm>
          <a:prstGeom prst="roundRect">
            <a:avLst>
              <a:gd name="adj" fmla="val 4865"/>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77240" y="1874520"/>
            <a:ext cx="301752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A mocked integration</a:t>
            </a:r>
            <a:endParaRPr lang="en-US" sz="1800" dirty="0"/>
          </a:p>
        </p:txBody>
      </p:sp>
      <p:sp>
        <p:nvSpPr>
          <p:cNvPr id="7" name="Text 5"/>
          <p:cNvSpPr/>
          <p:nvPr/>
        </p:nvSpPr>
        <p:spPr>
          <a:xfrm>
            <a:off x="777240" y="2377440"/>
            <a:ext cx="3017520" cy="100584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The payment call returns "approved" every time.</a:t>
            </a:r>
            <a:endParaRPr lang="en-US" sz="1600" dirty="0"/>
          </a:p>
        </p:txBody>
      </p:sp>
      <p:sp>
        <p:nvSpPr>
          <p:cNvPr id="8" name="Shape 6"/>
          <p:cNvSpPr/>
          <p:nvPr/>
        </p:nvSpPr>
        <p:spPr>
          <a:xfrm>
            <a:off x="4343400" y="1783080"/>
            <a:ext cx="3474720" cy="1691640"/>
          </a:xfrm>
          <a:prstGeom prst="roundRect">
            <a:avLst>
              <a:gd name="adj" fmla="val 4865"/>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4572000" y="1874520"/>
            <a:ext cx="301752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A hardcoded config</a:t>
            </a:r>
            <a:endParaRPr lang="en-US" sz="1800" dirty="0"/>
          </a:p>
        </p:txBody>
      </p:sp>
      <p:sp>
        <p:nvSpPr>
          <p:cNvPr id="10" name="Text 8"/>
          <p:cNvSpPr/>
          <p:nvPr/>
        </p:nvSpPr>
        <p:spPr>
          <a:xfrm>
            <a:off x="4572000" y="2377440"/>
            <a:ext cx="3017520" cy="100584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One theater, one time zone, baked in.</a:t>
            </a:r>
            <a:endParaRPr lang="en-US" sz="1600" dirty="0"/>
          </a:p>
        </p:txBody>
      </p:sp>
      <p:sp>
        <p:nvSpPr>
          <p:cNvPr id="11" name="Shape 9"/>
          <p:cNvSpPr/>
          <p:nvPr/>
        </p:nvSpPr>
        <p:spPr>
          <a:xfrm>
            <a:off x="8138160" y="1783080"/>
            <a:ext cx="3474720" cy="1691640"/>
          </a:xfrm>
          <a:prstGeom prst="roundRect">
            <a:avLst>
              <a:gd name="adj" fmla="val 4865"/>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8366760" y="1874520"/>
            <a:ext cx="301752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A stand-in path</a:t>
            </a:r>
            <a:endParaRPr lang="en-US" sz="1800" dirty="0"/>
          </a:p>
        </p:txBody>
      </p:sp>
      <p:sp>
        <p:nvSpPr>
          <p:cNvPr id="13" name="Text 11"/>
          <p:cNvSpPr/>
          <p:nvPr/>
        </p:nvSpPr>
        <p:spPr>
          <a:xfrm>
            <a:off x="8366760" y="2377440"/>
            <a:ext cx="3017520" cy="100584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Checkouts entered in the admin until the form exists.</a:t>
            </a:r>
            <a:endParaRPr lang="en-US" sz="1600" dirty="0"/>
          </a:p>
        </p:txBody>
      </p:sp>
      <p:sp>
        <p:nvSpPr>
          <p:cNvPr id="14" name="click-1"/>
          <p:cNvSpPr/>
          <p:nvPr/>
        </p:nvSpPr>
        <p:spPr>
          <a:xfrm>
            <a:off x="548640" y="3703320"/>
            <a:ext cx="5440680" cy="1417320"/>
          </a:xfrm>
          <a:prstGeom prst="roundRect">
            <a:avLst>
              <a:gd name="adj" fmla="val 5806"/>
            </a:avLst>
          </a:prstGeom>
          <a:solidFill>
            <a:srgbClr val="FBECE8"/>
          </a:solidFill>
          <a:ln/>
          <a:effectLst>
            <a:outerShdw sx="100000" sy="100000" kx="0" ky="0" algn="bl" rotWithShape="0" blurRad="88900" dist="38100" dir="5400000">
              <a:srgbClr val="000000">
                <a:alpha val="13000"/>
              </a:srgbClr>
            </a:outerShdw>
          </a:effectLst>
        </p:spPr>
      </p:sp>
      <p:sp>
        <p:nvSpPr>
          <p:cNvPr id="15" name="click-1"/>
          <p:cNvSpPr/>
          <p:nvPr/>
        </p:nvSpPr>
        <p:spPr>
          <a:xfrm>
            <a:off x="822960" y="3703320"/>
            <a:ext cx="4937760" cy="1417320"/>
          </a:xfrm>
          <a:prstGeom prst="rect">
            <a:avLst/>
          </a:prstGeom>
          <a:noFill/>
          <a:ln/>
        </p:spPr>
        <p:txBody>
          <a:bodyPr wrap="square" lIns="0" tIns="0" rIns="0" bIns="0" rtlCol="0" anchor="ctr"/>
          <a:lstStyle/>
          <a:p>
            <a:pPr indent="0" marL="0">
              <a:buNone/>
            </a:pPr>
            <a:r>
              <a:rPr lang="en-US" sz="1700" b="1" dirty="0">
                <a:solidFill>
                  <a:srgbClr val="D9614C"/>
                </a:solidFill>
                <a:latin typeface="Calibri" pitchFamily="34" charset="0"/>
                <a:ea typeface="Calibri" pitchFamily="34" charset="-122"/>
                <a:cs typeface="Calibri" pitchFamily="34" charset="-120"/>
              </a:rPr>
              <a:t>Unlabeled, it's a trap.  </a:t>
            </a:r>
            <a:pPr indent="0" marL="0">
              <a:buNone/>
            </a:pPr>
            <a:r>
              <a:rPr lang="en-US" sz="1700" dirty="0">
                <a:solidFill>
                  <a:srgbClr val="1E2A36"/>
                </a:solidFill>
                <a:latin typeface="Calibri" pitchFamily="34" charset="0"/>
                <a:ea typeface="Calibri" pitchFamily="34" charset="-122"/>
                <a:cs typeface="Calibri" pitchFamily="34" charset="-120"/>
              </a:rPr>
              <a:t>A contributor builds on it, believing it's real.</a:t>
            </a:r>
            <a:endParaRPr lang="en-US" sz="1700" dirty="0"/>
          </a:p>
        </p:txBody>
      </p:sp>
      <p:sp>
        <p:nvSpPr>
          <p:cNvPr id="16" name="click-2"/>
          <p:cNvSpPr/>
          <p:nvPr/>
        </p:nvSpPr>
        <p:spPr>
          <a:xfrm>
            <a:off x="6172200" y="3703320"/>
            <a:ext cx="5440680" cy="1417320"/>
          </a:xfrm>
          <a:prstGeom prst="roundRect">
            <a:avLst>
              <a:gd name="adj" fmla="val 5806"/>
            </a:avLst>
          </a:prstGeom>
          <a:solidFill>
            <a:srgbClr val="EAF4EE"/>
          </a:solidFill>
          <a:ln/>
          <a:effectLst>
            <a:outerShdw sx="100000" sy="100000" kx="0" ky="0" algn="bl" rotWithShape="0" blurRad="88900" dist="38100" dir="5400000">
              <a:srgbClr val="000000">
                <a:alpha val="13000"/>
              </a:srgbClr>
            </a:outerShdw>
          </a:effectLst>
        </p:spPr>
      </p:sp>
      <p:sp>
        <p:nvSpPr>
          <p:cNvPr id="17" name="click-2"/>
          <p:cNvSpPr/>
          <p:nvPr/>
        </p:nvSpPr>
        <p:spPr>
          <a:xfrm>
            <a:off x="6446520" y="3703320"/>
            <a:ext cx="4937760" cy="1417320"/>
          </a:xfrm>
          <a:prstGeom prst="rect">
            <a:avLst/>
          </a:prstGeom>
          <a:noFill/>
          <a:ln/>
        </p:spPr>
        <p:txBody>
          <a:bodyPr wrap="square" lIns="0" tIns="0" rIns="0" bIns="0" rtlCol="0" anchor="ctr"/>
          <a:lstStyle/>
          <a:p>
            <a:pPr indent="0" marL="0">
              <a:buNone/>
            </a:pPr>
            <a:r>
              <a:rPr lang="en-US" sz="1700" b="1" dirty="0">
                <a:solidFill>
                  <a:srgbClr val="3E9C6B"/>
                </a:solidFill>
                <a:latin typeface="Calibri" pitchFamily="34" charset="0"/>
                <a:ea typeface="Calibri" pitchFamily="34" charset="-122"/>
                <a:cs typeface="Calibri" pitchFamily="34" charset="-120"/>
              </a:rPr>
              <a:t>Labeled, it's a plan.  </a:t>
            </a:r>
            <a:pPr indent="0" marL="0">
              <a:buNone/>
            </a:pPr>
            <a:r>
              <a:rPr lang="en-US" sz="1700" dirty="0">
                <a:solidFill>
                  <a:srgbClr val="1E2A36"/>
                </a:solidFill>
                <a:latin typeface="Calibri" pitchFamily="34" charset="0"/>
                <a:ea typeface="Calibri" pitchFamily="34" charset="-122"/>
                <a:cs typeface="Calibri" pitchFamily="34" charset="-120"/>
              </a:rPr>
              <a:t>A comment in the code, and a line in your known-issues list.</a:t>
            </a:r>
            <a:endParaRPr lang="en-US" sz="1700" dirty="0"/>
          </a:p>
        </p:txBody>
      </p:sp>
      <p:sp>
        <p:nvSpPr>
          <p:cNvPr id="18" name="click-3"/>
          <p:cNvSpPr/>
          <p:nvPr/>
        </p:nvSpPr>
        <p:spPr>
          <a:xfrm>
            <a:off x="548640" y="5349240"/>
            <a:ext cx="11064240" cy="822960"/>
          </a:xfrm>
          <a:prstGeom prst="roundRect">
            <a:avLst>
              <a:gd name="adj" fmla="val 10000"/>
            </a:avLst>
          </a:prstGeom>
          <a:solidFill>
            <a:srgbClr val="E8A33D"/>
          </a:solidFill>
          <a:ln/>
          <a:effectLst>
            <a:outerShdw sx="100000" sy="100000" kx="0" ky="0" algn="bl" rotWithShape="0" blurRad="88900" dist="38100" dir="5400000">
              <a:srgbClr val="000000">
                <a:alpha val="13000"/>
              </a:srgbClr>
            </a:outerShdw>
          </a:effectLst>
        </p:spPr>
      </p:sp>
      <p:sp>
        <p:nvSpPr>
          <p:cNvPr id="19" name="click-3"/>
          <p:cNvSpPr/>
          <p:nvPr/>
        </p:nvSpPr>
        <p:spPr>
          <a:xfrm>
            <a:off x="868680" y="5349240"/>
            <a:ext cx="10424160" cy="82296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Prop Loft's: the admin carries the checkout until the form exists. It's labeled.</a:t>
            </a:r>
            <a:endParaRPr lang="en-US" sz="1700" dirty="0"/>
          </a:p>
        </p:txBody>
      </p:sp>
      <p:sp>
        <p:nvSpPr>
          <p:cNvPr id="20" name="Text 18"/>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1" name="Text 1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4"/>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MUST V1 PROVE?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claims and a falsifier</a:t>
            </a:r>
            <a:endParaRPr lang="en-US" sz="3100" dirty="0"/>
          </a:p>
        </p:txBody>
      </p:sp>
      <p:sp>
        <p:nvSpPr>
          <p:cNvPr id="5" name="Shape 3"/>
          <p:cNvSpPr/>
          <p:nvPr/>
        </p:nvSpPr>
        <p:spPr>
          <a:xfrm>
            <a:off x="548640" y="1783080"/>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29384"/>
            <a:ext cx="530352" cy="530352"/>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0435" y="2072579"/>
            <a:ext cx="243962" cy="243962"/>
          </a:xfrm>
          <a:prstGeom prst="rect">
            <a:avLst/>
          </a:prstGeom>
        </p:spPr>
      </p:pic>
      <p:sp>
        <p:nvSpPr>
          <p:cNvPr id="8" name="Text 5"/>
          <p:cNvSpPr/>
          <p:nvPr/>
        </p:nvSpPr>
        <p:spPr>
          <a:xfrm>
            <a:off x="1508760" y="1783080"/>
            <a:ext cx="2743200" cy="8229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need claim</a:t>
            </a:r>
            <a:endParaRPr lang="en-US" sz="1800" dirty="0"/>
          </a:p>
        </p:txBody>
      </p:sp>
      <p:sp>
        <p:nvSpPr>
          <p:cNvPr id="9" name="Text 6"/>
          <p:cNvSpPr/>
          <p:nvPr/>
        </p:nvSpPr>
        <p:spPr>
          <a:xfrm>
            <a:off x="4251960" y="1783080"/>
            <a:ext cx="7178040" cy="82296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What shows a real user's need is actually served? Trace it to your product definition's success criteria.</a:t>
            </a:r>
            <a:endParaRPr lang="en-US" sz="1550" dirty="0"/>
          </a:p>
        </p:txBody>
      </p:sp>
      <p:sp>
        <p:nvSpPr>
          <p:cNvPr id="10" name="Shape 7"/>
          <p:cNvSpPr/>
          <p:nvPr/>
        </p:nvSpPr>
        <p:spPr>
          <a:xfrm>
            <a:off x="548640" y="2715768"/>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777240" y="2862072"/>
            <a:ext cx="530352" cy="530352"/>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20435" y="3005267"/>
            <a:ext cx="243962" cy="243962"/>
          </a:xfrm>
          <a:prstGeom prst="rect">
            <a:avLst/>
          </a:prstGeom>
        </p:spPr>
      </p:pic>
      <p:sp>
        <p:nvSpPr>
          <p:cNvPr id="13" name="Text 9"/>
          <p:cNvSpPr/>
          <p:nvPr/>
        </p:nvSpPr>
        <p:spPr>
          <a:xfrm>
            <a:off x="1508760" y="2715768"/>
            <a:ext cx="2743200" cy="8229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technical claim</a:t>
            </a:r>
            <a:endParaRPr lang="en-US" sz="1800" dirty="0"/>
          </a:p>
        </p:txBody>
      </p:sp>
      <p:sp>
        <p:nvSpPr>
          <p:cNvPr id="14" name="Text 10"/>
          <p:cNvSpPr/>
          <p:nvPr/>
        </p:nvSpPr>
        <p:spPr>
          <a:xfrm>
            <a:off x="4251960" y="2715768"/>
            <a:ext cx="7178040" cy="82296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Which risk from your register does v1 retire? What can a working slice prove that a mockup can't?</a:t>
            </a:r>
            <a:endParaRPr lang="en-US" sz="1550" dirty="0"/>
          </a:p>
        </p:txBody>
      </p:sp>
      <p:sp>
        <p:nvSpPr>
          <p:cNvPr id="15" name="Shape 11"/>
          <p:cNvSpPr/>
          <p:nvPr/>
        </p:nvSpPr>
        <p:spPr>
          <a:xfrm>
            <a:off x="548640" y="3648456"/>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77240" y="3794760"/>
            <a:ext cx="530352" cy="530352"/>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20435" y="3937955"/>
            <a:ext cx="243962" cy="243962"/>
          </a:xfrm>
          <a:prstGeom prst="rect">
            <a:avLst/>
          </a:prstGeom>
        </p:spPr>
      </p:pic>
      <p:sp>
        <p:nvSpPr>
          <p:cNvPr id="18" name="Text 13"/>
          <p:cNvSpPr/>
          <p:nvPr/>
        </p:nvSpPr>
        <p:spPr>
          <a:xfrm>
            <a:off x="1508760" y="3648456"/>
            <a:ext cx="2743200" cy="8229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usability claim</a:t>
            </a:r>
            <a:endParaRPr lang="en-US" sz="1800" dirty="0"/>
          </a:p>
        </p:txBody>
      </p:sp>
      <p:sp>
        <p:nvSpPr>
          <p:cNvPr id="19" name="Text 14"/>
          <p:cNvSpPr/>
          <p:nvPr/>
        </p:nvSpPr>
        <p:spPr>
          <a:xfrm>
            <a:off x="4251960" y="3648456"/>
            <a:ext cx="7178040" cy="82296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Can the target user get through the slice unaided? Who will try it?</a:t>
            </a:r>
            <a:endParaRPr lang="en-US" sz="1550" dirty="0"/>
          </a:p>
        </p:txBody>
      </p:sp>
      <p:sp>
        <p:nvSpPr>
          <p:cNvPr id="20" name="click-1"/>
          <p:cNvSpPr/>
          <p:nvPr/>
        </p:nvSpPr>
        <p:spPr>
          <a:xfrm>
            <a:off x="548640" y="4581144"/>
            <a:ext cx="11064240" cy="822960"/>
          </a:xfrm>
          <a:prstGeom prst="roundRect">
            <a:avLst>
              <a:gd name="adj" fmla="val 10000"/>
            </a:avLst>
          </a:prstGeom>
          <a:solidFill>
            <a:srgbClr val="FBECE8"/>
          </a:solidFill>
          <a:ln/>
          <a:effectLst>
            <a:outerShdw sx="100000" sy="100000" kx="0" ky="0" algn="bl" rotWithShape="0" blurRad="88900" dist="38100" dir="5400000">
              <a:srgbClr val="000000">
                <a:alpha val="13000"/>
              </a:srgbClr>
            </a:outerShdw>
          </a:effectLst>
        </p:spPr>
      </p:sp>
      <p:sp>
        <p:nvSpPr>
          <p:cNvPr id="21" name="click-1"/>
          <p:cNvSpPr/>
          <p:nvPr/>
        </p:nvSpPr>
        <p:spPr>
          <a:xfrm>
            <a:off x="777240" y="4727448"/>
            <a:ext cx="530352" cy="530352"/>
          </a:xfrm>
          <a:prstGeom prst="ellipse">
            <a:avLst/>
          </a:prstGeom>
          <a:solidFill>
            <a:srgbClr val="D9614C"/>
          </a:solidFill>
          <a:ln/>
        </p:spPr>
      </p:sp>
      <p:pic>
        <p:nvPicPr>
          <p:cNvPr id="22" name="click-1" descr="preencoded.png">    </p:cNvPr>
          <p:cNvPicPr>
            <a:picLocks noChangeAspect="1"/>
          </p:cNvPicPr>
          <p:nvPr/>
        </p:nvPicPr>
        <p:blipFill>
          <a:blip r:embed="rId4"/>
          <a:stretch>
            <a:fillRect/>
          </a:stretch>
        </p:blipFill>
        <p:spPr>
          <a:xfrm>
            <a:off x="920435" y="4870643"/>
            <a:ext cx="243962" cy="243962"/>
          </a:xfrm>
          <a:prstGeom prst="rect">
            <a:avLst/>
          </a:prstGeom>
        </p:spPr>
      </p:pic>
      <p:sp>
        <p:nvSpPr>
          <p:cNvPr id="23" name="click-1"/>
          <p:cNvSpPr/>
          <p:nvPr/>
        </p:nvSpPr>
        <p:spPr>
          <a:xfrm>
            <a:off x="1508760" y="4581144"/>
            <a:ext cx="2743200" cy="8229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falsifier</a:t>
            </a:r>
            <a:endParaRPr lang="en-US" sz="1800" dirty="0"/>
          </a:p>
        </p:txBody>
      </p:sp>
      <p:sp>
        <p:nvSpPr>
          <p:cNvPr id="24" name="click-1"/>
          <p:cNvSpPr/>
          <p:nvPr/>
        </p:nvSpPr>
        <p:spPr>
          <a:xfrm>
            <a:off x="4251960" y="4581144"/>
            <a:ext cx="7178040" cy="82296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What result on Nov 18 would tell you something's wrong with the idea? If nothing could, v1 proves nothing.</a:t>
            </a:r>
            <a:endParaRPr lang="en-US" sz="1550" dirty="0"/>
          </a:p>
        </p:txBody>
      </p:sp>
      <p:sp>
        <p:nvSpPr>
          <p:cNvPr id="25" name="click-2"/>
          <p:cNvSpPr/>
          <p:nvPr/>
        </p:nvSpPr>
        <p:spPr>
          <a:xfrm>
            <a:off x="548640" y="5577840"/>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26" name="click-2"/>
          <p:cNvSpPr/>
          <p:nvPr/>
        </p:nvSpPr>
        <p:spPr>
          <a:xfrm>
            <a:off x="868680" y="5577840"/>
            <a:ext cx="10424160" cy="658368"/>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Then: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rank the three, and name one thing you're building that proves none of them.</a:t>
            </a:r>
            <a:endParaRPr lang="en-US" sz="1700" dirty="0"/>
          </a:p>
        </p:txBody>
      </p:sp>
      <p:sp>
        <p:nvSpPr>
          <p:cNvPr id="27" name="Text 21"/>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8"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0"/>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P spid="24"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PROP LOFT'S SHEET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Its answers, ranked</a:t>
            </a:r>
            <a:endParaRPr lang="en-US" sz="3100" dirty="0"/>
          </a:p>
        </p:txBody>
      </p:sp>
      <p:sp>
        <p:nvSpPr>
          <p:cNvPr id="5" name="click-1"/>
          <p:cNvSpPr/>
          <p:nvPr/>
        </p:nvSpPr>
        <p:spPr>
          <a:xfrm>
            <a:off x="548640" y="1783080"/>
            <a:ext cx="1106424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6" name="click-1"/>
          <p:cNvSpPr/>
          <p:nvPr/>
        </p:nvSpPr>
        <p:spPr>
          <a:xfrm>
            <a:off x="731520" y="1984248"/>
            <a:ext cx="512064" cy="512064"/>
          </a:xfrm>
          <a:prstGeom prst="ellipse">
            <a:avLst/>
          </a:prstGeom>
          <a:solidFill>
            <a:srgbClr val="12908F"/>
          </a:solidFill>
          <a:ln/>
        </p:spPr>
      </p:sp>
      <p:sp>
        <p:nvSpPr>
          <p:cNvPr id="7" name="click-1"/>
          <p:cNvSpPr/>
          <p:nvPr/>
        </p:nvSpPr>
        <p:spPr>
          <a:xfrm>
            <a:off x="731520" y="198424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click-1"/>
          <p:cNvSpPr/>
          <p:nvPr/>
        </p:nvSpPr>
        <p:spPr>
          <a:xfrm>
            <a:off x="1417320" y="1783080"/>
            <a:ext cx="1737360" cy="9144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Need</a:t>
            </a:r>
            <a:endParaRPr lang="en-US" sz="1800" dirty="0"/>
          </a:p>
        </p:txBody>
      </p:sp>
      <p:sp>
        <p:nvSpPr>
          <p:cNvPr id="9" name="click-1"/>
          <p:cNvSpPr/>
          <p:nvPr/>
        </p:nvSpPr>
        <p:spPr>
          <a:xfrm>
            <a:off x="3108960" y="1783080"/>
            <a:ext cx="8321040" cy="914400"/>
          </a:xfrm>
          <a:prstGeom prst="rect">
            <a:avLst/>
          </a:prstGeom>
          <a:noFill/>
          <a:ln/>
        </p:spPr>
        <p:txBody>
          <a:bodyPr wrap="square" lIns="0" tIns="0" rIns="0" bIns="0" rtlCol="0" anchor="ctr"/>
          <a:lstStyle/>
          <a:p>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A volunteer answers "do we own this, and who has it?" from a phone in under a minute (design §2). Evidence: the wardrobe lead times it at a fitting.</a:t>
            </a:r>
            <a:endParaRPr lang="en-US" sz="1550" dirty="0"/>
          </a:p>
        </p:txBody>
      </p:sp>
      <p:sp>
        <p:nvSpPr>
          <p:cNvPr id="10" name="click-2"/>
          <p:cNvSpPr/>
          <p:nvPr/>
        </p:nvSpPr>
        <p:spPr>
          <a:xfrm>
            <a:off x="548640" y="2807208"/>
            <a:ext cx="1106424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1" name="click-2"/>
          <p:cNvSpPr/>
          <p:nvPr/>
        </p:nvSpPr>
        <p:spPr>
          <a:xfrm>
            <a:off x="731520" y="3008376"/>
            <a:ext cx="512064" cy="512064"/>
          </a:xfrm>
          <a:prstGeom prst="ellipse">
            <a:avLst/>
          </a:prstGeom>
          <a:solidFill>
            <a:srgbClr val="12908F"/>
          </a:solidFill>
          <a:ln/>
        </p:spPr>
      </p:sp>
      <p:sp>
        <p:nvSpPr>
          <p:cNvPr id="12" name="click-2"/>
          <p:cNvSpPr/>
          <p:nvPr/>
        </p:nvSpPr>
        <p:spPr>
          <a:xfrm>
            <a:off x="731520" y="300837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click-2"/>
          <p:cNvSpPr/>
          <p:nvPr/>
        </p:nvSpPr>
        <p:spPr>
          <a:xfrm>
            <a:off x="1417320" y="2807208"/>
            <a:ext cx="1737360" cy="9144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Usability</a:t>
            </a:r>
            <a:endParaRPr lang="en-US" sz="1800" dirty="0"/>
          </a:p>
        </p:txBody>
      </p:sp>
      <p:sp>
        <p:nvSpPr>
          <p:cNvPr id="14" name="click-2"/>
          <p:cNvSpPr/>
          <p:nvPr/>
        </p:nvSpPr>
        <p:spPr>
          <a:xfrm>
            <a:off x="3108960" y="2807208"/>
            <a:ext cx="8321040" cy="914400"/>
          </a:xfrm>
          <a:prstGeom prst="rect">
            <a:avLst/>
          </a:prstGeom>
          <a:noFill/>
          <a:ln/>
        </p:spPr>
        <p:txBody>
          <a:bodyPr wrap="square" lIns="0" tIns="0" rIns="0" bIns="0" rtlCol="0" anchor="ctr"/>
          <a:lstStyle/>
          <a:p>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A volunteer who has never seen it finds the waistcoat and checks it out, unaided. Evidence: one volunteer, watched, not helped.</a:t>
            </a:r>
            <a:endParaRPr lang="en-US" sz="1550" dirty="0"/>
          </a:p>
        </p:txBody>
      </p:sp>
      <p:sp>
        <p:nvSpPr>
          <p:cNvPr id="15" name="click-3"/>
          <p:cNvSpPr/>
          <p:nvPr/>
        </p:nvSpPr>
        <p:spPr>
          <a:xfrm>
            <a:off x="548640" y="3831336"/>
            <a:ext cx="1106424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6" name="click-3"/>
          <p:cNvSpPr/>
          <p:nvPr/>
        </p:nvSpPr>
        <p:spPr>
          <a:xfrm>
            <a:off x="731520" y="4032504"/>
            <a:ext cx="512064" cy="512064"/>
          </a:xfrm>
          <a:prstGeom prst="ellipse">
            <a:avLst/>
          </a:prstGeom>
          <a:solidFill>
            <a:srgbClr val="12908F"/>
          </a:solidFill>
          <a:ln/>
        </p:spPr>
      </p:sp>
      <p:sp>
        <p:nvSpPr>
          <p:cNvPr id="17" name="click-3"/>
          <p:cNvSpPr/>
          <p:nvPr/>
        </p:nvSpPr>
        <p:spPr>
          <a:xfrm>
            <a:off x="731520" y="4032504"/>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click-3"/>
          <p:cNvSpPr/>
          <p:nvPr/>
        </p:nvSpPr>
        <p:spPr>
          <a:xfrm>
            <a:off x="1417320" y="3831336"/>
            <a:ext cx="1737360" cy="9144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Technical</a:t>
            </a:r>
            <a:endParaRPr lang="en-US" sz="1800" dirty="0"/>
          </a:p>
        </p:txBody>
      </p:sp>
      <p:sp>
        <p:nvSpPr>
          <p:cNvPr id="19" name="click-3"/>
          <p:cNvSpPr/>
          <p:nvPr/>
        </p:nvSpPr>
        <p:spPr>
          <a:xfrm>
            <a:off x="3108960" y="3831336"/>
            <a:ext cx="8321040" cy="914400"/>
          </a:xfrm>
          <a:prstGeom prst="rect">
            <a:avLst/>
          </a:prstGeom>
          <a:noFill/>
          <a:ln/>
        </p:spPr>
        <p:txBody>
          <a:bodyPr wrap="square" lIns="0" tIns="0" rIns="0" bIns="0" rtlCol="0" anchor="ctr"/>
          <a:lstStyle/>
          <a:p>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Two volunteers checking out one item at once: one wins, one is told who has it. Evidence: the test where the database refuses.</a:t>
            </a:r>
            <a:endParaRPr lang="en-US" sz="1550" dirty="0"/>
          </a:p>
        </p:txBody>
      </p:sp>
      <p:sp>
        <p:nvSpPr>
          <p:cNvPr id="20" name="click-4"/>
          <p:cNvSpPr/>
          <p:nvPr/>
        </p:nvSpPr>
        <p:spPr>
          <a:xfrm>
            <a:off x="548640" y="4892040"/>
            <a:ext cx="11064240" cy="1280160"/>
          </a:xfrm>
          <a:prstGeom prst="roundRect">
            <a:avLst>
              <a:gd name="adj" fmla="val 6429"/>
            </a:avLst>
          </a:prstGeom>
          <a:solidFill>
            <a:srgbClr val="FBECE8"/>
          </a:solidFill>
          <a:ln/>
          <a:effectLst>
            <a:outerShdw sx="100000" sy="100000" kx="0" ky="0" algn="bl" rotWithShape="0" blurRad="88900" dist="38100" dir="5400000">
              <a:srgbClr val="000000">
                <a:alpha val="13000"/>
              </a:srgbClr>
            </a:outerShdw>
          </a:effectLst>
        </p:spPr>
      </p:sp>
      <p:sp>
        <p:nvSpPr>
          <p:cNvPr id="21" name="click-4"/>
          <p:cNvSpPr/>
          <p:nvPr/>
        </p:nvSpPr>
        <p:spPr>
          <a:xfrm>
            <a:off x="868680" y="4892040"/>
            <a:ext cx="10424160" cy="1280160"/>
          </a:xfrm>
          <a:prstGeom prst="rect">
            <a:avLst/>
          </a:prstGeom>
          <a:noFill/>
          <a:ln/>
        </p:spPr>
        <p:txBody>
          <a:bodyPr wrap="square" lIns="0" tIns="0" rIns="0" bIns="0" rtlCol="0" anchor="ctr"/>
          <a:lstStyle/>
          <a:p>
            <a:pPr indent="0" marL="0">
              <a:lnSpc>
                <a:spcPct val="104000"/>
              </a:lnSpc>
              <a:buNone/>
            </a:pPr>
            <a:r>
              <a:rPr lang="en-US" sz="1650" b="1" dirty="0">
                <a:solidFill>
                  <a:srgbClr val="D9614C"/>
                </a:solidFill>
                <a:latin typeface="Calibri" pitchFamily="34" charset="0"/>
                <a:ea typeface="Calibri" pitchFamily="34" charset="-122"/>
                <a:cs typeface="Calibri" pitchFamily="34" charset="-120"/>
              </a:rPr>
              <a:t>Falsifier:  </a:t>
            </a:r>
            <a:pPr indent="0" marL="0">
              <a:lnSpc>
                <a:spcPct val="104000"/>
              </a:lnSpc>
              <a:buNone/>
            </a:pPr>
            <a:r>
              <a:rPr lang="en-US" sz="1650" dirty="0">
                <a:solidFill>
                  <a:srgbClr val="1E2A36"/>
                </a:solidFill>
                <a:latin typeface="Calibri" pitchFamily="34" charset="0"/>
                <a:ea typeface="Calibri" pitchFamily="34" charset="-122"/>
                <a:cs typeface="Calibri" pitchFamily="34" charset="-120"/>
              </a:rPr>
              <a:t>the volunteer finishes, then reaches for the paper notebook to double-check. That's the design's own risk (§7): if they don't trust it, the catalog goes stale.</a:t>
            </a:r>
            <a:endParaRPr lang="en-US" sz="1650" dirty="0"/>
          </a:p>
        </p:txBody>
      </p:sp>
      <p:sp>
        <p:nvSpPr>
          <p:cNvPr id="22" name="Text 20"/>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3"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2" presetID="1"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PROP LOFT'S CUT AND CORNERS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proves nothing, and what's temporary</a:t>
            </a:r>
            <a:endParaRPr lang="en-US" sz="3100" dirty="0"/>
          </a:p>
        </p:txBody>
      </p:sp>
      <p:sp>
        <p:nvSpPr>
          <p:cNvPr id="5" name="Shape 3"/>
          <p:cNvSpPr/>
          <p:nvPr/>
        </p:nvSpPr>
        <p:spPr>
          <a:xfrm>
            <a:off x="548640" y="1783080"/>
            <a:ext cx="5440680" cy="2926080"/>
          </a:xfrm>
          <a:prstGeom prst="roundRect">
            <a:avLst>
              <a:gd name="adj" fmla="val 2813"/>
            </a:avLst>
          </a:prstGeom>
          <a:solidFill>
            <a:srgbClr val="FBEEDA"/>
          </a:solidFill>
          <a:ln/>
          <a:effectLst>
            <a:outerShdw sx="100000" sy="100000" kx="0" ky="0" algn="bl" rotWithShape="0" blurRad="88900" dist="38100" dir="5400000">
              <a:srgbClr val="000000">
                <a:alpha val="13000"/>
              </a:srgbClr>
            </a:outerShdw>
          </a:effectLst>
        </p:spPr>
      </p:sp>
      <p:sp>
        <p:nvSpPr>
          <p:cNvPr id="6" name="Text 4"/>
          <p:cNvSpPr/>
          <p:nvPr/>
        </p:nvSpPr>
        <p:spPr>
          <a:xfrm>
            <a:off x="822960" y="1783080"/>
            <a:ext cx="4937760" cy="2926080"/>
          </a:xfrm>
          <a:prstGeom prst="rect">
            <a:avLst/>
          </a:prstGeom>
          <a:noFill/>
          <a:ln/>
        </p:spPr>
        <p:txBody>
          <a:bodyPr wrap="square" lIns="0" tIns="0" rIns="0" bIns="0" rtlCol="0" anchor="ctr"/>
          <a:lstStyle/>
          <a:p>
            <a:pPr indent="0" marL="0">
              <a:lnSpc>
                <a:spcPct val="105000"/>
              </a:lnSpc>
              <a:buNone/>
            </a:pPr>
            <a:r>
              <a:rPr lang="en-US" sz="1900" b="1" dirty="0">
                <a:solidFill>
                  <a:srgbClr val="0E6E6D"/>
                </a:solidFill>
                <a:latin typeface="Calibri" pitchFamily="34" charset="0"/>
                <a:ea typeface="Calibri" pitchFamily="34" charset="-122"/>
                <a:cs typeface="Calibri" pitchFamily="34" charset="-120"/>
              </a:rPr>
              <a:t>The cut</a:t>
            </a:r>
            <a:endParaRPr lang="en-US" sz="1650" dirty="0"/>
          </a:p>
          <a:p>
            <a:pPr indent="0" marL="0">
              <a:lnSpc>
                <a:spcPct val="105000"/>
              </a:lnSpc>
              <a:buNone/>
            </a:pPr>
            <a:r>
              <a:rPr lang="en-US" sz="1650" dirty="0">
                <a:solidFill>
                  <a:srgbClr val="1E2A36"/>
                </a:solidFill>
                <a:latin typeface="Calibri" pitchFamily="34" charset="0"/>
                <a:ea typeface="Calibri" pitchFamily="34" charset="-122"/>
                <a:cs typeface="Calibri" pitchFamily="34" charset="-120"/>
              </a:rPr>
              <a:t>The list's "Out" marker proves none of the three: the item page already shows who has it. So it's first to go if the build falls behind, and that's why it was Session 18's named next cut.</a:t>
            </a:r>
            <a:endParaRPr lang="en-US" sz="1650" dirty="0"/>
          </a:p>
        </p:txBody>
      </p:sp>
      <p:sp>
        <p:nvSpPr>
          <p:cNvPr id="7" name="click-1"/>
          <p:cNvSpPr/>
          <p:nvPr/>
        </p:nvSpPr>
        <p:spPr>
          <a:xfrm>
            <a:off x="6172200" y="1783080"/>
            <a:ext cx="5440680" cy="2926080"/>
          </a:xfrm>
          <a:prstGeom prst="roundRect">
            <a:avLst>
              <a:gd name="adj" fmla="val 2813"/>
            </a:avLst>
          </a:prstGeom>
          <a:solidFill>
            <a:srgbClr val="F2F6F8"/>
          </a:solidFill>
          <a:ln/>
          <a:effectLst>
            <a:outerShdw sx="100000" sy="100000" kx="0" ky="0" algn="bl" rotWithShape="0" blurRad="88900" dist="38100" dir="5400000">
              <a:srgbClr val="000000">
                <a:alpha val="13000"/>
              </a:srgbClr>
            </a:outerShdw>
          </a:effectLst>
        </p:spPr>
      </p:sp>
      <p:sp>
        <p:nvSpPr>
          <p:cNvPr id="8" name="click-1"/>
          <p:cNvSpPr/>
          <p:nvPr/>
        </p:nvSpPr>
        <p:spPr>
          <a:xfrm>
            <a:off x="6446520" y="1783080"/>
            <a:ext cx="4937760" cy="2926080"/>
          </a:xfrm>
          <a:prstGeom prst="rect">
            <a:avLst/>
          </a:prstGeom>
          <a:noFill/>
          <a:ln/>
        </p:spPr>
        <p:txBody>
          <a:bodyPr wrap="square" lIns="0" tIns="0" rIns="0" bIns="0" rtlCol="0" anchor="ctr"/>
          <a:lstStyle/>
          <a:p>
            <a:pPr indent="0" marL="0">
              <a:lnSpc>
                <a:spcPct val="105000"/>
              </a:lnSpc>
              <a:buNone/>
            </a:pPr>
            <a:r>
              <a:rPr lang="en-US" sz="1900" b="1" dirty="0">
                <a:solidFill>
                  <a:srgbClr val="0E6E6D"/>
                </a:solidFill>
                <a:latin typeface="Calibri" pitchFamily="34" charset="0"/>
                <a:ea typeface="Calibri" pitchFamily="34" charset="-122"/>
                <a:cs typeface="Calibri" pitchFamily="34" charset="-120"/>
              </a:rPr>
              <a:t>The corners, labeled</a:t>
            </a:r>
            <a:endParaRPr lang="en-US" sz="1650" dirty="0"/>
          </a:p>
          <a:p>
            <a:pPr marL="203200" indent="-203200">
              <a:lnSpc>
                <a:spcPct val="105000"/>
              </a:lnSpc>
              <a:buSzPct val="100000"/>
              <a:buChar char="•"/>
            </a:pPr>
            <a:r>
              <a:rPr lang="en-US" sz="1650" dirty="0">
                <a:solidFill>
                  <a:srgbClr val="1E2A36"/>
                </a:solidFill>
                <a:latin typeface="Calibri" pitchFamily="34" charset="0"/>
                <a:ea typeface="Calibri" pitchFamily="34" charset="-122"/>
                <a:cs typeface="Calibri" pitchFamily="34" charset="-120"/>
              </a:rPr>
              <a:t>Checkouts go through the admin until the form lands.</a:t>
            </a:r>
            <a:endParaRPr lang="en-US" sz="1650" dirty="0"/>
          </a:p>
          <a:p>
            <a:pPr marL="203200" indent="-203200">
              <a:lnSpc>
                <a:spcPct val="105000"/>
              </a:lnSpc>
              <a:buSzPct val="100000"/>
              <a:buChar char="•"/>
            </a:pPr>
            <a:r>
              <a:rPr lang="en-US" sz="1650" dirty="0">
                <a:solidFill>
                  <a:srgbClr val="1E2A36"/>
                </a:solidFill>
                <a:latin typeface="Calibri" pitchFamily="34" charset="0"/>
                <a:ea typeface="Calibri" pitchFamily="34" charset="-122"/>
                <a:cs typeface="Calibri" pitchFamily="34" charset="-120"/>
              </a:rPr>
              <a:t>Development runs on SQLite; the theater's server runs Postgres.</a:t>
            </a:r>
            <a:endParaRPr lang="en-US" sz="1650" dirty="0"/>
          </a:p>
          <a:p>
            <a:pPr marL="203200" indent="-203200">
              <a:lnSpc>
                <a:spcPct val="105000"/>
              </a:lnSpc>
              <a:buSzPct val="100000"/>
              <a:buChar char="•"/>
            </a:pPr>
            <a:r>
              <a:rPr lang="en-US" sz="1650" dirty="0">
                <a:solidFill>
                  <a:srgbClr val="1E2A36"/>
                </a:solidFill>
                <a:latin typeface="Calibri" pitchFamily="34" charset="0"/>
                <a:ea typeface="Calibri" pitchFamily="34" charset="-122"/>
                <a:cs typeface="Calibri" pitchFamily="34" charset="-120"/>
              </a:rPr>
              <a:t>Five demo items, loaded by hand.</a:t>
            </a:r>
            <a:endParaRPr lang="en-US" sz="1650" dirty="0"/>
          </a:p>
        </p:txBody>
      </p:sp>
      <p:sp>
        <p:nvSpPr>
          <p:cNvPr id="9" name="click-2"/>
          <p:cNvSpPr/>
          <p:nvPr/>
        </p:nvSpPr>
        <p:spPr>
          <a:xfrm>
            <a:off x="548640" y="4937760"/>
            <a:ext cx="11064240" cy="1234440"/>
          </a:xfrm>
          <a:prstGeom prst="roundRect">
            <a:avLst>
              <a:gd name="adj" fmla="val 6667"/>
            </a:avLst>
          </a:prstGeom>
          <a:solidFill>
            <a:srgbClr val="14233A"/>
          </a:solidFill>
          <a:ln/>
          <a:effectLst>
            <a:outerShdw sx="100000" sy="100000" kx="0" ky="0" algn="bl" rotWithShape="0" blurRad="88900" dist="38100" dir="5400000">
              <a:srgbClr val="000000">
                <a:alpha val="13000"/>
              </a:srgbClr>
            </a:outerShdw>
          </a:effectLst>
        </p:spPr>
      </p:sp>
      <p:sp>
        <p:nvSpPr>
          <p:cNvPr id="10" name="click-2"/>
          <p:cNvSpPr/>
          <p:nvPr/>
        </p:nvSpPr>
        <p:spPr>
          <a:xfrm>
            <a:off x="868680" y="4937760"/>
            <a:ext cx="10424160" cy="123444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Not everything must prove a v1 claim.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The setup guide proves none of them and stays: it proves the project is joinable, which is CP10's other half.</a:t>
            </a:r>
            <a:endParaRPr lang="en-US" sz="1700" dirty="0"/>
          </a:p>
        </p:txBody>
      </p:sp>
      <p:sp>
        <p:nvSpPr>
          <p:cNvPr id="11" name="Text 9"/>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12" name="Text 1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20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Fill in your V1 Proof Sheet</a:t>
            </a:r>
            <a:endParaRPr lang="en-US" sz="3200" dirty="0"/>
          </a:p>
        </p:txBody>
      </p:sp>
      <p:sp>
        <p:nvSpPr>
          <p:cNvPr id="6" name="Shape 4"/>
          <p:cNvSpPr/>
          <p:nvPr/>
        </p:nvSpPr>
        <p:spPr>
          <a:xfrm>
            <a:off x="548640" y="1783080"/>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731520" y="1920240"/>
            <a:ext cx="457200" cy="457200"/>
          </a:xfrm>
          <a:prstGeom prst="ellipse">
            <a:avLst/>
          </a:prstGeom>
          <a:solidFill>
            <a:srgbClr val="E8A33D"/>
          </a:solidFill>
          <a:ln/>
        </p:spPr>
      </p:sp>
      <p:sp>
        <p:nvSpPr>
          <p:cNvPr id="8" name="Text 6"/>
          <p:cNvSpPr/>
          <p:nvPr/>
        </p:nvSpPr>
        <p:spPr>
          <a:xfrm>
            <a:off x="731520" y="1920240"/>
            <a:ext cx="457200" cy="45720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1</a:t>
            </a:r>
            <a:endParaRPr lang="en-US" sz="1700" dirty="0"/>
          </a:p>
        </p:txBody>
      </p:sp>
      <p:sp>
        <p:nvSpPr>
          <p:cNvPr id="9" name="Text 7"/>
          <p:cNvSpPr/>
          <p:nvPr/>
        </p:nvSpPr>
        <p:spPr>
          <a:xfrm>
            <a:off x="1371600" y="1783080"/>
            <a:ext cx="3383280" cy="73152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The three claims</a:t>
            </a:r>
            <a:endParaRPr lang="en-US" sz="1750" dirty="0"/>
          </a:p>
        </p:txBody>
      </p:sp>
      <p:sp>
        <p:nvSpPr>
          <p:cNvPr id="10" name="Text 8"/>
          <p:cNvSpPr/>
          <p:nvPr/>
        </p:nvSpPr>
        <p:spPr>
          <a:xfrm>
            <a:off x="4754880" y="1783080"/>
            <a:ext cx="667512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Each with the evidence you'd see on Nov 18. No evidence line, no claim.</a:t>
            </a:r>
            <a:endParaRPr lang="en-US" sz="1550" dirty="0"/>
          </a:p>
        </p:txBody>
      </p:sp>
      <p:sp>
        <p:nvSpPr>
          <p:cNvPr id="11" name="Shape 9"/>
          <p:cNvSpPr/>
          <p:nvPr/>
        </p:nvSpPr>
        <p:spPr>
          <a:xfrm>
            <a:off x="548640" y="2624328"/>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2" name="Shape 10"/>
          <p:cNvSpPr/>
          <p:nvPr/>
        </p:nvSpPr>
        <p:spPr>
          <a:xfrm>
            <a:off x="731520" y="2761488"/>
            <a:ext cx="457200" cy="457200"/>
          </a:xfrm>
          <a:prstGeom prst="ellipse">
            <a:avLst/>
          </a:prstGeom>
          <a:solidFill>
            <a:srgbClr val="E8A33D"/>
          </a:solidFill>
          <a:ln/>
        </p:spPr>
      </p:sp>
      <p:sp>
        <p:nvSpPr>
          <p:cNvPr id="13" name="Text 11"/>
          <p:cNvSpPr/>
          <p:nvPr/>
        </p:nvSpPr>
        <p:spPr>
          <a:xfrm>
            <a:off x="731520" y="2761488"/>
            <a:ext cx="457200" cy="45720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2</a:t>
            </a:r>
            <a:endParaRPr lang="en-US" sz="1700" dirty="0"/>
          </a:p>
        </p:txBody>
      </p:sp>
      <p:sp>
        <p:nvSpPr>
          <p:cNvPr id="14" name="Text 12"/>
          <p:cNvSpPr/>
          <p:nvPr/>
        </p:nvSpPr>
        <p:spPr>
          <a:xfrm>
            <a:off x="1371600" y="2624328"/>
            <a:ext cx="3383280" cy="73152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The falsifier</a:t>
            </a:r>
            <a:endParaRPr lang="en-US" sz="1750" dirty="0"/>
          </a:p>
        </p:txBody>
      </p:sp>
      <p:sp>
        <p:nvSpPr>
          <p:cNvPr id="15" name="Text 13"/>
          <p:cNvSpPr/>
          <p:nvPr/>
        </p:nvSpPr>
        <p:spPr>
          <a:xfrm>
            <a:off x="4754880" y="2624328"/>
            <a:ext cx="667512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The result that would tell you you're wrong. Check your design's risks.</a:t>
            </a:r>
            <a:endParaRPr lang="en-US" sz="1550" dirty="0"/>
          </a:p>
        </p:txBody>
      </p:sp>
      <p:sp>
        <p:nvSpPr>
          <p:cNvPr id="16" name="Shape 14"/>
          <p:cNvSpPr/>
          <p:nvPr/>
        </p:nvSpPr>
        <p:spPr>
          <a:xfrm>
            <a:off x="548640" y="3465576"/>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7" name="Shape 15"/>
          <p:cNvSpPr/>
          <p:nvPr/>
        </p:nvSpPr>
        <p:spPr>
          <a:xfrm>
            <a:off x="731520" y="3602736"/>
            <a:ext cx="457200" cy="457200"/>
          </a:xfrm>
          <a:prstGeom prst="ellipse">
            <a:avLst/>
          </a:prstGeom>
          <a:solidFill>
            <a:srgbClr val="E8A33D"/>
          </a:solidFill>
          <a:ln/>
        </p:spPr>
      </p:sp>
      <p:sp>
        <p:nvSpPr>
          <p:cNvPr id="18" name="Text 16"/>
          <p:cNvSpPr/>
          <p:nvPr/>
        </p:nvSpPr>
        <p:spPr>
          <a:xfrm>
            <a:off x="731520" y="3602736"/>
            <a:ext cx="457200" cy="45720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1371600" y="3465576"/>
            <a:ext cx="3383280" cy="73152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Rank them</a:t>
            </a:r>
            <a:endParaRPr lang="en-US" sz="1750" dirty="0"/>
          </a:p>
        </p:txBody>
      </p:sp>
      <p:sp>
        <p:nvSpPr>
          <p:cNvPr id="20" name="Text 18"/>
          <p:cNvSpPr/>
          <p:nvPr/>
        </p:nvSpPr>
        <p:spPr>
          <a:xfrm>
            <a:off x="4754880" y="3465576"/>
            <a:ext cx="667512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1 is the one v1 most needs to prove. Say why, to yourself.</a:t>
            </a:r>
            <a:endParaRPr lang="en-US" sz="1550" dirty="0"/>
          </a:p>
        </p:txBody>
      </p:sp>
      <p:sp>
        <p:nvSpPr>
          <p:cNvPr id="21" name="Shape 19"/>
          <p:cNvSpPr/>
          <p:nvPr/>
        </p:nvSpPr>
        <p:spPr>
          <a:xfrm>
            <a:off x="548640" y="4306824"/>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22" name="Shape 20"/>
          <p:cNvSpPr/>
          <p:nvPr/>
        </p:nvSpPr>
        <p:spPr>
          <a:xfrm>
            <a:off x="731520" y="4443984"/>
            <a:ext cx="457200" cy="457200"/>
          </a:xfrm>
          <a:prstGeom prst="ellipse">
            <a:avLst/>
          </a:prstGeom>
          <a:solidFill>
            <a:srgbClr val="E8A33D"/>
          </a:solidFill>
          <a:ln/>
        </p:spPr>
      </p:sp>
      <p:sp>
        <p:nvSpPr>
          <p:cNvPr id="23" name="Text 21"/>
          <p:cNvSpPr/>
          <p:nvPr/>
        </p:nvSpPr>
        <p:spPr>
          <a:xfrm>
            <a:off x="731520" y="4443984"/>
            <a:ext cx="457200" cy="45720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4</a:t>
            </a:r>
            <a:endParaRPr lang="en-US" sz="1700" dirty="0"/>
          </a:p>
        </p:txBody>
      </p:sp>
      <p:sp>
        <p:nvSpPr>
          <p:cNvPr id="24" name="Text 22"/>
          <p:cNvSpPr/>
          <p:nvPr/>
        </p:nvSpPr>
        <p:spPr>
          <a:xfrm>
            <a:off x="1371600" y="4306824"/>
            <a:ext cx="3383280" cy="73152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The cut and the corners</a:t>
            </a:r>
            <a:endParaRPr lang="en-US" sz="1750" dirty="0"/>
          </a:p>
        </p:txBody>
      </p:sp>
      <p:sp>
        <p:nvSpPr>
          <p:cNvPr id="25" name="Text 23"/>
          <p:cNvSpPr/>
          <p:nvPr/>
        </p:nvSpPr>
        <p:spPr>
          <a:xfrm>
            <a:off x="4754880" y="4306824"/>
            <a:ext cx="667512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One thing that proves nothing, moved. Every temporary thing, labeled.</a:t>
            </a:r>
            <a:endParaRPr lang="en-US" sz="1550" dirty="0"/>
          </a:p>
        </p:txBody>
      </p:sp>
      <p:sp>
        <p:nvSpPr>
          <p:cNvPr id="26" name="Shape 24"/>
          <p:cNvSpPr/>
          <p:nvPr/>
        </p:nvSpPr>
        <p:spPr>
          <a:xfrm>
            <a:off x="548640" y="5257800"/>
            <a:ext cx="11064240" cy="914400"/>
          </a:xfrm>
          <a:prstGeom prst="roundRect">
            <a:avLst>
              <a:gd name="adj" fmla="val 9000"/>
            </a:avLst>
          </a:prstGeom>
          <a:solidFill>
            <a:srgbClr val="E8A33D"/>
          </a:solidFill>
          <a:ln/>
          <a:effectLst>
            <a:outerShdw sx="100000" sy="100000" kx="0" ky="0" algn="bl" rotWithShape="0" blurRad="88900" dist="38100" dir="5400000">
              <a:srgbClr val="000000">
                <a:alpha val="13000"/>
              </a:srgbClr>
            </a:outerShdw>
          </a:effectLst>
        </p:spPr>
      </p:sp>
      <p:sp>
        <p:nvSpPr>
          <p:cNvPr id="27" name="Text 25"/>
          <p:cNvSpPr/>
          <p:nvPr/>
        </p:nvSpPr>
        <p:spPr>
          <a:xfrm>
            <a:off x="868680" y="5257800"/>
            <a:ext cx="10424160" cy="914400"/>
          </a:xfrm>
          <a:prstGeom prst="rect">
            <a:avLst/>
          </a:prstGeom>
          <a:noFill/>
          <a:ln/>
        </p:spPr>
        <p:txBody>
          <a:bodyPr wrap="square" lIns="0" tIns="0" rIns="0" bIns="0" rtlCol="0" anchor="ctr"/>
          <a:lstStyle/>
          <a:p>
            <a:pPr indent="0" marL="0">
              <a:buNone/>
            </a:pPr>
            <a:r>
              <a:rPr lang="en-US" sz="1800" b="1" dirty="0">
                <a:solidFill>
                  <a:srgbClr val="14233A"/>
                </a:solidFill>
                <a:latin typeface="Calibri" pitchFamily="34" charset="0"/>
                <a:ea typeface="Calibri" pitchFamily="34" charset="-122"/>
                <a:cs typeface="Calibri" pitchFamily="34" charset="-120"/>
              </a:rPr>
              <a:t>Share-out, aloud:  </a:t>
            </a:r>
            <a:pPr indent="0" marL="0">
              <a:buNone/>
            </a:pPr>
            <a:r>
              <a:rPr lang="en-US" sz="1800" dirty="0">
                <a:solidFill>
                  <a:srgbClr val="14233A"/>
                </a:solidFill>
                <a:latin typeface="Calibri" pitchFamily="34" charset="0"/>
                <a:ea typeface="Calibri" pitchFamily="34" charset="-122"/>
                <a:cs typeface="Calibri" pitchFamily="34" charset="-120"/>
              </a:rPr>
              <a:t>one claim and one cut per project. Last 5 minutes.</a:t>
            </a:r>
            <a:endParaRPr lang="en-US" sz="1800" dirty="0"/>
          </a:p>
        </p:txBody>
      </p:sp>
      <p:sp>
        <p:nvSpPr>
          <p:cNvPr id="28" name="Text 26"/>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9" name="Text 2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EVALUATE IT · 1 OF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git's first commit, April 2005</a:t>
            </a:r>
            <a:endParaRPr lang="en-US" sz="3100" dirty="0"/>
          </a:p>
        </p:txBody>
      </p:sp>
      <p:sp>
        <p:nvSpPr>
          <p:cNvPr id="5" name="Shape 3"/>
          <p:cNvSpPr/>
          <p:nvPr/>
        </p:nvSpPr>
        <p:spPr>
          <a:xfrm>
            <a:off x="548640" y="1783080"/>
            <a:ext cx="4754880" cy="3429000"/>
          </a:xfrm>
          <a:prstGeom prst="roundRect">
            <a:avLst>
              <a:gd name="adj" fmla="val 24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65960"/>
            <a:ext cx="566928" cy="566928"/>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30311" y="2119031"/>
            <a:ext cx="260787" cy="260787"/>
          </a:xfrm>
          <a:prstGeom prst="rect">
            <a:avLst/>
          </a:prstGeom>
        </p:spPr>
      </p:pic>
      <p:sp>
        <p:nvSpPr>
          <p:cNvPr id="8" name="Text 5"/>
          <p:cNvSpPr/>
          <p:nvPr/>
        </p:nvSpPr>
        <p:spPr>
          <a:xfrm>
            <a:off x="777240" y="2697480"/>
            <a:ext cx="4297680" cy="2423160"/>
          </a:xfrm>
          <a:prstGeom prst="rect">
            <a:avLst/>
          </a:prstGeom>
          <a:noFill/>
          <a:ln/>
        </p:spPr>
        <p:txBody>
          <a:bodyPr wrap="square" lIns="0" tIns="0" rIns="0" bIns="0" rtlCol="0" anchor="t"/>
          <a:lstStyle/>
          <a:p>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Linus Torvalds: "Initial revision of 'git', the information manager from hell." About 1,200 lines of C in 11 files: a handful of low-level commands to store, read, and commit content. No friendly commands, no merging.</a:t>
            </a:r>
            <a:endParaRPr lang="en-US" sz="1550" dirty="0"/>
          </a:p>
        </p:txBody>
      </p:sp>
      <p:sp>
        <p:nvSpPr>
          <p:cNvPr id="9" name="click-1"/>
          <p:cNvSpPr/>
          <p:nvPr/>
        </p:nvSpPr>
        <p:spPr>
          <a:xfrm>
            <a:off x="5486400" y="1783080"/>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0" name="click-1"/>
          <p:cNvSpPr/>
          <p:nvPr/>
        </p:nvSpPr>
        <p:spPr>
          <a:xfrm>
            <a:off x="5715000" y="1783080"/>
            <a:ext cx="5760720" cy="768096"/>
          </a:xfrm>
          <a:prstGeom prst="rect">
            <a:avLst/>
          </a:prstGeom>
          <a:noFill/>
          <a:ln/>
        </p:spPr>
        <p:txBody>
          <a:bodyPr wrap="square" lIns="0" tIns="0" rIns="0" bIns="0" rtlCol="0" anchor="ctr"/>
          <a:lstStyle/>
          <a:p>
            <a:pPr indent="0" marL="0">
              <a:lnSpc>
                <a:spcPct val="100000"/>
              </a:lnSpc>
              <a:buNone/>
            </a:pPr>
            <a:r>
              <a:rPr lang="en-US" sz="1550" b="1" dirty="0">
                <a:solidFill>
                  <a:srgbClr val="0E6E6D"/>
                </a:solidFill>
                <a:latin typeface="Calibri" pitchFamily="34" charset="0"/>
                <a:ea typeface="Calibri" pitchFamily="34" charset="-122"/>
                <a:cs typeface="Calibri" pitchFamily="34" charset="-120"/>
              </a:rPr>
              <a:t>Need  </a:t>
            </a:r>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Linus needed it himself, at once: it managed its own source the next day.</a:t>
            </a:r>
            <a:endParaRPr lang="en-US" sz="1550" dirty="0"/>
          </a:p>
        </p:txBody>
      </p:sp>
      <p:sp>
        <p:nvSpPr>
          <p:cNvPr id="11" name="click-2"/>
          <p:cNvSpPr/>
          <p:nvPr/>
        </p:nvSpPr>
        <p:spPr>
          <a:xfrm>
            <a:off x="5486400" y="2660904"/>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2" name="click-2"/>
          <p:cNvSpPr/>
          <p:nvPr/>
        </p:nvSpPr>
        <p:spPr>
          <a:xfrm>
            <a:off x="5715000" y="2660904"/>
            <a:ext cx="5760720" cy="768096"/>
          </a:xfrm>
          <a:prstGeom prst="rect">
            <a:avLst/>
          </a:prstGeom>
          <a:noFill/>
          <a:ln/>
        </p:spPr>
        <p:txBody>
          <a:bodyPr wrap="square" lIns="0" tIns="0" rIns="0" bIns="0" rtlCol="0" anchor="ctr"/>
          <a:lstStyle/>
          <a:p>
            <a:pPr indent="0" marL="0">
              <a:lnSpc>
                <a:spcPct val="100000"/>
              </a:lnSpc>
              <a:buNone/>
            </a:pPr>
            <a:r>
              <a:rPr lang="en-US" sz="1550" b="1" dirty="0">
                <a:solidFill>
                  <a:srgbClr val="0E6E6D"/>
                </a:solidFill>
                <a:latin typeface="Calibri" pitchFamily="34" charset="0"/>
                <a:ea typeface="Calibri" pitchFamily="34" charset="-122"/>
                <a:cs typeface="Calibri" pitchFamily="34" charset="-120"/>
              </a:rPr>
              <a:t>Technical, ranked first  </a:t>
            </a:r>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Fast enough for the kernel. His target: apply a patch in 3 seconds or less.</a:t>
            </a:r>
            <a:endParaRPr lang="en-US" sz="1550" dirty="0"/>
          </a:p>
        </p:txBody>
      </p:sp>
      <p:sp>
        <p:nvSpPr>
          <p:cNvPr id="13" name="click-3"/>
          <p:cNvSpPr/>
          <p:nvPr/>
        </p:nvSpPr>
        <p:spPr>
          <a:xfrm>
            <a:off x="5486400" y="3538728"/>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4" name="click-3"/>
          <p:cNvSpPr/>
          <p:nvPr/>
        </p:nvSpPr>
        <p:spPr>
          <a:xfrm>
            <a:off x="5715000" y="3538728"/>
            <a:ext cx="5760720" cy="768096"/>
          </a:xfrm>
          <a:prstGeom prst="rect">
            <a:avLst/>
          </a:prstGeom>
          <a:noFill/>
          <a:ln/>
        </p:spPr>
        <p:txBody>
          <a:bodyPr wrap="square" lIns="0" tIns="0" rIns="0" bIns="0" rtlCol="0" anchor="ctr"/>
          <a:lstStyle/>
          <a:p>
            <a:pPr indent="0" marL="0">
              <a:lnSpc>
                <a:spcPct val="100000"/>
              </a:lnSpc>
              <a:buNone/>
            </a:pPr>
            <a:r>
              <a:rPr lang="en-US" sz="1550" b="1" dirty="0">
                <a:solidFill>
                  <a:srgbClr val="0E6E6D"/>
                </a:solidFill>
                <a:latin typeface="Calibri" pitchFamily="34" charset="0"/>
                <a:ea typeface="Calibri" pitchFamily="34" charset="-122"/>
                <a:cs typeface="Calibri" pitchFamily="34" charset="-120"/>
              </a:rPr>
              <a:t>Usability  </a:t>
            </a:r>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Deliberately not yet. No porcelain; merging came eleven days later.</a:t>
            </a:r>
            <a:endParaRPr lang="en-US" sz="1550" dirty="0"/>
          </a:p>
        </p:txBody>
      </p:sp>
      <p:sp>
        <p:nvSpPr>
          <p:cNvPr id="15" name="click-4"/>
          <p:cNvSpPr/>
          <p:nvPr/>
        </p:nvSpPr>
        <p:spPr>
          <a:xfrm>
            <a:off x="5486400" y="4416552"/>
            <a:ext cx="6126480" cy="768096"/>
          </a:xfrm>
          <a:prstGeom prst="roundRect">
            <a:avLst>
              <a:gd name="adj" fmla="val 10714"/>
            </a:avLst>
          </a:prstGeom>
          <a:solidFill>
            <a:srgbClr val="FBEEDA"/>
          </a:solidFill>
          <a:ln/>
          <a:effectLst>
            <a:outerShdw sx="100000" sy="100000" kx="0" ky="0" algn="bl" rotWithShape="0" blurRad="88900" dist="38100" dir="5400000">
              <a:srgbClr val="000000">
                <a:alpha val="13000"/>
              </a:srgbClr>
            </a:outerShdw>
          </a:effectLst>
        </p:spPr>
      </p:sp>
      <p:sp>
        <p:nvSpPr>
          <p:cNvPr id="16" name="click-4"/>
          <p:cNvSpPr/>
          <p:nvPr/>
        </p:nvSpPr>
        <p:spPr>
          <a:xfrm>
            <a:off x="5715000" y="4416552"/>
            <a:ext cx="5760720" cy="768096"/>
          </a:xfrm>
          <a:prstGeom prst="rect">
            <a:avLst/>
          </a:prstGeom>
          <a:noFill/>
          <a:ln/>
        </p:spPr>
        <p:txBody>
          <a:bodyPr wrap="square" lIns="0" tIns="0" rIns="0" bIns="0" rtlCol="0" anchor="ctr"/>
          <a:lstStyle/>
          <a:p>
            <a:pPr indent="0" marL="0">
              <a:lnSpc>
                <a:spcPct val="100000"/>
              </a:lnSpc>
              <a:buNone/>
            </a:pPr>
            <a:r>
              <a:rPr lang="en-US" sz="1550" b="1" dirty="0">
                <a:solidFill>
                  <a:srgbClr val="0E6E6D"/>
                </a:solidFill>
                <a:latin typeface="Calibri" pitchFamily="34" charset="0"/>
                <a:ea typeface="Calibri" pitchFamily="34" charset="-122"/>
                <a:cs typeface="Calibri" pitchFamily="34" charset="-120"/>
              </a:rPr>
              <a:t>What it skipped  </a:t>
            </a:r>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Everything that didn't test the scary claim.</a:t>
            </a:r>
            <a:endParaRPr lang="en-US" sz="1550" dirty="0"/>
          </a:p>
        </p:txBody>
      </p:sp>
      <p:sp>
        <p:nvSpPr>
          <p:cNvPr id="17" name="click-5"/>
          <p:cNvSpPr/>
          <p:nvPr/>
        </p:nvSpPr>
        <p:spPr>
          <a:xfrm>
            <a:off x="548640" y="5440680"/>
            <a:ext cx="11064240" cy="777240"/>
          </a:xfrm>
          <a:prstGeom prst="roundRect">
            <a:avLst>
              <a:gd name="adj" fmla="val 10588"/>
            </a:avLst>
          </a:prstGeom>
          <a:solidFill>
            <a:srgbClr val="14233A"/>
          </a:solidFill>
          <a:ln/>
          <a:effectLst>
            <a:outerShdw sx="100000" sy="100000" kx="0" ky="0" algn="bl" rotWithShape="0" blurRad="88900" dist="38100" dir="5400000">
              <a:srgbClr val="000000">
                <a:alpha val="13000"/>
              </a:srgbClr>
            </a:outerShdw>
          </a:effectLst>
        </p:spPr>
      </p:sp>
      <p:sp>
        <p:nvSpPr>
          <p:cNvPr id="18" name="click-5"/>
          <p:cNvSpPr/>
          <p:nvPr/>
        </p:nvSpPr>
        <p:spPr>
          <a:xfrm>
            <a:off x="868680" y="5440680"/>
            <a:ext cx="10424160" cy="77724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The lesson: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rank the claims, prove the scariest with the thinnest end-to-end thing, and defer the rest on purpose. Ten weeks later it managed a kernel release.</a:t>
            </a:r>
            <a:endParaRPr lang="en-US" sz="1700" dirty="0"/>
          </a:p>
        </p:txBody>
      </p:sp>
      <p:sp>
        <p:nvSpPr>
          <p:cNvPr id="19" name="Text 16"/>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0"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4" presetID="1"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EVALUATE IT · 2 OF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Denied, then Flask, April 2010</a:t>
            </a:r>
            <a:endParaRPr lang="en-US" sz="3100" dirty="0"/>
          </a:p>
        </p:txBody>
      </p:sp>
      <p:sp>
        <p:nvSpPr>
          <p:cNvPr id="5" name="Shape 3"/>
          <p:cNvSpPr/>
          <p:nvPr/>
        </p:nvSpPr>
        <p:spPr>
          <a:xfrm>
            <a:off x="548640" y="1783080"/>
            <a:ext cx="4754880" cy="3429000"/>
          </a:xfrm>
          <a:prstGeom prst="roundRect">
            <a:avLst>
              <a:gd name="adj" fmla="val 24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65960"/>
            <a:ext cx="566928" cy="56692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30311" y="2119031"/>
            <a:ext cx="260787" cy="260787"/>
          </a:xfrm>
          <a:prstGeom prst="rect">
            <a:avLst/>
          </a:prstGeom>
        </p:spPr>
      </p:pic>
      <p:sp>
        <p:nvSpPr>
          <p:cNvPr id="8" name="Text 5"/>
          <p:cNvSpPr/>
          <p:nvPr/>
        </p:nvSpPr>
        <p:spPr>
          <a:xfrm>
            <a:off x="777240" y="2697480"/>
            <a:ext cx="4297680" cy="2423160"/>
          </a:xfrm>
          <a:prstGeom prst="rect">
            <a:avLst/>
          </a:prstGeom>
          <a:noFill/>
          <a:ln/>
        </p:spPr>
        <p:txBody>
          <a:bodyPr wrap="square" lIns="0" tIns="0" rIns="0" bIns="0" rtlCol="0" anchor="t"/>
          <a:lstStyle/>
          <a:p>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Armin Ronacher's April Fools' joke: a one-file Python "microframework," about 160 lines wrapping two existing libraries, with a website and a screencast. Over 10,000 screencast downloads and 50,000 site visits in days. A month later he started Flask, written fresh.</a:t>
            </a:r>
            <a:endParaRPr lang="en-US" sz="1550" dirty="0"/>
          </a:p>
        </p:txBody>
      </p:sp>
      <p:sp>
        <p:nvSpPr>
          <p:cNvPr id="9" name="click-1"/>
          <p:cNvSpPr/>
          <p:nvPr/>
        </p:nvSpPr>
        <p:spPr>
          <a:xfrm>
            <a:off x="5486400" y="1783080"/>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0" name="click-1"/>
          <p:cNvSpPr/>
          <p:nvPr/>
        </p:nvSpPr>
        <p:spPr>
          <a:xfrm>
            <a:off x="5715000" y="1783080"/>
            <a:ext cx="5760720" cy="768096"/>
          </a:xfrm>
          <a:prstGeom prst="rect">
            <a:avLst/>
          </a:prstGeom>
          <a:noFill/>
          <a:ln/>
        </p:spPr>
        <p:txBody>
          <a:bodyPr wrap="square" lIns="0" tIns="0" rIns="0" bIns="0" rtlCol="0" anchor="ctr"/>
          <a:lstStyle/>
          <a:p>
            <a:pPr indent="0" marL="0">
              <a:lnSpc>
                <a:spcPct val="100000"/>
              </a:lnSpc>
              <a:buNone/>
            </a:pPr>
            <a:r>
              <a:rPr lang="en-US" sz="1550" b="1" dirty="0">
                <a:solidFill>
                  <a:srgbClr val="0E6E6D"/>
                </a:solidFill>
                <a:latin typeface="Calibri" pitchFamily="34" charset="0"/>
                <a:ea typeface="Calibri" pitchFamily="34" charset="-122"/>
                <a:cs typeface="Calibri" pitchFamily="34" charset="-120"/>
              </a:rPr>
              <a:t>Need, ranked first  </a:t>
            </a:r>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People really wanted a tiny, simple web framework.</a:t>
            </a:r>
            <a:endParaRPr lang="en-US" sz="1550" dirty="0"/>
          </a:p>
        </p:txBody>
      </p:sp>
      <p:sp>
        <p:nvSpPr>
          <p:cNvPr id="11" name="click-2"/>
          <p:cNvSpPr/>
          <p:nvPr/>
        </p:nvSpPr>
        <p:spPr>
          <a:xfrm>
            <a:off x="5486400" y="2660904"/>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2" name="click-2"/>
          <p:cNvSpPr/>
          <p:nvPr/>
        </p:nvSpPr>
        <p:spPr>
          <a:xfrm>
            <a:off x="5715000" y="2660904"/>
            <a:ext cx="5760720" cy="768096"/>
          </a:xfrm>
          <a:prstGeom prst="rect">
            <a:avLst/>
          </a:prstGeom>
          <a:noFill/>
          <a:ln/>
        </p:spPr>
        <p:txBody>
          <a:bodyPr wrap="square" lIns="0" tIns="0" rIns="0" bIns="0" rtlCol="0" anchor="ctr"/>
          <a:lstStyle/>
          <a:p>
            <a:pPr indent="0" marL="0">
              <a:lnSpc>
                <a:spcPct val="100000"/>
              </a:lnSpc>
              <a:buNone/>
            </a:pPr>
            <a:r>
              <a:rPr lang="en-US" sz="1550" b="1" dirty="0">
                <a:solidFill>
                  <a:srgbClr val="0E6E6D"/>
                </a:solidFill>
                <a:latin typeface="Calibri" pitchFamily="34" charset="0"/>
                <a:ea typeface="Calibri" pitchFamily="34" charset="-122"/>
                <a:cs typeface="Calibri" pitchFamily="34" charset="-120"/>
              </a:rPr>
              <a:t>Technical  </a:t>
            </a:r>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None: it was a joke wrapper, and none of it was kept.</a:t>
            </a:r>
            <a:endParaRPr lang="en-US" sz="1550" dirty="0"/>
          </a:p>
        </p:txBody>
      </p:sp>
      <p:sp>
        <p:nvSpPr>
          <p:cNvPr id="13" name="click-3"/>
          <p:cNvSpPr/>
          <p:nvPr/>
        </p:nvSpPr>
        <p:spPr>
          <a:xfrm>
            <a:off x="5486400" y="3538728"/>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4" name="click-3"/>
          <p:cNvSpPr/>
          <p:nvPr/>
        </p:nvSpPr>
        <p:spPr>
          <a:xfrm>
            <a:off x="5715000" y="3538728"/>
            <a:ext cx="5760720" cy="768096"/>
          </a:xfrm>
          <a:prstGeom prst="rect">
            <a:avLst/>
          </a:prstGeom>
          <a:noFill/>
          <a:ln/>
        </p:spPr>
        <p:txBody>
          <a:bodyPr wrap="square" lIns="0" tIns="0" rIns="0" bIns="0" rtlCol="0" anchor="ctr"/>
          <a:lstStyle/>
          <a:p>
            <a:pPr indent="0" marL="0">
              <a:lnSpc>
                <a:spcPct val="100000"/>
              </a:lnSpc>
              <a:buNone/>
            </a:pPr>
            <a:r>
              <a:rPr lang="en-US" sz="1550" b="1" dirty="0">
                <a:solidFill>
                  <a:srgbClr val="0E6E6D"/>
                </a:solidFill>
                <a:latin typeface="Calibri" pitchFamily="34" charset="0"/>
                <a:ea typeface="Calibri" pitchFamily="34" charset="-122"/>
                <a:cs typeface="Calibri" pitchFamily="34" charset="-120"/>
              </a:rPr>
              <a:t>Usability  </a:t>
            </a:r>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The snippets on the website were the product.</a:t>
            </a:r>
            <a:endParaRPr lang="en-US" sz="1550" dirty="0"/>
          </a:p>
        </p:txBody>
      </p:sp>
      <p:sp>
        <p:nvSpPr>
          <p:cNvPr id="15" name="click-4"/>
          <p:cNvSpPr/>
          <p:nvPr/>
        </p:nvSpPr>
        <p:spPr>
          <a:xfrm>
            <a:off x="5486400" y="4416552"/>
            <a:ext cx="6126480" cy="768096"/>
          </a:xfrm>
          <a:prstGeom prst="roundRect">
            <a:avLst>
              <a:gd name="adj" fmla="val 10714"/>
            </a:avLst>
          </a:prstGeom>
          <a:solidFill>
            <a:srgbClr val="FBEEDA"/>
          </a:solidFill>
          <a:ln/>
          <a:effectLst>
            <a:outerShdw sx="100000" sy="100000" kx="0" ky="0" algn="bl" rotWithShape="0" blurRad="88900" dist="38100" dir="5400000">
              <a:srgbClr val="000000">
                <a:alpha val="13000"/>
              </a:srgbClr>
            </a:outerShdw>
          </a:effectLst>
        </p:spPr>
      </p:sp>
      <p:sp>
        <p:nvSpPr>
          <p:cNvPr id="16" name="click-4"/>
          <p:cNvSpPr/>
          <p:nvPr/>
        </p:nvSpPr>
        <p:spPr>
          <a:xfrm>
            <a:off x="5715000" y="4416552"/>
            <a:ext cx="5760720" cy="768096"/>
          </a:xfrm>
          <a:prstGeom prst="rect">
            <a:avLst/>
          </a:prstGeom>
          <a:noFill/>
          <a:ln/>
        </p:spPr>
        <p:txBody>
          <a:bodyPr wrap="square" lIns="0" tIns="0" rIns="0" bIns="0" rtlCol="0" anchor="ctr"/>
          <a:lstStyle/>
          <a:p>
            <a:pPr indent="0" marL="0">
              <a:lnSpc>
                <a:spcPct val="100000"/>
              </a:lnSpc>
              <a:buNone/>
            </a:pPr>
            <a:r>
              <a:rPr lang="en-US" sz="1550" b="1" dirty="0">
                <a:solidFill>
                  <a:srgbClr val="0E6E6D"/>
                </a:solidFill>
                <a:latin typeface="Calibri" pitchFamily="34" charset="0"/>
                <a:ea typeface="Calibri" pitchFamily="34" charset="-122"/>
                <a:cs typeface="Calibri" pitchFamily="34" charset="-120"/>
              </a:rPr>
              <a:t>Kind  </a:t>
            </a:r>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Throwaway. It answered a question, then went away.</a:t>
            </a:r>
            <a:endParaRPr lang="en-US" sz="1550" dirty="0"/>
          </a:p>
        </p:txBody>
      </p:sp>
      <p:sp>
        <p:nvSpPr>
          <p:cNvPr id="17" name="click-5"/>
          <p:cNvSpPr/>
          <p:nvPr/>
        </p:nvSpPr>
        <p:spPr>
          <a:xfrm>
            <a:off x="548640" y="5440680"/>
            <a:ext cx="11064240" cy="777240"/>
          </a:xfrm>
          <a:prstGeom prst="roundRect">
            <a:avLst>
              <a:gd name="adj" fmla="val 10588"/>
            </a:avLst>
          </a:prstGeom>
          <a:solidFill>
            <a:srgbClr val="14233A"/>
          </a:solidFill>
          <a:ln/>
          <a:effectLst>
            <a:outerShdw sx="100000" sy="100000" kx="0" ky="0" algn="bl" rotWithShape="0" blurRad="88900" dist="38100" dir="5400000">
              <a:srgbClr val="000000">
                <a:alpha val="13000"/>
              </a:srgbClr>
            </a:outerShdw>
          </a:effectLst>
        </p:spPr>
      </p:sp>
      <p:sp>
        <p:nvSpPr>
          <p:cNvPr id="18" name="click-5"/>
          <p:cNvSpPr/>
          <p:nvPr/>
        </p:nvSpPr>
        <p:spPr>
          <a:xfrm>
            <a:off x="868680" y="5440680"/>
            <a:ext cx="10424160" cy="77724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The lesson: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a throwaway can answer the need question cheaply, and its job is to be thrown away. The answer is what you keep.</a:t>
            </a:r>
            <a:endParaRPr lang="en-US" sz="1700" dirty="0"/>
          </a:p>
        </p:txBody>
      </p:sp>
      <p:sp>
        <p:nvSpPr>
          <p:cNvPr id="19" name="Text 16"/>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0"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4" presetID="1"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EVALUATE IT · 3 OF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Prop Loft, built screen-first</a:t>
            </a:r>
            <a:endParaRPr lang="en-US" sz="3100" dirty="0"/>
          </a:p>
        </p:txBody>
      </p:sp>
      <p:sp>
        <p:nvSpPr>
          <p:cNvPr id="5" name="Shape 3"/>
          <p:cNvSpPr/>
          <p:nvPr/>
        </p:nvSpPr>
        <p:spPr>
          <a:xfrm>
            <a:off x="548640" y="1783080"/>
            <a:ext cx="4754880" cy="3429000"/>
          </a:xfrm>
          <a:prstGeom prst="roundRect">
            <a:avLst>
              <a:gd name="adj" fmla="val 2400"/>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65960"/>
            <a:ext cx="566928" cy="566928"/>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30311" y="2119031"/>
            <a:ext cx="260787" cy="260787"/>
          </a:xfrm>
          <a:prstGeom prst="rect">
            <a:avLst/>
          </a:prstGeom>
        </p:spPr>
      </p:pic>
      <p:sp>
        <p:nvSpPr>
          <p:cNvPr id="8" name="Text 5"/>
          <p:cNvSpPr/>
          <p:nvPr/>
        </p:nvSpPr>
        <p:spPr>
          <a:xfrm>
            <a:off x="777240" y="2697480"/>
            <a:ext cx="4297680" cy="242316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Same project, same hours as Session 18. A styled search page, a styled item page, a styled checkout form. Every screen demos. There's no checkout model behind them.</a:t>
            </a:r>
            <a:endParaRPr lang="en-US" sz="1600" dirty="0"/>
          </a:p>
        </p:txBody>
      </p:sp>
      <p:sp>
        <p:nvSpPr>
          <p:cNvPr id="9" name="click-1"/>
          <p:cNvSpPr/>
          <p:nvPr/>
        </p:nvSpPr>
        <p:spPr>
          <a:xfrm>
            <a:off x="5486400" y="1783080"/>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0" name="click-1"/>
          <p:cNvSpPr/>
          <p:nvPr/>
        </p:nvSpPr>
        <p:spPr>
          <a:xfrm>
            <a:off x="5715000" y="1783080"/>
            <a:ext cx="5760720" cy="768096"/>
          </a:xfrm>
          <a:prstGeom prst="rect">
            <a:avLst/>
          </a:prstGeom>
          <a:noFill/>
          <a:ln/>
        </p:spPr>
        <p:txBody>
          <a:bodyPr wrap="square" lIns="0" tIns="0" rIns="0" bIns="0" rtlCol="0" anchor="ctr"/>
          <a:lstStyle/>
          <a:p>
            <a:pPr indent="0" marL="0">
              <a:buNone/>
            </a:pPr>
            <a:r>
              <a:rPr lang="en-US" sz="1550" b="1" dirty="0">
                <a:solidFill>
                  <a:srgbClr val="D9614C"/>
                </a:solidFill>
                <a:latin typeface="Calibri" pitchFamily="34" charset="0"/>
                <a:ea typeface="Calibri" pitchFamily="34" charset="-122"/>
                <a:cs typeface="Calibri" pitchFamily="34" charset="-120"/>
              </a:rPr>
              <a:t>Need  </a:t>
            </a:r>
            <a:pPr indent="0" marL="0">
              <a:buNone/>
            </a:pPr>
            <a:r>
              <a:rPr lang="en-US" sz="1550" dirty="0">
                <a:solidFill>
                  <a:srgbClr val="1E2A36"/>
                </a:solidFill>
                <a:latin typeface="Calibri" pitchFamily="34" charset="0"/>
                <a:ea typeface="Calibri" pitchFamily="34" charset="-122"/>
                <a:cs typeface="Calibri" pitchFamily="34" charset="-120"/>
              </a:rPr>
              <a:t>Can a volunteer find out who has it? No: nothing records it.</a:t>
            </a:r>
            <a:endParaRPr lang="en-US" sz="1550" dirty="0"/>
          </a:p>
        </p:txBody>
      </p:sp>
      <p:sp>
        <p:nvSpPr>
          <p:cNvPr id="11" name="click-2"/>
          <p:cNvSpPr/>
          <p:nvPr/>
        </p:nvSpPr>
        <p:spPr>
          <a:xfrm>
            <a:off x="5486400" y="2660904"/>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2" name="click-2"/>
          <p:cNvSpPr/>
          <p:nvPr/>
        </p:nvSpPr>
        <p:spPr>
          <a:xfrm>
            <a:off x="5715000" y="2660904"/>
            <a:ext cx="5760720" cy="768096"/>
          </a:xfrm>
          <a:prstGeom prst="rect">
            <a:avLst/>
          </a:prstGeom>
          <a:noFill/>
          <a:ln/>
        </p:spPr>
        <p:txBody>
          <a:bodyPr wrap="square" lIns="0" tIns="0" rIns="0" bIns="0" rtlCol="0" anchor="ctr"/>
          <a:lstStyle/>
          <a:p>
            <a:pPr indent="0" marL="0">
              <a:buNone/>
            </a:pPr>
            <a:r>
              <a:rPr lang="en-US" sz="1550" b="1" dirty="0">
                <a:solidFill>
                  <a:srgbClr val="D9614C"/>
                </a:solidFill>
                <a:latin typeface="Calibri" pitchFamily="34" charset="0"/>
                <a:ea typeface="Calibri" pitchFamily="34" charset="-122"/>
                <a:cs typeface="Calibri" pitchFamily="34" charset="-120"/>
              </a:rPr>
              <a:t>Technical  </a:t>
            </a:r>
            <a:pPr indent="0" marL="0">
              <a:buNone/>
            </a:pPr>
            <a:r>
              <a:rPr lang="en-US" sz="1550" dirty="0">
                <a:solidFill>
                  <a:srgbClr val="1E2A36"/>
                </a:solidFill>
                <a:latin typeface="Calibri" pitchFamily="34" charset="0"/>
                <a:ea typeface="Calibri" pitchFamily="34" charset="-122"/>
                <a:cs typeface="Calibri" pitchFamily="34" charset="-120"/>
              </a:rPr>
              <a:t>Does the database refuse a second checkout? There's no database.</a:t>
            </a:r>
            <a:endParaRPr lang="en-US" sz="1550" dirty="0"/>
          </a:p>
        </p:txBody>
      </p:sp>
      <p:sp>
        <p:nvSpPr>
          <p:cNvPr id="13" name="click-3"/>
          <p:cNvSpPr/>
          <p:nvPr/>
        </p:nvSpPr>
        <p:spPr>
          <a:xfrm>
            <a:off x="5486400" y="3538728"/>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4" name="click-3"/>
          <p:cNvSpPr/>
          <p:nvPr/>
        </p:nvSpPr>
        <p:spPr>
          <a:xfrm>
            <a:off x="5715000" y="3538728"/>
            <a:ext cx="5760720" cy="768096"/>
          </a:xfrm>
          <a:prstGeom prst="rect">
            <a:avLst/>
          </a:prstGeom>
          <a:noFill/>
          <a:ln/>
        </p:spPr>
        <p:txBody>
          <a:bodyPr wrap="square" lIns="0" tIns="0" rIns="0" bIns="0" rtlCol="0" anchor="ctr"/>
          <a:lstStyle/>
          <a:p>
            <a:pPr indent="0" marL="0">
              <a:buNone/>
            </a:pPr>
            <a:r>
              <a:rPr lang="en-US" sz="1550" b="1" dirty="0">
                <a:solidFill>
                  <a:srgbClr val="D9614C"/>
                </a:solidFill>
                <a:latin typeface="Calibri" pitchFamily="34" charset="0"/>
                <a:ea typeface="Calibri" pitchFamily="34" charset="-122"/>
                <a:cs typeface="Calibri" pitchFamily="34" charset="-120"/>
              </a:rPr>
              <a:t>Usability  </a:t>
            </a:r>
            <a:pPr indent="0" marL="0">
              <a:buNone/>
            </a:pPr>
            <a:r>
              <a:rPr lang="en-US" sz="1550" dirty="0">
                <a:solidFill>
                  <a:srgbClr val="1E2A36"/>
                </a:solidFill>
                <a:latin typeface="Calibri" pitchFamily="34" charset="0"/>
                <a:ea typeface="Calibri" pitchFamily="34" charset="-122"/>
                <a:cs typeface="Calibri" pitchFamily="34" charset="-120"/>
              </a:rPr>
              <a:t>Can a volunteer check one out unaided? The button does nothing.</a:t>
            </a:r>
            <a:endParaRPr lang="en-US" sz="1550" dirty="0"/>
          </a:p>
        </p:txBody>
      </p:sp>
      <p:sp>
        <p:nvSpPr>
          <p:cNvPr id="15" name="click-4"/>
          <p:cNvSpPr/>
          <p:nvPr/>
        </p:nvSpPr>
        <p:spPr>
          <a:xfrm>
            <a:off x="5486400" y="4416552"/>
            <a:ext cx="6126480" cy="768096"/>
          </a:xfrm>
          <a:prstGeom prst="roundRect">
            <a:avLst>
              <a:gd name="adj" fmla="val 10714"/>
            </a:avLst>
          </a:prstGeom>
          <a:solidFill>
            <a:srgbClr val="FFFFFF"/>
          </a:solidFill>
          <a:ln/>
          <a:effectLst>
            <a:outerShdw sx="100000" sy="100000" kx="0" ky="0" algn="bl" rotWithShape="0" blurRad="88900" dist="38100" dir="5400000">
              <a:srgbClr val="000000">
                <a:alpha val="13000"/>
              </a:srgbClr>
            </a:outerShdw>
          </a:effectLst>
        </p:spPr>
      </p:sp>
      <p:sp>
        <p:nvSpPr>
          <p:cNvPr id="16" name="click-4"/>
          <p:cNvSpPr/>
          <p:nvPr/>
        </p:nvSpPr>
        <p:spPr>
          <a:xfrm>
            <a:off x="5715000" y="4416552"/>
            <a:ext cx="5760720" cy="768096"/>
          </a:xfrm>
          <a:prstGeom prst="rect">
            <a:avLst/>
          </a:prstGeom>
          <a:noFill/>
          <a:ln/>
        </p:spPr>
        <p:txBody>
          <a:bodyPr wrap="square" lIns="0" tIns="0" rIns="0" bIns="0" rtlCol="0" anchor="ctr"/>
          <a:lstStyle/>
          <a:p>
            <a:pPr indent="0" marL="0">
              <a:buNone/>
            </a:pPr>
            <a:r>
              <a:rPr lang="en-US" sz="1550" b="1" dirty="0">
                <a:solidFill>
                  <a:srgbClr val="D9614C"/>
                </a:solidFill>
                <a:latin typeface="Calibri" pitchFamily="34" charset="0"/>
                <a:ea typeface="Calibri" pitchFamily="34" charset="-122"/>
                <a:cs typeface="Calibri" pitchFamily="34" charset="-120"/>
              </a:rPr>
              <a:t>Falsifier  </a:t>
            </a:r>
            <a:pPr indent="0" marL="0">
              <a:buNone/>
            </a:pPr>
            <a:r>
              <a:rPr lang="en-US" sz="1550" dirty="0">
                <a:solidFill>
                  <a:srgbClr val="1E2A36"/>
                </a:solidFill>
                <a:latin typeface="Calibri" pitchFamily="34" charset="0"/>
                <a:ea typeface="Calibri" pitchFamily="34" charset="-122"/>
                <a:cs typeface="Calibri" pitchFamily="34" charset="-120"/>
              </a:rPr>
              <a:t>Nothing on Nov 18 could prove it wrong. So it proves nothing.</a:t>
            </a:r>
            <a:endParaRPr lang="en-US" sz="1550" dirty="0"/>
          </a:p>
        </p:txBody>
      </p:sp>
      <p:sp>
        <p:nvSpPr>
          <p:cNvPr id="17" name="click-5"/>
          <p:cNvSpPr/>
          <p:nvPr/>
        </p:nvSpPr>
        <p:spPr>
          <a:xfrm>
            <a:off x="548640" y="5440680"/>
            <a:ext cx="11064240" cy="777240"/>
          </a:xfrm>
          <a:prstGeom prst="roundRect">
            <a:avLst>
              <a:gd name="adj" fmla="val 10588"/>
            </a:avLst>
          </a:prstGeom>
          <a:solidFill>
            <a:srgbClr val="14233A"/>
          </a:solidFill>
          <a:ln/>
          <a:effectLst>
            <a:outerShdw sx="100000" sy="100000" kx="0" ky="0" algn="bl" rotWithShape="0" blurRad="88900" dist="38100" dir="5400000">
              <a:srgbClr val="000000">
                <a:alpha val="13000"/>
              </a:srgbClr>
            </a:outerShdw>
          </a:effectLst>
        </p:spPr>
      </p:sp>
      <p:sp>
        <p:nvSpPr>
          <p:cNvPr id="18" name="click-5"/>
          <p:cNvSpPr/>
          <p:nvPr/>
        </p:nvSpPr>
        <p:spPr>
          <a:xfrm>
            <a:off x="868680" y="5440680"/>
            <a:ext cx="10424160" cy="77724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Not a student mistake: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Chandler, a funded open-source project, spent years building broad before anything was usable.</a:t>
            </a:r>
            <a:endParaRPr lang="en-US" sz="1700" dirty="0"/>
          </a:p>
        </p:txBody>
      </p:sp>
      <p:sp>
        <p:nvSpPr>
          <p:cNvPr id="19" name="Text 16"/>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0"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4" presetID="1"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DEBUGGING ON PURPOSE</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Method beats knowledge</a:t>
            </a:r>
            <a:endParaRPr lang="en-US" sz="3200" dirty="0"/>
          </a:p>
        </p:txBody>
      </p:sp>
      <p:sp>
        <p:nvSpPr>
          <p:cNvPr id="6" name="click-1"/>
          <p:cNvSpPr/>
          <p:nvPr/>
        </p:nvSpPr>
        <p:spPr>
          <a:xfrm>
            <a:off x="548640" y="1874520"/>
            <a:ext cx="2057400" cy="2606040"/>
          </a:xfrm>
          <a:prstGeom prst="roundRect">
            <a:avLst>
              <a:gd name="adj" fmla="val 4000"/>
            </a:avLst>
          </a:prstGeom>
          <a:solidFill>
            <a:srgbClr val="1E3352"/>
          </a:solidFill>
          <a:ln/>
          <a:effectLst>
            <a:outerShdw sx="100000" sy="100000" kx="0" ky="0" algn="bl" rotWithShape="0" blurRad="88900" dist="38100" dir="5400000">
              <a:srgbClr val="000000">
                <a:alpha val="13000"/>
              </a:srgbClr>
            </a:outerShdw>
          </a:effectLst>
        </p:spPr>
      </p:sp>
      <p:sp>
        <p:nvSpPr>
          <p:cNvPr id="7" name="click-1"/>
          <p:cNvSpPr/>
          <p:nvPr/>
        </p:nvSpPr>
        <p:spPr>
          <a:xfrm>
            <a:off x="1298448" y="2057400"/>
            <a:ext cx="548640" cy="548640"/>
          </a:xfrm>
          <a:prstGeom prst="ellipse">
            <a:avLst/>
          </a:prstGeom>
          <a:solidFill>
            <a:srgbClr val="E8A33D"/>
          </a:solidFill>
          <a:ln/>
        </p:spPr>
      </p:sp>
      <p:sp>
        <p:nvSpPr>
          <p:cNvPr id="8" name="click-1"/>
          <p:cNvSpPr/>
          <p:nvPr/>
        </p:nvSpPr>
        <p:spPr>
          <a:xfrm>
            <a:off x="1298448" y="2057400"/>
            <a:ext cx="548640" cy="54864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0</a:t>
            </a:r>
            <a:endParaRPr lang="en-US" sz="1700" dirty="0"/>
          </a:p>
        </p:txBody>
      </p:sp>
      <p:sp>
        <p:nvSpPr>
          <p:cNvPr id="9" name="click-1"/>
          <p:cNvSpPr/>
          <p:nvPr/>
        </p:nvSpPr>
        <p:spPr>
          <a:xfrm>
            <a:off x="658368" y="2743200"/>
            <a:ext cx="1837944"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Say the failure exactly</a:t>
            </a:r>
            <a:endParaRPr lang="en-US" sz="1700" dirty="0"/>
          </a:p>
        </p:txBody>
      </p:sp>
      <p:sp>
        <p:nvSpPr>
          <p:cNvPr id="10" name="click-1"/>
          <p:cNvSpPr/>
          <p:nvPr/>
        </p:nvSpPr>
        <p:spPr>
          <a:xfrm>
            <a:off x="658368" y="3520440"/>
            <a:ext cx="1837944" cy="868680"/>
          </a:xfrm>
          <a:prstGeom prst="rect">
            <a:avLst/>
          </a:prstGeom>
          <a:noFill/>
          <a:ln/>
        </p:spPr>
        <p:txBody>
          <a:bodyPr wrap="square" lIns="0" tIns="0" rIns="0" bIns="0" rtlCol="0" anchor="t"/>
          <a:lstStyle/>
          <a:p>
            <a:pPr algn="ctr" indent="0" marL="0">
              <a:buNone/>
            </a:pPr>
            <a:r>
              <a:rPr lang="en-US" sz="1500" dirty="0">
                <a:solidFill>
                  <a:srgbClr val="CFE0E9"/>
                </a:solidFill>
                <a:latin typeface="Calibri" pitchFamily="34" charset="0"/>
                <a:ea typeface="Calibri" pitchFamily="34" charset="-122"/>
                <a:cs typeface="Calibri" pitchFamily="34" charset="-120"/>
              </a:rPr>
              <a:t>and make it happen on demand</a:t>
            </a:r>
            <a:endParaRPr lang="en-US" sz="1500" dirty="0"/>
          </a:p>
        </p:txBody>
      </p:sp>
      <p:sp>
        <p:nvSpPr>
          <p:cNvPr id="11" name="click-2"/>
          <p:cNvSpPr/>
          <p:nvPr/>
        </p:nvSpPr>
        <p:spPr>
          <a:xfrm>
            <a:off x="2788920" y="1874520"/>
            <a:ext cx="2057400" cy="2606040"/>
          </a:xfrm>
          <a:prstGeom prst="roundRect">
            <a:avLst>
              <a:gd name="adj" fmla="val 4000"/>
            </a:avLst>
          </a:prstGeom>
          <a:solidFill>
            <a:srgbClr val="1E3352"/>
          </a:solidFill>
          <a:ln/>
          <a:effectLst>
            <a:outerShdw sx="100000" sy="100000" kx="0" ky="0" algn="bl" rotWithShape="0" blurRad="88900" dist="38100" dir="5400000">
              <a:srgbClr val="000000">
                <a:alpha val="13000"/>
              </a:srgbClr>
            </a:outerShdw>
          </a:effectLst>
        </p:spPr>
      </p:sp>
      <p:sp>
        <p:nvSpPr>
          <p:cNvPr id="12" name="click-2"/>
          <p:cNvSpPr/>
          <p:nvPr/>
        </p:nvSpPr>
        <p:spPr>
          <a:xfrm>
            <a:off x="3538728" y="2057400"/>
            <a:ext cx="548640" cy="548640"/>
          </a:xfrm>
          <a:prstGeom prst="ellipse">
            <a:avLst/>
          </a:prstGeom>
          <a:solidFill>
            <a:srgbClr val="E8A33D"/>
          </a:solidFill>
          <a:ln/>
        </p:spPr>
      </p:sp>
      <p:sp>
        <p:nvSpPr>
          <p:cNvPr id="13" name="click-2"/>
          <p:cNvSpPr/>
          <p:nvPr/>
        </p:nvSpPr>
        <p:spPr>
          <a:xfrm>
            <a:off x="3538728" y="2057400"/>
            <a:ext cx="548640" cy="54864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1</a:t>
            </a:r>
            <a:endParaRPr lang="en-US" sz="1700" dirty="0"/>
          </a:p>
        </p:txBody>
      </p:sp>
      <p:sp>
        <p:nvSpPr>
          <p:cNvPr id="14" name="click-2"/>
          <p:cNvSpPr/>
          <p:nvPr/>
        </p:nvSpPr>
        <p:spPr>
          <a:xfrm>
            <a:off x="2898648" y="2743200"/>
            <a:ext cx="1837944"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Hypothesize</a:t>
            </a:r>
            <a:endParaRPr lang="en-US" sz="1700" dirty="0"/>
          </a:p>
        </p:txBody>
      </p:sp>
      <p:sp>
        <p:nvSpPr>
          <p:cNvPr id="15" name="click-2"/>
          <p:cNvSpPr/>
          <p:nvPr/>
        </p:nvSpPr>
        <p:spPr>
          <a:xfrm>
            <a:off x="2898648" y="3520440"/>
            <a:ext cx="1837944" cy="868680"/>
          </a:xfrm>
          <a:prstGeom prst="rect">
            <a:avLst/>
          </a:prstGeom>
          <a:noFill/>
          <a:ln/>
        </p:spPr>
        <p:txBody>
          <a:bodyPr wrap="square" lIns="0" tIns="0" rIns="0" bIns="0" rtlCol="0" anchor="t"/>
          <a:lstStyle/>
          <a:p>
            <a:pPr algn="ctr" indent="0" marL="0">
              <a:buNone/>
            </a:pPr>
            <a:r>
              <a:rPr lang="en-US" sz="1500" dirty="0">
                <a:solidFill>
                  <a:srgbClr val="CFE0E9"/>
                </a:solidFill>
                <a:latin typeface="Calibri" pitchFamily="34" charset="0"/>
                <a:ea typeface="Calibri" pitchFamily="34" charset="-122"/>
                <a:cs typeface="Calibri" pitchFamily="34" charset="-120"/>
              </a:rPr>
              <a:t>two or three guesses, not one</a:t>
            </a:r>
            <a:endParaRPr lang="en-US" sz="1500" dirty="0"/>
          </a:p>
        </p:txBody>
      </p:sp>
      <p:sp>
        <p:nvSpPr>
          <p:cNvPr id="16" name="click-3"/>
          <p:cNvSpPr/>
          <p:nvPr/>
        </p:nvSpPr>
        <p:spPr>
          <a:xfrm>
            <a:off x="5029200" y="1874520"/>
            <a:ext cx="2057400" cy="2606040"/>
          </a:xfrm>
          <a:prstGeom prst="roundRect">
            <a:avLst>
              <a:gd name="adj" fmla="val 4000"/>
            </a:avLst>
          </a:prstGeom>
          <a:solidFill>
            <a:srgbClr val="1E3352"/>
          </a:solidFill>
          <a:ln/>
          <a:effectLst>
            <a:outerShdw sx="100000" sy="100000" kx="0" ky="0" algn="bl" rotWithShape="0" blurRad="88900" dist="38100" dir="5400000">
              <a:srgbClr val="000000">
                <a:alpha val="13000"/>
              </a:srgbClr>
            </a:outerShdw>
          </a:effectLst>
        </p:spPr>
      </p:sp>
      <p:sp>
        <p:nvSpPr>
          <p:cNvPr id="17" name="click-3"/>
          <p:cNvSpPr/>
          <p:nvPr/>
        </p:nvSpPr>
        <p:spPr>
          <a:xfrm>
            <a:off x="5779008" y="2057400"/>
            <a:ext cx="548640" cy="548640"/>
          </a:xfrm>
          <a:prstGeom prst="ellipse">
            <a:avLst/>
          </a:prstGeom>
          <a:solidFill>
            <a:srgbClr val="E8A33D"/>
          </a:solidFill>
          <a:ln/>
        </p:spPr>
      </p:sp>
      <p:sp>
        <p:nvSpPr>
          <p:cNvPr id="18" name="click-3"/>
          <p:cNvSpPr/>
          <p:nvPr/>
        </p:nvSpPr>
        <p:spPr>
          <a:xfrm>
            <a:off x="5779008" y="2057400"/>
            <a:ext cx="548640" cy="54864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2</a:t>
            </a:r>
            <a:endParaRPr lang="en-US" sz="1700" dirty="0"/>
          </a:p>
        </p:txBody>
      </p:sp>
      <p:sp>
        <p:nvSpPr>
          <p:cNvPr id="19" name="click-3"/>
          <p:cNvSpPr/>
          <p:nvPr/>
        </p:nvSpPr>
        <p:spPr>
          <a:xfrm>
            <a:off x="5138928" y="2743200"/>
            <a:ext cx="1837944"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Test the cheapest first</a:t>
            </a:r>
            <a:endParaRPr lang="en-US" sz="1700" dirty="0"/>
          </a:p>
        </p:txBody>
      </p:sp>
      <p:sp>
        <p:nvSpPr>
          <p:cNvPr id="20" name="click-3"/>
          <p:cNvSpPr/>
          <p:nvPr/>
        </p:nvSpPr>
        <p:spPr>
          <a:xfrm>
            <a:off x="5138928" y="3520440"/>
            <a:ext cx="1837944" cy="868680"/>
          </a:xfrm>
          <a:prstGeom prst="rect">
            <a:avLst/>
          </a:prstGeom>
          <a:noFill/>
          <a:ln/>
        </p:spPr>
        <p:txBody>
          <a:bodyPr wrap="square" lIns="0" tIns="0" rIns="0" bIns="0" rtlCol="0" anchor="t"/>
          <a:lstStyle/>
          <a:p>
            <a:pPr algn="ctr" indent="0" marL="0">
              <a:buNone/>
            </a:pPr>
            <a:r>
              <a:rPr lang="en-US" sz="1500" dirty="0">
                <a:solidFill>
                  <a:srgbClr val="CFE0E9"/>
                </a:solidFill>
                <a:latin typeface="Calibri" pitchFamily="34" charset="0"/>
                <a:ea typeface="Calibri" pitchFamily="34" charset="-122"/>
                <a:cs typeface="Calibri" pitchFamily="34" charset="-120"/>
              </a:rPr>
              <a:t>not the one you believe</a:t>
            </a:r>
            <a:endParaRPr lang="en-US" sz="1500" dirty="0"/>
          </a:p>
        </p:txBody>
      </p:sp>
      <p:sp>
        <p:nvSpPr>
          <p:cNvPr id="21" name="click-4"/>
          <p:cNvSpPr/>
          <p:nvPr/>
        </p:nvSpPr>
        <p:spPr>
          <a:xfrm>
            <a:off x="7269480" y="1874520"/>
            <a:ext cx="2057400" cy="2606040"/>
          </a:xfrm>
          <a:prstGeom prst="roundRect">
            <a:avLst>
              <a:gd name="adj" fmla="val 4000"/>
            </a:avLst>
          </a:prstGeom>
          <a:solidFill>
            <a:srgbClr val="1E3352"/>
          </a:solidFill>
          <a:ln/>
          <a:effectLst>
            <a:outerShdw sx="100000" sy="100000" kx="0" ky="0" algn="bl" rotWithShape="0" blurRad="88900" dist="38100" dir="5400000">
              <a:srgbClr val="000000">
                <a:alpha val="13000"/>
              </a:srgbClr>
            </a:outerShdw>
          </a:effectLst>
        </p:spPr>
      </p:sp>
      <p:sp>
        <p:nvSpPr>
          <p:cNvPr id="22" name="click-4"/>
          <p:cNvSpPr/>
          <p:nvPr/>
        </p:nvSpPr>
        <p:spPr>
          <a:xfrm>
            <a:off x="8019288" y="2057400"/>
            <a:ext cx="548640" cy="548640"/>
          </a:xfrm>
          <a:prstGeom prst="ellipse">
            <a:avLst/>
          </a:prstGeom>
          <a:solidFill>
            <a:srgbClr val="E8A33D"/>
          </a:solidFill>
          <a:ln/>
        </p:spPr>
      </p:sp>
      <p:sp>
        <p:nvSpPr>
          <p:cNvPr id="23" name="click-4"/>
          <p:cNvSpPr/>
          <p:nvPr/>
        </p:nvSpPr>
        <p:spPr>
          <a:xfrm>
            <a:off x="8019288" y="2057400"/>
            <a:ext cx="548640" cy="54864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3</a:t>
            </a:r>
            <a:endParaRPr lang="en-US" sz="1700" dirty="0"/>
          </a:p>
        </p:txBody>
      </p:sp>
      <p:sp>
        <p:nvSpPr>
          <p:cNvPr id="24" name="click-4"/>
          <p:cNvSpPr/>
          <p:nvPr/>
        </p:nvSpPr>
        <p:spPr>
          <a:xfrm>
            <a:off x="7379208" y="2743200"/>
            <a:ext cx="1837944"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Review</a:t>
            </a:r>
            <a:endParaRPr lang="en-US" sz="1700" dirty="0"/>
          </a:p>
        </p:txBody>
      </p:sp>
      <p:sp>
        <p:nvSpPr>
          <p:cNvPr id="25" name="click-4"/>
          <p:cNvSpPr/>
          <p:nvPr/>
        </p:nvSpPr>
        <p:spPr>
          <a:xfrm>
            <a:off x="7379208" y="3520440"/>
            <a:ext cx="1837944" cy="868680"/>
          </a:xfrm>
          <a:prstGeom prst="rect">
            <a:avLst/>
          </a:prstGeom>
          <a:noFill/>
          <a:ln/>
        </p:spPr>
        <p:txBody>
          <a:bodyPr wrap="square" lIns="0" tIns="0" rIns="0" bIns="0" rtlCol="0" anchor="t"/>
          <a:lstStyle/>
          <a:p>
            <a:pPr algn="ctr" indent="0" marL="0">
              <a:buNone/>
            </a:pPr>
            <a:r>
              <a:rPr lang="en-US" sz="1500" dirty="0">
                <a:solidFill>
                  <a:srgbClr val="CFE0E9"/>
                </a:solidFill>
                <a:latin typeface="Calibri" pitchFamily="34" charset="0"/>
                <a:ea typeface="Calibri" pitchFamily="34" charset="-122"/>
                <a:cs typeface="Calibri" pitchFamily="34" charset="-120"/>
              </a:rPr>
              <a:t>dead is progress; standing, narrow it</a:t>
            </a:r>
            <a:endParaRPr lang="en-US" sz="1500" dirty="0"/>
          </a:p>
        </p:txBody>
      </p:sp>
      <p:sp>
        <p:nvSpPr>
          <p:cNvPr id="26" name="click-5"/>
          <p:cNvSpPr/>
          <p:nvPr/>
        </p:nvSpPr>
        <p:spPr>
          <a:xfrm>
            <a:off x="9509760" y="1874520"/>
            <a:ext cx="2057400" cy="2606040"/>
          </a:xfrm>
          <a:prstGeom prst="roundRect">
            <a:avLst>
              <a:gd name="adj" fmla="val 4000"/>
            </a:avLst>
          </a:prstGeom>
          <a:solidFill>
            <a:srgbClr val="1E3352"/>
          </a:solidFill>
          <a:ln/>
          <a:effectLst>
            <a:outerShdw sx="100000" sy="100000" kx="0" ky="0" algn="bl" rotWithShape="0" blurRad="88900" dist="38100" dir="5400000">
              <a:srgbClr val="000000">
                <a:alpha val="13000"/>
              </a:srgbClr>
            </a:outerShdw>
          </a:effectLst>
        </p:spPr>
      </p:sp>
      <p:sp>
        <p:nvSpPr>
          <p:cNvPr id="27" name="click-5"/>
          <p:cNvSpPr/>
          <p:nvPr/>
        </p:nvSpPr>
        <p:spPr>
          <a:xfrm>
            <a:off x="10259568" y="2057400"/>
            <a:ext cx="548640" cy="548640"/>
          </a:xfrm>
          <a:prstGeom prst="ellipse">
            <a:avLst/>
          </a:prstGeom>
          <a:solidFill>
            <a:srgbClr val="E8A33D"/>
          </a:solidFill>
          <a:ln/>
        </p:spPr>
      </p:sp>
      <p:sp>
        <p:nvSpPr>
          <p:cNvPr id="28" name="click-5"/>
          <p:cNvSpPr/>
          <p:nvPr/>
        </p:nvSpPr>
        <p:spPr>
          <a:xfrm>
            <a:off x="10259568" y="2057400"/>
            <a:ext cx="548640" cy="548640"/>
          </a:xfrm>
          <a:prstGeom prst="rect">
            <a:avLst/>
          </a:prstGeom>
          <a:noFill/>
          <a:ln/>
        </p:spPr>
        <p:txBody>
          <a:bodyPr wrap="square" lIns="0" tIns="0" rIns="0" bIns="0" rtlCol="0" anchor="ctr"/>
          <a:lstStyle/>
          <a:p>
            <a:pPr algn="ctr" indent="0" marL="0">
              <a:buNone/>
            </a:pPr>
            <a:r>
              <a:rPr lang="en-US" sz="1700" b="1" dirty="0">
                <a:solidFill>
                  <a:srgbClr val="14233A"/>
                </a:solidFill>
                <a:latin typeface="Cambria" pitchFamily="34" charset="0"/>
                <a:ea typeface="Cambria" pitchFamily="34" charset="-122"/>
                <a:cs typeface="Cambria" pitchFamily="34" charset="-120"/>
              </a:rPr>
              <a:t>4</a:t>
            </a:r>
            <a:endParaRPr lang="en-US" sz="1700" dirty="0"/>
          </a:p>
        </p:txBody>
      </p:sp>
      <p:sp>
        <p:nvSpPr>
          <p:cNvPr id="29" name="click-5"/>
          <p:cNvSpPr/>
          <p:nvPr/>
        </p:nvSpPr>
        <p:spPr>
          <a:xfrm>
            <a:off x="9619488" y="2743200"/>
            <a:ext cx="1837944"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Fix and verify</a:t>
            </a:r>
            <a:endParaRPr lang="en-US" sz="1700" dirty="0"/>
          </a:p>
        </p:txBody>
      </p:sp>
      <p:sp>
        <p:nvSpPr>
          <p:cNvPr id="30" name="click-5"/>
          <p:cNvSpPr/>
          <p:nvPr/>
        </p:nvSpPr>
        <p:spPr>
          <a:xfrm>
            <a:off x="9619488" y="3520440"/>
            <a:ext cx="1837944" cy="868680"/>
          </a:xfrm>
          <a:prstGeom prst="rect">
            <a:avLst/>
          </a:prstGeom>
          <a:noFill/>
          <a:ln/>
        </p:spPr>
        <p:txBody>
          <a:bodyPr wrap="square" lIns="0" tIns="0" rIns="0" bIns="0" rtlCol="0" anchor="t"/>
          <a:lstStyle/>
          <a:p>
            <a:pPr algn="ctr" indent="0" marL="0">
              <a:buNone/>
            </a:pPr>
            <a:r>
              <a:rPr lang="en-US" sz="1500" dirty="0">
                <a:solidFill>
                  <a:srgbClr val="CFE0E9"/>
                </a:solidFill>
                <a:latin typeface="Calibri" pitchFamily="34" charset="0"/>
                <a:ea typeface="Calibri" pitchFamily="34" charset="-122"/>
                <a:cs typeface="Calibri" pitchFamily="34" charset="-120"/>
              </a:rPr>
              <a:t>failing test first, then run everything</a:t>
            </a:r>
            <a:endParaRPr lang="en-US" sz="1500" dirty="0"/>
          </a:p>
        </p:txBody>
      </p:sp>
      <p:sp>
        <p:nvSpPr>
          <p:cNvPr id="31" name="click-6"/>
          <p:cNvSpPr/>
          <p:nvPr/>
        </p:nvSpPr>
        <p:spPr>
          <a:xfrm>
            <a:off x="548640" y="4846320"/>
            <a:ext cx="11064240" cy="1280160"/>
          </a:xfrm>
          <a:prstGeom prst="roundRect">
            <a:avLst>
              <a:gd name="adj" fmla="val 6429"/>
            </a:avLst>
          </a:prstGeom>
          <a:solidFill>
            <a:srgbClr val="E8A33D"/>
          </a:solidFill>
          <a:ln/>
          <a:effectLst>
            <a:outerShdw sx="100000" sy="100000" kx="0" ky="0" algn="bl" rotWithShape="0" blurRad="88900" dist="38100" dir="5400000">
              <a:srgbClr val="000000">
                <a:alpha val="13000"/>
              </a:srgbClr>
            </a:outerShdw>
          </a:effectLst>
        </p:spPr>
      </p:sp>
      <p:sp>
        <p:nvSpPr>
          <p:cNvPr id="32" name="click-6"/>
          <p:cNvSpPr/>
          <p:nvPr/>
        </p:nvSpPr>
        <p:spPr>
          <a:xfrm>
            <a:off x="868680" y="4846320"/>
            <a:ext cx="10424160" cy="1280160"/>
          </a:xfrm>
          <a:prstGeom prst="rect">
            <a:avLst/>
          </a:prstGeom>
          <a:noFill/>
          <a:ln/>
        </p:spPr>
        <p:txBody>
          <a:bodyPr wrap="square" lIns="0" tIns="0" rIns="0" bIns="0" rtlCol="0" anchor="ctr"/>
          <a:lstStyle/>
          <a:p>
            <a:pPr indent="0" marL="0">
              <a:lnSpc>
                <a:spcPct val="104000"/>
              </a:lnSpc>
              <a:buNone/>
            </a:pPr>
            <a:r>
              <a:rPr lang="en-US" sz="1750" b="1" dirty="0">
                <a:solidFill>
                  <a:srgbClr val="14233A"/>
                </a:solidFill>
                <a:latin typeface="Calibri" pitchFamily="34" charset="0"/>
                <a:ea typeface="Calibri" pitchFamily="34" charset="-122"/>
                <a:cs typeface="Calibri" pitchFamily="34" charset="-120"/>
              </a:rPr>
              <a:t>The difference between a one-hour bug and a five-hour bug is rarely what you know. It's whether you guessed, checked, and wrote down what you learned.</a:t>
            </a:r>
            <a:endParaRPr lang="en-US" sz="1750" dirty="0"/>
          </a:p>
        </p:txBody>
      </p:sp>
      <p:sp>
        <p:nvSpPr>
          <p:cNvPr id="33" name="Text 31"/>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19 · MVP Thinking &amp; Debugging</a:t>
            </a:r>
            <a:endParaRPr lang="en-US" sz="1000" dirty="0"/>
          </a:p>
        </p:txBody>
      </p:sp>
      <p:sp>
        <p:nvSpPr>
          <p:cNvPr id="34" name="Text 3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2" presetID="1"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4" presetID="1" presetClass="entr" presetSubtype="0"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6" presetID="1" presetClass="entr" presetSubtype="0" fill="hold" grpId="0" nodeType="clickEffect">
                                  <p:stCondLst>
                                    <p:cond delay="0"/>
                                  </p:stCondLst>
                                  <p:childTnLst>
                                    <p:set>
                                      <p:cBhvr>
                                        <p:cTn id="65" dur="1" fill="hold">
                                          <p:stCondLst>
                                            <p:cond delay="0"/>
                                          </p:stCondLst>
                                        </p:cTn>
                                        <p:tgtEl>
                                          <p:spTgt spid="3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STEP 2, IN PRACTICE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cheap tests are few and reliable</a:t>
            </a:r>
            <a:endParaRPr lang="en-US" sz="3100" dirty="0"/>
          </a:p>
        </p:txBody>
      </p:sp>
      <p:sp>
        <p:nvSpPr>
          <p:cNvPr id="5" name="Shape 3"/>
          <p:cNvSpPr/>
          <p:nvPr/>
        </p:nvSpPr>
        <p:spPr>
          <a:xfrm>
            <a:off x="548640" y="1783080"/>
            <a:ext cx="3474720" cy="1645920"/>
          </a:xfrm>
          <a:prstGeom prst="roundRect">
            <a:avLst>
              <a:gd name="adj" fmla="val 5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65960"/>
            <a:ext cx="502920" cy="50292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13028" y="2101748"/>
            <a:ext cx="231343" cy="231343"/>
          </a:xfrm>
          <a:prstGeom prst="rect">
            <a:avLst/>
          </a:prstGeom>
        </p:spPr>
      </p:pic>
      <p:sp>
        <p:nvSpPr>
          <p:cNvPr id="8" name="Text 5"/>
          <p:cNvSpPr/>
          <p:nvPr/>
        </p:nvSpPr>
        <p:spPr>
          <a:xfrm>
            <a:off x="1417320" y="1965960"/>
            <a:ext cx="2468880" cy="50292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Vary the input</a:t>
            </a:r>
            <a:endParaRPr lang="en-US" sz="1800" dirty="0"/>
          </a:p>
        </p:txBody>
      </p:sp>
      <p:sp>
        <p:nvSpPr>
          <p:cNvPr id="9" name="Text 6"/>
          <p:cNvSpPr/>
          <p:nvPr/>
        </p:nvSpPr>
        <p:spPr>
          <a:xfrm>
            <a:off x="777240" y="2606040"/>
            <a:ext cx="3063240" cy="731520"/>
          </a:xfrm>
          <a:prstGeom prst="rect">
            <a:avLst/>
          </a:prstGeom>
          <a:noFill/>
          <a:ln/>
        </p:spPr>
        <p:txBody>
          <a:bodyPr wrap="square" lIns="0" tIns="0" rIns="0" bIns="0" rtlCol="0" anchor="t"/>
          <a:lstStyle/>
          <a:p>
            <a:pPr indent="0" marL="0">
              <a:buNone/>
            </a:pPr>
            <a:r>
              <a:rPr lang="en-US" sz="1550" dirty="0">
                <a:solidFill>
                  <a:srgbClr val="1E2A36"/>
                </a:solidFill>
                <a:latin typeface="Calibri" pitchFamily="34" charset="0"/>
                <a:ea typeface="Calibri" pitchFamily="34" charset="-122"/>
                <a:cs typeface="Calibri" pitchFamily="34" charset="-120"/>
              </a:rPr>
              <a:t>Every value or only some? Empty, one, many?</a:t>
            </a:r>
            <a:endParaRPr lang="en-US" sz="1550" dirty="0"/>
          </a:p>
        </p:txBody>
      </p:sp>
      <p:sp>
        <p:nvSpPr>
          <p:cNvPr id="10" name="Shape 7"/>
          <p:cNvSpPr/>
          <p:nvPr/>
        </p:nvSpPr>
        <p:spPr>
          <a:xfrm>
            <a:off x="4343400" y="1783080"/>
            <a:ext cx="3474720" cy="1645920"/>
          </a:xfrm>
          <a:prstGeom prst="roundRect">
            <a:avLst>
              <a:gd name="adj" fmla="val 50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572000" y="1965960"/>
            <a:ext cx="502920" cy="50292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707788" y="2101748"/>
            <a:ext cx="231343" cy="231343"/>
          </a:xfrm>
          <a:prstGeom prst="rect">
            <a:avLst/>
          </a:prstGeom>
        </p:spPr>
      </p:pic>
      <p:sp>
        <p:nvSpPr>
          <p:cNvPr id="13" name="Text 9"/>
          <p:cNvSpPr/>
          <p:nvPr/>
        </p:nvSpPr>
        <p:spPr>
          <a:xfrm>
            <a:off x="5212080" y="1965960"/>
            <a:ext cx="2468880" cy="50292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Look at the data</a:t>
            </a:r>
            <a:endParaRPr lang="en-US" sz="1800" dirty="0"/>
          </a:p>
        </p:txBody>
      </p:sp>
      <p:sp>
        <p:nvSpPr>
          <p:cNvPr id="14" name="Text 10"/>
          <p:cNvSpPr/>
          <p:nvPr/>
        </p:nvSpPr>
        <p:spPr>
          <a:xfrm>
            <a:off x="4572000" y="2606040"/>
            <a:ext cx="3063240" cy="731520"/>
          </a:xfrm>
          <a:prstGeom prst="rect">
            <a:avLst/>
          </a:prstGeom>
          <a:noFill/>
          <a:ln/>
        </p:spPr>
        <p:txBody>
          <a:bodyPr wrap="square" lIns="0" tIns="0" rIns="0" bIns="0" rtlCol="0" anchor="t"/>
          <a:lstStyle/>
          <a:p>
            <a:pPr indent="0" marL="0">
              <a:buNone/>
            </a:pPr>
            <a:r>
              <a:rPr lang="en-US" sz="1550" dirty="0">
                <a:solidFill>
                  <a:srgbClr val="1E2A36"/>
                </a:solidFill>
                <a:latin typeface="Calibri" pitchFamily="34" charset="0"/>
                <a:ea typeface="Calibri" pitchFamily="34" charset="-122"/>
                <a:cs typeface="Calibri" pitchFamily="34" charset="-120"/>
              </a:rPr>
              <a:t>Is what's stored what you think is stored?</a:t>
            </a:r>
            <a:endParaRPr lang="en-US" sz="1550" dirty="0"/>
          </a:p>
        </p:txBody>
      </p:sp>
      <p:sp>
        <p:nvSpPr>
          <p:cNvPr id="15" name="Shape 11"/>
          <p:cNvSpPr/>
          <p:nvPr/>
        </p:nvSpPr>
        <p:spPr>
          <a:xfrm>
            <a:off x="8138160" y="1783080"/>
            <a:ext cx="3474720" cy="1645920"/>
          </a:xfrm>
          <a:prstGeom prst="roundRect">
            <a:avLst>
              <a:gd name="adj" fmla="val 50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366760" y="1965960"/>
            <a:ext cx="502920" cy="50292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502548" y="2101748"/>
            <a:ext cx="231343" cy="231343"/>
          </a:xfrm>
          <a:prstGeom prst="rect">
            <a:avLst/>
          </a:prstGeom>
        </p:spPr>
      </p:pic>
      <p:sp>
        <p:nvSpPr>
          <p:cNvPr id="18" name="Text 13"/>
          <p:cNvSpPr/>
          <p:nvPr/>
        </p:nvSpPr>
        <p:spPr>
          <a:xfrm>
            <a:off x="9006840" y="1965960"/>
            <a:ext cx="2468880" cy="50292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Add one log line</a:t>
            </a:r>
            <a:endParaRPr lang="en-US" sz="1800" dirty="0"/>
          </a:p>
        </p:txBody>
      </p:sp>
      <p:sp>
        <p:nvSpPr>
          <p:cNvPr id="19" name="Text 14"/>
          <p:cNvSpPr/>
          <p:nvPr/>
        </p:nvSpPr>
        <p:spPr>
          <a:xfrm>
            <a:off x="8366760" y="2606040"/>
            <a:ext cx="3063240" cy="731520"/>
          </a:xfrm>
          <a:prstGeom prst="rect">
            <a:avLst/>
          </a:prstGeom>
          <a:noFill/>
          <a:ln/>
        </p:spPr>
        <p:txBody>
          <a:bodyPr wrap="square" lIns="0" tIns="0" rIns="0" bIns="0" rtlCol="0" anchor="t"/>
          <a:lstStyle/>
          <a:p>
            <a:pPr indent="0" marL="0">
              <a:buNone/>
            </a:pPr>
            <a:r>
              <a:rPr lang="en-US" sz="1550" dirty="0">
                <a:solidFill>
                  <a:srgbClr val="1E2A36"/>
                </a:solidFill>
                <a:latin typeface="Calibri" pitchFamily="34" charset="0"/>
                <a:ea typeface="Calibri" pitchFamily="34" charset="-122"/>
                <a:cs typeface="Calibri" pitchFamily="34" charset="-120"/>
              </a:rPr>
              <a:t>Where two guesses split, print the value.</a:t>
            </a:r>
            <a:endParaRPr lang="en-US" sz="1550" dirty="0"/>
          </a:p>
        </p:txBody>
      </p:sp>
      <p:sp>
        <p:nvSpPr>
          <p:cNvPr id="20" name="Shape 15"/>
          <p:cNvSpPr/>
          <p:nvPr/>
        </p:nvSpPr>
        <p:spPr>
          <a:xfrm>
            <a:off x="548640" y="3611880"/>
            <a:ext cx="3474720" cy="1645920"/>
          </a:xfrm>
          <a:prstGeom prst="roundRect">
            <a:avLst>
              <a:gd name="adj" fmla="val 500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777240" y="3794760"/>
            <a:ext cx="502920" cy="50292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13028" y="3930548"/>
            <a:ext cx="231343" cy="231343"/>
          </a:xfrm>
          <a:prstGeom prst="rect">
            <a:avLst/>
          </a:prstGeom>
        </p:spPr>
      </p:pic>
      <p:sp>
        <p:nvSpPr>
          <p:cNvPr id="23" name="Text 17"/>
          <p:cNvSpPr/>
          <p:nvPr/>
        </p:nvSpPr>
        <p:spPr>
          <a:xfrm>
            <a:off x="1417320" y="3794760"/>
            <a:ext cx="2468880" cy="50292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Use the debugger</a:t>
            </a:r>
            <a:endParaRPr lang="en-US" sz="1800" dirty="0"/>
          </a:p>
        </p:txBody>
      </p:sp>
      <p:sp>
        <p:nvSpPr>
          <p:cNvPr id="24" name="Text 18"/>
          <p:cNvSpPr/>
          <p:nvPr/>
        </p:nvSpPr>
        <p:spPr>
          <a:xfrm>
            <a:off x="777240" y="4434840"/>
            <a:ext cx="3063240" cy="731520"/>
          </a:xfrm>
          <a:prstGeom prst="rect">
            <a:avLst/>
          </a:prstGeom>
          <a:noFill/>
          <a:ln/>
        </p:spPr>
        <p:txBody>
          <a:bodyPr wrap="square" lIns="0" tIns="0" rIns="0" bIns="0" rtlCol="0" anchor="t"/>
          <a:lstStyle/>
          <a:p>
            <a:pPr indent="0" marL="0">
              <a:buNone/>
            </a:pPr>
            <a:r>
              <a:rPr lang="en-US" sz="1550" dirty="0">
                <a:solidFill>
                  <a:srgbClr val="1E2A36"/>
                </a:solidFill>
                <a:latin typeface="Calibri" pitchFamily="34" charset="0"/>
                <a:ea typeface="Calibri" pitchFamily="34" charset="-122"/>
                <a:cs typeface="Calibri" pitchFamily="34" charset="-120"/>
              </a:rPr>
              <a:t>Stop at that line; inspect the state.</a:t>
            </a:r>
            <a:endParaRPr lang="en-US" sz="1550" dirty="0"/>
          </a:p>
        </p:txBody>
      </p:sp>
      <p:sp>
        <p:nvSpPr>
          <p:cNvPr id="25" name="Shape 19"/>
          <p:cNvSpPr/>
          <p:nvPr/>
        </p:nvSpPr>
        <p:spPr>
          <a:xfrm>
            <a:off x="4343400" y="3611880"/>
            <a:ext cx="3474720" cy="1645920"/>
          </a:xfrm>
          <a:prstGeom prst="roundRect">
            <a:avLst>
              <a:gd name="adj" fmla="val 5000"/>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4572000" y="3794760"/>
            <a:ext cx="502920" cy="502920"/>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4707788" y="3930548"/>
            <a:ext cx="231343" cy="231343"/>
          </a:xfrm>
          <a:prstGeom prst="rect">
            <a:avLst/>
          </a:prstGeom>
        </p:spPr>
      </p:pic>
      <p:sp>
        <p:nvSpPr>
          <p:cNvPr id="28" name="Text 21"/>
          <p:cNvSpPr/>
          <p:nvPr/>
        </p:nvSpPr>
        <p:spPr>
          <a:xfrm>
            <a:off x="5212080" y="3794760"/>
            <a:ext cx="2468880" cy="50292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Ask what changed</a:t>
            </a:r>
            <a:endParaRPr lang="en-US" sz="1800" dirty="0"/>
          </a:p>
        </p:txBody>
      </p:sp>
      <p:sp>
        <p:nvSpPr>
          <p:cNvPr id="29" name="Text 22"/>
          <p:cNvSpPr/>
          <p:nvPr/>
        </p:nvSpPr>
        <p:spPr>
          <a:xfrm>
            <a:off x="4572000" y="4434840"/>
            <a:ext cx="3063240" cy="731520"/>
          </a:xfrm>
          <a:prstGeom prst="rect">
            <a:avLst/>
          </a:prstGeom>
          <a:noFill/>
          <a:ln/>
        </p:spPr>
        <p:txBody>
          <a:bodyPr wrap="square" lIns="0" tIns="0" rIns="0" bIns="0" rtlCol="0" anchor="t"/>
          <a:lstStyle/>
          <a:p>
            <a:pPr indent="0" marL="0">
              <a:buNone/>
            </a:pPr>
            <a:r>
              <a:rPr lang="en-US" sz="1550" dirty="0">
                <a:solidFill>
                  <a:srgbClr val="1E2A36"/>
                </a:solidFill>
                <a:latin typeface="Calibri" pitchFamily="34" charset="0"/>
                <a:ea typeface="Calibri" pitchFamily="34" charset="-122"/>
                <a:cs typeface="Calibri" pitchFamily="34" charset="-120"/>
              </a:rPr>
              <a:t>git log, git diff, and for a long history, git bisect.</a:t>
            </a:r>
            <a:endParaRPr lang="en-US" sz="1550" dirty="0"/>
          </a:p>
        </p:txBody>
      </p:sp>
      <p:sp>
        <p:nvSpPr>
          <p:cNvPr id="30" name="Shape 23"/>
          <p:cNvSpPr/>
          <p:nvPr/>
        </p:nvSpPr>
        <p:spPr>
          <a:xfrm>
            <a:off x="8138160" y="3611880"/>
            <a:ext cx="3474720" cy="1645920"/>
          </a:xfrm>
          <a:prstGeom prst="roundRect">
            <a:avLst>
              <a:gd name="adj" fmla="val 5000"/>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366760" y="3794760"/>
            <a:ext cx="502920" cy="502920"/>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8502548" y="3930548"/>
            <a:ext cx="231343" cy="231343"/>
          </a:xfrm>
          <a:prstGeom prst="rect">
            <a:avLst/>
          </a:prstGeom>
        </p:spPr>
      </p:pic>
      <p:sp>
        <p:nvSpPr>
          <p:cNvPr id="33" name="Text 25"/>
          <p:cNvSpPr/>
          <p:nvPr/>
        </p:nvSpPr>
        <p:spPr>
          <a:xfrm>
            <a:off x="9006840" y="3794760"/>
            <a:ext cx="2468880" cy="50292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Shrink it</a:t>
            </a:r>
            <a:endParaRPr lang="en-US" sz="1800" dirty="0"/>
          </a:p>
        </p:txBody>
      </p:sp>
      <p:sp>
        <p:nvSpPr>
          <p:cNvPr id="34" name="Text 26"/>
          <p:cNvSpPr/>
          <p:nvPr/>
        </p:nvSpPr>
        <p:spPr>
          <a:xfrm>
            <a:off x="8366760" y="4434840"/>
            <a:ext cx="3063240" cy="731520"/>
          </a:xfrm>
          <a:prstGeom prst="rect">
            <a:avLst/>
          </a:prstGeom>
          <a:noFill/>
          <a:ln/>
        </p:spPr>
        <p:txBody>
          <a:bodyPr wrap="square" lIns="0" tIns="0" rIns="0" bIns="0" rtlCol="0" anchor="t"/>
          <a:lstStyle/>
          <a:p>
            <a:pPr indent="0" marL="0">
              <a:buNone/>
            </a:pPr>
            <a:r>
              <a:rPr lang="en-US" sz="1550" dirty="0">
                <a:solidFill>
                  <a:srgbClr val="1E2A36"/>
                </a:solidFill>
                <a:latin typeface="Calibri" pitchFamily="34" charset="0"/>
                <a:ea typeface="Calibri" pitchFamily="34" charset="-122"/>
                <a:cs typeface="Calibri" pitchFamily="34" charset="-120"/>
              </a:rPr>
              <a:t>Cut the failing case down until it stops failing.</a:t>
            </a:r>
            <a:endParaRPr lang="en-US" sz="1550" dirty="0"/>
          </a:p>
        </p:txBody>
      </p:sp>
      <p:sp>
        <p:nvSpPr>
          <p:cNvPr id="35" name="click-1"/>
          <p:cNvSpPr/>
          <p:nvPr/>
        </p:nvSpPr>
        <p:spPr>
          <a:xfrm>
            <a:off x="548640" y="548640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36" name="click-1"/>
          <p:cNvSpPr/>
          <p:nvPr/>
        </p:nvSpPr>
        <p:spPr>
          <a:xfrm>
            <a:off x="868680" y="5486400"/>
            <a:ext cx="10424160" cy="73152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Evidence before belief: run the experiment. The program is right there.</a:t>
            </a:r>
            <a:endParaRPr lang="en-US" sz="1700" dirty="0"/>
          </a:p>
        </p:txBody>
      </p:sp>
      <p:sp>
        <p:nvSpPr>
          <p:cNvPr id="37" name="Text 29"/>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38"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3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LIVE · PROP LOFT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"Every item says Out." Only one is.</a:t>
            </a:r>
            <a:endParaRPr lang="en-US" sz="3100" dirty="0"/>
          </a:p>
        </p:txBody>
      </p:sp>
      <p:sp>
        <p:nvSpPr>
          <p:cNvPr id="5" name="Shape 3"/>
          <p:cNvSpPr/>
          <p:nvPr/>
        </p:nvSpPr>
        <p:spPr>
          <a:xfrm>
            <a:off x="548640" y="1783080"/>
            <a:ext cx="5440680" cy="3794760"/>
          </a:xfrm>
          <a:prstGeom prst="roundRect">
            <a:avLst>
              <a:gd name="adj" fmla="val 2169"/>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77240" y="1874520"/>
            <a:ext cx="4937760" cy="41148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The list, after one checkout</a:t>
            </a:r>
            <a:endParaRPr lang="en-US" sz="1500" dirty="0"/>
          </a:p>
        </p:txBody>
      </p:sp>
      <p:sp>
        <p:nvSpPr>
          <p:cNvPr id="7" name="Shape 5"/>
          <p:cNvSpPr/>
          <p:nvPr/>
        </p:nvSpPr>
        <p:spPr>
          <a:xfrm>
            <a:off x="777240" y="2377440"/>
            <a:ext cx="4983480" cy="530352"/>
          </a:xfrm>
          <a:prstGeom prst="rect">
            <a:avLst/>
          </a:prstGeom>
          <a:solidFill>
            <a:srgbClr val="FFFFFF"/>
          </a:solidFill>
          <a:ln w="9525">
            <a:solidFill>
              <a:srgbClr val="C9D3DC"/>
            </a:solidFill>
            <a:prstDash val="solid"/>
          </a:ln>
        </p:spPr>
      </p:sp>
      <p:sp>
        <p:nvSpPr>
          <p:cNvPr id="8" name="Text 6"/>
          <p:cNvSpPr/>
          <p:nvPr/>
        </p:nvSpPr>
        <p:spPr>
          <a:xfrm>
            <a:off x="914400" y="2377440"/>
            <a:ext cx="3017520" cy="530352"/>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Bowler hat</a:t>
            </a:r>
            <a:endParaRPr lang="en-US" sz="1550" dirty="0"/>
          </a:p>
        </p:txBody>
      </p:sp>
      <p:sp>
        <p:nvSpPr>
          <p:cNvPr id="9" name="Text 7"/>
          <p:cNvSpPr/>
          <p:nvPr/>
        </p:nvSpPr>
        <p:spPr>
          <a:xfrm>
            <a:off x="3840480" y="2377440"/>
            <a:ext cx="1828800" cy="530352"/>
          </a:xfrm>
          <a:prstGeom prst="rect">
            <a:avLst/>
          </a:prstGeom>
          <a:noFill/>
          <a:ln/>
        </p:spPr>
        <p:txBody>
          <a:bodyPr wrap="square" lIns="0" tIns="0" rIns="0" bIns="0" rtlCol="0" anchor="ctr"/>
          <a:lstStyle/>
          <a:p>
            <a:pPr indent="0" marL="0">
              <a:buNone/>
            </a:pPr>
            <a:r>
              <a:rPr lang="en-US" sz="1550" b="1" dirty="0">
                <a:solidFill>
                  <a:srgbClr val="D9614C"/>
                </a:solidFill>
                <a:latin typeface="Calibri" pitchFamily="34" charset="0"/>
                <a:ea typeface="Calibri" pitchFamily="34" charset="-122"/>
                <a:cs typeface="Calibri" pitchFamily="34" charset="-120"/>
              </a:rPr>
              <a:t>Out · due Dec 5</a:t>
            </a:r>
            <a:endParaRPr lang="en-US" sz="1550" dirty="0"/>
          </a:p>
        </p:txBody>
      </p:sp>
      <p:sp>
        <p:nvSpPr>
          <p:cNvPr id="10" name="Shape 8"/>
          <p:cNvSpPr/>
          <p:nvPr/>
        </p:nvSpPr>
        <p:spPr>
          <a:xfrm>
            <a:off x="777240" y="2980944"/>
            <a:ext cx="4983480" cy="530352"/>
          </a:xfrm>
          <a:prstGeom prst="rect">
            <a:avLst/>
          </a:prstGeom>
          <a:solidFill>
            <a:srgbClr val="FFFFFF"/>
          </a:solidFill>
          <a:ln w="9525">
            <a:solidFill>
              <a:srgbClr val="C9D3DC"/>
            </a:solidFill>
            <a:prstDash val="solid"/>
          </a:ln>
        </p:spPr>
      </p:sp>
      <p:sp>
        <p:nvSpPr>
          <p:cNvPr id="11" name="Text 9"/>
          <p:cNvSpPr/>
          <p:nvPr/>
        </p:nvSpPr>
        <p:spPr>
          <a:xfrm>
            <a:off x="914400" y="2980944"/>
            <a:ext cx="3017520" cy="530352"/>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Brocade waistcoat, gold</a:t>
            </a:r>
            <a:endParaRPr lang="en-US" sz="1550" dirty="0"/>
          </a:p>
        </p:txBody>
      </p:sp>
      <p:sp>
        <p:nvSpPr>
          <p:cNvPr id="12" name="Text 10"/>
          <p:cNvSpPr/>
          <p:nvPr/>
        </p:nvSpPr>
        <p:spPr>
          <a:xfrm>
            <a:off x="3840480" y="2980944"/>
            <a:ext cx="1828800" cy="530352"/>
          </a:xfrm>
          <a:prstGeom prst="rect">
            <a:avLst/>
          </a:prstGeom>
          <a:noFill/>
          <a:ln/>
        </p:spPr>
        <p:txBody>
          <a:bodyPr wrap="square" lIns="0" tIns="0" rIns="0" bIns="0" rtlCol="0" anchor="ctr"/>
          <a:lstStyle/>
          <a:p>
            <a:pPr indent="0" marL="0">
              <a:buNone/>
            </a:pPr>
            <a:r>
              <a:rPr lang="en-US" sz="1550" b="1" dirty="0">
                <a:solidFill>
                  <a:srgbClr val="D9614C"/>
                </a:solidFill>
                <a:latin typeface="Calibri" pitchFamily="34" charset="0"/>
                <a:ea typeface="Calibri" pitchFamily="34" charset="-122"/>
                <a:cs typeface="Calibri" pitchFamily="34" charset="-120"/>
              </a:rPr>
              <a:t>Out · due Dec 5</a:t>
            </a:r>
            <a:endParaRPr lang="en-US" sz="1550" dirty="0"/>
          </a:p>
        </p:txBody>
      </p:sp>
      <p:sp>
        <p:nvSpPr>
          <p:cNvPr id="13" name="Shape 11"/>
          <p:cNvSpPr/>
          <p:nvPr/>
        </p:nvSpPr>
        <p:spPr>
          <a:xfrm>
            <a:off x="777240" y="3584448"/>
            <a:ext cx="4983480" cy="530352"/>
          </a:xfrm>
          <a:prstGeom prst="rect">
            <a:avLst/>
          </a:prstGeom>
          <a:solidFill>
            <a:srgbClr val="FFFFFF"/>
          </a:solidFill>
          <a:ln w="9525">
            <a:solidFill>
              <a:srgbClr val="C9D3DC"/>
            </a:solidFill>
            <a:prstDash val="solid"/>
          </a:ln>
        </p:spPr>
      </p:sp>
      <p:sp>
        <p:nvSpPr>
          <p:cNvPr id="14" name="Text 12"/>
          <p:cNvSpPr/>
          <p:nvPr/>
        </p:nvSpPr>
        <p:spPr>
          <a:xfrm>
            <a:off x="914400" y="3584448"/>
            <a:ext cx="3017520" cy="530352"/>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Bustle skirt, black</a:t>
            </a:r>
            <a:endParaRPr lang="en-US" sz="1550" dirty="0"/>
          </a:p>
        </p:txBody>
      </p:sp>
      <p:sp>
        <p:nvSpPr>
          <p:cNvPr id="15" name="Text 13"/>
          <p:cNvSpPr/>
          <p:nvPr/>
        </p:nvSpPr>
        <p:spPr>
          <a:xfrm>
            <a:off x="3840480" y="3584448"/>
            <a:ext cx="1828800" cy="530352"/>
          </a:xfrm>
          <a:prstGeom prst="rect">
            <a:avLst/>
          </a:prstGeom>
          <a:noFill/>
          <a:ln/>
        </p:spPr>
        <p:txBody>
          <a:bodyPr wrap="square" lIns="0" tIns="0" rIns="0" bIns="0" rtlCol="0" anchor="ctr"/>
          <a:lstStyle/>
          <a:p>
            <a:pPr indent="0" marL="0">
              <a:buNone/>
            </a:pPr>
            <a:r>
              <a:rPr lang="en-US" sz="1550" b="1" dirty="0">
                <a:solidFill>
                  <a:srgbClr val="D9614C"/>
                </a:solidFill>
                <a:latin typeface="Calibri" pitchFamily="34" charset="0"/>
                <a:ea typeface="Calibri" pitchFamily="34" charset="-122"/>
                <a:cs typeface="Calibri" pitchFamily="34" charset="-120"/>
              </a:rPr>
              <a:t>Out · due Dec 5</a:t>
            </a:r>
            <a:endParaRPr lang="en-US" sz="1550" dirty="0"/>
          </a:p>
        </p:txBody>
      </p:sp>
      <p:sp>
        <p:nvSpPr>
          <p:cNvPr id="16" name="Shape 14"/>
          <p:cNvSpPr/>
          <p:nvPr/>
        </p:nvSpPr>
        <p:spPr>
          <a:xfrm>
            <a:off x="777240" y="4187952"/>
            <a:ext cx="4983480" cy="530352"/>
          </a:xfrm>
          <a:prstGeom prst="rect">
            <a:avLst/>
          </a:prstGeom>
          <a:solidFill>
            <a:srgbClr val="FFFFFF"/>
          </a:solidFill>
          <a:ln w="9525">
            <a:solidFill>
              <a:srgbClr val="C9D3DC"/>
            </a:solidFill>
            <a:prstDash val="solid"/>
          </a:ln>
        </p:spPr>
      </p:sp>
      <p:sp>
        <p:nvSpPr>
          <p:cNvPr id="17" name="Text 15"/>
          <p:cNvSpPr/>
          <p:nvPr/>
        </p:nvSpPr>
        <p:spPr>
          <a:xfrm>
            <a:off x="914400" y="4187952"/>
            <a:ext cx="3017520" cy="530352"/>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Top hat, silk</a:t>
            </a:r>
            <a:endParaRPr lang="en-US" sz="1550" dirty="0"/>
          </a:p>
        </p:txBody>
      </p:sp>
      <p:sp>
        <p:nvSpPr>
          <p:cNvPr id="18" name="Text 16"/>
          <p:cNvSpPr/>
          <p:nvPr/>
        </p:nvSpPr>
        <p:spPr>
          <a:xfrm>
            <a:off x="3840480" y="4187952"/>
            <a:ext cx="1828800" cy="530352"/>
          </a:xfrm>
          <a:prstGeom prst="rect">
            <a:avLst/>
          </a:prstGeom>
          <a:noFill/>
          <a:ln/>
        </p:spPr>
        <p:txBody>
          <a:bodyPr wrap="square" lIns="0" tIns="0" rIns="0" bIns="0" rtlCol="0" anchor="ctr"/>
          <a:lstStyle/>
          <a:p>
            <a:pPr indent="0" marL="0">
              <a:buNone/>
            </a:pPr>
            <a:r>
              <a:rPr lang="en-US" sz="1550" b="1" dirty="0">
                <a:solidFill>
                  <a:srgbClr val="D9614C"/>
                </a:solidFill>
                <a:latin typeface="Calibri" pitchFamily="34" charset="0"/>
                <a:ea typeface="Calibri" pitchFamily="34" charset="-122"/>
                <a:cs typeface="Calibri" pitchFamily="34" charset="-120"/>
              </a:rPr>
              <a:t>Out · due Dec 5</a:t>
            </a:r>
            <a:endParaRPr lang="en-US" sz="1550" dirty="0"/>
          </a:p>
        </p:txBody>
      </p:sp>
      <p:sp>
        <p:nvSpPr>
          <p:cNvPr id="19" name="Shape 17"/>
          <p:cNvSpPr/>
          <p:nvPr/>
        </p:nvSpPr>
        <p:spPr>
          <a:xfrm>
            <a:off x="777240" y="4791456"/>
            <a:ext cx="4983480" cy="530352"/>
          </a:xfrm>
          <a:prstGeom prst="rect">
            <a:avLst/>
          </a:prstGeom>
          <a:solidFill>
            <a:srgbClr val="FFFFFF"/>
          </a:solidFill>
          <a:ln w="9525">
            <a:solidFill>
              <a:srgbClr val="C9D3DC"/>
            </a:solidFill>
            <a:prstDash val="solid"/>
          </a:ln>
        </p:spPr>
      </p:sp>
      <p:sp>
        <p:nvSpPr>
          <p:cNvPr id="20" name="Text 18"/>
          <p:cNvSpPr/>
          <p:nvPr/>
        </p:nvSpPr>
        <p:spPr>
          <a:xfrm>
            <a:off x="914400" y="4791456"/>
            <a:ext cx="3017520" cy="530352"/>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Victorian waistcoat, black</a:t>
            </a:r>
            <a:endParaRPr lang="en-US" sz="1550" dirty="0"/>
          </a:p>
        </p:txBody>
      </p:sp>
      <p:sp>
        <p:nvSpPr>
          <p:cNvPr id="21" name="Text 19"/>
          <p:cNvSpPr/>
          <p:nvPr/>
        </p:nvSpPr>
        <p:spPr>
          <a:xfrm>
            <a:off x="3840480" y="4791456"/>
            <a:ext cx="1828800" cy="530352"/>
          </a:xfrm>
          <a:prstGeom prst="rect">
            <a:avLst/>
          </a:prstGeom>
          <a:noFill/>
          <a:ln/>
        </p:spPr>
        <p:txBody>
          <a:bodyPr wrap="square" lIns="0" tIns="0" rIns="0" bIns="0" rtlCol="0" anchor="ctr"/>
          <a:lstStyle/>
          <a:p>
            <a:pPr indent="0" marL="0">
              <a:buNone/>
            </a:pPr>
            <a:r>
              <a:rPr lang="en-US" sz="1550" b="1" dirty="0">
                <a:solidFill>
                  <a:srgbClr val="D9614C"/>
                </a:solidFill>
                <a:latin typeface="Calibri" pitchFamily="34" charset="0"/>
                <a:ea typeface="Calibri" pitchFamily="34" charset="-122"/>
                <a:cs typeface="Calibri" pitchFamily="34" charset="-120"/>
              </a:rPr>
              <a:t>Out · due Dec 5</a:t>
            </a:r>
            <a:endParaRPr lang="en-US" sz="1550" dirty="0"/>
          </a:p>
        </p:txBody>
      </p:sp>
      <p:sp>
        <p:nvSpPr>
          <p:cNvPr id="22" name="click-1"/>
          <p:cNvSpPr/>
          <p:nvPr/>
        </p:nvSpPr>
        <p:spPr>
          <a:xfrm>
            <a:off x="6172200" y="1783080"/>
            <a:ext cx="5440680" cy="1161288"/>
          </a:xfrm>
          <a:prstGeom prst="roundRect">
            <a:avLst>
              <a:gd name="adj" fmla="val 7087"/>
            </a:avLst>
          </a:prstGeom>
          <a:solidFill>
            <a:srgbClr val="FFFFFF"/>
          </a:solidFill>
          <a:ln/>
          <a:effectLst>
            <a:outerShdw sx="100000" sy="100000" kx="0" ky="0" algn="bl" rotWithShape="0" blurRad="88900" dist="38100" dir="5400000">
              <a:srgbClr val="000000">
                <a:alpha val="13000"/>
              </a:srgbClr>
            </a:outerShdw>
          </a:effectLst>
        </p:spPr>
      </p:sp>
      <p:sp>
        <p:nvSpPr>
          <p:cNvPr id="23" name="click-1"/>
          <p:cNvSpPr/>
          <p:nvPr/>
        </p:nvSpPr>
        <p:spPr>
          <a:xfrm>
            <a:off x="6400800" y="1856232"/>
            <a:ext cx="5029200" cy="621792"/>
          </a:xfrm>
          <a:prstGeom prst="rect">
            <a:avLst/>
          </a:prstGeom>
          <a:noFill/>
          <a:ln/>
        </p:spPr>
        <p:txBody>
          <a:bodyPr wrap="square" lIns="0" tIns="0" rIns="0" bIns="0" rtlCol="0" anchor="t"/>
          <a:lstStyle/>
          <a:p>
            <a:pPr indent="0" marL="0">
              <a:buNone/>
            </a:pPr>
            <a:r>
              <a:rPr lang="en-US" sz="1550" b="1" dirty="0">
                <a:solidFill>
                  <a:srgbClr val="0E6E6D"/>
                </a:solidFill>
                <a:latin typeface="Calibri" pitchFamily="34" charset="0"/>
                <a:ea typeface="Calibri" pitchFamily="34" charset="-122"/>
                <a:cs typeface="Calibri" pitchFamily="34" charset="-120"/>
              </a:rPr>
              <a:t>The data:  </a:t>
            </a:r>
            <a:pPr indent="0" marL="0">
              <a:buNone/>
            </a:pPr>
            <a:r>
              <a:rPr lang="en-US" sz="1550" dirty="0">
                <a:solidFill>
                  <a:srgbClr val="1E2A36"/>
                </a:solidFill>
                <a:latin typeface="Calibri" pitchFamily="34" charset="0"/>
                <a:ea typeface="Calibri" pitchFamily="34" charset="-122"/>
                <a:cs typeface="Calibri" pitchFamily="34" charset="-120"/>
              </a:rPr>
              <a:t>The admin save made a checkout for every item.</a:t>
            </a:r>
            <a:endParaRPr lang="en-US" sz="1550" dirty="0"/>
          </a:p>
        </p:txBody>
      </p:sp>
      <p:sp>
        <p:nvSpPr>
          <p:cNvPr id="24" name="click-2"/>
          <p:cNvSpPr/>
          <p:nvPr/>
        </p:nvSpPr>
        <p:spPr>
          <a:xfrm>
            <a:off x="6400800" y="2478024"/>
            <a:ext cx="5029200" cy="411480"/>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Wrong: the admin lists one.</a:t>
            </a:r>
            <a:endParaRPr lang="en-US" sz="1500" dirty="0"/>
          </a:p>
        </p:txBody>
      </p:sp>
      <p:sp>
        <p:nvSpPr>
          <p:cNvPr id="25" name="click-1"/>
          <p:cNvSpPr/>
          <p:nvPr/>
        </p:nvSpPr>
        <p:spPr>
          <a:xfrm>
            <a:off x="6172200" y="3063240"/>
            <a:ext cx="5440680" cy="1161288"/>
          </a:xfrm>
          <a:prstGeom prst="roundRect">
            <a:avLst>
              <a:gd name="adj" fmla="val 7087"/>
            </a:avLst>
          </a:prstGeom>
          <a:solidFill>
            <a:srgbClr val="FFFFFF"/>
          </a:solidFill>
          <a:ln/>
          <a:effectLst>
            <a:outerShdw sx="100000" sy="100000" kx="0" ky="0" algn="bl" rotWithShape="0" blurRad="88900" dist="38100" dir="5400000">
              <a:srgbClr val="000000">
                <a:alpha val="13000"/>
              </a:srgbClr>
            </a:outerShdw>
          </a:effectLst>
        </p:spPr>
      </p:sp>
      <p:sp>
        <p:nvSpPr>
          <p:cNvPr id="26" name="click-1"/>
          <p:cNvSpPr/>
          <p:nvPr/>
        </p:nvSpPr>
        <p:spPr>
          <a:xfrm>
            <a:off x="6400800" y="3136392"/>
            <a:ext cx="5029200" cy="621792"/>
          </a:xfrm>
          <a:prstGeom prst="rect">
            <a:avLst/>
          </a:prstGeom>
          <a:noFill/>
          <a:ln/>
        </p:spPr>
        <p:txBody>
          <a:bodyPr wrap="square" lIns="0" tIns="0" rIns="0" bIns="0" rtlCol="0" anchor="t"/>
          <a:lstStyle/>
          <a:p>
            <a:pPr indent="0" marL="0">
              <a:buNone/>
            </a:pPr>
            <a:r>
              <a:rPr lang="en-US" sz="1550" b="1" dirty="0">
                <a:solidFill>
                  <a:srgbClr val="0E6E6D"/>
                </a:solidFill>
                <a:latin typeface="Calibri" pitchFamily="34" charset="0"/>
                <a:ea typeface="Calibri" pitchFamily="34" charset="-122"/>
                <a:cs typeface="Calibri" pitchFamily="34" charset="-120"/>
              </a:rPr>
              <a:t>The display:  </a:t>
            </a:r>
            <a:pPr indent="0" marL="0">
              <a:buNone/>
            </a:pPr>
            <a:r>
              <a:rPr lang="en-US" sz="1550" dirty="0">
                <a:solidFill>
                  <a:srgbClr val="1E2A36"/>
                </a:solidFill>
                <a:latin typeface="Calibri" pitchFamily="34" charset="0"/>
                <a:ea typeface="Calibri" pitchFamily="34" charset="-122"/>
                <a:cs typeface="Calibri" pitchFamily="34" charset="-120"/>
              </a:rPr>
              <a:t>The template prints the marker whatever it's given.</a:t>
            </a:r>
            <a:endParaRPr lang="en-US" sz="1550" dirty="0"/>
          </a:p>
        </p:txBody>
      </p:sp>
      <p:sp>
        <p:nvSpPr>
          <p:cNvPr id="27" name="click-3"/>
          <p:cNvSpPr/>
          <p:nvPr/>
        </p:nvSpPr>
        <p:spPr>
          <a:xfrm>
            <a:off x="6400800" y="3758184"/>
            <a:ext cx="5029200" cy="411480"/>
          </a:xfrm>
          <a:prstGeom prst="rect">
            <a:avLst/>
          </a:prstGeom>
          <a:noFill/>
          <a:ln/>
        </p:spPr>
        <p:txBody>
          <a:bodyPr wrap="square" lIns="0" tIns="0" rIns="0" bIns="0" rtlCol="0" anchor="ctr"/>
          <a:lstStyle/>
          <a:p>
            <a:pPr indent="0" marL="0">
              <a:buNone/>
            </a:pPr>
            <a:r>
              <a:rPr lang="en-US" sz="1500" b="1" dirty="0">
                <a:solidFill>
                  <a:srgbClr val="D9614C"/>
                </a:solidFill>
                <a:latin typeface="Calibri" pitchFamily="34" charset="0"/>
                <a:ea typeface="Calibri" pitchFamily="34" charset="-122"/>
                <a:cs typeface="Calibri" pitchFamily="34" charset="-120"/>
              </a:rPr>
              <a:t>Wrong: a log line shows Dec 5 arriving for every item.</a:t>
            </a:r>
            <a:endParaRPr lang="en-US" sz="1500" dirty="0"/>
          </a:p>
        </p:txBody>
      </p:sp>
      <p:sp>
        <p:nvSpPr>
          <p:cNvPr id="28" name="click-1"/>
          <p:cNvSpPr/>
          <p:nvPr/>
        </p:nvSpPr>
        <p:spPr>
          <a:xfrm>
            <a:off x="6172200" y="4343400"/>
            <a:ext cx="5440680" cy="1161288"/>
          </a:xfrm>
          <a:prstGeom prst="roundRect">
            <a:avLst>
              <a:gd name="adj" fmla="val 7087"/>
            </a:avLst>
          </a:prstGeom>
          <a:solidFill>
            <a:srgbClr val="FFFFFF"/>
          </a:solidFill>
          <a:ln/>
          <a:effectLst>
            <a:outerShdw sx="100000" sy="100000" kx="0" ky="0" algn="bl" rotWithShape="0" blurRad="88900" dist="38100" dir="5400000">
              <a:srgbClr val="000000">
                <a:alpha val="13000"/>
              </a:srgbClr>
            </a:outerShdw>
          </a:effectLst>
        </p:spPr>
      </p:sp>
      <p:sp>
        <p:nvSpPr>
          <p:cNvPr id="29" name="click-1"/>
          <p:cNvSpPr/>
          <p:nvPr/>
        </p:nvSpPr>
        <p:spPr>
          <a:xfrm>
            <a:off x="6400800" y="4416552"/>
            <a:ext cx="5029200" cy="621792"/>
          </a:xfrm>
          <a:prstGeom prst="rect">
            <a:avLst/>
          </a:prstGeom>
          <a:noFill/>
          <a:ln/>
        </p:spPr>
        <p:txBody>
          <a:bodyPr wrap="square" lIns="0" tIns="0" rIns="0" bIns="0" rtlCol="0" anchor="t"/>
          <a:lstStyle/>
          <a:p>
            <a:pPr indent="0" marL="0">
              <a:buNone/>
            </a:pPr>
            <a:r>
              <a:rPr lang="en-US" sz="1550" b="1" dirty="0">
                <a:solidFill>
                  <a:srgbClr val="0E6E6D"/>
                </a:solidFill>
                <a:latin typeface="Calibri" pitchFamily="34" charset="0"/>
                <a:ea typeface="Calibri" pitchFamily="34" charset="-122"/>
                <a:cs typeface="Calibri" pitchFamily="34" charset="-120"/>
              </a:rPr>
              <a:t>The query:  </a:t>
            </a:r>
            <a:pPr indent="0" marL="0">
              <a:buNone/>
            </a:pPr>
            <a:r>
              <a:rPr lang="en-US" sz="1550" dirty="0">
                <a:solidFill>
                  <a:srgbClr val="1E2A36"/>
                </a:solidFill>
                <a:latin typeface="Calibri" pitchFamily="34" charset="0"/>
                <a:ea typeface="Calibri" pitchFamily="34" charset="-122"/>
                <a:cs typeface="Calibri" pitchFamily="34" charset="-120"/>
              </a:rPr>
              <a:t>The view hands every item the same due date.</a:t>
            </a:r>
            <a:endParaRPr lang="en-US" sz="1550" dirty="0"/>
          </a:p>
        </p:txBody>
      </p:sp>
      <p:sp>
        <p:nvSpPr>
          <p:cNvPr id="30" name="click-3"/>
          <p:cNvSpPr/>
          <p:nvPr/>
        </p:nvSpPr>
        <p:spPr>
          <a:xfrm>
            <a:off x="6400800" y="5038344"/>
            <a:ext cx="5029200" cy="411480"/>
          </a:xfrm>
          <a:prstGeom prst="rect">
            <a:avLst/>
          </a:prstGeom>
          <a:noFill/>
          <a:ln/>
        </p:spPr>
        <p:txBody>
          <a:bodyPr wrap="square" lIns="0" tIns="0" rIns="0" bIns="0" rtlCol="0" anchor="ctr"/>
          <a:lstStyle/>
          <a:p>
            <a:pPr indent="0" marL="0">
              <a:buNone/>
            </a:pPr>
            <a:r>
              <a:rPr lang="en-US" sz="1500" b="1" dirty="0">
                <a:solidFill>
                  <a:srgbClr val="3E9C6B"/>
                </a:solidFill>
                <a:latin typeface="Calibri" pitchFamily="34" charset="0"/>
                <a:ea typeface="Calibri" pitchFamily="34" charset="-122"/>
                <a:cs typeface="Calibri" pitchFamily="34" charset="-120"/>
              </a:rPr>
              <a:t>Still standing. Read the view.</a:t>
            </a:r>
            <a:endParaRPr lang="en-US" sz="1500" dirty="0"/>
          </a:p>
        </p:txBody>
      </p:sp>
      <p:sp>
        <p:nvSpPr>
          <p:cNvPr id="31" name="Shape 29"/>
          <p:cNvSpPr/>
          <p:nvPr/>
        </p:nvSpPr>
        <p:spPr>
          <a:xfrm>
            <a:off x="548640" y="5760720"/>
            <a:ext cx="11064240" cy="502920"/>
          </a:xfrm>
          <a:prstGeom prst="roundRect">
            <a:avLst>
              <a:gd name="adj" fmla="val 16364"/>
            </a:avLst>
          </a:prstGeom>
          <a:solidFill>
            <a:srgbClr val="FBEEDA"/>
          </a:solidFill>
          <a:ln/>
          <a:effectLst>
            <a:outerShdw sx="100000" sy="100000" kx="0" ky="0" algn="bl" rotWithShape="0" blurRad="88900" dist="38100" dir="5400000">
              <a:srgbClr val="000000">
                <a:alpha val="13000"/>
              </a:srgbClr>
            </a:outerShdw>
          </a:effectLst>
        </p:spPr>
      </p:sp>
      <p:sp>
        <p:nvSpPr>
          <p:cNvPr id="32" name="Text 30"/>
          <p:cNvSpPr/>
          <p:nvPr/>
        </p:nvSpPr>
        <p:spPr>
          <a:xfrm>
            <a:off x="868680" y="5760720"/>
            <a:ext cx="10424160" cy="50292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The clue in the failure: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every row, and the same date.</a:t>
            </a:r>
            <a:endParaRPr lang="en-US" sz="1700" dirty="0"/>
          </a:p>
        </p:txBody>
      </p:sp>
      <p:sp>
        <p:nvSpPr>
          <p:cNvPr id="33" name="Text 31"/>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34" name="Text 3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2"/>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20" presetID="1"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4" presetID="1"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P spid="26" grpId="0" animBg="1"/>
      <p:bldP spid="28" grpId="0" animBg="1"/>
      <p:bldP spid="29" grpId="0" animBg="1"/>
      <p:bldP spid="24" grpId="0" animBg="1"/>
      <p:bldP spid="27" grpId="0" animBg="1"/>
      <p:bldP spid="3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LIVE · PIN IT, THEN FIX IT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failing test first, then one line</a:t>
            </a:r>
            <a:endParaRPr lang="en-US" sz="3100" dirty="0"/>
          </a:p>
        </p:txBody>
      </p:sp>
      <p:sp>
        <p:nvSpPr>
          <p:cNvPr id="5" name="Text 3"/>
          <p:cNvSpPr/>
          <p:nvPr/>
        </p:nvSpPr>
        <p:spPr>
          <a:xfrm>
            <a:off x="548640" y="1691640"/>
            <a:ext cx="630936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The test, before the fix</a:t>
            </a:r>
            <a:endParaRPr lang="en-US" sz="1500" dirty="0"/>
          </a:p>
        </p:txBody>
      </p:sp>
      <p:sp>
        <p:nvSpPr>
          <p:cNvPr id="6" name="Shape 4"/>
          <p:cNvSpPr/>
          <p:nvPr/>
        </p:nvSpPr>
        <p:spPr>
          <a:xfrm>
            <a:off x="548640" y="2057400"/>
            <a:ext cx="6309360" cy="1828800"/>
          </a:xfrm>
          <a:prstGeom prst="roundRect">
            <a:avLst>
              <a:gd name="adj" fmla="val 4000"/>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5760720" cy="1499616"/>
          </a:xfrm>
          <a:prstGeom prst="rect">
            <a:avLst/>
          </a:prstGeom>
          <a:noFill/>
          <a:ln/>
        </p:spPr>
        <p:txBody>
          <a:bodyPr wrap="square" lIns="0" tIns="0" rIns="0" bIns="0" rtlCol="0" anchor="t"/>
          <a:lstStyle/>
          <a:p>
            <a:pPr indent="0" marL="0">
              <a:lnSpc>
                <a:spcPct val="105000"/>
              </a:lnSpc>
              <a:buNone/>
            </a:pPr>
            <a:r>
              <a:rPr lang="en-US" sz="1450" dirty="0">
                <a:solidFill>
                  <a:srgbClr val="F4A99A"/>
                </a:solidFill>
                <a:latin typeface="Consolas" pitchFamily="34" charset="0"/>
                <a:ea typeface="Consolas" pitchFamily="34" charset="-122"/>
                <a:cs typeface="Consolas" pitchFamily="34" charset="-120"/>
              </a:rPr>
              <a:t>FAIL: test_marks_only_the_item_that_is_out</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F4A99A"/>
                </a:solidFill>
                <a:latin typeface="Consolas" pitchFamily="34" charset="0"/>
                <a:ea typeface="Consolas" pitchFamily="34" charset="-122"/>
                <a:cs typeface="Consolas" pitchFamily="34" charset="-120"/>
              </a:rPr>
              <a:t>- {'Bowler hat': datetime.date(2026, 12, 5),</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{'Bowler hat': None,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'Victorian waistcoat': date(2026, 12, 5)}</a:t>
            </a:r>
            <a:endParaRPr lang="en-US" sz="1450" dirty="0"/>
          </a:p>
        </p:txBody>
      </p:sp>
      <p:sp>
        <p:nvSpPr>
          <p:cNvPr id="8" name="click-1"/>
          <p:cNvSpPr/>
          <p:nvPr/>
        </p:nvSpPr>
        <p:spPr>
          <a:xfrm>
            <a:off x="548640" y="4023360"/>
            <a:ext cx="630936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The fix, in catalog/views.py</a:t>
            </a:r>
            <a:endParaRPr lang="en-US" sz="1500" dirty="0"/>
          </a:p>
        </p:txBody>
      </p:sp>
      <p:sp>
        <p:nvSpPr>
          <p:cNvPr id="9" name="click-1"/>
          <p:cNvSpPr/>
          <p:nvPr/>
        </p:nvSpPr>
        <p:spPr>
          <a:xfrm>
            <a:off x="548640" y="4389120"/>
            <a:ext cx="6309360" cy="1783080"/>
          </a:xfrm>
          <a:prstGeom prst="roundRect">
            <a:avLst>
              <a:gd name="adj" fmla="val 4103"/>
            </a:avLst>
          </a:prstGeom>
          <a:solidFill>
            <a:srgbClr val="1E3352"/>
          </a:solidFill>
          <a:ln/>
          <a:effectLst>
            <a:outerShdw sx="100000" sy="100000" kx="0" ky="0" algn="bl" rotWithShape="0" blurRad="88900" dist="38100" dir="5400000">
              <a:srgbClr val="000000">
                <a:alpha val="13000"/>
              </a:srgbClr>
            </a:outerShdw>
          </a:effectLst>
        </p:spPr>
      </p:sp>
      <p:sp>
        <p:nvSpPr>
          <p:cNvPr id="10" name="click-1"/>
          <p:cNvSpPr/>
          <p:nvPr/>
        </p:nvSpPr>
        <p:spPr>
          <a:xfrm>
            <a:off x="822960" y="4553712"/>
            <a:ext cx="5760720" cy="1453896"/>
          </a:xfrm>
          <a:prstGeom prst="rect">
            <a:avLst/>
          </a:prstGeom>
          <a:noFill/>
          <a:ln/>
        </p:spPr>
        <p:txBody>
          <a:bodyPr wrap="square" lIns="0" tIns="0" rIns="0" bIns="0" rtlCol="0" anchor="t"/>
          <a:lstStyle/>
          <a:p>
            <a:pPr indent="0" marL="0">
              <a:lnSpc>
                <a:spcPct val="105000"/>
              </a:lnSpc>
              <a:buNone/>
            </a:pPr>
            <a:r>
              <a:rPr lang="en-US" sz="1450" dirty="0">
                <a:solidFill>
                  <a:srgbClr val="F4A99A"/>
                </a:solidFill>
                <a:latin typeface="Consolas" pitchFamily="34" charset="0"/>
                <a:ea typeface="Consolas" pitchFamily="34" charset="-122"/>
                <a:cs typeface="Consolas" pitchFamily="34" charset="-120"/>
              </a:rPr>
              <a:t>- Checkout.objects.filter(</a:t>
            </a:r>
            <a:endParaRPr lang="en-US" sz="1450" dirty="0"/>
          </a:p>
          <a:p>
            <a:pPr indent="0" marL="0">
              <a:lnSpc>
                <a:spcPct val="105000"/>
              </a:lnSpc>
              <a:buNone/>
            </a:pPr>
            <a:r>
              <a:rPr lang="en-US" sz="1450" dirty="0">
                <a:solidFill>
                  <a:srgbClr val="F4A99A"/>
                </a:solidFill>
                <a:latin typeface="Consolas" pitchFamily="34" charset="0"/>
                <a:ea typeface="Consolas" pitchFamily="34" charset="-122"/>
                <a:cs typeface="Consolas" pitchFamily="34" charset="-120"/>
              </a:rPr>
              <a:t>-     returned_date__isnull=True)</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Checkout.objects.filter(item=OuterRef("pk"),</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     returned_date__isnull=True)</a:t>
            </a:r>
            <a:endParaRPr lang="en-US" sz="1450" dirty="0"/>
          </a:p>
        </p:txBody>
      </p:sp>
      <p:sp>
        <p:nvSpPr>
          <p:cNvPr id="11" name="Shape 9"/>
          <p:cNvSpPr/>
          <p:nvPr/>
        </p:nvSpPr>
        <p:spPr>
          <a:xfrm>
            <a:off x="7086600" y="1783080"/>
            <a:ext cx="4526280" cy="1353312"/>
          </a:xfrm>
          <a:prstGeom prst="roundRect">
            <a:avLst>
              <a:gd name="adj" fmla="val 6081"/>
            </a:avLst>
          </a:prstGeom>
          <a:solidFill>
            <a:srgbClr val="FBEEDA"/>
          </a:solidFill>
          <a:ln/>
          <a:effectLst>
            <a:outerShdw sx="100000" sy="100000" kx="0" ky="0" algn="bl" rotWithShape="0" blurRad="88900" dist="38100" dir="5400000">
              <a:srgbClr val="000000">
                <a:alpha val="13000"/>
              </a:srgbClr>
            </a:outerShdw>
          </a:effectLst>
        </p:spPr>
      </p:sp>
      <p:sp>
        <p:nvSpPr>
          <p:cNvPr id="12" name="Text 10"/>
          <p:cNvSpPr/>
          <p:nvPr/>
        </p:nvSpPr>
        <p:spPr>
          <a:xfrm>
            <a:off x="7315200" y="1783080"/>
            <a:ext cx="4114800" cy="1353312"/>
          </a:xfrm>
          <a:prstGeom prst="rect">
            <a:avLst/>
          </a:prstGeom>
          <a:noFill/>
          <a:ln/>
        </p:spPr>
        <p:txBody>
          <a:bodyPr wrap="square" lIns="0" tIns="0" rIns="0" bIns="0" rtlCol="0" anchor="ctr"/>
          <a:lstStyle/>
          <a:p>
            <a:pPr indent="0" marL="0">
              <a:lnSpc>
                <a:spcPct val="103000"/>
              </a:lnSpc>
              <a:buNone/>
            </a:pPr>
            <a:r>
              <a:rPr lang="en-US" sz="1700" b="1" dirty="0">
                <a:solidFill>
                  <a:srgbClr val="0E6E6D"/>
                </a:solidFill>
                <a:latin typeface="Calibri" pitchFamily="34" charset="0"/>
                <a:ea typeface="Calibri" pitchFamily="34" charset="-122"/>
                <a:cs typeface="Calibri" pitchFamily="34" charset="-120"/>
              </a:rPr>
              <a:t>Why the tests missed it</a:t>
            </a:r>
            <a:endParaRPr lang="en-US" sz="1700" dirty="0"/>
          </a:p>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Each test put one item in the database: one out, or one in. Never both.</a:t>
            </a:r>
            <a:endParaRPr lang="en-US" sz="1700" dirty="0"/>
          </a:p>
        </p:txBody>
      </p:sp>
      <p:sp>
        <p:nvSpPr>
          <p:cNvPr id="13" name="click-1"/>
          <p:cNvSpPr/>
          <p:nvPr/>
        </p:nvSpPr>
        <p:spPr>
          <a:xfrm>
            <a:off x="7086600" y="3264408"/>
            <a:ext cx="4526280" cy="1353312"/>
          </a:xfrm>
          <a:prstGeom prst="roundRect">
            <a:avLst>
              <a:gd name="adj" fmla="val 6081"/>
            </a:avLst>
          </a:prstGeom>
          <a:solidFill>
            <a:srgbClr val="EAF4EE"/>
          </a:solidFill>
          <a:ln/>
          <a:effectLst>
            <a:outerShdw sx="100000" sy="100000" kx="0" ky="0" algn="bl" rotWithShape="0" blurRad="88900" dist="38100" dir="5400000">
              <a:srgbClr val="000000">
                <a:alpha val="13000"/>
              </a:srgbClr>
            </a:outerShdw>
          </a:effectLst>
        </p:spPr>
      </p:sp>
      <p:sp>
        <p:nvSpPr>
          <p:cNvPr id="14" name="click-1"/>
          <p:cNvSpPr/>
          <p:nvPr/>
        </p:nvSpPr>
        <p:spPr>
          <a:xfrm>
            <a:off x="7315200" y="3264408"/>
            <a:ext cx="4114800" cy="1353312"/>
          </a:xfrm>
          <a:prstGeom prst="rect">
            <a:avLst/>
          </a:prstGeom>
          <a:noFill/>
          <a:ln/>
        </p:spPr>
        <p:txBody>
          <a:bodyPr wrap="square" lIns="0" tIns="0" rIns="0" bIns="0" rtlCol="0" anchor="ctr"/>
          <a:lstStyle/>
          <a:p>
            <a:pPr indent="0" marL="0">
              <a:lnSpc>
                <a:spcPct val="103000"/>
              </a:lnSpc>
              <a:buNone/>
            </a:pPr>
            <a:r>
              <a:rPr lang="en-US" sz="1700" b="1" dirty="0">
                <a:solidFill>
                  <a:srgbClr val="0E6E6D"/>
                </a:solidFill>
                <a:latin typeface="Calibri" pitchFamily="34" charset="0"/>
                <a:ea typeface="Calibri" pitchFamily="34" charset="-122"/>
                <a:cs typeface="Calibri" pitchFamily="34" charset="-120"/>
              </a:rPr>
              <a:t>Run everything</a:t>
            </a:r>
            <a:endParaRPr lang="en-US" sz="1700" dirty="0"/>
          </a:p>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12 tests, OK. Reload: only the black waistcoat is out.</a:t>
            </a:r>
            <a:endParaRPr lang="en-US" sz="1700" dirty="0"/>
          </a:p>
        </p:txBody>
      </p:sp>
      <p:sp>
        <p:nvSpPr>
          <p:cNvPr id="15" name="click-2"/>
          <p:cNvSpPr/>
          <p:nvPr/>
        </p:nvSpPr>
        <p:spPr>
          <a:xfrm>
            <a:off x="7086600" y="4745736"/>
            <a:ext cx="4526280" cy="1353312"/>
          </a:xfrm>
          <a:prstGeom prst="roundRect">
            <a:avLst>
              <a:gd name="adj" fmla="val 6081"/>
            </a:avLst>
          </a:prstGeom>
          <a:solidFill>
            <a:srgbClr val="EAF4EE"/>
          </a:solidFill>
          <a:ln/>
          <a:effectLst>
            <a:outerShdw sx="100000" sy="100000" kx="0" ky="0" algn="bl" rotWithShape="0" blurRad="88900" dist="38100" dir="5400000">
              <a:srgbClr val="000000">
                <a:alpha val="13000"/>
              </a:srgbClr>
            </a:outerShdw>
          </a:effectLst>
        </p:spPr>
      </p:sp>
      <p:sp>
        <p:nvSpPr>
          <p:cNvPr id="16" name="click-2"/>
          <p:cNvSpPr/>
          <p:nvPr/>
        </p:nvSpPr>
        <p:spPr>
          <a:xfrm>
            <a:off x="7315200" y="4745736"/>
            <a:ext cx="4114800" cy="1353312"/>
          </a:xfrm>
          <a:prstGeom prst="rect">
            <a:avLst/>
          </a:prstGeom>
          <a:noFill/>
          <a:ln/>
        </p:spPr>
        <p:txBody>
          <a:bodyPr wrap="square" lIns="0" tIns="0" rIns="0" bIns="0" rtlCol="0" anchor="ctr"/>
          <a:lstStyle/>
          <a:p>
            <a:pPr indent="0" marL="0">
              <a:lnSpc>
                <a:spcPct val="103000"/>
              </a:lnSpc>
              <a:buNone/>
            </a:pPr>
            <a:r>
              <a:rPr lang="en-US" sz="1700" b="1" dirty="0">
                <a:solidFill>
                  <a:srgbClr val="0E6E6D"/>
                </a:solidFill>
                <a:latin typeface="Calibri" pitchFamily="34" charset="0"/>
                <a:ea typeface="Calibri" pitchFamily="34" charset="-122"/>
                <a:cs typeface="Calibri" pitchFamily="34" charset="-120"/>
              </a:rPr>
              <a:t>Did it break the slice?</a:t>
            </a:r>
            <a:endParaRPr lang="en-US" sz="1700" dirty="0"/>
          </a:p>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Search "waistcoat": both found, one out. The slice still walks.</a:t>
            </a:r>
            <a:endParaRPr lang="en-US" sz="1700" dirty="0"/>
          </a:p>
        </p:txBody>
      </p:sp>
      <p:sp>
        <p:nvSpPr>
          <p:cNvPr id="17" name="Text 15"/>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18"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3" grpId="0" animBg="1"/>
      <p:bldP spid="14" grpId="0" animBg="1"/>
      <p:bldP spid="15"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SESSION 15'S WORDS, WALKED BACKWARD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 see the failure. You hunt the defect.</a:t>
            </a:r>
            <a:endParaRPr lang="en-US" sz="3100" dirty="0"/>
          </a:p>
        </p:txBody>
      </p:sp>
      <p:sp>
        <p:nvSpPr>
          <p:cNvPr id="5" name="Shape 3"/>
          <p:cNvSpPr/>
          <p:nvPr/>
        </p:nvSpPr>
        <p:spPr>
          <a:xfrm>
            <a:off x="548640" y="1783080"/>
            <a:ext cx="2606040" cy="3017520"/>
          </a:xfrm>
          <a:prstGeom prst="roundRect">
            <a:avLst>
              <a:gd name="adj" fmla="val 315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548640" y="1783080"/>
            <a:ext cx="2606040" cy="109728"/>
          </a:xfrm>
          <a:prstGeom prst="rect">
            <a:avLst/>
          </a:prstGeom>
          <a:solidFill>
            <a:srgbClr val="D9614C"/>
          </a:solidFill>
          <a:ln/>
        </p:spPr>
      </p:sp>
      <p:sp>
        <p:nvSpPr>
          <p:cNvPr id="7" name="Text 5"/>
          <p:cNvSpPr/>
          <p:nvPr/>
        </p:nvSpPr>
        <p:spPr>
          <a:xfrm>
            <a:off x="731520" y="1965960"/>
            <a:ext cx="2240280" cy="502920"/>
          </a:xfrm>
          <a:prstGeom prst="rect">
            <a:avLst/>
          </a:prstGeom>
          <a:noFill/>
          <a:ln/>
        </p:spPr>
        <p:txBody>
          <a:bodyPr wrap="square" lIns="0" tIns="0" rIns="0" bIns="0" rtlCol="0" anchor="ctr"/>
          <a:lstStyle/>
          <a:p>
            <a:pPr indent="0" marL="0">
              <a:buNone/>
            </a:pPr>
            <a:r>
              <a:rPr lang="en-US" sz="2200" b="1" dirty="0">
                <a:solidFill>
                  <a:srgbClr val="1E2A36"/>
                </a:solidFill>
                <a:latin typeface="Cambria" pitchFamily="34" charset="0"/>
                <a:ea typeface="Cambria" pitchFamily="34" charset="-122"/>
                <a:cs typeface="Cambria" pitchFamily="34" charset="-120"/>
              </a:rPr>
              <a:t>Failure</a:t>
            </a:r>
            <a:endParaRPr lang="en-US" sz="2200" dirty="0"/>
          </a:p>
        </p:txBody>
      </p:sp>
      <p:sp>
        <p:nvSpPr>
          <p:cNvPr id="8" name="Text 6"/>
          <p:cNvSpPr/>
          <p:nvPr/>
        </p:nvSpPr>
        <p:spPr>
          <a:xfrm>
            <a:off x="731520" y="2468880"/>
            <a:ext cx="2240280" cy="45720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What you saw</a:t>
            </a:r>
            <a:endParaRPr lang="en-US" sz="1500" dirty="0"/>
          </a:p>
        </p:txBody>
      </p:sp>
      <p:sp>
        <p:nvSpPr>
          <p:cNvPr id="9" name="Text 7"/>
          <p:cNvSpPr/>
          <p:nvPr/>
        </p:nvSpPr>
        <p:spPr>
          <a:xfrm>
            <a:off x="731520" y="2971800"/>
            <a:ext cx="2240280" cy="173736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Every row says Out.</a:t>
            </a:r>
            <a:endParaRPr lang="en-US" sz="1600" dirty="0"/>
          </a:p>
        </p:txBody>
      </p:sp>
      <p:sp>
        <p:nvSpPr>
          <p:cNvPr id="10" name="click-1"/>
          <p:cNvSpPr/>
          <p:nvPr/>
        </p:nvSpPr>
        <p:spPr>
          <a:xfrm>
            <a:off x="3383280" y="1783080"/>
            <a:ext cx="2606040" cy="3017520"/>
          </a:xfrm>
          <a:prstGeom prst="roundRect">
            <a:avLst>
              <a:gd name="adj" fmla="val 3158"/>
            </a:avLst>
          </a:prstGeom>
          <a:solidFill>
            <a:srgbClr val="F2F6F8"/>
          </a:solidFill>
          <a:ln/>
          <a:effectLst>
            <a:outerShdw sx="100000" sy="100000" kx="0" ky="0" algn="bl" rotWithShape="0" blurRad="88900" dist="38100" dir="5400000">
              <a:srgbClr val="000000">
                <a:alpha val="13000"/>
              </a:srgbClr>
            </a:outerShdw>
          </a:effectLst>
        </p:spPr>
      </p:sp>
      <p:sp>
        <p:nvSpPr>
          <p:cNvPr id="11" name="click-1"/>
          <p:cNvSpPr/>
          <p:nvPr/>
        </p:nvSpPr>
        <p:spPr>
          <a:xfrm>
            <a:off x="3383280" y="1783080"/>
            <a:ext cx="2606040" cy="109728"/>
          </a:xfrm>
          <a:prstGeom prst="rect">
            <a:avLst/>
          </a:prstGeom>
          <a:solidFill>
            <a:srgbClr val="E8A33D"/>
          </a:solidFill>
          <a:ln/>
        </p:spPr>
      </p:sp>
      <p:sp>
        <p:nvSpPr>
          <p:cNvPr id="12" name="click-1"/>
          <p:cNvSpPr/>
          <p:nvPr/>
        </p:nvSpPr>
        <p:spPr>
          <a:xfrm>
            <a:off x="3566160" y="1965960"/>
            <a:ext cx="2240280" cy="502920"/>
          </a:xfrm>
          <a:prstGeom prst="rect">
            <a:avLst/>
          </a:prstGeom>
          <a:noFill/>
          <a:ln/>
        </p:spPr>
        <p:txBody>
          <a:bodyPr wrap="square" lIns="0" tIns="0" rIns="0" bIns="0" rtlCol="0" anchor="ctr"/>
          <a:lstStyle/>
          <a:p>
            <a:pPr indent="0" marL="0">
              <a:buNone/>
            </a:pPr>
            <a:r>
              <a:rPr lang="en-US" sz="2200" b="1" dirty="0">
                <a:solidFill>
                  <a:srgbClr val="1E2A36"/>
                </a:solidFill>
                <a:latin typeface="Cambria" pitchFamily="34" charset="0"/>
                <a:ea typeface="Cambria" pitchFamily="34" charset="-122"/>
                <a:cs typeface="Cambria" pitchFamily="34" charset="-120"/>
              </a:rPr>
              <a:t>Fault</a:t>
            </a:r>
            <a:endParaRPr lang="en-US" sz="2200" dirty="0"/>
          </a:p>
        </p:txBody>
      </p:sp>
      <p:sp>
        <p:nvSpPr>
          <p:cNvPr id="13" name="click-1"/>
          <p:cNvSpPr/>
          <p:nvPr/>
        </p:nvSpPr>
        <p:spPr>
          <a:xfrm>
            <a:off x="3566160" y="2468880"/>
            <a:ext cx="2240280" cy="45720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What went wrong at runtime</a:t>
            </a:r>
            <a:endParaRPr lang="en-US" sz="1500" dirty="0"/>
          </a:p>
        </p:txBody>
      </p:sp>
      <p:sp>
        <p:nvSpPr>
          <p:cNvPr id="14" name="click-1"/>
          <p:cNvSpPr/>
          <p:nvPr/>
        </p:nvSpPr>
        <p:spPr>
          <a:xfrm>
            <a:off x="3566160" y="2971800"/>
            <a:ext cx="2240280" cy="173736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The subquery returned one checkout's date for every row.</a:t>
            </a:r>
            <a:endParaRPr lang="en-US" sz="1600" dirty="0"/>
          </a:p>
        </p:txBody>
      </p:sp>
      <p:sp>
        <p:nvSpPr>
          <p:cNvPr id="15" name="click-2"/>
          <p:cNvSpPr/>
          <p:nvPr/>
        </p:nvSpPr>
        <p:spPr>
          <a:xfrm>
            <a:off x="6217920" y="1783080"/>
            <a:ext cx="2606040" cy="3017520"/>
          </a:xfrm>
          <a:prstGeom prst="roundRect">
            <a:avLst>
              <a:gd name="adj" fmla="val 3158"/>
            </a:avLst>
          </a:prstGeom>
          <a:solidFill>
            <a:srgbClr val="F2F6F8"/>
          </a:solidFill>
          <a:ln/>
          <a:effectLst>
            <a:outerShdw sx="100000" sy="100000" kx="0" ky="0" algn="bl" rotWithShape="0" blurRad="88900" dist="38100" dir="5400000">
              <a:srgbClr val="000000">
                <a:alpha val="13000"/>
              </a:srgbClr>
            </a:outerShdw>
          </a:effectLst>
        </p:spPr>
      </p:sp>
      <p:sp>
        <p:nvSpPr>
          <p:cNvPr id="16" name="click-2"/>
          <p:cNvSpPr/>
          <p:nvPr/>
        </p:nvSpPr>
        <p:spPr>
          <a:xfrm>
            <a:off x="6217920" y="1783080"/>
            <a:ext cx="2606040" cy="109728"/>
          </a:xfrm>
          <a:prstGeom prst="rect">
            <a:avLst/>
          </a:prstGeom>
          <a:solidFill>
            <a:srgbClr val="12908F"/>
          </a:solidFill>
          <a:ln/>
        </p:spPr>
      </p:sp>
      <p:sp>
        <p:nvSpPr>
          <p:cNvPr id="17" name="click-2"/>
          <p:cNvSpPr/>
          <p:nvPr/>
        </p:nvSpPr>
        <p:spPr>
          <a:xfrm>
            <a:off x="6400800" y="1965960"/>
            <a:ext cx="2240280" cy="502920"/>
          </a:xfrm>
          <a:prstGeom prst="rect">
            <a:avLst/>
          </a:prstGeom>
          <a:noFill/>
          <a:ln/>
        </p:spPr>
        <p:txBody>
          <a:bodyPr wrap="square" lIns="0" tIns="0" rIns="0" bIns="0" rtlCol="0" anchor="ctr"/>
          <a:lstStyle/>
          <a:p>
            <a:pPr indent="0" marL="0">
              <a:buNone/>
            </a:pPr>
            <a:r>
              <a:rPr lang="en-US" sz="2200" b="1" dirty="0">
                <a:solidFill>
                  <a:srgbClr val="1E2A36"/>
                </a:solidFill>
                <a:latin typeface="Cambria" pitchFamily="34" charset="0"/>
                <a:ea typeface="Cambria" pitchFamily="34" charset="-122"/>
                <a:cs typeface="Cambria" pitchFamily="34" charset="-120"/>
              </a:rPr>
              <a:t>Defect</a:t>
            </a:r>
            <a:endParaRPr lang="en-US" sz="2200" dirty="0"/>
          </a:p>
        </p:txBody>
      </p:sp>
      <p:sp>
        <p:nvSpPr>
          <p:cNvPr id="18" name="click-2"/>
          <p:cNvSpPr/>
          <p:nvPr/>
        </p:nvSpPr>
        <p:spPr>
          <a:xfrm>
            <a:off x="6400800" y="2468880"/>
            <a:ext cx="2240280" cy="45720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The flaw in the code</a:t>
            </a:r>
            <a:endParaRPr lang="en-US" sz="1500" dirty="0"/>
          </a:p>
        </p:txBody>
      </p:sp>
      <p:sp>
        <p:nvSpPr>
          <p:cNvPr id="19" name="click-2"/>
          <p:cNvSpPr/>
          <p:nvPr/>
        </p:nvSpPr>
        <p:spPr>
          <a:xfrm>
            <a:off x="6400800" y="2971800"/>
            <a:ext cx="2240280" cy="173736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A subquery not tied to its item.</a:t>
            </a:r>
            <a:endParaRPr lang="en-US" sz="1600" dirty="0"/>
          </a:p>
        </p:txBody>
      </p:sp>
      <p:sp>
        <p:nvSpPr>
          <p:cNvPr id="20" name="click-3"/>
          <p:cNvSpPr/>
          <p:nvPr/>
        </p:nvSpPr>
        <p:spPr>
          <a:xfrm>
            <a:off x="9052560" y="1783080"/>
            <a:ext cx="2606040" cy="3017520"/>
          </a:xfrm>
          <a:prstGeom prst="roundRect">
            <a:avLst>
              <a:gd name="adj" fmla="val 3158"/>
            </a:avLst>
          </a:prstGeom>
          <a:solidFill>
            <a:srgbClr val="F2F6F8"/>
          </a:solidFill>
          <a:ln/>
          <a:effectLst>
            <a:outerShdw sx="100000" sy="100000" kx="0" ky="0" algn="bl" rotWithShape="0" blurRad="88900" dist="38100" dir="5400000">
              <a:srgbClr val="000000">
                <a:alpha val="13000"/>
              </a:srgbClr>
            </a:outerShdw>
          </a:effectLst>
        </p:spPr>
      </p:sp>
      <p:sp>
        <p:nvSpPr>
          <p:cNvPr id="21" name="click-3"/>
          <p:cNvSpPr/>
          <p:nvPr/>
        </p:nvSpPr>
        <p:spPr>
          <a:xfrm>
            <a:off x="9052560" y="1783080"/>
            <a:ext cx="2606040" cy="109728"/>
          </a:xfrm>
          <a:prstGeom prst="rect">
            <a:avLst/>
          </a:prstGeom>
          <a:solidFill>
            <a:srgbClr val="0E6E6D"/>
          </a:solidFill>
          <a:ln/>
        </p:spPr>
      </p:sp>
      <p:sp>
        <p:nvSpPr>
          <p:cNvPr id="22" name="click-3"/>
          <p:cNvSpPr/>
          <p:nvPr/>
        </p:nvSpPr>
        <p:spPr>
          <a:xfrm>
            <a:off x="9235440" y="1965960"/>
            <a:ext cx="2240280" cy="502920"/>
          </a:xfrm>
          <a:prstGeom prst="rect">
            <a:avLst/>
          </a:prstGeom>
          <a:noFill/>
          <a:ln/>
        </p:spPr>
        <p:txBody>
          <a:bodyPr wrap="square" lIns="0" tIns="0" rIns="0" bIns="0" rtlCol="0" anchor="ctr"/>
          <a:lstStyle/>
          <a:p>
            <a:pPr indent="0" marL="0">
              <a:buNone/>
            </a:pPr>
            <a:r>
              <a:rPr lang="en-US" sz="2200" b="1" dirty="0">
                <a:solidFill>
                  <a:srgbClr val="1E2A36"/>
                </a:solidFill>
                <a:latin typeface="Cambria" pitchFamily="34" charset="0"/>
                <a:ea typeface="Cambria" pitchFamily="34" charset="-122"/>
                <a:cs typeface="Cambria" pitchFamily="34" charset="-120"/>
              </a:rPr>
              <a:t>Error</a:t>
            </a:r>
            <a:endParaRPr lang="en-US" sz="2200" dirty="0"/>
          </a:p>
        </p:txBody>
      </p:sp>
      <p:sp>
        <p:nvSpPr>
          <p:cNvPr id="23" name="click-3"/>
          <p:cNvSpPr/>
          <p:nvPr/>
        </p:nvSpPr>
        <p:spPr>
          <a:xfrm>
            <a:off x="9235440" y="2468880"/>
            <a:ext cx="2240280" cy="45720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The person's mistake</a:t>
            </a:r>
            <a:endParaRPr lang="en-US" sz="1500" dirty="0"/>
          </a:p>
        </p:txBody>
      </p:sp>
      <p:sp>
        <p:nvSpPr>
          <p:cNvPr id="24" name="click-3"/>
          <p:cNvSpPr/>
          <p:nvPr/>
        </p:nvSpPr>
        <p:spPr>
          <a:xfrm>
            <a:off x="9235440" y="2971800"/>
            <a:ext cx="2240280" cy="173736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Writing the filter and forgetting the item.</a:t>
            </a:r>
            <a:endParaRPr lang="en-US" sz="1600" dirty="0"/>
          </a:p>
        </p:txBody>
      </p:sp>
      <p:sp>
        <p:nvSpPr>
          <p:cNvPr id="25" name="click-4"/>
          <p:cNvSpPr/>
          <p:nvPr/>
        </p:nvSpPr>
        <p:spPr>
          <a:xfrm>
            <a:off x="548640" y="5074920"/>
            <a:ext cx="11064240" cy="1051560"/>
          </a:xfrm>
          <a:prstGeom prst="roundRect">
            <a:avLst>
              <a:gd name="adj" fmla="val 7826"/>
            </a:avLst>
          </a:prstGeom>
          <a:solidFill>
            <a:srgbClr val="14233A"/>
          </a:solidFill>
          <a:ln/>
          <a:effectLst>
            <a:outerShdw sx="100000" sy="100000" kx="0" ky="0" algn="bl" rotWithShape="0" blurRad="88900" dist="38100" dir="5400000">
              <a:srgbClr val="000000">
                <a:alpha val="13000"/>
              </a:srgbClr>
            </a:outerShdw>
          </a:effectLst>
        </p:spPr>
      </p:sp>
      <p:sp>
        <p:nvSpPr>
          <p:cNvPr id="26" name="click-4"/>
          <p:cNvSpPr/>
          <p:nvPr/>
        </p:nvSpPr>
        <p:spPr>
          <a:xfrm>
            <a:off x="868680" y="5074920"/>
            <a:ext cx="10424160" cy="105156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Each hypothesis was a guess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about where along this chain the defect sits. A report describes the failure; the investigation walks backward.</a:t>
            </a:r>
            <a:endParaRPr lang="en-US" sz="1700" dirty="0"/>
          </a:p>
        </p:txBody>
      </p:sp>
      <p:sp>
        <p:nvSpPr>
          <p:cNvPr id="27" name="Text 25"/>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8"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2" presetID="1"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WRITE IT DOWN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debug log: three lines</a:t>
            </a:r>
            <a:endParaRPr lang="en-US" sz="3100" dirty="0"/>
          </a:p>
        </p:txBody>
      </p:sp>
      <p:sp>
        <p:nvSpPr>
          <p:cNvPr id="5" name="Shape 3"/>
          <p:cNvSpPr/>
          <p:nvPr/>
        </p:nvSpPr>
        <p:spPr>
          <a:xfrm>
            <a:off x="548640" y="1783080"/>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22960" y="1783080"/>
            <a:ext cx="2286000" cy="896112"/>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What I saw</a:t>
            </a:r>
            <a:endParaRPr lang="en-US" sz="1800" dirty="0"/>
          </a:p>
        </p:txBody>
      </p:sp>
      <p:sp>
        <p:nvSpPr>
          <p:cNvPr id="7" name="Text 5"/>
          <p:cNvSpPr/>
          <p:nvPr/>
        </p:nvSpPr>
        <p:spPr>
          <a:xfrm>
            <a:off x="3108960" y="1783080"/>
            <a:ext cx="8321040" cy="896112"/>
          </a:xfrm>
          <a:prstGeom prst="rect">
            <a:avLst/>
          </a:prstGeom>
          <a:noFill/>
          <a:ln/>
        </p:spPr>
        <p:txBody>
          <a:bodyPr wrap="square" lIns="0" tIns="0" rIns="0" bIns="0" rtlCol="0" anchor="ctr"/>
          <a:lstStyle/>
          <a:p>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After checking out one item, every item in the list read "Out · due Dec 5."</a:t>
            </a:r>
            <a:endParaRPr lang="en-US" sz="1550" dirty="0"/>
          </a:p>
        </p:txBody>
      </p:sp>
      <p:sp>
        <p:nvSpPr>
          <p:cNvPr id="8" name="Shape 6"/>
          <p:cNvSpPr/>
          <p:nvPr/>
        </p:nvSpPr>
        <p:spPr>
          <a:xfrm>
            <a:off x="548640" y="2788920"/>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822960" y="2788920"/>
            <a:ext cx="2286000" cy="896112"/>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What I suspected</a:t>
            </a:r>
            <a:endParaRPr lang="en-US" sz="1800" dirty="0"/>
          </a:p>
        </p:txBody>
      </p:sp>
      <p:sp>
        <p:nvSpPr>
          <p:cNvPr id="10" name="Text 8"/>
          <p:cNvSpPr/>
          <p:nvPr/>
        </p:nvSpPr>
        <p:spPr>
          <a:xfrm>
            <a:off x="3108960" y="2788920"/>
            <a:ext cx="8321040" cy="896112"/>
          </a:xfrm>
          <a:prstGeom prst="rect">
            <a:avLst/>
          </a:prstGeom>
          <a:noFill/>
          <a:ln/>
        </p:spPr>
        <p:txBody>
          <a:bodyPr wrap="square" lIns="0" tIns="0" rIns="0" bIns="0" rtlCol="0" anchor="ctr"/>
          <a:lstStyle/>
          <a:p>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The admin saved several: no, there's one. The template: no, the view sends Dec 5 for every item. So the query.</a:t>
            </a:r>
            <a:endParaRPr lang="en-US" sz="1550" dirty="0"/>
          </a:p>
        </p:txBody>
      </p:sp>
      <p:sp>
        <p:nvSpPr>
          <p:cNvPr id="11" name="Shape 9"/>
          <p:cNvSpPr/>
          <p:nvPr/>
        </p:nvSpPr>
        <p:spPr>
          <a:xfrm>
            <a:off x="548640" y="3794760"/>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822960" y="3794760"/>
            <a:ext cx="2286000" cy="896112"/>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What it was</a:t>
            </a:r>
            <a:endParaRPr lang="en-US" sz="1800" dirty="0"/>
          </a:p>
        </p:txBody>
      </p:sp>
      <p:sp>
        <p:nvSpPr>
          <p:cNvPr id="13" name="Text 11"/>
          <p:cNvSpPr/>
          <p:nvPr/>
        </p:nvSpPr>
        <p:spPr>
          <a:xfrm>
            <a:off x="3108960" y="3794760"/>
            <a:ext cx="8321040" cy="896112"/>
          </a:xfrm>
          <a:prstGeom prst="rect">
            <a:avLst/>
          </a:prstGeom>
          <a:noFill/>
          <a:ln/>
        </p:spPr>
        <p:txBody>
          <a:bodyPr wrap="square" lIns="0" tIns="0" rIns="0" bIns="0" rtlCol="0" anchor="ctr"/>
          <a:lstStyle/>
          <a:p>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The subquery wasn't tied to the item. Filtered on item=OuterRef("pk"); added a test with an item in next to one out.</a:t>
            </a:r>
            <a:endParaRPr lang="en-US" sz="1550" dirty="0"/>
          </a:p>
        </p:txBody>
      </p:sp>
      <p:sp>
        <p:nvSpPr>
          <p:cNvPr id="14" name="click-1"/>
          <p:cNvSpPr/>
          <p:nvPr/>
        </p:nvSpPr>
        <p:spPr>
          <a:xfrm>
            <a:off x="548640" y="4892040"/>
            <a:ext cx="5440680" cy="1280160"/>
          </a:xfrm>
          <a:prstGeom prst="roundRect">
            <a:avLst>
              <a:gd name="adj" fmla="val 6429"/>
            </a:avLst>
          </a:prstGeom>
          <a:solidFill>
            <a:srgbClr val="14233A"/>
          </a:solidFill>
          <a:ln/>
          <a:effectLst>
            <a:outerShdw sx="100000" sy="100000" kx="0" ky="0" algn="bl" rotWithShape="0" blurRad="88900" dist="38100" dir="5400000">
              <a:srgbClr val="000000">
                <a:alpha val="13000"/>
              </a:srgbClr>
            </a:outerShdw>
          </a:effectLst>
        </p:spPr>
      </p:sp>
      <p:sp>
        <p:nvSpPr>
          <p:cNvPr id="15" name="click-1"/>
          <p:cNvSpPr/>
          <p:nvPr/>
        </p:nvSpPr>
        <p:spPr>
          <a:xfrm>
            <a:off x="822960" y="4892040"/>
            <a:ext cx="4937760" cy="128016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Where it goes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The bug's issue, or the PR description if you hit it on your own branch.</a:t>
            </a:r>
            <a:endParaRPr lang="en-US" sz="1600" dirty="0"/>
          </a:p>
        </p:txBody>
      </p:sp>
      <p:sp>
        <p:nvSpPr>
          <p:cNvPr id="16" name="click-2"/>
          <p:cNvSpPr/>
          <p:nvPr/>
        </p:nvSpPr>
        <p:spPr>
          <a:xfrm>
            <a:off x="6172200" y="4892040"/>
            <a:ext cx="5440680" cy="1280160"/>
          </a:xfrm>
          <a:prstGeom prst="roundRect">
            <a:avLst>
              <a:gd name="adj" fmla="val 6429"/>
            </a:avLst>
          </a:prstGeom>
          <a:solidFill>
            <a:srgbClr val="E8A33D"/>
          </a:solidFill>
          <a:ln/>
          <a:effectLst>
            <a:outerShdw sx="100000" sy="100000" kx="0" ky="0" algn="bl" rotWithShape="0" blurRad="88900" dist="38100" dir="5400000">
              <a:srgbClr val="000000">
                <a:alpha val="13000"/>
              </a:srgbClr>
            </a:outerShdw>
          </a:effectLst>
        </p:spPr>
      </p:sp>
      <p:sp>
        <p:nvSpPr>
          <p:cNvPr id="17" name="click-2"/>
          <p:cNvSpPr/>
          <p:nvPr/>
        </p:nvSpPr>
        <p:spPr>
          <a:xfrm>
            <a:off x="6446520" y="4892040"/>
            <a:ext cx="4937760" cy="1280160"/>
          </a:xfrm>
          <a:prstGeom prst="rect">
            <a:avLst/>
          </a:prstGeom>
          <a:noFill/>
          <a:ln/>
        </p:spPr>
        <p:txBody>
          <a:bodyPr wrap="square" lIns="0" tIns="0" rIns="0" bIns="0" rtlCol="0" anchor="ctr"/>
          <a:lstStyle/>
          <a:p>
            <a:pPr indent="0" marL="0">
              <a:buNone/>
            </a:pPr>
            <a:r>
              <a:rPr lang="en-US" sz="1600" b="1" dirty="0">
                <a:solidFill>
                  <a:srgbClr val="14233A"/>
                </a:solidFill>
                <a:latin typeface="Calibri" pitchFamily="34" charset="0"/>
                <a:ea typeface="Calibri" pitchFamily="34" charset="-122"/>
                <a:cs typeface="Calibri" pitchFamily="34" charset="-120"/>
              </a:rPr>
              <a:t>When it's required  </a:t>
            </a:r>
            <a:endParaRPr lang="en-US" sz="1600" dirty="0"/>
          </a:p>
          <a:p>
            <a:pPr indent="0" marL="0">
              <a:buNone/>
            </a:pPr>
            <a:r>
              <a:rPr lang="en-US" sz="1600" dirty="0">
                <a:solidFill>
                  <a:srgbClr val="14233A"/>
                </a:solidFill>
                <a:latin typeface="Calibri" pitchFamily="34" charset="0"/>
                <a:ea typeface="Calibri" pitchFamily="34" charset="-122"/>
                <a:cs typeface="Calibri" pitchFamily="34" charset="-120"/>
              </a:rPr>
              <a:t>Any bug that cost you more than an hour, and any bug you don't fix yet.</a:t>
            </a:r>
            <a:endParaRPr lang="en-US" sz="1600" dirty="0"/>
          </a:p>
        </p:txBody>
      </p:sp>
      <p:sp>
        <p:nvSpPr>
          <p:cNvPr id="18" name="Text 16"/>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19"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4"/>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WHEN YOU'RE STUCK</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Stuck is normal. Staying stuck alone is a choice.</a:t>
            </a:r>
            <a:endParaRPr lang="en-US" sz="3100" dirty="0"/>
          </a:p>
        </p:txBody>
      </p:sp>
      <p:sp>
        <p:nvSpPr>
          <p:cNvPr id="5" name="click-1"/>
          <p:cNvSpPr/>
          <p:nvPr/>
        </p:nvSpPr>
        <p:spPr>
          <a:xfrm>
            <a:off x="548640" y="1783080"/>
            <a:ext cx="11064240" cy="1051560"/>
          </a:xfrm>
          <a:prstGeom prst="roundRect">
            <a:avLst>
              <a:gd name="adj" fmla="val 7826"/>
            </a:avLst>
          </a:prstGeom>
          <a:solidFill>
            <a:srgbClr val="F2F6F8"/>
          </a:solidFill>
          <a:ln/>
          <a:effectLst>
            <a:outerShdw sx="100000" sy="100000" kx="0" ky="0" algn="bl" rotWithShape="0" blurRad="88900" dist="38100" dir="5400000">
              <a:srgbClr val="000000">
                <a:alpha val="13000"/>
              </a:srgbClr>
            </a:outerShdw>
          </a:effectLst>
        </p:spPr>
      </p:sp>
      <p:sp>
        <p:nvSpPr>
          <p:cNvPr id="6" name="click-1"/>
          <p:cNvSpPr/>
          <p:nvPr/>
        </p:nvSpPr>
        <p:spPr>
          <a:xfrm>
            <a:off x="777240" y="2011680"/>
            <a:ext cx="594360" cy="594360"/>
          </a:xfrm>
          <a:prstGeom prst="ellipse">
            <a:avLst/>
          </a:prstGeom>
          <a:solidFill>
            <a:srgbClr val="12908F"/>
          </a:solidFill>
          <a:ln/>
        </p:spPr>
      </p:sp>
      <p:pic>
        <p:nvPicPr>
          <p:cNvPr id="7" name="click-1" descr="preencoded.png">    </p:cNvPr>
          <p:cNvPicPr>
            <a:picLocks noChangeAspect="1"/>
          </p:cNvPicPr>
          <p:nvPr/>
        </p:nvPicPr>
        <p:blipFill>
          <a:blip r:embed="rId1"/>
          <a:stretch>
            <a:fillRect/>
          </a:stretch>
        </p:blipFill>
        <p:spPr>
          <a:xfrm>
            <a:off x="937717" y="2172157"/>
            <a:ext cx="273406" cy="273406"/>
          </a:xfrm>
          <a:prstGeom prst="rect">
            <a:avLst/>
          </a:prstGeom>
        </p:spPr>
      </p:pic>
      <p:sp>
        <p:nvSpPr>
          <p:cNvPr id="8" name="click-1"/>
          <p:cNvSpPr/>
          <p:nvPr/>
        </p:nvSpPr>
        <p:spPr>
          <a:xfrm>
            <a:off x="1600200" y="1783080"/>
            <a:ext cx="3383280" cy="10515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Time-box it</a:t>
            </a:r>
            <a:endParaRPr lang="en-US" sz="1800" dirty="0"/>
          </a:p>
        </p:txBody>
      </p:sp>
      <p:sp>
        <p:nvSpPr>
          <p:cNvPr id="9" name="click-1"/>
          <p:cNvSpPr/>
          <p:nvPr/>
        </p:nvSpPr>
        <p:spPr>
          <a:xfrm>
            <a:off x="4983480" y="1783080"/>
            <a:ext cx="6446520" cy="1051560"/>
          </a:xfrm>
          <a:prstGeom prst="rect">
            <a:avLst/>
          </a:prstGeom>
          <a:noFill/>
          <a:ln/>
        </p:spPr>
        <p:txBody>
          <a:bodyPr wrap="square" lIns="0" tIns="0" rIns="0" bIns="0" rtlCol="0" anchor="ctr"/>
          <a:lstStyle/>
          <a:p>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Pick a limit before you start; an hour is common. When it runs out, change something: step away, explain it out loud, or ask.</a:t>
            </a:r>
            <a:endParaRPr lang="en-US" sz="1550" dirty="0"/>
          </a:p>
        </p:txBody>
      </p:sp>
      <p:sp>
        <p:nvSpPr>
          <p:cNvPr id="10" name="click-2"/>
          <p:cNvSpPr/>
          <p:nvPr/>
        </p:nvSpPr>
        <p:spPr>
          <a:xfrm>
            <a:off x="548640" y="2971800"/>
            <a:ext cx="11064240" cy="1051560"/>
          </a:xfrm>
          <a:prstGeom prst="roundRect">
            <a:avLst>
              <a:gd name="adj" fmla="val 7826"/>
            </a:avLst>
          </a:prstGeom>
          <a:solidFill>
            <a:srgbClr val="F2F6F8"/>
          </a:solidFill>
          <a:ln/>
          <a:effectLst>
            <a:outerShdw sx="100000" sy="100000" kx="0" ky="0" algn="bl" rotWithShape="0" blurRad="88900" dist="38100" dir="5400000">
              <a:srgbClr val="000000">
                <a:alpha val="13000"/>
              </a:srgbClr>
            </a:outerShdw>
          </a:effectLst>
        </p:spPr>
      </p:sp>
      <p:sp>
        <p:nvSpPr>
          <p:cNvPr id="11" name="click-2"/>
          <p:cNvSpPr/>
          <p:nvPr/>
        </p:nvSpPr>
        <p:spPr>
          <a:xfrm>
            <a:off x="777240" y="3200400"/>
            <a:ext cx="594360" cy="594360"/>
          </a:xfrm>
          <a:prstGeom prst="ellipse">
            <a:avLst/>
          </a:prstGeom>
          <a:solidFill>
            <a:srgbClr val="12908F"/>
          </a:solidFill>
          <a:ln/>
        </p:spPr>
      </p:sp>
      <p:pic>
        <p:nvPicPr>
          <p:cNvPr id="12" name="click-2" descr="preencoded.png">    </p:cNvPr>
          <p:cNvPicPr>
            <a:picLocks noChangeAspect="1"/>
          </p:cNvPicPr>
          <p:nvPr/>
        </p:nvPicPr>
        <p:blipFill>
          <a:blip r:embed="rId2"/>
          <a:stretch>
            <a:fillRect/>
          </a:stretch>
        </p:blipFill>
        <p:spPr>
          <a:xfrm>
            <a:off x="937717" y="3360877"/>
            <a:ext cx="273406" cy="273406"/>
          </a:xfrm>
          <a:prstGeom prst="rect">
            <a:avLst/>
          </a:prstGeom>
        </p:spPr>
      </p:pic>
      <p:sp>
        <p:nvSpPr>
          <p:cNvPr id="13" name="click-2"/>
          <p:cNvSpPr/>
          <p:nvPr/>
        </p:nvSpPr>
        <p:spPr>
          <a:xfrm>
            <a:off x="1600200" y="2971800"/>
            <a:ext cx="3383280" cy="10515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Explain it to a duck</a:t>
            </a:r>
            <a:endParaRPr lang="en-US" sz="1800" dirty="0"/>
          </a:p>
        </p:txBody>
      </p:sp>
      <p:sp>
        <p:nvSpPr>
          <p:cNvPr id="14" name="click-2"/>
          <p:cNvSpPr/>
          <p:nvPr/>
        </p:nvSpPr>
        <p:spPr>
          <a:xfrm>
            <a:off x="4983480" y="2971800"/>
            <a:ext cx="6446520" cy="1051560"/>
          </a:xfrm>
          <a:prstGeom prst="rect">
            <a:avLst/>
          </a:prstGeom>
          <a:noFill/>
          <a:ln/>
        </p:spPr>
        <p:txBody>
          <a:bodyPr wrap="square" lIns="0" tIns="0" rIns="0" bIns="0" rtlCol="0" anchor="ctr"/>
          <a:lstStyle/>
          <a:p>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Saying each step out loud forces the assumption you were about to skip.</a:t>
            </a:r>
            <a:endParaRPr lang="en-US" sz="1550" dirty="0"/>
          </a:p>
        </p:txBody>
      </p:sp>
      <p:sp>
        <p:nvSpPr>
          <p:cNvPr id="15" name="click-3"/>
          <p:cNvSpPr/>
          <p:nvPr/>
        </p:nvSpPr>
        <p:spPr>
          <a:xfrm>
            <a:off x="548640" y="4160520"/>
            <a:ext cx="11064240" cy="1051560"/>
          </a:xfrm>
          <a:prstGeom prst="roundRect">
            <a:avLst>
              <a:gd name="adj" fmla="val 7826"/>
            </a:avLst>
          </a:prstGeom>
          <a:solidFill>
            <a:srgbClr val="F2F6F8"/>
          </a:solidFill>
          <a:ln/>
          <a:effectLst>
            <a:outerShdw sx="100000" sy="100000" kx="0" ky="0" algn="bl" rotWithShape="0" blurRad="88900" dist="38100" dir="5400000">
              <a:srgbClr val="000000">
                <a:alpha val="13000"/>
              </a:srgbClr>
            </a:outerShdw>
          </a:effectLst>
        </p:spPr>
      </p:sp>
      <p:sp>
        <p:nvSpPr>
          <p:cNvPr id="16" name="click-3"/>
          <p:cNvSpPr/>
          <p:nvPr/>
        </p:nvSpPr>
        <p:spPr>
          <a:xfrm>
            <a:off x="777240" y="4389120"/>
            <a:ext cx="594360" cy="594360"/>
          </a:xfrm>
          <a:prstGeom prst="ellipse">
            <a:avLst/>
          </a:prstGeom>
          <a:solidFill>
            <a:srgbClr val="E8A33D"/>
          </a:solidFill>
          <a:ln/>
        </p:spPr>
      </p:sp>
      <p:pic>
        <p:nvPicPr>
          <p:cNvPr id="17" name="click-3" descr="preencoded.png">    </p:cNvPr>
          <p:cNvPicPr>
            <a:picLocks noChangeAspect="1"/>
          </p:cNvPicPr>
          <p:nvPr/>
        </p:nvPicPr>
        <p:blipFill>
          <a:blip r:embed="rId3"/>
          <a:stretch>
            <a:fillRect/>
          </a:stretch>
        </p:blipFill>
        <p:spPr>
          <a:xfrm>
            <a:off x="937717" y="4549597"/>
            <a:ext cx="273406" cy="273406"/>
          </a:xfrm>
          <a:prstGeom prst="rect">
            <a:avLst/>
          </a:prstGeom>
        </p:spPr>
      </p:pic>
      <p:sp>
        <p:nvSpPr>
          <p:cNvPr id="18" name="click-3"/>
          <p:cNvSpPr/>
          <p:nvPr/>
        </p:nvSpPr>
        <p:spPr>
          <a:xfrm>
            <a:off x="1600200" y="4160520"/>
            <a:ext cx="3383280" cy="10515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AI's answer is hypothesis #4</a:t>
            </a:r>
            <a:endParaRPr lang="en-US" sz="1800" dirty="0"/>
          </a:p>
        </p:txBody>
      </p:sp>
      <p:sp>
        <p:nvSpPr>
          <p:cNvPr id="19" name="click-3"/>
          <p:cNvSpPr/>
          <p:nvPr/>
        </p:nvSpPr>
        <p:spPr>
          <a:xfrm>
            <a:off x="4983480" y="4160520"/>
            <a:ext cx="6446520" cy="1051560"/>
          </a:xfrm>
          <a:prstGeom prst="rect">
            <a:avLst/>
          </a:prstGeom>
          <a:noFill/>
          <a:ln/>
        </p:spPr>
        <p:txBody>
          <a:bodyPr wrap="square" lIns="0" tIns="0" rIns="0" bIns="0" rtlCol="0" anchor="ctr"/>
          <a:lstStyle/>
          <a:p>
            <a:pPr indent="0" marL="0">
              <a:lnSpc>
                <a:spcPct val="100000"/>
              </a:lnSpc>
              <a:buNone/>
            </a:pPr>
            <a:r>
              <a:rPr lang="en-US" sz="1550" dirty="0">
                <a:solidFill>
                  <a:srgbClr val="1E2A36"/>
                </a:solidFill>
                <a:latin typeface="Calibri" pitchFamily="34" charset="0"/>
                <a:ea typeface="Calibri" pitchFamily="34" charset="-122"/>
                <a:cs typeface="Calibri" pitchFamily="34" charset="-120"/>
              </a:rPr>
              <a:t>Good for candidate causes and unfamiliar errors. Test its answer like the others: unchecked, it's a confident guess.</a:t>
            </a:r>
            <a:endParaRPr lang="en-US" sz="1550" dirty="0"/>
          </a:p>
        </p:txBody>
      </p:sp>
      <p:sp>
        <p:nvSpPr>
          <p:cNvPr id="20" name="click-4"/>
          <p:cNvSpPr/>
          <p:nvPr/>
        </p:nvSpPr>
        <p:spPr>
          <a:xfrm>
            <a:off x="548640" y="5440680"/>
            <a:ext cx="11064240" cy="731520"/>
          </a:xfrm>
          <a:prstGeom prst="roundRect">
            <a:avLst>
              <a:gd name="adj" fmla="val 11250"/>
            </a:avLst>
          </a:prstGeom>
          <a:solidFill>
            <a:srgbClr val="14233A"/>
          </a:solidFill>
          <a:ln/>
          <a:effectLst>
            <a:outerShdw sx="100000" sy="100000" kx="0" ky="0" algn="bl" rotWithShape="0" blurRad="88900" dist="38100" dir="5400000">
              <a:srgbClr val="000000">
                <a:alpha val="13000"/>
              </a:srgbClr>
            </a:outerShdw>
          </a:effectLst>
        </p:spPr>
      </p:sp>
      <p:sp>
        <p:nvSpPr>
          <p:cNvPr id="21" name="click-4"/>
          <p:cNvSpPr/>
          <p:nvPr/>
        </p:nvSpPr>
        <p:spPr>
          <a:xfrm>
            <a:off x="868680" y="5440680"/>
            <a:ext cx="10424160" cy="73152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Don't: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change several things at once · stop at "it works now" without knowing why · fix before you understand.</a:t>
            </a:r>
            <a:endParaRPr lang="en-US" sz="1700" dirty="0"/>
          </a:p>
        </p:txBody>
      </p:sp>
      <p:sp>
        <p:nvSpPr>
          <p:cNvPr id="22" name="Text 17"/>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23"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2" presetID="1"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KNOWN ISSUES · START THE LIST 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doesn't work yet, written where a newcomer will see it</a:t>
            </a:r>
            <a:endParaRPr lang="en-US" sz="3100" dirty="0"/>
          </a:p>
        </p:txBody>
      </p:sp>
      <p:sp>
        <p:nvSpPr>
          <p:cNvPr id="5" name="Text 3"/>
          <p:cNvSpPr/>
          <p:nvPr/>
        </p:nvSpPr>
        <p:spPr>
          <a:xfrm>
            <a:off x="548640" y="1691640"/>
            <a:ext cx="630936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docs/known-issues.md, linked from your README</a:t>
            </a:r>
            <a:endParaRPr lang="en-US" sz="1500" dirty="0"/>
          </a:p>
        </p:txBody>
      </p:sp>
      <p:sp>
        <p:nvSpPr>
          <p:cNvPr id="6" name="Shape 4"/>
          <p:cNvSpPr/>
          <p:nvPr/>
        </p:nvSpPr>
        <p:spPr>
          <a:xfrm>
            <a:off x="548640" y="2057400"/>
            <a:ext cx="6309360" cy="3108960"/>
          </a:xfrm>
          <a:prstGeom prst="roundRect">
            <a:avLst>
              <a:gd name="adj" fmla="val 2353"/>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5760720" cy="2779776"/>
          </a:xfrm>
          <a:prstGeom prst="rect">
            <a:avLst/>
          </a:prstGeom>
          <a:noFill/>
          <a:ln/>
        </p:spPr>
        <p:txBody>
          <a:bodyPr wrap="square" lIns="0" tIns="0" rIns="0" bIns="0" rtlCol="0" anchor="t"/>
          <a:lstStyle/>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 Checkouts go through the admin</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What happens: no check-out form yet;</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volunteers can't check out on a phone.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When it bites: any checkout before M1 ends.</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Workaround: the wardrobe lead enters it</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in the admin.</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Issue: Check an item out from its page</a:t>
            </a:r>
            <a:endParaRPr lang="en-US" sz="1450" dirty="0"/>
          </a:p>
        </p:txBody>
      </p:sp>
      <p:sp>
        <p:nvSpPr>
          <p:cNvPr id="8" name="Text 6"/>
          <p:cNvSpPr/>
          <p:nvPr/>
        </p:nvSpPr>
        <p:spPr>
          <a:xfrm>
            <a:off x="7086600" y="1691640"/>
            <a:ext cx="452628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Three sources, all from today</a:t>
            </a:r>
            <a:endParaRPr lang="en-US" sz="1500" dirty="0"/>
          </a:p>
        </p:txBody>
      </p:sp>
      <p:sp>
        <p:nvSpPr>
          <p:cNvPr id="9" name="Shape 7"/>
          <p:cNvSpPr/>
          <p:nvPr/>
        </p:nvSpPr>
        <p:spPr>
          <a:xfrm>
            <a:off x="7086600" y="2057400"/>
            <a:ext cx="4526280" cy="932688"/>
          </a:xfrm>
          <a:prstGeom prst="roundRect">
            <a:avLst>
              <a:gd name="adj" fmla="val 8824"/>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7315200" y="2057400"/>
            <a:ext cx="4114800" cy="93268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Throwaway corners</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from today's sheet</a:t>
            </a:r>
            <a:endParaRPr lang="en-US" sz="1700" dirty="0"/>
          </a:p>
        </p:txBody>
      </p:sp>
      <p:sp>
        <p:nvSpPr>
          <p:cNvPr id="11" name="Shape 9"/>
          <p:cNvSpPr/>
          <p:nvPr/>
        </p:nvSpPr>
        <p:spPr>
          <a:xfrm>
            <a:off x="7086600" y="3127248"/>
            <a:ext cx="4526280" cy="932688"/>
          </a:xfrm>
          <a:prstGeom prst="roundRect">
            <a:avLst>
              <a:gd name="adj" fmla="val 8824"/>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7315200" y="3127248"/>
            <a:ext cx="4114800" cy="93268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Cuts that leave a gap</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the ones a user will notice</a:t>
            </a:r>
            <a:endParaRPr lang="en-US" sz="1700" dirty="0"/>
          </a:p>
        </p:txBody>
      </p:sp>
      <p:sp>
        <p:nvSpPr>
          <p:cNvPr id="13" name="Shape 11"/>
          <p:cNvSpPr/>
          <p:nvPr/>
        </p:nvSpPr>
        <p:spPr>
          <a:xfrm>
            <a:off x="7086600" y="4197096"/>
            <a:ext cx="4526280" cy="932688"/>
          </a:xfrm>
          <a:prstGeom prst="roundRect">
            <a:avLst>
              <a:gd name="adj" fmla="val 8824"/>
            </a:avLst>
          </a:prstGeom>
          <a:solidFill>
            <a:srgbClr val="F2F6F8"/>
          </a:solidFill>
          <a:ln/>
          <a:effectLst>
            <a:outerShdw sx="100000" sy="100000" kx="0" ky="0" algn="bl" rotWithShape="0" blurRad="88900" dist="38100" dir="5400000">
              <a:srgbClr val="000000">
                <a:alpha val="13000"/>
              </a:srgbClr>
            </a:outerShdw>
          </a:effectLst>
        </p:spPr>
      </p:sp>
      <p:sp>
        <p:nvSpPr>
          <p:cNvPr id="14" name="Text 12"/>
          <p:cNvSpPr/>
          <p:nvPr/>
        </p:nvSpPr>
        <p:spPr>
          <a:xfrm>
            <a:off x="7315200" y="4197096"/>
            <a:ext cx="4114800" cy="93268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Bugs you won't fix yet</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with their debug log</a:t>
            </a:r>
            <a:endParaRPr lang="en-US" sz="1700" dirty="0"/>
          </a:p>
        </p:txBody>
      </p:sp>
      <p:sp>
        <p:nvSpPr>
          <p:cNvPr id="15" name="click-1"/>
          <p:cNvSpPr/>
          <p:nvPr/>
        </p:nvSpPr>
        <p:spPr>
          <a:xfrm>
            <a:off x="548640" y="5394960"/>
            <a:ext cx="11064240" cy="777240"/>
          </a:xfrm>
          <a:prstGeom prst="roundRect">
            <a:avLst>
              <a:gd name="adj" fmla="val 10588"/>
            </a:avLst>
          </a:prstGeom>
          <a:solidFill>
            <a:srgbClr val="14233A"/>
          </a:solidFill>
          <a:ln/>
          <a:effectLst>
            <a:outerShdw sx="100000" sy="100000" kx="0" ky="0" algn="bl" rotWithShape="0" blurRad="88900" dist="38100" dir="5400000">
              <a:srgbClr val="000000">
                <a:alpha val="13000"/>
              </a:srgbClr>
            </a:outerShdw>
          </a:effectLst>
        </p:spPr>
      </p:sp>
      <p:sp>
        <p:nvSpPr>
          <p:cNvPr id="16" name="click-1"/>
          <p:cNvSpPr/>
          <p:nvPr/>
        </p:nvSpPr>
        <p:spPr>
          <a:xfrm>
            <a:off x="868680" y="5394960"/>
            <a:ext cx="10424160" cy="77724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Linux 0.02, 1991: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"even usable (though may not be depending on what you want)." Honest from version zero.</a:t>
            </a:r>
            <a:endParaRPr lang="en-US" sz="1700" dirty="0"/>
          </a:p>
        </p:txBody>
      </p:sp>
      <p:sp>
        <p:nvSpPr>
          <p:cNvPr id="17" name="Text 15"/>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19 · MVP Thinking &amp; Debugging</a:t>
            </a:r>
            <a:endParaRPr lang="en-US" sz="1000" dirty="0"/>
          </a:p>
        </p:txBody>
      </p:sp>
      <p:sp>
        <p:nvSpPr>
          <p:cNvPr id="18"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05156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261415"/>
            <a:ext cx="357530" cy="357530"/>
          </a:xfrm>
          <a:prstGeom prst="rect">
            <a:avLst/>
          </a:prstGeom>
        </p:spPr>
      </p:pic>
      <p:sp>
        <p:nvSpPr>
          <p:cNvPr id="5" name="Text 2"/>
          <p:cNvSpPr/>
          <p:nvPr/>
        </p:nvSpPr>
        <p:spPr>
          <a:xfrm>
            <a:off x="822960" y="1965960"/>
            <a:ext cx="10881360" cy="1051560"/>
          </a:xfrm>
          <a:prstGeom prst="rect">
            <a:avLst/>
          </a:prstGeom>
          <a:noFill/>
          <a:ln/>
        </p:spPr>
        <p:txBody>
          <a:bodyPr wrap="square" lIns="0" tIns="0" rIns="0" bIns="0" rtlCol="0" anchor="ctr"/>
          <a:lstStyle/>
          <a:p>
            <a:pPr indent="0" marL="0">
              <a:lnSpc>
                <a:spcPct val="106000"/>
              </a:lnSpc>
              <a:buNone/>
            </a:pPr>
            <a:r>
              <a:rPr lang="en-US" sz="2500" b="1" i="1" dirty="0">
                <a:solidFill>
                  <a:srgbClr val="FFFFFF"/>
                </a:solidFill>
                <a:latin typeface="Cambria" pitchFamily="34" charset="0"/>
                <a:ea typeface="Cambria" pitchFamily="34" charset="-122"/>
                <a:cs typeface="Cambria" pitchFamily="34" charset="-120"/>
              </a:rPr>
              <a:t>v1 proves claims. Label your corners. Debug with a written loop. Write down what doesn't work.</a:t>
            </a:r>
            <a:endParaRPr lang="en-US" sz="2500" dirty="0"/>
          </a:p>
        </p:txBody>
      </p:sp>
      <p:sp>
        <p:nvSpPr>
          <p:cNvPr id="6" name="Text 3"/>
          <p:cNvSpPr/>
          <p:nvPr/>
        </p:nvSpPr>
        <p:spPr>
          <a:xfrm>
            <a:off x="841248" y="320040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WEDNESDAY, NOV 11</a:t>
            </a:r>
            <a:endParaRPr lang="en-US" sz="1400" dirty="0"/>
          </a:p>
        </p:txBody>
      </p:sp>
      <p:sp>
        <p:nvSpPr>
          <p:cNvPr id="7" name="Text 4"/>
          <p:cNvSpPr/>
          <p:nvPr/>
        </p:nvSpPr>
        <p:spPr>
          <a:xfrm>
            <a:off x="868680" y="3611880"/>
            <a:ext cx="10698480" cy="169164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MVP Plan drafted in docs/mvp-plan.md: today's sheet is parts 3 and 4. Bring it for the peer pass.</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docs/known-issues.md started, with your corners in it</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Wednesday also: your setup guide, written in class and followed cold by your partner</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Nov 18: CP10 progress demo and repo audit. One week of building before a stranger reads your repo.</a:t>
            </a:r>
            <a:endParaRPr lang="en-US" sz="1600" dirty="0"/>
          </a:p>
        </p:txBody>
      </p:sp>
      <p:sp>
        <p:nvSpPr>
          <p:cNvPr id="10" name="Text 7"/>
          <p:cNvSpPr/>
          <p:nvPr/>
        </p:nvSpPr>
        <p:spPr>
          <a:xfrm>
            <a:off x="6217920" y="6437376"/>
            <a:ext cx="53949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19 · MVP Thinking &amp; Debugging</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19 — MVP Thinking &amp; Systematic Debugging</dc:title>
  <dc:subject>PptxGenJS Presentation</dc:subject>
  <dc:creator>CS 301R</dc:creator>
  <cp:lastModifiedBy>CS 301R</cp:lastModifiedBy>
  <cp:revision>1</cp:revision>
  <dcterms:created xsi:type="dcterms:W3CDTF">2026-10-27T14:37:07Z</dcterms:created>
  <dcterms:modified xsi:type="dcterms:W3CDTF">2026-10-27T14:37:07Z</dcterms:modified>
</cp:coreProperties>
</file>