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room and set the tone. Welcome them, read the energy, keep personal intros light (name, major, one thing they've built) but don't let intros eat the clock — there's a lot to cover. Land the promise plainly: by finals, each of them will have founded and launched a real open-source project that others actually want to help build. Signal early that this course works differently from the assignment-driven courses they're used to.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open — deliver it, don't read it. Say the line, then name two or three open-source projects you personally love as living proof that big things start small. Then land the turn slowly: "…and this semester, that's you — maybe with a teammate," and let it sit a beat before advancing. The goal is to make founding feel attainable rather than mythical.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four examples, on purpose, so you can dwell on each — resist rushing. For each, contrast the humble "itch" with the "now" to show the arc from one person's decision to world-scale impact. The through-line to stress: every one of them attracted collaborators fast, which is exactly the arc this course puts students on. End on MySQL — two founders with a shared itch is the shape most of their teams will take. ~3-4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reframe of the whole course, so slow down. Most of their courses hand them the problem; here they go find a real one, prove it's worth solving, and lay a foundation others can build on. The navy card is the punchline: they are the founder/maintainer, not a contributor to someone else's vision. Tee up the contributor-vs-founder table on the next slide, which makes this concrete.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and read the founder (right) column aloud — that entire column IS the course. Be explicit that you're not disparaging the contributor role: it's valuable and most of them have done it; founding just demands an extra set of muscles — finding the problem, deciding, writing the norms, building the on-ramps. Pause on the last row: success here isn't a merged PR, it's a launched project people want to help build.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destination so every later assignment has a visible target: a working MVP, an open-source-ready repo, a launch &amp; onboarding package, and the public demo. Land the navy banner hard — what distinguishes a passing student is not strong code alone but a founded, defensible, contributor-ready project. This is where you gently preempt the "I'll just build something cool" instinct.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them in time. Discovery is individual for the first five weeks; teams form at the Week-5 pitch; then design, build, and launch, all landing on one public demo day. Stress that every assignment is a deliberate step toward that demo, not busywork. Reassure anyone anxious about teams — that's weeks away and they'll have real data by then.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these from today's session objectives — these are what they'll be able to DO by end of term. Walk the five capabilities briefly, then spotlight the navy card: technical communication is the through-line — proposals, pitches, design docs, issues, PRs, reviews, launch docs. Say plainly they'll do more writing and reviewing than fresh coding, and that we treat it as core engineering work, not a soft skill. This is the outcome students most underrate.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and authentic — the gospel and eternal-perspective framing lands best from you, live, not from the slide. The four aims map cleanly: serve a real need, teach yourself, act with integrity, do work of consequence. Touch the five C's lightly rather than laboring them. Don't over-spiritualize; let the connection feel natural.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about two examples per side; don't read all the text. Strong ideas have real, reachable users, richness, and a clear one-semester MVP; weak ones have no unmet need (the generic to-do app) or a need already met (a clone). Handle the clone point gently — cloning is great for LEARNING, which is exactly why the design prereq builds them, just not for FOUNDING. Let that distinction surface in discussion rather than lecturing it.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shared yardstick for the Idea Briefs. Walk the list but linger on the two starred criteria — a real need for a real, reachable userbase, and richness/breadth — because those are the two students most often miss. Note that solo projects and smaller scope are welcome. Seed the throughline (amber bar): scoring ideas against explicit criteria is a portable skill they'll use all semester — on their own ideas, on peers' pitches, on design docs and demos — and beyond the class; these seven are just what "good" means here. Preview that Value vs. Do-ability (Week 3) is how they'll weigh these formally.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convergence move live rather than just showing it. Take a too-small idea ("a to-do app") or a too-big one ("a new social network") and reshape it out loud against the criteria until it passes — same domain, now with real users and real richness. Tell them this is exactly the move they'll make for real in the Week-3 workshop. If time allows, invite a student to reshape one of their own.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a founder owns: the user need, the decisions, the pathways, and the norms. Land the navy banner hard — the central job of the course is to understand a real user's need well enough to speak for it. Set expectations honestly: real users are the ideal we push toward, and a documented persona/proxy is an accepted substitute this iteration (they'll build one in Week 2).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interactive beat — three vignettes. For each, pose "what would you do?" and give ~30 seconds for reactions before you reveal the call. Structure each as setup, then the tension, then the lesson: saying no to a feature (a founder decides which tickets exist), the boring stack (own it, don't show off), the first outside PR (how you treat a stranger's PR IS the culture). The unifying lesson: serve the user, not your ego. ~4-5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studio rhythm concretely: Monday teaches (short lecture, worked examples, critique), Wednesday does (workshop, lab, peer review, or demo — often released early). The repeating engine is draft, review, revise, build, reflect — call that the loop that drives the whole course. Reassure them Wednesdays won't always use the full 75 minutes.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They've done no reading yet — this is their first exposure to Creative Problem Solving, so keep it light. Give the premise (creativity is a practicable skill; how you approach a problem changes your odds of a breakthrough) and the four stage names with one line each: Clarification, Ideation, Development, Implementation. Don't drill it — the Session 2 reading and workshop go deep. This just sets up the CPS-to-phases mapping.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what we emphasize, so give it a moment. Every stage uses both modes: generate widely (defer judgment, prefer quantity, welcome wild ideas, build on others') before you narrow (judge against goals and constraints, decide with evidence, keep the novelty alive). Use the research hook in the navy banner to motivate deferring judgment — groups that pile up ideas before judging outperform those that judge as they go, which is why the Idea Briefs ask for three, not one. The full CPS run and the egg-drop exercise come Sep 9.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the four stages are familiar, this mapping lands: the four CPS stages map onto the five course phases across the term. The Week-5 pitch is the hinge — where individual work becomes team work. Reassure them explicitly that a solo path is welcome and no one's idea gets killed out from under them.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tight — do NOT read the syllabus aloud; point them to Canvas. Say the workload plainly: about 10 hours a week (roughly 2.5 in class, 7.5 outside). Stress that process and founding artifacts carry real weight — strong code alone won't compensate. On AI: it's a tool, not the topic — fine for brainstorming, learning, and drafting, but they must understand and be able to defend everything they submit. The amber card is the whole message: it's all in Canvas, and they are expected to read the syllabus this week. Don't walk the bullets one by one.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first move. Point them to the CP1 assignment: three genuinely DIFFERENT one-page problem concepts (not three flavors of one app), plus a short reflection on what makes a project worth building to last, due Wed Sep 23. Then introduce the idea journal — a low-effort running log of problems (needs, not solutions) kept over three weeks. Emphasize that good briefs come from weeks of noticing, not a night-before scramble. The next slide starts the journal in class.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for real. Solo and silent first for three minutes — this protects individual generation before any group influence. The prompt: list as many problems (broken, annoying, tedious, slow, missing) as you can, aim for 8+, and don't judge or solve. Then collect a few aloud with PURE acceptance — no evaluating — to model deferring judgment. Don't collect or grade; the list becomes journal entry #1 and a taste of the Sep 9 divergent workshop.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one big idea: founders find and prove problems, and we start by exploring widely. Point them to the two handouts (CP1 Idea Briefs and the Idea Journal guide) and the two readings for Sep 9 (the assigned CPS handbook excerpt and Elder Hales, "Channeling Your Creativity"). Flag the shift explicitly — from here on, sessions expect pre-reading. Send them off to keep feeding the journal and bring raw problems to the divergent workshop.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71600"/>
            <a:ext cx="868680" cy="86868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57504" y="1606144"/>
            <a:ext cx="399593" cy="399593"/>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600" b="1" spc="200" kern="0" dirty="0">
                <a:solidFill>
                  <a:srgbClr val="9FB4C7"/>
                </a:solidFill>
                <a:latin typeface="Calibri" pitchFamily="34" charset="0"/>
                <a:ea typeface="Calibri" pitchFamily="34" charset="-122"/>
                <a:cs typeface="Calibri" pitchFamily="34" charset="-120"/>
              </a:rPr>
              <a:t>CS 301R · SOFTWARE ENGINEERING STUDIO I</a:t>
            </a:r>
            <a:endParaRPr lang="en-US" sz="1600" dirty="0"/>
          </a:p>
        </p:txBody>
      </p:sp>
      <p:sp>
        <p:nvSpPr>
          <p:cNvPr id="7" name="Text 4"/>
          <p:cNvSpPr/>
          <p:nvPr/>
        </p:nvSpPr>
        <p:spPr>
          <a:xfrm>
            <a:off x="822960" y="2880360"/>
            <a:ext cx="10515600" cy="118872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Founding an Open-Source Project</a:t>
            </a:r>
            <a:endParaRPr lang="en-US" sz="5000" dirty="0"/>
          </a:p>
        </p:txBody>
      </p:sp>
      <p:sp>
        <p:nvSpPr>
          <p:cNvPr id="8" name="Text 5"/>
          <p:cNvSpPr/>
          <p:nvPr/>
        </p:nvSpPr>
        <p:spPr>
          <a:xfrm>
            <a:off x="841248" y="4160520"/>
            <a:ext cx="10058400" cy="73152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1 — Course Launch</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Wednesday, September 2,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33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685800"/>
            <a:ext cx="914400" cy="914400"/>
          </a:xfrm>
          <a:prstGeom prst="rect">
            <a:avLst/>
          </a:prstGeom>
        </p:spPr>
      </p:pic>
      <p:sp>
        <p:nvSpPr>
          <p:cNvPr id="3" name="Text 0"/>
          <p:cNvSpPr/>
          <p:nvPr/>
        </p:nvSpPr>
        <p:spPr>
          <a:xfrm>
            <a:off x="914400" y="1828800"/>
            <a:ext cx="10332720" cy="2194560"/>
          </a:xfrm>
          <a:prstGeom prst="rect">
            <a:avLst/>
          </a:prstGeom>
          <a:noFill/>
          <a:ln/>
        </p:spPr>
        <p:txBody>
          <a:bodyPr wrap="square" lIns="0" tIns="0" rIns="0" bIns="0" rtlCol="0" anchor="ctr"/>
          <a:lstStyle/>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Nearly every big open-source project you rely on started as one or two people deciding a problem was worth solving.</a:t>
            </a:r>
            <a:endParaRPr lang="en-US" sz="3400" dirty="0"/>
          </a:p>
        </p:txBody>
      </p:sp>
      <p:sp>
        <p:nvSpPr>
          <p:cNvPr id="4" name="Text 1"/>
          <p:cNvSpPr/>
          <p:nvPr/>
        </p:nvSpPr>
        <p:spPr>
          <a:xfrm>
            <a:off x="914400" y="4343400"/>
            <a:ext cx="10332720" cy="822960"/>
          </a:xfrm>
          <a:prstGeom prst="rect">
            <a:avLst/>
          </a:prstGeom>
          <a:noFill/>
          <a:ln/>
        </p:spPr>
        <p:txBody>
          <a:bodyPr wrap="square" lIns="0" tIns="0" rIns="0" bIns="0" rtlCol="0" anchor="ctr"/>
          <a:lstStyle/>
          <a:p>
            <a:pPr indent="0" marL="0">
              <a:buNone/>
            </a:pPr>
            <a:r>
              <a:rPr lang="en-US" sz="3300" b="1" i="1" dirty="0">
                <a:solidFill>
                  <a:srgbClr val="E8A33D"/>
                </a:solidFill>
                <a:latin typeface="Cambria" pitchFamily="34" charset="0"/>
                <a:ea typeface="Cambria" pitchFamily="34" charset="-122"/>
                <a:cs typeface="Cambria" pitchFamily="34" charset="-120"/>
              </a:rPr>
              <a:t>This semester, that's you.</a:t>
            </a:r>
            <a:endParaRPr lang="en-US" sz="3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IT STARTS WITH ONE OR TWO PEOPLE</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They all began as somebody's decision</a:t>
            </a:r>
            <a:endParaRPr lang="en-US" sz="3000" dirty="0"/>
          </a:p>
        </p:txBody>
      </p:sp>
      <p:sp>
        <p:nvSpPr>
          <p:cNvPr id="5" name="Shape 3"/>
          <p:cNvSpPr/>
          <p:nvPr/>
        </p:nvSpPr>
        <p:spPr>
          <a:xfrm>
            <a:off x="548640" y="1920240"/>
            <a:ext cx="539496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777240" y="2057400"/>
            <a:ext cx="4937760" cy="365760"/>
          </a:xfrm>
          <a:prstGeom prst="rect">
            <a:avLst/>
          </a:prstGeom>
          <a:noFill/>
          <a:ln/>
        </p:spPr>
        <p:txBody>
          <a:bodyPr wrap="square" lIns="0" tIns="0" rIns="0" bIns="0" rtlCol="0" anchor="ctr"/>
          <a:lstStyle/>
          <a:p>
            <a:pPr indent="0" marL="0">
              <a:buNone/>
            </a:pPr>
            <a:r>
              <a:rPr lang="en-US" sz="2050" b="1" dirty="0">
                <a:solidFill>
                  <a:srgbClr val="12908F"/>
                </a:solidFill>
                <a:latin typeface="Calibri" pitchFamily="34" charset="0"/>
                <a:ea typeface="Calibri" pitchFamily="34" charset="-122"/>
                <a:cs typeface="Calibri" pitchFamily="34" charset="-120"/>
              </a:rPr>
              <a:t>Linux</a:t>
            </a:r>
            <a:endParaRPr lang="en-US" sz="2050" dirty="0"/>
          </a:p>
        </p:txBody>
      </p:sp>
      <p:sp>
        <p:nvSpPr>
          <p:cNvPr id="7" name="Text 5"/>
          <p:cNvSpPr/>
          <p:nvPr/>
        </p:nvSpPr>
        <p:spPr>
          <a:xfrm>
            <a:off x="777240" y="2432304"/>
            <a:ext cx="4937760" cy="256032"/>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Linus Torvalds · 1991</a:t>
            </a:r>
            <a:endParaRPr lang="en-US" sz="1350" dirty="0"/>
          </a:p>
        </p:txBody>
      </p:sp>
      <p:sp>
        <p:nvSpPr>
          <p:cNvPr id="8" name="Text 6"/>
          <p:cNvSpPr/>
          <p:nvPr/>
        </p:nvSpPr>
        <p:spPr>
          <a:xfrm>
            <a:off x="777240" y="2706624"/>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1E2A36"/>
                </a:solidFill>
                <a:latin typeface="Calibri" pitchFamily="34" charset="0"/>
                <a:ea typeface="Calibri" pitchFamily="34" charset="-122"/>
                <a:cs typeface="Calibri" pitchFamily="34" charset="-120"/>
              </a:rPr>
              <a:t>The itch: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A free Unix-like kernel for his own PC — "just a hobby."</a:t>
            </a:r>
            <a:endParaRPr lang="en-US" sz="1400" dirty="0"/>
          </a:p>
        </p:txBody>
      </p:sp>
      <p:sp>
        <p:nvSpPr>
          <p:cNvPr id="9" name="Text 7"/>
          <p:cNvSpPr/>
          <p:nvPr/>
        </p:nvSpPr>
        <p:spPr>
          <a:xfrm>
            <a:off x="777240" y="3172968"/>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0E6E6D"/>
                </a:solidFill>
                <a:latin typeface="Calibri" pitchFamily="34" charset="0"/>
                <a:ea typeface="Calibri" pitchFamily="34" charset="-122"/>
                <a:cs typeface="Calibri" pitchFamily="34" charset="-120"/>
              </a:rPr>
              <a:t>Now: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Runs most of the internet, all Android phones, and the world's supercomputers.</a:t>
            </a:r>
            <a:endParaRPr lang="en-US" sz="1400" dirty="0"/>
          </a:p>
        </p:txBody>
      </p:sp>
      <p:sp>
        <p:nvSpPr>
          <p:cNvPr id="10" name="Shape 8"/>
          <p:cNvSpPr/>
          <p:nvPr/>
        </p:nvSpPr>
        <p:spPr>
          <a:xfrm>
            <a:off x="6217920" y="1920240"/>
            <a:ext cx="539496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11" name="Text 9"/>
          <p:cNvSpPr/>
          <p:nvPr/>
        </p:nvSpPr>
        <p:spPr>
          <a:xfrm>
            <a:off x="6446520" y="2057400"/>
            <a:ext cx="4937760" cy="365760"/>
          </a:xfrm>
          <a:prstGeom prst="rect">
            <a:avLst/>
          </a:prstGeom>
          <a:noFill/>
          <a:ln/>
        </p:spPr>
        <p:txBody>
          <a:bodyPr wrap="square" lIns="0" tIns="0" rIns="0" bIns="0" rtlCol="0" anchor="ctr"/>
          <a:lstStyle/>
          <a:p>
            <a:pPr indent="0" marL="0">
              <a:buNone/>
            </a:pPr>
            <a:r>
              <a:rPr lang="en-US" sz="2050" b="1" dirty="0">
                <a:solidFill>
                  <a:srgbClr val="12908F"/>
                </a:solidFill>
                <a:latin typeface="Calibri" pitchFamily="34" charset="0"/>
                <a:ea typeface="Calibri" pitchFamily="34" charset="-122"/>
                <a:cs typeface="Calibri" pitchFamily="34" charset="-120"/>
              </a:rPr>
              <a:t>Python</a:t>
            </a:r>
            <a:endParaRPr lang="en-US" sz="2050" dirty="0"/>
          </a:p>
        </p:txBody>
      </p:sp>
      <p:sp>
        <p:nvSpPr>
          <p:cNvPr id="12" name="Text 10"/>
          <p:cNvSpPr/>
          <p:nvPr/>
        </p:nvSpPr>
        <p:spPr>
          <a:xfrm>
            <a:off x="6446520" y="2432304"/>
            <a:ext cx="4937760" cy="256032"/>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Guido van Rossum · 1989</a:t>
            </a:r>
            <a:endParaRPr lang="en-US" sz="1350" dirty="0"/>
          </a:p>
        </p:txBody>
      </p:sp>
      <p:sp>
        <p:nvSpPr>
          <p:cNvPr id="13" name="Text 11"/>
          <p:cNvSpPr/>
          <p:nvPr/>
        </p:nvSpPr>
        <p:spPr>
          <a:xfrm>
            <a:off x="6446520" y="2706624"/>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1E2A36"/>
                </a:solidFill>
                <a:latin typeface="Calibri" pitchFamily="34" charset="0"/>
                <a:ea typeface="Calibri" pitchFamily="34" charset="-122"/>
                <a:cs typeface="Calibri" pitchFamily="34" charset="-120"/>
              </a:rPr>
              <a:t>The itch: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A holiday side project: a language he'd actually enjoy using.</a:t>
            </a:r>
            <a:endParaRPr lang="en-US" sz="1400" dirty="0"/>
          </a:p>
        </p:txBody>
      </p:sp>
      <p:sp>
        <p:nvSpPr>
          <p:cNvPr id="14" name="Text 12"/>
          <p:cNvSpPr/>
          <p:nvPr/>
        </p:nvSpPr>
        <p:spPr>
          <a:xfrm>
            <a:off x="6446520" y="3172968"/>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0E6E6D"/>
                </a:solidFill>
                <a:latin typeface="Calibri" pitchFamily="34" charset="0"/>
                <a:ea typeface="Calibri" pitchFamily="34" charset="-122"/>
                <a:cs typeface="Calibri" pitchFamily="34" charset="-120"/>
              </a:rPr>
              <a:t>Now: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A top-tier language powering the web, data science, and most of modern AI.</a:t>
            </a:r>
            <a:endParaRPr lang="en-US" sz="1400" dirty="0"/>
          </a:p>
        </p:txBody>
      </p:sp>
      <p:sp>
        <p:nvSpPr>
          <p:cNvPr id="15" name="Shape 13"/>
          <p:cNvSpPr/>
          <p:nvPr/>
        </p:nvSpPr>
        <p:spPr>
          <a:xfrm>
            <a:off x="548640" y="3931920"/>
            <a:ext cx="539496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16" name="Text 14"/>
          <p:cNvSpPr/>
          <p:nvPr/>
        </p:nvSpPr>
        <p:spPr>
          <a:xfrm>
            <a:off x="777240" y="4069080"/>
            <a:ext cx="4937760" cy="365760"/>
          </a:xfrm>
          <a:prstGeom prst="rect">
            <a:avLst/>
          </a:prstGeom>
          <a:noFill/>
          <a:ln/>
        </p:spPr>
        <p:txBody>
          <a:bodyPr wrap="square" lIns="0" tIns="0" rIns="0" bIns="0" rtlCol="0" anchor="ctr"/>
          <a:lstStyle/>
          <a:p>
            <a:pPr indent="0" marL="0">
              <a:buNone/>
            </a:pPr>
            <a:r>
              <a:rPr lang="en-US" sz="2050" b="1" dirty="0">
                <a:solidFill>
                  <a:srgbClr val="12908F"/>
                </a:solidFill>
                <a:latin typeface="Calibri" pitchFamily="34" charset="0"/>
                <a:ea typeface="Calibri" pitchFamily="34" charset="-122"/>
                <a:cs typeface="Calibri" pitchFamily="34" charset="-120"/>
              </a:rPr>
              <a:t>OBS Studio</a:t>
            </a:r>
            <a:endParaRPr lang="en-US" sz="2050" dirty="0"/>
          </a:p>
        </p:txBody>
      </p:sp>
      <p:sp>
        <p:nvSpPr>
          <p:cNvPr id="17" name="Text 15"/>
          <p:cNvSpPr/>
          <p:nvPr/>
        </p:nvSpPr>
        <p:spPr>
          <a:xfrm>
            <a:off x="777240" y="4443984"/>
            <a:ext cx="4937760" cy="256032"/>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Hugh "Jim" Bailey · 2012</a:t>
            </a:r>
            <a:endParaRPr lang="en-US" sz="1350" dirty="0"/>
          </a:p>
        </p:txBody>
      </p:sp>
      <p:sp>
        <p:nvSpPr>
          <p:cNvPr id="18" name="Text 16"/>
          <p:cNvSpPr/>
          <p:nvPr/>
        </p:nvSpPr>
        <p:spPr>
          <a:xfrm>
            <a:off x="777240" y="4718304"/>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1E2A36"/>
                </a:solidFill>
                <a:latin typeface="Calibri" pitchFamily="34" charset="0"/>
                <a:ea typeface="Calibri" pitchFamily="34" charset="-122"/>
                <a:cs typeface="Calibri" pitchFamily="34" charset="-120"/>
              </a:rPr>
              <a:t>The itch: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A free way to record and stream video.</a:t>
            </a:r>
            <a:endParaRPr lang="en-US" sz="1400" dirty="0"/>
          </a:p>
        </p:txBody>
      </p:sp>
      <p:sp>
        <p:nvSpPr>
          <p:cNvPr id="19" name="Text 17"/>
          <p:cNvSpPr/>
          <p:nvPr/>
        </p:nvSpPr>
        <p:spPr>
          <a:xfrm>
            <a:off x="777240" y="5184648"/>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0E6E6D"/>
                </a:solidFill>
                <a:latin typeface="Calibri" pitchFamily="34" charset="0"/>
                <a:ea typeface="Calibri" pitchFamily="34" charset="-122"/>
                <a:cs typeface="Calibri" pitchFamily="34" charset="-120"/>
              </a:rPr>
              <a:t>Now: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What essentially every streamer and screen-recorder uses.</a:t>
            </a:r>
            <a:endParaRPr lang="en-US" sz="1400" dirty="0"/>
          </a:p>
        </p:txBody>
      </p:sp>
      <p:sp>
        <p:nvSpPr>
          <p:cNvPr id="20" name="Shape 18"/>
          <p:cNvSpPr/>
          <p:nvPr/>
        </p:nvSpPr>
        <p:spPr>
          <a:xfrm>
            <a:off x="6217920" y="3931920"/>
            <a:ext cx="539496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21" name="Text 19"/>
          <p:cNvSpPr/>
          <p:nvPr/>
        </p:nvSpPr>
        <p:spPr>
          <a:xfrm>
            <a:off x="6446520" y="4069080"/>
            <a:ext cx="4937760" cy="365760"/>
          </a:xfrm>
          <a:prstGeom prst="rect">
            <a:avLst/>
          </a:prstGeom>
          <a:noFill/>
          <a:ln/>
        </p:spPr>
        <p:txBody>
          <a:bodyPr wrap="square" lIns="0" tIns="0" rIns="0" bIns="0" rtlCol="0" anchor="ctr"/>
          <a:lstStyle/>
          <a:p>
            <a:pPr indent="0" marL="0">
              <a:buNone/>
            </a:pPr>
            <a:r>
              <a:rPr lang="en-US" sz="2050" b="1" dirty="0">
                <a:solidFill>
                  <a:srgbClr val="12908F"/>
                </a:solidFill>
                <a:latin typeface="Calibri" pitchFamily="34" charset="0"/>
                <a:ea typeface="Calibri" pitchFamily="34" charset="-122"/>
                <a:cs typeface="Calibri" pitchFamily="34" charset="-120"/>
              </a:rPr>
              <a:t>MySQL</a:t>
            </a:r>
            <a:endParaRPr lang="en-US" sz="2050" dirty="0"/>
          </a:p>
        </p:txBody>
      </p:sp>
      <p:sp>
        <p:nvSpPr>
          <p:cNvPr id="22" name="Text 20"/>
          <p:cNvSpPr/>
          <p:nvPr/>
        </p:nvSpPr>
        <p:spPr>
          <a:xfrm>
            <a:off x="6446520" y="4443984"/>
            <a:ext cx="4937760" cy="256032"/>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Widenius &amp; Axmark · 1995</a:t>
            </a:r>
            <a:endParaRPr lang="en-US" sz="1350" dirty="0"/>
          </a:p>
        </p:txBody>
      </p:sp>
      <p:sp>
        <p:nvSpPr>
          <p:cNvPr id="23" name="Text 21"/>
          <p:cNvSpPr/>
          <p:nvPr/>
        </p:nvSpPr>
        <p:spPr>
          <a:xfrm>
            <a:off x="6446520" y="4718304"/>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1E2A36"/>
                </a:solidFill>
                <a:latin typeface="Calibri" pitchFamily="34" charset="0"/>
                <a:ea typeface="Calibri" pitchFamily="34" charset="-122"/>
                <a:cs typeface="Calibri" pitchFamily="34" charset="-120"/>
              </a:rPr>
              <a:t>The itch: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A fast, free relational database when the options were costly or slow.</a:t>
            </a:r>
            <a:endParaRPr lang="en-US" sz="1400" dirty="0"/>
          </a:p>
        </p:txBody>
      </p:sp>
      <p:sp>
        <p:nvSpPr>
          <p:cNvPr id="24" name="Text 22"/>
          <p:cNvSpPr/>
          <p:nvPr/>
        </p:nvSpPr>
        <p:spPr>
          <a:xfrm>
            <a:off x="6446520" y="5184648"/>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0E6E6D"/>
                </a:solidFill>
                <a:latin typeface="Calibri" pitchFamily="34" charset="0"/>
                <a:ea typeface="Calibri" pitchFamily="34" charset="-122"/>
                <a:cs typeface="Calibri" pitchFamily="34" charset="-120"/>
              </a:rPr>
              <a:t>Now: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One of the most widely used databases in the world.</a:t>
            </a:r>
            <a:endParaRPr lang="en-US" sz="1400" dirty="0"/>
          </a:p>
        </p:txBody>
      </p:sp>
      <p:sp>
        <p:nvSpPr>
          <p:cNvPr id="25" name="Text 23"/>
          <p:cNvSpPr/>
          <p:nvPr/>
        </p:nvSpPr>
        <p:spPr>
          <a:xfrm>
            <a:off x="548640" y="5897880"/>
            <a:ext cx="11064240" cy="411480"/>
          </a:xfrm>
          <a:prstGeom prst="rect">
            <a:avLst/>
          </a:prstGeom>
          <a:noFill/>
          <a:ln/>
        </p:spPr>
        <p:txBody>
          <a:bodyPr wrap="square" lIns="0" tIns="0" rIns="0" bIns="0" rtlCol="0" anchor="ctr"/>
          <a:lstStyle/>
          <a:p>
            <a:pPr algn="ctr" indent="0" marL="0">
              <a:buNone/>
            </a:pPr>
            <a:r>
              <a:rPr lang="en-US" sz="1550" i="1" dirty="0">
                <a:solidFill>
                  <a:srgbClr val="1E2A36"/>
                </a:solidFill>
                <a:latin typeface="Calibri" pitchFamily="34" charset="0"/>
                <a:ea typeface="Calibri" pitchFamily="34" charset="-122"/>
                <a:cs typeface="Calibri" pitchFamily="34" charset="-120"/>
              </a:rPr>
              <a:t>MySQL shows the pattern that matters most for you: </a:t>
            </a:r>
            <a:pPr algn="ctr" indent="0" marL="0">
              <a:buNone/>
            </a:pPr>
            <a:r>
              <a:rPr lang="en-US" sz="1550" b="1" i="1" dirty="0">
                <a:solidFill>
                  <a:srgbClr val="0E6E6D"/>
                </a:solidFill>
                <a:latin typeface="Calibri" pitchFamily="34" charset="0"/>
                <a:ea typeface="Calibri" pitchFamily="34" charset="-122"/>
                <a:cs typeface="Calibri" pitchFamily="34" charset="-120"/>
              </a:rPr>
              <a:t>two founders with a shared itch — the shape your teams will be.</a:t>
            </a:r>
            <a:endParaRPr lang="en-US" sz="1550" dirty="0"/>
          </a:p>
        </p:txBody>
      </p:sp>
      <p:sp>
        <p:nvSpPr>
          <p:cNvPr id="26" name="Text 24"/>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27" name="Text 25"/>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WHAT THIS COURSE IS</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From building assignments → to founding a project</a:t>
            </a:r>
            <a:endParaRPr lang="en-US" sz="3000" dirty="0"/>
          </a:p>
        </p:txBody>
      </p:sp>
      <p:sp>
        <p:nvSpPr>
          <p:cNvPr id="5" name="Shape 3"/>
          <p:cNvSpPr/>
          <p:nvPr/>
        </p:nvSpPr>
        <p:spPr>
          <a:xfrm>
            <a:off x="548640" y="1874520"/>
            <a:ext cx="795528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2093976"/>
            <a:ext cx="475488" cy="47548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05622" y="2222358"/>
            <a:ext cx="218724" cy="218724"/>
          </a:xfrm>
          <a:prstGeom prst="rect">
            <a:avLst/>
          </a:prstGeom>
        </p:spPr>
      </p:pic>
      <p:sp>
        <p:nvSpPr>
          <p:cNvPr id="8" name="Text 5"/>
          <p:cNvSpPr/>
          <p:nvPr/>
        </p:nvSpPr>
        <p:spPr>
          <a:xfrm>
            <a:off x="1463040" y="2002536"/>
            <a:ext cx="6858000" cy="329184"/>
          </a:xfrm>
          <a:prstGeom prst="rect">
            <a:avLst/>
          </a:prstGeom>
          <a:noFill/>
          <a:ln/>
        </p:spPr>
        <p:txBody>
          <a:bodyPr wrap="square" lIns="0" tIns="0" rIns="0" bIns="0" rtlCol="0" anchor="ctr"/>
          <a:lstStyle/>
          <a:p>
            <a:pPr indent="0" marL="0">
              <a:buNone/>
            </a:pPr>
            <a:r>
              <a:rPr lang="en-US" sz="1850" b="1" dirty="0">
                <a:solidFill>
                  <a:srgbClr val="1E2A36"/>
                </a:solidFill>
                <a:latin typeface="Calibri" pitchFamily="34" charset="0"/>
                <a:ea typeface="Calibri" pitchFamily="34" charset="-122"/>
                <a:cs typeface="Calibri" pitchFamily="34" charset="-120"/>
              </a:rPr>
              <a:t>Find a problem worth solving</a:t>
            </a:r>
            <a:endParaRPr lang="en-US" sz="1850" dirty="0"/>
          </a:p>
        </p:txBody>
      </p:sp>
      <p:sp>
        <p:nvSpPr>
          <p:cNvPr id="9" name="Text 6"/>
          <p:cNvSpPr/>
          <p:nvPr/>
        </p:nvSpPr>
        <p:spPr>
          <a:xfrm>
            <a:off x="1463040" y="2331720"/>
            <a:ext cx="6903720" cy="384048"/>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Most courses hand you the problem. Here you go looking for a real one.</a:t>
            </a:r>
            <a:endParaRPr lang="en-US" sz="1450" dirty="0"/>
          </a:p>
        </p:txBody>
      </p:sp>
      <p:sp>
        <p:nvSpPr>
          <p:cNvPr id="10" name="Shape 7"/>
          <p:cNvSpPr/>
          <p:nvPr/>
        </p:nvSpPr>
        <p:spPr>
          <a:xfrm>
            <a:off x="548640" y="2926080"/>
            <a:ext cx="795528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777240" y="3145536"/>
            <a:ext cx="475488" cy="475488"/>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905622" y="3273918"/>
            <a:ext cx="218724" cy="218724"/>
          </a:xfrm>
          <a:prstGeom prst="rect">
            <a:avLst/>
          </a:prstGeom>
        </p:spPr>
      </p:pic>
      <p:sp>
        <p:nvSpPr>
          <p:cNvPr id="13" name="Text 9"/>
          <p:cNvSpPr/>
          <p:nvPr/>
        </p:nvSpPr>
        <p:spPr>
          <a:xfrm>
            <a:off x="1463040" y="3054096"/>
            <a:ext cx="6858000" cy="329184"/>
          </a:xfrm>
          <a:prstGeom prst="rect">
            <a:avLst/>
          </a:prstGeom>
          <a:noFill/>
          <a:ln/>
        </p:spPr>
        <p:txBody>
          <a:bodyPr wrap="square" lIns="0" tIns="0" rIns="0" bIns="0" rtlCol="0" anchor="ctr"/>
          <a:lstStyle/>
          <a:p>
            <a:pPr indent="0" marL="0">
              <a:buNone/>
            </a:pPr>
            <a:r>
              <a:rPr lang="en-US" sz="1850" b="1" dirty="0">
                <a:solidFill>
                  <a:srgbClr val="1E2A36"/>
                </a:solidFill>
                <a:latin typeface="Calibri" pitchFamily="34" charset="0"/>
                <a:ea typeface="Calibri" pitchFamily="34" charset="-122"/>
                <a:cs typeface="Calibri" pitchFamily="34" charset="-120"/>
              </a:rPr>
              <a:t>Prove it's worth solving</a:t>
            </a:r>
            <a:endParaRPr lang="en-US" sz="1850" dirty="0"/>
          </a:p>
        </p:txBody>
      </p:sp>
      <p:sp>
        <p:nvSpPr>
          <p:cNvPr id="14" name="Text 10"/>
          <p:cNvSpPr/>
          <p:nvPr/>
        </p:nvSpPr>
        <p:spPr>
          <a:xfrm>
            <a:off x="1463040" y="3383280"/>
            <a:ext cx="6903720" cy="384048"/>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Show there's a real need, a real user, and a feasible path.</a:t>
            </a:r>
            <a:endParaRPr lang="en-US" sz="1450" dirty="0"/>
          </a:p>
        </p:txBody>
      </p:sp>
      <p:sp>
        <p:nvSpPr>
          <p:cNvPr id="15" name="Shape 11"/>
          <p:cNvSpPr/>
          <p:nvPr/>
        </p:nvSpPr>
        <p:spPr>
          <a:xfrm>
            <a:off x="548640" y="3977640"/>
            <a:ext cx="795528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777240" y="4197096"/>
            <a:ext cx="475488" cy="475488"/>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05622" y="4325478"/>
            <a:ext cx="218724" cy="218724"/>
          </a:xfrm>
          <a:prstGeom prst="rect">
            <a:avLst/>
          </a:prstGeom>
        </p:spPr>
      </p:pic>
      <p:sp>
        <p:nvSpPr>
          <p:cNvPr id="18" name="Text 13"/>
          <p:cNvSpPr/>
          <p:nvPr/>
        </p:nvSpPr>
        <p:spPr>
          <a:xfrm>
            <a:off x="1463040" y="4105656"/>
            <a:ext cx="6858000" cy="329184"/>
          </a:xfrm>
          <a:prstGeom prst="rect">
            <a:avLst/>
          </a:prstGeom>
          <a:noFill/>
          <a:ln/>
        </p:spPr>
        <p:txBody>
          <a:bodyPr wrap="square" lIns="0" tIns="0" rIns="0" bIns="0" rtlCol="0" anchor="ctr"/>
          <a:lstStyle/>
          <a:p>
            <a:pPr indent="0" marL="0">
              <a:buNone/>
            </a:pPr>
            <a:r>
              <a:rPr lang="en-US" sz="1850" b="1" dirty="0">
                <a:solidFill>
                  <a:srgbClr val="1E2A36"/>
                </a:solidFill>
                <a:latin typeface="Calibri" pitchFamily="34" charset="0"/>
                <a:ea typeface="Calibri" pitchFamily="34" charset="-122"/>
                <a:cs typeface="Calibri" pitchFamily="34" charset="-120"/>
              </a:rPr>
              <a:t>Lay a foundation others build on</a:t>
            </a:r>
            <a:endParaRPr lang="en-US" sz="1850" dirty="0"/>
          </a:p>
        </p:txBody>
      </p:sp>
      <p:sp>
        <p:nvSpPr>
          <p:cNvPr id="19" name="Text 14"/>
          <p:cNvSpPr/>
          <p:nvPr/>
        </p:nvSpPr>
        <p:spPr>
          <a:xfrm>
            <a:off x="1463040" y="4434840"/>
            <a:ext cx="6903720" cy="384048"/>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Not just code — the docs, norms, and on-ramps a project needs to grow.</a:t>
            </a:r>
            <a:endParaRPr lang="en-US" sz="1450" dirty="0"/>
          </a:p>
        </p:txBody>
      </p:sp>
      <p:sp>
        <p:nvSpPr>
          <p:cNvPr id="20" name="Shape 15"/>
          <p:cNvSpPr/>
          <p:nvPr/>
        </p:nvSpPr>
        <p:spPr>
          <a:xfrm>
            <a:off x="8732520" y="1874520"/>
            <a:ext cx="2880360" cy="2971800"/>
          </a:xfrm>
          <a:prstGeom prst="roundRect">
            <a:avLst>
              <a:gd name="adj" fmla="val 2857"/>
            </a:avLst>
          </a:prstGeom>
          <a:solidFill>
            <a:srgbClr val="14233A"/>
          </a:solidFill>
          <a:ln/>
          <a:effectLst>
            <a:outerShdw sx="100000" sy="100000" kx="0" ky="0" algn="bl" rotWithShape="0" blurRad="88900" dist="38100" dir="5400000">
              <a:srgbClr val="000000">
                <a:alpha val="13000"/>
              </a:srgbClr>
            </a:outerShdw>
          </a:effectLst>
        </p:spPr>
      </p:sp>
      <p:sp>
        <p:nvSpPr>
          <p:cNvPr id="21" name="Shape 16"/>
          <p:cNvSpPr/>
          <p:nvPr/>
        </p:nvSpPr>
        <p:spPr>
          <a:xfrm>
            <a:off x="9829800" y="2286000"/>
            <a:ext cx="685800" cy="685800"/>
          </a:xfrm>
          <a:prstGeom prst="ellipse">
            <a:avLst/>
          </a:prstGeom>
          <a:solidFill>
            <a:srgbClr val="E8A33D"/>
          </a:solidFill>
          <a:ln/>
        </p:spPr>
      </p:sp>
      <p:pic>
        <p:nvPicPr>
          <p:cNvPr id="22" name="Image 3" descr="preencoded.png">    </p:cNvPr>
          <p:cNvPicPr>
            <a:picLocks noChangeAspect="1"/>
          </p:cNvPicPr>
          <p:nvPr/>
        </p:nvPicPr>
        <p:blipFill>
          <a:blip r:embed="rId4"/>
          <a:stretch>
            <a:fillRect/>
          </a:stretch>
        </p:blipFill>
        <p:spPr>
          <a:xfrm>
            <a:off x="10014966" y="2471166"/>
            <a:ext cx="315468" cy="315468"/>
          </a:xfrm>
          <a:prstGeom prst="rect">
            <a:avLst/>
          </a:prstGeom>
        </p:spPr>
      </p:pic>
      <p:sp>
        <p:nvSpPr>
          <p:cNvPr id="23" name="Text 17"/>
          <p:cNvSpPr/>
          <p:nvPr/>
        </p:nvSpPr>
        <p:spPr>
          <a:xfrm>
            <a:off x="8961120" y="3108960"/>
            <a:ext cx="2423160" cy="914400"/>
          </a:xfrm>
          <a:prstGeom prst="rect">
            <a:avLst/>
          </a:prstGeom>
          <a:noFill/>
          <a:ln/>
        </p:spPr>
        <p:txBody>
          <a:bodyPr wrap="square" lIns="0" tIns="0" rIns="0" bIns="0" rtlCol="0" anchor="ctr"/>
          <a:lstStyle/>
          <a:p>
            <a:pPr algn="ctr" indent="0" marL="0">
              <a:buNone/>
            </a:pPr>
            <a:r>
              <a:rPr lang="en-US" sz="2150" b="1" dirty="0">
                <a:solidFill>
                  <a:srgbClr val="FFFFFF"/>
                </a:solidFill>
                <a:latin typeface="Cambria" pitchFamily="34" charset="0"/>
                <a:ea typeface="Cambria" pitchFamily="34" charset="-122"/>
                <a:cs typeface="Cambria" pitchFamily="34" charset="-120"/>
              </a:rPr>
              <a:t>You are the founder / maintainer</a:t>
            </a:r>
            <a:endParaRPr lang="en-US" sz="2150" dirty="0"/>
          </a:p>
        </p:txBody>
      </p:sp>
      <p:sp>
        <p:nvSpPr>
          <p:cNvPr id="24" name="Text 18"/>
          <p:cNvSpPr/>
          <p:nvPr/>
        </p:nvSpPr>
        <p:spPr>
          <a:xfrm>
            <a:off x="8961120" y="4023360"/>
            <a:ext cx="2423160" cy="731520"/>
          </a:xfrm>
          <a:prstGeom prst="rect">
            <a:avLst/>
          </a:prstGeom>
          <a:noFill/>
          <a:ln/>
        </p:spPr>
        <p:txBody>
          <a:bodyPr wrap="square" lIns="0" tIns="0" rIns="0" bIns="0" rtlCol="0" anchor="ctr"/>
          <a:lstStyle/>
          <a:p>
            <a:pPr algn="ctr" indent="0" marL="0">
              <a:buNone/>
            </a:pPr>
            <a:r>
              <a:rPr lang="en-US" sz="1450" dirty="0">
                <a:solidFill>
                  <a:srgbClr val="AEC2D3"/>
                </a:solidFill>
                <a:latin typeface="Calibri" pitchFamily="34" charset="0"/>
                <a:ea typeface="Calibri" pitchFamily="34" charset="-122"/>
                <a:cs typeface="Calibri" pitchFamily="34" charset="-120"/>
              </a:rPr>
              <a:t>You understand the need, make the calls, write the norms, and open the doors.</a:t>
            </a:r>
            <a:endParaRPr lang="en-US" sz="1450" dirty="0"/>
          </a:p>
        </p:txBody>
      </p:sp>
      <p:sp>
        <p:nvSpPr>
          <p:cNvPr id="25" name="Text 19"/>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26" name="Text 20"/>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SHIFT WE'RE AFTER</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Contributor vs. Founder</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2103120"/>
                <a:gridCol w="4206240"/>
                <a:gridCol w="4754880"/>
              </a:tblGrid>
              <a:tr h="566928">
                <a:tc>
                  <a:txBody>
                    <a:bodyPr/>
                    <a:lstStyle/>
                    <a:p>
                      <a:pPr indent="0" marL="0">
                        <a:buNone/>
                      </a:pPr>
                      <a:endParaRPr lang="en-US" sz="1200" dirty="0"/>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CONTRIBUTOR</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F7284"/>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FOUNDER  ·  YOU, THIS COURSE</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r>
              <a:tr h="566928">
                <a:tc>
                  <a:txBody>
                    <a:bodyPr/>
                    <a:lstStyle/>
                    <a:p>
                      <a:pPr indent="0" marL="0">
                        <a:buNone/>
                      </a:pPr>
                      <a:r>
                        <a:rPr lang="en-US" sz="1500" b="1" dirty="0">
                          <a:solidFill>
                            <a:srgbClr val="0E6E6D"/>
                          </a:solidFill>
                          <a:latin typeface="Calibri" pitchFamily="34" charset="0"/>
                          <a:ea typeface="Calibri" pitchFamily="34" charset="-122"/>
                          <a:cs typeface="Calibri" pitchFamily="34" charset="-120"/>
                        </a:rPr>
                        <a:t>The problem</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dirty="0">
                          <a:solidFill>
                            <a:srgbClr val="5F7284"/>
                          </a:solidFill>
                          <a:latin typeface="Calibri" pitchFamily="34" charset="0"/>
                          <a:ea typeface="Calibri" pitchFamily="34" charset="-122"/>
                          <a:cs typeface="Calibri" pitchFamily="34" charset="-120"/>
                        </a:rPr>
                        <a:t>Picks up an existing issue</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Find and prove a problem worth solving</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E6E6D"/>
                          </a:solidFill>
                          <a:latin typeface="Calibri" pitchFamily="34" charset="0"/>
                          <a:ea typeface="Calibri" pitchFamily="34" charset="-122"/>
                          <a:cs typeface="Calibri" pitchFamily="34" charset="-120"/>
                        </a:rPr>
                        <a:t>The users</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450" dirty="0">
                          <a:solidFill>
                            <a:srgbClr val="5F7284"/>
                          </a:solidFill>
                          <a:latin typeface="Calibri" pitchFamily="34" charset="0"/>
                          <a:ea typeface="Calibri" pitchFamily="34" charset="-122"/>
                          <a:cs typeface="Calibri" pitchFamily="34" charset="-120"/>
                        </a:rPr>
                        <a:t>Already known to the maintainers</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You discover who they are &amp; what they need</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r>
              <a:tr h="566928">
                <a:tc>
                  <a:txBody>
                    <a:bodyPr/>
                    <a:lstStyle/>
                    <a:p>
                      <a:pPr indent="0" marL="0">
                        <a:buNone/>
                      </a:pPr>
                      <a:r>
                        <a:rPr lang="en-US" sz="1500" b="1" dirty="0">
                          <a:solidFill>
                            <a:srgbClr val="0E6E6D"/>
                          </a:solidFill>
                          <a:latin typeface="Calibri" pitchFamily="34" charset="0"/>
                          <a:ea typeface="Calibri" pitchFamily="34" charset="-122"/>
                          <a:cs typeface="Calibri" pitchFamily="34" charset="-120"/>
                        </a:rPr>
                        <a:t>Decisions</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dirty="0">
                          <a:solidFill>
                            <a:srgbClr val="5F7284"/>
                          </a:solidFill>
                          <a:latin typeface="Calibri" pitchFamily="34" charset="0"/>
                          <a:ea typeface="Calibri" pitchFamily="34" charset="-122"/>
                          <a:cs typeface="Calibri" pitchFamily="34" charset="-120"/>
                        </a:rPr>
                        <a:t>Work within maintainers' direction</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Make and defend architecture, scope, tech</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E6E6D"/>
                          </a:solidFill>
                          <a:latin typeface="Calibri" pitchFamily="34" charset="0"/>
                          <a:ea typeface="Calibri" pitchFamily="34" charset="-122"/>
                          <a:cs typeface="Calibri" pitchFamily="34" charset="-120"/>
                        </a:rPr>
                        <a:t>The rules</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450" dirty="0">
                          <a:solidFill>
                            <a:srgbClr val="5F7284"/>
                          </a:solidFill>
                          <a:latin typeface="Calibri" pitchFamily="34" charset="0"/>
                          <a:ea typeface="Calibri" pitchFamily="34" charset="-122"/>
                          <a:cs typeface="Calibri" pitchFamily="34" charset="-120"/>
                        </a:rPr>
                        <a:t>Learn and follow the norms</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Write the norms (license, CONTRIBUTING, CoC)</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r>
              <a:tr h="566928">
                <a:tc>
                  <a:txBody>
                    <a:bodyPr/>
                    <a:lstStyle/>
                    <a:p>
                      <a:pPr indent="0" marL="0">
                        <a:buNone/>
                      </a:pPr>
                      <a:r>
                        <a:rPr lang="en-US" sz="1500" b="1" dirty="0">
                          <a:solidFill>
                            <a:srgbClr val="0E6E6D"/>
                          </a:solidFill>
                          <a:latin typeface="Calibri" pitchFamily="34" charset="0"/>
                          <a:ea typeface="Calibri" pitchFamily="34" charset="-122"/>
                          <a:cs typeface="Calibri" pitchFamily="34" charset="-120"/>
                        </a:rPr>
                        <a:t>Future contributors</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dirty="0">
                          <a:solidFill>
                            <a:srgbClr val="5F7284"/>
                          </a:solidFill>
                          <a:latin typeface="Calibri" pitchFamily="34" charset="0"/>
                          <a:ea typeface="Calibri" pitchFamily="34" charset="-122"/>
                          <a:cs typeface="Calibri" pitchFamily="34" charset="-120"/>
                        </a:rPr>
                        <a:t>The newcomer being welcomed</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Build the on-ramps that welcome newcomers</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E6E6D"/>
                          </a:solidFill>
                          <a:latin typeface="Calibri" pitchFamily="34" charset="0"/>
                          <a:ea typeface="Calibri" pitchFamily="34" charset="-122"/>
                          <a:cs typeface="Calibri" pitchFamily="34" charset="-120"/>
                        </a:rPr>
                        <a:t>Success looks like</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450" dirty="0">
                          <a:solidFill>
                            <a:srgbClr val="5F7284"/>
                          </a:solidFill>
                          <a:latin typeface="Calibri" pitchFamily="34" charset="0"/>
                          <a:ea typeface="Calibri" pitchFamily="34" charset="-122"/>
                          <a:cs typeface="Calibri" pitchFamily="34" charset="-120"/>
                        </a:rPr>
                        <a:t>A merged pull request</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A launched project people want to help build</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r>
            </a:tbl>
          </a:graphicData>
        </a:graphic>
      </p:graphicFrame>
      <p:sp>
        <p:nvSpPr>
          <p:cNvPr id="6" name="Text 3"/>
          <p:cNvSpPr/>
          <p:nvPr/>
        </p:nvSpPr>
        <p:spPr>
          <a:xfrm>
            <a:off x="548640" y="6126480"/>
            <a:ext cx="11064240" cy="320040"/>
          </a:xfrm>
          <a:prstGeom prst="rect">
            <a:avLst/>
          </a:prstGeom>
          <a:noFill/>
          <a:ln/>
        </p:spPr>
        <p:txBody>
          <a:bodyPr wrap="square" lIns="0" tIns="0" rIns="0" bIns="0" rtlCol="0" anchor="ctr"/>
          <a:lstStyle/>
          <a:p>
            <a:pPr algn="ctr" indent="0" marL="0">
              <a:buNone/>
            </a:pPr>
            <a:r>
              <a:rPr lang="en-US" sz="1400" i="1" dirty="0">
                <a:solidFill>
                  <a:srgbClr val="5F7284"/>
                </a:solidFill>
                <a:latin typeface="Calibri" pitchFamily="34" charset="0"/>
                <a:ea typeface="Calibri" pitchFamily="34" charset="-122"/>
                <a:cs typeface="Calibri" pitchFamily="34" charset="-120"/>
              </a:rPr>
              <a:t>Don't disparage the contributor role — it's valuable. Founding just demands an extra set of muscles.</a:t>
            </a:r>
            <a:endParaRPr lang="en-US" sz="1400" dirty="0"/>
          </a:p>
        </p:txBody>
      </p:sp>
      <p:sp>
        <p:nvSpPr>
          <p:cNvPr id="7" name="Text 4"/>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8" name="Text 5"/>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WHERE WE'RE HEADED</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The culminating experience</a:t>
            </a:r>
            <a:endParaRPr lang="en-US" sz="3000" dirty="0"/>
          </a:p>
        </p:txBody>
      </p:sp>
      <p:sp>
        <p:nvSpPr>
          <p:cNvPr id="5" name="Shape 3"/>
          <p:cNvSpPr/>
          <p:nvPr/>
        </p:nvSpPr>
        <p:spPr>
          <a:xfrm>
            <a:off x="548640" y="1874520"/>
            <a:ext cx="2670048"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1563624" y="2121408"/>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736446" y="2294230"/>
            <a:ext cx="294437" cy="294437"/>
          </a:xfrm>
          <a:prstGeom prst="rect">
            <a:avLst/>
          </a:prstGeom>
        </p:spPr>
      </p:pic>
      <p:sp>
        <p:nvSpPr>
          <p:cNvPr id="8" name="Text 5"/>
          <p:cNvSpPr/>
          <p:nvPr/>
        </p:nvSpPr>
        <p:spPr>
          <a:xfrm>
            <a:off x="694944" y="2880360"/>
            <a:ext cx="2377440" cy="548640"/>
          </a:xfrm>
          <a:prstGeom prst="rect">
            <a:avLst/>
          </a:prstGeom>
          <a:noFill/>
          <a:ln/>
        </p:spPr>
        <p:txBody>
          <a:bodyPr wrap="square" lIns="0" tIns="0" rIns="0" bIns="0" rtlCol="0" anchor="ctr"/>
          <a:lstStyle/>
          <a:p>
            <a:pPr algn="ctr" indent="0" marL="0">
              <a:buNone/>
            </a:pPr>
            <a:r>
              <a:rPr lang="en-US" sz="1700" b="1" dirty="0">
                <a:solidFill>
                  <a:srgbClr val="1E2A36"/>
                </a:solidFill>
                <a:latin typeface="Calibri" pitchFamily="34" charset="0"/>
                <a:ea typeface="Calibri" pitchFamily="34" charset="-122"/>
                <a:cs typeface="Calibri" pitchFamily="34" charset="-120"/>
              </a:rPr>
              <a:t>Working MVP</a:t>
            </a:r>
            <a:endParaRPr lang="en-US" sz="1700" dirty="0"/>
          </a:p>
        </p:txBody>
      </p:sp>
      <p:sp>
        <p:nvSpPr>
          <p:cNvPr id="9" name="Text 6"/>
          <p:cNvSpPr/>
          <p:nvPr/>
        </p:nvSpPr>
        <p:spPr>
          <a:xfrm>
            <a:off x="713232" y="3429000"/>
            <a:ext cx="2340864" cy="685800"/>
          </a:xfrm>
          <a:prstGeom prst="rect">
            <a:avLst/>
          </a:prstGeom>
          <a:noFill/>
          <a:ln/>
        </p:spPr>
        <p:txBody>
          <a:bodyPr wrap="square" lIns="0" tIns="0" rIns="0" bIns="0" rtlCol="0" anchor="ctr"/>
          <a:lstStyle/>
          <a:p>
            <a:pPr algn="ctr" indent="0" marL="0">
              <a:buNone/>
            </a:pPr>
            <a:r>
              <a:rPr lang="en-US" sz="1400" dirty="0">
                <a:solidFill>
                  <a:srgbClr val="5F7284"/>
                </a:solidFill>
                <a:latin typeface="Calibri" pitchFamily="34" charset="0"/>
                <a:ea typeface="Calibri" pitchFamily="34" charset="-122"/>
                <a:cs typeface="Calibri" pitchFamily="34" charset="-120"/>
              </a:rPr>
              <a:t>A vertical slice that proves the project's core viability.</a:t>
            </a:r>
            <a:endParaRPr lang="en-US" sz="1400" dirty="0"/>
          </a:p>
        </p:txBody>
      </p:sp>
      <p:sp>
        <p:nvSpPr>
          <p:cNvPr id="10" name="Shape 7"/>
          <p:cNvSpPr/>
          <p:nvPr/>
        </p:nvSpPr>
        <p:spPr>
          <a:xfrm>
            <a:off x="3346704" y="1874520"/>
            <a:ext cx="2670048"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361688" y="2121408"/>
            <a:ext cx="640080" cy="64008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534510" y="2294230"/>
            <a:ext cx="294437" cy="294437"/>
          </a:xfrm>
          <a:prstGeom prst="rect">
            <a:avLst/>
          </a:prstGeom>
        </p:spPr>
      </p:pic>
      <p:sp>
        <p:nvSpPr>
          <p:cNvPr id="13" name="Text 9"/>
          <p:cNvSpPr/>
          <p:nvPr/>
        </p:nvSpPr>
        <p:spPr>
          <a:xfrm>
            <a:off x="3493008" y="2880360"/>
            <a:ext cx="2377440" cy="548640"/>
          </a:xfrm>
          <a:prstGeom prst="rect">
            <a:avLst/>
          </a:prstGeom>
          <a:noFill/>
          <a:ln/>
        </p:spPr>
        <p:txBody>
          <a:bodyPr wrap="square" lIns="0" tIns="0" rIns="0" bIns="0" rtlCol="0" anchor="ctr"/>
          <a:lstStyle/>
          <a:p>
            <a:pPr algn="ctr" indent="0" marL="0">
              <a:buNone/>
            </a:pPr>
            <a:r>
              <a:rPr lang="en-US" sz="1700" b="1" dirty="0">
                <a:solidFill>
                  <a:srgbClr val="1E2A36"/>
                </a:solidFill>
                <a:latin typeface="Calibri" pitchFamily="34" charset="0"/>
                <a:ea typeface="Calibri" pitchFamily="34" charset="-122"/>
                <a:cs typeface="Calibri" pitchFamily="34" charset="-120"/>
              </a:rPr>
              <a:t>Open-source-ready repo</a:t>
            </a:r>
            <a:endParaRPr lang="en-US" sz="1700" dirty="0"/>
          </a:p>
        </p:txBody>
      </p:sp>
      <p:sp>
        <p:nvSpPr>
          <p:cNvPr id="14" name="Text 10"/>
          <p:cNvSpPr/>
          <p:nvPr/>
        </p:nvSpPr>
        <p:spPr>
          <a:xfrm>
            <a:off x="3511296" y="3429000"/>
            <a:ext cx="2340864" cy="685800"/>
          </a:xfrm>
          <a:prstGeom prst="rect">
            <a:avLst/>
          </a:prstGeom>
          <a:noFill/>
          <a:ln/>
        </p:spPr>
        <p:txBody>
          <a:bodyPr wrap="square" lIns="0" tIns="0" rIns="0" bIns="0" rtlCol="0" anchor="ctr"/>
          <a:lstStyle/>
          <a:p>
            <a:pPr algn="ctr" indent="0" marL="0">
              <a:buNone/>
            </a:pPr>
            <a:r>
              <a:rPr lang="en-US" sz="1400" dirty="0">
                <a:solidFill>
                  <a:srgbClr val="5F7284"/>
                </a:solidFill>
                <a:latin typeface="Calibri" pitchFamily="34" charset="0"/>
                <a:ea typeface="Calibri" pitchFamily="34" charset="-122"/>
                <a:cs typeface="Calibri" pitchFamily="34" charset="-120"/>
              </a:rPr>
              <a:t>License, governance, onboarding — ready for contributors.</a:t>
            </a:r>
            <a:endParaRPr lang="en-US" sz="1400" dirty="0"/>
          </a:p>
        </p:txBody>
      </p:sp>
      <p:sp>
        <p:nvSpPr>
          <p:cNvPr id="15" name="Shape 11"/>
          <p:cNvSpPr/>
          <p:nvPr/>
        </p:nvSpPr>
        <p:spPr>
          <a:xfrm>
            <a:off x="6144768" y="1874520"/>
            <a:ext cx="2670048"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7159752" y="2121408"/>
            <a:ext cx="640080" cy="64008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7332574" y="2294230"/>
            <a:ext cx="294437" cy="294437"/>
          </a:xfrm>
          <a:prstGeom prst="rect">
            <a:avLst/>
          </a:prstGeom>
        </p:spPr>
      </p:pic>
      <p:sp>
        <p:nvSpPr>
          <p:cNvPr id="18" name="Text 13"/>
          <p:cNvSpPr/>
          <p:nvPr/>
        </p:nvSpPr>
        <p:spPr>
          <a:xfrm>
            <a:off x="6291072" y="2880360"/>
            <a:ext cx="2377440" cy="548640"/>
          </a:xfrm>
          <a:prstGeom prst="rect">
            <a:avLst/>
          </a:prstGeom>
          <a:noFill/>
          <a:ln/>
        </p:spPr>
        <p:txBody>
          <a:bodyPr wrap="square" lIns="0" tIns="0" rIns="0" bIns="0" rtlCol="0" anchor="ctr"/>
          <a:lstStyle/>
          <a:p>
            <a:pPr algn="ctr" indent="0" marL="0">
              <a:buNone/>
            </a:pPr>
            <a:r>
              <a:rPr lang="en-US" sz="1700" b="1" dirty="0">
                <a:solidFill>
                  <a:srgbClr val="1E2A36"/>
                </a:solidFill>
                <a:latin typeface="Calibri" pitchFamily="34" charset="0"/>
                <a:ea typeface="Calibri" pitchFamily="34" charset="-122"/>
                <a:cs typeface="Calibri" pitchFamily="34" charset="-120"/>
              </a:rPr>
              <a:t>Launch &amp; Onboarding Package</a:t>
            </a:r>
            <a:endParaRPr lang="en-US" sz="1700" dirty="0"/>
          </a:p>
        </p:txBody>
      </p:sp>
      <p:sp>
        <p:nvSpPr>
          <p:cNvPr id="19" name="Text 14"/>
          <p:cNvSpPr/>
          <p:nvPr/>
        </p:nvSpPr>
        <p:spPr>
          <a:xfrm>
            <a:off x="6309360" y="3429000"/>
            <a:ext cx="2340864" cy="685800"/>
          </a:xfrm>
          <a:prstGeom prst="rect">
            <a:avLst/>
          </a:prstGeom>
          <a:noFill/>
          <a:ln/>
        </p:spPr>
        <p:txBody>
          <a:bodyPr wrap="square" lIns="0" tIns="0" rIns="0" bIns="0" rtlCol="0" anchor="ctr"/>
          <a:lstStyle/>
          <a:p>
            <a:pPr algn="ctr" indent="0" marL="0">
              <a:buNone/>
            </a:pPr>
            <a:r>
              <a:rPr lang="en-US" sz="1400" dirty="0">
                <a:solidFill>
                  <a:srgbClr val="5F7284"/>
                </a:solidFill>
                <a:latin typeface="Calibri" pitchFamily="34" charset="0"/>
                <a:ea typeface="Calibri" pitchFamily="34" charset="-122"/>
                <a:cs typeface="Calibri" pitchFamily="34" charset="-120"/>
              </a:rPr>
              <a:t>Roadmap, known issues, architecture — so others can join.</a:t>
            </a:r>
            <a:endParaRPr lang="en-US" sz="1400" dirty="0"/>
          </a:p>
        </p:txBody>
      </p:sp>
      <p:sp>
        <p:nvSpPr>
          <p:cNvPr id="20" name="Shape 15"/>
          <p:cNvSpPr/>
          <p:nvPr/>
        </p:nvSpPr>
        <p:spPr>
          <a:xfrm>
            <a:off x="8942832" y="1874520"/>
            <a:ext cx="2670048"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9957816" y="2121408"/>
            <a:ext cx="640080" cy="640080"/>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10130638" y="2294230"/>
            <a:ext cx="294437" cy="294437"/>
          </a:xfrm>
          <a:prstGeom prst="rect">
            <a:avLst/>
          </a:prstGeom>
        </p:spPr>
      </p:pic>
      <p:sp>
        <p:nvSpPr>
          <p:cNvPr id="23" name="Text 17"/>
          <p:cNvSpPr/>
          <p:nvPr/>
        </p:nvSpPr>
        <p:spPr>
          <a:xfrm>
            <a:off x="9089136" y="2880360"/>
            <a:ext cx="2377440" cy="548640"/>
          </a:xfrm>
          <a:prstGeom prst="rect">
            <a:avLst/>
          </a:prstGeom>
          <a:noFill/>
          <a:ln/>
        </p:spPr>
        <p:txBody>
          <a:bodyPr wrap="square" lIns="0" tIns="0" rIns="0" bIns="0" rtlCol="0" anchor="ctr"/>
          <a:lstStyle/>
          <a:p>
            <a:pPr algn="ctr" indent="0" marL="0">
              <a:buNone/>
            </a:pPr>
            <a:r>
              <a:rPr lang="en-US" sz="1700" b="1" dirty="0">
                <a:solidFill>
                  <a:srgbClr val="1E2A36"/>
                </a:solidFill>
                <a:latin typeface="Calibri" pitchFamily="34" charset="0"/>
                <a:ea typeface="Calibri" pitchFamily="34" charset="-122"/>
                <a:cs typeface="Calibri" pitchFamily="34" charset="-120"/>
              </a:rPr>
              <a:t>Final pitch + demo</a:t>
            </a:r>
            <a:endParaRPr lang="en-US" sz="1700" dirty="0"/>
          </a:p>
        </p:txBody>
      </p:sp>
      <p:sp>
        <p:nvSpPr>
          <p:cNvPr id="24" name="Text 18"/>
          <p:cNvSpPr/>
          <p:nvPr/>
        </p:nvSpPr>
        <p:spPr>
          <a:xfrm>
            <a:off x="9107424" y="3429000"/>
            <a:ext cx="2340864" cy="685800"/>
          </a:xfrm>
          <a:prstGeom prst="rect">
            <a:avLst/>
          </a:prstGeom>
          <a:noFill/>
          <a:ln/>
        </p:spPr>
        <p:txBody>
          <a:bodyPr wrap="square" lIns="0" tIns="0" rIns="0" bIns="0" rtlCol="0" anchor="ctr"/>
          <a:lstStyle/>
          <a:p>
            <a:pPr algn="ctr" indent="0" marL="0">
              <a:buNone/>
            </a:pPr>
            <a:r>
              <a:rPr lang="en-US" sz="1400" dirty="0">
                <a:solidFill>
                  <a:srgbClr val="5F7284"/>
                </a:solidFill>
                <a:latin typeface="Calibri" pitchFamily="34" charset="0"/>
                <a:ea typeface="Calibri" pitchFamily="34" charset="-122"/>
                <a:cs typeface="Calibri" pitchFamily="34" charset="-120"/>
              </a:rPr>
              <a:t>Public demo day — capstone faculty invited.</a:t>
            </a:r>
            <a:endParaRPr lang="en-US" sz="1400" dirty="0"/>
          </a:p>
        </p:txBody>
      </p:sp>
      <p:sp>
        <p:nvSpPr>
          <p:cNvPr id="25" name="Shape 19"/>
          <p:cNvSpPr/>
          <p:nvPr/>
        </p:nvSpPr>
        <p:spPr>
          <a:xfrm>
            <a:off x="548640" y="4526280"/>
            <a:ext cx="11064240" cy="868680"/>
          </a:xfrm>
          <a:prstGeom prst="roundRect">
            <a:avLst>
              <a:gd name="adj" fmla="val 9474"/>
            </a:avLst>
          </a:prstGeom>
          <a:solidFill>
            <a:srgbClr val="14233A"/>
          </a:solidFill>
          <a:ln/>
          <a:effectLst>
            <a:outerShdw sx="100000" sy="100000" kx="0" ky="0" algn="bl" rotWithShape="0" blurRad="88900" dist="38100" dir="5400000">
              <a:srgbClr val="000000">
                <a:alpha val="13000"/>
              </a:srgbClr>
            </a:outerShdw>
          </a:effectLst>
        </p:spPr>
      </p:sp>
      <p:sp>
        <p:nvSpPr>
          <p:cNvPr id="26" name="Text 20"/>
          <p:cNvSpPr/>
          <p:nvPr/>
        </p:nvSpPr>
        <p:spPr>
          <a:xfrm>
            <a:off x="822960" y="4526280"/>
            <a:ext cx="10515600" cy="86868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What distinguishes a passing student is not strong code alone — but a </a:t>
            </a:r>
            <a:pPr algn="ctr" indent="0" marL="0">
              <a:buNone/>
            </a:pPr>
            <a:r>
              <a:rPr lang="en-US" sz="1800" b="1" dirty="0">
                <a:solidFill>
                  <a:srgbClr val="E8A33D"/>
                </a:solidFill>
                <a:latin typeface="Calibri" pitchFamily="34" charset="0"/>
                <a:ea typeface="Calibri" pitchFamily="34" charset="-122"/>
                <a:cs typeface="Calibri" pitchFamily="34" charset="-120"/>
              </a:rPr>
              <a:t>founded, defensible, contributor-ready project.</a:t>
            </a:r>
            <a:endParaRPr lang="en-US" sz="1800" dirty="0"/>
          </a:p>
        </p:txBody>
      </p:sp>
      <p:sp>
        <p:nvSpPr>
          <p:cNvPr id="27" name="Text 21"/>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28" name="Text 22"/>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ROADMAP</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From today to Demo Day</a:t>
            </a:r>
            <a:endParaRPr lang="en-US" sz="3000" dirty="0"/>
          </a:p>
        </p:txBody>
      </p:sp>
      <p:sp>
        <p:nvSpPr>
          <p:cNvPr id="5" name="Text 3"/>
          <p:cNvSpPr/>
          <p:nvPr/>
        </p:nvSpPr>
        <p:spPr>
          <a:xfrm>
            <a:off x="548640" y="1463040"/>
            <a:ext cx="11064240" cy="320040"/>
          </a:xfrm>
          <a:prstGeom prst="rect">
            <a:avLst/>
          </a:prstGeom>
          <a:noFill/>
          <a:ln/>
        </p:spPr>
        <p:txBody>
          <a:bodyPr wrap="square" lIns="0" tIns="0" rIns="0" bIns="0" rtlCol="0" anchor="ctr"/>
          <a:lstStyle/>
          <a:p>
            <a:pPr indent="0" marL="0">
              <a:buNone/>
            </a:pPr>
            <a:r>
              <a:rPr lang="en-US" sz="1600" i="1" dirty="0">
                <a:solidFill>
                  <a:srgbClr val="5F7284"/>
                </a:solidFill>
                <a:latin typeface="Calibri" pitchFamily="34" charset="0"/>
                <a:ea typeface="Calibri" pitchFamily="34" charset="-122"/>
                <a:cs typeface="Calibri" pitchFamily="34" charset="-120"/>
              </a:rPr>
              <a:t>Every assignment is a step toward one public demo.</a:t>
            </a:r>
            <a:endParaRPr lang="en-US" sz="1600" dirty="0"/>
          </a:p>
        </p:txBody>
      </p:sp>
      <p:sp>
        <p:nvSpPr>
          <p:cNvPr id="6" name="Shape 4"/>
          <p:cNvSpPr/>
          <p:nvPr/>
        </p:nvSpPr>
        <p:spPr>
          <a:xfrm>
            <a:off x="1371600" y="3383280"/>
            <a:ext cx="9966960" cy="0"/>
          </a:xfrm>
          <a:prstGeom prst="line">
            <a:avLst/>
          </a:prstGeom>
          <a:noFill/>
          <a:ln w="31750">
            <a:solidFill>
              <a:srgbClr val="12908F"/>
            </a:solidFill>
            <a:prstDash val="solid"/>
          </a:ln>
        </p:spPr>
      </p:sp>
      <p:sp>
        <p:nvSpPr>
          <p:cNvPr id="7" name="Shape 5"/>
          <p:cNvSpPr/>
          <p:nvPr/>
        </p:nvSpPr>
        <p:spPr>
          <a:xfrm>
            <a:off x="1216152" y="3227832"/>
            <a:ext cx="310896" cy="310896"/>
          </a:xfrm>
          <a:prstGeom prst="ellipse">
            <a:avLst/>
          </a:prstGeom>
          <a:solidFill>
            <a:srgbClr val="12908F"/>
          </a:solidFill>
          <a:ln w="25400">
            <a:solidFill>
              <a:srgbClr val="FFFFFF"/>
            </a:solidFill>
            <a:prstDash val="solid"/>
          </a:ln>
        </p:spPr>
      </p:sp>
      <p:sp>
        <p:nvSpPr>
          <p:cNvPr id="8" name="Text 6"/>
          <p:cNvSpPr/>
          <p:nvPr/>
        </p:nvSpPr>
        <p:spPr>
          <a:xfrm>
            <a:off x="411480" y="2331720"/>
            <a:ext cx="1920240" cy="548640"/>
          </a:xfrm>
          <a:prstGeom prst="rect">
            <a:avLst/>
          </a:prstGeom>
          <a:noFill/>
          <a:ln/>
        </p:spPr>
        <p:txBody>
          <a:bodyPr wrap="square" lIns="0" tIns="0" rIns="0" bIns="0" rtlCol="0" anchor="b"/>
          <a:lstStyle/>
          <a:p>
            <a:pPr algn="ctr" indent="0" marL="0">
              <a:buNone/>
            </a:pPr>
            <a:r>
              <a:rPr lang="en-US" sz="1700" b="1" dirty="0">
                <a:solidFill>
                  <a:srgbClr val="0E6E6D"/>
                </a:solidFill>
                <a:latin typeface="Calibri" pitchFamily="34" charset="0"/>
                <a:ea typeface="Calibri" pitchFamily="34" charset="-122"/>
                <a:cs typeface="Calibri" pitchFamily="34" charset="-120"/>
              </a:rPr>
              <a:t>Sep 2</a:t>
            </a:r>
            <a:endParaRPr lang="en-US" sz="1700" dirty="0"/>
          </a:p>
        </p:txBody>
      </p:sp>
      <p:sp>
        <p:nvSpPr>
          <p:cNvPr id="9" name="Text 7"/>
          <p:cNvSpPr/>
          <p:nvPr/>
        </p:nvSpPr>
        <p:spPr>
          <a:xfrm>
            <a:off x="411480" y="3703320"/>
            <a:ext cx="1920240" cy="822960"/>
          </a:xfrm>
          <a:prstGeom prst="rect">
            <a:avLst/>
          </a:prstGeom>
          <a:noFill/>
          <a:ln/>
        </p:spPr>
        <p:txBody>
          <a:bodyPr wrap="square" lIns="0" tIns="0" rIns="0" bIns="0" rtlCol="0" anchor="t"/>
          <a:lstStyle/>
          <a:p>
            <a:pPr algn="ctr" indent="0" marL="0">
              <a:lnSpc>
                <a:spcPct val="100000"/>
              </a:lnSpc>
              <a:buNone/>
            </a:pPr>
            <a:r>
              <a:rPr lang="en-US" sz="1450" dirty="0">
                <a:solidFill>
                  <a:srgbClr val="1E2A36"/>
                </a:solidFill>
                <a:latin typeface="Calibri" pitchFamily="34" charset="0"/>
                <a:ea typeface="Calibri" pitchFamily="34" charset="-122"/>
                <a:cs typeface="Calibri" pitchFamily="34" charset="-120"/>
              </a:rPr>
              <a:t>Kickoff</a:t>
            </a:r>
            <a:endParaRPr lang="en-US" sz="1450" dirty="0"/>
          </a:p>
        </p:txBody>
      </p:sp>
      <p:sp>
        <p:nvSpPr>
          <p:cNvPr id="10" name="Shape 8"/>
          <p:cNvSpPr/>
          <p:nvPr/>
        </p:nvSpPr>
        <p:spPr>
          <a:xfrm>
            <a:off x="3209544" y="3227832"/>
            <a:ext cx="310896" cy="310896"/>
          </a:xfrm>
          <a:prstGeom prst="ellipse">
            <a:avLst/>
          </a:prstGeom>
          <a:solidFill>
            <a:srgbClr val="12908F"/>
          </a:solidFill>
          <a:ln w="25400">
            <a:solidFill>
              <a:srgbClr val="FFFFFF"/>
            </a:solidFill>
            <a:prstDash val="solid"/>
          </a:ln>
        </p:spPr>
      </p:sp>
      <p:sp>
        <p:nvSpPr>
          <p:cNvPr id="11" name="Text 9"/>
          <p:cNvSpPr/>
          <p:nvPr/>
        </p:nvSpPr>
        <p:spPr>
          <a:xfrm>
            <a:off x="2404872" y="2331720"/>
            <a:ext cx="1920240" cy="548640"/>
          </a:xfrm>
          <a:prstGeom prst="rect">
            <a:avLst/>
          </a:prstGeom>
          <a:noFill/>
          <a:ln/>
        </p:spPr>
        <p:txBody>
          <a:bodyPr wrap="square" lIns="0" tIns="0" rIns="0" bIns="0" rtlCol="0" anchor="b"/>
          <a:lstStyle/>
          <a:p>
            <a:pPr algn="ctr" indent="0" marL="0">
              <a:buNone/>
            </a:pPr>
            <a:r>
              <a:rPr lang="en-US" sz="1700" b="1" dirty="0">
                <a:solidFill>
                  <a:srgbClr val="0E6E6D"/>
                </a:solidFill>
                <a:latin typeface="Calibri" pitchFamily="34" charset="0"/>
                <a:ea typeface="Calibri" pitchFamily="34" charset="-122"/>
                <a:cs typeface="Calibri" pitchFamily="34" charset="-120"/>
              </a:rPr>
              <a:t>Wks 1–3</a:t>
            </a:r>
            <a:endParaRPr lang="en-US" sz="1700" dirty="0"/>
          </a:p>
        </p:txBody>
      </p:sp>
      <p:sp>
        <p:nvSpPr>
          <p:cNvPr id="12" name="Text 10"/>
          <p:cNvSpPr/>
          <p:nvPr/>
        </p:nvSpPr>
        <p:spPr>
          <a:xfrm>
            <a:off x="2404872" y="3703320"/>
            <a:ext cx="1920240" cy="822960"/>
          </a:xfrm>
          <a:prstGeom prst="rect">
            <a:avLst/>
          </a:prstGeom>
          <a:noFill/>
          <a:ln/>
        </p:spPr>
        <p:txBody>
          <a:bodyPr wrap="square" lIns="0" tIns="0" rIns="0" bIns="0" rtlCol="0" anchor="t"/>
          <a:lstStyle/>
          <a:p>
            <a:pPr algn="ctr" indent="0" marL="0">
              <a:lnSpc>
                <a:spcPct val="100000"/>
              </a:lnSpc>
              <a:buNone/>
            </a:pPr>
            <a:r>
              <a:rPr lang="en-US" sz="1450" dirty="0">
                <a:solidFill>
                  <a:srgbClr val="1E2A36"/>
                </a:solidFill>
                <a:latin typeface="Calibri" pitchFamily="34" charset="0"/>
                <a:ea typeface="Calibri" pitchFamily="34" charset="-122"/>
                <a:cs typeface="Calibri" pitchFamily="34" charset="-120"/>
              </a:rPr>
              <a:t>Discover — Idea Briefs</a:t>
            </a:r>
            <a:endParaRPr lang="en-US" sz="1450" dirty="0"/>
          </a:p>
        </p:txBody>
      </p:sp>
      <p:sp>
        <p:nvSpPr>
          <p:cNvPr id="13" name="Shape 11"/>
          <p:cNvSpPr/>
          <p:nvPr/>
        </p:nvSpPr>
        <p:spPr>
          <a:xfrm>
            <a:off x="5202936" y="3227832"/>
            <a:ext cx="310896" cy="310896"/>
          </a:xfrm>
          <a:prstGeom prst="ellipse">
            <a:avLst/>
          </a:prstGeom>
          <a:solidFill>
            <a:srgbClr val="12908F"/>
          </a:solidFill>
          <a:ln w="25400">
            <a:solidFill>
              <a:srgbClr val="FFFFFF"/>
            </a:solidFill>
            <a:prstDash val="solid"/>
          </a:ln>
        </p:spPr>
      </p:sp>
      <p:sp>
        <p:nvSpPr>
          <p:cNvPr id="14" name="Text 12"/>
          <p:cNvSpPr/>
          <p:nvPr/>
        </p:nvSpPr>
        <p:spPr>
          <a:xfrm>
            <a:off x="4398264" y="2331720"/>
            <a:ext cx="1920240" cy="548640"/>
          </a:xfrm>
          <a:prstGeom prst="rect">
            <a:avLst/>
          </a:prstGeom>
          <a:noFill/>
          <a:ln/>
        </p:spPr>
        <p:txBody>
          <a:bodyPr wrap="square" lIns="0" tIns="0" rIns="0" bIns="0" rtlCol="0" anchor="b"/>
          <a:lstStyle/>
          <a:p>
            <a:pPr algn="ctr" indent="0" marL="0">
              <a:buNone/>
            </a:pPr>
            <a:r>
              <a:rPr lang="en-US" sz="1700" b="1" dirty="0">
                <a:solidFill>
                  <a:srgbClr val="0E6E6D"/>
                </a:solidFill>
                <a:latin typeface="Calibri" pitchFamily="34" charset="0"/>
                <a:ea typeface="Calibri" pitchFamily="34" charset="-122"/>
                <a:cs typeface="Calibri" pitchFamily="34" charset="-120"/>
              </a:rPr>
              <a:t>Week 5</a:t>
            </a:r>
            <a:endParaRPr lang="en-US" sz="1700" dirty="0"/>
          </a:p>
        </p:txBody>
      </p:sp>
      <p:sp>
        <p:nvSpPr>
          <p:cNvPr id="15" name="Text 13"/>
          <p:cNvSpPr/>
          <p:nvPr/>
        </p:nvSpPr>
        <p:spPr>
          <a:xfrm>
            <a:off x="4398264" y="3703320"/>
            <a:ext cx="1920240" cy="822960"/>
          </a:xfrm>
          <a:prstGeom prst="rect">
            <a:avLst/>
          </a:prstGeom>
          <a:noFill/>
          <a:ln/>
        </p:spPr>
        <p:txBody>
          <a:bodyPr wrap="square" lIns="0" tIns="0" rIns="0" bIns="0" rtlCol="0" anchor="t"/>
          <a:lstStyle/>
          <a:p>
            <a:pPr algn="ctr" indent="0" marL="0">
              <a:lnSpc>
                <a:spcPct val="100000"/>
              </a:lnSpc>
              <a:buNone/>
            </a:pPr>
            <a:r>
              <a:rPr lang="en-US" sz="1450" dirty="0">
                <a:solidFill>
                  <a:srgbClr val="1E2A36"/>
                </a:solidFill>
                <a:latin typeface="Calibri" pitchFamily="34" charset="0"/>
                <a:ea typeface="Calibri" pitchFamily="34" charset="-122"/>
                <a:cs typeface="Calibri" pitchFamily="34" charset="-120"/>
              </a:rPr>
              <a:t>Pitch &amp; form teams</a:t>
            </a:r>
            <a:endParaRPr lang="en-US" sz="1450" dirty="0"/>
          </a:p>
        </p:txBody>
      </p:sp>
      <p:sp>
        <p:nvSpPr>
          <p:cNvPr id="16" name="Shape 14"/>
          <p:cNvSpPr/>
          <p:nvPr/>
        </p:nvSpPr>
        <p:spPr>
          <a:xfrm>
            <a:off x="7196328" y="3227832"/>
            <a:ext cx="310896" cy="310896"/>
          </a:xfrm>
          <a:prstGeom prst="ellipse">
            <a:avLst/>
          </a:prstGeom>
          <a:solidFill>
            <a:srgbClr val="12908F"/>
          </a:solidFill>
          <a:ln w="25400">
            <a:solidFill>
              <a:srgbClr val="FFFFFF"/>
            </a:solidFill>
            <a:prstDash val="solid"/>
          </a:ln>
        </p:spPr>
      </p:sp>
      <p:sp>
        <p:nvSpPr>
          <p:cNvPr id="17" name="Text 15"/>
          <p:cNvSpPr/>
          <p:nvPr/>
        </p:nvSpPr>
        <p:spPr>
          <a:xfrm>
            <a:off x="6391656" y="2331720"/>
            <a:ext cx="1920240" cy="548640"/>
          </a:xfrm>
          <a:prstGeom prst="rect">
            <a:avLst/>
          </a:prstGeom>
          <a:noFill/>
          <a:ln/>
        </p:spPr>
        <p:txBody>
          <a:bodyPr wrap="square" lIns="0" tIns="0" rIns="0" bIns="0" rtlCol="0" anchor="b"/>
          <a:lstStyle/>
          <a:p>
            <a:pPr algn="ctr" indent="0" marL="0">
              <a:buNone/>
            </a:pPr>
            <a:r>
              <a:rPr lang="en-US" sz="1700" b="1" dirty="0">
                <a:solidFill>
                  <a:srgbClr val="0E6E6D"/>
                </a:solidFill>
                <a:latin typeface="Calibri" pitchFamily="34" charset="0"/>
                <a:ea typeface="Calibri" pitchFamily="34" charset="-122"/>
                <a:cs typeface="Calibri" pitchFamily="34" charset="-120"/>
              </a:rPr>
              <a:t>Wks 6–8</a:t>
            </a:r>
            <a:endParaRPr lang="en-US" sz="1700" dirty="0"/>
          </a:p>
        </p:txBody>
      </p:sp>
      <p:sp>
        <p:nvSpPr>
          <p:cNvPr id="18" name="Text 16"/>
          <p:cNvSpPr/>
          <p:nvPr/>
        </p:nvSpPr>
        <p:spPr>
          <a:xfrm>
            <a:off x="6391656" y="3703320"/>
            <a:ext cx="1920240" cy="822960"/>
          </a:xfrm>
          <a:prstGeom prst="rect">
            <a:avLst/>
          </a:prstGeom>
          <a:noFill/>
          <a:ln/>
        </p:spPr>
        <p:txBody>
          <a:bodyPr wrap="square" lIns="0" tIns="0" rIns="0" bIns="0" rtlCol="0" anchor="t"/>
          <a:lstStyle/>
          <a:p>
            <a:pPr algn="ctr" indent="0" marL="0">
              <a:lnSpc>
                <a:spcPct val="100000"/>
              </a:lnSpc>
              <a:buNone/>
            </a:pPr>
            <a:r>
              <a:rPr lang="en-US" sz="1450" dirty="0">
                <a:solidFill>
                  <a:srgbClr val="1E2A36"/>
                </a:solidFill>
                <a:latin typeface="Calibri" pitchFamily="34" charset="0"/>
                <a:ea typeface="Calibri" pitchFamily="34" charset="-122"/>
                <a:cs typeface="Calibri" pitchFamily="34" charset="-120"/>
              </a:rPr>
              <a:t>Design &amp; found the repo</a:t>
            </a:r>
            <a:endParaRPr lang="en-US" sz="1450" dirty="0"/>
          </a:p>
        </p:txBody>
      </p:sp>
      <p:sp>
        <p:nvSpPr>
          <p:cNvPr id="19" name="Shape 17"/>
          <p:cNvSpPr/>
          <p:nvPr/>
        </p:nvSpPr>
        <p:spPr>
          <a:xfrm>
            <a:off x="9189720" y="3227832"/>
            <a:ext cx="310896" cy="310896"/>
          </a:xfrm>
          <a:prstGeom prst="ellipse">
            <a:avLst/>
          </a:prstGeom>
          <a:solidFill>
            <a:srgbClr val="12908F"/>
          </a:solidFill>
          <a:ln w="25400">
            <a:solidFill>
              <a:srgbClr val="FFFFFF"/>
            </a:solidFill>
            <a:prstDash val="solid"/>
          </a:ln>
        </p:spPr>
      </p:sp>
      <p:sp>
        <p:nvSpPr>
          <p:cNvPr id="20" name="Text 18"/>
          <p:cNvSpPr/>
          <p:nvPr/>
        </p:nvSpPr>
        <p:spPr>
          <a:xfrm>
            <a:off x="8385048" y="2331720"/>
            <a:ext cx="1920240" cy="548640"/>
          </a:xfrm>
          <a:prstGeom prst="rect">
            <a:avLst/>
          </a:prstGeom>
          <a:noFill/>
          <a:ln/>
        </p:spPr>
        <p:txBody>
          <a:bodyPr wrap="square" lIns="0" tIns="0" rIns="0" bIns="0" rtlCol="0" anchor="b"/>
          <a:lstStyle/>
          <a:p>
            <a:pPr algn="ctr" indent="0" marL="0">
              <a:buNone/>
            </a:pPr>
            <a:r>
              <a:rPr lang="en-US" sz="1700" b="1" dirty="0">
                <a:solidFill>
                  <a:srgbClr val="0E6E6D"/>
                </a:solidFill>
                <a:latin typeface="Calibri" pitchFamily="34" charset="0"/>
                <a:ea typeface="Calibri" pitchFamily="34" charset="-122"/>
                <a:cs typeface="Calibri" pitchFamily="34" charset="-120"/>
              </a:rPr>
              <a:t>Wks 9–12</a:t>
            </a:r>
            <a:endParaRPr lang="en-US" sz="1700" dirty="0"/>
          </a:p>
        </p:txBody>
      </p:sp>
      <p:sp>
        <p:nvSpPr>
          <p:cNvPr id="21" name="Text 19"/>
          <p:cNvSpPr/>
          <p:nvPr/>
        </p:nvSpPr>
        <p:spPr>
          <a:xfrm>
            <a:off x="8385048" y="3703320"/>
            <a:ext cx="1920240" cy="822960"/>
          </a:xfrm>
          <a:prstGeom prst="rect">
            <a:avLst/>
          </a:prstGeom>
          <a:noFill/>
          <a:ln/>
        </p:spPr>
        <p:txBody>
          <a:bodyPr wrap="square" lIns="0" tIns="0" rIns="0" bIns="0" rtlCol="0" anchor="t"/>
          <a:lstStyle/>
          <a:p>
            <a:pPr algn="ctr" indent="0" marL="0">
              <a:lnSpc>
                <a:spcPct val="100000"/>
              </a:lnSpc>
              <a:buNone/>
            </a:pPr>
            <a:r>
              <a:rPr lang="en-US" sz="1450" dirty="0">
                <a:solidFill>
                  <a:srgbClr val="1E2A36"/>
                </a:solidFill>
                <a:latin typeface="Calibri" pitchFamily="34" charset="0"/>
                <a:ea typeface="Calibri" pitchFamily="34" charset="-122"/>
                <a:cs typeface="Calibri" pitchFamily="34" charset="-120"/>
              </a:rPr>
              <a:t>Build the MVP</a:t>
            </a:r>
            <a:endParaRPr lang="en-US" sz="1450" dirty="0"/>
          </a:p>
        </p:txBody>
      </p:sp>
      <p:sp>
        <p:nvSpPr>
          <p:cNvPr id="22" name="Shape 20"/>
          <p:cNvSpPr/>
          <p:nvPr/>
        </p:nvSpPr>
        <p:spPr>
          <a:xfrm>
            <a:off x="11109960" y="3154680"/>
            <a:ext cx="457200" cy="457200"/>
          </a:xfrm>
          <a:prstGeom prst="ellipse">
            <a:avLst/>
          </a:prstGeom>
          <a:solidFill>
            <a:srgbClr val="E8A33D"/>
          </a:solidFill>
          <a:ln w="25400">
            <a:solidFill>
              <a:srgbClr val="FFFFFF"/>
            </a:solidFill>
            <a:prstDash val="solid"/>
          </a:ln>
        </p:spPr>
      </p:sp>
      <p:sp>
        <p:nvSpPr>
          <p:cNvPr id="23" name="Text 21"/>
          <p:cNvSpPr/>
          <p:nvPr/>
        </p:nvSpPr>
        <p:spPr>
          <a:xfrm>
            <a:off x="10378440" y="2331720"/>
            <a:ext cx="1920240" cy="548640"/>
          </a:xfrm>
          <a:prstGeom prst="rect">
            <a:avLst/>
          </a:prstGeom>
          <a:noFill/>
          <a:ln/>
        </p:spPr>
        <p:txBody>
          <a:bodyPr wrap="square" lIns="0" tIns="0" rIns="0" bIns="0" rtlCol="0" anchor="b"/>
          <a:lstStyle/>
          <a:p>
            <a:pPr algn="ctr" indent="0" marL="0">
              <a:buNone/>
            </a:pPr>
            <a:r>
              <a:rPr lang="en-US" sz="1700" b="1" dirty="0">
                <a:solidFill>
                  <a:srgbClr val="A9791F"/>
                </a:solidFill>
                <a:latin typeface="Calibri" pitchFamily="34" charset="0"/>
                <a:ea typeface="Calibri" pitchFamily="34" charset="-122"/>
                <a:cs typeface="Calibri" pitchFamily="34" charset="-120"/>
              </a:rPr>
              <a:t>Finals</a:t>
            </a:r>
            <a:endParaRPr lang="en-US" sz="1700" dirty="0"/>
          </a:p>
        </p:txBody>
      </p:sp>
      <p:sp>
        <p:nvSpPr>
          <p:cNvPr id="24" name="Text 22"/>
          <p:cNvSpPr/>
          <p:nvPr/>
        </p:nvSpPr>
        <p:spPr>
          <a:xfrm>
            <a:off x="10378440" y="3703320"/>
            <a:ext cx="1920240" cy="822960"/>
          </a:xfrm>
          <a:prstGeom prst="rect">
            <a:avLst/>
          </a:prstGeom>
          <a:noFill/>
          <a:ln/>
        </p:spPr>
        <p:txBody>
          <a:bodyPr wrap="square" lIns="0" tIns="0" rIns="0" bIns="0" rtlCol="0" anchor="t"/>
          <a:lstStyle/>
          <a:p>
            <a:pPr algn="ctr" indent="0" marL="0">
              <a:lnSpc>
                <a:spcPct val="100000"/>
              </a:lnSpc>
              <a:buNone/>
            </a:pPr>
            <a:r>
              <a:rPr lang="en-US" sz="1450" b="1" dirty="0">
                <a:solidFill>
                  <a:srgbClr val="1E2A36"/>
                </a:solidFill>
                <a:latin typeface="Calibri" pitchFamily="34" charset="0"/>
                <a:ea typeface="Calibri" pitchFamily="34" charset="-122"/>
                <a:cs typeface="Calibri" pitchFamily="34" charset="-120"/>
              </a:rPr>
              <a:t>Launch &amp; Demo Day</a:t>
            </a:r>
            <a:endParaRPr lang="en-US" sz="1450" dirty="0"/>
          </a:p>
        </p:txBody>
      </p:sp>
      <p:sp>
        <p:nvSpPr>
          <p:cNvPr id="25" name="Shape 23"/>
          <p:cNvSpPr/>
          <p:nvPr/>
        </p:nvSpPr>
        <p:spPr>
          <a:xfrm>
            <a:off x="11082528" y="4617720"/>
            <a:ext cx="512064" cy="512064"/>
          </a:xfrm>
          <a:prstGeom prst="ellipse">
            <a:avLst/>
          </a:prstGeom>
          <a:solidFill>
            <a:srgbClr val="14233A"/>
          </a:solidFill>
          <a:ln/>
        </p:spPr>
      </p:sp>
      <p:pic>
        <p:nvPicPr>
          <p:cNvPr id="26" name="Image 0" descr="preencoded.png">    </p:cNvPr>
          <p:cNvPicPr>
            <a:picLocks noChangeAspect="1"/>
          </p:cNvPicPr>
          <p:nvPr/>
        </p:nvPicPr>
        <p:blipFill>
          <a:blip r:embed="rId1"/>
          <a:stretch>
            <a:fillRect/>
          </a:stretch>
        </p:blipFill>
        <p:spPr>
          <a:xfrm>
            <a:off x="11220785" y="4755977"/>
            <a:ext cx="235549" cy="235549"/>
          </a:xfrm>
          <a:prstGeom prst="rect">
            <a:avLst/>
          </a:prstGeom>
        </p:spPr>
      </p:pic>
      <p:sp>
        <p:nvSpPr>
          <p:cNvPr id="27" name="Text 24"/>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28" name="Text 25"/>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WHAT YOU'LL BE ABLE TO DO</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By the end of the course</a:t>
            </a:r>
            <a:endParaRPr lang="en-US" sz="3000" dirty="0"/>
          </a:p>
        </p:txBody>
      </p:sp>
      <p:sp>
        <p:nvSpPr>
          <p:cNvPr id="5" name="Shape 3"/>
          <p:cNvSpPr/>
          <p:nvPr/>
        </p:nvSpPr>
        <p:spPr>
          <a:xfrm>
            <a:off x="685800" y="1929384"/>
            <a:ext cx="502920" cy="502920"/>
          </a:xfrm>
          <a:prstGeom prst="ellipse">
            <a:avLst/>
          </a:prstGeom>
          <a:solidFill>
            <a:srgbClr val="12908F"/>
          </a:solidFill>
          <a:ln/>
        </p:spPr>
      </p:sp>
      <p:pic>
        <p:nvPicPr>
          <p:cNvPr id="6" name="Image 0" descr="preencoded.png">    </p:cNvPr>
          <p:cNvPicPr>
            <a:picLocks noChangeAspect="1"/>
          </p:cNvPicPr>
          <p:nvPr/>
        </p:nvPicPr>
        <p:blipFill>
          <a:blip r:embed="rId1"/>
          <a:stretch>
            <a:fillRect/>
          </a:stretch>
        </p:blipFill>
        <p:spPr>
          <a:xfrm>
            <a:off x="821588" y="2065172"/>
            <a:ext cx="231343" cy="231343"/>
          </a:xfrm>
          <a:prstGeom prst="rect">
            <a:avLst/>
          </a:prstGeom>
        </p:spPr>
      </p:pic>
      <p:sp>
        <p:nvSpPr>
          <p:cNvPr id="7" name="Text 4"/>
          <p:cNvSpPr/>
          <p:nvPr/>
        </p:nvSpPr>
        <p:spPr>
          <a:xfrm>
            <a:off x="1417320" y="1874520"/>
            <a:ext cx="6035040" cy="329184"/>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Discover a real need</a:t>
            </a:r>
            <a:endParaRPr lang="en-US" sz="1700" dirty="0"/>
          </a:p>
        </p:txBody>
      </p:sp>
      <p:sp>
        <p:nvSpPr>
          <p:cNvPr id="8" name="Text 5"/>
          <p:cNvSpPr/>
          <p:nvPr/>
        </p:nvSpPr>
        <p:spPr>
          <a:xfrm>
            <a:off x="1417320" y="2212848"/>
            <a:ext cx="6080760" cy="36576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Find a real user; articulate the problem and success criteria.</a:t>
            </a:r>
            <a:endParaRPr lang="en-US" sz="1400" dirty="0"/>
          </a:p>
        </p:txBody>
      </p:sp>
      <p:sp>
        <p:nvSpPr>
          <p:cNvPr id="9" name="Shape 6"/>
          <p:cNvSpPr/>
          <p:nvPr/>
        </p:nvSpPr>
        <p:spPr>
          <a:xfrm>
            <a:off x="685800" y="2752344"/>
            <a:ext cx="502920" cy="502920"/>
          </a:xfrm>
          <a:prstGeom prst="ellipse">
            <a:avLst/>
          </a:prstGeom>
          <a:solidFill>
            <a:srgbClr val="12908F"/>
          </a:solidFill>
          <a:ln/>
        </p:spPr>
      </p:sp>
      <p:pic>
        <p:nvPicPr>
          <p:cNvPr id="10" name="Image 1" descr="preencoded.png">    </p:cNvPr>
          <p:cNvPicPr>
            <a:picLocks noChangeAspect="1"/>
          </p:cNvPicPr>
          <p:nvPr/>
        </p:nvPicPr>
        <p:blipFill>
          <a:blip r:embed="rId2"/>
          <a:stretch>
            <a:fillRect/>
          </a:stretch>
        </p:blipFill>
        <p:spPr>
          <a:xfrm>
            <a:off x="821588" y="2888132"/>
            <a:ext cx="231343" cy="231343"/>
          </a:xfrm>
          <a:prstGeom prst="rect">
            <a:avLst/>
          </a:prstGeom>
        </p:spPr>
      </p:pic>
      <p:sp>
        <p:nvSpPr>
          <p:cNvPr id="11" name="Text 7"/>
          <p:cNvSpPr/>
          <p:nvPr/>
        </p:nvSpPr>
        <p:spPr>
          <a:xfrm>
            <a:off x="1417320" y="2697480"/>
            <a:ext cx="6035040" cy="329184"/>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Judge feasibility &amp; scope</a:t>
            </a:r>
            <a:endParaRPr lang="en-US" sz="1700" dirty="0"/>
          </a:p>
        </p:txBody>
      </p:sp>
      <p:sp>
        <p:nvSpPr>
          <p:cNvPr id="12" name="Text 8"/>
          <p:cNvSpPr/>
          <p:nvPr/>
        </p:nvSpPr>
        <p:spPr>
          <a:xfrm>
            <a:off x="1417320" y="3035808"/>
            <a:ext cx="6080760" cy="36576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Weigh risk and breadth; cut an ambitious vision to a one-semester MVP.</a:t>
            </a:r>
            <a:endParaRPr lang="en-US" sz="1400" dirty="0"/>
          </a:p>
        </p:txBody>
      </p:sp>
      <p:sp>
        <p:nvSpPr>
          <p:cNvPr id="13" name="Shape 9"/>
          <p:cNvSpPr/>
          <p:nvPr/>
        </p:nvSpPr>
        <p:spPr>
          <a:xfrm>
            <a:off x="685800" y="3575304"/>
            <a:ext cx="502920" cy="502920"/>
          </a:xfrm>
          <a:prstGeom prst="ellipse">
            <a:avLst/>
          </a:prstGeom>
          <a:solidFill>
            <a:srgbClr val="12908F"/>
          </a:solidFill>
          <a:ln/>
        </p:spPr>
      </p:sp>
      <p:pic>
        <p:nvPicPr>
          <p:cNvPr id="14" name="Image 2" descr="preencoded.png">    </p:cNvPr>
          <p:cNvPicPr>
            <a:picLocks noChangeAspect="1"/>
          </p:cNvPicPr>
          <p:nvPr/>
        </p:nvPicPr>
        <p:blipFill>
          <a:blip r:embed="rId3"/>
          <a:stretch>
            <a:fillRect/>
          </a:stretch>
        </p:blipFill>
        <p:spPr>
          <a:xfrm>
            <a:off x="821588" y="3711092"/>
            <a:ext cx="231343" cy="231343"/>
          </a:xfrm>
          <a:prstGeom prst="rect">
            <a:avLst/>
          </a:prstGeom>
        </p:spPr>
      </p:pic>
      <p:sp>
        <p:nvSpPr>
          <p:cNvPr id="15" name="Text 10"/>
          <p:cNvSpPr/>
          <p:nvPr/>
        </p:nvSpPr>
        <p:spPr>
          <a:xfrm>
            <a:off x="1417320" y="3520440"/>
            <a:ext cx="6035040" cy="329184"/>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Design the system &amp; the project</a:t>
            </a:r>
            <a:endParaRPr lang="en-US" sz="1700" dirty="0"/>
          </a:p>
        </p:txBody>
      </p:sp>
      <p:sp>
        <p:nvSpPr>
          <p:cNvPr id="16" name="Text 11"/>
          <p:cNvSpPr/>
          <p:nvPr/>
        </p:nvSpPr>
        <p:spPr>
          <a:xfrm>
            <a:off x="1417320" y="3858768"/>
            <a:ext cx="6080760" cy="36576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Architecture, data, interfaces, and the technology choices behind them.</a:t>
            </a:r>
            <a:endParaRPr lang="en-US" sz="1400" dirty="0"/>
          </a:p>
        </p:txBody>
      </p:sp>
      <p:sp>
        <p:nvSpPr>
          <p:cNvPr id="17" name="Shape 12"/>
          <p:cNvSpPr/>
          <p:nvPr/>
        </p:nvSpPr>
        <p:spPr>
          <a:xfrm>
            <a:off x="685800" y="4398264"/>
            <a:ext cx="502920" cy="502920"/>
          </a:xfrm>
          <a:prstGeom prst="ellipse">
            <a:avLst/>
          </a:prstGeom>
          <a:solidFill>
            <a:srgbClr val="12908F"/>
          </a:solidFill>
          <a:ln/>
        </p:spPr>
      </p:sp>
      <p:pic>
        <p:nvPicPr>
          <p:cNvPr id="18" name="Image 3" descr="preencoded.png">    </p:cNvPr>
          <p:cNvPicPr>
            <a:picLocks noChangeAspect="1"/>
          </p:cNvPicPr>
          <p:nvPr/>
        </p:nvPicPr>
        <p:blipFill>
          <a:blip r:embed="rId4"/>
          <a:stretch>
            <a:fillRect/>
          </a:stretch>
        </p:blipFill>
        <p:spPr>
          <a:xfrm>
            <a:off x="821588" y="4534052"/>
            <a:ext cx="231343" cy="231343"/>
          </a:xfrm>
          <a:prstGeom prst="rect">
            <a:avLst/>
          </a:prstGeom>
        </p:spPr>
      </p:pic>
      <p:sp>
        <p:nvSpPr>
          <p:cNvPr id="19" name="Text 13"/>
          <p:cNvSpPr/>
          <p:nvPr/>
        </p:nvSpPr>
        <p:spPr>
          <a:xfrm>
            <a:off x="1417320" y="4343400"/>
            <a:ext cx="6035040" cy="329184"/>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Found &amp; build it in the open</a:t>
            </a:r>
            <a:endParaRPr lang="en-US" sz="1700" dirty="0"/>
          </a:p>
        </p:txBody>
      </p:sp>
      <p:sp>
        <p:nvSpPr>
          <p:cNvPr id="20" name="Text 14"/>
          <p:cNvSpPr/>
          <p:nvPr/>
        </p:nvSpPr>
        <p:spPr>
          <a:xfrm>
            <a:off x="1417320" y="4681728"/>
            <a:ext cx="6080760" cy="36576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License, governance, git workflows, and a working MVP others can join.</a:t>
            </a:r>
            <a:endParaRPr lang="en-US" sz="1400" dirty="0"/>
          </a:p>
        </p:txBody>
      </p:sp>
      <p:sp>
        <p:nvSpPr>
          <p:cNvPr id="21" name="Shape 15"/>
          <p:cNvSpPr/>
          <p:nvPr/>
        </p:nvSpPr>
        <p:spPr>
          <a:xfrm>
            <a:off x="548640" y="5129784"/>
            <a:ext cx="7040880" cy="749808"/>
          </a:xfrm>
          <a:prstGeom prst="roundRect">
            <a:avLst>
              <a:gd name="adj" fmla="val 10976"/>
            </a:avLst>
          </a:prstGeom>
          <a:solidFill>
            <a:srgbClr val="FCF3E3"/>
          </a:solidFill>
          <a:ln/>
          <a:effectLst>
            <a:outerShdw sx="100000" sy="100000" kx="0" ky="0" algn="bl" rotWithShape="0" blurRad="88900" dist="38100" dir="5400000">
              <a:srgbClr val="000000">
                <a:alpha val="13000"/>
              </a:srgbClr>
            </a:outerShdw>
          </a:effectLst>
        </p:spPr>
      </p:sp>
      <p:sp>
        <p:nvSpPr>
          <p:cNvPr id="22" name="Shape 16"/>
          <p:cNvSpPr/>
          <p:nvPr/>
        </p:nvSpPr>
        <p:spPr>
          <a:xfrm>
            <a:off x="685800" y="5221224"/>
            <a:ext cx="502920" cy="502920"/>
          </a:xfrm>
          <a:prstGeom prst="ellipse">
            <a:avLst/>
          </a:prstGeom>
          <a:solidFill>
            <a:srgbClr val="E8A33D"/>
          </a:solidFill>
          <a:ln/>
        </p:spPr>
      </p:sp>
      <p:pic>
        <p:nvPicPr>
          <p:cNvPr id="23" name="Image 4" descr="preencoded.png">    </p:cNvPr>
          <p:cNvPicPr>
            <a:picLocks noChangeAspect="1"/>
          </p:cNvPicPr>
          <p:nvPr/>
        </p:nvPicPr>
        <p:blipFill>
          <a:blip r:embed="rId5"/>
          <a:stretch>
            <a:fillRect/>
          </a:stretch>
        </p:blipFill>
        <p:spPr>
          <a:xfrm>
            <a:off x="821588" y="5357012"/>
            <a:ext cx="231343" cy="231343"/>
          </a:xfrm>
          <a:prstGeom prst="rect">
            <a:avLst/>
          </a:prstGeom>
        </p:spPr>
      </p:pic>
      <p:sp>
        <p:nvSpPr>
          <p:cNvPr id="24" name="Text 17"/>
          <p:cNvSpPr/>
          <p:nvPr/>
        </p:nvSpPr>
        <p:spPr>
          <a:xfrm>
            <a:off x="1417320" y="5166360"/>
            <a:ext cx="6035040" cy="329184"/>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Communicate it — persuasively &amp; precisely</a:t>
            </a:r>
            <a:endParaRPr lang="en-US" sz="1700" dirty="0"/>
          </a:p>
        </p:txBody>
      </p:sp>
      <p:sp>
        <p:nvSpPr>
          <p:cNvPr id="25" name="Text 18"/>
          <p:cNvSpPr/>
          <p:nvPr/>
        </p:nvSpPr>
        <p:spPr>
          <a:xfrm>
            <a:off x="1417320" y="5504688"/>
            <a:ext cx="6080760" cy="36576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Proposals, pitches, design docs, issues, PRs, reviews, launch docs.</a:t>
            </a:r>
            <a:endParaRPr lang="en-US" sz="1400" dirty="0"/>
          </a:p>
        </p:txBody>
      </p:sp>
      <p:sp>
        <p:nvSpPr>
          <p:cNvPr id="26" name="Shape 19"/>
          <p:cNvSpPr/>
          <p:nvPr/>
        </p:nvSpPr>
        <p:spPr>
          <a:xfrm>
            <a:off x="7772400" y="1828800"/>
            <a:ext cx="3840480" cy="4160520"/>
          </a:xfrm>
          <a:prstGeom prst="roundRect">
            <a:avLst>
              <a:gd name="adj" fmla="val 2143"/>
            </a:avLst>
          </a:prstGeom>
          <a:solidFill>
            <a:srgbClr val="14233A"/>
          </a:solidFill>
          <a:ln/>
          <a:effectLst>
            <a:outerShdw sx="100000" sy="100000" kx="0" ky="0" algn="bl" rotWithShape="0" blurRad="88900" dist="38100" dir="5400000">
              <a:srgbClr val="000000">
                <a:alpha val="13000"/>
              </a:srgbClr>
            </a:outerShdw>
          </a:effectLst>
        </p:spPr>
      </p:sp>
      <p:sp>
        <p:nvSpPr>
          <p:cNvPr id="27" name="Shape 20"/>
          <p:cNvSpPr/>
          <p:nvPr/>
        </p:nvSpPr>
        <p:spPr>
          <a:xfrm>
            <a:off x="8046720" y="2103120"/>
            <a:ext cx="548640" cy="548640"/>
          </a:xfrm>
          <a:prstGeom prst="ellipse">
            <a:avLst/>
          </a:prstGeom>
          <a:solidFill>
            <a:srgbClr val="E8A33D"/>
          </a:solidFill>
          <a:ln/>
        </p:spPr>
      </p:sp>
      <p:pic>
        <p:nvPicPr>
          <p:cNvPr id="28" name="Image 5" descr="preencoded.png">    </p:cNvPr>
          <p:cNvPicPr>
            <a:picLocks noChangeAspect="1"/>
          </p:cNvPicPr>
          <p:nvPr/>
        </p:nvPicPr>
        <p:blipFill>
          <a:blip r:embed="rId6"/>
          <a:stretch>
            <a:fillRect/>
          </a:stretch>
        </p:blipFill>
        <p:spPr>
          <a:xfrm>
            <a:off x="8194853" y="2251253"/>
            <a:ext cx="252374" cy="252374"/>
          </a:xfrm>
          <a:prstGeom prst="rect">
            <a:avLst/>
          </a:prstGeom>
        </p:spPr>
      </p:pic>
      <p:sp>
        <p:nvSpPr>
          <p:cNvPr id="29" name="Text 21"/>
          <p:cNvSpPr/>
          <p:nvPr/>
        </p:nvSpPr>
        <p:spPr>
          <a:xfrm>
            <a:off x="8732520" y="2121408"/>
            <a:ext cx="274320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through-line: technical communication</a:t>
            </a:r>
            <a:endParaRPr lang="en-US" sz="1700" dirty="0"/>
          </a:p>
        </p:txBody>
      </p:sp>
      <p:sp>
        <p:nvSpPr>
          <p:cNvPr id="30" name="Text 22"/>
          <p:cNvSpPr/>
          <p:nvPr/>
        </p:nvSpPr>
        <p:spPr>
          <a:xfrm>
            <a:off x="8001000" y="2697480"/>
            <a:ext cx="3429000" cy="3154680"/>
          </a:xfrm>
          <a:prstGeom prst="rect">
            <a:avLst/>
          </a:prstGeom>
          <a:noFill/>
          <a:ln/>
        </p:spPr>
        <p:txBody>
          <a:bodyPr wrap="square" lIns="0" tIns="0" rIns="0" bIns="0" rtlCol="0" anchor="ctr"/>
          <a:lstStyle/>
          <a:p>
            <a:pPr indent="0" marL="0">
              <a:lnSpc>
                <a:spcPct val="103000"/>
              </a:lnSpc>
              <a:buNone/>
            </a:pPr>
            <a:r>
              <a:rPr lang="en-US" sz="1300" dirty="0">
                <a:solidFill>
                  <a:srgbClr val="CFE0E9"/>
                </a:solidFill>
                <a:latin typeface="Calibri" pitchFamily="34" charset="0"/>
                <a:ea typeface="Calibri" pitchFamily="34" charset="-122"/>
                <a:cs typeface="Calibri" pitchFamily="34" charset="-120"/>
              </a:rPr>
              <a:t>Almost everything you produce here is an act of technical communication — the proposal, the pitch, the design doc, the issues, the PRs, the reviews, the launch docs.</a:t>
            </a:r>
            <a:endParaRPr lang="en-US" sz="1300" dirty="0"/>
          </a:p>
          <a:p>
            <a:pPr indent="0" marL="0">
              <a:lnSpc>
                <a:spcPct val="103000"/>
              </a:lnSpc>
              <a:buNone/>
            </a:pPr>
            <a:endParaRPr lang="en-US" sz="1300" dirty="0"/>
          </a:p>
          <a:p>
            <a:pPr indent="0" marL="0">
              <a:lnSpc>
                <a:spcPct val="103000"/>
              </a:lnSpc>
              <a:buNone/>
            </a:pPr>
            <a:r>
              <a:rPr lang="en-US" sz="1300" dirty="0">
                <a:solidFill>
                  <a:srgbClr val="CFE0E9"/>
                </a:solidFill>
                <a:latin typeface="Calibri" pitchFamily="34" charset="0"/>
                <a:ea typeface="Calibri" pitchFamily="34" charset="-122"/>
                <a:cs typeface="Calibri" pitchFamily="34" charset="-120"/>
              </a:rPr>
              <a:t>We treat writing and reviewing clearly as core engineering work, not a soft skill — you'll do more of it than writing fresh code.</a:t>
            </a:r>
            <a:endParaRPr lang="en-US" sz="1300" dirty="0"/>
          </a:p>
        </p:txBody>
      </p:sp>
      <p:sp>
        <p:nvSpPr>
          <p:cNvPr id="31" name="Text 23"/>
          <p:cNvSpPr/>
          <p:nvPr/>
        </p:nvSpPr>
        <p:spPr>
          <a:xfrm>
            <a:off x="548640" y="6053328"/>
            <a:ext cx="7040880" cy="365760"/>
          </a:xfrm>
          <a:prstGeom prst="rect">
            <a:avLst/>
          </a:prstGeom>
          <a:noFill/>
          <a:ln/>
        </p:spPr>
        <p:txBody>
          <a:bodyPr wrap="square" lIns="0" tIns="0" rIns="0" bIns="0" rtlCol="0" anchor="ctr"/>
          <a:lstStyle/>
          <a:p>
            <a:pPr indent="0" marL="0">
              <a:buNone/>
            </a:pPr>
            <a:r>
              <a:rPr lang="en-US" sz="1350" i="1" dirty="0">
                <a:solidFill>
                  <a:srgbClr val="5F7284"/>
                </a:solidFill>
                <a:latin typeface="Calibri" pitchFamily="34" charset="0"/>
                <a:ea typeface="Calibri" pitchFamily="34" charset="-122"/>
                <a:cs typeface="Calibri" pitchFamily="34" charset="-120"/>
              </a:rPr>
              <a:t>Course outcomes — what you'll do by end of term, not today's objectives.</a:t>
            </a:r>
            <a:endParaRPr lang="en-US" sz="1350" dirty="0"/>
          </a:p>
        </p:txBody>
      </p:sp>
      <p:sp>
        <p:nvSpPr>
          <p:cNvPr id="32" name="Text 24"/>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33" name="Text 25"/>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4F3"/>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WHY THIS FITS A BYU EDUCATION</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Skill, put to work, in service of others</a:t>
            </a:r>
            <a:endParaRPr lang="en-US" sz="3000" dirty="0"/>
          </a:p>
        </p:txBody>
      </p:sp>
      <p:sp>
        <p:nvSpPr>
          <p:cNvPr id="5" name="Shape 3"/>
          <p:cNvSpPr/>
          <p:nvPr/>
        </p:nvSpPr>
        <p:spPr>
          <a:xfrm>
            <a:off x="640080" y="1828800"/>
            <a:ext cx="566928" cy="566928"/>
          </a:xfrm>
          <a:prstGeom prst="ellipse">
            <a:avLst/>
          </a:prstGeom>
          <a:solidFill>
            <a:srgbClr val="12908F"/>
          </a:solidFill>
          <a:ln/>
        </p:spPr>
      </p:sp>
      <p:pic>
        <p:nvPicPr>
          <p:cNvPr id="6" name="Image 0" descr="preencoded.png">    </p:cNvPr>
          <p:cNvPicPr>
            <a:picLocks noChangeAspect="1"/>
          </p:cNvPicPr>
          <p:nvPr/>
        </p:nvPicPr>
        <p:blipFill>
          <a:blip r:embed="rId1"/>
          <a:stretch>
            <a:fillRect/>
          </a:stretch>
        </p:blipFill>
        <p:spPr>
          <a:xfrm>
            <a:off x="793151" y="1981871"/>
            <a:ext cx="260787" cy="260787"/>
          </a:xfrm>
          <a:prstGeom prst="rect">
            <a:avLst/>
          </a:prstGeom>
        </p:spPr>
      </p:pic>
      <p:sp>
        <p:nvSpPr>
          <p:cNvPr id="7" name="Text 4"/>
          <p:cNvSpPr/>
          <p:nvPr/>
        </p:nvSpPr>
        <p:spPr>
          <a:xfrm>
            <a:off x="1371600" y="1847088"/>
            <a:ext cx="6126480" cy="32004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Serve a real need</a:t>
            </a:r>
            <a:endParaRPr lang="en-US" sz="1900" dirty="0"/>
          </a:p>
        </p:txBody>
      </p:sp>
      <p:sp>
        <p:nvSpPr>
          <p:cNvPr id="8" name="Text 5"/>
          <p:cNvSpPr/>
          <p:nvPr/>
        </p:nvSpPr>
        <p:spPr>
          <a:xfrm>
            <a:off x="1371600" y="2176272"/>
            <a:ext cx="6126480" cy="27432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Build for real people, not a toy.</a:t>
            </a:r>
            <a:endParaRPr lang="en-US" sz="1450" dirty="0"/>
          </a:p>
        </p:txBody>
      </p:sp>
      <p:sp>
        <p:nvSpPr>
          <p:cNvPr id="9" name="Shape 6"/>
          <p:cNvSpPr/>
          <p:nvPr/>
        </p:nvSpPr>
        <p:spPr>
          <a:xfrm>
            <a:off x="640080" y="2724912"/>
            <a:ext cx="566928" cy="566928"/>
          </a:xfrm>
          <a:prstGeom prst="ellipse">
            <a:avLst/>
          </a:prstGeom>
          <a:solidFill>
            <a:srgbClr val="12908F"/>
          </a:solidFill>
          <a:ln/>
        </p:spPr>
      </p:sp>
      <p:pic>
        <p:nvPicPr>
          <p:cNvPr id="10" name="Image 1" descr="preencoded.png">    </p:cNvPr>
          <p:cNvPicPr>
            <a:picLocks noChangeAspect="1"/>
          </p:cNvPicPr>
          <p:nvPr/>
        </p:nvPicPr>
        <p:blipFill>
          <a:blip r:embed="rId2"/>
          <a:stretch>
            <a:fillRect/>
          </a:stretch>
        </p:blipFill>
        <p:spPr>
          <a:xfrm>
            <a:off x="793151" y="2877983"/>
            <a:ext cx="260787" cy="260787"/>
          </a:xfrm>
          <a:prstGeom prst="rect">
            <a:avLst/>
          </a:prstGeom>
        </p:spPr>
      </p:pic>
      <p:sp>
        <p:nvSpPr>
          <p:cNvPr id="11" name="Text 7"/>
          <p:cNvSpPr/>
          <p:nvPr/>
        </p:nvSpPr>
        <p:spPr>
          <a:xfrm>
            <a:off x="1371600" y="2743200"/>
            <a:ext cx="6126480" cy="32004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Teach yourself</a:t>
            </a:r>
            <a:endParaRPr lang="en-US" sz="1900" dirty="0"/>
          </a:p>
        </p:txBody>
      </p:sp>
      <p:sp>
        <p:nvSpPr>
          <p:cNvPr id="12" name="Text 8"/>
          <p:cNvSpPr/>
          <p:nvPr/>
        </p:nvSpPr>
        <p:spPr>
          <a:xfrm>
            <a:off x="1371600" y="3072384"/>
            <a:ext cx="6126480" cy="27432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Learn what you don't yet know — the habit of a lifetime.</a:t>
            </a:r>
            <a:endParaRPr lang="en-US" sz="1450" dirty="0"/>
          </a:p>
        </p:txBody>
      </p:sp>
      <p:sp>
        <p:nvSpPr>
          <p:cNvPr id="13" name="Shape 9"/>
          <p:cNvSpPr/>
          <p:nvPr/>
        </p:nvSpPr>
        <p:spPr>
          <a:xfrm>
            <a:off x="640080" y="3621024"/>
            <a:ext cx="566928" cy="566928"/>
          </a:xfrm>
          <a:prstGeom prst="ellipse">
            <a:avLst/>
          </a:prstGeom>
          <a:solidFill>
            <a:srgbClr val="12908F"/>
          </a:solidFill>
          <a:ln/>
        </p:spPr>
      </p:sp>
      <p:pic>
        <p:nvPicPr>
          <p:cNvPr id="14" name="Image 2" descr="preencoded.png">    </p:cNvPr>
          <p:cNvPicPr>
            <a:picLocks noChangeAspect="1"/>
          </p:cNvPicPr>
          <p:nvPr/>
        </p:nvPicPr>
        <p:blipFill>
          <a:blip r:embed="rId3"/>
          <a:stretch>
            <a:fillRect/>
          </a:stretch>
        </p:blipFill>
        <p:spPr>
          <a:xfrm>
            <a:off x="793151" y="3774095"/>
            <a:ext cx="260787" cy="260787"/>
          </a:xfrm>
          <a:prstGeom prst="rect">
            <a:avLst/>
          </a:prstGeom>
        </p:spPr>
      </p:pic>
      <p:sp>
        <p:nvSpPr>
          <p:cNvPr id="15" name="Text 10"/>
          <p:cNvSpPr/>
          <p:nvPr/>
        </p:nvSpPr>
        <p:spPr>
          <a:xfrm>
            <a:off x="1371600" y="3639312"/>
            <a:ext cx="6126480" cy="32004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Act with integrity</a:t>
            </a:r>
            <a:endParaRPr lang="en-US" sz="1900" dirty="0"/>
          </a:p>
        </p:txBody>
      </p:sp>
      <p:sp>
        <p:nvSpPr>
          <p:cNvPr id="16" name="Text 11"/>
          <p:cNvSpPr/>
          <p:nvPr/>
        </p:nvSpPr>
        <p:spPr>
          <a:xfrm>
            <a:off x="1371600" y="3968496"/>
            <a:ext cx="6126480" cy="27432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Toward users, teammates, and those who join you.</a:t>
            </a:r>
            <a:endParaRPr lang="en-US" sz="1450" dirty="0"/>
          </a:p>
        </p:txBody>
      </p:sp>
      <p:sp>
        <p:nvSpPr>
          <p:cNvPr id="17" name="Shape 12"/>
          <p:cNvSpPr/>
          <p:nvPr/>
        </p:nvSpPr>
        <p:spPr>
          <a:xfrm>
            <a:off x="640080" y="4517136"/>
            <a:ext cx="566928" cy="566928"/>
          </a:xfrm>
          <a:prstGeom prst="ellipse">
            <a:avLst/>
          </a:prstGeom>
          <a:solidFill>
            <a:srgbClr val="12908F"/>
          </a:solidFill>
          <a:ln/>
        </p:spPr>
      </p:sp>
      <p:pic>
        <p:nvPicPr>
          <p:cNvPr id="18" name="Image 3" descr="preencoded.png">    </p:cNvPr>
          <p:cNvPicPr>
            <a:picLocks noChangeAspect="1"/>
          </p:cNvPicPr>
          <p:nvPr/>
        </p:nvPicPr>
        <p:blipFill>
          <a:blip r:embed="rId4"/>
          <a:stretch>
            <a:fillRect/>
          </a:stretch>
        </p:blipFill>
        <p:spPr>
          <a:xfrm>
            <a:off x="793151" y="4670207"/>
            <a:ext cx="260787" cy="260787"/>
          </a:xfrm>
          <a:prstGeom prst="rect">
            <a:avLst/>
          </a:prstGeom>
        </p:spPr>
      </p:pic>
      <p:sp>
        <p:nvSpPr>
          <p:cNvPr id="19" name="Text 13"/>
          <p:cNvSpPr/>
          <p:nvPr/>
        </p:nvSpPr>
        <p:spPr>
          <a:xfrm>
            <a:off x="1371600" y="4535424"/>
            <a:ext cx="6126480" cy="32004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Do work of consequence</a:t>
            </a:r>
            <a:endParaRPr lang="en-US" sz="1900" dirty="0"/>
          </a:p>
        </p:txBody>
      </p:sp>
      <p:sp>
        <p:nvSpPr>
          <p:cNvPr id="20" name="Text 14"/>
          <p:cNvSpPr/>
          <p:nvPr/>
        </p:nvSpPr>
        <p:spPr>
          <a:xfrm>
            <a:off x="1371600" y="4864608"/>
            <a:ext cx="6126480" cy="27432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Something real, that lasts, that others build on.</a:t>
            </a:r>
            <a:endParaRPr lang="en-US" sz="1450" dirty="0"/>
          </a:p>
        </p:txBody>
      </p:sp>
      <p:sp>
        <p:nvSpPr>
          <p:cNvPr id="21" name="Shape 15"/>
          <p:cNvSpPr/>
          <p:nvPr/>
        </p:nvSpPr>
        <p:spPr>
          <a:xfrm>
            <a:off x="7955280" y="1828800"/>
            <a:ext cx="3657600" cy="3566160"/>
          </a:xfrm>
          <a:prstGeom prst="roundRect">
            <a:avLst>
              <a:gd name="adj" fmla="val 2308"/>
            </a:avLst>
          </a:prstGeom>
          <a:solidFill>
            <a:srgbClr val="FFFFFF"/>
          </a:solidFill>
          <a:ln/>
          <a:effectLst>
            <a:outerShdw sx="100000" sy="100000" kx="0" ky="0" algn="bl" rotWithShape="0" blurRad="88900" dist="38100" dir="5400000">
              <a:srgbClr val="000000">
                <a:alpha val="13000"/>
              </a:srgbClr>
            </a:outerShdw>
          </a:effectLst>
        </p:spPr>
      </p:sp>
      <p:sp>
        <p:nvSpPr>
          <p:cNvPr id="22" name="Text 16"/>
          <p:cNvSpPr/>
          <p:nvPr/>
        </p:nvSpPr>
        <p:spPr>
          <a:xfrm>
            <a:off x="8183880" y="2057400"/>
            <a:ext cx="3200400" cy="457200"/>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The five C's this course leans on</a:t>
            </a:r>
            <a:endParaRPr lang="en-US" sz="1600" dirty="0"/>
          </a:p>
        </p:txBody>
      </p:sp>
      <p:sp>
        <p:nvSpPr>
          <p:cNvPr id="23" name="Shape 17"/>
          <p:cNvSpPr/>
          <p:nvPr/>
        </p:nvSpPr>
        <p:spPr>
          <a:xfrm>
            <a:off x="8321040" y="2651760"/>
            <a:ext cx="2926080" cy="420624"/>
          </a:xfrm>
          <a:prstGeom prst="roundRect">
            <a:avLst>
              <a:gd name="adj" fmla="val 50000"/>
            </a:avLst>
          </a:prstGeom>
          <a:solidFill>
            <a:srgbClr val="EAF3F2"/>
          </a:solidFill>
          <a:ln/>
        </p:spPr>
      </p:sp>
      <p:sp>
        <p:nvSpPr>
          <p:cNvPr id="24" name="Text 18"/>
          <p:cNvSpPr/>
          <p:nvPr/>
        </p:nvSpPr>
        <p:spPr>
          <a:xfrm>
            <a:off x="8321040" y="2651760"/>
            <a:ext cx="2926080" cy="420624"/>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Curious</a:t>
            </a:r>
            <a:endParaRPr lang="en-US" sz="1600" dirty="0"/>
          </a:p>
        </p:txBody>
      </p:sp>
      <p:sp>
        <p:nvSpPr>
          <p:cNvPr id="25" name="Shape 19"/>
          <p:cNvSpPr/>
          <p:nvPr/>
        </p:nvSpPr>
        <p:spPr>
          <a:xfrm>
            <a:off x="8321040" y="3172968"/>
            <a:ext cx="2926080" cy="420624"/>
          </a:xfrm>
          <a:prstGeom prst="roundRect">
            <a:avLst>
              <a:gd name="adj" fmla="val 50000"/>
            </a:avLst>
          </a:prstGeom>
          <a:solidFill>
            <a:srgbClr val="EAF3F2"/>
          </a:solidFill>
          <a:ln/>
        </p:spPr>
      </p:sp>
      <p:sp>
        <p:nvSpPr>
          <p:cNvPr id="26" name="Text 20"/>
          <p:cNvSpPr/>
          <p:nvPr/>
        </p:nvSpPr>
        <p:spPr>
          <a:xfrm>
            <a:off x="8321040" y="3172968"/>
            <a:ext cx="2926080" cy="420624"/>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Christlike</a:t>
            </a:r>
            <a:endParaRPr lang="en-US" sz="1600" dirty="0"/>
          </a:p>
        </p:txBody>
      </p:sp>
      <p:sp>
        <p:nvSpPr>
          <p:cNvPr id="27" name="Shape 21"/>
          <p:cNvSpPr/>
          <p:nvPr/>
        </p:nvSpPr>
        <p:spPr>
          <a:xfrm>
            <a:off x="8321040" y="3694176"/>
            <a:ext cx="2926080" cy="420624"/>
          </a:xfrm>
          <a:prstGeom prst="roundRect">
            <a:avLst>
              <a:gd name="adj" fmla="val 50000"/>
            </a:avLst>
          </a:prstGeom>
          <a:solidFill>
            <a:srgbClr val="EAF3F2"/>
          </a:solidFill>
          <a:ln/>
        </p:spPr>
      </p:sp>
      <p:sp>
        <p:nvSpPr>
          <p:cNvPr id="28" name="Text 22"/>
          <p:cNvSpPr/>
          <p:nvPr/>
        </p:nvSpPr>
        <p:spPr>
          <a:xfrm>
            <a:off x="8321040" y="3694176"/>
            <a:ext cx="2926080" cy="420624"/>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Collaborative</a:t>
            </a:r>
            <a:endParaRPr lang="en-US" sz="1600" dirty="0"/>
          </a:p>
        </p:txBody>
      </p:sp>
      <p:sp>
        <p:nvSpPr>
          <p:cNvPr id="29" name="Shape 23"/>
          <p:cNvSpPr/>
          <p:nvPr/>
        </p:nvSpPr>
        <p:spPr>
          <a:xfrm>
            <a:off x="8321040" y="4215384"/>
            <a:ext cx="2926080" cy="420624"/>
          </a:xfrm>
          <a:prstGeom prst="roundRect">
            <a:avLst>
              <a:gd name="adj" fmla="val 50000"/>
            </a:avLst>
          </a:prstGeom>
          <a:solidFill>
            <a:srgbClr val="EAF3F2"/>
          </a:solidFill>
          <a:ln/>
        </p:spPr>
      </p:sp>
      <p:sp>
        <p:nvSpPr>
          <p:cNvPr id="30" name="Text 24"/>
          <p:cNvSpPr/>
          <p:nvPr/>
        </p:nvSpPr>
        <p:spPr>
          <a:xfrm>
            <a:off x="8321040" y="4215384"/>
            <a:ext cx="2926080" cy="420624"/>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Capable</a:t>
            </a:r>
            <a:endParaRPr lang="en-US" sz="1600" dirty="0"/>
          </a:p>
        </p:txBody>
      </p:sp>
      <p:sp>
        <p:nvSpPr>
          <p:cNvPr id="31" name="Shape 25"/>
          <p:cNvSpPr/>
          <p:nvPr/>
        </p:nvSpPr>
        <p:spPr>
          <a:xfrm>
            <a:off x="8321040" y="4736592"/>
            <a:ext cx="2926080" cy="420624"/>
          </a:xfrm>
          <a:prstGeom prst="roundRect">
            <a:avLst>
              <a:gd name="adj" fmla="val 50000"/>
            </a:avLst>
          </a:prstGeom>
          <a:solidFill>
            <a:srgbClr val="EAF3F2"/>
          </a:solidFill>
          <a:ln/>
        </p:spPr>
      </p:sp>
      <p:sp>
        <p:nvSpPr>
          <p:cNvPr id="32" name="Text 26"/>
          <p:cNvSpPr/>
          <p:nvPr/>
        </p:nvSpPr>
        <p:spPr>
          <a:xfrm>
            <a:off x="8321040" y="4736592"/>
            <a:ext cx="2926080" cy="420624"/>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Creative</a:t>
            </a:r>
            <a:endParaRPr lang="en-US" sz="1600" dirty="0"/>
          </a:p>
        </p:txBody>
      </p:sp>
      <p:sp>
        <p:nvSpPr>
          <p:cNvPr id="33" name="Text 27"/>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34" name="Text 28"/>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GOOD VS. WEAK PROJECT IDEAS</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Would it survive a semester? Could a team grow into it? Does anyone need it?</a:t>
            </a:r>
            <a:endParaRPr lang="en-US" sz="3000" dirty="0"/>
          </a:p>
        </p:txBody>
      </p:sp>
      <p:sp>
        <p:nvSpPr>
          <p:cNvPr id="5" name="Shape 3"/>
          <p:cNvSpPr/>
          <p:nvPr/>
        </p:nvSpPr>
        <p:spPr>
          <a:xfrm>
            <a:off x="548640" y="1965960"/>
            <a:ext cx="5394960" cy="3794760"/>
          </a:xfrm>
          <a:prstGeom prst="roundRect">
            <a:avLst>
              <a:gd name="adj" fmla="val 2169"/>
            </a:avLst>
          </a:prstGeom>
          <a:solidFill>
            <a:srgbClr val="EAF4EE"/>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212848"/>
            <a:ext cx="548640" cy="548640"/>
          </a:xfrm>
          <a:prstGeom prst="ellipse">
            <a:avLst/>
          </a:prstGeom>
          <a:solidFill>
            <a:srgbClr val="3E9C6B"/>
          </a:solidFill>
          <a:ln/>
        </p:spPr>
      </p:sp>
      <p:pic>
        <p:nvPicPr>
          <p:cNvPr id="7" name="Image 0" descr="preencoded.png">    </p:cNvPr>
          <p:cNvPicPr>
            <a:picLocks noChangeAspect="1"/>
          </p:cNvPicPr>
          <p:nvPr/>
        </p:nvPicPr>
        <p:blipFill>
          <a:blip r:embed="rId1"/>
          <a:stretch>
            <a:fillRect/>
          </a:stretch>
        </p:blipFill>
        <p:spPr>
          <a:xfrm>
            <a:off x="971093" y="2360981"/>
            <a:ext cx="252374" cy="252374"/>
          </a:xfrm>
          <a:prstGeom prst="rect">
            <a:avLst/>
          </a:prstGeom>
        </p:spPr>
      </p:pic>
      <p:sp>
        <p:nvSpPr>
          <p:cNvPr id="8" name="Text 5"/>
          <p:cNvSpPr/>
          <p:nvPr/>
        </p:nvSpPr>
        <p:spPr>
          <a:xfrm>
            <a:off x="1508760" y="2286000"/>
            <a:ext cx="4114800" cy="411480"/>
          </a:xfrm>
          <a:prstGeom prst="rect">
            <a:avLst/>
          </a:prstGeom>
          <a:noFill/>
          <a:ln/>
        </p:spPr>
        <p:txBody>
          <a:bodyPr wrap="square" lIns="0" tIns="0" rIns="0" bIns="0" rtlCol="0" anchor="ctr"/>
          <a:lstStyle/>
          <a:p>
            <a:pPr indent="0" marL="0">
              <a:buNone/>
            </a:pPr>
            <a:r>
              <a:rPr lang="en-US" sz="1950" b="1" dirty="0">
                <a:solidFill>
                  <a:srgbClr val="3E9C6B"/>
                </a:solidFill>
                <a:latin typeface="Calibri" pitchFamily="34" charset="0"/>
                <a:ea typeface="Calibri" pitchFamily="34" charset="-122"/>
                <a:cs typeface="Calibri" pitchFamily="34" charset="-120"/>
              </a:rPr>
              <a:t>STRONG</a:t>
            </a:r>
            <a:endParaRPr lang="en-US" sz="1950" dirty="0"/>
          </a:p>
        </p:txBody>
      </p:sp>
      <p:sp>
        <p:nvSpPr>
          <p:cNvPr id="9" name="Text 6"/>
          <p:cNvSpPr/>
          <p:nvPr/>
        </p:nvSpPr>
        <p:spPr>
          <a:xfrm>
            <a:off x="868680" y="2971800"/>
            <a:ext cx="4800600" cy="365760"/>
          </a:xfrm>
          <a:prstGeom prst="rect">
            <a:avLst/>
          </a:prstGeom>
          <a:noFill/>
          <a:ln/>
        </p:spPr>
        <p:txBody>
          <a:bodyPr wrap="square" lIns="0" tIns="0" rIns="0" bIns="0" rtlCol="0" anchor="ctr"/>
          <a:lstStyle/>
          <a:p>
            <a:pPr indent="0" marL="0">
              <a:buNone/>
            </a:pPr>
            <a:r>
              <a:rPr lang="en-US" sz="1750" b="1" dirty="0">
                <a:solidFill>
                  <a:srgbClr val="1E2A36"/>
                </a:solidFill>
                <a:latin typeface="Calibri" pitchFamily="34" charset="0"/>
                <a:ea typeface="Calibri" pitchFamily="34" charset="-122"/>
                <a:cs typeface="Calibri" pitchFamily="34" charset="-120"/>
              </a:rPr>
              <a:t>Campus resource reservation</a:t>
            </a:r>
            <a:endParaRPr lang="en-US" sz="1750" dirty="0"/>
          </a:p>
        </p:txBody>
      </p:sp>
      <p:sp>
        <p:nvSpPr>
          <p:cNvPr id="10" name="Text 7"/>
          <p:cNvSpPr/>
          <p:nvPr/>
        </p:nvSpPr>
        <p:spPr>
          <a:xfrm>
            <a:off x="868680" y="3337560"/>
            <a:ext cx="4800600" cy="868680"/>
          </a:xfrm>
          <a:prstGeom prst="rect">
            <a:avLst/>
          </a:prstGeom>
          <a:noFill/>
          <a:ln/>
        </p:spPr>
        <p:txBody>
          <a:bodyPr wrap="square" lIns="0" tIns="0" rIns="0" bIns="0" rtlCol="0" anchor="ctr"/>
          <a:lstStyle/>
          <a:p>
            <a:pPr indent="0" marL="0">
              <a:lnSpc>
                <a:spcPct val="103000"/>
              </a:lnSpc>
              <a:buNone/>
            </a:pPr>
            <a:r>
              <a:rPr lang="en-US" sz="1450" dirty="0">
                <a:solidFill>
                  <a:srgbClr val="5F7284"/>
                </a:solidFill>
                <a:latin typeface="Calibri" pitchFamily="34" charset="0"/>
                <a:ea typeface="Calibri" pitchFamily="34" charset="-122"/>
                <a:cs typeface="Calibri" pitchFamily="34" charset="-120"/>
              </a:rPr>
              <a:t>Practice rooms, lab gear, makerspace. Real reachable users; rich; clear one-semester MVP; extensible.</a:t>
            </a:r>
            <a:endParaRPr lang="en-US" sz="1450" dirty="0"/>
          </a:p>
        </p:txBody>
      </p:sp>
      <p:sp>
        <p:nvSpPr>
          <p:cNvPr id="11" name="Text 8"/>
          <p:cNvSpPr/>
          <p:nvPr/>
        </p:nvSpPr>
        <p:spPr>
          <a:xfrm>
            <a:off x="868680" y="4297680"/>
            <a:ext cx="4800600" cy="365760"/>
          </a:xfrm>
          <a:prstGeom prst="rect">
            <a:avLst/>
          </a:prstGeom>
          <a:noFill/>
          <a:ln/>
        </p:spPr>
        <p:txBody>
          <a:bodyPr wrap="square" lIns="0" tIns="0" rIns="0" bIns="0" rtlCol="0" anchor="ctr"/>
          <a:lstStyle/>
          <a:p>
            <a:pPr indent="0" marL="0">
              <a:buNone/>
            </a:pPr>
            <a:r>
              <a:rPr lang="en-US" sz="1750" b="1" dirty="0">
                <a:solidFill>
                  <a:srgbClr val="1E2A36"/>
                </a:solidFill>
                <a:latin typeface="Calibri" pitchFamily="34" charset="0"/>
                <a:ea typeface="Calibri" pitchFamily="34" charset="-122"/>
                <a:cs typeface="Calibri" pitchFamily="34" charset="-120"/>
              </a:rPr>
              <a:t>Volunteer / shift coordination</a:t>
            </a:r>
            <a:endParaRPr lang="en-US" sz="1750" dirty="0"/>
          </a:p>
        </p:txBody>
      </p:sp>
      <p:sp>
        <p:nvSpPr>
          <p:cNvPr id="12" name="Text 9"/>
          <p:cNvSpPr/>
          <p:nvPr/>
        </p:nvSpPr>
        <p:spPr>
          <a:xfrm>
            <a:off x="868680" y="4663440"/>
            <a:ext cx="4800600" cy="868680"/>
          </a:xfrm>
          <a:prstGeom prst="rect">
            <a:avLst/>
          </a:prstGeom>
          <a:noFill/>
          <a:ln/>
        </p:spPr>
        <p:txBody>
          <a:bodyPr wrap="square" lIns="0" tIns="0" rIns="0" bIns="0" rtlCol="0" anchor="ctr"/>
          <a:lstStyle/>
          <a:p>
            <a:pPr indent="0" marL="0">
              <a:lnSpc>
                <a:spcPct val="103000"/>
              </a:lnSpc>
              <a:buNone/>
            </a:pPr>
            <a:r>
              <a:rPr lang="en-US" sz="1450" dirty="0">
                <a:solidFill>
                  <a:srgbClr val="5F7284"/>
                </a:solidFill>
                <a:latin typeface="Calibri" pitchFamily="34" charset="0"/>
                <a:ea typeface="Calibri" pitchFamily="34" charset="-122"/>
                <a:cs typeface="Calibri" pitchFamily="34" charset="-120"/>
              </a:rPr>
              <a:t>For a nonprofit or a ward activity. Service-oriented; roles, scheduling, reminders, reporting.</a:t>
            </a:r>
            <a:endParaRPr lang="en-US" sz="1450" dirty="0"/>
          </a:p>
        </p:txBody>
      </p:sp>
      <p:sp>
        <p:nvSpPr>
          <p:cNvPr id="13" name="Shape 10"/>
          <p:cNvSpPr/>
          <p:nvPr/>
        </p:nvSpPr>
        <p:spPr>
          <a:xfrm>
            <a:off x="6217920" y="1965960"/>
            <a:ext cx="5394960" cy="3794760"/>
          </a:xfrm>
          <a:prstGeom prst="roundRect">
            <a:avLst>
              <a:gd name="adj" fmla="val 2169"/>
            </a:avLst>
          </a:prstGeom>
          <a:solidFill>
            <a:srgbClr val="FBECE8"/>
          </a:solidFill>
          <a:ln/>
          <a:effectLst>
            <a:outerShdw sx="100000" sy="100000" kx="0" ky="0" algn="bl" rotWithShape="0" blurRad="88900" dist="38100" dir="5400000">
              <a:srgbClr val="000000">
                <a:alpha val="13000"/>
              </a:srgbClr>
            </a:outerShdw>
          </a:effectLst>
        </p:spPr>
      </p:sp>
      <p:sp>
        <p:nvSpPr>
          <p:cNvPr id="14" name="Shape 11"/>
          <p:cNvSpPr/>
          <p:nvPr/>
        </p:nvSpPr>
        <p:spPr>
          <a:xfrm>
            <a:off x="6492240" y="2212848"/>
            <a:ext cx="548640" cy="548640"/>
          </a:xfrm>
          <a:prstGeom prst="ellipse">
            <a:avLst/>
          </a:prstGeom>
          <a:solidFill>
            <a:srgbClr val="D9614C"/>
          </a:solidFill>
          <a:ln/>
        </p:spPr>
      </p:sp>
      <p:pic>
        <p:nvPicPr>
          <p:cNvPr id="15" name="Image 1" descr="preencoded.png">    </p:cNvPr>
          <p:cNvPicPr>
            <a:picLocks noChangeAspect="1"/>
          </p:cNvPicPr>
          <p:nvPr/>
        </p:nvPicPr>
        <p:blipFill>
          <a:blip r:embed="rId2"/>
          <a:stretch>
            <a:fillRect/>
          </a:stretch>
        </p:blipFill>
        <p:spPr>
          <a:xfrm>
            <a:off x="6640373" y="2360981"/>
            <a:ext cx="252374" cy="252374"/>
          </a:xfrm>
          <a:prstGeom prst="rect">
            <a:avLst/>
          </a:prstGeom>
        </p:spPr>
      </p:pic>
      <p:sp>
        <p:nvSpPr>
          <p:cNvPr id="16" name="Text 12"/>
          <p:cNvSpPr/>
          <p:nvPr/>
        </p:nvSpPr>
        <p:spPr>
          <a:xfrm>
            <a:off x="7178040" y="2286000"/>
            <a:ext cx="4114800" cy="411480"/>
          </a:xfrm>
          <a:prstGeom prst="rect">
            <a:avLst/>
          </a:prstGeom>
          <a:noFill/>
          <a:ln/>
        </p:spPr>
        <p:txBody>
          <a:bodyPr wrap="square" lIns="0" tIns="0" rIns="0" bIns="0" rtlCol="0" anchor="ctr"/>
          <a:lstStyle/>
          <a:p>
            <a:pPr indent="0" marL="0">
              <a:buNone/>
            </a:pPr>
            <a:r>
              <a:rPr lang="en-US" sz="1950" b="1" dirty="0">
                <a:solidFill>
                  <a:srgbClr val="D9614C"/>
                </a:solidFill>
                <a:latin typeface="Calibri" pitchFamily="34" charset="0"/>
                <a:ea typeface="Calibri" pitchFamily="34" charset="-122"/>
                <a:cs typeface="Calibri" pitchFamily="34" charset="-120"/>
              </a:rPr>
              <a:t>WEAK</a:t>
            </a:r>
            <a:endParaRPr lang="en-US" sz="1950" dirty="0"/>
          </a:p>
        </p:txBody>
      </p:sp>
      <p:sp>
        <p:nvSpPr>
          <p:cNvPr id="17" name="Text 13"/>
          <p:cNvSpPr/>
          <p:nvPr/>
        </p:nvSpPr>
        <p:spPr>
          <a:xfrm>
            <a:off x="6537960" y="2971800"/>
            <a:ext cx="4800600" cy="365760"/>
          </a:xfrm>
          <a:prstGeom prst="rect">
            <a:avLst/>
          </a:prstGeom>
          <a:noFill/>
          <a:ln/>
        </p:spPr>
        <p:txBody>
          <a:bodyPr wrap="square" lIns="0" tIns="0" rIns="0" bIns="0" rtlCol="0" anchor="ctr"/>
          <a:lstStyle/>
          <a:p>
            <a:pPr indent="0" marL="0">
              <a:buNone/>
            </a:pPr>
            <a:r>
              <a:rPr lang="en-US" sz="1750" b="1" dirty="0">
                <a:solidFill>
                  <a:srgbClr val="1E2A36"/>
                </a:solidFill>
                <a:latin typeface="Calibri" pitchFamily="34" charset="0"/>
                <a:ea typeface="Calibri" pitchFamily="34" charset="-122"/>
                <a:cs typeface="Calibri" pitchFamily="34" charset="-120"/>
              </a:rPr>
              <a:t>Generic to-do / habit tracker</a:t>
            </a:r>
            <a:endParaRPr lang="en-US" sz="1750" dirty="0"/>
          </a:p>
        </p:txBody>
      </p:sp>
      <p:sp>
        <p:nvSpPr>
          <p:cNvPr id="18" name="Text 14"/>
          <p:cNvSpPr/>
          <p:nvPr/>
        </p:nvSpPr>
        <p:spPr>
          <a:xfrm>
            <a:off x="6537960" y="3337560"/>
            <a:ext cx="4800600" cy="868680"/>
          </a:xfrm>
          <a:prstGeom prst="rect">
            <a:avLst/>
          </a:prstGeom>
          <a:noFill/>
          <a:ln/>
        </p:spPr>
        <p:txBody>
          <a:bodyPr wrap="square" lIns="0" tIns="0" rIns="0" bIns="0" rtlCol="0" anchor="ctr"/>
          <a:lstStyle/>
          <a:p>
            <a:pPr indent="0" marL="0">
              <a:lnSpc>
                <a:spcPct val="103000"/>
              </a:lnSpc>
              <a:buNone/>
            </a:pPr>
            <a:r>
              <a:rPr lang="en-US" sz="1450" dirty="0">
                <a:solidFill>
                  <a:srgbClr val="5F7284"/>
                </a:solidFill>
                <a:latin typeface="Calibri" pitchFamily="34" charset="0"/>
                <a:ea typeface="Calibri" pitchFamily="34" charset="-122"/>
                <a:cs typeface="Calibri" pitchFamily="34" charset="-120"/>
              </a:rPr>
              <a:t>No unmet need, no external users, low richness.</a:t>
            </a:r>
            <a:endParaRPr lang="en-US" sz="1450" dirty="0"/>
          </a:p>
        </p:txBody>
      </p:sp>
      <p:sp>
        <p:nvSpPr>
          <p:cNvPr id="19" name="Text 15"/>
          <p:cNvSpPr/>
          <p:nvPr/>
        </p:nvSpPr>
        <p:spPr>
          <a:xfrm>
            <a:off x="6537960" y="4297680"/>
            <a:ext cx="4800600" cy="365760"/>
          </a:xfrm>
          <a:prstGeom prst="rect">
            <a:avLst/>
          </a:prstGeom>
          <a:noFill/>
          <a:ln/>
        </p:spPr>
        <p:txBody>
          <a:bodyPr wrap="square" lIns="0" tIns="0" rIns="0" bIns="0" rtlCol="0" anchor="ctr"/>
          <a:lstStyle/>
          <a:p>
            <a:pPr indent="0" marL="0">
              <a:buNone/>
            </a:pPr>
            <a:r>
              <a:rPr lang="en-US" sz="1750" b="1" dirty="0">
                <a:solidFill>
                  <a:srgbClr val="1E2A36"/>
                </a:solidFill>
                <a:latin typeface="Calibri" pitchFamily="34" charset="0"/>
                <a:ea typeface="Calibri" pitchFamily="34" charset="-122"/>
                <a:cs typeface="Calibri" pitchFamily="34" charset="-120"/>
              </a:rPr>
              <a:t>A clone of a major app (Twitter, Spotify)</a:t>
            </a:r>
            <a:endParaRPr lang="en-US" sz="1750" dirty="0"/>
          </a:p>
        </p:txBody>
      </p:sp>
      <p:sp>
        <p:nvSpPr>
          <p:cNvPr id="20" name="Text 16"/>
          <p:cNvSpPr/>
          <p:nvPr/>
        </p:nvSpPr>
        <p:spPr>
          <a:xfrm>
            <a:off x="6537960" y="4663440"/>
            <a:ext cx="4800600" cy="868680"/>
          </a:xfrm>
          <a:prstGeom prst="rect">
            <a:avLst/>
          </a:prstGeom>
          <a:noFill/>
          <a:ln/>
        </p:spPr>
        <p:txBody>
          <a:bodyPr wrap="square" lIns="0" tIns="0" rIns="0" bIns="0" rtlCol="0" anchor="ctr"/>
          <a:lstStyle/>
          <a:p>
            <a:pPr indent="0" marL="0">
              <a:lnSpc>
                <a:spcPct val="103000"/>
              </a:lnSpc>
              <a:buNone/>
            </a:pPr>
            <a:r>
              <a:rPr lang="en-US" sz="1450" dirty="0">
                <a:solidFill>
                  <a:srgbClr val="5F7284"/>
                </a:solidFill>
                <a:latin typeface="Calibri" pitchFamily="34" charset="0"/>
                <a:ea typeface="Calibri" pitchFamily="34" charset="-122"/>
                <a:cs typeface="Calibri" pitchFamily="34" charset="-120"/>
              </a:rPr>
              <a:t>Great for learning — which is why design courses build them — but not founding: the need is already met.</a:t>
            </a:r>
            <a:endParaRPr lang="en-US" sz="1450" dirty="0"/>
          </a:p>
        </p:txBody>
      </p:sp>
      <p:sp>
        <p:nvSpPr>
          <p:cNvPr id="21" name="Text 17"/>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22" name="Text 18"/>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SHARED YARDSTICK</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What we're selecting for</a:t>
            </a:r>
            <a:endParaRPr lang="en-US" sz="3000" dirty="0"/>
          </a:p>
        </p:txBody>
      </p:sp>
      <p:sp>
        <p:nvSpPr>
          <p:cNvPr id="5" name="Shape 3"/>
          <p:cNvSpPr/>
          <p:nvPr/>
        </p:nvSpPr>
        <p:spPr>
          <a:xfrm>
            <a:off x="640080" y="1828800"/>
            <a:ext cx="420624" cy="420624"/>
          </a:xfrm>
          <a:prstGeom prst="ellipse">
            <a:avLst/>
          </a:prstGeom>
          <a:solidFill>
            <a:srgbClr val="E8A33D"/>
          </a:solidFill>
          <a:ln/>
        </p:spPr>
      </p:sp>
      <p:pic>
        <p:nvPicPr>
          <p:cNvPr id="6" name="Image 0" descr="preencoded.png">    </p:cNvPr>
          <p:cNvPicPr>
            <a:picLocks noChangeAspect="1"/>
          </p:cNvPicPr>
          <p:nvPr/>
        </p:nvPicPr>
        <p:blipFill>
          <a:blip r:embed="rId1"/>
          <a:stretch>
            <a:fillRect/>
          </a:stretch>
        </p:blipFill>
        <p:spPr>
          <a:xfrm>
            <a:off x="753648" y="1942368"/>
            <a:ext cx="193487" cy="193487"/>
          </a:xfrm>
          <a:prstGeom prst="rect">
            <a:avLst/>
          </a:prstGeom>
        </p:spPr>
      </p:pic>
      <p:sp>
        <p:nvSpPr>
          <p:cNvPr id="7" name="Text 4"/>
          <p:cNvSpPr/>
          <p:nvPr/>
        </p:nvSpPr>
        <p:spPr>
          <a:xfrm>
            <a:off x="1280160" y="1828800"/>
            <a:ext cx="7315200" cy="420624"/>
          </a:xfrm>
          <a:prstGeom prst="rect">
            <a:avLst/>
          </a:prstGeom>
          <a:noFill/>
          <a:ln/>
        </p:spPr>
        <p:txBody>
          <a:bodyPr wrap="square" lIns="0" tIns="0" rIns="0" bIns="0" rtlCol="0" anchor="ctr"/>
          <a:lstStyle/>
          <a:p>
            <a:pPr indent="0" marL="0">
              <a:buNone/>
            </a:pPr>
            <a:r>
              <a:rPr lang="en-US" sz="1750" b="1" dirty="0">
                <a:solidFill>
                  <a:srgbClr val="1E2A36"/>
                </a:solidFill>
                <a:latin typeface="Calibri" pitchFamily="34" charset="0"/>
                <a:ea typeface="Calibri" pitchFamily="34" charset="-122"/>
                <a:cs typeface="Calibri" pitchFamily="34" charset="-120"/>
              </a:rPr>
              <a:t>Serves a real need for a real, reachable userbase</a:t>
            </a:r>
            <a:endParaRPr lang="en-US" sz="1750" dirty="0"/>
          </a:p>
        </p:txBody>
      </p:sp>
      <p:sp>
        <p:nvSpPr>
          <p:cNvPr id="8" name="Shape 5"/>
          <p:cNvSpPr/>
          <p:nvPr/>
        </p:nvSpPr>
        <p:spPr>
          <a:xfrm>
            <a:off x="640080" y="2359152"/>
            <a:ext cx="420624" cy="420624"/>
          </a:xfrm>
          <a:prstGeom prst="ellipse">
            <a:avLst/>
          </a:prstGeom>
          <a:solidFill>
            <a:srgbClr val="E8A33D"/>
          </a:solidFill>
          <a:ln/>
        </p:spPr>
      </p:sp>
      <p:pic>
        <p:nvPicPr>
          <p:cNvPr id="9" name="Image 1" descr="preencoded.png">    </p:cNvPr>
          <p:cNvPicPr>
            <a:picLocks noChangeAspect="1"/>
          </p:cNvPicPr>
          <p:nvPr/>
        </p:nvPicPr>
        <p:blipFill>
          <a:blip r:embed="rId2"/>
          <a:stretch>
            <a:fillRect/>
          </a:stretch>
        </p:blipFill>
        <p:spPr>
          <a:xfrm>
            <a:off x="753648" y="2472720"/>
            <a:ext cx="193487" cy="193487"/>
          </a:xfrm>
          <a:prstGeom prst="rect">
            <a:avLst/>
          </a:prstGeom>
        </p:spPr>
      </p:pic>
      <p:sp>
        <p:nvSpPr>
          <p:cNvPr id="10" name="Text 6"/>
          <p:cNvSpPr/>
          <p:nvPr/>
        </p:nvSpPr>
        <p:spPr>
          <a:xfrm>
            <a:off x="1280160" y="2359152"/>
            <a:ext cx="7315200" cy="420624"/>
          </a:xfrm>
          <a:prstGeom prst="rect">
            <a:avLst/>
          </a:prstGeom>
          <a:noFill/>
          <a:ln/>
        </p:spPr>
        <p:txBody>
          <a:bodyPr wrap="square" lIns="0" tIns="0" rIns="0" bIns="0" rtlCol="0" anchor="ctr"/>
          <a:lstStyle/>
          <a:p>
            <a:pPr indent="0" marL="0">
              <a:buNone/>
            </a:pPr>
            <a:r>
              <a:rPr lang="en-US" sz="1750" b="1" dirty="0">
                <a:solidFill>
                  <a:srgbClr val="1E2A36"/>
                </a:solidFill>
                <a:latin typeface="Calibri" pitchFamily="34" charset="0"/>
                <a:ea typeface="Calibri" pitchFamily="34" charset="-122"/>
                <a:cs typeface="Calibri" pitchFamily="34" charset="-120"/>
              </a:rPr>
              <a:t>Rich / broad — exercises many engineering dimensions</a:t>
            </a:r>
            <a:endParaRPr lang="en-US" sz="1750" dirty="0"/>
          </a:p>
        </p:txBody>
      </p:sp>
      <p:sp>
        <p:nvSpPr>
          <p:cNvPr id="11" name="Shape 7"/>
          <p:cNvSpPr/>
          <p:nvPr/>
        </p:nvSpPr>
        <p:spPr>
          <a:xfrm>
            <a:off x="640080" y="2889504"/>
            <a:ext cx="420624" cy="420624"/>
          </a:xfrm>
          <a:prstGeom prst="ellipse">
            <a:avLst/>
          </a:prstGeom>
          <a:solidFill>
            <a:srgbClr val="12908F"/>
          </a:solidFill>
          <a:ln/>
        </p:spPr>
      </p:sp>
      <p:pic>
        <p:nvPicPr>
          <p:cNvPr id="12" name="Image 2" descr="preencoded.png">    </p:cNvPr>
          <p:cNvPicPr>
            <a:picLocks noChangeAspect="1"/>
          </p:cNvPicPr>
          <p:nvPr/>
        </p:nvPicPr>
        <p:blipFill>
          <a:blip r:embed="rId3"/>
          <a:stretch>
            <a:fillRect/>
          </a:stretch>
        </p:blipFill>
        <p:spPr>
          <a:xfrm>
            <a:off x="753648" y="3003072"/>
            <a:ext cx="193487" cy="193487"/>
          </a:xfrm>
          <a:prstGeom prst="rect">
            <a:avLst/>
          </a:prstGeom>
        </p:spPr>
      </p:pic>
      <p:sp>
        <p:nvSpPr>
          <p:cNvPr id="13" name="Text 8"/>
          <p:cNvSpPr/>
          <p:nvPr/>
        </p:nvSpPr>
        <p:spPr>
          <a:xfrm>
            <a:off x="1280160" y="2889504"/>
            <a:ext cx="7315200" cy="420624"/>
          </a:xfrm>
          <a:prstGeom prst="rect">
            <a:avLst/>
          </a:prstGeom>
          <a:noFill/>
          <a:ln/>
        </p:spPr>
        <p:txBody>
          <a:bodyPr wrap="square" lIns="0" tIns="0" rIns="0" bIns="0" rtlCol="0" anchor="ctr"/>
          <a:lstStyle/>
          <a:p>
            <a:pPr indent="0" marL="0">
              <a:buNone/>
            </a:pPr>
            <a:r>
              <a:rPr lang="en-US" sz="1750" dirty="0">
                <a:solidFill>
                  <a:srgbClr val="1E2A36"/>
                </a:solidFill>
                <a:latin typeface="Calibri" pitchFamily="34" charset="0"/>
                <a:ea typeface="Calibri" pitchFamily="34" charset="-122"/>
                <a:cs typeface="Calibri" pitchFamily="34" charset="-120"/>
              </a:rPr>
              <a:t>Open-source-worthy</a:t>
            </a:r>
            <a:endParaRPr lang="en-US" sz="1750" dirty="0"/>
          </a:p>
        </p:txBody>
      </p:sp>
      <p:sp>
        <p:nvSpPr>
          <p:cNvPr id="14" name="Shape 9"/>
          <p:cNvSpPr/>
          <p:nvPr/>
        </p:nvSpPr>
        <p:spPr>
          <a:xfrm>
            <a:off x="640080" y="3419856"/>
            <a:ext cx="420624" cy="420624"/>
          </a:xfrm>
          <a:prstGeom prst="ellipse">
            <a:avLst/>
          </a:prstGeom>
          <a:solidFill>
            <a:srgbClr val="12908F"/>
          </a:solidFill>
          <a:ln/>
        </p:spPr>
      </p:sp>
      <p:pic>
        <p:nvPicPr>
          <p:cNvPr id="15" name="Image 3" descr="preencoded.png">    </p:cNvPr>
          <p:cNvPicPr>
            <a:picLocks noChangeAspect="1"/>
          </p:cNvPicPr>
          <p:nvPr/>
        </p:nvPicPr>
        <p:blipFill>
          <a:blip r:embed="rId4"/>
          <a:stretch>
            <a:fillRect/>
          </a:stretch>
        </p:blipFill>
        <p:spPr>
          <a:xfrm>
            <a:off x="753648" y="3533424"/>
            <a:ext cx="193487" cy="193487"/>
          </a:xfrm>
          <a:prstGeom prst="rect">
            <a:avLst/>
          </a:prstGeom>
        </p:spPr>
      </p:pic>
      <p:sp>
        <p:nvSpPr>
          <p:cNvPr id="16" name="Text 10"/>
          <p:cNvSpPr/>
          <p:nvPr/>
        </p:nvSpPr>
        <p:spPr>
          <a:xfrm>
            <a:off x="1280160" y="3419856"/>
            <a:ext cx="7315200" cy="420624"/>
          </a:xfrm>
          <a:prstGeom prst="rect">
            <a:avLst/>
          </a:prstGeom>
          <a:noFill/>
          <a:ln/>
        </p:spPr>
        <p:txBody>
          <a:bodyPr wrap="square" lIns="0" tIns="0" rIns="0" bIns="0" rtlCol="0" anchor="ctr"/>
          <a:lstStyle/>
          <a:p>
            <a:pPr indent="0" marL="0">
              <a:buNone/>
            </a:pPr>
            <a:r>
              <a:rPr lang="en-US" sz="1750" dirty="0">
                <a:solidFill>
                  <a:srgbClr val="1E2A36"/>
                </a:solidFill>
                <a:latin typeface="Calibri" pitchFamily="34" charset="0"/>
                <a:ea typeface="Calibri" pitchFamily="34" charset="-122"/>
                <a:cs typeface="Calibri" pitchFamily="34" charset="-120"/>
              </a:rPr>
              <a:t>Has a one-semester MVP (~5 real build weeks)</a:t>
            </a:r>
            <a:endParaRPr lang="en-US" sz="1750" dirty="0"/>
          </a:p>
        </p:txBody>
      </p:sp>
      <p:sp>
        <p:nvSpPr>
          <p:cNvPr id="17" name="Shape 11"/>
          <p:cNvSpPr/>
          <p:nvPr/>
        </p:nvSpPr>
        <p:spPr>
          <a:xfrm>
            <a:off x="640080" y="3950208"/>
            <a:ext cx="420624" cy="420624"/>
          </a:xfrm>
          <a:prstGeom prst="ellipse">
            <a:avLst/>
          </a:prstGeom>
          <a:solidFill>
            <a:srgbClr val="12908F"/>
          </a:solidFill>
          <a:ln/>
        </p:spPr>
      </p:sp>
      <p:pic>
        <p:nvPicPr>
          <p:cNvPr id="18" name="Image 4" descr="preencoded.png">    </p:cNvPr>
          <p:cNvPicPr>
            <a:picLocks noChangeAspect="1"/>
          </p:cNvPicPr>
          <p:nvPr/>
        </p:nvPicPr>
        <p:blipFill>
          <a:blip r:embed="rId5"/>
          <a:stretch>
            <a:fillRect/>
          </a:stretch>
        </p:blipFill>
        <p:spPr>
          <a:xfrm>
            <a:off x="753648" y="4063776"/>
            <a:ext cx="193487" cy="193487"/>
          </a:xfrm>
          <a:prstGeom prst="rect">
            <a:avLst/>
          </a:prstGeom>
        </p:spPr>
      </p:pic>
      <p:sp>
        <p:nvSpPr>
          <p:cNvPr id="19" name="Text 12"/>
          <p:cNvSpPr/>
          <p:nvPr/>
        </p:nvSpPr>
        <p:spPr>
          <a:xfrm>
            <a:off x="1280160" y="3950208"/>
            <a:ext cx="7315200" cy="420624"/>
          </a:xfrm>
          <a:prstGeom prst="rect">
            <a:avLst/>
          </a:prstGeom>
          <a:noFill/>
          <a:ln/>
        </p:spPr>
        <p:txBody>
          <a:bodyPr wrap="square" lIns="0" tIns="0" rIns="0" bIns="0" rtlCol="0" anchor="ctr"/>
          <a:lstStyle/>
          <a:p>
            <a:pPr indent="0" marL="0">
              <a:buNone/>
            </a:pPr>
            <a:r>
              <a:rPr lang="en-US" sz="1750" dirty="0">
                <a:solidFill>
                  <a:srgbClr val="1E2A36"/>
                </a:solidFill>
                <a:latin typeface="Calibri" pitchFamily="34" charset="0"/>
                <a:ea typeface="Calibri" pitchFamily="34" charset="-122"/>
                <a:cs typeface="Calibri" pitchFamily="34" charset="-120"/>
              </a:rPr>
              <a:t>Extensible</a:t>
            </a:r>
            <a:endParaRPr lang="en-US" sz="1750" dirty="0"/>
          </a:p>
        </p:txBody>
      </p:sp>
      <p:sp>
        <p:nvSpPr>
          <p:cNvPr id="20" name="Shape 13"/>
          <p:cNvSpPr/>
          <p:nvPr/>
        </p:nvSpPr>
        <p:spPr>
          <a:xfrm>
            <a:off x="640080" y="4480560"/>
            <a:ext cx="420624" cy="420624"/>
          </a:xfrm>
          <a:prstGeom prst="ellipse">
            <a:avLst/>
          </a:prstGeom>
          <a:solidFill>
            <a:srgbClr val="12908F"/>
          </a:solidFill>
          <a:ln/>
        </p:spPr>
      </p:sp>
      <p:pic>
        <p:nvPicPr>
          <p:cNvPr id="21" name="Image 5" descr="preencoded.png">    </p:cNvPr>
          <p:cNvPicPr>
            <a:picLocks noChangeAspect="1"/>
          </p:cNvPicPr>
          <p:nvPr/>
        </p:nvPicPr>
        <p:blipFill>
          <a:blip r:embed="rId6"/>
          <a:stretch>
            <a:fillRect/>
          </a:stretch>
        </p:blipFill>
        <p:spPr>
          <a:xfrm>
            <a:off x="753648" y="4594128"/>
            <a:ext cx="193487" cy="193487"/>
          </a:xfrm>
          <a:prstGeom prst="rect">
            <a:avLst/>
          </a:prstGeom>
        </p:spPr>
      </p:pic>
      <p:sp>
        <p:nvSpPr>
          <p:cNvPr id="22" name="Text 14"/>
          <p:cNvSpPr/>
          <p:nvPr/>
        </p:nvSpPr>
        <p:spPr>
          <a:xfrm>
            <a:off x="1280160" y="4480560"/>
            <a:ext cx="7315200" cy="420624"/>
          </a:xfrm>
          <a:prstGeom prst="rect">
            <a:avLst/>
          </a:prstGeom>
          <a:noFill/>
          <a:ln/>
        </p:spPr>
        <p:txBody>
          <a:bodyPr wrap="square" lIns="0" tIns="0" rIns="0" bIns="0" rtlCol="0" anchor="ctr"/>
          <a:lstStyle/>
          <a:p>
            <a:pPr indent="0" marL="0">
              <a:buNone/>
            </a:pPr>
            <a:r>
              <a:rPr lang="en-US" sz="1750" dirty="0">
                <a:solidFill>
                  <a:srgbClr val="1E2A36"/>
                </a:solidFill>
                <a:latin typeface="Calibri" pitchFamily="34" charset="0"/>
                <a:ea typeface="Calibri" pitchFamily="34" charset="-122"/>
                <a:cs typeface="Calibri" pitchFamily="34" charset="-120"/>
              </a:rPr>
              <a:t>Tractable stack — complexity only where it earns its keep</a:t>
            </a:r>
            <a:endParaRPr lang="en-US" sz="1750" dirty="0"/>
          </a:p>
        </p:txBody>
      </p:sp>
      <p:sp>
        <p:nvSpPr>
          <p:cNvPr id="23" name="Shape 15"/>
          <p:cNvSpPr/>
          <p:nvPr/>
        </p:nvSpPr>
        <p:spPr>
          <a:xfrm>
            <a:off x="640080" y="5010912"/>
            <a:ext cx="420624" cy="420624"/>
          </a:xfrm>
          <a:prstGeom prst="ellipse">
            <a:avLst/>
          </a:prstGeom>
          <a:solidFill>
            <a:srgbClr val="12908F"/>
          </a:solidFill>
          <a:ln/>
        </p:spPr>
      </p:sp>
      <p:pic>
        <p:nvPicPr>
          <p:cNvPr id="24" name="Image 6" descr="preencoded.png">    </p:cNvPr>
          <p:cNvPicPr>
            <a:picLocks noChangeAspect="1"/>
          </p:cNvPicPr>
          <p:nvPr/>
        </p:nvPicPr>
        <p:blipFill>
          <a:blip r:embed="rId7"/>
          <a:stretch>
            <a:fillRect/>
          </a:stretch>
        </p:blipFill>
        <p:spPr>
          <a:xfrm>
            <a:off x="753648" y="5124480"/>
            <a:ext cx="193487" cy="193487"/>
          </a:xfrm>
          <a:prstGeom prst="rect">
            <a:avLst/>
          </a:prstGeom>
        </p:spPr>
      </p:pic>
      <p:sp>
        <p:nvSpPr>
          <p:cNvPr id="25" name="Text 16"/>
          <p:cNvSpPr/>
          <p:nvPr/>
        </p:nvSpPr>
        <p:spPr>
          <a:xfrm>
            <a:off x="1280160" y="5010912"/>
            <a:ext cx="7315200" cy="420624"/>
          </a:xfrm>
          <a:prstGeom prst="rect">
            <a:avLst/>
          </a:prstGeom>
          <a:noFill/>
          <a:ln/>
        </p:spPr>
        <p:txBody>
          <a:bodyPr wrap="square" lIns="0" tIns="0" rIns="0" bIns="0" rtlCol="0" anchor="ctr"/>
          <a:lstStyle/>
          <a:p>
            <a:pPr indent="0" marL="0">
              <a:buNone/>
            </a:pPr>
            <a:r>
              <a:rPr lang="en-US" sz="1750" dirty="0">
                <a:solidFill>
                  <a:srgbClr val="1E2A36"/>
                </a:solidFill>
                <a:latin typeface="Calibri" pitchFamily="34" charset="0"/>
                <a:ea typeface="Calibri" pitchFamily="34" charset="-122"/>
                <a:cs typeface="Calibri" pitchFamily="34" charset="-120"/>
              </a:rPr>
              <a:t>Room to grow — others can join and build on it</a:t>
            </a:r>
            <a:endParaRPr lang="en-US" sz="1750" dirty="0"/>
          </a:p>
        </p:txBody>
      </p:sp>
      <p:sp>
        <p:nvSpPr>
          <p:cNvPr id="26" name="Shape 17"/>
          <p:cNvSpPr/>
          <p:nvPr/>
        </p:nvSpPr>
        <p:spPr>
          <a:xfrm>
            <a:off x="8869680" y="1828800"/>
            <a:ext cx="2743200" cy="3657600"/>
          </a:xfrm>
          <a:prstGeom prst="roundRect">
            <a:avLst>
              <a:gd name="adj" fmla="val 3000"/>
            </a:avLst>
          </a:prstGeom>
          <a:solidFill>
            <a:srgbClr val="14233A"/>
          </a:solidFill>
          <a:ln/>
          <a:effectLst>
            <a:outerShdw sx="100000" sy="100000" kx="0" ky="0" algn="bl" rotWithShape="0" blurRad="88900" dist="38100" dir="5400000">
              <a:srgbClr val="000000">
                <a:alpha val="13000"/>
              </a:srgbClr>
            </a:outerShdw>
          </a:effectLst>
        </p:spPr>
      </p:sp>
      <p:sp>
        <p:nvSpPr>
          <p:cNvPr id="27" name="Shape 18"/>
          <p:cNvSpPr/>
          <p:nvPr/>
        </p:nvSpPr>
        <p:spPr>
          <a:xfrm>
            <a:off x="9829800" y="2148840"/>
            <a:ext cx="822960" cy="822960"/>
          </a:xfrm>
          <a:prstGeom prst="ellipse">
            <a:avLst/>
          </a:prstGeom>
          <a:solidFill>
            <a:srgbClr val="E8A33D"/>
          </a:solidFill>
          <a:ln/>
        </p:spPr>
      </p:sp>
      <p:pic>
        <p:nvPicPr>
          <p:cNvPr id="28" name="Image 7" descr="preencoded.png">    </p:cNvPr>
          <p:cNvPicPr>
            <a:picLocks noChangeAspect="1"/>
          </p:cNvPicPr>
          <p:nvPr/>
        </p:nvPicPr>
        <p:blipFill>
          <a:blip r:embed="rId8"/>
          <a:stretch>
            <a:fillRect/>
          </a:stretch>
        </p:blipFill>
        <p:spPr>
          <a:xfrm>
            <a:off x="10051999" y="2371039"/>
            <a:ext cx="378562" cy="378562"/>
          </a:xfrm>
          <a:prstGeom prst="rect">
            <a:avLst/>
          </a:prstGeom>
        </p:spPr>
      </p:pic>
      <p:sp>
        <p:nvSpPr>
          <p:cNvPr id="29" name="Text 19"/>
          <p:cNvSpPr/>
          <p:nvPr/>
        </p:nvSpPr>
        <p:spPr>
          <a:xfrm>
            <a:off x="9052560" y="3108960"/>
            <a:ext cx="2377440" cy="365760"/>
          </a:xfrm>
          <a:prstGeom prst="rect">
            <a:avLst/>
          </a:prstGeom>
          <a:noFill/>
          <a:ln/>
        </p:spPr>
        <p:txBody>
          <a:bodyPr wrap="square" lIns="0" tIns="0" rIns="0" bIns="0" rtlCol="0" anchor="ctr"/>
          <a:lstStyle/>
          <a:p>
            <a:pPr algn="ctr" indent="0" marL="0">
              <a:buNone/>
            </a:pPr>
            <a:r>
              <a:rPr lang="en-US" sz="1950" b="1" dirty="0">
                <a:solidFill>
                  <a:srgbClr val="FFFFFF"/>
                </a:solidFill>
                <a:latin typeface="Cambria" pitchFamily="34" charset="0"/>
                <a:ea typeface="Cambria" pitchFamily="34" charset="-122"/>
                <a:cs typeface="Cambria" pitchFamily="34" charset="-120"/>
              </a:rPr>
              <a:t>The north star</a:t>
            </a:r>
            <a:endParaRPr lang="en-US" sz="1950" dirty="0"/>
          </a:p>
        </p:txBody>
      </p:sp>
      <p:sp>
        <p:nvSpPr>
          <p:cNvPr id="30" name="Text 20"/>
          <p:cNvSpPr/>
          <p:nvPr/>
        </p:nvSpPr>
        <p:spPr>
          <a:xfrm>
            <a:off x="9052560" y="3520440"/>
            <a:ext cx="2377440" cy="1463040"/>
          </a:xfrm>
          <a:prstGeom prst="rect">
            <a:avLst/>
          </a:prstGeom>
          <a:noFill/>
          <a:ln/>
        </p:spPr>
        <p:txBody>
          <a:bodyPr wrap="square" lIns="0" tIns="0" rIns="0" bIns="0" rtlCol="0" anchor="ctr"/>
          <a:lstStyle/>
          <a:p>
            <a:pPr algn="ctr" indent="0" marL="0">
              <a:buNone/>
            </a:pPr>
            <a:r>
              <a:rPr lang="en-US" sz="1500" dirty="0">
                <a:solidFill>
                  <a:srgbClr val="AEC2D3"/>
                </a:solidFill>
                <a:latin typeface="Calibri" pitchFamily="34" charset="0"/>
                <a:ea typeface="Calibri" pitchFamily="34" charset="-122"/>
                <a:cs typeface="Calibri" pitchFamily="34" charset="-120"/>
              </a:rPr>
              <a:t>The two starred criteria — real need and richness — are the ones students most often miss.</a:t>
            </a:r>
            <a:endParaRPr lang="en-US" sz="1500" dirty="0"/>
          </a:p>
        </p:txBody>
      </p:sp>
      <p:sp>
        <p:nvSpPr>
          <p:cNvPr id="31" name="Shape 21"/>
          <p:cNvSpPr/>
          <p:nvPr/>
        </p:nvSpPr>
        <p:spPr>
          <a:xfrm>
            <a:off x="548640" y="5577840"/>
            <a:ext cx="11064240" cy="585216"/>
          </a:xfrm>
          <a:prstGeom prst="roundRect">
            <a:avLst>
              <a:gd name="adj" fmla="val 14063"/>
            </a:avLst>
          </a:prstGeom>
          <a:solidFill>
            <a:srgbClr val="E8A33D"/>
          </a:solidFill>
          <a:ln/>
          <a:effectLst>
            <a:outerShdw sx="100000" sy="100000" kx="0" ky="0" algn="bl" rotWithShape="0" blurRad="88900" dist="38100" dir="5400000">
              <a:srgbClr val="000000">
                <a:alpha val="13000"/>
              </a:srgbClr>
            </a:outerShdw>
          </a:effectLst>
        </p:spPr>
      </p:sp>
      <p:sp>
        <p:nvSpPr>
          <p:cNvPr id="32" name="Text 22"/>
          <p:cNvSpPr/>
          <p:nvPr/>
        </p:nvSpPr>
        <p:spPr>
          <a:xfrm>
            <a:off x="822960" y="5577840"/>
            <a:ext cx="10515600" cy="585216"/>
          </a:xfrm>
          <a:prstGeom prst="rect">
            <a:avLst/>
          </a:prstGeom>
          <a:noFill/>
          <a:ln/>
        </p:spPr>
        <p:txBody>
          <a:bodyPr wrap="square" lIns="0" tIns="0" rIns="0" bIns="0" rtlCol="0" anchor="ctr"/>
          <a:lstStyle/>
          <a:p>
            <a:pPr algn="ctr" indent="0" marL="0">
              <a:lnSpc>
                <a:spcPct val="102000"/>
              </a:lnSpc>
              <a:buNone/>
            </a:pPr>
            <a:r>
              <a:rPr lang="en-US" sz="1350" b="1" dirty="0">
                <a:solidFill>
                  <a:srgbClr val="14233A"/>
                </a:solidFill>
                <a:latin typeface="Calibri" pitchFamily="34" charset="0"/>
                <a:ea typeface="Calibri" pitchFamily="34" charset="-122"/>
                <a:cs typeface="Calibri" pitchFamily="34" charset="-120"/>
              </a:rPr>
              <a:t>A skill, not just a checklist:  </a:t>
            </a:r>
            <a:pPr algn="ctr" indent="0" marL="0">
              <a:lnSpc>
                <a:spcPct val="102000"/>
              </a:lnSpc>
              <a:buNone/>
            </a:pPr>
            <a:r>
              <a:rPr lang="en-US" sz="1350" dirty="0">
                <a:solidFill>
                  <a:srgbClr val="14233A"/>
                </a:solidFill>
                <a:latin typeface="Calibri" pitchFamily="34" charset="0"/>
                <a:ea typeface="Calibri" pitchFamily="34" charset="-122"/>
                <a:cs typeface="Calibri" pitchFamily="34" charset="-120"/>
              </a:rPr>
              <a:t>you'll score ideas against criteria all semester — and the method transfers to any idea you'll ever weigh (a startup, a proposal at work).</a:t>
            </a:r>
            <a:endParaRPr lang="en-US" sz="1350" dirty="0"/>
          </a:p>
        </p:txBody>
      </p:sp>
      <p:sp>
        <p:nvSpPr>
          <p:cNvPr id="33" name="Text 23"/>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34" name="Text 24"/>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CONVERGENCE IN ACTION</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Reshape a weak idea until it passes</a:t>
            </a:r>
            <a:endParaRPr lang="en-US" sz="3000" dirty="0"/>
          </a:p>
        </p:txBody>
      </p:sp>
      <p:sp>
        <p:nvSpPr>
          <p:cNvPr id="5" name="Shape 3"/>
          <p:cNvSpPr/>
          <p:nvPr/>
        </p:nvSpPr>
        <p:spPr>
          <a:xfrm>
            <a:off x="548640" y="2011680"/>
            <a:ext cx="3108960" cy="1371600"/>
          </a:xfrm>
          <a:prstGeom prst="roundRect">
            <a:avLst>
              <a:gd name="adj" fmla="val 6000"/>
            </a:avLst>
          </a:prstGeom>
          <a:solidFill>
            <a:srgbClr val="FBECE8"/>
          </a:solidFill>
          <a:ln/>
          <a:effectLst>
            <a:outerShdw sx="100000" sy="100000" kx="0" ky="0" algn="bl" rotWithShape="0" blurRad="88900" dist="38100" dir="5400000">
              <a:srgbClr val="000000">
                <a:alpha val="13000"/>
              </a:srgbClr>
            </a:outerShdw>
          </a:effectLst>
        </p:spPr>
      </p:sp>
      <p:sp>
        <p:nvSpPr>
          <p:cNvPr id="6" name="Text 4"/>
          <p:cNvSpPr/>
          <p:nvPr/>
        </p:nvSpPr>
        <p:spPr>
          <a:xfrm>
            <a:off x="640080" y="2011680"/>
            <a:ext cx="2926080" cy="1371600"/>
          </a:xfrm>
          <a:prstGeom prst="rect">
            <a:avLst/>
          </a:prstGeom>
          <a:noFill/>
          <a:ln/>
        </p:spPr>
        <p:txBody>
          <a:bodyPr wrap="square" lIns="0" tIns="0" rIns="0" bIns="0" rtlCol="0" anchor="ctr"/>
          <a:lstStyle/>
          <a:p>
            <a:pPr algn="ctr" indent="0" marL="0">
              <a:buNone/>
            </a:pPr>
            <a:r>
              <a:rPr lang="en-US" sz="1950" b="1" dirty="0">
                <a:solidFill>
                  <a:srgbClr val="D9614C"/>
                </a:solidFill>
                <a:latin typeface="Cambria" pitchFamily="34" charset="0"/>
                <a:ea typeface="Cambria" pitchFamily="34" charset="-122"/>
                <a:cs typeface="Cambria" pitchFamily="34" charset="-120"/>
              </a:rPr>
              <a:t>"A to-do app"</a:t>
            </a:r>
            <a:endParaRPr lang="en-US" sz="1950" dirty="0"/>
          </a:p>
        </p:txBody>
      </p:sp>
      <p:pic>
        <p:nvPicPr>
          <p:cNvPr id="7" name="Image 0" descr="preencoded.png">    </p:cNvPr>
          <p:cNvPicPr>
            <a:picLocks noChangeAspect="1"/>
          </p:cNvPicPr>
          <p:nvPr/>
        </p:nvPicPr>
        <p:blipFill>
          <a:blip r:embed="rId1"/>
          <a:stretch>
            <a:fillRect/>
          </a:stretch>
        </p:blipFill>
        <p:spPr>
          <a:xfrm>
            <a:off x="3794760" y="2468880"/>
            <a:ext cx="502920" cy="457200"/>
          </a:xfrm>
          <a:prstGeom prst="rect">
            <a:avLst/>
          </a:prstGeom>
        </p:spPr>
      </p:pic>
      <p:sp>
        <p:nvSpPr>
          <p:cNvPr id="8" name="Shape 5"/>
          <p:cNvSpPr/>
          <p:nvPr/>
        </p:nvSpPr>
        <p:spPr>
          <a:xfrm>
            <a:off x="4480560" y="2011680"/>
            <a:ext cx="7132320" cy="1371600"/>
          </a:xfrm>
          <a:prstGeom prst="roundRect">
            <a:avLst>
              <a:gd name="adj" fmla="val 6000"/>
            </a:avLst>
          </a:prstGeom>
          <a:solidFill>
            <a:srgbClr val="EAF4EE"/>
          </a:solidFill>
          <a:ln/>
          <a:effectLst>
            <a:outerShdw sx="100000" sy="100000" kx="0" ky="0" algn="bl" rotWithShape="0" blurRad="88900" dist="38100" dir="5400000">
              <a:srgbClr val="000000">
                <a:alpha val="13000"/>
              </a:srgbClr>
            </a:outerShdw>
          </a:effectLst>
        </p:spPr>
      </p:sp>
      <p:sp>
        <p:nvSpPr>
          <p:cNvPr id="9" name="Text 6"/>
          <p:cNvSpPr/>
          <p:nvPr/>
        </p:nvSpPr>
        <p:spPr>
          <a:xfrm>
            <a:off x="4709160" y="2194560"/>
            <a:ext cx="6720840" cy="457200"/>
          </a:xfrm>
          <a:prstGeom prst="rect">
            <a:avLst/>
          </a:prstGeom>
          <a:noFill/>
          <a:ln/>
        </p:spPr>
        <p:txBody>
          <a:bodyPr wrap="square" lIns="0" tIns="0" rIns="0" bIns="0" rtlCol="0" anchor="ctr"/>
          <a:lstStyle/>
          <a:p>
            <a:pPr indent="0" marL="0">
              <a:buNone/>
            </a:pPr>
            <a:r>
              <a:rPr lang="en-US" sz="1850" b="1" dirty="0">
                <a:solidFill>
                  <a:srgbClr val="1E2A36"/>
                </a:solidFill>
                <a:latin typeface="Calibri" pitchFamily="34" charset="0"/>
                <a:ea typeface="Calibri" pitchFamily="34" charset="-122"/>
                <a:cs typeface="Calibri" pitchFamily="34" charset="-120"/>
              </a:rPr>
              <a:t>A shared task board for one specific volunteer group</a:t>
            </a:r>
            <a:endParaRPr lang="en-US" sz="1850" dirty="0"/>
          </a:p>
        </p:txBody>
      </p:sp>
      <p:sp>
        <p:nvSpPr>
          <p:cNvPr id="10" name="Text 7"/>
          <p:cNvSpPr/>
          <p:nvPr/>
        </p:nvSpPr>
        <p:spPr>
          <a:xfrm>
            <a:off x="4709160" y="2670048"/>
            <a:ext cx="6720840" cy="59436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Role-based assignments and reminders. Same domain — now real users and real richness.</a:t>
            </a:r>
            <a:endParaRPr lang="en-US" sz="1450" dirty="0"/>
          </a:p>
        </p:txBody>
      </p:sp>
      <p:sp>
        <p:nvSpPr>
          <p:cNvPr id="11" name="Shape 8"/>
          <p:cNvSpPr/>
          <p:nvPr/>
        </p:nvSpPr>
        <p:spPr>
          <a:xfrm>
            <a:off x="548640" y="3794760"/>
            <a:ext cx="3108960" cy="1371600"/>
          </a:xfrm>
          <a:prstGeom prst="roundRect">
            <a:avLst>
              <a:gd name="adj" fmla="val 6000"/>
            </a:avLst>
          </a:prstGeom>
          <a:solidFill>
            <a:srgbClr val="FBECE8"/>
          </a:solidFill>
          <a:ln/>
          <a:effectLst>
            <a:outerShdw sx="100000" sy="100000" kx="0" ky="0" algn="bl" rotWithShape="0" blurRad="88900" dist="38100" dir="5400000">
              <a:srgbClr val="000000">
                <a:alpha val="13000"/>
              </a:srgbClr>
            </a:outerShdw>
          </a:effectLst>
        </p:spPr>
      </p:sp>
      <p:sp>
        <p:nvSpPr>
          <p:cNvPr id="12" name="Text 9"/>
          <p:cNvSpPr/>
          <p:nvPr/>
        </p:nvSpPr>
        <p:spPr>
          <a:xfrm>
            <a:off x="640080" y="3794760"/>
            <a:ext cx="2926080" cy="1371600"/>
          </a:xfrm>
          <a:prstGeom prst="rect">
            <a:avLst/>
          </a:prstGeom>
          <a:noFill/>
          <a:ln/>
        </p:spPr>
        <p:txBody>
          <a:bodyPr wrap="square" lIns="0" tIns="0" rIns="0" bIns="0" rtlCol="0" anchor="ctr"/>
          <a:lstStyle/>
          <a:p>
            <a:pPr algn="ctr" indent="0" marL="0">
              <a:buNone/>
            </a:pPr>
            <a:r>
              <a:rPr lang="en-US" sz="1950" b="1" dirty="0">
                <a:solidFill>
                  <a:srgbClr val="D9614C"/>
                </a:solidFill>
                <a:latin typeface="Cambria" pitchFamily="34" charset="0"/>
                <a:ea typeface="Cambria" pitchFamily="34" charset="-122"/>
                <a:cs typeface="Cambria" pitchFamily="34" charset="-120"/>
              </a:rPr>
              <a:t>"A new social network"</a:t>
            </a:r>
            <a:endParaRPr lang="en-US" sz="1950" dirty="0"/>
          </a:p>
        </p:txBody>
      </p:sp>
      <p:pic>
        <p:nvPicPr>
          <p:cNvPr id="13" name="Image 1" descr="preencoded.png">    </p:cNvPr>
          <p:cNvPicPr>
            <a:picLocks noChangeAspect="1"/>
          </p:cNvPicPr>
          <p:nvPr/>
        </p:nvPicPr>
        <p:blipFill>
          <a:blip r:embed="rId2"/>
          <a:stretch>
            <a:fillRect/>
          </a:stretch>
        </p:blipFill>
        <p:spPr>
          <a:xfrm>
            <a:off x="3794760" y="4251960"/>
            <a:ext cx="502920" cy="457200"/>
          </a:xfrm>
          <a:prstGeom prst="rect">
            <a:avLst/>
          </a:prstGeom>
        </p:spPr>
      </p:pic>
      <p:sp>
        <p:nvSpPr>
          <p:cNvPr id="14" name="Shape 10"/>
          <p:cNvSpPr/>
          <p:nvPr/>
        </p:nvSpPr>
        <p:spPr>
          <a:xfrm>
            <a:off x="4480560" y="3794760"/>
            <a:ext cx="7132320" cy="1371600"/>
          </a:xfrm>
          <a:prstGeom prst="roundRect">
            <a:avLst>
              <a:gd name="adj" fmla="val 6000"/>
            </a:avLst>
          </a:prstGeom>
          <a:solidFill>
            <a:srgbClr val="EAF4EE"/>
          </a:solidFill>
          <a:ln/>
          <a:effectLst>
            <a:outerShdw sx="100000" sy="100000" kx="0" ky="0" algn="bl" rotWithShape="0" blurRad="88900" dist="38100" dir="5400000">
              <a:srgbClr val="000000">
                <a:alpha val="13000"/>
              </a:srgbClr>
            </a:outerShdw>
          </a:effectLst>
        </p:spPr>
      </p:sp>
      <p:sp>
        <p:nvSpPr>
          <p:cNvPr id="15" name="Text 11"/>
          <p:cNvSpPr/>
          <p:nvPr/>
        </p:nvSpPr>
        <p:spPr>
          <a:xfrm>
            <a:off x="4709160" y="3977640"/>
            <a:ext cx="6720840" cy="457200"/>
          </a:xfrm>
          <a:prstGeom prst="rect">
            <a:avLst/>
          </a:prstGeom>
          <a:noFill/>
          <a:ln/>
        </p:spPr>
        <p:txBody>
          <a:bodyPr wrap="square" lIns="0" tIns="0" rIns="0" bIns="0" rtlCol="0" anchor="ctr"/>
          <a:lstStyle/>
          <a:p>
            <a:pPr indent="0" marL="0">
              <a:buNone/>
            </a:pPr>
            <a:r>
              <a:rPr lang="en-US" sz="1850" b="1" dirty="0">
                <a:solidFill>
                  <a:srgbClr val="1E2A36"/>
                </a:solidFill>
                <a:latin typeface="Calibri" pitchFamily="34" charset="0"/>
                <a:ea typeface="Calibri" pitchFamily="34" charset="-122"/>
                <a:cs typeface="Calibri" pitchFamily="34" charset="-120"/>
              </a:rPr>
              <a:t>A focused coordination tool for a single community</a:t>
            </a:r>
            <a:endParaRPr lang="en-US" sz="1850" dirty="0"/>
          </a:p>
        </p:txBody>
      </p:sp>
      <p:sp>
        <p:nvSpPr>
          <p:cNvPr id="16" name="Text 12"/>
          <p:cNvSpPr/>
          <p:nvPr/>
        </p:nvSpPr>
        <p:spPr>
          <a:xfrm>
            <a:off x="4709160" y="4453128"/>
            <a:ext cx="6720840" cy="59436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One club, one ward, one lab. The unbuildable version becomes a tractable vertical slice.</a:t>
            </a:r>
            <a:endParaRPr lang="en-US" sz="1450" dirty="0"/>
          </a:p>
        </p:txBody>
      </p:sp>
      <p:sp>
        <p:nvSpPr>
          <p:cNvPr id="17" name="Text 13"/>
          <p:cNvSpPr/>
          <p:nvPr/>
        </p:nvSpPr>
        <p:spPr>
          <a:xfrm>
            <a:off x="548640" y="5806440"/>
            <a:ext cx="11064240" cy="320040"/>
          </a:xfrm>
          <a:prstGeom prst="rect">
            <a:avLst/>
          </a:prstGeom>
          <a:noFill/>
          <a:ln/>
        </p:spPr>
        <p:txBody>
          <a:bodyPr wrap="square" lIns="0" tIns="0" rIns="0" bIns="0" rtlCol="0" anchor="ctr"/>
          <a:lstStyle/>
          <a:p>
            <a:pPr algn="ctr" indent="0" marL="0">
              <a:buNone/>
            </a:pPr>
            <a:r>
              <a:rPr lang="en-US" sz="1450" i="1" dirty="0">
                <a:solidFill>
                  <a:srgbClr val="5F7284"/>
                </a:solidFill>
                <a:latin typeface="Calibri" pitchFamily="34" charset="0"/>
                <a:ea typeface="Calibri" pitchFamily="34" charset="-122"/>
                <a:cs typeface="Calibri" pitchFamily="34" charset="-120"/>
              </a:rPr>
              <a:t>This is the convergence move they'll make for real in the Week-3 workshop.</a:t>
            </a:r>
            <a:endParaRPr lang="en-US" sz="1450" dirty="0"/>
          </a:p>
        </p:txBody>
      </p:sp>
      <p:sp>
        <p:nvSpPr>
          <p:cNvPr id="18" name="Text 14"/>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19" name="Text 15"/>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FOUNDER / MAINTAINER MINDSET</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What a founder owns</a:t>
            </a:r>
            <a:endParaRPr lang="en-US" sz="3000" dirty="0"/>
          </a:p>
        </p:txBody>
      </p:sp>
      <p:sp>
        <p:nvSpPr>
          <p:cNvPr id="5" name="Shape 3"/>
          <p:cNvSpPr/>
          <p:nvPr/>
        </p:nvSpPr>
        <p:spPr>
          <a:xfrm>
            <a:off x="548640" y="1874520"/>
            <a:ext cx="267004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2103120"/>
            <a:ext cx="566928" cy="56692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30311" y="2256191"/>
            <a:ext cx="260787" cy="260787"/>
          </a:xfrm>
          <a:prstGeom prst="rect">
            <a:avLst/>
          </a:prstGeom>
        </p:spPr>
      </p:pic>
      <p:sp>
        <p:nvSpPr>
          <p:cNvPr id="8" name="Text 5"/>
          <p:cNvSpPr/>
          <p:nvPr/>
        </p:nvSpPr>
        <p:spPr>
          <a:xfrm>
            <a:off x="731520" y="2788920"/>
            <a:ext cx="2304288" cy="3657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user need</a:t>
            </a:r>
            <a:endParaRPr lang="en-US" sz="1800" dirty="0"/>
          </a:p>
        </p:txBody>
      </p:sp>
      <p:sp>
        <p:nvSpPr>
          <p:cNvPr id="9" name="Text 6"/>
          <p:cNvSpPr/>
          <p:nvPr/>
        </p:nvSpPr>
        <p:spPr>
          <a:xfrm>
            <a:off x="731520" y="3154680"/>
            <a:ext cx="2304288" cy="77724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Understood deeply enough to speak for it.</a:t>
            </a:r>
            <a:endParaRPr lang="en-US" sz="1450" dirty="0"/>
          </a:p>
        </p:txBody>
      </p:sp>
      <p:sp>
        <p:nvSpPr>
          <p:cNvPr id="10" name="Shape 7"/>
          <p:cNvSpPr/>
          <p:nvPr/>
        </p:nvSpPr>
        <p:spPr>
          <a:xfrm>
            <a:off x="3346704" y="1874520"/>
            <a:ext cx="267004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3575304" y="2103120"/>
            <a:ext cx="566928" cy="566928"/>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3728375" y="2256191"/>
            <a:ext cx="260787" cy="260787"/>
          </a:xfrm>
          <a:prstGeom prst="rect">
            <a:avLst/>
          </a:prstGeom>
        </p:spPr>
      </p:pic>
      <p:sp>
        <p:nvSpPr>
          <p:cNvPr id="13" name="Text 9"/>
          <p:cNvSpPr/>
          <p:nvPr/>
        </p:nvSpPr>
        <p:spPr>
          <a:xfrm>
            <a:off x="3529584" y="2788920"/>
            <a:ext cx="2304288" cy="3657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decisions</a:t>
            </a:r>
            <a:endParaRPr lang="en-US" sz="1800" dirty="0"/>
          </a:p>
        </p:txBody>
      </p:sp>
      <p:sp>
        <p:nvSpPr>
          <p:cNvPr id="14" name="Text 10"/>
          <p:cNvSpPr/>
          <p:nvPr/>
        </p:nvSpPr>
        <p:spPr>
          <a:xfrm>
            <a:off x="3529584" y="3154680"/>
            <a:ext cx="2304288" cy="77724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Made and defended — architecture, scope, stack.</a:t>
            </a:r>
            <a:endParaRPr lang="en-US" sz="1450" dirty="0"/>
          </a:p>
        </p:txBody>
      </p:sp>
      <p:sp>
        <p:nvSpPr>
          <p:cNvPr id="15" name="Shape 11"/>
          <p:cNvSpPr/>
          <p:nvPr/>
        </p:nvSpPr>
        <p:spPr>
          <a:xfrm>
            <a:off x="6144768" y="1874520"/>
            <a:ext cx="267004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6373368" y="2103120"/>
            <a:ext cx="566928" cy="566928"/>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6526439" y="2256191"/>
            <a:ext cx="260787" cy="260787"/>
          </a:xfrm>
          <a:prstGeom prst="rect">
            <a:avLst/>
          </a:prstGeom>
        </p:spPr>
      </p:pic>
      <p:sp>
        <p:nvSpPr>
          <p:cNvPr id="18" name="Text 13"/>
          <p:cNvSpPr/>
          <p:nvPr/>
        </p:nvSpPr>
        <p:spPr>
          <a:xfrm>
            <a:off x="6327648" y="2788920"/>
            <a:ext cx="2304288" cy="3657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pathways</a:t>
            </a:r>
            <a:endParaRPr lang="en-US" sz="1800" dirty="0"/>
          </a:p>
        </p:txBody>
      </p:sp>
      <p:sp>
        <p:nvSpPr>
          <p:cNvPr id="19" name="Text 14"/>
          <p:cNvSpPr/>
          <p:nvPr/>
        </p:nvSpPr>
        <p:spPr>
          <a:xfrm>
            <a:off x="6327648" y="3154680"/>
            <a:ext cx="2304288" cy="77724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On-ramps that turn strangers into contributors.</a:t>
            </a:r>
            <a:endParaRPr lang="en-US" sz="1450" dirty="0"/>
          </a:p>
        </p:txBody>
      </p:sp>
      <p:sp>
        <p:nvSpPr>
          <p:cNvPr id="20" name="Shape 15"/>
          <p:cNvSpPr/>
          <p:nvPr/>
        </p:nvSpPr>
        <p:spPr>
          <a:xfrm>
            <a:off x="8942832" y="1874520"/>
            <a:ext cx="267004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9171432" y="2103120"/>
            <a:ext cx="566928" cy="566928"/>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324503" y="2256191"/>
            <a:ext cx="260787" cy="260787"/>
          </a:xfrm>
          <a:prstGeom prst="rect">
            <a:avLst/>
          </a:prstGeom>
        </p:spPr>
      </p:pic>
      <p:sp>
        <p:nvSpPr>
          <p:cNvPr id="23" name="Text 17"/>
          <p:cNvSpPr/>
          <p:nvPr/>
        </p:nvSpPr>
        <p:spPr>
          <a:xfrm>
            <a:off x="9125712" y="2788920"/>
            <a:ext cx="2304288" cy="3657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norms</a:t>
            </a:r>
            <a:endParaRPr lang="en-US" sz="1800" dirty="0"/>
          </a:p>
        </p:txBody>
      </p:sp>
      <p:sp>
        <p:nvSpPr>
          <p:cNvPr id="24" name="Text 18"/>
          <p:cNvSpPr/>
          <p:nvPr/>
        </p:nvSpPr>
        <p:spPr>
          <a:xfrm>
            <a:off x="9125712" y="3154680"/>
            <a:ext cx="2304288" cy="77724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The rules the project runs by — you write them.</a:t>
            </a:r>
            <a:endParaRPr lang="en-US" sz="1450" dirty="0"/>
          </a:p>
        </p:txBody>
      </p:sp>
      <p:sp>
        <p:nvSpPr>
          <p:cNvPr id="25" name="Shape 19"/>
          <p:cNvSpPr/>
          <p:nvPr/>
        </p:nvSpPr>
        <p:spPr>
          <a:xfrm>
            <a:off x="548640" y="4315968"/>
            <a:ext cx="11064240" cy="1051560"/>
          </a:xfrm>
          <a:prstGeom prst="roundRect">
            <a:avLst>
              <a:gd name="adj" fmla="val 7826"/>
            </a:avLst>
          </a:prstGeom>
          <a:solidFill>
            <a:srgbClr val="14233A"/>
          </a:solidFill>
          <a:ln/>
          <a:effectLst>
            <a:outerShdw sx="100000" sy="100000" kx="0" ky="0" algn="bl" rotWithShape="0" blurRad="88900" dist="38100" dir="5400000">
              <a:srgbClr val="000000">
                <a:alpha val="13000"/>
              </a:srgbClr>
            </a:outerShdw>
          </a:effectLst>
        </p:spPr>
      </p:sp>
      <p:sp>
        <p:nvSpPr>
          <p:cNvPr id="26" name="Shape 20"/>
          <p:cNvSpPr/>
          <p:nvPr/>
        </p:nvSpPr>
        <p:spPr>
          <a:xfrm>
            <a:off x="868680" y="4572000"/>
            <a:ext cx="548640" cy="548640"/>
          </a:xfrm>
          <a:prstGeom prst="ellipse">
            <a:avLst/>
          </a:prstGeom>
          <a:solidFill>
            <a:srgbClr val="E8A33D"/>
          </a:solidFill>
          <a:ln/>
        </p:spPr>
      </p:sp>
      <p:pic>
        <p:nvPicPr>
          <p:cNvPr id="27" name="Image 4" descr="preencoded.png">    </p:cNvPr>
          <p:cNvPicPr>
            <a:picLocks noChangeAspect="1"/>
          </p:cNvPicPr>
          <p:nvPr/>
        </p:nvPicPr>
        <p:blipFill>
          <a:blip r:embed="rId5"/>
          <a:stretch>
            <a:fillRect/>
          </a:stretch>
        </p:blipFill>
        <p:spPr>
          <a:xfrm>
            <a:off x="1016813" y="4720133"/>
            <a:ext cx="252374" cy="252374"/>
          </a:xfrm>
          <a:prstGeom prst="rect">
            <a:avLst/>
          </a:prstGeom>
        </p:spPr>
      </p:pic>
      <p:sp>
        <p:nvSpPr>
          <p:cNvPr id="28" name="Text 21"/>
          <p:cNvSpPr/>
          <p:nvPr/>
        </p:nvSpPr>
        <p:spPr>
          <a:xfrm>
            <a:off x="1600200" y="4315968"/>
            <a:ext cx="9784080" cy="1051560"/>
          </a:xfrm>
          <a:prstGeom prst="rect">
            <a:avLst/>
          </a:prstGeom>
          <a:noFill/>
          <a:ln/>
        </p:spPr>
        <p:txBody>
          <a:bodyPr wrap="square" lIns="0" tIns="0" rIns="0" bIns="0" rtlCol="0" anchor="ctr"/>
          <a:lstStyle/>
          <a:p>
            <a:pPr indent="0" marL="0">
              <a:buNone/>
            </a:pPr>
            <a:r>
              <a:rPr lang="en-US" sz="1700" b="1" dirty="0">
                <a:solidFill>
                  <a:srgbClr val="E8A33D"/>
                </a:solidFill>
                <a:latin typeface="Calibri" pitchFamily="34" charset="0"/>
                <a:ea typeface="Calibri" pitchFamily="34" charset="-122"/>
                <a:cs typeface="Calibri" pitchFamily="34" charset="-120"/>
              </a:rPr>
              <a:t>The sponsor idea:  </a:t>
            </a:r>
            <a:pPr indent="0" marL="0">
              <a:buNone/>
            </a:pPr>
            <a:r>
              <a:rPr lang="en-US" sz="1700" dirty="0">
                <a:solidFill>
                  <a:srgbClr val="FFFFFF"/>
                </a:solidFill>
                <a:latin typeface="Calibri" pitchFamily="34" charset="0"/>
                <a:ea typeface="Calibri" pitchFamily="34" charset="-122"/>
                <a:cs typeface="Calibri" pitchFamily="34" charset="-120"/>
              </a:rPr>
              <a:t>understand a real user's need well enough to speak for it — that's a central job of this course.</a:t>
            </a:r>
            <a:endParaRPr lang="en-US" sz="1700" dirty="0"/>
          </a:p>
        </p:txBody>
      </p:sp>
      <p:sp>
        <p:nvSpPr>
          <p:cNvPr id="29" name="Text 22"/>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30" name="Text 23"/>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A FOUNDER DECISION</a:t>
            </a:r>
            <a:endParaRPr lang="en-US" sz="1400" dirty="0"/>
          </a:p>
        </p:txBody>
      </p:sp>
      <p:sp>
        <p:nvSpPr>
          <p:cNvPr id="4" name="Text 2"/>
          <p:cNvSpPr/>
          <p:nvPr/>
        </p:nvSpPr>
        <p:spPr>
          <a:xfrm>
            <a:off x="548640" y="731520"/>
            <a:ext cx="1106424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would you do?</a:t>
            </a:r>
            <a:endParaRPr lang="en-US" sz="2800" dirty="0"/>
          </a:p>
        </p:txBody>
      </p:sp>
      <p:sp>
        <p:nvSpPr>
          <p:cNvPr id="5" name="Shape 3"/>
          <p:cNvSpPr/>
          <p:nvPr/>
        </p:nvSpPr>
        <p:spPr>
          <a:xfrm>
            <a:off x="548640" y="1600200"/>
            <a:ext cx="3611880" cy="4526280"/>
          </a:xfrm>
          <a:prstGeom prst="roundRect">
            <a:avLst>
              <a:gd name="adj" fmla="val 2278"/>
            </a:avLst>
          </a:prstGeom>
          <a:solidFill>
            <a:srgbClr val="1E3352"/>
          </a:solidFill>
          <a:ln/>
          <a:effectLst>
            <a:outerShdw sx="100000" sy="100000" kx="0" ky="0" algn="bl" rotWithShape="0" blurRad="88900" dist="38100" dir="5400000">
              <a:srgbClr val="000000">
                <a:alpha val="13000"/>
              </a:srgbClr>
            </a:outerShdw>
          </a:effectLst>
        </p:spPr>
      </p:sp>
      <p:sp>
        <p:nvSpPr>
          <p:cNvPr id="6" name="Shape 4"/>
          <p:cNvSpPr/>
          <p:nvPr/>
        </p:nvSpPr>
        <p:spPr>
          <a:xfrm>
            <a:off x="822960" y="1828800"/>
            <a:ext cx="512064" cy="512064"/>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961217" y="1967057"/>
            <a:ext cx="235549" cy="235549"/>
          </a:xfrm>
          <a:prstGeom prst="rect">
            <a:avLst/>
          </a:prstGeom>
        </p:spPr>
      </p:pic>
      <p:sp>
        <p:nvSpPr>
          <p:cNvPr id="8" name="Text 5"/>
          <p:cNvSpPr/>
          <p:nvPr/>
        </p:nvSpPr>
        <p:spPr>
          <a:xfrm>
            <a:off x="804672" y="2487168"/>
            <a:ext cx="3099816"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Saying no to a feature</a:t>
            </a:r>
            <a:endParaRPr lang="en-US" sz="1800" dirty="0"/>
          </a:p>
        </p:txBody>
      </p:sp>
      <p:sp>
        <p:nvSpPr>
          <p:cNvPr id="9" name="Text 6"/>
          <p:cNvSpPr/>
          <p:nvPr/>
        </p:nvSpPr>
        <p:spPr>
          <a:xfrm>
            <a:off x="804672" y="2926080"/>
            <a:ext cx="3099816" cy="1188720"/>
          </a:xfrm>
          <a:prstGeom prst="rect">
            <a:avLst/>
          </a:prstGeom>
          <a:noFill/>
          <a:ln/>
        </p:spPr>
        <p:txBody>
          <a:bodyPr wrap="square" lIns="0" tIns="0" rIns="0" bIns="0" rtlCol="0" anchor="ctr"/>
          <a:lstStyle/>
          <a:p>
            <a:pPr indent="0" marL="0">
              <a:lnSpc>
                <a:spcPct val="102000"/>
              </a:lnSpc>
              <a:buNone/>
            </a:pPr>
            <a:r>
              <a:rPr lang="en-US" sz="1350" b="1" dirty="0">
                <a:solidFill>
                  <a:srgbClr val="8FA6BC"/>
                </a:solidFill>
                <a:latin typeface="Calibri" pitchFamily="34" charset="0"/>
                <a:ea typeface="Calibri" pitchFamily="34" charset="-122"/>
                <a:cs typeface="Calibri" pitchFamily="34" charset="-120"/>
              </a:rPr>
              <a:t>Setup — </a:t>
            </a:r>
            <a:pPr indent="0" marL="0">
              <a:lnSpc>
                <a:spcPct val="102000"/>
              </a:lnSpc>
              <a:buNone/>
            </a:pPr>
            <a:r>
              <a:rPr lang="en-US" sz="1350" dirty="0">
                <a:solidFill>
                  <a:srgbClr val="D5E1EC"/>
                </a:solidFill>
                <a:latin typeface="Calibri" pitchFamily="34" charset="0"/>
                <a:ea typeface="Calibri" pitchFamily="34" charset="-122"/>
                <a:cs typeface="Calibri" pitchFamily="34" charset="-120"/>
              </a:rPr>
              <a:t>Your campus-resource reservation tool is catching on. A prominent user asks for polished Google Calendar sync.</a:t>
            </a:r>
            <a:endParaRPr lang="en-US" sz="1350" dirty="0"/>
          </a:p>
        </p:txBody>
      </p:sp>
      <p:sp>
        <p:nvSpPr>
          <p:cNvPr id="10" name="Text 7"/>
          <p:cNvSpPr/>
          <p:nvPr/>
        </p:nvSpPr>
        <p:spPr>
          <a:xfrm>
            <a:off x="804672" y="4114800"/>
            <a:ext cx="3099816" cy="1051560"/>
          </a:xfrm>
          <a:prstGeom prst="rect">
            <a:avLst/>
          </a:prstGeom>
          <a:noFill/>
          <a:ln/>
        </p:spPr>
        <p:txBody>
          <a:bodyPr wrap="square" lIns="0" tIns="0" rIns="0" bIns="0" rtlCol="0" anchor="ctr"/>
          <a:lstStyle/>
          <a:p>
            <a:pPr indent="0" marL="0">
              <a:lnSpc>
                <a:spcPct val="102000"/>
              </a:lnSpc>
              <a:buNone/>
            </a:pPr>
            <a:r>
              <a:rPr lang="en-US" sz="1350" dirty="0">
                <a:solidFill>
                  <a:srgbClr val="AEC2D3"/>
                </a:solidFill>
                <a:latin typeface="Calibri" pitchFamily="34" charset="0"/>
                <a:ea typeface="Calibri" pitchFamily="34" charset="-122"/>
                <a:cs typeface="Calibri" pitchFamily="34" charset="-120"/>
              </a:rPr>
              <a:t>But v1 still can't reliably prevent double-bookings. You log it "later" and keep the team on the core booking flow.</a:t>
            </a:r>
            <a:endParaRPr lang="en-US" sz="1350" dirty="0"/>
          </a:p>
        </p:txBody>
      </p:sp>
      <p:sp>
        <p:nvSpPr>
          <p:cNvPr id="11" name="Text 8"/>
          <p:cNvSpPr/>
          <p:nvPr/>
        </p:nvSpPr>
        <p:spPr>
          <a:xfrm>
            <a:off x="804672" y="5193792"/>
            <a:ext cx="3099816" cy="868680"/>
          </a:xfrm>
          <a:prstGeom prst="rect">
            <a:avLst/>
          </a:prstGeom>
          <a:noFill/>
          <a:ln/>
        </p:spPr>
        <p:txBody>
          <a:bodyPr wrap="square" lIns="0" tIns="0" rIns="0" bIns="0" rtlCol="0" anchor="ctr"/>
          <a:lstStyle/>
          <a:p>
            <a:pPr indent="0" marL="0">
              <a:lnSpc>
                <a:spcPct val="102000"/>
              </a:lnSpc>
              <a:buNone/>
            </a:pPr>
            <a:r>
              <a:rPr lang="en-US" sz="1400" b="1" i="1" dirty="0">
                <a:solidFill>
                  <a:srgbClr val="E8A33D"/>
                </a:solidFill>
                <a:latin typeface="Calibri" pitchFamily="34" charset="0"/>
                <a:ea typeface="Calibri" pitchFamily="34" charset="-122"/>
                <a:cs typeface="Calibri" pitchFamily="34" charset="-120"/>
              </a:rPr>
              <a:t>A contributor picks from the tickets that exist; a founder decides which tickets exist.</a:t>
            </a:r>
            <a:endParaRPr lang="en-US" sz="1400" dirty="0"/>
          </a:p>
        </p:txBody>
      </p:sp>
      <p:sp>
        <p:nvSpPr>
          <p:cNvPr id="12" name="Shape 9"/>
          <p:cNvSpPr/>
          <p:nvPr/>
        </p:nvSpPr>
        <p:spPr>
          <a:xfrm>
            <a:off x="4279392" y="1600200"/>
            <a:ext cx="3611880" cy="4526280"/>
          </a:xfrm>
          <a:prstGeom prst="roundRect">
            <a:avLst>
              <a:gd name="adj" fmla="val 2278"/>
            </a:avLst>
          </a:prstGeom>
          <a:solidFill>
            <a:srgbClr val="1E3352"/>
          </a:solidFill>
          <a:ln/>
          <a:effectLst>
            <a:outerShdw sx="100000" sy="100000" kx="0" ky="0" algn="bl" rotWithShape="0" blurRad="88900" dist="38100" dir="5400000">
              <a:srgbClr val="000000">
                <a:alpha val="13000"/>
              </a:srgbClr>
            </a:outerShdw>
          </a:effectLst>
        </p:spPr>
      </p:sp>
      <p:sp>
        <p:nvSpPr>
          <p:cNvPr id="13" name="Shape 10"/>
          <p:cNvSpPr/>
          <p:nvPr/>
        </p:nvSpPr>
        <p:spPr>
          <a:xfrm>
            <a:off x="4553712" y="1828800"/>
            <a:ext cx="512064" cy="512064"/>
          </a:xfrm>
          <a:prstGeom prst="ellipse">
            <a:avLst/>
          </a:prstGeom>
          <a:solidFill>
            <a:srgbClr val="E8A33D"/>
          </a:solidFill>
          <a:ln/>
        </p:spPr>
      </p:sp>
      <p:pic>
        <p:nvPicPr>
          <p:cNvPr id="14" name="Image 1" descr="preencoded.png">    </p:cNvPr>
          <p:cNvPicPr>
            <a:picLocks noChangeAspect="1"/>
          </p:cNvPicPr>
          <p:nvPr/>
        </p:nvPicPr>
        <p:blipFill>
          <a:blip r:embed="rId2"/>
          <a:stretch>
            <a:fillRect/>
          </a:stretch>
        </p:blipFill>
        <p:spPr>
          <a:xfrm>
            <a:off x="4691969" y="1967057"/>
            <a:ext cx="235549" cy="235549"/>
          </a:xfrm>
          <a:prstGeom prst="rect">
            <a:avLst/>
          </a:prstGeom>
        </p:spPr>
      </p:pic>
      <p:sp>
        <p:nvSpPr>
          <p:cNvPr id="15" name="Text 11"/>
          <p:cNvSpPr/>
          <p:nvPr/>
        </p:nvSpPr>
        <p:spPr>
          <a:xfrm>
            <a:off x="4535424" y="2487168"/>
            <a:ext cx="3099816"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Choosing the boring stack</a:t>
            </a:r>
            <a:endParaRPr lang="en-US" sz="1800" dirty="0"/>
          </a:p>
        </p:txBody>
      </p:sp>
      <p:sp>
        <p:nvSpPr>
          <p:cNvPr id="16" name="Text 12"/>
          <p:cNvSpPr/>
          <p:nvPr/>
        </p:nvSpPr>
        <p:spPr>
          <a:xfrm>
            <a:off x="4535424" y="2926080"/>
            <a:ext cx="3099816" cy="1188720"/>
          </a:xfrm>
          <a:prstGeom prst="rect">
            <a:avLst/>
          </a:prstGeom>
          <a:noFill/>
          <a:ln/>
        </p:spPr>
        <p:txBody>
          <a:bodyPr wrap="square" lIns="0" tIns="0" rIns="0" bIns="0" rtlCol="0" anchor="ctr"/>
          <a:lstStyle/>
          <a:p>
            <a:pPr indent="0" marL="0">
              <a:lnSpc>
                <a:spcPct val="102000"/>
              </a:lnSpc>
              <a:buNone/>
            </a:pPr>
            <a:r>
              <a:rPr lang="en-US" sz="1350" b="1" dirty="0">
                <a:solidFill>
                  <a:srgbClr val="8FA6BC"/>
                </a:solidFill>
                <a:latin typeface="Calibri" pitchFamily="34" charset="0"/>
                <a:ea typeface="Calibri" pitchFamily="34" charset="-122"/>
                <a:cs typeface="Calibri" pitchFamily="34" charset="-120"/>
              </a:rPr>
              <a:t>Setup — </a:t>
            </a:r>
            <a:pPr indent="0" marL="0">
              <a:lnSpc>
                <a:spcPct val="102000"/>
              </a:lnSpc>
              <a:buNone/>
            </a:pPr>
            <a:r>
              <a:rPr lang="en-US" sz="1350" dirty="0">
                <a:solidFill>
                  <a:srgbClr val="D5E1EC"/>
                </a:solidFill>
                <a:latin typeface="Calibri" pitchFamily="34" charset="0"/>
                <a:ea typeface="Calibri" pitchFamily="34" charset="-122"/>
                <a:cs typeface="Calibri" pitchFamily="34" charset="-120"/>
              </a:rPr>
              <a:t>For the volunteer-coordination tool, you can reach for a hot new framework — or the plain stack you and your teammate already know.</a:t>
            </a:r>
            <a:endParaRPr lang="en-US" sz="1350" dirty="0"/>
          </a:p>
        </p:txBody>
      </p:sp>
      <p:sp>
        <p:nvSpPr>
          <p:cNvPr id="17" name="Text 13"/>
          <p:cNvSpPr/>
          <p:nvPr/>
        </p:nvSpPr>
        <p:spPr>
          <a:xfrm>
            <a:off x="4535424" y="4114800"/>
            <a:ext cx="3099816" cy="1051560"/>
          </a:xfrm>
          <a:prstGeom prst="rect">
            <a:avLst/>
          </a:prstGeom>
          <a:noFill/>
          <a:ln/>
        </p:spPr>
        <p:txBody>
          <a:bodyPr wrap="square" lIns="0" tIns="0" rIns="0" bIns="0" rtlCol="0" anchor="ctr"/>
          <a:lstStyle/>
          <a:p>
            <a:pPr indent="0" marL="0">
              <a:lnSpc>
                <a:spcPct val="102000"/>
              </a:lnSpc>
              <a:buNone/>
            </a:pPr>
            <a:r>
              <a:rPr lang="en-US" sz="1350" dirty="0">
                <a:solidFill>
                  <a:srgbClr val="AEC2D3"/>
                </a:solidFill>
                <a:latin typeface="Calibri" pitchFamily="34" charset="0"/>
                <a:ea typeface="Calibri" pitchFamily="34" charset="-122"/>
                <a:cs typeface="Calibri" pitchFamily="34" charset="-120"/>
              </a:rPr>
              <a:t>You'll debug it at 1 a.m. and onboard the next contributor into it. You pick boring.</a:t>
            </a:r>
            <a:endParaRPr lang="en-US" sz="1350" dirty="0"/>
          </a:p>
        </p:txBody>
      </p:sp>
      <p:sp>
        <p:nvSpPr>
          <p:cNvPr id="18" name="Text 14"/>
          <p:cNvSpPr/>
          <p:nvPr/>
        </p:nvSpPr>
        <p:spPr>
          <a:xfrm>
            <a:off x="4535424" y="5193792"/>
            <a:ext cx="3099816" cy="868680"/>
          </a:xfrm>
          <a:prstGeom prst="rect">
            <a:avLst/>
          </a:prstGeom>
          <a:noFill/>
          <a:ln/>
        </p:spPr>
        <p:txBody>
          <a:bodyPr wrap="square" lIns="0" tIns="0" rIns="0" bIns="0" rtlCol="0" anchor="ctr"/>
          <a:lstStyle/>
          <a:p>
            <a:pPr indent="0" marL="0">
              <a:lnSpc>
                <a:spcPct val="102000"/>
              </a:lnSpc>
              <a:buNone/>
            </a:pPr>
            <a:r>
              <a:rPr lang="en-US" sz="1400" b="1" i="1" dirty="0">
                <a:solidFill>
                  <a:srgbClr val="E8A33D"/>
                </a:solidFill>
                <a:latin typeface="Calibri" pitchFamily="34" charset="0"/>
                <a:ea typeface="Calibri" pitchFamily="34" charset="-122"/>
                <a:cs typeface="Calibri" pitchFamily="34" charset="-120"/>
              </a:rPr>
              <a:t>Technology you can own, explain, and support — not just show off.</a:t>
            </a:r>
            <a:endParaRPr lang="en-US" sz="1400" dirty="0"/>
          </a:p>
        </p:txBody>
      </p:sp>
      <p:sp>
        <p:nvSpPr>
          <p:cNvPr id="19" name="Shape 15"/>
          <p:cNvSpPr/>
          <p:nvPr/>
        </p:nvSpPr>
        <p:spPr>
          <a:xfrm>
            <a:off x="8010144" y="1600200"/>
            <a:ext cx="3611880" cy="4526280"/>
          </a:xfrm>
          <a:prstGeom prst="roundRect">
            <a:avLst>
              <a:gd name="adj" fmla="val 2278"/>
            </a:avLst>
          </a:prstGeom>
          <a:solidFill>
            <a:srgbClr val="1E3352"/>
          </a:solidFill>
          <a:ln/>
          <a:effectLst>
            <a:outerShdw sx="100000" sy="100000" kx="0" ky="0" algn="bl" rotWithShape="0" blurRad="88900" dist="38100" dir="5400000">
              <a:srgbClr val="000000">
                <a:alpha val="13000"/>
              </a:srgbClr>
            </a:outerShdw>
          </a:effectLst>
        </p:spPr>
      </p:sp>
      <p:sp>
        <p:nvSpPr>
          <p:cNvPr id="20" name="Shape 16"/>
          <p:cNvSpPr/>
          <p:nvPr/>
        </p:nvSpPr>
        <p:spPr>
          <a:xfrm>
            <a:off x="8284464" y="1828800"/>
            <a:ext cx="512064" cy="512064"/>
          </a:xfrm>
          <a:prstGeom prst="ellipse">
            <a:avLst/>
          </a:prstGeom>
          <a:solidFill>
            <a:srgbClr val="E8A33D"/>
          </a:solidFill>
          <a:ln/>
        </p:spPr>
      </p:sp>
      <p:pic>
        <p:nvPicPr>
          <p:cNvPr id="21" name="Image 2" descr="preencoded.png">    </p:cNvPr>
          <p:cNvPicPr>
            <a:picLocks noChangeAspect="1"/>
          </p:cNvPicPr>
          <p:nvPr/>
        </p:nvPicPr>
        <p:blipFill>
          <a:blip r:embed="rId3"/>
          <a:stretch>
            <a:fillRect/>
          </a:stretch>
        </p:blipFill>
        <p:spPr>
          <a:xfrm>
            <a:off x="8422721" y="1967057"/>
            <a:ext cx="235549" cy="235549"/>
          </a:xfrm>
          <a:prstGeom prst="rect">
            <a:avLst/>
          </a:prstGeom>
        </p:spPr>
      </p:pic>
      <p:sp>
        <p:nvSpPr>
          <p:cNvPr id="22" name="Text 17"/>
          <p:cNvSpPr/>
          <p:nvPr/>
        </p:nvSpPr>
        <p:spPr>
          <a:xfrm>
            <a:off x="8266176" y="2487168"/>
            <a:ext cx="3099816"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first outside contributor</a:t>
            </a:r>
            <a:endParaRPr lang="en-US" sz="1800" dirty="0"/>
          </a:p>
        </p:txBody>
      </p:sp>
      <p:sp>
        <p:nvSpPr>
          <p:cNvPr id="23" name="Text 18"/>
          <p:cNvSpPr/>
          <p:nvPr/>
        </p:nvSpPr>
        <p:spPr>
          <a:xfrm>
            <a:off x="8266176" y="2926080"/>
            <a:ext cx="3099816" cy="1188720"/>
          </a:xfrm>
          <a:prstGeom prst="rect">
            <a:avLst/>
          </a:prstGeom>
          <a:noFill/>
          <a:ln/>
        </p:spPr>
        <p:txBody>
          <a:bodyPr wrap="square" lIns="0" tIns="0" rIns="0" bIns="0" rtlCol="0" anchor="ctr"/>
          <a:lstStyle/>
          <a:p>
            <a:pPr indent="0" marL="0">
              <a:lnSpc>
                <a:spcPct val="102000"/>
              </a:lnSpc>
              <a:buNone/>
            </a:pPr>
            <a:r>
              <a:rPr lang="en-US" sz="1350" b="1" dirty="0">
                <a:solidFill>
                  <a:srgbClr val="8FA6BC"/>
                </a:solidFill>
                <a:latin typeface="Calibri" pitchFamily="34" charset="0"/>
                <a:ea typeface="Calibri" pitchFamily="34" charset="-122"/>
                <a:cs typeface="Calibri" pitchFamily="34" charset="-120"/>
              </a:rPr>
              <a:t>Setup — </a:t>
            </a:r>
            <a:pPr indent="0" marL="0">
              <a:lnSpc>
                <a:spcPct val="102000"/>
              </a:lnSpc>
              <a:buNone/>
            </a:pPr>
            <a:r>
              <a:rPr lang="en-US" sz="1350" dirty="0">
                <a:solidFill>
                  <a:srgbClr val="D5E1EC"/>
                </a:solidFill>
                <a:latin typeface="Calibri" pitchFamily="34" charset="0"/>
                <a:ea typeface="Calibri" pitchFamily="34" charset="-122"/>
                <a:cs typeface="Calibri" pitchFamily="34" charset="-120"/>
              </a:rPr>
              <a:t>A stranger opens a PR on your hobby-community tracker: a feature you didn't ask for, in a style that doesn't fit.</a:t>
            </a:r>
            <a:endParaRPr lang="en-US" sz="1350" dirty="0"/>
          </a:p>
        </p:txBody>
      </p:sp>
      <p:sp>
        <p:nvSpPr>
          <p:cNvPr id="24" name="Text 19"/>
          <p:cNvSpPr/>
          <p:nvPr/>
        </p:nvSpPr>
        <p:spPr>
          <a:xfrm>
            <a:off x="8266176" y="4114800"/>
            <a:ext cx="3099816" cy="1051560"/>
          </a:xfrm>
          <a:prstGeom prst="rect">
            <a:avLst/>
          </a:prstGeom>
          <a:noFill/>
          <a:ln/>
        </p:spPr>
        <p:txBody>
          <a:bodyPr wrap="square" lIns="0" tIns="0" rIns="0" bIns="0" rtlCol="0" anchor="ctr"/>
          <a:lstStyle/>
          <a:p>
            <a:pPr indent="0" marL="0">
              <a:lnSpc>
                <a:spcPct val="102000"/>
              </a:lnSpc>
              <a:buNone/>
            </a:pPr>
            <a:r>
              <a:rPr lang="en-US" sz="1350" dirty="0">
                <a:solidFill>
                  <a:srgbClr val="AEC2D3"/>
                </a:solidFill>
                <a:latin typeface="Calibri" pitchFamily="34" charset="0"/>
                <a:ea typeface="Calibri" pitchFamily="34" charset="-122"/>
                <a:cs typeface="Calibri" pitchFamily="34" charset="-120"/>
              </a:rPr>
              <a:t>Reject it and lose a collaborator — or thank them, request changes, and keep them engaged?</a:t>
            </a:r>
            <a:endParaRPr lang="en-US" sz="1350" dirty="0"/>
          </a:p>
        </p:txBody>
      </p:sp>
      <p:sp>
        <p:nvSpPr>
          <p:cNvPr id="25" name="Text 20"/>
          <p:cNvSpPr/>
          <p:nvPr/>
        </p:nvSpPr>
        <p:spPr>
          <a:xfrm>
            <a:off x="8266176" y="5193792"/>
            <a:ext cx="3099816" cy="868680"/>
          </a:xfrm>
          <a:prstGeom prst="rect">
            <a:avLst/>
          </a:prstGeom>
          <a:noFill/>
          <a:ln/>
        </p:spPr>
        <p:txBody>
          <a:bodyPr wrap="square" lIns="0" tIns="0" rIns="0" bIns="0" rtlCol="0" anchor="ctr"/>
          <a:lstStyle/>
          <a:p>
            <a:pPr indent="0" marL="0">
              <a:lnSpc>
                <a:spcPct val="102000"/>
              </a:lnSpc>
              <a:buNone/>
            </a:pPr>
            <a:r>
              <a:rPr lang="en-US" sz="1400" b="1" i="1" dirty="0">
                <a:solidFill>
                  <a:srgbClr val="E8A33D"/>
                </a:solidFill>
                <a:latin typeface="Calibri" pitchFamily="34" charset="0"/>
                <a:ea typeface="Calibri" pitchFamily="34" charset="-122"/>
                <a:cs typeface="Calibri" pitchFamily="34" charset="-120"/>
              </a:rPr>
              <a:t>How you treat a stranger's PR is the project's culture.</a:t>
            </a:r>
            <a:endParaRPr lang="en-US" sz="1400" dirty="0"/>
          </a:p>
        </p:txBody>
      </p:sp>
      <p:sp>
        <p:nvSpPr>
          <p:cNvPr id="26" name="Text 21"/>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7E92A8"/>
                </a:solidFill>
                <a:latin typeface="Calibri" pitchFamily="34" charset="0"/>
                <a:ea typeface="Calibri" pitchFamily="34" charset="-122"/>
                <a:cs typeface="Calibri" pitchFamily="34" charset="-120"/>
              </a:rPr>
              <a:t>CS 301R · Session 1 · Course Launch</a:t>
            </a:r>
            <a:endParaRPr lang="en-US" sz="1100" dirty="0"/>
          </a:p>
        </p:txBody>
      </p:sp>
      <p:sp>
        <p:nvSpPr>
          <p:cNvPr id="27" name="Text 22"/>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7E92A8"/>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THE SEMESTER WORKS — PART 1</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The studio model: how a typical week runs</a:t>
            </a:r>
            <a:endParaRPr lang="en-US" sz="3000" dirty="0"/>
          </a:p>
        </p:txBody>
      </p:sp>
      <p:sp>
        <p:nvSpPr>
          <p:cNvPr id="5" name="Shape 3"/>
          <p:cNvSpPr/>
          <p:nvPr/>
        </p:nvSpPr>
        <p:spPr>
          <a:xfrm>
            <a:off x="548640" y="1874520"/>
            <a:ext cx="5440680" cy="3200400"/>
          </a:xfrm>
          <a:prstGeom prst="roundRect">
            <a:avLst>
              <a:gd name="adj" fmla="val 2571"/>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21408"/>
            <a:ext cx="548640" cy="54864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71093" y="2269541"/>
            <a:ext cx="252374" cy="252374"/>
          </a:xfrm>
          <a:prstGeom prst="rect">
            <a:avLst/>
          </a:prstGeom>
        </p:spPr>
      </p:pic>
      <p:sp>
        <p:nvSpPr>
          <p:cNvPr id="8" name="Text 5"/>
          <p:cNvSpPr/>
          <p:nvPr/>
        </p:nvSpPr>
        <p:spPr>
          <a:xfrm>
            <a:off x="1508760" y="2185416"/>
            <a:ext cx="4206240" cy="41148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Monday — Session A</a:t>
            </a:r>
            <a:endParaRPr lang="en-US" sz="1900" dirty="0"/>
          </a:p>
        </p:txBody>
      </p:sp>
      <p:sp>
        <p:nvSpPr>
          <p:cNvPr id="9" name="Text 6"/>
          <p:cNvSpPr/>
          <p:nvPr/>
        </p:nvSpPr>
        <p:spPr>
          <a:xfrm>
            <a:off x="868680" y="2971800"/>
            <a:ext cx="4846320" cy="2011680"/>
          </a:xfrm>
          <a:prstGeom prst="rect">
            <a:avLst/>
          </a:prstGeom>
          <a:noFill/>
          <a:ln/>
        </p:spPr>
        <p:txBody>
          <a:bodyPr wrap="square" lIns="0" tIns="0" rIns="0" bIns="0" rtlCol="0" anchor="t"/>
          <a:lstStyle/>
          <a:p>
            <a:pPr marL="190500" indent="-190500">
              <a:spcAft>
                <a:spcPts val="1000"/>
              </a:spcAft>
              <a:buSzPct val="100000"/>
              <a:buChar char="•"/>
            </a:pPr>
            <a:r>
              <a:rPr lang="en-US" sz="1550" dirty="0">
                <a:solidFill>
                  <a:srgbClr val="1E2A36"/>
                </a:solidFill>
                <a:latin typeface="Calibri" pitchFamily="34" charset="0"/>
                <a:ea typeface="Calibri" pitchFamily="34" charset="-122"/>
                <a:cs typeface="Calibri" pitchFamily="34" charset="-120"/>
              </a:rPr>
              <a:t>Short lecture + worked examples</a:t>
            </a:r>
            <a:endParaRPr lang="en-US" sz="1550" dirty="0"/>
          </a:p>
          <a:p>
            <a:pPr marL="190500" indent="-190500">
              <a:spcAft>
                <a:spcPts val="1000"/>
              </a:spcAft>
              <a:buSzPct val="100000"/>
              <a:buChar char="•"/>
            </a:pPr>
            <a:r>
              <a:rPr lang="en-US" sz="1550" dirty="0">
                <a:solidFill>
                  <a:srgbClr val="1E2A36"/>
                </a:solidFill>
                <a:latin typeface="Calibri" pitchFamily="34" charset="0"/>
                <a:ea typeface="Calibri" pitchFamily="34" charset="-122"/>
                <a:cs typeface="Calibri" pitchFamily="34" charset="-120"/>
              </a:rPr>
              <a:t>Guided discussion and critique</a:t>
            </a:r>
            <a:endParaRPr lang="en-US" sz="1550" dirty="0"/>
          </a:p>
          <a:p>
            <a:pPr marL="190500" indent="-190500">
              <a:buSzPct val="100000"/>
              <a:buChar char="•"/>
            </a:pPr>
            <a:r>
              <a:rPr lang="en-US" sz="1550" dirty="0">
                <a:solidFill>
                  <a:srgbClr val="1E2A36"/>
                </a:solidFill>
                <a:latin typeface="Calibri" pitchFamily="34" charset="0"/>
                <a:ea typeface="Calibri" pitchFamily="34" charset="-122"/>
                <a:cs typeface="Calibri" pitchFamily="34" charset="-120"/>
              </a:rPr>
              <a:t>We frame the topic and look at strong vs. weak examples together</a:t>
            </a:r>
            <a:endParaRPr lang="en-US" sz="1550" dirty="0"/>
          </a:p>
        </p:txBody>
      </p:sp>
      <p:sp>
        <p:nvSpPr>
          <p:cNvPr id="10" name="Shape 7"/>
          <p:cNvSpPr/>
          <p:nvPr/>
        </p:nvSpPr>
        <p:spPr>
          <a:xfrm>
            <a:off x="6172200" y="1874520"/>
            <a:ext cx="5440680" cy="3200400"/>
          </a:xfrm>
          <a:prstGeom prst="roundRect">
            <a:avLst>
              <a:gd name="adj" fmla="val 2571"/>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21408"/>
            <a:ext cx="548640" cy="548640"/>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594653" y="2269541"/>
            <a:ext cx="252374" cy="252374"/>
          </a:xfrm>
          <a:prstGeom prst="rect">
            <a:avLst/>
          </a:prstGeom>
        </p:spPr>
      </p:pic>
      <p:sp>
        <p:nvSpPr>
          <p:cNvPr id="13" name="Text 9"/>
          <p:cNvSpPr/>
          <p:nvPr/>
        </p:nvSpPr>
        <p:spPr>
          <a:xfrm>
            <a:off x="7132320" y="2185416"/>
            <a:ext cx="4206240" cy="41148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Wednesday — Session B</a:t>
            </a:r>
            <a:endParaRPr lang="en-US" sz="1900" dirty="0"/>
          </a:p>
        </p:txBody>
      </p:sp>
      <p:sp>
        <p:nvSpPr>
          <p:cNvPr id="14" name="Text 10"/>
          <p:cNvSpPr/>
          <p:nvPr/>
        </p:nvSpPr>
        <p:spPr>
          <a:xfrm>
            <a:off x="6492240" y="2971800"/>
            <a:ext cx="4846320" cy="2011680"/>
          </a:xfrm>
          <a:prstGeom prst="rect">
            <a:avLst/>
          </a:prstGeom>
          <a:noFill/>
          <a:ln/>
        </p:spPr>
        <p:txBody>
          <a:bodyPr wrap="square" lIns="0" tIns="0" rIns="0" bIns="0" rtlCol="0" anchor="t"/>
          <a:lstStyle/>
          <a:p>
            <a:pPr marL="190500" indent="-190500">
              <a:spcAft>
                <a:spcPts val="1000"/>
              </a:spcAft>
              <a:buSzPct val="100000"/>
              <a:buChar char="•"/>
            </a:pPr>
            <a:r>
              <a:rPr lang="en-US" sz="1550" dirty="0">
                <a:solidFill>
                  <a:srgbClr val="1E2A36"/>
                </a:solidFill>
                <a:latin typeface="Calibri" pitchFamily="34" charset="0"/>
                <a:ea typeface="Calibri" pitchFamily="34" charset="-122"/>
                <a:cs typeface="Calibri" pitchFamily="34" charset="-120"/>
              </a:rPr>
              <a:t>Workshop, lab, peer review, or demo</a:t>
            </a:r>
            <a:endParaRPr lang="en-US" sz="1550" dirty="0"/>
          </a:p>
          <a:p>
            <a:pPr marL="190500" indent="-190500">
              <a:spcAft>
                <a:spcPts val="1000"/>
              </a:spcAft>
              <a:buSzPct val="100000"/>
              <a:buChar char="•"/>
            </a:pPr>
            <a:r>
              <a:rPr lang="en-US" sz="1550" dirty="0">
                <a:solidFill>
                  <a:srgbClr val="1E2A36"/>
                </a:solidFill>
                <a:latin typeface="Calibri" pitchFamily="34" charset="0"/>
                <a:ea typeface="Calibri" pitchFamily="34" charset="-122"/>
                <a:cs typeface="Calibri" pitchFamily="34" charset="-120"/>
              </a:rPr>
              <a:t>Studio work with the instructor as coach</a:t>
            </a:r>
            <a:endParaRPr lang="en-US" sz="1550" dirty="0"/>
          </a:p>
          <a:p>
            <a:pPr marL="190500" indent="-190500">
              <a:buSzPct val="100000"/>
              <a:buChar char="•"/>
            </a:pPr>
            <a:r>
              <a:rPr lang="en-US" sz="1550" dirty="0">
                <a:solidFill>
                  <a:srgbClr val="1E2A36"/>
                </a:solidFill>
                <a:latin typeface="Calibri" pitchFamily="34" charset="0"/>
                <a:ea typeface="Calibri" pitchFamily="34" charset="-122"/>
                <a:cs typeface="Calibri" pitchFamily="34" charset="-120"/>
              </a:rPr>
              <a:t>Often released early — we won't always use the full 75 minutes</a:t>
            </a:r>
            <a:endParaRPr lang="en-US" sz="1550" dirty="0"/>
          </a:p>
        </p:txBody>
      </p:sp>
      <p:sp>
        <p:nvSpPr>
          <p:cNvPr id="15" name="Text 11"/>
          <p:cNvSpPr/>
          <p:nvPr/>
        </p:nvSpPr>
        <p:spPr>
          <a:xfrm>
            <a:off x="548640" y="5257800"/>
            <a:ext cx="11064240" cy="320040"/>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The repeating cycle</a:t>
            </a:r>
            <a:endParaRPr lang="en-US" sz="1600" dirty="0"/>
          </a:p>
        </p:txBody>
      </p:sp>
      <p:sp>
        <p:nvSpPr>
          <p:cNvPr id="16" name="Shape 12"/>
          <p:cNvSpPr/>
          <p:nvPr/>
        </p:nvSpPr>
        <p:spPr>
          <a:xfrm>
            <a:off x="754380" y="5669280"/>
            <a:ext cx="1874520" cy="566928"/>
          </a:xfrm>
          <a:prstGeom prst="roundRect">
            <a:avLst>
              <a:gd name="adj" fmla="val 19355"/>
            </a:avLst>
          </a:prstGeom>
          <a:solidFill>
            <a:srgbClr val="EAF3F2"/>
          </a:solidFill>
          <a:ln/>
        </p:spPr>
      </p:sp>
      <p:sp>
        <p:nvSpPr>
          <p:cNvPr id="17" name="Text 13"/>
          <p:cNvSpPr/>
          <p:nvPr/>
        </p:nvSpPr>
        <p:spPr>
          <a:xfrm>
            <a:off x="754380" y="5669280"/>
            <a:ext cx="1874520" cy="566928"/>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Draft</a:t>
            </a:r>
            <a:endParaRPr lang="en-US" sz="1600" dirty="0"/>
          </a:p>
        </p:txBody>
      </p:sp>
      <p:pic>
        <p:nvPicPr>
          <p:cNvPr id="18" name="Image 2" descr="preencoded.png">    </p:cNvPr>
          <p:cNvPicPr>
            <a:picLocks noChangeAspect="1"/>
          </p:cNvPicPr>
          <p:nvPr/>
        </p:nvPicPr>
        <p:blipFill>
          <a:blip r:embed="rId3"/>
          <a:stretch>
            <a:fillRect/>
          </a:stretch>
        </p:blipFill>
        <p:spPr>
          <a:xfrm>
            <a:off x="2683764" y="5824728"/>
            <a:ext cx="219456" cy="256032"/>
          </a:xfrm>
          <a:prstGeom prst="rect">
            <a:avLst/>
          </a:prstGeom>
        </p:spPr>
      </p:pic>
      <p:sp>
        <p:nvSpPr>
          <p:cNvPr id="19" name="Shape 14"/>
          <p:cNvSpPr/>
          <p:nvPr/>
        </p:nvSpPr>
        <p:spPr>
          <a:xfrm>
            <a:off x="2948940" y="5669280"/>
            <a:ext cx="1874520" cy="566928"/>
          </a:xfrm>
          <a:prstGeom prst="roundRect">
            <a:avLst>
              <a:gd name="adj" fmla="val 19355"/>
            </a:avLst>
          </a:prstGeom>
          <a:solidFill>
            <a:srgbClr val="EAF3F2"/>
          </a:solidFill>
          <a:ln/>
        </p:spPr>
      </p:sp>
      <p:sp>
        <p:nvSpPr>
          <p:cNvPr id="20" name="Text 15"/>
          <p:cNvSpPr/>
          <p:nvPr/>
        </p:nvSpPr>
        <p:spPr>
          <a:xfrm>
            <a:off x="2948940" y="5669280"/>
            <a:ext cx="1874520" cy="566928"/>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Review</a:t>
            </a:r>
            <a:endParaRPr lang="en-US" sz="1600" dirty="0"/>
          </a:p>
        </p:txBody>
      </p:sp>
      <p:pic>
        <p:nvPicPr>
          <p:cNvPr id="21" name="Image 3" descr="preencoded.png">    </p:cNvPr>
          <p:cNvPicPr>
            <a:picLocks noChangeAspect="1"/>
          </p:cNvPicPr>
          <p:nvPr/>
        </p:nvPicPr>
        <p:blipFill>
          <a:blip r:embed="rId4"/>
          <a:stretch>
            <a:fillRect/>
          </a:stretch>
        </p:blipFill>
        <p:spPr>
          <a:xfrm>
            <a:off x="4878324" y="5824728"/>
            <a:ext cx="219456" cy="256032"/>
          </a:xfrm>
          <a:prstGeom prst="rect">
            <a:avLst/>
          </a:prstGeom>
        </p:spPr>
      </p:pic>
      <p:sp>
        <p:nvSpPr>
          <p:cNvPr id="22" name="Shape 16"/>
          <p:cNvSpPr/>
          <p:nvPr/>
        </p:nvSpPr>
        <p:spPr>
          <a:xfrm>
            <a:off x="5143500" y="5669280"/>
            <a:ext cx="1874520" cy="566928"/>
          </a:xfrm>
          <a:prstGeom prst="roundRect">
            <a:avLst>
              <a:gd name="adj" fmla="val 19355"/>
            </a:avLst>
          </a:prstGeom>
          <a:solidFill>
            <a:srgbClr val="EAF3F2"/>
          </a:solidFill>
          <a:ln/>
        </p:spPr>
      </p:sp>
      <p:sp>
        <p:nvSpPr>
          <p:cNvPr id="23" name="Text 17"/>
          <p:cNvSpPr/>
          <p:nvPr/>
        </p:nvSpPr>
        <p:spPr>
          <a:xfrm>
            <a:off x="5143500" y="5669280"/>
            <a:ext cx="1874520" cy="566928"/>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Revise</a:t>
            </a:r>
            <a:endParaRPr lang="en-US" sz="1600" dirty="0"/>
          </a:p>
        </p:txBody>
      </p:sp>
      <p:pic>
        <p:nvPicPr>
          <p:cNvPr id="24" name="Image 4" descr="preencoded.png">    </p:cNvPr>
          <p:cNvPicPr>
            <a:picLocks noChangeAspect="1"/>
          </p:cNvPicPr>
          <p:nvPr/>
        </p:nvPicPr>
        <p:blipFill>
          <a:blip r:embed="rId5"/>
          <a:stretch>
            <a:fillRect/>
          </a:stretch>
        </p:blipFill>
        <p:spPr>
          <a:xfrm>
            <a:off x="7072884" y="5824728"/>
            <a:ext cx="219456" cy="256032"/>
          </a:xfrm>
          <a:prstGeom prst="rect">
            <a:avLst/>
          </a:prstGeom>
        </p:spPr>
      </p:pic>
      <p:sp>
        <p:nvSpPr>
          <p:cNvPr id="25" name="Shape 18"/>
          <p:cNvSpPr/>
          <p:nvPr/>
        </p:nvSpPr>
        <p:spPr>
          <a:xfrm>
            <a:off x="7338060" y="5669280"/>
            <a:ext cx="1874520" cy="566928"/>
          </a:xfrm>
          <a:prstGeom prst="roundRect">
            <a:avLst>
              <a:gd name="adj" fmla="val 19355"/>
            </a:avLst>
          </a:prstGeom>
          <a:solidFill>
            <a:srgbClr val="EAF3F2"/>
          </a:solidFill>
          <a:ln/>
        </p:spPr>
      </p:sp>
      <p:sp>
        <p:nvSpPr>
          <p:cNvPr id="26" name="Text 19"/>
          <p:cNvSpPr/>
          <p:nvPr/>
        </p:nvSpPr>
        <p:spPr>
          <a:xfrm>
            <a:off x="7338060" y="5669280"/>
            <a:ext cx="1874520" cy="566928"/>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Build</a:t>
            </a:r>
            <a:endParaRPr lang="en-US" sz="1600" dirty="0"/>
          </a:p>
        </p:txBody>
      </p:sp>
      <p:pic>
        <p:nvPicPr>
          <p:cNvPr id="27" name="Image 5" descr="preencoded.png">    </p:cNvPr>
          <p:cNvPicPr>
            <a:picLocks noChangeAspect="1"/>
          </p:cNvPicPr>
          <p:nvPr/>
        </p:nvPicPr>
        <p:blipFill>
          <a:blip r:embed="rId6"/>
          <a:stretch>
            <a:fillRect/>
          </a:stretch>
        </p:blipFill>
        <p:spPr>
          <a:xfrm>
            <a:off x="9267444" y="5824728"/>
            <a:ext cx="219456" cy="256032"/>
          </a:xfrm>
          <a:prstGeom prst="rect">
            <a:avLst/>
          </a:prstGeom>
        </p:spPr>
      </p:pic>
      <p:sp>
        <p:nvSpPr>
          <p:cNvPr id="28" name="Shape 20"/>
          <p:cNvSpPr/>
          <p:nvPr/>
        </p:nvSpPr>
        <p:spPr>
          <a:xfrm>
            <a:off x="9532620" y="5669280"/>
            <a:ext cx="1874520" cy="566928"/>
          </a:xfrm>
          <a:prstGeom prst="roundRect">
            <a:avLst>
              <a:gd name="adj" fmla="val 19355"/>
            </a:avLst>
          </a:prstGeom>
          <a:solidFill>
            <a:srgbClr val="EAF3F2"/>
          </a:solidFill>
          <a:ln/>
        </p:spPr>
      </p:sp>
      <p:sp>
        <p:nvSpPr>
          <p:cNvPr id="29" name="Text 21"/>
          <p:cNvSpPr/>
          <p:nvPr/>
        </p:nvSpPr>
        <p:spPr>
          <a:xfrm>
            <a:off x="9532620" y="5669280"/>
            <a:ext cx="1874520" cy="566928"/>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Reflect</a:t>
            </a:r>
            <a:endParaRPr lang="en-US" sz="1600" dirty="0"/>
          </a:p>
        </p:txBody>
      </p:sp>
      <p:sp>
        <p:nvSpPr>
          <p:cNvPr id="30" name="Text 22"/>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31" name="Text 23"/>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THE SEMESTER WORKS — PART 2</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The CPS method — how we'll work through problems</a:t>
            </a:r>
            <a:endParaRPr lang="en-US" sz="3000" dirty="0"/>
          </a:p>
        </p:txBody>
      </p:sp>
      <p:sp>
        <p:nvSpPr>
          <p:cNvPr id="5" name="Text 3"/>
          <p:cNvSpPr/>
          <p:nvPr/>
        </p:nvSpPr>
        <p:spPr>
          <a:xfrm>
            <a:off x="548640" y="1508760"/>
            <a:ext cx="11064240" cy="731520"/>
          </a:xfrm>
          <a:prstGeom prst="rect">
            <a:avLst/>
          </a:prstGeom>
          <a:noFill/>
          <a:ln/>
        </p:spPr>
        <p:txBody>
          <a:bodyPr wrap="square" lIns="0" tIns="0" rIns="0" bIns="0" rtlCol="0" anchor="ctr"/>
          <a:lstStyle/>
          <a:p>
            <a:pPr indent="0" marL="0">
              <a:lnSpc>
                <a:spcPct val="105000"/>
              </a:lnSpc>
              <a:buNone/>
            </a:pPr>
            <a:r>
              <a:rPr lang="en-US" sz="1650" b="1" dirty="0">
                <a:solidFill>
                  <a:srgbClr val="1E2A36"/>
                </a:solidFill>
                <a:latin typeface="Calibri" pitchFamily="34" charset="0"/>
                <a:ea typeface="Calibri" pitchFamily="34" charset="-122"/>
                <a:cs typeface="Calibri" pitchFamily="34" charset="-120"/>
              </a:rPr>
              <a:t>Creative Problem Solving (Osborn–Parnes) </a:t>
            </a:r>
            <a:pPr indent="0" marL="0">
              <a:lnSpc>
                <a:spcPct val="105000"/>
              </a:lnSpc>
              <a:buNone/>
            </a:pPr>
            <a:r>
              <a:rPr lang="en-US" sz="1650" dirty="0">
                <a:solidFill>
                  <a:srgbClr val="1E2A36"/>
                </a:solidFill>
                <a:latin typeface="Calibri" pitchFamily="34" charset="0"/>
                <a:ea typeface="Calibri" pitchFamily="34" charset="-122"/>
                <a:cs typeface="Calibri" pitchFamily="34" charset="-120"/>
              </a:rPr>
              <a:t>is a structured way to move from a messy problem to a chosen solution. The premise: creativity is a skill you can practice — how you approach a problem changes your odds of a breakthrough. It runs in four stages.</a:t>
            </a:r>
            <a:endParaRPr lang="en-US" sz="1650" dirty="0"/>
          </a:p>
        </p:txBody>
      </p:sp>
      <p:sp>
        <p:nvSpPr>
          <p:cNvPr id="6" name="Shape 4"/>
          <p:cNvSpPr/>
          <p:nvPr/>
        </p:nvSpPr>
        <p:spPr>
          <a:xfrm>
            <a:off x="548640" y="2468880"/>
            <a:ext cx="2670048" cy="2651760"/>
          </a:xfrm>
          <a:prstGeom prst="roundRect">
            <a:avLst>
              <a:gd name="adj" fmla="val 3103"/>
            </a:avLst>
          </a:prstGeom>
          <a:solidFill>
            <a:srgbClr val="F2F6F8"/>
          </a:solidFill>
          <a:ln/>
          <a:effectLst>
            <a:outerShdw sx="100000" sy="100000" kx="0" ky="0" algn="bl" rotWithShape="0" blurRad="88900" dist="38100" dir="5400000">
              <a:srgbClr val="000000">
                <a:alpha val="13000"/>
              </a:srgbClr>
            </a:outerShdw>
          </a:effectLst>
        </p:spPr>
      </p:sp>
      <p:sp>
        <p:nvSpPr>
          <p:cNvPr id="7" name="Shape 5"/>
          <p:cNvSpPr/>
          <p:nvPr/>
        </p:nvSpPr>
        <p:spPr>
          <a:xfrm>
            <a:off x="1499616" y="2697480"/>
            <a:ext cx="768096" cy="768096"/>
          </a:xfrm>
          <a:prstGeom prst="ellipse">
            <a:avLst/>
          </a:prstGeom>
          <a:solidFill>
            <a:srgbClr val="12908F"/>
          </a:solidFill>
          <a:ln/>
        </p:spPr>
      </p:sp>
      <p:sp>
        <p:nvSpPr>
          <p:cNvPr id="8" name="Text 6"/>
          <p:cNvSpPr/>
          <p:nvPr/>
        </p:nvSpPr>
        <p:spPr>
          <a:xfrm>
            <a:off x="1499616" y="2697480"/>
            <a:ext cx="768096" cy="768096"/>
          </a:xfrm>
          <a:prstGeom prst="rect">
            <a:avLst/>
          </a:prstGeom>
          <a:noFill/>
          <a:ln/>
        </p:spPr>
        <p:txBody>
          <a:bodyPr wrap="square" lIns="0" tIns="0" rIns="0" bIns="0" rtlCol="0" anchor="ctr"/>
          <a:lstStyle/>
          <a:p>
            <a:pPr algn="ctr" indent="0" marL="0">
              <a:buNone/>
            </a:pPr>
            <a:r>
              <a:rPr lang="en-US" sz="3100" b="1" dirty="0">
                <a:solidFill>
                  <a:srgbClr val="FFFFFF"/>
                </a:solidFill>
                <a:latin typeface="Cambria" pitchFamily="34" charset="0"/>
                <a:ea typeface="Cambria" pitchFamily="34" charset="-122"/>
                <a:cs typeface="Cambria" pitchFamily="34" charset="-120"/>
              </a:rPr>
              <a:t>1</a:t>
            </a:r>
            <a:endParaRPr lang="en-US" sz="3100" dirty="0"/>
          </a:p>
        </p:txBody>
      </p:sp>
      <p:sp>
        <p:nvSpPr>
          <p:cNvPr id="9" name="Text 7"/>
          <p:cNvSpPr/>
          <p:nvPr/>
        </p:nvSpPr>
        <p:spPr>
          <a:xfrm>
            <a:off x="685800" y="3611880"/>
            <a:ext cx="2395728"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Clarification</a:t>
            </a:r>
            <a:endParaRPr lang="en-US" sz="1800" dirty="0"/>
          </a:p>
        </p:txBody>
      </p:sp>
      <p:sp>
        <p:nvSpPr>
          <p:cNvPr id="10" name="Text 8"/>
          <p:cNvSpPr/>
          <p:nvPr/>
        </p:nvSpPr>
        <p:spPr>
          <a:xfrm>
            <a:off x="731520" y="4041648"/>
            <a:ext cx="2304288" cy="914400"/>
          </a:xfrm>
          <a:prstGeom prst="rect">
            <a:avLst/>
          </a:prstGeom>
          <a:noFill/>
          <a:ln/>
        </p:spPr>
        <p:txBody>
          <a:bodyPr wrap="square" lIns="0" tIns="0" rIns="0" bIns="0" rtlCol="0" anchor="ctr"/>
          <a:lstStyle/>
          <a:p>
            <a:pPr algn="ctr" indent="0" marL="0">
              <a:lnSpc>
                <a:spcPct val="103000"/>
              </a:lnSpc>
              <a:buNone/>
            </a:pPr>
            <a:r>
              <a:rPr lang="en-US" sz="1400" dirty="0">
                <a:solidFill>
                  <a:srgbClr val="5F7284"/>
                </a:solidFill>
                <a:latin typeface="Calibri" pitchFamily="34" charset="0"/>
                <a:ea typeface="Calibri" pitchFamily="34" charset="-122"/>
                <a:cs typeface="Calibri" pitchFamily="34" charset="-120"/>
              </a:rPr>
              <a:t>Explore the problem space; gather facts; frame the real problem.</a:t>
            </a:r>
            <a:endParaRPr lang="en-US" sz="1400" dirty="0"/>
          </a:p>
        </p:txBody>
      </p:sp>
      <p:pic>
        <p:nvPicPr>
          <p:cNvPr id="11" name="Image 0" descr="preencoded.png">    </p:cNvPr>
          <p:cNvPicPr>
            <a:picLocks noChangeAspect="1"/>
          </p:cNvPicPr>
          <p:nvPr/>
        </p:nvPicPr>
        <p:blipFill>
          <a:blip r:embed="rId1"/>
          <a:stretch>
            <a:fillRect/>
          </a:stretch>
        </p:blipFill>
        <p:spPr>
          <a:xfrm>
            <a:off x="3218688" y="3657600"/>
            <a:ext cx="201168" cy="274320"/>
          </a:xfrm>
          <a:prstGeom prst="rect">
            <a:avLst/>
          </a:prstGeom>
        </p:spPr>
      </p:pic>
      <p:sp>
        <p:nvSpPr>
          <p:cNvPr id="12" name="Shape 9"/>
          <p:cNvSpPr/>
          <p:nvPr/>
        </p:nvSpPr>
        <p:spPr>
          <a:xfrm>
            <a:off x="3346704" y="2468880"/>
            <a:ext cx="2670048" cy="2651760"/>
          </a:xfrm>
          <a:prstGeom prst="roundRect">
            <a:avLst>
              <a:gd name="adj" fmla="val 3103"/>
            </a:avLst>
          </a:prstGeom>
          <a:solidFill>
            <a:srgbClr val="F2F6F8"/>
          </a:solidFill>
          <a:ln/>
          <a:effectLst>
            <a:outerShdw sx="100000" sy="100000" kx="0" ky="0" algn="bl" rotWithShape="0" blurRad="88900" dist="38100" dir="5400000">
              <a:srgbClr val="000000">
                <a:alpha val="13000"/>
              </a:srgbClr>
            </a:outerShdw>
          </a:effectLst>
        </p:spPr>
      </p:sp>
      <p:sp>
        <p:nvSpPr>
          <p:cNvPr id="13" name="Shape 10"/>
          <p:cNvSpPr/>
          <p:nvPr/>
        </p:nvSpPr>
        <p:spPr>
          <a:xfrm>
            <a:off x="4297680" y="2697480"/>
            <a:ext cx="768096" cy="768096"/>
          </a:xfrm>
          <a:prstGeom prst="ellipse">
            <a:avLst/>
          </a:prstGeom>
          <a:solidFill>
            <a:srgbClr val="12908F"/>
          </a:solidFill>
          <a:ln/>
        </p:spPr>
      </p:sp>
      <p:sp>
        <p:nvSpPr>
          <p:cNvPr id="14" name="Text 11"/>
          <p:cNvSpPr/>
          <p:nvPr/>
        </p:nvSpPr>
        <p:spPr>
          <a:xfrm>
            <a:off x="4297680" y="2697480"/>
            <a:ext cx="768096" cy="768096"/>
          </a:xfrm>
          <a:prstGeom prst="rect">
            <a:avLst/>
          </a:prstGeom>
          <a:noFill/>
          <a:ln/>
        </p:spPr>
        <p:txBody>
          <a:bodyPr wrap="square" lIns="0" tIns="0" rIns="0" bIns="0" rtlCol="0" anchor="ctr"/>
          <a:lstStyle/>
          <a:p>
            <a:pPr algn="ctr" indent="0" marL="0">
              <a:buNone/>
            </a:pPr>
            <a:r>
              <a:rPr lang="en-US" sz="3100" b="1" dirty="0">
                <a:solidFill>
                  <a:srgbClr val="FFFFFF"/>
                </a:solidFill>
                <a:latin typeface="Cambria" pitchFamily="34" charset="0"/>
                <a:ea typeface="Cambria" pitchFamily="34" charset="-122"/>
                <a:cs typeface="Cambria" pitchFamily="34" charset="-120"/>
              </a:rPr>
              <a:t>2</a:t>
            </a:r>
            <a:endParaRPr lang="en-US" sz="3100" dirty="0"/>
          </a:p>
        </p:txBody>
      </p:sp>
      <p:sp>
        <p:nvSpPr>
          <p:cNvPr id="15" name="Text 12"/>
          <p:cNvSpPr/>
          <p:nvPr/>
        </p:nvSpPr>
        <p:spPr>
          <a:xfrm>
            <a:off x="3483864" y="3611880"/>
            <a:ext cx="2395728"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Ideation</a:t>
            </a:r>
            <a:endParaRPr lang="en-US" sz="1800" dirty="0"/>
          </a:p>
        </p:txBody>
      </p:sp>
      <p:sp>
        <p:nvSpPr>
          <p:cNvPr id="16" name="Text 13"/>
          <p:cNvSpPr/>
          <p:nvPr/>
        </p:nvSpPr>
        <p:spPr>
          <a:xfrm>
            <a:off x="3529584" y="4041648"/>
            <a:ext cx="2304288" cy="914400"/>
          </a:xfrm>
          <a:prstGeom prst="rect">
            <a:avLst/>
          </a:prstGeom>
          <a:noFill/>
          <a:ln/>
        </p:spPr>
        <p:txBody>
          <a:bodyPr wrap="square" lIns="0" tIns="0" rIns="0" bIns="0" rtlCol="0" anchor="ctr"/>
          <a:lstStyle/>
          <a:p>
            <a:pPr algn="ctr" indent="0" marL="0">
              <a:lnSpc>
                <a:spcPct val="103000"/>
              </a:lnSpc>
              <a:buNone/>
            </a:pPr>
            <a:r>
              <a:rPr lang="en-US" sz="1400" dirty="0">
                <a:solidFill>
                  <a:srgbClr val="5F7284"/>
                </a:solidFill>
                <a:latin typeface="Calibri" pitchFamily="34" charset="0"/>
                <a:ea typeface="Calibri" pitchFamily="34" charset="-122"/>
                <a:cs typeface="Calibri" pitchFamily="34" charset="-120"/>
              </a:rPr>
              <a:t>Generate many ideas; defer judgment; prefer quantity.</a:t>
            </a:r>
            <a:endParaRPr lang="en-US" sz="1400" dirty="0"/>
          </a:p>
        </p:txBody>
      </p:sp>
      <p:pic>
        <p:nvPicPr>
          <p:cNvPr id="17" name="Image 1" descr="preencoded.png">    </p:cNvPr>
          <p:cNvPicPr>
            <a:picLocks noChangeAspect="1"/>
          </p:cNvPicPr>
          <p:nvPr/>
        </p:nvPicPr>
        <p:blipFill>
          <a:blip r:embed="rId2"/>
          <a:stretch>
            <a:fillRect/>
          </a:stretch>
        </p:blipFill>
        <p:spPr>
          <a:xfrm>
            <a:off x="6016752" y="3657600"/>
            <a:ext cx="201168" cy="274320"/>
          </a:xfrm>
          <a:prstGeom prst="rect">
            <a:avLst/>
          </a:prstGeom>
        </p:spPr>
      </p:pic>
      <p:sp>
        <p:nvSpPr>
          <p:cNvPr id="18" name="Shape 14"/>
          <p:cNvSpPr/>
          <p:nvPr/>
        </p:nvSpPr>
        <p:spPr>
          <a:xfrm>
            <a:off x="6144768" y="2468880"/>
            <a:ext cx="2670048" cy="2651760"/>
          </a:xfrm>
          <a:prstGeom prst="roundRect">
            <a:avLst>
              <a:gd name="adj" fmla="val 3103"/>
            </a:avLst>
          </a:prstGeom>
          <a:solidFill>
            <a:srgbClr val="F2F6F8"/>
          </a:solidFill>
          <a:ln/>
          <a:effectLst>
            <a:outerShdw sx="100000" sy="100000" kx="0" ky="0" algn="bl" rotWithShape="0" blurRad="88900" dist="38100" dir="5400000">
              <a:srgbClr val="000000">
                <a:alpha val="13000"/>
              </a:srgbClr>
            </a:outerShdw>
          </a:effectLst>
        </p:spPr>
      </p:sp>
      <p:sp>
        <p:nvSpPr>
          <p:cNvPr id="19" name="Shape 15"/>
          <p:cNvSpPr/>
          <p:nvPr/>
        </p:nvSpPr>
        <p:spPr>
          <a:xfrm>
            <a:off x="7095744" y="2697480"/>
            <a:ext cx="768096" cy="768096"/>
          </a:xfrm>
          <a:prstGeom prst="ellipse">
            <a:avLst/>
          </a:prstGeom>
          <a:solidFill>
            <a:srgbClr val="12908F"/>
          </a:solidFill>
          <a:ln/>
        </p:spPr>
      </p:sp>
      <p:sp>
        <p:nvSpPr>
          <p:cNvPr id="20" name="Text 16"/>
          <p:cNvSpPr/>
          <p:nvPr/>
        </p:nvSpPr>
        <p:spPr>
          <a:xfrm>
            <a:off x="7095744" y="2697480"/>
            <a:ext cx="768096" cy="768096"/>
          </a:xfrm>
          <a:prstGeom prst="rect">
            <a:avLst/>
          </a:prstGeom>
          <a:noFill/>
          <a:ln/>
        </p:spPr>
        <p:txBody>
          <a:bodyPr wrap="square" lIns="0" tIns="0" rIns="0" bIns="0" rtlCol="0" anchor="ctr"/>
          <a:lstStyle/>
          <a:p>
            <a:pPr algn="ctr" indent="0" marL="0">
              <a:buNone/>
            </a:pPr>
            <a:r>
              <a:rPr lang="en-US" sz="3100" b="1" dirty="0">
                <a:solidFill>
                  <a:srgbClr val="FFFFFF"/>
                </a:solidFill>
                <a:latin typeface="Cambria" pitchFamily="34" charset="0"/>
                <a:ea typeface="Cambria" pitchFamily="34" charset="-122"/>
                <a:cs typeface="Cambria" pitchFamily="34" charset="-120"/>
              </a:rPr>
              <a:t>3</a:t>
            </a:r>
            <a:endParaRPr lang="en-US" sz="3100" dirty="0"/>
          </a:p>
        </p:txBody>
      </p:sp>
      <p:sp>
        <p:nvSpPr>
          <p:cNvPr id="21" name="Text 17"/>
          <p:cNvSpPr/>
          <p:nvPr/>
        </p:nvSpPr>
        <p:spPr>
          <a:xfrm>
            <a:off x="6281928" y="3611880"/>
            <a:ext cx="2395728"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Development</a:t>
            </a:r>
            <a:endParaRPr lang="en-US" sz="1800" dirty="0"/>
          </a:p>
        </p:txBody>
      </p:sp>
      <p:sp>
        <p:nvSpPr>
          <p:cNvPr id="22" name="Text 18"/>
          <p:cNvSpPr/>
          <p:nvPr/>
        </p:nvSpPr>
        <p:spPr>
          <a:xfrm>
            <a:off x="6327648" y="4041648"/>
            <a:ext cx="2304288" cy="914400"/>
          </a:xfrm>
          <a:prstGeom prst="rect">
            <a:avLst/>
          </a:prstGeom>
          <a:noFill/>
          <a:ln/>
        </p:spPr>
        <p:txBody>
          <a:bodyPr wrap="square" lIns="0" tIns="0" rIns="0" bIns="0" rtlCol="0" anchor="ctr"/>
          <a:lstStyle/>
          <a:p>
            <a:pPr algn="ctr" indent="0" marL="0">
              <a:lnSpc>
                <a:spcPct val="103000"/>
              </a:lnSpc>
              <a:buNone/>
            </a:pPr>
            <a:r>
              <a:rPr lang="en-US" sz="1400" dirty="0">
                <a:solidFill>
                  <a:srgbClr val="5F7284"/>
                </a:solidFill>
                <a:latin typeface="Calibri" pitchFamily="34" charset="0"/>
                <a:ea typeface="Calibri" pitchFamily="34" charset="-122"/>
                <a:cs typeface="Calibri" pitchFamily="34" charset="-120"/>
              </a:rPr>
              <a:t>Strengthen and refine the best ideas against goals and constraints.</a:t>
            </a:r>
            <a:endParaRPr lang="en-US" sz="1400" dirty="0"/>
          </a:p>
        </p:txBody>
      </p:sp>
      <p:pic>
        <p:nvPicPr>
          <p:cNvPr id="23" name="Image 2" descr="preencoded.png">    </p:cNvPr>
          <p:cNvPicPr>
            <a:picLocks noChangeAspect="1"/>
          </p:cNvPicPr>
          <p:nvPr/>
        </p:nvPicPr>
        <p:blipFill>
          <a:blip r:embed="rId3"/>
          <a:stretch>
            <a:fillRect/>
          </a:stretch>
        </p:blipFill>
        <p:spPr>
          <a:xfrm>
            <a:off x="8814816" y="3657600"/>
            <a:ext cx="201168" cy="274320"/>
          </a:xfrm>
          <a:prstGeom prst="rect">
            <a:avLst/>
          </a:prstGeom>
        </p:spPr>
      </p:pic>
      <p:sp>
        <p:nvSpPr>
          <p:cNvPr id="24" name="Shape 19"/>
          <p:cNvSpPr/>
          <p:nvPr/>
        </p:nvSpPr>
        <p:spPr>
          <a:xfrm>
            <a:off x="8942832" y="2468880"/>
            <a:ext cx="2670048" cy="2651760"/>
          </a:xfrm>
          <a:prstGeom prst="roundRect">
            <a:avLst>
              <a:gd name="adj" fmla="val 3103"/>
            </a:avLst>
          </a:prstGeom>
          <a:solidFill>
            <a:srgbClr val="F2F6F8"/>
          </a:solidFill>
          <a:ln/>
          <a:effectLst>
            <a:outerShdw sx="100000" sy="100000" kx="0" ky="0" algn="bl" rotWithShape="0" blurRad="88900" dist="38100" dir="5400000">
              <a:srgbClr val="000000">
                <a:alpha val="13000"/>
              </a:srgbClr>
            </a:outerShdw>
          </a:effectLst>
        </p:spPr>
      </p:sp>
      <p:sp>
        <p:nvSpPr>
          <p:cNvPr id="25" name="Shape 20"/>
          <p:cNvSpPr/>
          <p:nvPr/>
        </p:nvSpPr>
        <p:spPr>
          <a:xfrm>
            <a:off x="9893808" y="2697480"/>
            <a:ext cx="768096" cy="768096"/>
          </a:xfrm>
          <a:prstGeom prst="ellipse">
            <a:avLst/>
          </a:prstGeom>
          <a:solidFill>
            <a:srgbClr val="12908F"/>
          </a:solidFill>
          <a:ln/>
        </p:spPr>
      </p:sp>
      <p:sp>
        <p:nvSpPr>
          <p:cNvPr id="26" name="Text 21"/>
          <p:cNvSpPr/>
          <p:nvPr/>
        </p:nvSpPr>
        <p:spPr>
          <a:xfrm>
            <a:off x="9893808" y="2697480"/>
            <a:ext cx="768096" cy="768096"/>
          </a:xfrm>
          <a:prstGeom prst="rect">
            <a:avLst/>
          </a:prstGeom>
          <a:noFill/>
          <a:ln/>
        </p:spPr>
        <p:txBody>
          <a:bodyPr wrap="square" lIns="0" tIns="0" rIns="0" bIns="0" rtlCol="0" anchor="ctr"/>
          <a:lstStyle/>
          <a:p>
            <a:pPr algn="ctr" indent="0" marL="0">
              <a:buNone/>
            </a:pPr>
            <a:r>
              <a:rPr lang="en-US" sz="3100" b="1" dirty="0">
                <a:solidFill>
                  <a:srgbClr val="FFFFFF"/>
                </a:solidFill>
                <a:latin typeface="Cambria" pitchFamily="34" charset="0"/>
                <a:ea typeface="Cambria" pitchFamily="34" charset="-122"/>
                <a:cs typeface="Cambria" pitchFamily="34" charset="-120"/>
              </a:rPr>
              <a:t>4</a:t>
            </a:r>
            <a:endParaRPr lang="en-US" sz="3100" dirty="0"/>
          </a:p>
        </p:txBody>
      </p:sp>
      <p:sp>
        <p:nvSpPr>
          <p:cNvPr id="27" name="Text 22"/>
          <p:cNvSpPr/>
          <p:nvPr/>
        </p:nvSpPr>
        <p:spPr>
          <a:xfrm>
            <a:off x="9079992" y="3611880"/>
            <a:ext cx="2395728"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Implementation</a:t>
            </a:r>
            <a:endParaRPr lang="en-US" sz="1800" dirty="0"/>
          </a:p>
        </p:txBody>
      </p:sp>
      <p:sp>
        <p:nvSpPr>
          <p:cNvPr id="28" name="Text 23"/>
          <p:cNvSpPr/>
          <p:nvPr/>
        </p:nvSpPr>
        <p:spPr>
          <a:xfrm>
            <a:off x="9125712" y="4041648"/>
            <a:ext cx="2304288" cy="914400"/>
          </a:xfrm>
          <a:prstGeom prst="rect">
            <a:avLst/>
          </a:prstGeom>
          <a:noFill/>
          <a:ln/>
        </p:spPr>
        <p:txBody>
          <a:bodyPr wrap="square" lIns="0" tIns="0" rIns="0" bIns="0" rtlCol="0" anchor="ctr"/>
          <a:lstStyle/>
          <a:p>
            <a:pPr algn="ctr" indent="0" marL="0">
              <a:lnSpc>
                <a:spcPct val="103000"/>
              </a:lnSpc>
              <a:buNone/>
            </a:pPr>
            <a:r>
              <a:rPr lang="en-US" sz="1400" dirty="0">
                <a:solidFill>
                  <a:srgbClr val="5F7284"/>
                </a:solidFill>
                <a:latin typeface="Calibri" pitchFamily="34" charset="0"/>
                <a:ea typeface="Calibri" pitchFamily="34" charset="-122"/>
                <a:cs typeface="Calibri" pitchFamily="34" charset="-120"/>
              </a:rPr>
              <a:t>Plan, act, and socialize the chosen solution.</a:t>
            </a:r>
            <a:endParaRPr lang="en-US" sz="1400" dirty="0"/>
          </a:p>
        </p:txBody>
      </p:sp>
      <p:sp>
        <p:nvSpPr>
          <p:cNvPr id="29" name="Text 24"/>
          <p:cNvSpPr/>
          <p:nvPr/>
        </p:nvSpPr>
        <p:spPr>
          <a:xfrm>
            <a:off x="548640" y="5349240"/>
            <a:ext cx="11064240" cy="365760"/>
          </a:xfrm>
          <a:prstGeom prst="rect">
            <a:avLst/>
          </a:prstGeom>
          <a:noFill/>
          <a:ln/>
        </p:spPr>
        <p:txBody>
          <a:bodyPr wrap="square" lIns="0" tIns="0" rIns="0" bIns="0" rtlCol="0" anchor="ctr"/>
          <a:lstStyle/>
          <a:p>
            <a:pPr algn="ctr" indent="0" marL="0">
              <a:buNone/>
            </a:pPr>
            <a:r>
              <a:rPr lang="en-US" sz="1500" i="1" dirty="0">
                <a:solidFill>
                  <a:srgbClr val="5F7284"/>
                </a:solidFill>
                <a:latin typeface="Calibri" pitchFamily="34" charset="0"/>
                <a:ea typeface="Calibri" pitchFamily="34" charset="-122"/>
                <a:cs typeface="Calibri" pitchFamily="34" charset="-120"/>
              </a:rPr>
              <a:t>We'll map these four stages onto the five phases of the course next.</a:t>
            </a:r>
            <a:endParaRPr lang="en-US" sz="1500" dirty="0"/>
          </a:p>
        </p:txBody>
      </p:sp>
      <p:sp>
        <p:nvSpPr>
          <p:cNvPr id="30" name="Text 25"/>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31" name="Text 26"/>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HEART OF CPS</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Two modes: divergent &amp; convergent thinking</a:t>
            </a:r>
            <a:endParaRPr lang="en-US" sz="3000" dirty="0"/>
          </a:p>
        </p:txBody>
      </p:sp>
      <p:sp>
        <p:nvSpPr>
          <p:cNvPr id="5" name="Text 3"/>
          <p:cNvSpPr/>
          <p:nvPr/>
        </p:nvSpPr>
        <p:spPr>
          <a:xfrm>
            <a:off x="548640" y="1481328"/>
            <a:ext cx="11064240" cy="320040"/>
          </a:xfrm>
          <a:prstGeom prst="rect">
            <a:avLst/>
          </a:prstGeom>
          <a:noFill/>
          <a:ln/>
        </p:spPr>
        <p:txBody>
          <a:bodyPr wrap="square" lIns="0" tIns="0" rIns="0" bIns="0" rtlCol="0" anchor="ctr"/>
          <a:lstStyle/>
          <a:p>
            <a:pPr indent="0" marL="0">
              <a:buNone/>
            </a:pPr>
            <a:r>
              <a:rPr lang="en-US" sz="1600" i="1" dirty="0">
                <a:solidFill>
                  <a:srgbClr val="5F7284"/>
                </a:solidFill>
                <a:latin typeface="Calibri" pitchFamily="34" charset="0"/>
                <a:ea typeface="Calibri" pitchFamily="34" charset="-122"/>
                <a:cs typeface="Calibri" pitchFamily="34" charset="-120"/>
              </a:rPr>
              <a:t>Every stage uses both. Generate many options before you narrow to one.</a:t>
            </a:r>
            <a:endParaRPr lang="en-US" sz="1600" dirty="0"/>
          </a:p>
        </p:txBody>
      </p:sp>
      <p:sp>
        <p:nvSpPr>
          <p:cNvPr id="6" name="Shape 4"/>
          <p:cNvSpPr/>
          <p:nvPr/>
        </p:nvSpPr>
        <p:spPr>
          <a:xfrm>
            <a:off x="548640" y="2011680"/>
            <a:ext cx="5394960" cy="3063240"/>
          </a:xfrm>
          <a:prstGeom prst="roundRect">
            <a:avLst>
              <a:gd name="adj" fmla="val 2687"/>
            </a:avLst>
          </a:prstGeom>
          <a:solidFill>
            <a:srgbClr val="EAF4EE"/>
          </a:solidFill>
          <a:ln/>
          <a:effectLst>
            <a:outerShdw sx="100000" sy="100000" kx="0" ky="0" algn="bl" rotWithShape="0" blurRad="88900" dist="38100" dir="5400000">
              <a:srgbClr val="000000">
                <a:alpha val="13000"/>
              </a:srgbClr>
            </a:outerShdw>
          </a:effectLst>
        </p:spPr>
      </p:sp>
      <p:sp>
        <p:nvSpPr>
          <p:cNvPr id="7" name="Shape 5"/>
          <p:cNvSpPr/>
          <p:nvPr/>
        </p:nvSpPr>
        <p:spPr>
          <a:xfrm>
            <a:off x="822960" y="2286000"/>
            <a:ext cx="566928" cy="566928"/>
          </a:xfrm>
          <a:prstGeom prst="ellipse">
            <a:avLst/>
          </a:prstGeom>
          <a:solidFill>
            <a:srgbClr val="3E9C6B"/>
          </a:solidFill>
          <a:ln/>
        </p:spPr>
      </p:sp>
      <p:pic>
        <p:nvPicPr>
          <p:cNvPr id="8" name="Image 0" descr="preencoded.png">    </p:cNvPr>
          <p:cNvPicPr>
            <a:picLocks noChangeAspect="1"/>
          </p:cNvPicPr>
          <p:nvPr/>
        </p:nvPicPr>
        <p:blipFill>
          <a:blip r:embed="rId1"/>
          <a:stretch>
            <a:fillRect/>
          </a:stretch>
        </p:blipFill>
        <p:spPr>
          <a:xfrm>
            <a:off x="976031" y="2439071"/>
            <a:ext cx="260787" cy="260787"/>
          </a:xfrm>
          <a:prstGeom prst="rect">
            <a:avLst/>
          </a:prstGeom>
        </p:spPr>
      </p:pic>
      <p:sp>
        <p:nvSpPr>
          <p:cNvPr id="9" name="Text 6"/>
          <p:cNvSpPr/>
          <p:nvPr/>
        </p:nvSpPr>
        <p:spPr>
          <a:xfrm>
            <a:off x="1554480" y="2350008"/>
            <a:ext cx="4114800" cy="457200"/>
          </a:xfrm>
          <a:prstGeom prst="rect">
            <a:avLst/>
          </a:prstGeom>
          <a:noFill/>
          <a:ln/>
        </p:spPr>
        <p:txBody>
          <a:bodyPr wrap="square" lIns="0" tIns="0" rIns="0" bIns="0" rtlCol="0" anchor="ctr"/>
          <a:lstStyle/>
          <a:p>
            <a:pPr indent="0" marL="0">
              <a:buNone/>
            </a:pPr>
            <a:r>
              <a:rPr lang="en-US" sz="2050" b="1" dirty="0">
                <a:solidFill>
                  <a:srgbClr val="3E9C6B"/>
                </a:solidFill>
                <a:latin typeface="Calibri" pitchFamily="34" charset="0"/>
                <a:ea typeface="Calibri" pitchFamily="34" charset="-122"/>
                <a:cs typeface="Calibri" pitchFamily="34" charset="-120"/>
              </a:rPr>
              <a:t>Divergent</a:t>
            </a:r>
            <a:endParaRPr lang="en-US" sz="2050" dirty="0"/>
          </a:p>
        </p:txBody>
      </p:sp>
      <p:sp>
        <p:nvSpPr>
          <p:cNvPr id="10" name="Text 7"/>
          <p:cNvSpPr/>
          <p:nvPr/>
        </p:nvSpPr>
        <p:spPr>
          <a:xfrm>
            <a:off x="868680" y="3063240"/>
            <a:ext cx="4800600" cy="1920240"/>
          </a:xfrm>
          <a:prstGeom prst="rect">
            <a:avLst/>
          </a:prstGeom>
          <a:noFill/>
          <a:ln/>
        </p:spPr>
        <p:txBody>
          <a:bodyPr wrap="square" lIns="0" tIns="0" rIns="0" bIns="0" rtlCol="0" anchor="t"/>
          <a:lstStyle/>
          <a:p>
            <a:pPr marL="190500" indent="-190500">
              <a:spcAft>
                <a:spcPts val="900"/>
              </a:spcAft>
              <a:buSzPct val="100000"/>
              <a:buChar char="•"/>
            </a:pPr>
            <a:r>
              <a:rPr lang="en-US" sz="1550" dirty="0">
                <a:solidFill>
                  <a:srgbClr val="1E2A36"/>
                </a:solidFill>
                <a:latin typeface="Calibri" pitchFamily="34" charset="0"/>
                <a:ea typeface="Calibri" pitchFamily="34" charset="-122"/>
                <a:cs typeface="Calibri" pitchFamily="34" charset="-120"/>
              </a:rPr>
              <a:t>Generate many different ideas</a:t>
            </a:r>
            <a:endParaRPr lang="en-US" sz="1550" dirty="0"/>
          </a:p>
          <a:p>
            <a:pPr marL="190500" indent="-190500">
              <a:spcAft>
                <a:spcPts val="900"/>
              </a:spcAft>
              <a:buSzPct val="100000"/>
              <a:buChar char="•"/>
            </a:pPr>
            <a:r>
              <a:rPr lang="en-US" sz="1550" dirty="0">
                <a:solidFill>
                  <a:srgbClr val="1E2A36"/>
                </a:solidFill>
                <a:latin typeface="Calibri" pitchFamily="34" charset="0"/>
                <a:ea typeface="Calibri" pitchFamily="34" charset="-122"/>
                <a:cs typeface="Calibri" pitchFamily="34" charset="-120"/>
              </a:rPr>
              <a:t>Defer judgment — no evaluating yet</a:t>
            </a:r>
            <a:endParaRPr lang="en-US" sz="1550" dirty="0"/>
          </a:p>
          <a:p>
            <a:pPr marL="190500" indent="-190500">
              <a:spcAft>
                <a:spcPts val="900"/>
              </a:spcAft>
              <a:buSzPct val="100000"/>
              <a:buChar char="•"/>
            </a:pPr>
            <a:r>
              <a:rPr lang="en-US" sz="1550" dirty="0">
                <a:solidFill>
                  <a:srgbClr val="1E2A36"/>
                </a:solidFill>
                <a:latin typeface="Calibri" pitchFamily="34" charset="0"/>
                <a:ea typeface="Calibri" pitchFamily="34" charset="-122"/>
                <a:cs typeface="Calibri" pitchFamily="34" charset="-120"/>
              </a:rPr>
              <a:t>Prefer quantity; welcome wild ideas</a:t>
            </a:r>
            <a:endParaRPr lang="en-US" sz="1550" dirty="0"/>
          </a:p>
          <a:p>
            <a:pPr marL="190500" indent="-190500">
              <a:buSzPct val="100000"/>
              <a:buChar char="•"/>
            </a:pPr>
            <a:r>
              <a:rPr lang="en-US" sz="1550" dirty="0">
                <a:solidFill>
                  <a:srgbClr val="1E2A36"/>
                </a:solidFill>
                <a:latin typeface="Calibri" pitchFamily="34" charset="0"/>
                <a:ea typeface="Calibri" pitchFamily="34" charset="-122"/>
                <a:cs typeface="Calibri" pitchFamily="34" charset="-120"/>
              </a:rPr>
              <a:t>Build on others' ideas</a:t>
            </a:r>
            <a:endParaRPr lang="en-US" sz="1550" dirty="0"/>
          </a:p>
        </p:txBody>
      </p:sp>
      <p:sp>
        <p:nvSpPr>
          <p:cNvPr id="11" name="Shape 8"/>
          <p:cNvSpPr/>
          <p:nvPr/>
        </p:nvSpPr>
        <p:spPr>
          <a:xfrm>
            <a:off x="6217920" y="2011680"/>
            <a:ext cx="5394960" cy="3063240"/>
          </a:xfrm>
          <a:prstGeom prst="roundRect">
            <a:avLst>
              <a:gd name="adj" fmla="val 2687"/>
            </a:avLst>
          </a:prstGeom>
          <a:solidFill>
            <a:srgbClr val="E9F0F4"/>
          </a:solidFill>
          <a:ln/>
          <a:effectLst>
            <a:outerShdw sx="100000" sy="100000" kx="0" ky="0" algn="bl" rotWithShape="0" blurRad="88900" dist="38100" dir="5400000">
              <a:srgbClr val="000000">
                <a:alpha val="13000"/>
              </a:srgbClr>
            </a:outerShdw>
          </a:effectLst>
        </p:spPr>
      </p:sp>
      <p:sp>
        <p:nvSpPr>
          <p:cNvPr id="12" name="Shape 9"/>
          <p:cNvSpPr/>
          <p:nvPr/>
        </p:nvSpPr>
        <p:spPr>
          <a:xfrm>
            <a:off x="6492240" y="2286000"/>
            <a:ext cx="566928" cy="566928"/>
          </a:xfrm>
          <a:prstGeom prst="ellipse">
            <a:avLst/>
          </a:prstGeom>
          <a:solidFill>
            <a:srgbClr val="12908F"/>
          </a:solidFill>
          <a:ln/>
        </p:spPr>
      </p:sp>
      <p:pic>
        <p:nvPicPr>
          <p:cNvPr id="13" name="Image 1" descr="preencoded.png">    </p:cNvPr>
          <p:cNvPicPr>
            <a:picLocks noChangeAspect="1"/>
          </p:cNvPicPr>
          <p:nvPr/>
        </p:nvPicPr>
        <p:blipFill>
          <a:blip r:embed="rId2"/>
          <a:stretch>
            <a:fillRect/>
          </a:stretch>
        </p:blipFill>
        <p:spPr>
          <a:xfrm>
            <a:off x="6645311" y="2439071"/>
            <a:ext cx="260787" cy="260787"/>
          </a:xfrm>
          <a:prstGeom prst="rect">
            <a:avLst/>
          </a:prstGeom>
        </p:spPr>
      </p:pic>
      <p:sp>
        <p:nvSpPr>
          <p:cNvPr id="14" name="Text 10"/>
          <p:cNvSpPr/>
          <p:nvPr/>
        </p:nvSpPr>
        <p:spPr>
          <a:xfrm>
            <a:off x="7223760" y="2350008"/>
            <a:ext cx="4114800" cy="457200"/>
          </a:xfrm>
          <a:prstGeom prst="rect">
            <a:avLst/>
          </a:prstGeom>
          <a:noFill/>
          <a:ln/>
        </p:spPr>
        <p:txBody>
          <a:bodyPr wrap="square" lIns="0" tIns="0" rIns="0" bIns="0" rtlCol="0" anchor="ctr"/>
          <a:lstStyle/>
          <a:p>
            <a:pPr indent="0" marL="0">
              <a:buNone/>
            </a:pPr>
            <a:r>
              <a:rPr lang="en-US" sz="2050" b="1" dirty="0">
                <a:solidFill>
                  <a:srgbClr val="0E6E6D"/>
                </a:solidFill>
                <a:latin typeface="Calibri" pitchFamily="34" charset="0"/>
                <a:ea typeface="Calibri" pitchFamily="34" charset="-122"/>
                <a:cs typeface="Calibri" pitchFamily="34" charset="-120"/>
              </a:rPr>
              <a:t>Convergent</a:t>
            </a:r>
            <a:endParaRPr lang="en-US" sz="2050" dirty="0"/>
          </a:p>
        </p:txBody>
      </p:sp>
      <p:sp>
        <p:nvSpPr>
          <p:cNvPr id="15" name="Text 11"/>
          <p:cNvSpPr/>
          <p:nvPr/>
        </p:nvSpPr>
        <p:spPr>
          <a:xfrm>
            <a:off x="6537960" y="3063240"/>
            <a:ext cx="4800600" cy="1920240"/>
          </a:xfrm>
          <a:prstGeom prst="rect">
            <a:avLst/>
          </a:prstGeom>
          <a:noFill/>
          <a:ln/>
        </p:spPr>
        <p:txBody>
          <a:bodyPr wrap="square" lIns="0" tIns="0" rIns="0" bIns="0" rtlCol="0" anchor="t"/>
          <a:lstStyle/>
          <a:p>
            <a:pPr marL="190500" indent="-190500">
              <a:spcAft>
                <a:spcPts val="900"/>
              </a:spcAft>
              <a:buSzPct val="100000"/>
              <a:buChar char="•"/>
            </a:pPr>
            <a:r>
              <a:rPr lang="en-US" sz="1550" dirty="0">
                <a:solidFill>
                  <a:srgbClr val="1E2A36"/>
                </a:solidFill>
                <a:latin typeface="Calibri" pitchFamily="34" charset="0"/>
                <a:ea typeface="Calibri" pitchFamily="34" charset="-122"/>
                <a:cs typeface="Calibri" pitchFamily="34" charset="-120"/>
              </a:rPr>
              <a:t>Narrow many ideas to the best</a:t>
            </a:r>
            <a:endParaRPr lang="en-US" sz="1550" dirty="0"/>
          </a:p>
          <a:p>
            <a:pPr marL="190500" indent="-190500">
              <a:spcAft>
                <a:spcPts val="900"/>
              </a:spcAft>
              <a:buSzPct val="100000"/>
              <a:buChar char="•"/>
            </a:pPr>
            <a:r>
              <a:rPr lang="en-US" sz="1550" dirty="0">
                <a:solidFill>
                  <a:srgbClr val="1E2A36"/>
                </a:solidFill>
                <a:latin typeface="Calibri" pitchFamily="34" charset="0"/>
                <a:ea typeface="Calibri" pitchFamily="34" charset="-122"/>
                <a:cs typeface="Calibri" pitchFamily="34" charset="-120"/>
              </a:rPr>
              <a:t>Apply judgment against goals &amp; constraints</a:t>
            </a:r>
            <a:endParaRPr lang="en-US" sz="1550" dirty="0"/>
          </a:p>
          <a:p>
            <a:pPr marL="190500" indent="-190500">
              <a:spcAft>
                <a:spcPts val="900"/>
              </a:spcAft>
              <a:buSzPct val="100000"/>
              <a:buChar char="•"/>
            </a:pPr>
            <a:r>
              <a:rPr lang="en-US" sz="1550" dirty="0">
                <a:solidFill>
                  <a:srgbClr val="1E2A36"/>
                </a:solidFill>
                <a:latin typeface="Calibri" pitchFamily="34" charset="0"/>
                <a:ea typeface="Calibri" pitchFamily="34" charset="-122"/>
                <a:cs typeface="Calibri" pitchFamily="34" charset="-120"/>
              </a:rPr>
              <a:t>Decide with logic and evidence</a:t>
            </a:r>
            <a:endParaRPr lang="en-US" sz="1550" dirty="0"/>
          </a:p>
          <a:p>
            <a:pPr marL="190500" indent="-190500">
              <a:buSzPct val="100000"/>
              <a:buChar char="•"/>
            </a:pPr>
            <a:r>
              <a:rPr lang="en-US" sz="1550" dirty="0">
                <a:solidFill>
                  <a:srgbClr val="1E2A36"/>
                </a:solidFill>
                <a:latin typeface="Calibri" pitchFamily="34" charset="0"/>
                <a:ea typeface="Calibri" pitchFamily="34" charset="-122"/>
                <a:cs typeface="Calibri" pitchFamily="34" charset="-120"/>
              </a:rPr>
              <a:t>Keep the novelty alive</a:t>
            </a:r>
            <a:endParaRPr lang="en-US" sz="1550" dirty="0"/>
          </a:p>
        </p:txBody>
      </p:sp>
      <p:sp>
        <p:nvSpPr>
          <p:cNvPr id="16" name="Shape 12"/>
          <p:cNvSpPr/>
          <p:nvPr/>
        </p:nvSpPr>
        <p:spPr>
          <a:xfrm>
            <a:off x="548640" y="5257800"/>
            <a:ext cx="11064240" cy="914400"/>
          </a:xfrm>
          <a:prstGeom prst="roundRect">
            <a:avLst>
              <a:gd name="adj" fmla="val 9000"/>
            </a:avLst>
          </a:prstGeom>
          <a:solidFill>
            <a:srgbClr val="14233A"/>
          </a:solidFill>
          <a:ln/>
          <a:effectLst>
            <a:outerShdw sx="100000" sy="100000" kx="0" ky="0" algn="bl" rotWithShape="0" blurRad="88900" dist="38100" dir="5400000">
              <a:srgbClr val="000000">
                <a:alpha val="13000"/>
              </a:srgbClr>
            </a:outerShdw>
          </a:effectLst>
        </p:spPr>
      </p:sp>
      <p:sp>
        <p:nvSpPr>
          <p:cNvPr id="17" name="Shape 13"/>
          <p:cNvSpPr/>
          <p:nvPr/>
        </p:nvSpPr>
        <p:spPr>
          <a:xfrm>
            <a:off x="868680" y="5486400"/>
            <a:ext cx="457200" cy="457200"/>
          </a:xfrm>
          <a:prstGeom prst="ellipse">
            <a:avLst/>
          </a:prstGeom>
          <a:solidFill>
            <a:srgbClr val="E8A33D"/>
          </a:solidFill>
          <a:ln/>
        </p:spPr>
      </p:sp>
      <p:pic>
        <p:nvPicPr>
          <p:cNvPr id="18" name="Image 2" descr="preencoded.png">    </p:cNvPr>
          <p:cNvPicPr>
            <a:picLocks noChangeAspect="1"/>
          </p:cNvPicPr>
          <p:nvPr/>
        </p:nvPicPr>
        <p:blipFill>
          <a:blip r:embed="rId3"/>
          <a:stretch>
            <a:fillRect/>
          </a:stretch>
        </p:blipFill>
        <p:spPr>
          <a:xfrm>
            <a:off x="992124" y="5609844"/>
            <a:ext cx="210312" cy="210312"/>
          </a:xfrm>
          <a:prstGeom prst="rect">
            <a:avLst/>
          </a:prstGeom>
        </p:spPr>
      </p:pic>
      <p:sp>
        <p:nvSpPr>
          <p:cNvPr id="19" name="Text 14"/>
          <p:cNvSpPr/>
          <p:nvPr/>
        </p:nvSpPr>
        <p:spPr>
          <a:xfrm>
            <a:off x="1508760" y="5257800"/>
            <a:ext cx="9875520" cy="914400"/>
          </a:xfrm>
          <a:prstGeom prst="rect">
            <a:avLst/>
          </a:prstGeom>
          <a:noFill/>
          <a:ln/>
        </p:spPr>
        <p:txBody>
          <a:bodyPr wrap="square" lIns="0" tIns="0" rIns="0" bIns="0" rtlCol="0" anchor="ctr"/>
          <a:lstStyle/>
          <a:p>
            <a:pPr indent="0" marL="0">
              <a:lnSpc>
                <a:spcPct val="102000"/>
              </a:lnSpc>
              <a:buNone/>
            </a:pPr>
            <a:r>
              <a:rPr lang="en-US" sz="1550" b="1" dirty="0">
                <a:solidFill>
                  <a:srgbClr val="E8A33D"/>
                </a:solidFill>
                <a:latin typeface="Calibri" pitchFamily="34" charset="0"/>
                <a:ea typeface="Calibri" pitchFamily="34" charset="-122"/>
                <a:cs typeface="Calibri" pitchFamily="34" charset="-120"/>
              </a:rPr>
              <a:t>Why diverge first?  </a:t>
            </a:r>
            <a:pPr indent="0" marL="0">
              <a:lnSpc>
                <a:spcPct val="102000"/>
              </a:lnSpc>
              <a:buNone/>
            </a:pPr>
            <a:r>
              <a:rPr lang="en-US" sz="1550" dirty="0">
                <a:solidFill>
                  <a:srgbClr val="FFFFFF"/>
                </a:solidFill>
                <a:latin typeface="Calibri" pitchFamily="34" charset="0"/>
                <a:ea typeface="Calibri" pitchFamily="34" charset="-122"/>
                <a:cs typeface="Calibri" pitchFamily="34" charset="-120"/>
              </a:rPr>
              <a:t>Groups that generate a pile of ideas before judging any produce better solutions than those that judge as they go. (It's why the Idea Briefs ask for three, not one.)</a:t>
            </a:r>
            <a:endParaRPr lang="en-US" sz="1550" dirty="0"/>
          </a:p>
        </p:txBody>
      </p:sp>
      <p:sp>
        <p:nvSpPr>
          <p:cNvPr id="20" name="Text 15"/>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21" name="Text 16"/>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ARC OF THE SEMESTER</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The four CPS stages → the five course phases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2926080"/>
                <a:gridCol w="6309360"/>
                <a:gridCol w="1828800"/>
              </a:tblGrid>
              <a:tr h="54864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CPS STAGE</a:t>
                      </a:r>
                      <a:endParaRPr lang="en-US" sz="15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COURSE PHASE</a:t>
                      </a:r>
                      <a:endParaRPr lang="en-US" sz="15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WEEKS</a:t>
                      </a:r>
                      <a:endParaRPr lang="en-US" sz="15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r>
              <a:tr h="548640">
                <a:tc>
                  <a:txBody>
                    <a:bodyPr/>
                    <a:lstStyle/>
                    <a:p>
                      <a:pPr indent="0" marL="0">
                        <a:buNone/>
                      </a:pPr>
                      <a:r>
                        <a:rPr lang="en-US" sz="1600" b="1" dirty="0">
                          <a:solidFill>
                            <a:srgbClr val="0E6E6D"/>
                          </a:solidFill>
                          <a:latin typeface="Calibri" pitchFamily="34" charset="0"/>
                          <a:ea typeface="Calibri" pitchFamily="34" charset="-122"/>
                          <a:cs typeface="Calibri" pitchFamily="34" charset="-120"/>
                        </a:rPr>
                        <a:t>Clarification</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1E2A36"/>
                          </a:solidFill>
                          <a:latin typeface="Calibri" pitchFamily="34" charset="0"/>
                          <a:ea typeface="Calibri" pitchFamily="34" charset="-122"/>
                          <a:cs typeface="Calibri" pitchFamily="34" charset="-120"/>
                        </a:rPr>
                        <a:t>Clarify &amp; Explore</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E2A36"/>
                          </a:solidFill>
                          <a:latin typeface="Calibri" pitchFamily="34" charset="0"/>
                          <a:ea typeface="Calibri" pitchFamily="34" charset="-122"/>
                          <a:cs typeface="Calibri" pitchFamily="34" charset="-120"/>
                        </a:rPr>
                        <a:t>1–3</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0E6E6D"/>
                          </a:solidFill>
                          <a:latin typeface="Calibri" pitchFamily="34" charset="0"/>
                          <a:ea typeface="Calibri" pitchFamily="34" charset="-122"/>
                          <a:cs typeface="Calibri" pitchFamily="34" charset="-120"/>
                        </a:rPr>
                        <a:t>Ideation</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600" dirty="0">
                          <a:solidFill>
                            <a:srgbClr val="1E2A36"/>
                          </a:solidFill>
                          <a:latin typeface="Calibri" pitchFamily="34" charset="0"/>
                          <a:ea typeface="Calibri" pitchFamily="34" charset="-122"/>
                          <a:cs typeface="Calibri" pitchFamily="34" charset="-120"/>
                        </a:rPr>
                        <a:t>Ideate &amp; Pitch → form teams</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600" b="1" dirty="0">
                          <a:solidFill>
                            <a:srgbClr val="1E2A36"/>
                          </a:solidFill>
                          <a:latin typeface="Calibri" pitchFamily="34" charset="0"/>
                          <a:ea typeface="Calibri" pitchFamily="34" charset="-122"/>
                          <a:cs typeface="Calibri" pitchFamily="34" charset="-120"/>
                        </a:rPr>
                        <a:t>4–5</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r>
              <a:tr h="548640">
                <a:tc>
                  <a:txBody>
                    <a:bodyPr/>
                    <a:lstStyle/>
                    <a:p>
                      <a:pPr indent="0" marL="0">
                        <a:buNone/>
                      </a:pPr>
                      <a:r>
                        <a:rPr lang="en-US" sz="1600" b="1" dirty="0">
                          <a:solidFill>
                            <a:srgbClr val="0E6E6D"/>
                          </a:solidFill>
                          <a:latin typeface="Calibri" pitchFamily="34" charset="0"/>
                          <a:ea typeface="Calibri" pitchFamily="34" charset="-122"/>
                          <a:cs typeface="Calibri" pitchFamily="34" charset="-120"/>
                        </a:rPr>
                        <a:t>Development</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1E2A36"/>
                          </a:solidFill>
                          <a:latin typeface="Calibri" pitchFamily="34" charset="0"/>
                          <a:ea typeface="Calibri" pitchFamily="34" charset="-122"/>
                          <a:cs typeface="Calibri" pitchFamily="34" charset="-120"/>
                        </a:rPr>
                        <a:t>Develop &amp; Design</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E2A36"/>
                          </a:solidFill>
                          <a:latin typeface="Calibri" pitchFamily="34" charset="0"/>
                          <a:ea typeface="Calibri" pitchFamily="34" charset="-122"/>
                          <a:cs typeface="Calibri" pitchFamily="34" charset="-120"/>
                        </a:rPr>
                        <a:t>6–8</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0E6E6D"/>
                          </a:solidFill>
                          <a:latin typeface="Calibri" pitchFamily="34" charset="0"/>
                          <a:ea typeface="Calibri" pitchFamily="34" charset="-122"/>
                          <a:cs typeface="Calibri" pitchFamily="34" charset="-120"/>
                        </a:rPr>
                        <a:t>Implementation</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600" dirty="0">
                          <a:solidFill>
                            <a:srgbClr val="1E2A36"/>
                          </a:solidFill>
                          <a:latin typeface="Calibri" pitchFamily="34" charset="0"/>
                          <a:ea typeface="Calibri" pitchFamily="34" charset="-122"/>
                          <a:cs typeface="Calibri" pitchFamily="34" charset="-120"/>
                        </a:rPr>
                        <a:t>Implement, Build → Launch &amp; Reflect</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600" b="1" dirty="0">
                          <a:solidFill>
                            <a:srgbClr val="1E2A36"/>
                          </a:solidFill>
                          <a:latin typeface="Calibri" pitchFamily="34" charset="0"/>
                          <a:ea typeface="Calibri" pitchFamily="34" charset="-122"/>
                          <a:cs typeface="Calibri" pitchFamily="34" charset="-120"/>
                        </a:rPr>
                        <a:t>9–14</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r>
            </a:tbl>
          </a:graphicData>
        </a:graphic>
      </p:graphicFrame>
      <p:sp>
        <p:nvSpPr>
          <p:cNvPr id="6" name="Shape 3"/>
          <p:cNvSpPr/>
          <p:nvPr/>
        </p:nvSpPr>
        <p:spPr>
          <a:xfrm>
            <a:off x="548640" y="5349240"/>
            <a:ext cx="11064240" cy="868680"/>
          </a:xfrm>
          <a:prstGeom prst="roundRect">
            <a:avLst>
              <a:gd name="adj" fmla="val 9474"/>
            </a:avLst>
          </a:prstGeom>
          <a:solidFill>
            <a:srgbClr val="EEF4F3"/>
          </a:solidFill>
          <a:ln/>
          <a:effectLst>
            <a:outerShdw sx="100000" sy="100000" kx="0" ky="0" algn="bl" rotWithShape="0" blurRad="88900" dist="38100" dir="5400000">
              <a:srgbClr val="000000">
                <a:alpha val="13000"/>
              </a:srgbClr>
            </a:outerShdw>
          </a:effectLst>
        </p:spPr>
      </p:sp>
      <p:sp>
        <p:nvSpPr>
          <p:cNvPr id="7" name="Text 4"/>
          <p:cNvSpPr/>
          <p:nvPr/>
        </p:nvSpPr>
        <p:spPr>
          <a:xfrm>
            <a:off x="822960" y="5349240"/>
            <a:ext cx="10515600" cy="868680"/>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Weeks 1–5 individual</a:t>
            </a:r>
            <a:pPr algn="ctr" indent="0" marL="0">
              <a:buNone/>
            </a:pPr>
            <a:r>
              <a:rPr lang="en-US" sz="1600" dirty="0">
                <a:solidFill>
                  <a:srgbClr val="1E2A36"/>
                </a:solidFill>
                <a:latin typeface="Calibri" pitchFamily="34" charset="0"/>
                <a:ea typeface="Calibri" pitchFamily="34" charset="-122"/>
                <a:cs typeface="Calibri" pitchFamily="34" charset="-120"/>
              </a:rPr>
              <a:t>  →  teams form at the Week-5 pitch  →  </a:t>
            </a:r>
            <a:pPr algn="ctr" indent="0" marL="0">
              <a:buNone/>
            </a:pPr>
            <a:r>
              <a:rPr lang="en-US" sz="1600" b="1" dirty="0">
                <a:solidFill>
                  <a:srgbClr val="0E6E6D"/>
                </a:solidFill>
                <a:latin typeface="Calibri" pitchFamily="34" charset="0"/>
                <a:ea typeface="Calibri" pitchFamily="34" charset="-122"/>
                <a:cs typeface="Calibri" pitchFamily="34" charset="-120"/>
              </a:rPr>
              <a:t>Weeks 6–14 team</a:t>
            </a:r>
            <a:pPr algn="ctr" indent="0" marL="0">
              <a:buNone/>
            </a:pPr>
            <a:r>
              <a:rPr lang="en-US" sz="1600" dirty="0">
                <a:solidFill>
                  <a:srgbClr val="1E2A36"/>
                </a:solidFill>
                <a:latin typeface="Calibri" pitchFamily="34" charset="0"/>
                <a:ea typeface="Calibri" pitchFamily="34" charset="-122"/>
                <a:cs typeface="Calibri" pitchFamily="34" charset="-120"/>
              </a:rPr>
              <a:t>   (a solo path is welcome — no one's idea gets killed out from under them).</a:t>
            </a:r>
            <a:endParaRPr lang="en-US" sz="1600" dirty="0"/>
          </a:p>
        </p:txBody>
      </p:sp>
      <p:sp>
        <p:nvSpPr>
          <p:cNvPr id="8" name="Text 5"/>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9" name="Text 6"/>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IT RUNS</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The practical stuff that matters today</a:t>
            </a:r>
            <a:endParaRPr lang="en-US" sz="3000" dirty="0"/>
          </a:p>
        </p:txBody>
      </p:sp>
      <p:sp>
        <p:nvSpPr>
          <p:cNvPr id="5" name="Shape 3"/>
          <p:cNvSpPr/>
          <p:nvPr/>
        </p:nvSpPr>
        <p:spPr>
          <a:xfrm>
            <a:off x="548640" y="1874520"/>
            <a:ext cx="676656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2093976"/>
            <a:ext cx="475488" cy="47548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05622" y="2222358"/>
            <a:ext cx="218724" cy="218724"/>
          </a:xfrm>
          <a:prstGeom prst="rect">
            <a:avLst/>
          </a:prstGeom>
        </p:spPr>
      </p:pic>
      <p:sp>
        <p:nvSpPr>
          <p:cNvPr id="8" name="Text 5"/>
          <p:cNvSpPr/>
          <p:nvPr/>
        </p:nvSpPr>
        <p:spPr>
          <a:xfrm>
            <a:off x="1463040" y="1993392"/>
            <a:ext cx="5669280" cy="32918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~10 hours / week</a:t>
            </a:r>
            <a:endParaRPr lang="en-US" sz="1800" dirty="0"/>
          </a:p>
        </p:txBody>
      </p:sp>
      <p:sp>
        <p:nvSpPr>
          <p:cNvPr id="9" name="Text 6"/>
          <p:cNvSpPr/>
          <p:nvPr/>
        </p:nvSpPr>
        <p:spPr>
          <a:xfrm>
            <a:off x="1463040" y="2322576"/>
            <a:ext cx="5715000" cy="41148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≈2.5 in class + ≈7.5 outside. Say it plainly.</a:t>
            </a:r>
            <a:endParaRPr lang="en-US" sz="1400" dirty="0"/>
          </a:p>
        </p:txBody>
      </p:sp>
      <p:sp>
        <p:nvSpPr>
          <p:cNvPr id="10" name="Shape 7"/>
          <p:cNvSpPr/>
          <p:nvPr/>
        </p:nvSpPr>
        <p:spPr>
          <a:xfrm>
            <a:off x="548640" y="2926080"/>
            <a:ext cx="676656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777240" y="3145536"/>
            <a:ext cx="475488" cy="475488"/>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905622" y="3273918"/>
            <a:ext cx="218724" cy="218724"/>
          </a:xfrm>
          <a:prstGeom prst="rect">
            <a:avLst/>
          </a:prstGeom>
        </p:spPr>
      </p:pic>
      <p:sp>
        <p:nvSpPr>
          <p:cNvPr id="13" name="Text 9"/>
          <p:cNvSpPr/>
          <p:nvPr/>
        </p:nvSpPr>
        <p:spPr>
          <a:xfrm>
            <a:off x="1463040" y="3044952"/>
            <a:ext cx="5669280" cy="32918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Process + founding artifacts</a:t>
            </a:r>
            <a:endParaRPr lang="en-US" sz="1800" dirty="0"/>
          </a:p>
        </p:txBody>
      </p:sp>
      <p:sp>
        <p:nvSpPr>
          <p:cNvPr id="14" name="Text 10"/>
          <p:cNvSpPr/>
          <p:nvPr/>
        </p:nvSpPr>
        <p:spPr>
          <a:xfrm>
            <a:off x="1463040" y="3374136"/>
            <a:ext cx="5715000" cy="41148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Discovery, proposal, design, governance, launch all carry weight — strong code alone can't compensate.</a:t>
            </a:r>
            <a:endParaRPr lang="en-US" sz="1400" dirty="0"/>
          </a:p>
        </p:txBody>
      </p:sp>
      <p:sp>
        <p:nvSpPr>
          <p:cNvPr id="15" name="Shape 11"/>
          <p:cNvSpPr/>
          <p:nvPr/>
        </p:nvSpPr>
        <p:spPr>
          <a:xfrm>
            <a:off x="548640" y="3977640"/>
            <a:ext cx="676656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777240" y="4197096"/>
            <a:ext cx="475488" cy="475488"/>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05622" y="4325478"/>
            <a:ext cx="218724" cy="218724"/>
          </a:xfrm>
          <a:prstGeom prst="rect">
            <a:avLst/>
          </a:prstGeom>
        </p:spPr>
      </p:pic>
      <p:sp>
        <p:nvSpPr>
          <p:cNvPr id="18" name="Text 13"/>
          <p:cNvSpPr/>
          <p:nvPr/>
        </p:nvSpPr>
        <p:spPr>
          <a:xfrm>
            <a:off x="1463040" y="4096512"/>
            <a:ext cx="5669280" cy="32918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AI is a tool, not the topic</a:t>
            </a:r>
            <a:endParaRPr lang="en-US" sz="1800" dirty="0"/>
          </a:p>
        </p:txBody>
      </p:sp>
      <p:sp>
        <p:nvSpPr>
          <p:cNvPr id="19" name="Text 14"/>
          <p:cNvSpPr/>
          <p:nvPr/>
        </p:nvSpPr>
        <p:spPr>
          <a:xfrm>
            <a:off x="1463040" y="4425696"/>
            <a:ext cx="5715000" cy="41148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Allowed for brainstorming, learning, drafting — but understand and be able to defend everything you submit.</a:t>
            </a:r>
            <a:endParaRPr lang="en-US" sz="1400" dirty="0"/>
          </a:p>
        </p:txBody>
      </p:sp>
      <p:sp>
        <p:nvSpPr>
          <p:cNvPr id="20" name="Shape 15"/>
          <p:cNvSpPr/>
          <p:nvPr/>
        </p:nvSpPr>
        <p:spPr>
          <a:xfrm>
            <a:off x="7498080" y="1874520"/>
            <a:ext cx="4114800" cy="3154680"/>
          </a:xfrm>
          <a:prstGeom prst="roundRect">
            <a:avLst>
              <a:gd name="adj" fmla="val 2609"/>
            </a:avLst>
          </a:prstGeom>
          <a:solidFill>
            <a:srgbClr val="FCF3E3"/>
          </a:solidFill>
          <a:ln w="19050">
            <a:solidFill>
              <a:srgbClr val="E8A33D"/>
            </a:solidFill>
            <a:prstDash val="dash"/>
          </a:ln>
        </p:spPr>
      </p:sp>
      <p:sp>
        <p:nvSpPr>
          <p:cNvPr id="21" name="Shape 16"/>
          <p:cNvSpPr/>
          <p:nvPr/>
        </p:nvSpPr>
        <p:spPr>
          <a:xfrm>
            <a:off x="7772400" y="2148840"/>
            <a:ext cx="502920" cy="502920"/>
          </a:xfrm>
          <a:prstGeom prst="ellipse">
            <a:avLst/>
          </a:prstGeom>
          <a:solidFill>
            <a:srgbClr val="E8A33D"/>
          </a:solidFill>
          <a:ln/>
        </p:spPr>
      </p:sp>
      <p:pic>
        <p:nvPicPr>
          <p:cNvPr id="22" name="Image 3" descr="preencoded.png">    </p:cNvPr>
          <p:cNvPicPr>
            <a:picLocks noChangeAspect="1"/>
          </p:cNvPicPr>
          <p:nvPr/>
        </p:nvPicPr>
        <p:blipFill>
          <a:blip r:embed="rId4"/>
          <a:stretch>
            <a:fillRect/>
          </a:stretch>
        </p:blipFill>
        <p:spPr>
          <a:xfrm>
            <a:off x="7908188" y="2284628"/>
            <a:ext cx="231343" cy="231343"/>
          </a:xfrm>
          <a:prstGeom prst="rect">
            <a:avLst/>
          </a:prstGeom>
        </p:spPr>
      </p:pic>
      <p:sp>
        <p:nvSpPr>
          <p:cNvPr id="23" name="Text 17"/>
          <p:cNvSpPr/>
          <p:nvPr/>
        </p:nvSpPr>
        <p:spPr>
          <a:xfrm>
            <a:off x="8412480" y="2212848"/>
            <a:ext cx="3017520" cy="365760"/>
          </a:xfrm>
          <a:prstGeom prst="rect">
            <a:avLst/>
          </a:prstGeom>
          <a:noFill/>
          <a:ln/>
        </p:spPr>
        <p:txBody>
          <a:bodyPr wrap="square" lIns="0" tIns="0" rIns="0" bIns="0" rtlCol="0" anchor="ctr"/>
          <a:lstStyle/>
          <a:p>
            <a:pPr indent="0" marL="0">
              <a:buNone/>
            </a:pPr>
            <a:r>
              <a:rPr lang="en-US" sz="1600" b="1" dirty="0">
                <a:solidFill>
                  <a:srgbClr val="A9791F"/>
                </a:solidFill>
                <a:latin typeface="Calibri" pitchFamily="34" charset="0"/>
                <a:ea typeface="Calibri" pitchFamily="34" charset="-122"/>
                <a:cs typeface="Calibri" pitchFamily="34" charset="-120"/>
              </a:rPr>
              <a:t>IT'S ALL IN CANVAS</a:t>
            </a:r>
            <a:endParaRPr lang="en-US" sz="1600" dirty="0"/>
          </a:p>
        </p:txBody>
      </p:sp>
      <p:sp>
        <p:nvSpPr>
          <p:cNvPr id="24" name="Text 18"/>
          <p:cNvSpPr/>
          <p:nvPr/>
        </p:nvSpPr>
        <p:spPr>
          <a:xfrm>
            <a:off x="7772400" y="2761488"/>
            <a:ext cx="3566160" cy="457200"/>
          </a:xfrm>
          <a:prstGeom prst="rect">
            <a:avLst/>
          </a:prstGeom>
          <a:noFill/>
          <a:ln/>
        </p:spPr>
        <p:txBody>
          <a:bodyPr wrap="square" lIns="0" tIns="0" rIns="0" bIns="0" rtlCol="0" anchor="ctr"/>
          <a:lstStyle/>
          <a:p>
            <a:pPr indent="0" marL="0">
              <a:buNone/>
            </a:pPr>
            <a:r>
              <a:rPr lang="en-US" sz="1400" dirty="0">
                <a:solidFill>
                  <a:srgbClr val="1E2A36"/>
                </a:solidFill>
                <a:latin typeface="Calibri" pitchFamily="34" charset="0"/>
                <a:ea typeface="Calibri" pitchFamily="34" charset="-122"/>
                <a:cs typeface="Calibri" pitchFamily="34" charset="-120"/>
              </a:rPr>
              <a:t>Syllabus, schedule, rubrics, and every handout live in Canvas.</a:t>
            </a:r>
            <a:endParaRPr lang="en-US" sz="1400" dirty="0"/>
          </a:p>
        </p:txBody>
      </p:sp>
      <p:sp>
        <p:nvSpPr>
          <p:cNvPr id="25" name="Text 19"/>
          <p:cNvSpPr/>
          <p:nvPr/>
        </p:nvSpPr>
        <p:spPr>
          <a:xfrm>
            <a:off x="7818120" y="3273552"/>
            <a:ext cx="3566160" cy="123444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grading breakdown</a:t>
            </a:r>
            <a:endParaRPr lang="en-US" sz="1450" dirty="0"/>
          </a:p>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late work &amp; attendance</a:t>
            </a:r>
            <a:endParaRPr lang="en-US" sz="1450" dirty="0"/>
          </a:p>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collaboration &amp; Honor Code</a:t>
            </a:r>
            <a:endParaRPr lang="en-US" sz="1450" dirty="0"/>
          </a:p>
          <a:p>
            <a:pPr marL="177800" indent="-177800">
              <a:buSzPct val="100000"/>
              <a:buChar char="•"/>
            </a:pPr>
            <a:r>
              <a:rPr lang="en-US" sz="1450" dirty="0">
                <a:solidFill>
                  <a:srgbClr val="1E2A36"/>
                </a:solidFill>
                <a:latin typeface="Calibri" pitchFamily="34" charset="0"/>
                <a:ea typeface="Calibri" pitchFamily="34" charset="-122"/>
                <a:cs typeface="Calibri" pitchFamily="34" charset="-120"/>
              </a:rPr>
              <a:t>accommodations &amp; support</a:t>
            </a:r>
            <a:endParaRPr lang="en-US" sz="1450" dirty="0"/>
          </a:p>
        </p:txBody>
      </p:sp>
      <p:sp>
        <p:nvSpPr>
          <p:cNvPr id="26" name="Text 20"/>
          <p:cNvSpPr/>
          <p:nvPr/>
        </p:nvSpPr>
        <p:spPr>
          <a:xfrm>
            <a:off x="7818120" y="4553712"/>
            <a:ext cx="3566160" cy="365760"/>
          </a:xfrm>
          <a:prstGeom prst="rect">
            <a:avLst/>
          </a:prstGeom>
          <a:noFill/>
          <a:ln/>
        </p:spPr>
        <p:txBody>
          <a:bodyPr wrap="square" lIns="0" tIns="0" rIns="0" bIns="0" rtlCol="0" anchor="ctr"/>
          <a:lstStyle/>
          <a:p>
            <a:pPr indent="0" marL="0">
              <a:buNone/>
            </a:pPr>
            <a:r>
              <a:rPr lang="en-US" sz="1500" b="1" dirty="0">
                <a:solidFill>
                  <a:srgbClr val="A9791F"/>
                </a:solidFill>
                <a:latin typeface="Calibri" pitchFamily="34" charset="0"/>
                <a:ea typeface="Calibri" pitchFamily="34" charset="-122"/>
                <a:cs typeface="Calibri" pitchFamily="34" charset="-120"/>
              </a:rPr>
              <a:t>Read the syllabus this week.</a:t>
            </a:r>
            <a:endParaRPr lang="en-US" sz="1500" dirty="0"/>
          </a:p>
        </p:txBody>
      </p:sp>
      <p:sp>
        <p:nvSpPr>
          <p:cNvPr id="27" name="Text 21"/>
          <p:cNvSpPr/>
          <p:nvPr/>
        </p:nvSpPr>
        <p:spPr>
          <a:xfrm>
            <a:off x="548640" y="5257800"/>
            <a:ext cx="6766560" cy="457200"/>
          </a:xfrm>
          <a:prstGeom prst="rect">
            <a:avLst/>
          </a:prstGeom>
          <a:noFill/>
          <a:ln/>
        </p:spPr>
        <p:txBody>
          <a:bodyPr wrap="square" lIns="0" tIns="0" rIns="0" bIns="0" rtlCol="0" anchor="ctr"/>
          <a:lstStyle/>
          <a:p>
            <a:pPr indent="0" marL="0">
              <a:buNone/>
            </a:pPr>
            <a:r>
              <a:rPr lang="en-US" sz="1400" i="1" dirty="0">
                <a:solidFill>
                  <a:srgbClr val="5F7284"/>
                </a:solidFill>
                <a:latin typeface="Calibri" pitchFamily="34" charset="0"/>
                <a:ea typeface="Calibri" pitchFamily="34" charset="-122"/>
                <a:cs typeface="Calibri" pitchFamily="34" charset="-120"/>
              </a:rPr>
              <a:t>Keep this segment tight — resist reading the syllabus aloud; point them to Canvas.</a:t>
            </a:r>
            <a:endParaRPr lang="en-US" sz="1400" dirty="0"/>
          </a:p>
        </p:txBody>
      </p:sp>
      <p:sp>
        <p:nvSpPr>
          <p:cNvPr id="28" name="Text 22"/>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29" name="Text 23"/>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10241280" y="-1097280"/>
            <a:ext cx="3291840" cy="3291840"/>
          </a:xfrm>
          <a:prstGeom prst="ellipse">
            <a:avLst/>
          </a:prstGeom>
          <a:solidFill>
            <a:srgbClr val="127D7C"/>
          </a:solidFill>
          <a:ln/>
        </p:spPr>
      </p:sp>
      <p:sp>
        <p:nvSpPr>
          <p:cNvPr id="3" name="Text 1"/>
          <p:cNvSpPr/>
          <p:nvPr/>
        </p:nvSpPr>
        <p:spPr>
          <a:xfrm>
            <a:off x="640080" y="502920"/>
            <a:ext cx="10058400" cy="320040"/>
          </a:xfrm>
          <a:prstGeom prst="rect">
            <a:avLst/>
          </a:prstGeom>
          <a:noFill/>
          <a:ln/>
        </p:spPr>
        <p:txBody>
          <a:bodyPr wrap="square" lIns="0" tIns="0" rIns="0" bIns="0" rtlCol="0" anchor="ctr"/>
          <a:lstStyle/>
          <a:p>
            <a:pPr indent="0" marL="0">
              <a:buNone/>
            </a:pPr>
            <a:r>
              <a:rPr lang="en-US" sz="1500" b="1" spc="200" kern="0" dirty="0">
                <a:solidFill>
                  <a:srgbClr val="BFE7E4"/>
                </a:solidFill>
                <a:latin typeface="Calibri" pitchFamily="34" charset="0"/>
                <a:ea typeface="Calibri" pitchFamily="34" charset="-122"/>
                <a:cs typeface="Calibri" pitchFamily="34" charset="-120"/>
              </a:rPr>
              <a:t>YOUR FIRST MOVE</a:t>
            </a:r>
            <a:endParaRPr lang="en-US" sz="1500" dirty="0"/>
          </a:p>
        </p:txBody>
      </p:sp>
      <p:sp>
        <p:nvSpPr>
          <p:cNvPr id="4" name="Text 2"/>
          <p:cNvSpPr/>
          <p:nvPr/>
        </p:nvSpPr>
        <p:spPr>
          <a:xfrm>
            <a:off x="621792" y="841248"/>
            <a:ext cx="10972800" cy="73152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Idea Briefs — due Wednesday, Sep 23</a:t>
            </a:r>
            <a:endParaRPr lang="en-US" sz="3100" dirty="0"/>
          </a:p>
        </p:txBody>
      </p:sp>
      <p:sp>
        <p:nvSpPr>
          <p:cNvPr id="5" name="Shape 3"/>
          <p:cNvSpPr/>
          <p:nvPr/>
        </p:nvSpPr>
        <p:spPr>
          <a:xfrm>
            <a:off x="548640" y="1874520"/>
            <a:ext cx="6858000" cy="3703320"/>
          </a:xfrm>
          <a:prstGeom prst="roundRect">
            <a:avLst>
              <a:gd name="adj" fmla="val 2222"/>
            </a:avLst>
          </a:prstGeom>
          <a:solidFill>
            <a:srgbClr val="FFFFFF"/>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548640" cy="54864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71093" y="2296973"/>
            <a:ext cx="252374" cy="252374"/>
          </a:xfrm>
          <a:prstGeom prst="rect">
            <a:avLst/>
          </a:prstGeom>
        </p:spPr>
      </p:pic>
      <p:sp>
        <p:nvSpPr>
          <p:cNvPr id="8" name="Text 5"/>
          <p:cNvSpPr/>
          <p:nvPr/>
        </p:nvSpPr>
        <p:spPr>
          <a:xfrm>
            <a:off x="1508760" y="2212848"/>
            <a:ext cx="5669280" cy="41148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What to produce</a:t>
            </a:r>
            <a:endParaRPr lang="en-US" sz="1900" dirty="0"/>
          </a:p>
        </p:txBody>
      </p:sp>
      <p:sp>
        <p:nvSpPr>
          <p:cNvPr id="9" name="Text 6"/>
          <p:cNvSpPr/>
          <p:nvPr/>
        </p:nvSpPr>
        <p:spPr>
          <a:xfrm>
            <a:off x="868680" y="2926080"/>
            <a:ext cx="6309360" cy="2468880"/>
          </a:xfrm>
          <a:prstGeom prst="rect">
            <a:avLst/>
          </a:prstGeom>
          <a:noFill/>
          <a:ln/>
        </p:spPr>
        <p:txBody>
          <a:bodyPr wrap="square" lIns="0" tIns="0" rIns="0" bIns="0" rtlCol="0" anchor="t"/>
          <a:lstStyle/>
          <a:p>
            <a:pPr marL="190500" indent="-190500">
              <a:spcAft>
                <a:spcPts val="1000"/>
              </a:spcAft>
              <a:buSzPct val="100000"/>
              <a:buChar char="•"/>
            </a:pPr>
            <a:r>
              <a:rPr lang="en-US" sz="1550" b="1" dirty="0">
                <a:solidFill>
                  <a:srgbClr val="1E2A36"/>
                </a:solidFill>
                <a:latin typeface="Calibri" pitchFamily="34" charset="0"/>
                <a:ea typeface="Calibri" pitchFamily="34" charset="-122"/>
                <a:cs typeface="Calibri" pitchFamily="34" charset="-120"/>
              </a:rPr>
              <a:t>Three genuinely different one-page problem concepts</a:t>
            </a:r>
            <a:endParaRPr lang="en-US" sz="1550" dirty="0"/>
          </a:p>
          <a:p>
            <a:pPr marL="190500" indent="-190500">
              <a:spcAft>
                <a:spcPts val="1000"/>
              </a:spcAft>
              <a:buSzPct val="100000"/>
              <a:buChar char="•"/>
            </a:pPr>
            <a:r>
              <a:rPr lang="en-US" sz="1550" dirty="0">
                <a:solidFill>
                  <a:srgbClr val="1E2A36"/>
                </a:solidFill>
                <a:latin typeface="Calibri" pitchFamily="34" charset="0"/>
                <a:ea typeface="Calibri" pitchFamily="34" charset="-122"/>
                <a:cs typeface="Calibri" pitchFamily="34" charset="-120"/>
              </a:rPr>
              <a:t>Plus a short reflection: "What makes a software project worth building to last?"</a:t>
            </a:r>
            <a:endParaRPr lang="en-US" sz="1550" dirty="0"/>
          </a:p>
          <a:p>
            <a:pPr marL="190500" indent="-190500">
              <a:spcAft>
                <a:spcPts val="1000"/>
              </a:spcAft>
              <a:buSzPct val="100000"/>
              <a:buChar char="•"/>
            </a:pPr>
            <a:r>
              <a:rPr lang="en-US" sz="1550" dirty="0">
                <a:solidFill>
                  <a:srgbClr val="1E2A36"/>
                </a:solidFill>
                <a:latin typeface="Calibri" pitchFamily="34" charset="0"/>
                <a:ea typeface="Calibri" pitchFamily="34" charset="-122"/>
                <a:cs typeface="Calibri" pitchFamily="34" charset="-120"/>
              </a:rPr>
              <a:t>Individual work — three flavors of the same app doesn't count</a:t>
            </a:r>
            <a:endParaRPr lang="en-US" sz="1550" dirty="0"/>
          </a:p>
          <a:p>
            <a:pPr marL="190500" indent="-190500">
              <a:buSzPct val="100000"/>
              <a:buChar char="•"/>
            </a:pPr>
            <a:r>
              <a:rPr lang="en-US" sz="1550" dirty="0">
                <a:solidFill>
                  <a:srgbClr val="1E2A36"/>
                </a:solidFill>
                <a:latin typeface="Calibri" pitchFamily="34" charset="0"/>
                <a:ea typeface="Calibri" pitchFamily="34" charset="-122"/>
                <a:cs typeface="Calibri" pitchFamily="34" charset="-120"/>
              </a:rPr>
              <a:t>They come from three weeks of noticing — start an idea journal today</a:t>
            </a:r>
            <a:endParaRPr lang="en-US" sz="1550" dirty="0"/>
          </a:p>
        </p:txBody>
      </p:sp>
      <p:sp>
        <p:nvSpPr>
          <p:cNvPr id="10" name="Shape 7"/>
          <p:cNvSpPr/>
          <p:nvPr/>
        </p:nvSpPr>
        <p:spPr>
          <a:xfrm>
            <a:off x="7589520" y="1874520"/>
            <a:ext cx="4023360" cy="3703320"/>
          </a:xfrm>
          <a:prstGeom prst="roundRect">
            <a:avLst>
              <a:gd name="adj" fmla="val 2222"/>
            </a:avLst>
          </a:prstGeom>
          <a:solidFill>
            <a:srgbClr val="0A6362"/>
          </a:solidFill>
          <a:ln/>
          <a:effectLst>
            <a:outerShdw sx="100000" sy="100000" kx="0" ky="0" algn="bl" rotWithShape="0" blurRad="88900" dist="38100" dir="5400000">
              <a:srgbClr val="000000">
                <a:alpha val="13000"/>
              </a:srgbClr>
            </a:outerShdw>
          </a:effectLst>
        </p:spPr>
      </p:sp>
      <p:sp>
        <p:nvSpPr>
          <p:cNvPr id="11" name="Shape 8"/>
          <p:cNvSpPr/>
          <p:nvPr/>
        </p:nvSpPr>
        <p:spPr>
          <a:xfrm>
            <a:off x="7863840" y="2148840"/>
            <a:ext cx="502920" cy="502920"/>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7999628" y="2284628"/>
            <a:ext cx="231343" cy="231343"/>
          </a:xfrm>
          <a:prstGeom prst="rect">
            <a:avLst/>
          </a:prstGeom>
        </p:spPr>
      </p:pic>
      <p:sp>
        <p:nvSpPr>
          <p:cNvPr id="13" name="Text 9"/>
          <p:cNvSpPr/>
          <p:nvPr/>
        </p:nvSpPr>
        <p:spPr>
          <a:xfrm>
            <a:off x="8503920" y="2194560"/>
            <a:ext cx="2926080" cy="502920"/>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Start an idea journal — today</a:t>
            </a:r>
            <a:endParaRPr lang="en-US" sz="1750" dirty="0"/>
          </a:p>
        </p:txBody>
      </p:sp>
      <p:sp>
        <p:nvSpPr>
          <p:cNvPr id="14" name="Text 10"/>
          <p:cNvSpPr/>
          <p:nvPr/>
        </p:nvSpPr>
        <p:spPr>
          <a:xfrm>
            <a:off x="7863840" y="2880360"/>
            <a:ext cx="3657600" cy="2606040"/>
          </a:xfrm>
          <a:prstGeom prst="rect">
            <a:avLst/>
          </a:prstGeom>
          <a:noFill/>
          <a:ln/>
        </p:spPr>
        <p:txBody>
          <a:bodyPr wrap="square" lIns="0" tIns="0" rIns="0" bIns="0" rtlCol="0" anchor="t"/>
          <a:lstStyle/>
          <a:p>
            <a:pPr marL="177800" indent="-177800">
              <a:lnSpc>
                <a:spcPct val="103000"/>
              </a:lnSpc>
              <a:spcAft>
                <a:spcPts val="900"/>
              </a:spcAft>
              <a:buSzPct val="100000"/>
              <a:buChar char="•"/>
            </a:pPr>
            <a:r>
              <a:rPr lang="en-US" sz="1450" dirty="0">
                <a:solidFill>
                  <a:srgbClr val="D6EFED"/>
                </a:solidFill>
                <a:latin typeface="Calibri" pitchFamily="34" charset="0"/>
                <a:ea typeface="Calibri" pitchFamily="34" charset="-122"/>
                <a:cs typeface="Calibri" pitchFamily="34" charset="-120"/>
              </a:rPr>
              <a:t>A running, low-effort log of problems worth solving — kept over the next three weeks.</a:t>
            </a:r>
            <a:endParaRPr lang="en-US" sz="1450" dirty="0"/>
          </a:p>
          <a:p>
            <a:pPr marL="177800" indent="-177800">
              <a:lnSpc>
                <a:spcPct val="103000"/>
              </a:lnSpc>
              <a:spcAft>
                <a:spcPts val="900"/>
              </a:spcAft>
              <a:buSzPct val="100000"/>
              <a:buChar char="•"/>
            </a:pPr>
            <a:r>
              <a:rPr lang="en-US" sz="1450" dirty="0">
                <a:solidFill>
                  <a:srgbClr val="D6EFED"/>
                </a:solidFill>
                <a:latin typeface="Calibri" pitchFamily="34" charset="0"/>
                <a:ea typeface="Calibri" pitchFamily="34" charset="-122"/>
                <a:cs typeface="Calibri" pitchFamily="34" charset="-120"/>
              </a:rPr>
              <a:t>Capture needs, not solutions: the problem, who has it, where you noticed it.</a:t>
            </a:r>
            <a:endParaRPr lang="en-US" sz="1450" dirty="0"/>
          </a:p>
          <a:p>
            <a:pPr marL="177800" indent="-177800">
              <a:lnSpc>
                <a:spcPct val="103000"/>
              </a:lnSpc>
              <a:spcAft>
                <a:spcPts val="900"/>
              </a:spcAft>
              <a:buSzPct val="100000"/>
              <a:buChar char="•"/>
            </a:pPr>
            <a:r>
              <a:rPr lang="en-US" sz="1450" dirty="0">
                <a:solidFill>
                  <a:srgbClr val="D6EFED"/>
                </a:solidFill>
                <a:latin typeface="Calibri" pitchFamily="34" charset="0"/>
                <a:ea typeface="Calibri" pitchFamily="34" charset="-122"/>
                <a:cs typeface="Calibri" pitchFamily="34" charset="-120"/>
              </a:rPr>
              <a:t>Good briefs come from weeks of noticing — not a night-before scramble.</a:t>
            </a:r>
            <a:endParaRPr lang="en-US" sz="1450" dirty="0"/>
          </a:p>
          <a:p>
            <a:pPr marL="177800" indent="-177800">
              <a:lnSpc>
                <a:spcPct val="103000"/>
              </a:lnSpc>
              <a:buSzPct val="100000"/>
              <a:buChar char="•"/>
            </a:pPr>
            <a:r>
              <a:rPr lang="en-US" sz="1450" i="1" dirty="0">
                <a:solidFill>
                  <a:srgbClr val="E8A33D"/>
                </a:solidFill>
                <a:latin typeface="Calibri" pitchFamily="34" charset="0"/>
                <a:ea typeface="Calibri" pitchFamily="34" charset="-122"/>
                <a:cs typeface="Calibri" pitchFamily="34" charset="-120"/>
              </a:rPr>
              <a:t>Full guide + prompts: the Idea Journal handout.</a:t>
            </a:r>
            <a:endParaRPr lang="en-US" sz="1450" dirty="0"/>
          </a:p>
        </p:txBody>
      </p:sp>
      <p:sp>
        <p:nvSpPr>
          <p:cNvPr id="15" name="Text 11"/>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BFE7E4"/>
                </a:solidFill>
                <a:latin typeface="Calibri" pitchFamily="34" charset="0"/>
                <a:ea typeface="Calibri" pitchFamily="34" charset="-122"/>
                <a:cs typeface="Calibri" pitchFamily="34" charset="-120"/>
              </a:rPr>
              <a:t>CS 301R · Session 1 · Course Launch</a:t>
            </a:r>
            <a:endParaRPr lang="en-US" sz="1100" dirty="0"/>
          </a:p>
        </p:txBody>
      </p:sp>
      <p:sp>
        <p:nvSpPr>
          <p:cNvPr id="16" name="Text 12"/>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BFE7E4"/>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493776"/>
            <a:ext cx="128016" cy="128016"/>
          </a:xfrm>
          <a:prstGeom prst="ellipse">
            <a:avLst/>
          </a:prstGeom>
          <a:solidFill>
            <a:srgbClr val="E8A33D"/>
          </a:solidFill>
          <a:ln/>
        </p:spPr>
      </p:sp>
      <p:sp>
        <p:nvSpPr>
          <p:cNvPr id="4" name="Text 2"/>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IN-CLASS · 3 MINUTES · SOLO</a:t>
            </a:r>
            <a:endParaRPr lang="en-US" sz="1400" dirty="0"/>
          </a:p>
        </p:txBody>
      </p:sp>
      <p:sp>
        <p:nvSpPr>
          <p:cNvPr id="5" name="Text 3"/>
          <p:cNvSpPr/>
          <p:nvPr/>
        </p:nvSpPr>
        <p:spPr>
          <a:xfrm>
            <a:off x="548640" y="731520"/>
            <a:ext cx="11064240" cy="64008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Fill your first journal page — right now</a:t>
            </a:r>
            <a:endParaRPr lang="en-US" sz="2900" dirty="0"/>
          </a:p>
        </p:txBody>
      </p:sp>
      <p:sp>
        <p:nvSpPr>
          <p:cNvPr id="6" name="Shape 4"/>
          <p:cNvSpPr/>
          <p:nvPr/>
        </p:nvSpPr>
        <p:spPr>
          <a:xfrm>
            <a:off x="548640" y="1783080"/>
            <a:ext cx="4114800" cy="3383280"/>
          </a:xfrm>
          <a:prstGeom prst="roundRect">
            <a:avLst>
              <a:gd name="adj" fmla="val 2432"/>
            </a:avLst>
          </a:prstGeom>
          <a:solidFill>
            <a:srgbClr val="1E3352"/>
          </a:solidFill>
          <a:ln/>
          <a:effectLst>
            <a:outerShdw sx="100000" sy="100000" kx="0" ky="0" algn="bl" rotWithShape="0" blurRad="88900" dist="38100" dir="5400000">
              <a:srgbClr val="000000">
                <a:alpha val="13000"/>
              </a:srgbClr>
            </a:outerShdw>
          </a:effectLst>
        </p:spPr>
      </p:sp>
      <p:sp>
        <p:nvSpPr>
          <p:cNvPr id="7" name="Shape 5"/>
          <p:cNvSpPr/>
          <p:nvPr/>
        </p:nvSpPr>
        <p:spPr>
          <a:xfrm>
            <a:off x="822960" y="2011680"/>
            <a:ext cx="502920" cy="502920"/>
          </a:xfrm>
          <a:prstGeom prst="ellipse">
            <a:avLst/>
          </a:prstGeom>
          <a:solidFill>
            <a:srgbClr val="E8A33D"/>
          </a:solidFill>
          <a:ln/>
        </p:spPr>
      </p:sp>
      <p:pic>
        <p:nvPicPr>
          <p:cNvPr id="8" name="Image 0" descr="preencoded.png">    </p:cNvPr>
          <p:cNvPicPr>
            <a:picLocks noChangeAspect="1"/>
          </p:cNvPicPr>
          <p:nvPr/>
        </p:nvPicPr>
        <p:blipFill>
          <a:blip r:embed="rId1"/>
          <a:stretch>
            <a:fillRect/>
          </a:stretch>
        </p:blipFill>
        <p:spPr>
          <a:xfrm>
            <a:off x="958748" y="2147468"/>
            <a:ext cx="231343" cy="231343"/>
          </a:xfrm>
          <a:prstGeom prst="rect">
            <a:avLst/>
          </a:prstGeom>
        </p:spPr>
      </p:pic>
      <p:sp>
        <p:nvSpPr>
          <p:cNvPr id="9" name="Text 6"/>
          <p:cNvSpPr/>
          <p:nvPr/>
        </p:nvSpPr>
        <p:spPr>
          <a:xfrm>
            <a:off x="1463040" y="2057400"/>
            <a:ext cx="3017520" cy="457200"/>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Why we're doing this</a:t>
            </a:r>
            <a:endParaRPr lang="en-US" sz="1750" dirty="0"/>
          </a:p>
        </p:txBody>
      </p:sp>
      <p:sp>
        <p:nvSpPr>
          <p:cNvPr id="10" name="Text 7"/>
          <p:cNvSpPr/>
          <p:nvPr/>
        </p:nvSpPr>
        <p:spPr>
          <a:xfrm>
            <a:off x="868680" y="2788920"/>
            <a:ext cx="3566160" cy="2286000"/>
          </a:xfrm>
          <a:prstGeom prst="rect">
            <a:avLst/>
          </a:prstGeom>
          <a:noFill/>
          <a:ln/>
        </p:spPr>
        <p:txBody>
          <a:bodyPr wrap="square" lIns="0" tIns="0" rIns="0" bIns="0" rtlCol="0" anchor="t"/>
          <a:lstStyle/>
          <a:p>
            <a:pPr marL="177800" indent="-177800">
              <a:lnSpc>
                <a:spcPct val="104000"/>
              </a:lnSpc>
              <a:spcAft>
                <a:spcPts val="1100"/>
              </a:spcAft>
              <a:buSzPct val="100000"/>
              <a:buChar char="•"/>
            </a:pPr>
            <a:r>
              <a:rPr lang="en-US" sz="1500" dirty="0">
                <a:solidFill>
                  <a:srgbClr val="CFE0E9"/>
                </a:solidFill>
                <a:latin typeface="Calibri" pitchFamily="34" charset="0"/>
                <a:ea typeface="Calibri" pitchFamily="34" charset="-122"/>
                <a:cs typeface="Calibri" pitchFamily="34" charset="-120"/>
              </a:rPr>
              <a:t>Divergent thinking in miniature — generate widely, defer judgment.</a:t>
            </a:r>
            <a:endParaRPr lang="en-US" sz="1500" dirty="0"/>
          </a:p>
          <a:p>
            <a:pPr marL="177800" indent="-177800">
              <a:lnSpc>
                <a:spcPct val="104000"/>
              </a:lnSpc>
              <a:spcAft>
                <a:spcPts val="1100"/>
              </a:spcAft>
              <a:buSzPct val="100000"/>
              <a:buChar char="•"/>
            </a:pPr>
            <a:r>
              <a:rPr lang="en-US" sz="1500" dirty="0">
                <a:solidFill>
                  <a:srgbClr val="CFE0E9"/>
                </a:solidFill>
                <a:latin typeface="Calibri" pitchFamily="34" charset="0"/>
                <a:ea typeface="Calibri" pitchFamily="34" charset="-122"/>
                <a:cs typeface="Calibri" pitchFamily="34" charset="-120"/>
              </a:rPr>
              <a:t>You'll leave with a page already full — not a blank one to face later.</a:t>
            </a:r>
            <a:endParaRPr lang="en-US" sz="1500" dirty="0"/>
          </a:p>
          <a:p>
            <a:pPr marL="177800" indent="-177800">
              <a:lnSpc>
                <a:spcPct val="104000"/>
              </a:lnSpc>
              <a:buSzPct val="100000"/>
              <a:buChar char="•"/>
            </a:pPr>
            <a:r>
              <a:rPr lang="en-US" sz="1500" dirty="0">
                <a:solidFill>
                  <a:srgbClr val="CFE0E9"/>
                </a:solidFill>
                <a:latin typeface="Calibri" pitchFamily="34" charset="0"/>
                <a:ea typeface="Calibri" pitchFamily="34" charset="-122"/>
                <a:cs typeface="Calibri" pitchFamily="34" charset="-120"/>
              </a:rPr>
              <a:t>The problems around you are the seedbed for your three Idea Briefs.</a:t>
            </a:r>
            <a:endParaRPr lang="en-US" sz="1500" dirty="0"/>
          </a:p>
        </p:txBody>
      </p:sp>
      <p:sp>
        <p:nvSpPr>
          <p:cNvPr id="11" name="Shape 8"/>
          <p:cNvSpPr/>
          <p:nvPr/>
        </p:nvSpPr>
        <p:spPr>
          <a:xfrm>
            <a:off x="4846320" y="1783080"/>
            <a:ext cx="6766560" cy="3383280"/>
          </a:xfrm>
          <a:prstGeom prst="roundRect">
            <a:avLst>
              <a:gd name="adj" fmla="val 2432"/>
            </a:avLst>
          </a:prstGeom>
          <a:solidFill>
            <a:srgbClr val="FFFFFF"/>
          </a:solidFill>
          <a:ln/>
          <a:effectLst>
            <a:outerShdw sx="100000" sy="100000" kx="0" ky="0" algn="bl" rotWithShape="0" blurRad="88900" dist="38100" dir="5400000">
              <a:srgbClr val="000000">
                <a:alpha val="13000"/>
              </a:srgbClr>
            </a:outerShdw>
          </a:effectLst>
        </p:spPr>
      </p:sp>
      <p:sp>
        <p:nvSpPr>
          <p:cNvPr id="12" name="Text 9"/>
          <p:cNvSpPr/>
          <p:nvPr/>
        </p:nvSpPr>
        <p:spPr>
          <a:xfrm>
            <a:off x="5120640" y="2011680"/>
            <a:ext cx="6217920" cy="274320"/>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PROMPT</a:t>
            </a:r>
            <a:endParaRPr lang="en-US" sz="1400" dirty="0"/>
          </a:p>
        </p:txBody>
      </p:sp>
      <p:sp>
        <p:nvSpPr>
          <p:cNvPr id="13" name="Text 10"/>
          <p:cNvSpPr/>
          <p:nvPr/>
        </p:nvSpPr>
        <p:spPr>
          <a:xfrm>
            <a:off x="5120640" y="2331720"/>
            <a:ext cx="6263640" cy="1417320"/>
          </a:xfrm>
          <a:prstGeom prst="rect">
            <a:avLst/>
          </a:prstGeom>
          <a:noFill/>
          <a:ln/>
        </p:spPr>
        <p:txBody>
          <a:bodyPr wrap="square" lIns="0" tIns="0" rIns="0" bIns="0" rtlCol="0" anchor="ctr"/>
          <a:lstStyle/>
          <a:p>
            <a:pPr indent="0" marL="0">
              <a:lnSpc>
                <a:spcPct val="105000"/>
              </a:lnSpc>
              <a:buNone/>
            </a:pPr>
            <a:r>
              <a:rPr lang="en-US" sz="1900" i="1" dirty="0">
                <a:solidFill>
                  <a:srgbClr val="1E2A36"/>
                </a:solidFill>
                <a:latin typeface="Cambria" pitchFamily="34" charset="0"/>
                <a:ea typeface="Cambria" pitchFamily="34" charset="-122"/>
                <a:cs typeface="Cambria" pitchFamily="34" charset="-120"/>
              </a:rPr>
              <a:t>"List as many problems as you can — things that are broken, annoying, tedious, slow, or missing — for you or the people around you: clubs, job, major, ward, roommates, hobbies."</a:t>
            </a:r>
            <a:endParaRPr lang="en-US" sz="1900" dirty="0"/>
          </a:p>
        </p:txBody>
      </p:sp>
      <p:sp>
        <p:nvSpPr>
          <p:cNvPr id="14" name="Text 11"/>
          <p:cNvSpPr/>
          <p:nvPr/>
        </p:nvSpPr>
        <p:spPr>
          <a:xfrm>
            <a:off x="5120640" y="3886200"/>
            <a:ext cx="6263640" cy="1097280"/>
          </a:xfrm>
          <a:prstGeom prst="rect">
            <a:avLst/>
          </a:prstGeom>
          <a:noFill/>
          <a:ln/>
        </p:spPr>
        <p:txBody>
          <a:bodyPr wrap="square" lIns="0" tIns="0" rIns="0" bIns="0" rtlCol="0" anchor="ctr"/>
          <a:lstStyle/>
          <a:p>
            <a:pPr indent="0" marL="0">
              <a:lnSpc>
                <a:spcPct val="105000"/>
              </a:lnSpc>
              <a:buNone/>
            </a:pPr>
            <a:r>
              <a:rPr lang="en-US" sz="1450" b="1" dirty="0">
                <a:solidFill>
                  <a:srgbClr val="0E6E6D"/>
                </a:solidFill>
                <a:latin typeface="Calibri" pitchFamily="34" charset="0"/>
                <a:ea typeface="Calibri" pitchFamily="34" charset="-122"/>
                <a:cs typeface="Calibri" pitchFamily="34" charset="-120"/>
              </a:rPr>
              <a:t>Don't judge. Don't solve. Aim for at least 8.</a:t>
            </a:r>
            <a:endParaRPr lang="en-US" sz="1450" dirty="0"/>
          </a:p>
          <a:p>
            <a:pPr indent="0" marL="0">
              <a:lnSpc>
                <a:spcPct val="105000"/>
              </a:lnSpc>
              <a:buNone/>
            </a:pPr>
            <a:r>
              <a:rPr lang="en-US" sz="1450" i="1" dirty="0">
                <a:solidFill>
                  <a:srgbClr val="5F7284"/>
                </a:solidFill>
                <a:latin typeface="Calibri" pitchFamily="34" charset="0"/>
                <a:ea typeface="Calibri" pitchFamily="34" charset="-122"/>
                <a:cs typeface="Calibri" pitchFamily="34" charset="-120"/>
              </a:rPr>
              <a:t>Stuck? What did you complain about this week? What takes too many steps? What tool do you wish existed?</a:t>
            </a:r>
            <a:endParaRPr lang="en-US" sz="1450" dirty="0"/>
          </a:p>
        </p:txBody>
      </p:sp>
      <p:sp>
        <p:nvSpPr>
          <p:cNvPr id="15" name="Shape 12"/>
          <p:cNvSpPr/>
          <p:nvPr/>
        </p:nvSpPr>
        <p:spPr>
          <a:xfrm>
            <a:off x="800100" y="5440680"/>
            <a:ext cx="2468880" cy="502920"/>
          </a:xfrm>
          <a:prstGeom prst="roundRect">
            <a:avLst>
              <a:gd name="adj" fmla="val 49091"/>
            </a:avLst>
          </a:prstGeom>
          <a:solidFill>
            <a:srgbClr val="1E3352"/>
          </a:solidFill>
          <a:ln/>
        </p:spPr>
      </p:sp>
      <p:sp>
        <p:nvSpPr>
          <p:cNvPr id="16" name="Text 13"/>
          <p:cNvSpPr/>
          <p:nvPr/>
        </p:nvSpPr>
        <p:spPr>
          <a:xfrm>
            <a:off x="800100" y="5440680"/>
            <a:ext cx="2468880" cy="502920"/>
          </a:xfrm>
          <a:prstGeom prst="rect">
            <a:avLst/>
          </a:prstGeom>
          <a:noFill/>
          <a:ln/>
        </p:spPr>
        <p:txBody>
          <a:bodyPr wrap="square" lIns="0" tIns="0" rIns="0" bIns="0" rtlCol="0" anchor="ctr"/>
          <a:lstStyle/>
          <a:p>
            <a:pPr algn="ctr" indent="0" marL="0">
              <a:buNone/>
            </a:pPr>
            <a:r>
              <a:rPr lang="en-US" sz="1500" b="1" dirty="0">
                <a:solidFill>
                  <a:srgbClr val="E8A33D"/>
                </a:solidFill>
                <a:latin typeface="Calibri" pitchFamily="34" charset="0"/>
                <a:ea typeface="Calibri" pitchFamily="34" charset="-122"/>
                <a:cs typeface="Calibri" pitchFamily="34" charset="-120"/>
              </a:rPr>
              <a:t>Defer judgment</a:t>
            </a:r>
            <a:endParaRPr lang="en-US" sz="1500" dirty="0"/>
          </a:p>
        </p:txBody>
      </p:sp>
      <p:sp>
        <p:nvSpPr>
          <p:cNvPr id="17" name="Shape 14"/>
          <p:cNvSpPr/>
          <p:nvPr/>
        </p:nvSpPr>
        <p:spPr>
          <a:xfrm>
            <a:off x="3497580" y="5440680"/>
            <a:ext cx="2468880" cy="502920"/>
          </a:xfrm>
          <a:prstGeom prst="roundRect">
            <a:avLst>
              <a:gd name="adj" fmla="val 49091"/>
            </a:avLst>
          </a:prstGeom>
          <a:solidFill>
            <a:srgbClr val="1E3352"/>
          </a:solidFill>
          <a:ln/>
        </p:spPr>
      </p:sp>
      <p:sp>
        <p:nvSpPr>
          <p:cNvPr id="18" name="Text 15"/>
          <p:cNvSpPr/>
          <p:nvPr/>
        </p:nvSpPr>
        <p:spPr>
          <a:xfrm>
            <a:off x="3497580" y="5440680"/>
            <a:ext cx="2468880" cy="502920"/>
          </a:xfrm>
          <a:prstGeom prst="rect">
            <a:avLst/>
          </a:prstGeom>
          <a:noFill/>
          <a:ln/>
        </p:spPr>
        <p:txBody>
          <a:bodyPr wrap="square" lIns="0" tIns="0" rIns="0" bIns="0" rtlCol="0" anchor="ctr"/>
          <a:lstStyle/>
          <a:p>
            <a:pPr algn="ctr" indent="0" marL="0">
              <a:buNone/>
            </a:pPr>
            <a:r>
              <a:rPr lang="en-US" sz="1500" b="1" dirty="0">
                <a:solidFill>
                  <a:srgbClr val="E8A33D"/>
                </a:solidFill>
                <a:latin typeface="Calibri" pitchFamily="34" charset="0"/>
                <a:ea typeface="Calibri" pitchFamily="34" charset="-122"/>
                <a:cs typeface="Calibri" pitchFamily="34" charset="-120"/>
              </a:rPr>
              <a:t>Prefer quantity</a:t>
            </a:r>
            <a:endParaRPr lang="en-US" sz="1500" dirty="0"/>
          </a:p>
        </p:txBody>
      </p:sp>
      <p:sp>
        <p:nvSpPr>
          <p:cNvPr id="19" name="Shape 16"/>
          <p:cNvSpPr/>
          <p:nvPr/>
        </p:nvSpPr>
        <p:spPr>
          <a:xfrm>
            <a:off x="6195060" y="5440680"/>
            <a:ext cx="2468880" cy="502920"/>
          </a:xfrm>
          <a:prstGeom prst="roundRect">
            <a:avLst>
              <a:gd name="adj" fmla="val 49091"/>
            </a:avLst>
          </a:prstGeom>
          <a:solidFill>
            <a:srgbClr val="1E3352"/>
          </a:solidFill>
          <a:ln/>
        </p:spPr>
      </p:sp>
      <p:sp>
        <p:nvSpPr>
          <p:cNvPr id="20" name="Text 17"/>
          <p:cNvSpPr/>
          <p:nvPr/>
        </p:nvSpPr>
        <p:spPr>
          <a:xfrm>
            <a:off x="6195060" y="5440680"/>
            <a:ext cx="2468880" cy="502920"/>
          </a:xfrm>
          <a:prstGeom prst="rect">
            <a:avLst/>
          </a:prstGeom>
          <a:noFill/>
          <a:ln/>
        </p:spPr>
        <p:txBody>
          <a:bodyPr wrap="square" lIns="0" tIns="0" rIns="0" bIns="0" rtlCol="0" anchor="ctr"/>
          <a:lstStyle/>
          <a:p>
            <a:pPr algn="ctr" indent="0" marL="0">
              <a:buNone/>
            </a:pPr>
            <a:r>
              <a:rPr lang="en-US" sz="1500" b="1" dirty="0">
                <a:solidFill>
                  <a:srgbClr val="E8A33D"/>
                </a:solidFill>
                <a:latin typeface="Calibri" pitchFamily="34" charset="0"/>
                <a:ea typeface="Calibri" pitchFamily="34" charset="-122"/>
                <a:cs typeface="Calibri" pitchFamily="34" charset="-120"/>
              </a:rPr>
              <a:t>No solutions yet</a:t>
            </a:r>
            <a:endParaRPr lang="en-US" sz="1500" dirty="0"/>
          </a:p>
        </p:txBody>
      </p:sp>
      <p:sp>
        <p:nvSpPr>
          <p:cNvPr id="21" name="Shape 18"/>
          <p:cNvSpPr/>
          <p:nvPr/>
        </p:nvSpPr>
        <p:spPr>
          <a:xfrm>
            <a:off x="8892540" y="5440680"/>
            <a:ext cx="2468880" cy="502920"/>
          </a:xfrm>
          <a:prstGeom prst="roundRect">
            <a:avLst>
              <a:gd name="adj" fmla="val 49091"/>
            </a:avLst>
          </a:prstGeom>
          <a:solidFill>
            <a:srgbClr val="1E3352"/>
          </a:solidFill>
          <a:ln/>
        </p:spPr>
      </p:sp>
      <p:sp>
        <p:nvSpPr>
          <p:cNvPr id="22" name="Text 19"/>
          <p:cNvSpPr/>
          <p:nvPr/>
        </p:nvSpPr>
        <p:spPr>
          <a:xfrm>
            <a:off x="8892540" y="5440680"/>
            <a:ext cx="2468880" cy="502920"/>
          </a:xfrm>
          <a:prstGeom prst="rect">
            <a:avLst/>
          </a:prstGeom>
          <a:noFill/>
          <a:ln/>
        </p:spPr>
        <p:txBody>
          <a:bodyPr wrap="square" lIns="0" tIns="0" rIns="0" bIns="0" rtlCol="0" anchor="ctr"/>
          <a:lstStyle/>
          <a:p>
            <a:pPr algn="ctr" indent="0" marL="0">
              <a:buNone/>
            </a:pPr>
            <a:r>
              <a:rPr lang="en-US" sz="1500" b="1" dirty="0">
                <a:solidFill>
                  <a:srgbClr val="E8A33D"/>
                </a:solidFill>
                <a:latin typeface="Calibri" pitchFamily="34" charset="0"/>
                <a:ea typeface="Calibri" pitchFamily="34" charset="-122"/>
                <a:cs typeface="Calibri" pitchFamily="34" charset="-120"/>
              </a:rPr>
              <a:t>Aim for 8+</a:t>
            </a:r>
            <a:endParaRPr lang="en-US" sz="1500" dirty="0"/>
          </a:p>
        </p:txBody>
      </p:sp>
      <p:sp>
        <p:nvSpPr>
          <p:cNvPr id="23" name="Text 20"/>
          <p:cNvSpPr/>
          <p:nvPr/>
        </p:nvSpPr>
        <p:spPr>
          <a:xfrm>
            <a:off x="548640" y="6053328"/>
            <a:ext cx="11064240" cy="320040"/>
          </a:xfrm>
          <a:prstGeom prst="rect">
            <a:avLst/>
          </a:prstGeom>
          <a:noFill/>
          <a:ln/>
        </p:spPr>
        <p:txBody>
          <a:bodyPr wrap="square" lIns="0" tIns="0" rIns="0" bIns="0" rtlCol="0" anchor="ctr"/>
          <a:lstStyle/>
          <a:p>
            <a:pPr algn="ctr" indent="0" marL="0">
              <a:buNone/>
            </a:pPr>
            <a:r>
              <a:rPr lang="en-US" sz="1450" i="1" dirty="0">
                <a:solidFill>
                  <a:srgbClr val="9FB4C7"/>
                </a:solidFill>
                <a:latin typeface="Calibri" pitchFamily="34" charset="0"/>
                <a:ea typeface="Calibri" pitchFamily="34" charset="-122"/>
                <a:cs typeface="Calibri" pitchFamily="34" charset="-120"/>
              </a:rPr>
              <a:t>Keep your list as entry #1 in your idea journal.</a:t>
            </a:r>
            <a:endParaRPr lang="en-US" sz="1450" dirty="0"/>
          </a:p>
        </p:txBody>
      </p:sp>
      <p:sp>
        <p:nvSpPr>
          <p:cNvPr id="24" name="Text 21"/>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7E92A8"/>
                </a:solidFill>
                <a:latin typeface="Calibri" pitchFamily="34" charset="0"/>
                <a:ea typeface="Calibri" pitchFamily="34" charset="-122"/>
                <a:cs typeface="Calibri" pitchFamily="34" charset="-120"/>
              </a:rPr>
              <a:t>CS 301R · Session 1 · Course Launch</a:t>
            </a:r>
            <a:endParaRPr lang="en-US" sz="1100" dirty="0"/>
          </a:p>
        </p:txBody>
      </p:sp>
      <p:sp>
        <p:nvSpPr>
          <p:cNvPr id="25" name="Text 22"/>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7E92A8"/>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23444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444295"/>
            <a:ext cx="357530" cy="357530"/>
          </a:xfrm>
          <a:prstGeom prst="rect">
            <a:avLst/>
          </a:prstGeom>
        </p:spPr>
      </p:pic>
      <p:sp>
        <p:nvSpPr>
          <p:cNvPr id="5" name="Text 2"/>
          <p:cNvSpPr/>
          <p:nvPr/>
        </p:nvSpPr>
        <p:spPr>
          <a:xfrm>
            <a:off x="822960" y="1691640"/>
            <a:ext cx="10515600" cy="1280160"/>
          </a:xfrm>
          <a:prstGeom prst="rect">
            <a:avLst/>
          </a:prstGeom>
          <a:noFill/>
          <a:ln/>
        </p:spPr>
        <p:txBody>
          <a:bodyPr wrap="square" lIns="0" tIns="0" rIns="0" bIns="0" rtlCol="0" anchor="ctr"/>
          <a:lstStyle/>
          <a:p>
            <a:pPr indent="0" marL="0">
              <a:lnSpc>
                <a:spcPct val="105000"/>
              </a:lnSpc>
              <a:buNone/>
            </a:pPr>
            <a:r>
              <a:rPr lang="en-US" sz="3100" b="1" dirty="0">
                <a:solidFill>
                  <a:srgbClr val="FFFFFF"/>
                </a:solidFill>
                <a:latin typeface="Cambria" pitchFamily="34" charset="0"/>
                <a:ea typeface="Cambria" pitchFamily="34" charset="-122"/>
                <a:cs typeface="Cambria" pitchFamily="34" charset="-120"/>
              </a:rPr>
              <a:t>Founders find and prove problems.</a:t>
            </a:r>
            <a:endParaRPr lang="en-US" sz="3100" dirty="0"/>
          </a:p>
          <a:p>
            <a:pPr indent="0" marL="0">
              <a:lnSpc>
                <a:spcPct val="105000"/>
              </a:lnSpc>
              <a:buNone/>
            </a:pPr>
            <a:r>
              <a:rPr lang="en-US" sz="3100" b="1" dirty="0">
                <a:solidFill>
                  <a:srgbClr val="FFFFFF"/>
                </a:solidFill>
                <a:latin typeface="Cambria" pitchFamily="34" charset="0"/>
                <a:ea typeface="Cambria" pitchFamily="34" charset="-122"/>
                <a:cs typeface="Cambria" pitchFamily="34" charset="-120"/>
              </a:rPr>
              <a:t>We start by exploring widely.</a:t>
            </a:r>
            <a:endParaRPr lang="en-US" sz="3100" dirty="0"/>
          </a:p>
        </p:txBody>
      </p:sp>
      <p:sp>
        <p:nvSpPr>
          <p:cNvPr id="6" name="Text 3"/>
          <p:cNvSpPr/>
          <p:nvPr/>
        </p:nvSpPr>
        <p:spPr>
          <a:xfrm>
            <a:off x="841248" y="3200400"/>
            <a:ext cx="10058400" cy="320040"/>
          </a:xfrm>
          <a:prstGeom prst="rect">
            <a:avLst/>
          </a:prstGeom>
          <a:noFill/>
          <a:ln/>
        </p:spPr>
        <p:txBody>
          <a:bodyPr wrap="square" lIns="0" tIns="0" rIns="0" bIns="0" rtlCol="0" anchor="ctr"/>
          <a:lstStyle/>
          <a:p>
            <a:pPr indent="0" marL="0">
              <a:buNone/>
            </a:pPr>
            <a:r>
              <a:rPr lang="en-US" sz="1500" b="1" spc="200" kern="0" dirty="0">
                <a:solidFill>
                  <a:srgbClr val="E8A33D"/>
                </a:solidFill>
                <a:latin typeface="Calibri" pitchFamily="34" charset="0"/>
                <a:ea typeface="Calibri" pitchFamily="34" charset="-122"/>
                <a:cs typeface="Calibri" pitchFamily="34" charset="-120"/>
              </a:rPr>
              <a:t>BEFORE WEDNESDAY, SEP 9</a:t>
            </a:r>
            <a:endParaRPr lang="en-US" sz="1500" dirty="0"/>
          </a:p>
        </p:txBody>
      </p:sp>
      <p:sp>
        <p:nvSpPr>
          <p:cNvPr id="7" name="Text 4"/>
          <p:cNvSpPr/>
          <p:nvPr/>
        </p:nvSpPr>
        <p:spPr>
          <a:xfrm>
            <a:off x="868680" y="3639312"/>
            <a:ext cx="5486400" cy="274320"/>
          </a:xfrm>
          <a:prstGeom prst="rect">
            <a:avLst/>
          </a:prstGeom>
          <a:noFill/>
          <a:ln/>
        </p:spPr>
        <p:txBody>
          <a:bodyPr wrap="square" lIns="0" tIns="0" rIns="0" bIns="0" rtlCol="0" anchor="ctr"/>
          <a:lstStyle/>
          <a:p>
            <a:pPr indent="0" marL="0">
              <a:buNone/>
            </a:pPr>
            <a:r>
              <a:rPr lang="en-US" sz="1400" b="1" spc="200" kern="0" dirty="0">
                <a:solidFill>
                  <a:srgbClr val="8FA6BC"/>
                </a:solidFill>
                <a:latin typeface="Calibri" pitchFamily="34" charset="0"/>
                <a:ea typeface="Calibri" pitchFamily="34" charset="-122"/>
                <a:cs typeface="Calibri" pitchFamily="34" charset="-120"/>
              </a:rPr>
              <a:t>READ</a:t>
            </a:r>
            <a:endParaRPr lang="en-US" sz="1400" dirty="0"/>
          </a:p>
        </p:txBody>
      </p:sp>
      <p:sp>
        <p:nvSpPr>
          <p:cNvPr id="8" name="Text 5"/>
          <p:cNvSpPr/>
          <p:nvPr/>
        </p:nvSpPr>
        <p:spPr>
          <a:xfrm>
            <a:off x="914400" y="3977640"/>
            <a:ext cx="5577840" cy="2286000"/>
          </a:xfrm>
          <a:prstGeom prst="rect">
            <a:avLst/>
          </a:prstGeom>
          <a:noFill/>
          <a:ln/>
        </p:spPr>
        <p:txBody>
          <a:bodyPr wrap="square" lIns="0" tIns="0" rIns="0" bIns="0" rtlCol="0" anchor="t"/>
          <a:lstStyle/>
          <a:p>
            <a:pPr marL="190500" indent="-190500">
              <a:spcAft>
                <a:spcPts val="700"/>
              </a:spcAft>
              <a:buSzPct val="100000"/>
              <a:buChar char="•"/>
            </a:pPr>
            <a:r>
              <a:rPr lang="en-US" sz="1650" dirty="0">
                <a:solidFill>
                  <a:srgbClr val="CBD8E6"/>
                </a:solidFill>
                <a:latin typeface="Calibri" pitchFamily="34" charset="0"/>
                <a:ea typeface="Calibri" pitchFamily="34" charset="-122"/>
                <a:cs typeface="Calibri" pitchFamily="34" charset="-120"/>
              </a:rPr>
              <a:t>The Idea Briefs (CP1) assignment</a:t>
            </a:r>
            <a:endParaRPr lang="en-US" sz="1650" dirty="0"/>
          </a:p>
          <a:p>
            <a:pPr marL="190500" indent="-190500">
              <a:spcAft>
                <a:spcPts val="700"/>
              </a:spcAft>
              <a:buSzPct val="100000"/>
              <a:buChar char="•"/>
            </a:pPr>
            <a:r>
              <a:rPr lang="en-US" sz="1650" dirty="0">
                <a:solidFill>
                  <a:srgbClr val="CBD8E6"/>
                </a:solidFill>
                <a:latin typeface="Calibri" pitchFamily="34" charset="0"/>
                <a:ea typeface="Calibri" pitchFamily="34" charset="-122"/>
                <a:cs typeface="Calibri" pitchFamily="34" charset="-120"/>
              </a:rPr>
              <a:t>The Idea Journal guide</a:t>
            </a:r>
            <a:endParaRPr lang="en-US" sz="1650" dirty="0"/>
          </a:p>
          <a:p>
            <a:pPr marL="190500" indent="-190500">
              <a:spcAft>
                <a:spcPts val="700"/>
              </a:spcAft>
              <a:buSzPct val="100000"/>
              <a:buChar char="•"/>
            </a:pPr>
            <a:r>
              <a:rPr lang="en-US" sz="1650" dirty="0">
                <a:solidFill>
                  <a:srgbClr val="CBD8E6"/>
                </a:solidFill>
                <a:latin typeface="Calibri" pitchFamily="34" charset="0"/>
                <a:ea typeface="Calibri" pitchFamily="34" charset="-122"/>
                <a:cs typeface="Calibri" pitchFamily="34" charset="-120"/>
              </a:rPr>
              <a:t>The CPS handbook — the assigned excerpt</a:t>
            </a:r>
            <a:endParaRPr lang="en-US" sz="1650" dirty="0"/>
          </a:p>
          <a:p>
            <a:pPr marL="190500" indent="-190500">
              <a:buSzPct val="100000"/>
              <a:buChar char="•"/>
            </a:pPr>
            <a:r>
              <a:rPr lang="en-US" sz="1650" dirty="0">
                <a:solidFill>
                  <a:srgbClr val="CBD8E6"/>
                </a:solidFill>
                <a:latin typeface="Calibri" pitchFamily="34" charset="0"/>
                <a:ea typeface="Calibri" pitchFamily="34" charset="-122"/>
                <a:cs typeface="Calibri" pitchFamily="34" charset="-120"/>
              </a:rPr>
              <a:t>"Channeling Your Creativity" — Elder Hales</a:t>
            </a:r>
            <a:endParaRPr lang="en-US" sz="1650" dirty="0"/>
          </a:p>
        </p:txBody>
      </p:sp>
      <p:sp>
        <p:nvSpPr>
          <p:cNvPr id="9" name="Text 6"/>
          <p:cNvSpPr/>
          <p:nvPr/>
        </p:nvSpPr>
        <p:spPr>
          <a:xfrm>
            <a:off x="6766560" y="3639312"/>
            <a:ext cx="4754880" cy="274320"/>
          </a:xfrm>
          <a:prstGeom prst="rect">
            <a:avLst/>
          </a:prstGeom>
          <a:noFill/>
          <a:ln/>
        </p:spPr>
        <p:txBody>
          <a:bodyPr wrap="square" lIns="0" tIns="0" rIns="0" bIns="0" rtlCol="0" anchor="ctr"/>
          <a:lstStyle/>
          <a:p>
            <a:pPr indent="0" marL="0">
              <a:buNone/>
            </a:pPr>
            <a:r>
              <a:rPr lang="en-US" sz="1400" b="1" spc="200" kern="0" dirty="0">
                <a:solidFill>
                  <a:srgbClr val="8FA6BC"/>
                </a:solidFill>
                <a:latin typeface="Calibri" pitchFamily="34" charset="0"/>
                <a:ea typeface="Calibri" pitchFamily="34" charset="-122"/>
                <a:cs typeface="Calibri" pitchFamily="34" charset="-120"/>
              </a:rPr>
              <a:t>DO</a:t>
            </a:r>
            <a:endParaRPr lang="en-US" sz="1400" dirty="0"/>
          </a:p>
        </p:txBody>
      </p:sp>
      <p:sp>
        <p:nvSpPr>
          <p:cNvPr id="10" name="Text 7"/>
          <p:cNvSpPr/>
          <p:nvPr/>
        </p:nvSpPr>
        <p:spPr>
          <a:xfrm>
            <a:off x="6812280" y="3977640"/>
            <a:ext cx="4754880" cy="2286000"/>
          </a:xfrm>
          <a:prstGeom prst="rect">
            <a:avLst/>
          </a:prstGeom>
          <a:noFill/>
          <a:ln/>
        </p:spPr>
        <p:txBody>
          <a:bodyPr wrap="square" lIns="0" tIns="0" rIns="0" bIns="0" rtlCol="0" anchor="t"/>
          <a:lstStyle/>
          <a:p>
            <a:pPr marL="190500" indent="-190500">
              <a:spcAft>
                <a:spcPts val="700"/>
              </a:spcAft>
              <a:buSzPct val="100000"/>
              <a:buChar char="•"/>
            </a:pPr>
            <a:r>
              <a:rPr lang="en-US" sz="1650" dirty="0">
                <a:solidFill>
                  <a:srgbClr val="CBD8E6"/>
                </a:solidFill>
                <a:latin typeface="Calibri" pitchFamily="34" charset="0"/>
                <a:ea typeface="Calibri" pitchFamily="34" charset="-122"/>
                <a:cs typeface="Calibri" pitchFamily="34" charset="-120"/>
              </a:rPr>
              <a:t>Keep feeding your idea journal</a:t>
            </a:r>
            <a:endParaRPr lang="en-US" sz="1650" dirty="0"/>
          </a:p>
          <a:p>
            <a:pPr marL="190500" indent="-190500">
              <a:buSzPct val="100000"/>
              <a:buChar char="•"/>
            </a:pPr>
            <a:r>
              <a:rPr lang="en-US" sz="1650" dirty="0">
                <a:solidFill>
                  <a:srgbClr val="CBD8E6"/>
                </a:solidFill>
                <a:latin typeface="Calibri" pitchFamily="34" charset="0"/>
                <a:ea typeface="Calibri" pitchFamily="34" charset="-122"/>
                <a:cs typeface="Calibri" pitchFamily="34" charset="-120"/>
              </a:rPr>
              <a:t>Come with raw problems for the divergent workshop</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1 — Course Launch</dc:title>
  <dc:subject>PptxGenJS Presentation</dc:subject>
  <dc:creator>CS 301R</dc:creator>
  <cp:lastModifiedBy>CS 301R</cp:lastModifiedBy>
  <cp:revision>1</cp:revision>
  <dcterms:created xsi:type="dcterms:W3CDTF">2026-09-01T22:48:32Z</dcterms:created>
  <dcterms:modified xsi:type="dcterms:W3CDTF">2026-09-01T22:48:32Z</dcterms:modified>
</cp:coreProperties>
</file>