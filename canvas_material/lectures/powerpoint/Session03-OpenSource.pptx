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61520" cy="6858000"/>
  <p:notesSz cx="6858000" cy="1216152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Monday teaching session — more lecture-and-discussion than workshop. Frame it: problem-finding continues on their own time (keep that journal going), and today is the CRAFT of building in the open — licensing and governance. These are the founder decisions that turn code into a project others can legally use and actually join.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bridge from Session 2: they generated a big pool of candidate problems; remind them to keep feeding the journal for range across three Idea Briefs. Then set today's three-part agenda plainly — why we build in the open, how licenses actually work, and the governance a founder sets. Keep it to a minute or two.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the benefits out of the room where you can: contributors, feedback and trust ("many eyes"), reuse and reach, and longevity plus a public portfolio. Then use the navy discussion card to keep it honest — what's actually scary about building in public, whether "given enough eyeballs, all bugs are shallow" holds up, and the key founder question: why would anyone contribute to YOUR project? Let them wrestle with that last one. ~4-5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single most important takeaway of the day, so state it flatly: no license means all rights reserved; even public code on GitHub can't legally be reused or modified until you add one. Many students believe "public equals free to use" — correct that misconception directly. Then the two families: permissive (MIT, Apache, BSD — do almost anything, keep my notice — maximizes adoption) versus copyleft (GPL, AGPL — derivatives stay open — keeps the ecosystem open). ~3-4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them to READ any license instead of memorizing them: Permissions (what you may do), Conditions (what you must do), Limitations (what's not granted). This is exactly how choosealicense.com lays out every license, so once they know the three columns they can evaluate anything. Walk one license across the three columns as a worked example.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the four they'll actually consider: MIT, Apache-2.0, GPL-3.0, AGPL-3.0. Explain the patent-grant column carefully — code carries copyright AND possibly patents; MIT grants copyright but is SILENT on patents, so a contributor could later sue users over a patent on the code they contributed. Apache-2.0, GPL-3.0, and AGPL-3.0 include an explicit patent grant (each contributor licenses the patents needed to use their contribution), and Apache adds patent retaliation (sue the project over a patent and your license ends). Practical takeaway: want enterprise adoption or to shield your users? Apache-2.0 is a plus; a small personal project? MIT is fine. This is general background, not legal advice — point them to the full cheat sheet. ~4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quick three-minute individual exercise — open choosealicense.com and, for their most promising candidate idea, jot down the license, the why (adoption vs. keep-it-open), and one requirement it imposes. Then a fast neighbor turn-and-talk: "what did you pick, and why?" Take one or two aloud. Tell them this primes the License/OSS short response. ~4-5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governance plainly: the rules and expectations that let strangers contribute safely — the license, the code of conduct, the contribution process, and who decides. Without it, even great code stays a solo repo. Use the contributor's-eye view to make it visceral: a would-be helper asks "do I know how to contribute? what's expected of me? am I even allowed to use this?" — good governance answers all three before they have to ask.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the two side by side. Strong: a README that onboards plus how-to-contribute, LICENSE/CONTRIBUTING/CODE_OF_CONDUCT, issue and PR templates, labeled good-first-issues and a roadmap, responsive maintainers. Early-stage: just code and a bare README, no license (not reusable), no CONTRIBUTING (newcomers are lost), no code of conduct or templates, stale issues. Frame the right column as "early-stage," not "bad" — it's where everyone starts, and closing that gap is what the course is about.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six calls they'll actually make as maintainer: visibility, code of conduct, contribution process, maintainer expectations, communication channel, and decision-making (solo call vs. small council). Stress there's no single right answer — the point is to decide deliberately rather than by default. Land the banner: leading as sponsor means setting these norms and stewarding the project — building the place others come to build.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activity. In small groups, take one member's candidate idea and decide (a) a license and (b) three governance choices, with reasoning, then share one of each with the room. Offer the alternative for groups who prefer it: audit a real repo's governance against the checklist — what would you keep or change? Circulate and push for the WHY behind every call. ~12-15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License/OSS short response — about one page: pick and name a license for the project they're imagining, explain in plain terms what it lets others do and not do and why it fits their goals, and name one governance choice they'd make and why. Point them to the cheat sheet and choosealicense.com. Confirm the due date aloud (Mon, Sep 21) so it matches the LMS.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through-line: building in the open is how a project becomes something others can join. Before Wednesday's discovery workshop: the Session 4 readings and keep feeding the journal. The License/OSS short response is due Mon, Sep 21 (Week 3) — say the date aloud so it matches the LMS. Preview Wednesday — talking to real users, where the discovery assignment kicks off. ~1-2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33A"/>
        </a:solidFill>
      </p:bgPr>
    </p:bg>
    <p:spTree>
      <p:nvGrpSpPr>
        <p:cNvPr id="1" name=""/>
        <p:cNvGrpSpPr/>
        <p:nvPr/>
      </p:nvGrpSpPr>
      <p:grpSpPr>
        <a:xfrm>
          <a:off x="0" y="0"/>
          <a:ext cx="0" cy="0"/>
          <a:chOff x="0" y="0"/>
          <a:chExt cx="0" cy="0"/>
        </a:xfrm>
      </p:grpSpPr>
      <p:sp>
        <p:nvSpPr>
          <p:cNvPr id="2" name="Shape 0"/>
          <p:cNvSpPr/>
          <p:nvPr/>
        </p:nvSpPr>
        <p:spPr>
          <a:xfrm>
            <a:off x="9966960" y="-1280160"/>
            <a:ext cx="3840480" cy="3840480"/>
          </a:xfrm>
          <a:prstGeom prst="ellipse">
            <a:avLst/>
          </a:prstGeom>
          <a:solidFill>
            <a:srgbClr val="1C3252"/>
          </a:solidFill>
          <a:ln/>
        </p:spPr>
      </p:sp>
      <p:sp>
        <p:nvSpPr>
          <p:cNvPr id="3" name="Shape 1"/>
          <p:cNvSpPr/>
          <p:nvPr/>
        </p:nvSpPr>
        <p:spPr>
          <a:xfrm>
            <a:off x="10972800" y="4663440"/>
            <a:ext cx="2743200" cy="2743200"/>
          </a:xfrm>
          <a:prstGeom prst="ellipse">
            <a:avLst/>
          </a:prstGeom>
          <a:solidFill>
            <a:srgbClr val="1C3252"/>
          </a:solidFill>
          <a:ln/>
        </p:spPr>
      </p:sp>
      <p:sp>
        <p:nvSpPr>
          <p:cNvPr id="4" name="Shape 2"/>
          <p:cNvSpPr/>
          <p:nvPr/>
        </p:nvSpPr>
        <p:spPr>
          <a:xfrm>
            <a:off x="822960" y="1325880"/>
            <a:ext cx="914400" cy="914400"/>
          </a:xfrm>
          <a:prstGeom prst="ellipse">
            <a:avLst/>
          </a:prstGeom>
          <a:solidFill>
            <a:srgbClr val="E8A33D"/>
          </a:solidFill>
          <a:ln/>
        </p:spPr>
      </p:sp>
      <p:pic>
        <p:nvPicPr>
          <p:cNvPr id="5" name="Image 0" descr="preencoded.png">    </p:cNvPr>
          <p:cNvPicPr>
            <a:picLocks noChangeAspect="1"/>
          </p:cNvPicPr>
          <p:nvPr/>
        </p:nvPicPr>
        <p:blipFill>
          <a:blip r:embed="rId1"/>
          <a:stretch>
            <a:fillRect/>
          </a:stretch>
        </p:blipFill>
        <p:spPr>
          <a:xfrm>
            <a:off x="1069848" y="1572768"/>
            <a:ext cx="420624" cy="420624"/>
          </a:xfrm>
          <a:prstGeom prst="rect">
            <a:avLst/>
          </a:prstGeom>
        </p:spPr>
      </p:pic>
      <p:sp>
        <p:nvSpPr>
          <p:cNvPr id="6" name="Text 3"/>
          <p:cNvSpPr/>
          <p:nvPr/>
        </p:nvSpPr>
        <p:spPr>
          <a:xfrm>
            <a:off x="841248" y="2514600"/>
            <a:ext cx="10058400" cy="320040"/>
          </a:xfrm>
          <a:prstGeom prst="rect">
            <a:avLst/>
          </a:prstGeom>
          <a:noFill/>
          <a:ln/>
        </p:spPr>
        <p:txBody>
          <a:bodyPr wrap="square" lIns="0" tIns="0" rIns="0" bIns="0" rtlCol="0" anchor="ctr"/>
          <a:lstStyle/>
          <a:p>
            <a:pPr indent="0" marL="0">
              <a:buNone/>
            </a:pPr>
            <a:r>
              <a:rPr lang="en-US" sz="1500" b="1" spc="200" kern="0" dirty="0">
                <a:solidFill>
                  <a:srgbClr val="9FB4C7"/>
                </a:solidFill>
                <a:latin typeface="Calibri" pitchFamily="34" charset="0"/>
                <a:ea typeface="Calibri" pitchFamily="34" charset="-122"/>
                <a:cs typeface="Calibri" pitchFamily="34" charset="-120"/>
              </a:rPr>
              <a:t>CS 301R · SOFTWARE ENGINEERING STUDIO I</a:t>
            </a:r>
            <a:endParaRPr lang="en-US" sz="1500" dirty="0"/>
          </a:p>
        </p:txBody>
      </p:sp>
      <p:sp>
        <p:nvSpPr>
          <p:cNvPr id="7" name="Text 4"/>
          <p:cNvSpPr/>
          <p:nvPr/>
        </p:nvSpPr>
        <p:spPr>
          <a:xfrm>
            <a:off x="822960" y="2880360"/>
            <a:ext cx="11064240" cy="118872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Open Source, Licensing &amp; Governance</a:t>
            </a:r>
            <a:endParaRPr lang="en-US" sz="4200" dirty="0"/>
          </a:p>
        </p:txBody>
      </p:sp>
      <p:sp>
        <p:nvSpPr>
          <p:cNvPr id="8" name="Text 5"/>
          <p:cNvSpPr/>
          <p:nvPr/>
        </p:nvSpPr>
        <p:spPr>
          <a:xfrm>
            <a:off x="841248" y="4297680"/>
            <a:ext cx="10058400" cy="822960"/>
          </a:xfrm>
          <a:prstGeom prst="rect">
            <a:avLst/>
          </a:prstGeom>
          <a:noFill/>
          <a:ln/>
        </p:spPr>
        <p:txBody>
          <a:bodyPr wrap="square" lIns="0" tIns="0" rIns="0" bIns="0" rtlCol="0" anchor="ctr"/>
          <a:lstStyle/>
          <a:p>
            <a:pPr indent="0" marL="0">
              <a:lnSpc>
                <a:spcPct val="120000"/>
              </a:lnSpc>
              <a:buNone/>
            </a:pPr>
            <a:r>
              <a:rPr lang="en-US" sz="1900" b="1" dirty="0">
                <a:solidFill>
                  <a:srgbClr val="E8A33D"/>
                </a:solidFill>
                <a:latin typeface="Calibri" pitchFamily="34" charset="0"/>
                <a:ea typeface="Calibri" pitchFamily="34" charset="-122"/>
                <a:cs typeface="Calibri" pitchFamily="34" charset="-120"/>
              </a:rPr>
              <a:t>Session 3 — Building in the Open</a:t>
            </a:r>
            <a:endParaRPr lang="en-US" sz="1900" dirty="0"/>
          </a:p>
          <a:p>
            <a:pPr indent="0" marL="0">
              <a:lnSpc>
                <a:spcPct val="120000"/>
              </a:lnSpc>
              <a:buNone/>
            </a:pPr>
            <a:r>
              <a:rPr lang="en-US" sz="1900" dirty="0">
                <a:solidFill>
                  <a:srgbClr val="9FB4C7"/>
                </a:solidFill>
                <a:latin typeface="Calibri" pitchFamily="34" charset="0"/>
                <a:ea typeface="Calibri" pitchFamily="34" charset="-122"/>
                <a:cs typeface="Calibri" pitchFamily="34" charset="-120"/>
              </a:rPr>
              <a:t>Monday, September 14, 2026</a:t>
            </a:r>
            <a:endParaRPr lang="en-US" sz="1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WHERE WE ARE</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From finding problems to building in the open</a:t>
            </a:r>
            <a:endParaRPr lang="en-US" sz="3100" dirty="0"/>
          </a:p>
        </p:txBody>
      </p:sp>
      <p:sp>
        <p:nvSpPr>
          <p:cNvPr id="5" name="Shape 3"/>
          <p:cNvSpPr/>
          <p:nvPr/>
        </p:nvSpPr>
        <p:spPr>
          <a:xfrm>
            <a:off x="548640" y="1874520"/>
            <a:ext cx="5440680" cy="3383280"/>
          </a:xfrm>
          <a:prstGeom prst="roundRect">
            <a:avLst>
              <a:gd name="adj" fmla="val 2432"/>
            </a:avLst>
          </a:prstGeom>
          <a:solidFill>
            <a:srgbClr val="F2F6F8"/>
          </a:solidFill>
          <a:ln/>
          <a:effectLst>
            <a:outerShdw sx="100000" sy="100000" kx="0" ky="0" algn="bl" rotWithShape="0" blurRad="88900" dist="38100" dir="5400000">
              <a:srgbClr val="000000">
                <a:alpha val="13000"/>
              </a:srgbClr>
            </a:outerShdw>
          </a:effectLst>
        </p:spPr>
      </p:sp>
      <p:sp>
        <p:nvSpPr>
          <p:cNvPr id="6" name="Shape 4"/>
          <p:cNvSpPr/>
          <p:nvPr/>
        </p:nvSpPr>
        <p:spPr>
          <a:xfrm>
            <a:off x="822960" y="2148840"/>
            <a:ext cx="603504" cy="603504"/>
          </a:xfrm>
          <a:prstGeom prst="ellipse">
            <a:avLst/>
          </a:prstGeom>
          <a:solidFill>
            <a:srgbClr val="12908F"/>
          </a:solidFill>
          <a:ln/>
        </p:spPr>
      </p:sp>
      <p:pic>
        <p:nvPicPr>
          <p:cNvPr id="7" name="Image 0" descr="preencoded.png">    </p:cNvPr>
          <p:cNvPicPr>
            <a:picLocks noChangeAspect="1"/>
          </p:cNvPicPr>
          <p:nvPr/>
        </p:nvPicPr>
        <p:blipFill>
          <a:blip r:embed="rId1"/>
          <a:stretch>
            <a:fillRect/>
          </a:stretch>
        </p:blipFill>
        <p:spPr>
          <a:xfrm>
            <a:off x="985906" y="2311786"/>
            <a:ext cx="277612" cy="277612"/>
          </a:xfrm>
          <a:prstGeom prst="rect">
            <a:avLst/>
          </a:prstGeom>
        </p:spPr>
      </p:pic>
      <p:sp>
        <p:nvSpPr>
          <p:cNvPr id="8" name="Text 5"/>
          <p:cNvSpPr/>
          <p:nvPr/>
        </p:nvSpPr>
        <p:spPr>
          <a:xfrm>
            <a:off x="1572768" y="2212848"/>
            <a:ext cx="4206240" cy="457200"/>
          </a:xfrm>
          <a:prstGeom prst="rect">
            <a:avLst/>
          </a:prstGeom>
          <a:noFill/>
          <a:ln/>
        </p:spPr>
        <p:txBody>
          <a:bodyPr wrap="square" lIns="0" tIns="0" rIns="0" bIns="0" rtlCol="0" anchor="ctr"/>
          <a:lstStyle/>
          <a:p>
            <a:pPr indent="0" marL="0">
              <a:buNone/>
            </a:pPr>
            <a:r>
              <a:rPr lang="en-US" sz="2000" b="1" dirty="0">
                <a:solidFill>
                  <a:srgbClr val="1E2A36"/>
                </a:solidFill>
                <a:latin typeface="Calibri" pitchFamily="34" charset="0"/>
                <a:ea typeface="Calibri" pitchFamily="34" charset="-122"/>
                <a:cs typeface="Calibri" pitchFamily="34" charset="-120"/>
              </a:rPr>
              <a:t>From Session 2</a:t>
            </a:r>
            <a:endParaRPr lang="en-US" sz="2000" dirty="0"/>
          </a:p>
        </p:txBody>
      </p:sp>
      <p:sp>
        <p:nvSpPr>
          <p:cNvPr id="9" name="Text 6"/>
          <p:cNvSpPr/>
          <p:nvPr/>
        </p:nvSpPr>
        <p:spPr>
          <a:xfrm>
            <a:off x="896112" y="3017520"/>
            <a:ext cx="4892040" cy="2103120"/>
          </a:xfrm>
          <a:prstGeom prst="rect">
            <a:avLst/>
          </a:prstGeom>
          <a:noFill/>
          <a:ln/>
        </p:spPr>
        <p:txBody>
          <a:bodyPr wrap="square" lIns="0" tIns="0" rIns="0" bIns="0" rtlCol="0" anchor="t"/>
          <a:lstStyle/>
          <a:p>
            <a:pPr indent="0" marL="0">
              <a:lnSpc>
                <a:spcPct val="106000"/>
              </a:lnSpc>
              <a:buNone/>
            </a:pPr>
            <a:r>
              <a:rPr lang="en-US" sz="1600" dirty="0">
                <a:solidFill>
                  <a:srgbClr val="1E2A36"/>
                </a:solidFill>
                <a:latin typeface="Calibri" pitchFamily="34" charset="0"/>
                <a:ea typeface="Calibri" pitchFamily="34" charset="-122"/>
                <a:cs typeface="Calibri" pitchFamily="34" charset="-120"/>
              </a:rPr>
              <a:t>You generated a big pool of candidate problems. Keep feeding your idea journal — you'll need range for three different Idea Briefs.</a:t>
            </a:r>
            <a:endParaRPr lang="en-US" sz="1600" dirty="0"/>
          </a:p>
        </p:txBody>
      </p:sp>
      <p:sp>
        <p:nvSpPr>
          <p:cNvPr id="10" name="Shape 7"/>
          <p:cNvSpPr/>
          <p:nvPr/>
        </p:nvSpPr>
        <p:spPr>
          <a:xfrm>
            <a:off x="6172200" y="1874520"/>
            <a:ext cx="5440680" cy="3383280"/>
          </a:xfrm>
          <a:prstGeom prst="roundRect">
            <a:avLst>
              <a:gd name="adj" fmla="val 2432"/>
            </a:avLst>
          </a:prstGeom>
          <a:solidFill>
            <a:srgbClr val="14233A"/>
          </a:solidFill>
          <a:ln/>
          <a:effectLst>
            <a:outerShdw sx="100000" sy="100000" kx="0" ky="0" algn="bl" rotWithShape="0" blurRad="88900" dist="38100" dir="5400000">
              <a:srgbClr val="000000">
                <a:alpha val="13000"/>
              </a:srgbClr>
            </a:outerShdw>
          </a:effectLst>
        </p:spPr>
      </p:sp>
      <p:sp>
        <p:nvSpPr>
          <p:cNvPr id="11" name="Shape 8"/>
          <p:cNvSpPr/>
          <p:nvPr/>
        </p:nvSpPr>
        <p:spPr>
          <a:xfrm>
            <a:off x="6446520" y="2148840"/>
            <a:ext cx="603504" cy="603504"/>
          </a:xfrm>
          <a:prstGeom prst="ellipse">
            <a:avLst/>
          </a:prstGeom>
          <a:solidFill>
            <a:srgbClr val="E8A33D"/>
          </a:solidFill>
          <a:ln/>
        </p:spPr>
      </p:sp>
      <p:pic>
        <p:nvPicPr>
          <p:cNvPr id="12" name="Image 1" descr="preencoded.png">    </p:cNvPr>
          <p:cNvPicPr>
            <a:picLocks noChangeAspect="1"/>
          </p:cNvPicPr>
          <p:nvPr/>
        </p:nvPicPr>
        <p:blipFill>
          <a:blip r:embed="rId2"/>
          <a:stretch>
            <a:fillRect/>
          </a:stretch>
        </p:blipFill>
        <p:spPr>
          <a:xfrm>
            <a:off x="6609466" y="2311786"/>
            <a:ext cx="277612" cy="277612"/>
          </a:xfrm>
          <a:prstGeom prst="rect">
            <a:avLst/>
          </a:prstGeom>
        </p:spPr>
      </p:pic>
      <p:sp>
        <p:nvSpPr>
          <p:cNvPr id="13" name="Text 9"/>
          <p:cNvSpPr/>
          <p:nvPr/>
        </p:nvSpPr>
        <p:spPr>
          <a:xfrm>
            <a:off x="7196328" y="2212848"/>
            <a:ext cx="4297680" cy="457200"/>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Today — the "open" in open source</a:t>
            </a:r>
            <a:endParaRPr lang="en-US" sz="1900" dirty="0"/>
          </a:p>
        </p:txBody>
      </p:sp>
      <p:sp>
        <p:nvSpPr>
          <p:cNvPr id="14" name="Text 10"/>
          <p:cNvSpPr/>
          <p:nvPr/>
        </p:nvSpPr>
        <p:spPr>
          <a:xfrm>
            <a:off x="6492240" y="3017520"/>
            <a:ext cx="4892040" cy="2103120"/>
          </a:xfrm>
          <a:prstGeom prst="rect">
            <a:avLst/>
          </a:prstGeom>
          <a:noFill/>
          <a:ln/>
        </p:spPr>
        <p:txBody>
          <a:bodyPr wrap="square" lIns="0" tIns="0" rIns="0" bIns="0" rtlCol="0" anchor="t"/>
          <a:lstStyle/>
          <a:p>
            <a:pPr marL="203200" indent="-203200">
              <a:spcAft>
                <a:spcPts val="1200"/>
              </a:spcAft>
              <a:buSzPct val="100000"/>
              <a:buChar char="•"/>
            </a:pPr>
            <a:r>
              <a:rPr lang="en-US" sz="1600" dirty="0">
                <a:solidFill>
                  <a:srgbClr val="CFE0E9"/>
                </a:solidFill>
                <a:latin typeface="Calibri" pitchFamily="34" charset="0"/>
                <a:ea typeface="Calibri" pitchFamily="34" charset="-122"/>
                <a:cs typeface="Calibri" pitchFamily="34" charset="-120"/>
              </a:rPr>
              <a:t>Why we build in the open</a:t>
            </a:r>
            <a:endParaRPr lang="en-US" sz="1600" dirty="0"/>
          </a:p>
          <a:p>
            <a:pPr marL="203200" indent="-203200">
              <a:spcAft>
                <a:spcPts val="1200"/>
              </a:spcAft>
              <a:buSzPct val="100000"/>
              <a:buChar char="•"/>
            </a:pPr>
            <a:r>
              <a:rPr lang="en-US" sz="1600" dirty="0">
                <a:solidFill>
                  <a:srgbClr val="CFE0E9"/>
                </a:solidFill>
                <a:latin typeface="Calibri" pitchFamily="34" charset="0"/>
                <a:ea typeface="Calibri" pitchFamily="34" charset="-122"/>
                <a:cs typeface="Calibri" pitchFamily="34" charset="-120"/>
              </a:rPr>
              <a:t>How software licenses actually work</a:t>
            </a:r>
            <a:endParaRPr lang="en-US" sz="1600" dirty="0"/>
          </a:p>
          <a:p>
            <a:pPr marL="203200" indent="-203200">
              <a:buSzPct val="100000"/>
              <a:buChar char="•"/>
            </a:pPr>
            <a:r>
              <a:rPr lang="en-US" sz="1600" dirty="0">
                <a:solidFill>
                  <a:srgbClr val="CFE0E9"/>
                </a:solidFill>
                <a:latin typeface="Calibri" pitchFamily="34" charset="0"/>
                <a:ea typeface="Calibri" pitchFamily="34" charset="-122"/>
                <a:cs typeface="Calibri" pitchFamily="34" charset="-120"/>
              </a:rPr>
              <a:t>The governance a founder sets</a:t>
            </a:r>
            <a:endParaRPr lang="en-US" sz="1600" dirty="0"/>
          </a:p>
        </p:txBody>
      </p:sp>
      <p:sp>
        <p:nvSpPr>
          <p:cNvPr id="15" name="Text 11"/>
          <p:cNvSpPr/>
          <p:nvPr/>
        </p:nvSpPr>
        <p:spPr>
          <a:xfrm>
            <a:off x="7132320" y="6437376"/>
            <a:ext cx="44805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3 · Open Source &amp; Licensing</a:t>
            </a:r>
            <a:endParaRPr lang="en-US" sz="1000" dirty="0"/>
          </a:p>
        </p:txBody>
      </p:sp>
      <p:sp>
        <p:nvSpPr>
          <p:cNvPr id="16" name="Text 12"/>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WHY BUILD IN THE OPEN?</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What "open" actually buys you</a:t>
            </a:r>
            <a:endParaRPr lang="en-US" sz="3100" dirty="0"/>
          </a:p>
        </p:txBody>
      </p:sp>
      <p:sp>
        <p:nvSpPr>
          <p:cNvPr id="5" name="Shape 3"/>
          <p:cNvSpPr/>
          <p:nvPr/>
        </p:nvSpPr>
        <p:spPr>
          <a:xfrm>
            <a:off x="640080" y="1874520"/>
            <a:ext cx="585216" cy="585216"/>
          </a:xfrm>
          <a:prstGeom prst="ellipse">
            <a:avLst/>
          </a:prstGeom>
          <a:solidFill>
            <a:srgbClr val="12908F"/>
          </a:solidFill>
          <a:ln/>
        </p:spPr>
      </p:sp>
      <p:pic>
        <p:nvPicPr>
          <p:cNvPr id="6" name="Image 0" descr="preencoded.png">    </p:cNvPr>
          <p:cNvPicPr>
            <a:picLocks noChangeAspect="1"/>
          </p:cNvPicPr>
          <p:nvPr/>
        </p:nvPicPr>
        <p:blipFill>
          <a:blip r:embed="rId1"/>
          <a:stretch>
            <a:fillRect/>
          </a:stretch>
        </p:blipFill>
        <p:spPr>
          <a:xfrm>
            <a:off x="798088" y="2032528"/>
            <a:ext cx="269199" cy="269199"/>
          </a:xfrm>
          <a:prstGeom prst="rect">
            <a:avLst/>
          </a:prstGeom>
        </p:spPr>
      </p:pic>
      <p:sp>
        <p:nvSpPr>
          <p:cNvPr id="7" name="Text 4"/>
          <p:cNvSpPr/>
          <p:nvPr/>
        </p:nvSpPr>
        <p:spPr>
          <a:xfrm>
            <a:off x="1417320" y="1892808"/>
            <a:ext cx="6126480" cy="365760"/>
          </a:xfrm>
          <a:prstGeom prst="rect">
            <a:avLst/>
          </a:prstGeom>
          <a:noFill/>
          <a:ln/>
        </p:spPr>
        <p:txBody>
          <a:bodyPr wrap="square" lIns="0" tIns="0" rIns="0" bIns="0" rtlCol="0" anchor="ctr"/>
          <a:lstStyle/>
          <a:p>
            <a:pPr indent="0" marL="0">
              <a:buNone/>
            </a:pPr>
            <a:r>
              <a:rPr lang="en-US" sz="1900" b="1" dirty="0">
                <a:solidFill>
                  <a:srgbClr val="1E2A36"/>
                </a:solidFill>
                <a:latin typeface="Calibri" pitchFamily="34" charset="0"/>
                <a:ea typeface="Calibri" pitchFamily="34" charset="-122"/>
                <a:cs typeface="Calibri" pitchFamily="34" charset="-120"/>
              </a:rPr>
              <a:t>Contributors</a:t>
            </a:r>
            <a:endParaRPr lang="en-US" sz="1900" dirty="0"/>
          </a:p>
        </p:txBody>
      </p:sp>
      <p:sp>
        <p:nvSpPr>
          <p:cNvPr id="8" name="Text 5"/>
          <p:cNvSpPr/>
          <p:nvPr/>
        </p:nvSpPr>
        <p:spPr>
          <a:xfrm>
            <a:off x="1417320" y="2258568"/>
            <a:ext cx="6126480" cy="365760"/>
          </a:xfrm>
          <a:prstGeom prst="rect">
            <a:avLst/>
          </a:prstGeom>
          <a:noFill/>
          <a:ln/>
        </p:spPr>
        <p:txBody>
          <a:bodyPr wrap="square" lIns="0" tIns="0" rIns="0" bIns="0" rtlCol="0" anchor="ctr"/>
          <a:lstStyle/>
          <a:p>
            <a:pPr indent="0" marL="0">
              <a:buNone/>
            </a:pPr>
            <a:r>
              <a:rPr lang="en-US" sz="1450" dirty="0">
                <a:solidFill>
                  <a:srgbClr val="5F7284"/>
                </a:solidFill>
                <a:latin typeface="Calibri" pitchFamily="34" charset="0"/>
                <a:ea typeface="Calibri" pitchFamily="34" charset="-122"/>
                <a:cs typeface="Calibri" pitchFamily="34" charset="-120"/>
              </a:rPr>
              <a:t>Others can find, use, and help build it.</a:t>
            </a:r>
            <a:endParaRPr lang="en-US" sz="1450" dirty="0"/>
          </a:p>
        </p:txBody>
      </p:sp>
      <p:sp>
        <p:nvSpPr>
          <p:cNvPr id="9" name="Shape 6"/>
          <p:cNvSpPr/>
          <p:nvPr/>
        </p:nvSpPr>
        <p:spPr>
          <a:xfrm>
            <a:off x="640080" y="2743200"/>
            <a:ext cx="585216" cy="585216"/>
          </a:xfrm>
          <a:prstGeom prst="ellipse">
            <a:avLst/>
          </a:prstGeom>
          <a:solidFill>
            <a:srgbClr val="12908F"/>
          </a:solidFill>
          <a:ln/>
        </p:spPr>
      </p:sp>
      <p:pic>
        <p:nvPicPr>
          <p:cNvPr id="10" name="Image 1" descr="preencoded.png">    </p:cNvPr>
          <p:cNvPicPr>
            <a:picLocks noChangeAspect="1"/>
          </p:cNvPicPr>
          <p:nvPr/>
        </p:nvPicPr>
        <p:blipFill>
          <a:blip r:embed="rId2"/>
          <a:stretch>
            <a:fillRect/>
          </a:stretch>
        </p:blipFill>
        <p:spPr>
          <a:xfrm>
            <a:off x="798088" y="2901208"/>
            <a:ext cx="269199" cy="269199"/>
          </a:xfrm>
          <a:prstGeom prst="rect">
            <a:avLst/>
          </a:prstGeom>
        </p:spPr>
      </p:pic>
      <p:sp>
        <p:nvSpPr>
          <p:cNvPr id="11" name="Text 7"/>
          <p:cNvSpPr/>
          <p:nvPr/>
        </p:nvSpPr>
        <p:spPr>
          <a:xfrm>
            <a:off x="1417320" y="2761488"/>
            <a:ext cx="6126480" cy="365760"/>
          </a:xfrm>
          <a:prstGeom prst="rect">
            <a:avLst/>
          </a:prstGeom>
          <a:noFill/>
          <a:ln/>
        </p:spPr>
        <p:txBody>
          <a:bodyPr wrap="square" lIns="0" tIns="0" rIns="0" bIns="0" rtlCol="0" anchor="ctr"/>
          <a:lstStyle/>
          <a:p>
            <a:pPr indent="0" marL="0">
              <a:buNone/>
            </a:pPr>
            <a:r>
              <a:rPr lang="en-US" sz="1900" b="1" dirty="0">
                <a:solidFill>
                  <a:srgbClr val="1E2A36"/>
                </a:solidFill>
                <a:latin typeface="Calibri" pitchFamily="34" charset="0"/>
                <a:ea typeface="Calibri" pitchFamily="34" charset="-122"/>
                <a:cs typeface="Calibri" pitchFamily="34" charset="-120"/>
              </a:rPr>
              <a:t>Feedback &amp; trust</a:t>
            </a:r>
            <a:endParaRPr lang="en-US" sz="1900" dirty="0"/>
          </a:p>
        </p:txBody>
      </p:sp>
      <p:sp>
        <p:nvSpPr>
          <p:cNvPr id="12" name="Text 8"/>
          <p:cNvSpPr/>
          <p:nvPr/>
        </p:nvSpPr>
        <p:spPr>
          <a:xfrm>
            <a:off x="1417320" y="3127248"/>
            <a:ext cx="6126480" cy="365760"/>
          </a:xfrm>
          <a:prstGeom prst="rect">
            <a:avLst/>
          </a:prstGeom>
          <a:noFill/>
          <a:ln/>
        </p:spPr>
        <p:txBody>
          <a:bodyPr wrap="square" lIns="0" tIns="0" rIns="0" bIns="0" rtlCol="0" anchor="ctr"/>
          <a:lstStyle/>
          <a:p>
            <a:pPr indent="0" marL="0">
              <a:buNone/>
            </a:pPr>
            <a:r>
              <a:rPr lang="en-US" sz="1450" dirty="0">
                <a:solidFill>
                  <a:srgbClr val="5F7284"/>
                </a:solidFill>
                <a:latin typeface="Calibri" pitchFamily="34" charset="0"/>
                <a:ea typeface="Calibri" pitchFamily="34" charset="-122"/>
                <a:cs typeface="Calibri" pitchFamily="34" charset="-120"/>
              </a:rPr>
              <a:t>Many eyes: bugs surface, quality shows.</a:t>
            </a:r>
            <a:endParaRPr lang="en-US" sz="1450" dirty="0"/>
          </a:p>
        </p:txBody>
      </p:sp>
      <p:sp>
        <p:nvSpPr>
          <p:cNvPr id="13" name="Shape 9"/>
          <p:cNvSpPr/>
          <p:nvPr/>
        </p:nvSpPr>
        <p:spPr>
          <a:xfrm>
            <a:off x="640080" y="3611880"/>
            <a:ext cx="585216" cy="585216"/>
          </a:xfrm>
          <a:prstGeom prst="ellipse">
            <a:avLst/>
          </a:prstGeom>
          <a:solidFill>
            <a:srgbClr val="12908F"/>
          </a:solidFill>
          <a:ln/>
        </p:spPr>
      </p:sp>
      <p:pic>
        <p:nvPicPr>
          <p:cNvPr id="14" name="Image 2" descr="preencoded.png">    </p:cNvPr>
          <p:cNvPicPr>
            <a:picLocks noChangeAspect="1"/>
          </p:cNvPicPr>
          <p:nvPr/>
        </p:nvPicPr>
        <p:blipFill>
          <a:blip r:embed="rId3"/>
          <a:stretch>
            <a:fillRect/>
          </a:stretch>
        </p:blipFill>
        <p:spPr>
          <a:xfrm>
            <a:off x="798088" y="3769888"/>
            <a:ext cx="269199" cy="269199"/>
          </a:xfrm>
          <a:prstGeom prst="rect">
            <a:avLst/>
          </a:prstGeom>
        </p:spPr>
      </p:pic>
      <p:sp>
        <p:nvSpPr>
          <p:cNvPr id="15" name="Text 10"/>
          <p:cNvSpPr/>
          <p:nvPr/>
        </p:nvSpPr>
        <p:spPr>
          <a:xfrm>
            <a:off x="1417320" y="3630168"/>
            <a:ext cx="6126480" cy="365760"/>
          </a:xfrm>
          <a:prstGeom prst="rect">
            <a:avLst/>
          </a:prstGeom>
          <a:noFill/>
          <a:ln/>
        </p:spPr>
        <p:txBody>
          <a:bodyPr wrap="square" lIns="0" tIns="0" rIns="0" bIns="0" rtlCol="0" anchor="ctr"/>
          <a:lstStyle/>
          <a:p>
            <a:pPr indent="0" marL="0">
              <a:buNone/>
            </a:pPr>
            <a:r>
              <a:rPr lang="en-US" sz="1900" b="1" dirty="0">
                <a:solidFill>
                  <a:srgbClr val="1E2A36"/>
                </a:solidFill>
                <a:latin typeface="Calibri" pitchFamily="34" charset="0"/>
                <a:ea typeface="Calibri" pitchFamily="34" charset="-122"/>
                <a:cs typeface="Calibri" pitchFamily="34" charset="-120"/>
              </a:rPr>
              <a:t>Reuse &amp; reach</a:t>
            </a:r>
            <a:endParaRPr lang="en-US" sz="1900" dirty="0"/>
          </a:p>
        </p:txBody>
      </p:sp>
      <p:sp>
        <p:nvSpPr>
          <p:cNvPr id="16" name="Text 11"/>
          <p:cNvSpPr/>
          <p:nvPr/>
        </p:nvSpPr>
        <p:spPr>
          <a:xfrm>
            <a:off x="1417320" y="3995928"/>
            <a:ext cx="6126480" cy="365760"/>
          </a:xfrm>
          <a:prstGeom prst="rect">
            <a:avLst/>
          </a:prstGeom>
          <a:noFill/>
          <a:ln/>
        </p:spPr>
        <p:txBody>
          <a:bodyPr wrap="square" lIns="0" tIns="0" rIns="0" bIns="0" rtlCol="0" anchor="ctr"/>
          <a:lstStyle/>
          <a:p>
            <a:pPr indent="0" marL="0">
              <a:buNone/>
            </a:pPr>
            <a:r>
              <a:rPr lang="en-US" sz="1450" dirty="0">
                <a:solidFill>
                  <a:srgbClr val="5F7284"/>
                </a:solidFill>
                <a:latin typeface="Calibri" pitchFamily="34" charset="0"/>
                <a:ea typeface="Calibri" pitchFamily="34" charset="-122"/>
                <a:cs typeface="Calibri" pitchFamily="34" charset="-120"/>
              </a:rPr>
              <a:t>People build on it instead of starting over.</a:t>
            </a:r>
            <a:endParaRPr lang="en-US" sz="1450" dirty="0"/>
          </a:p>
        </p:txBody>
      </p:sp>
      <p:sp>
        <p:nvSpPr>
          <p:cNvPr id="17" name="Shape 12"/>
          <p:cNvSpPr/>
          <p:nvPr/>
        </p:nvSpPr>
        <p:spPr>
          <a:xfrm>
            <a:off x="640080" y="4480560"/>
            <a:ext cx="585216" cy="585216"/>
          </a:xfrm>
          <a:prstGeom prst="ellipse">
            <a:avLst/>
          </a:prstGeom>
          <a:solidFill>
            <a:srgbClr val="12908F"/>
          </a:solidFill>
          <a:ln/>
        </p:spPr>
      </p:sp>
      <p:pic>
        <p:nvPicPr>
          <p:cNvPr id="18" name="Image 3" descr="preencoded.png">    </p:cNvPr>
          <p:cNvPicPr>
            <a:picLocks noChangeAspect="1"/>
          </p:cNvPicPr>
          <p:nvPr/>
        </p:nvPicPr>
        <p:blipFill>
          <a:blip r:embed="rId4"/>
          <a:stretch>
            <a:fillRect/>
          </a:stretch>
        </p:blipFill>
        <p:spPr>
          <a:xfrm>
            <a:off x="798088" y="4638568"/>
            <a:ext cx="269199" cy="269199"/>
          </a:xfrm>
          <a:prstGeom prst="rect">
            <a:avLst/>
          </a:prstGeom>
        </p:spPr>
      </p:pic>
      <p:sp>
        <p:nvSpPr>
          <p:cNvPr id="19" name="Text 13"/>
          <p:cNvSpPr/>
          <p:nvPr/>
        </p:nvSpPr>
        <p:spPr>
          <a:xfrm>
            <a:off x="1417320" y="4498848"/>
            <a:ext cx="6126480" cy="365760"/>
          </a:xfrm>
          <a:prstGeom prst="rect">
            <a:avLst/>
          </a:prstGeom>
          <a:noFill/>
          <a:ln/>
        </p:spPr>
        <p:txBody>
          <a:bodyPr wrap="square" lIns="0" tIns="0" rIns="0" bIns="0" rtlCol="0" anchor="ctr"/>
          <a:lstStyle/>
          <a:p>
            <a:pPr indent="0" marL="0">
              <a:buNone/>
            </a:pPr>
            <a:r>
              <a:rPr lang="en-US" sz="1900" b="1" dirty="0">
                <a:solidFill>
                  <a:srgbClr val="1E2A36"/>
                </a:solidFill>
                <a:latin typeface="Calibri" pitchFamily="34" charset="0"/>
                <a:ea typeface="Calibri" pitchFamily="34" charset="-122"/>
                <a:cs typeface="Calibri" pitchFamily="34" charset="-120"/>
              </a:rPr>
              <a:t>Longevity</a:t>
            </a:r>
            <a:endParaRPr lang="en-US" sz="1900" dirty="0"/>
          </a:p>
        </p:txBody>
      </p:sp>
      <p:sp>
        <p:nvSpPr>
          <p:cNvPr id="20" name="Text 14"/>
          <p:cNvSpPr/>
          <p:nvPr/>
        </p:nvSpPr>
        <p:spPr>
          <a:xfrm>
            <a:off x="1417320" y="4864608"/>
            <a:ext cx="6126480" cy="365760"/>
          </a:xfrm>
          <a:prstGeom prst="rect">
            <a:avLst/>
          </a:prstGeom>
          <a:noFill/>
          <a:ln/>
        </p:spPr>
        <p:txBody>
          <a:bodyPr wrap="square" lIns="0" tIns="0" rIns="0" bIns="0" rtlCol="0" anchor="ctr"/>
          <a:lstStyle/>
          <a:p>
            <a:pPr indent="0" marL="0">
              <a:buNone/>
            </a:pPr>
            <a:r>
              <a:rPr lang="en-US" sz="1450" dirty="0">
                <a:solidFill>
                  <a:srgbClr val="5F7284"/>
                </a:solidFill>
                <a:latin typeface="Calibri" pitchFamily="34" charset="0"/>
                <a:ea typeface="Calibri" pitchFamily="34" charset="-122"/>
                <a:cs typeface="Calibri" pitchFamily="34" charset="-120"/>
              </a:rPr>
              <a:t>A project that can outlive any one person — and a public portfolio.</a:t>
            </a:r>
            <a:endParaRPr lang="en-US" sz="1450" dirty="0"/>
          </a:p>
        </p:txBody>
      </p:sp>
      <p:sp>
        <p:nvSpPr>
          <p:cNvPr id="21" name="Shape 15"/>
          <p:cNvSpPr/>
          <p:nvPr/>
        </p:nvSpPr>
        <p:spPr>
          <a:xfrm>
            <a:off x="7772400" y="1874520"/>
            <a:ext cx="3840480" cy="3977640"/>
          </a:xfrm>
          <a:prstGeom prst="roundRect">
            <a:avLst>
              <a:gd name="adj" fmla="val 2143"/>
            </a:avLst>
          </a:prstGeom>
          <a:solidFill>
            <a:srgbClr val="14233A"/>
          </a:solidFill>
          <a:ln/>
          <a:effectLst>
            <a:outerShdw sx="100000" sy="100000" kx="0" ky="0" algn="bl" rotWithShape="0" blurRad="88900" dist="38100" dir="5400000">
              <a:srgbClr val="000000">
                <a:alpha val="13000"/>
              </a:srgbClr>
            </a:outerShdw>
          </a:effectLst>
        </p:spPr>
      </p:sp>
      <p:sp>
        <p:nvSpPr>
          <p:cNvPr id="22" name="Shape 16"/>
          <p:cNvSpPr/>
          <p:nvPr/>
        </p:nvSpPr>
        <p:spPr>
          <a:xfrm>
            <a:off x="8046720" y="2148840"/>
            <a:ext cx="566928" cy="566928"/>
          </a:xfrm>
          <a:prstGeom prst="ellipse">
            <a:avLst/>
          </a:prstGeom>
          <a:solidFill>
            <a:srgbClr val="E8A33D"/>
          </a:solidFill>
          <a:ln/>
        </p:spPr>
      </p:sp>
      <p:pic>
        <p:nvPicPr>
          <p:cNvPr id="23" name="Image 4" descr="preencoded.png">    </p:cNvPr>
          <p:cNvPicPr>
            <a:picLocks noChangeAspect="1"/>
          </p:cNvPicPr>
          <p:nvPr/>
        </p:nvPicPr>
        <p:blipFill>
          <a:blip r:embed="rId5"/>
          <a:stretch>
            <a:fillRect/>
          </a:stretch>
        </p:blipFill>
        <p:spPr>
          <a:xfrm>
            <a:off x="8199791" y="2301911"/>
            <a:ext cx="260787" cy="260787"/>
          </a:xfrm>
          <a:prstGeom prst="rect">
            <a:avLst/>
          </a:prstGeom>
        </p:spPr>
      </p:pic>
      <p:sp>
        <p:nvSpPr>
          <p:cNvPr id="24" name="Text 17"/>
          <p:cNvSpPr/>
          <p:nvPr/>
        </p:nvSpPr>
        <p:spPr>
          <a:xfrm>
            <a:off x="8732520" y="2194560"/>
            <a:ext cx="2743200" cy="50292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Talk about it</a:t>
            </a:r>
            <a:endParaRPr lang="en-US" sz="1800" dirty="0"/>
          </a:p>
        </p:txBody>
      </p:sp>
      <p:sp>
        <p:nvSpPr>
          <p:cNvPr id="25" name="Text 18"/>
          <p:cNvSpPr/>
          <p:nvPr/>
        </p:nvSpPr>
        <p:spPr>
          <a:xfrm>
            <a:off x="8046720" y="2880360"/>
            <a:ext cx="3337560" cy="2834640"/>
          </a:xfrm>
          <a:prstGeom prst="rect">
            <a:avLst/>
          </a:prstGeom>
          <a:noFill/>
          <a:ln/>
        </p:spPr>
        <p:txBody>
          <a:bodyPr wrap="square" lIns="0" tIns="0" rIns="0" bIns="0" rtlCol="0" anchor="t"/>
          <a:lstStyle/>
          <a:p>
            <a:pPr indent="0" marL="0">
              <a:lnSpc>
                <a:spcPct val="104000"/>
              </a:lnSpc>
              <a:spcAft>
                <a:spcPts val="1200"/>
              </a:spcAft>
              <a:buNone/>
            </a:pPr>
            <a:r>
              <a:rPr lang="en-US" sz="1450" dirty="0">
                <a:solidFill>
                  <a:srgbClr val="CFE0E9"/>
                </a:solidFill>
                <a:latin typeface="Calibri" pitchFamily="34" charset="0"/>
                <a:ea typeface="Calibri" pitchFamily="34" charset="-122"/>
                <a:cs typeface="Calibri" pitchFamily="34" charset="-120"/>
              </a:rPr>
              <a:t>What's scary about building in public — and how real is it?</a:t>
            </a:r>
            <a:endParaRPr lang="en-US" sz="1450" dirty="0"/>
          </a:p>
          <a:p>
            <a:pPr indent="0" marL="0">
              <a:lnSpc>
                <a:spcPct val="104000"/>
              </a:lnSpc>
              <a:spcAft>
                <a:spcPts val="1200"/>
              </a:spcAft>
              <a:buNone/>
            </a:pPr>
            <a:r>
              <a:rPr lang="en-US" sz="1450" dirty="0">
                <a:solidFill>
                  <a:srgbClr val="CFE0E9"/>
                </a:solidFill>
                <a:latin typeface="Calibri" pitchFamily="34" charset="0"/>
                <a:ea typeface="Calibri" pitchFamily="34" charset="-122"/>
                <a:cs typeface="Calibri" pitchFamily="34" charset="-120"/>
              </a:rPr>
              <a:t>"Given enough eyeballs, all bugs are shallow" — do you buy it?</a:t>
            </a:r>
            <a:endParaRPr lang="en-US" sz="1450" dirty="0"/>
          </a:p>
          <a:p>
            <a:pPr indent="0" marL="0">
              <a:lnSpc>
                <a:spcPct val="104000"/>
              </a:lnSpc>
              <a:buNone/>
            </a:pPr>
            <a:r>
              <a:rPr lang="en-US" sz="1450" dirty="0">
                <a:solidFill>
                  <a:srgbClr val="CFE0E9"/>
                </a:solidFill>
                <a:latin typeface="Calibri" pitchFamily="34" charset="0"/>
                <a:ea typeface="Calibri" pitchFamily="34" charset="-122"/>
                <a:cs typeface="Calibri" pitchFamily="34" charset="-120"/>
              </a:rPr>
              <a:t>Why would anyone contribute to your project?</a:t>
            </a:r>
            <a:endParaRPr lang="en-US" sz="1450" dirty="0"/>
          </a:p>
        </p:txBody>
      </p:sp>
      <p:sp>
        <p:nvSpPr>
          <p:cNvPr id="26" name="Text 19"/>
          <p:cNvSpPr/>
          <p:nvPr/>
        </p:nvSpPr>
        <p:spPr>
          <a:xfrm>
            <a:off x="7132320" y="6437376"/>
            <a:ext cx="44805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3 · Open Source &amp; Licensing</a:t>
            </a:r>
            <a:endParaRPr lang="en-US" sz="1000" dirty="0"/>
          </a:p>
        </p:txBody>
      </p:sp>
      <p:sp>
        <p:nvSpPr>
          <p:cNvPr id="27" name="Text 20"/>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LICENSES</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The one thing to remember</a:t>
            </a:r>
            <a:endParaRPr lang="en-US" sz="3100" dirty="0"/>
          </a:p>
        </p:txBody>
      </p:sp>
      <p:sp>
        <p:nvSpPr>
          <p:cNvPr id="5" name="Shape 3"/>
          <p:cNvSpPr/>
          <p:nvPr/>
        </p:nvSpPr>
        <p:spPr>
          <a:xfrm>
            <a:off x="548640" y="1874520"/>
            <a:ext cx="11064240" cy="1234440"/>
          </a:xfrm>
          <a:prstGeom prst="roundRect">
            <a:avLst>
              <a:gd name="adj" fmla="val 6667"/>
            </a:avLst>
          </a:prstGeom>
          <a:solidFill>
            <a:srgbClr val="FCF3E3"/>
          </a:solidFill>
          <a:ln/>
          <a:effectLst>
            <a:outerShdw sx="100000" sy="100000" kx="0" ky="0" algn="bl" rotWithShape="0" blurRad="88900" dist="38100" dir="5400000">
              <a:srgbClr val="000000">
                <a:alpha val="13000"/>
              </a:srgbClr>
            </a:outerShdw>
          </a:effectLst>
        </p:spPr>
      </p:sp>
      <p:sp>
        <p:nvSpPr>
          <p:cNvPr id="6" name="Shape 4"/>
          <p:cNvSpPr/>
          <p:nvPr/>
        </p:nvSpPr>
        <p:spPr>
          <a:xfrm>
            <a:off x="868680" y="2176272"/>
            <a:ext cx="603504" cy="603504"/>
          </a:xfrm>
          <a:prstGeom prst="ellipse">
            <a:avLst/>
          </a:prstGeom>
          <a:solidFill>
            <a:srgbClr val="E8A33D"/>
          </a:solidFill>
          <a:ln/>
        </p:spPr>
      </p:sp>
      <p:pic>
        <p:nvPicPr>
          <p:cNvPr id="7" name="Image 0" descr="preencoded.png">    </p:cNvPr>
          <p:cNvPicPr>
            <a:picLocks noChangeAspect="1"/>
          </p:cNvPicPr>
          <p:nvPr/>
        </p:nvPicPr>
        <p:blipFill>
          <a:blip r:embed="rId1"/>
          <a:stretch>
            <a:fillRect/>
          </a:stretch>
        </p:blipFill>
        <p:spPr>
          <a:xfrm>
            <a:off x="1031626" y="2339218"/>
            <a:ext cx="277612" cy="277612"/>
          </a:xfrm>
          <a:prstGeom prst="rect">
            <a:avLst/>
          </a:prstGeom>
        </p:spPr>
      </p:pic>
      <p:sp>
        <p:nvSpPr>
          <p:cNvPr id="8" name="Text 5"/>
          <p:cNvSpPr/>
          <p:nvPr/>
        </p:nvSpPr>
        <p:spPr>
          <a:xfrm>
            <a:off x="1691640" y="1874520"/>
            <a:ext cx="9692640" cy="1234440"/>
          </a:xfrm>
          <a:prstGeom prst="rect">
            <a:avLst/>
          </a:prstGeom>
          <a:noFill/>
          <a:ln/>
        </p:spPr>
        <p:txBody>
          <a:bodyPr wrap="square" lIns="0" tIns="0" rIns="0" bIns="0" rtlCol="0" anchor="ctr"/>
          <a:lstStyle/>
          <a:p>
            <a:pPr indent="0" marL="0">
              <a:lnSpc>
                <a:spcPct val="104000"/>
              </a:lnSpc>
              <a:buNone/>
            </a:pPr>
            <a:r>
              <a:rPr lang="en-US" sz="1750" b="1" dirty="0">
                <a:solidFill>
                  <a:srgbClr val="1E2A36"/>
                </a:solidFill>
                <a:latin typeface="Calibri" pitchFamily="34" charset="0"/>
                <a:ea typeface="Calibri" pitchFamily="34" charset="-122"/>
                <a:cs typeface="Calibri" pitchFamily="34" charset="-120"/>
              </a:rPr>
              <a:t>No license = all rights reserved.  </a:t>
            </a:r>
            <a:pPr indent="0" marL="0">
              <a:lnSpc>
                <a:spcPct val="104000"/>
              </a:lnSpc>
              <a:buNone/>
            </a:pPr>
            <a:r>
              <a:rPr lang="en-US" sz="1750" dirty="0">
                <a:solidFill>
                  <a:srgbClr val="1E2A36"/>
                </a:solidFill>
                <a:latin typeface="Calibri" pitchFamily="34" charset="0"/>
                <a:ea typeface="Calibri" pitchFamily="34" charset="-122"/>
                <a:cs typeface="Calibri" pitchFamily="34" charset="-120"/>
              </a:rPr>
              <a:t>Even public code on GitHub can't legally be used or modified until you add a license.</a:t>
            </a:r>
            <a:endParaRPr lang="en-US" sz="1750" dirty="0"/>
          </a:p>
        </p:txBody>
      </p:sp>
      <p:sp>
        <p:nvSpPr>
          <p:cNvPr id="9" name="Shape 6"/>
          <p:cNvSpPr/>
          <p:nvPr/>
        </p:nvSpPr>
        <p:spPr>
          <a:xfrm>
            <a:off x="548640" y="3337560"/>
            <a:ext cx="5440680" cy="2514600"/>
          </a:xfrm>
          <a:prstGeom prst="roundRect">
            <a:avLst>
              <a:gd name="adj" fmla="val 3273"/>
            </a:avLst>
          </a:prstGeom>
          <a:solidFill>
            <a:srgbClr val="EAF4EE"/>
          </a:solidFill>
          <a:ln/>
          <a:effectLst>
            <a:outerShdw sx="100000" sy="100000" kx="0" ky="0" algn="bl" rotWithShape="0" blurRad="88900" dist="38100" dir="5400000">
              <a:srgbClr val="000000">
                <a:alpha val="13000"/>
              </a:srgbClr>
            </a:outerShdw>
          </a:effectLst>
        </p:spPr>
      </p:sp>
      <p:sp>
        <p:nvSpPr>
          <p:cNvPr id="10" name="Shape 7"/>
          <p:cNvSpPr/>
          <p:nvPr/>
        </p:nvSpPr>
        <p:spPr>
          <a:xfrm>
            <a:off x="822960" y="3611880"/>
            <a:ext cx="548640" cy="548640"/>
          </a:xfrm>
          <a:prstGeom prst="ellipse">
            <a:avLst/>
          </a:prstGeom>
          <a:solidFill>
            <a:srgbClr val="3E9C6B"/>
          </a:solidFill>
          <a:ln/>
        </p:spPr>
      </p:sp>
      <p:pic>
        <p:nvPicPr>
          <p:cNvPr id="11" name="Image 1" descr="preencoded.png">    </p:cNvPr>
          <p:cNvPicPr>
            <a:picLocks noChangeAspect="1"/>
          </p:cNvPicPr>
          <p:nvPr/>
        </p:nvPicPr>
        <p:blipFill>
          <a:blip r:embed="rId2"/>
          <a:stretch>
            <a:fillRect/>
          </a:stretch>
        </p:blipFill>
        <p:spPr>
          <a:xfrm>
            <a:off x="971093" y="3760013"/>
            <a:ext cx="252374" cy="252374"/>
          </a:xfrm>
          <a:prstGeom prst="rect">
            <a:avLst/>
          </a:prstGeom>
        </p:spPr>
      </p:pic>
      <p:sp>
        <p:nvSpPr>
          <p:cNvPr id="12" name="Text 8"/>
          <p:cNvSpPr/>
          <p:nvPr/>
        </p:nvSpPr>
        <p:spPr>
          <a:xfrm>
            <a:off x="1508760" y="3657600"/>
            <a:ext cx="4206240" cy="457200"/>
          </a:xfrm>
          <a:prstGeom prst="rect">
            <a:avLst/>
          </a:prstGeom>
          <a:noFill/>
          <a:ln/>
        </p:spPr>
        <p:txBody>
          <a:bodyPr wrap="square" lIns="0" tIns="0" rIns="0" bIns="0" rtlCol="0" anchor="ctr"/>
          <a:lstStyle/>
          <a:p>
            <a:pPr indent="0" marL="0">
              <a:buNone/>
            </a:pPr>
            <a:r>
              <a:rPr lang="en-US" sz="2000" b="1" dirty="0">
                <a:solidFill>
                  <a:srgbClr val="3E9C6B"/>
                </a:solidFill>
                <a:latin typeface="Calibri" pitchFamily="34" charset="0"/>
                <a:ea typeface="Calibri" pitchFamily="34" charset="-122"/>
                <a:cs typeface="Calibri" pitchFamily="34" charset="-120"/>
              </a:rPr>
              <a:t>Permissive</a:t>
            </a:r>
            <a:endParaRPr lang="en-US" sz="2000" dirty="0"/>
          </a:p>
        </p:txBody>
      </p:sp>
      <p:sp>
        <p:nvSpPr>
          <p:cNvPr id="13" name="Text 9"/>
          <p:cNvSpPr/>
          <p:nvPr/>
        </p:nvSpPr>
        <p:spPr>
          <a:xfrm>
            <a:off x="896112" y="4343400"/>
            <a:ext cx="4892040" cy="1371600"/>
          </a:xfrm>
          <a:prstGeom prst="rect">
            <a:avLst/>
          </a:prstGeom>
          <a:noFill/>
          <a:ln/>
        </p:spPr>
        <p:txBody>
          <a:bodyPr wrap="square" lIns="0" tIns="0" rIns="0" bIns="0" rtlCol="0" anchor="t"/>
          <a:lstStyle/>
          <a:p>
            <a:pPr indent="0" marL="0">
              <a:lnSpc>
                <a:spcPct val="105000"/>
              </a:lnSpc>
              <a:buNone/>
            </a:pPr>
            <a:r>
              <a:rPr lang="en-US" sz="1550" dirty="0">
                <a:solidFill>
                  <a:srgbClr val="1E2A36"/>
                </a:solidFill>
                <a:latin typeface="Calibri" pitchFamily="34" charset="0"/>
                <a:ea typeface="Calibri" pitchFamily="34" charset="-122"/>
                <a:cs typeface="Calibri" pitchFamily="34" charset="-120"/>
              </a:rPr>
              <a:t>MIT, Apache-2.0, BSD — "do almost anything, just keep my copyright notice."  Maximizes adoption.</a:t>
            </a:r>
            <a:endParaRPr lang="en-US" sz="1550" dirty="0"/>
          </a:p>
        </p:txBody>
      </p:sp>
      <p:sp>
        <p:nvSpPr>
          <p:cNvPr id="14" name="Shape 10"/>
          <p:cNvSpPr/>
          <p:nvPr/>
        </p:nvSpPr>
        <p:spPr>
          <a:xfrm>
            <a:off x="6172200" y="3337560"/>
            <a:ext cx="5440680" cy="2514600"/>
          </a:xfrm>
          <a:prstGeom prst="roundRect">
            <a:avLst>
              <a:gd name="adj" fmla="val 3273"/>
            </a:avLst>
          </a:prstGeom>
          <a:solidFill>
            <a:srgbClr val="E9F0F4"/>
          </a:solidFill>
          <a:ln/>
          <a:effectLst>
            <a:outerShdw sx="100000" sy="100000" kx="0" ky="0" algn="bl" rotWithShape="0" blurRad="88900" dist="38100" dir="5400000">
              <a:srgbClr val="000000">
                <a:alpha val="13000"/>
              </a:srgbClr>
            </a:outerShdw>
          </a:effectLst>
        </p:spPr>
      </p:sp>
      <p:sp>
        <p:nvSpPr>
          <p:cNvPr id="15" name="Shape 11"/>
          <p:cNvSpPr/>
          <p:nvPr/>
        </p:nvSpPr>
        <p:spPr>
          <a:xfrm>
            <a:off x="6446520" y="3611880"/>
            <a:ext cx="548640" cy="548640"/>
          </a:xfrm>
          <a:prstGeom prst="ellipse">
            <a:avLst/>
          </a:prstGeom>
          <a:solidFill>
            <a:srgbClr val="12908F"/>
          </a:solidFill>
          <a:ln/>
        </p:spPr>
      </p:sp>
      <p:pic>
        <p:nvPicPr>
          <p:cNvPr id="16" name="Image 2" descr="preencoded.png">    </p:cNvPr>
          <p:cNvPicPr>
            <a:picLocks noChangeAspect="1"/>
          </p:cNvPicPr>
          <p:nvPr/>
        </p:nvPicPr>
        <p:blipFill>
          <a:blip r:embed="rId3"/>
          <a:stretch>
            <a:fillRect/>
          </a:stretch>
        </p:blipFill>
        <p:spPr>
          <a:xfrm>
            <a:off x="6594653" y="3760013"/>
            <a:ext cx="252374" cy="252374"/>
          </a:xfrm>
          <a:prstGeom prst="rect">
            <a:avLst/>
          </a:prstGeom>
        </p:spPr>
      </p:pic>
      <p:sp>
        <p:nvSpPr>
          <p:cNvPr id="17" name="Text 12"/>
          <p:cNvSpPr/>
          <p:nvPr/>
        </p:nvSpPr>
        <p:spPr>
          <a:xfrm>
            <a:off x="7132320" y="3657600"/>
            <a:ext cx="4206240" cy="457200"/>
          </a:xfrm>
          <a:prstGeom prst="rect">
            <a:avLst/>
          </a:prstGeom>
          <a:noFill/>
          <a:ln/>
        </p:spPr>
        <p:txBody>
          <a:bodyPr wrap="square" lIns="0" tIns="0" rIns="0" bIns="0" rtlCol="0" anchor="ctr"/>
          <a:lstStyle/>
          <a:p>
            <a:pPr indent="0" marL="0">
              <a:buNone/>
            </a:pPr>
            <a:r>
              <a:rPr lang="en-US" sz="2000" b="1" dirty="0">
                <a:solidFill>
                  <a:srgbClr val="0E6E6D"/>
                </a:solidFill>
                <a:latin typeface="Calibri" pitchFamily="34" charset="0"/>
                <a:ea typeface="Calibri" pitchFamily="34" charset="-122"/>
                <a:cs typeface="Calibri" pitchFamily="34" charset="-120"/>
              </a:rPr>
              <a:t>Copyleft</a:t>
            </a:r>
            <a:endParaRPr lang="en-US" sz="2000" dirty="0"/>
          </a:p>
        </p:txBody>
      </p:sp>
      <p:sp>
        <p:nvSpPr>
          <p:cNvPr id="18" name="Text 13"/>
          <p:cNvSpPr/>
          <p:nvPr/>
        </p:nvSpPr>
        <p:spPr>
          <a:xfrm>
            <a:off x="6519672" y="4343400"/>
            <a:ext cx="4892040" cy="1371600"/>
          </a:xfrm>
          <a:prstGeom prst="rect">
            <a:avLst/>
          </a:prstGeom>
          <a:noFill/>
          <a:ln/>
        </p:spPr>
        <p:txBody>
          <a:bodyPr wrap="square" lIns="0" tIns="0" rIns="0" bIns="0" rtlCol="0" anchor="t"/>
          <a:lstStyle/>
          <a:p>
            <a:pPr indent="0" marL="0">
              <a:lnSpc>
                <a:spcPct val="105000"/>
              </a:lnSpc>
              <a:buNone/>
            </a:pPr>
            <a:r>
              <a:rPr lang="en-US" sz="1550" dirty="0">
                <a:solidFill>
                  <a:srgbClr val="1E2A36"/>
                </a:solidFill>
                <a:latin typeface="Calibri" pitchFamily="34" charset="0"/>
                <a:ea typeface="Calibri" pitchFamily="34" charset="-122"/>
                <a:cs typeface="Calibri" pitchFamily="34" charset="-120"/>
              </a:rPr>
              <a:t>GPL, AGPL, LGPL — "use and modify freely, but keep derivatives open under the same license."  Keeps the ecosystem open.</a:t>
            </a:r>
            <a:endParaRPr lang="en-US" sz="1550" dirty="0"/>
          </a:p>
        </p:txBody>
      </p:sp>
      <p:sp>
        <p:nvSpPr>
          <p:cNvPr id="19" name="Text 14"/>
          <p:cNvSpPr/>
          <p:nvPr/>
        </p:nvSpPr>
        <p:spPr>
          <a:xfrm>
            <a:off x="7132320" y="6437376"/>
            <a:ext cx="44805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3 · Open Source &amp; Licensing</a:t>
            </a:r>
            <a:endParaRPr lang="en-US" sz="1000" dirty="0"/>
          </a:p>
        </p:txBody>
      </p:sp>
      <p:sp>
        <p:nvSpPr>
          <p:cNvPr id="20" name="Text 15"/>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HOW TO READ ANY LICENSE</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Permissions · Conditions · Limitations</a:t>
            </a:r>
            <a:endParaRPr lang="en-US" sz="3100" dirty="0"/>
          </a:p>
        </p:txBody>
      </p:sp>
      <p:sp>
        <p:nvSpPr>
          <p:cNvPr id="5" name="Shape 3"/>
          <p:cNvSpPr/>
          <p:nvPr/>
        </p:nvSpPr>
        <p:spPr>
          <a:xfrm>
            <a:off x="548640" y="1965960"/>
            <a:ext cx="3611880" cy="3703320"/>
          </a:xfrm>
          <a:prstGeom prst="roundRect">
            <a:avLst>
              <a:gd name="adj" fmla="val 2278"/>
            </a:avLst>
          </a:prstGeom>
          <a:solidFill>
            <a:srgbClr val="F2F6F8"/>
          </a:solidFill>
          <a:ln/>
          <a:effectLst>
            <a:outerShdw sx="100000" sy="100000" kx="0" ky="0" algn="bl" rotWithShape="0" blurRad="88900" dist="38100" dir="5400000">
              <a:srgbClr val="000000">
                <a:alpha val="13000"/>
              </a:srgbClr>
            </a:outerShdw>
          </a:effectLst>
        </p:spPr>
      </p:sp>
      <p:sp>
        <p:nvSpPr>
          <p:cNvPr id="6" name="Shape 4"/>
          <p:cNvSpPr/>
          <p:nvPr/>
        </p:nvSpPr>
        <p:spPr>
          <a:xfrm>
            <a:off x="804672" y="2194560"/>
            <a:ext cx="585216" cy="585216"/>
          </a:xfrm>
          <a:prstGeom prst="ellipse">
            <a:avLst/>
          </a:prstGeom>
          <a:solidFill>
            <a:srgbClr val="3E9C6B"/>
          </a:solidFill>
          <a:ln/>
        </p:spPr>
      </p:sp>
      <p:pic>
        <p:nvPicPr>
          <p:cNvPr id="7" name="Image 0" descr="preencoded.png">    </p:cNvPr>
          <p:cNvPicPr>
            <a:picLocks noChangeAspect="1"/>
          </p:cNvPicPr>
          <p:nvPr/>
        </p:nvPicPr>
        <p:blipFill>
          <a:blip r:embed="rId1"/>
          <a:stretch>
            <a:fillRect/>
          </a:stretch>
        </p:blipFill>
        <p:spPr>
          <a:xfrm>
            <a:off x="962680" y="2352568"/>
            <a:ext cx="269199" cy="269199"/>
          </a:xfrm>
          <a:prstGeom prst="rect">
            <a:avLst/>
          </a:prstGeom>
        </p:spPr>
      </p:pic>
      <p:sp>
        <p:nvSpPr>
          <p:cNvPr id="8" name="Text 5"/>
          <p:cNvSpPr/>
          <p:nvPr/>
        </p:nvSpPr>
        <p:spPr>
          <a:xfrm>
            <a:off x="1508760" y="2240280"/>
            <a:ext cx="2514600" cy="502920"/>
          </a:xfrm>
          <a:prstGeom prst="rect">
            <a:avLst/>
          </a:prstGeom>
          <a:noFill/>
          <a:ln/>
        </p:spPr>
        <p:txBody>
          <a:bodyPr wrap="square" lIns="0" tIns="0" rIns="0" bIns="0" rtlCol="0" anchor="ctr"/>
          <a:lstStyle/>
          <a:p>
            <a:pPr indent="0" marL="0">
              <a:buNone/>
            </a:pPr>
            <a:r>
              <a:rPr lang="en-US" sz="1900" b="1" dirty="0">
                <a:solidFill>
                  <a:srgbClr val="3E9C6B"/>
                </a:solidFill>
                <a:latin typeface="Calibri" pitchFamily="34" charset="0"/>
                <a:ea typeface="Calibri" pitchFamily="34" charset="-122"/>
                <a:cs typeface="Calibri" pitchFamily="34" charset="-120"/>
              </a:rPr>
              <a:t>Permissions</a:t>
            </a:r>
            <a:endParaRPr lang="en-US" sz="1900" dirty="0"/>
          </a:p>
        </p:txBody>
      </p:sp>
      <p:sp>
        <p:nvSpPr>
          <p:cNvPr id="9" name="Text 6"/>
          <p:cNvSpPr/>
          <p:nvPr/>
        </p:nvSpPr>
        <p:spPr>
          <a:xfrm>
            <a:off x="822960" y="2880360"/>
            <a:ext cx="3063240" cy="320040"/>
          </a:xfrm>
          <a:prstGeom prst="rect">
            <a:avLst/>
          </a:prstGeom>
          <a:noFill/>
          <a:ln/>
        </p:spPr>
        <p:txBody>
          <a:bodyPr wrap="square" lIns="0" tIns="0" rIns="0" bIns="0" rtlCol="0" anchor="ctr"/>
          <a:lstStyle/>
          <a:p>
            <a:pPr indent="0" marL="0">
              <a:buNone/>
            </a:pPr>
            <a:r>
              <a:rPr lang="en-US" sz="1350" i="1" dirty="0">
                <a:solidFill>
                  <a:srgbClr val="5F7284"/>
                </a:solidFill>
                <a:latin typeface="Calibri" pitchFamily="34" charset="0"/>
                <a:ea typeface="Calibri" pitchFamily="34" charset="-122"/>
                <a:cs typeface="Calibri" pitchFamily="34" charset="-120"/>
              </a:rPr>
              <a:t>What you may do</a:t>
            </a:r>
            <a:endParaRPr lang="en-US" sz="1350" dirty="0"/>
          </a:p>
        </p:txBody>
      </p:sp>
      <p:sp>
        <p:nvSpPr>
          <p:cNvPr id="10" name="Text 7"/>
          <p:cNvSpPr/>
          <p:nvPr/>
        </p:nvSpPr>
        <p:spPr>
          <a:xfrm>
            <a:off x="841248" y="3246120"/>
            <a:ext cx="3044952" cy="2286000"/>
          </a:xfrm>
          <a:prstGeom prst="rect">
            <a:avLst/>
          </a:prstGeom>
          <a:noFill/>
          <a:ln/>
        </p:spPr>
        <p:txBody>
          <a:bodyPr wrap="square" lIns="0" tIns="0" rIns="0" bIns="0" rtlCol="0" anchor="t"/>
          <a:lstStyle/>
          <a:p>
            <a:pPr marL="190500" indent="-190500">
              <a:lnSpc>
                <a:spcPct val="103000"/>
              </a:lnSpc>
              <a:spcAft>
                <a:spcPts val="1100"/>
              </a:spcAft>
              <a:buSzPct val="100000"/>
              <a:buChar char="•"/>
            </a:pPr>
            <a:r>
              <a:rPr lang="en-US" sz="1500" dirty="0">
                <a:solidFill>
                  <a:srgbClr val="1E2A36"/>
                </a:solidFill>
                <a:latin typeface="Calibri" pitchFamily="34" charset="0"/>
                <a:ea typeface="Calibri" pitchFamily="34" charset="-122"/>
                <a:cs typeface="Calibri" pitchFamily="34" charset="-120"/>
              </a:rPr>
              <a:t>Commercial use</a:t>
            </a:r>
            <a:endParaRPr lang="en-US" sz="1500" dirty="0"/>
          </a:p>
          <a:p>
            <a:pPr marL="190500" indent="-190500">
              <a:lnSpc>
                <a:spcPct val="103000"/>
              </a:lnSpc>
              <a:spcAft>
                <a:spcPts val="1100"/>
              </a:spcAft>
              <a:buSzPct val="100000"/>
              <a:buChar char="•"/>
            </a:pPr>
            <a:r>
              <a:rPr lang="en-US" sz="1500" dirty="0">
                <a:solidFill>
                  <a:srgbClr val="1E2A36"/>
                </a:solidFill>
                <a:latin typeface="Calibri" pitchFamily="34" charset="0"/>
                <a:ea typeface="Calibri" pitchFamily="34" charset="-122"/>
                <a:cs typeface="Calibri" pitchFamily="34" charset="-120"/>
              </a:rPr>
              <a:t>Modify</a:t>
            </a:r>
            <a:endParaRPr lang="en-US" sz="1500" dirty="0"/>
          </a:p>
          <a:p>
            <a:pPr marL="190500" indent="-190500">
              <a:lnSpc>
                <a:spcPct val="103000"/>
              </a:lnSpc>
              <a:spcAft>
                <a:spcPts val="1100"/>
              </a:spcAft>
              <a:buSzPct val="100000"/>
              <a:buChar char="•"/>
            </a:pPr>
            <a:r>
              <a:rPr lang="en-US" sz="1500" dirty="0">
                <a:solidFill>
                  <a:srgbClr val="1E2A36"/>
                </a:solidFill>
                <a:latin typeface="Calibri" pitchFamily="34" charset="0"/>
                <a:ea typeface="Calibri" pitchFamily="34" charset="-122"/>
                <a:cs typeface="Calibri" pitchFamily="34" charset="-120"/>
              </a:rPr>
              <a:t>Distribute</a:t>
            </a:r>
            <a:endParaRPr lang="en-US" sz="1500" dirty="0"/>
          </a:p>
          <a:p>
            <a:pPr marL="190500" indent="-190500">
              <a:lnSpc>
                <a:spcPct val="103000"/>
              </a:lnSpc>
              <a:spcAft>
                <a:spcPts val="1100"/>
              </a:spcAft>
              <a:buSzPct val="100000"/>
              <a:buChar char="•"/>
            </a:pPr>
            <a:r>
              <a:rPr lang="en-US" sz="1500" dirty="0">
                <a:solidFill>
                  <a:srgbClr val="1E2A36"/>
                </a:solidFill>
                <a:latin typeface="Calibri" pitchFamily="34" charset="0"/>
                <a:ea typeface="Calibri" pitchFamily="34" charset="-122"/>
                <a:cs typeface="Calibri" pitchFamily="34" charset="-120"/>
              </a:rPr>
              <a:t>Private use</a:t>
            </a:r>
            <a:endParaRPr lang="en-US" sz="1500" dirty="0"/>
          </a:p>
        </p:txBody>
      </p:sp>
      <p:sp>
        <p:nvSpPr>
          <p:cNvPr id="11" name="Shape 8"/>
          <p:cNvSpPr/>
          <p:nvPr/>
        </p:nvSpPr>
        <p:spPr>
          <a:xfrm>
            <a:off x="4279392" y="1965960"/>
            <a:ext cx="3611880" cy="3703320"/>
          </a:xfrm>
          <a:prstGeom prst="roundRect">
            <a:avLst>
              <a:gd name="adj" fmla="val 2278"/>
            </a:avLst>
          </a:prstGeom>
          <a:solidFill>
            <a:srgbClr val="F2F6F8"/>
          </a:solidFill>
          <a:ln/>
          <a:effectLst>
            <a:outerShdw sx="100000" sy="100000" kx="0" ky="0" algn="bl" rotWithShape="0" blurRad="88900" dist="38100" dir="5400000">
              <a:srgbClr val="000000">
                <a:alpha val="13000"/>
              </a:srgbClr>
            </a:outerShdw>
          </a:effectLst>
        </p:spPr>
      </p:sp>
      <p:sp>
        <p:nvSpPr>
          <p:cNvPr id="12" name="Shape 9"/>
          <p:cNvSpPr/>
          <p:nvPr/>
        </p:nvSpPr>
        <p:spPr>
          <a:xfrm>
            <a:off x="4535424" y="2194560"/>
            <a:ext cx="585216" cy="585216"/>
          </a:xfrm>
          <a:prstGeom prst="ellipse">
            <a:avLst/>
          </a:prstGeom>
          <a:solidFill>
            <a:srgbClr val="12908F"/>
          </a:solidFill>
          <a:ln/>
        </p:spPr>
      </p:sp>
      <p:pic>
        <p:nvPicPr>
          <p:cNvPr id="13" name="Image 1" descr="preencoded.png">    </p:cNvPr>
          <p:cNvPicPr>
            <a:picLocks noChangeAspect="1"/>
          </p:cNvPicPr>
          <p:nvPr/>
        </p:nvPicPr>
        <p:blipFill>
          <a:blip r:embed="rId2"/>
          <a:stretch>
            <a:fillRect/>
          </a:stretch>
        </p:blipFill>
        <p:spPr>
          <a:xfrm>
            <a:off x="4693432" y="2352568"/>
            <a:ext cx="269199" cy="269199"/>
          </a:xfrm>
          <a:prstGeom prst="rect">
            <a:avLst/>
          </a:prstGeom>
        </p:spPr>
      </p:pic>
      <p:sp>
        <p:nvSpPr>
          <p:cNvPr id="14" name="Text 10"/>
          <p:cNvSpPr/>
          <p:nvPr/>
        </p:nvSpPr>
        <p:spPr>
          <a:xfrm>
            <a:off x="5239512" y="2240280"/>
            <a:ext cx="2514600" cy="502920"/>
          </a:xfrm>
          <a:prstGeom prst="rect">
            <a:avLst/>
          </a:prstGeom>
          <a:noFill/>
          <a:ln/>
        </p:spPr>
        <p:txBody>
          <a:bodyPr wrap="square" lIns="0" tIns="0" rIns="0" bIns="0" rtlCol="0" anchor="ctr"/>
          <a:lstStyle/>
          <a:p>
            <a:pPr indent="0" marL="0">
              <a:buNone/>
            </a:pPr>
            <a:r>
              <a:rPr lang="en-US" sz="1900" b="1" dirty="0">
                <a:solidFill>
                  <a:srgbClr val="12908F"/>
                </a:solidFill>
                <a:latin typeface="Calibri" pitchFamily="34" charset="0"/>
                <a:ea typeface="Calibri" pitchFamily="34" charset="-122"/>
                <a:cs typeface="Calibri" pitchFamily="34" charset="-120"/>
              </a:rPr>
              <a:t>Conditions</a:t>
            </a:r>
            <a:endParaRPr lang="en-US" sz="1900" dirty="0"/>
          </a:p>
        </p:txBody>
      </p:sp>
      <p:sp>
        <p:nvSpPr>
          <p:cNvPr id="15" name="Text 11"/>
          <p:cNvSpPr/>
          <p:nvPr/>
        </p:nvSpPr>
        <p:spPr>
          <a:xfrm>
            <a:off x="4553712" y="2880360"/>
            <a:ext cx="3063240" cy="320040"/>
          </a:xfrm>
          <a:prstGeom prst="rect">
            <a:avLst/>
          </a:prstGeom>
          <a:noFill/>
          <a:ln/>
        </p:spPr>
        <p:txBody>
          <a:bodyPr wrap="square" lIns="0" tIns="0" rIns="0" bIns="0" rtlCol="0" anchor="ctr"/>
          <a:lstStyle/>
          <a:p>
            <a:pPr indent="0" marL="0">
              <a:buNone/>
            </a:pPr>
            <a:r>
              <a:rPr lang="en-US" sz="1350" i="1" dirty="0">
                <a:solidFill>
                  <a:srgbClr val="5F7284"/>
                </a:solidFill>
                <a:latin typeface="Calibri" pitchFamily="34" charset="0"/>
                <a:ea typeface="Calibri" pitchFamily="34" charset="-122"/>
                <a:cs typeface="Calibri" pitchFamily="34" charset="-120"/>
              </a:rPr>
              <a:t>What you must do</a:t>
            </a:r>
            <a:endParaRPr lang="en-US" sz="1350" dirty="0"/>
          </a:p>
        </p:txBody>
      </p:sp>
      <p:sp>
        <p:nvSpPr>
          <p:cNvPr id="16" name="Text 12"/>
          <p:cNvSpPr/>
          <p:nvPr/>
        </p:nvSpPr>
        <p:spPr>
          <a:xfrm>
            <a:off x="4572000" y="3246120"/>
            <a:ext cx="3044952" cy="2286000"/>
          </a:xfrm>
          <a:prstGeom prst="rect">
            <a:avLst/>
          </a:prstGeom>
          <a:noFill/>
          <a:ln/>
        </p:spPr>
        <p:txBody>
          <a:bodyPr wrap="square" lIns="0" tIns="0" rIns="0" bIns="0" rtlCol="0" anchor="t"/>
          <a:lstStyle/>
          <a:p>
            <a:pPr marL="190500" indent="-190500">
              <a:lnSpc>
                <a:spcPct val="103000"/>
              </a:lnSpc>
              <a:spcAft>
                <a:spcPts val="1100"/>
              </a:spcAft>
              <a:buSzPct val="100000"/>
              <a:buChar char="•"/>
            </a:pPr>
            <a:r>
              <a:rPr lang="en-US" sz="1500" dirty="0">
                <a:solidFill>
                  <a:srgbClr val="1E2A36"/>
                </a:solidFill>
                <a:latin typeface="Calibri" pitchFamily="34" charset="0"/>
                <a:ea typeface="Calibri" pitchFamily="34" charset="-122"/>
                <a:cs typeface="Calibri" pitchFamily="34" charset="-120"/>
              </a:rPr>
              <a:t>Include license &amp; copyright notice</a:t>
            </a:r>
            <a:endParaRPr lang="en-US" sz="1500" dirty="0"/>
          </a:p>
          <a:p>
            <a:pPr marL="190500" indent="-190500">
              <a:lnSpc>
                <a:spcPct val="103000"/>
              </a:lnSpc>
              <a:spcAft>
                <a:spcPts val="1100"/>
              </a:spcAft>
              <a:buSzPct val="100000"/>
              <a:buChar char="•"/>
            </a:pPr>
            <a:r>
              <a:rPr lang="en-US" sz="1500" dirty="0">
                <a:solidFill>
                  <a:srgbClr val="1E2A36"/>
                </a:solidFill>
                <a:latin typeface="Calibri" pitchFamily="34" charset="0"/>
                <a:ea typeface="Calibri" pitchFamily="34" charset="-122"/>
                <a:cs typeface="Calibri" pitchFamily="34" charset="-120"/>
              </a:rPr>
              <a:t>Copyleft: disclose source + same license</a:t>
            </a:r>
            <a:endParaRPr lang="en-US" sz="1500" dirty="0"/>
          </a:p>
          <a:p>
            <a:pPr marL="190500" indent="-190500">
              <a:lnSpc>
                <a:spcPct val="103000"/>
              </a:lnSpc>
              <a:spcAft>
                <a:spcPts val="1100"/>
              </a:spcAft>
              <a:buSzPct val="100000"/>
              <a:buChar char="•"/>
            </a:pPr>
            <a:r>
              <a:rPr lang="en-US" sz="1500" dirty="0">
                <a:solidFill>
                  <a:srgbClr val="1E2A36"/>
                </a:solidFill>
                <a:latin typeface="Calibri" pitchFamily="34" charset="0"/>
                <a:ea typeface="Calibri" pitchFamily="34" charset="-122"/>
                <a:cs typeface="Calibri" pitchFamily="34" charset="-120"/>
              </a:rPr>
              <a:t>Apache: state your changes</a:t>
            </a:r>
            <a:endParaRPr lang="en-US" sz="1500" dirty="0"/>
          </a:p>
        </p:txBody>
      </p:sp>
      <p:sp>
        <p:nvSpPr>
          <p:cNvPr id="17" name="Shape 13"/>
          <p:cNvSpPr/>
          <p:nvPr/>
        </p:nvSpPr>
        <p:spPr>
          <a:xfrm>
            <a:off x="8010144" y="1965960"/>
            <a:ext cx="3611880" cy="3703320"/>
          </a:xfrm>
          <a:prstGeom prst="roundRect">
            <a:avLst>
              <a:gd name="adj" fmla="val 2278"/>
            </a:avLst>
          </a:prstGeom>
          <a:solidFill>
            <a:srgbClr val="F2F6F8"/>
          </a:solidFill>
          <a:ln/>
          <a:effectLst>
            <a:outerShdw sx="100000" sy="100000" kx="0" ky="0" algn="bl" rotWithShape="0" blurRad="88900" dist="38100" dir="5400000">
              <a:srgbClr val="000000">
                <a:alpha val="13000"/>
              </a:srgbClr>
            </a:outerShdw>
          </a:effectLst>
        </p:spPr>
      </p:sp>
      <p:sp>
        <p:nvSpPr>
          <p:cNvPr id="18" name="Shape 14"/>
          <p:cNvSpPr/>
          <p:nvPr/>
        </p:nvSpPr>
        <p:spPr>
          <a:xfrm>
            <a:off x="8266176" y="2194560"/>
            <a:ext cx="585216" cy="585216"/>
          </a:xfrm>
          <a:prstGeom prst="ellipse">
            <a:avLst/>
          </a:prstGeom>
          <a:solidFill>
            <a:srgbClr val="D9614C"/>
          </a:solidFill>
          <a:ln/>
        </p:spPr>
      </p:sp>
      <p:pic>
        <p:nvPicPr>
          <p:cNvPr id="19" name="Image 2" descr="preencoded.png">    </p:cNvPr>
          <p:cNvPicPr>
            <a:picLocks noChangeAspect="1"/>
          </p:cNvPicPr>
          <p:nvPr/>
        </p:nvPicPr>
        <p:blipFill>
          <a:blip r:embed="rId3"/>
          <a:stretch>
            <a:fillRect/>
          </a:stretch>
        </p:blipFill>
        <p:spPr>
          <a:xfrm>
            <a:off x="8424184" y="2352568"/>
            <a:ext cx="269199" cy="269199"/>
          </a:xfrm>
          <a:prstGeom prst="rect">
            <a:avLst/>
          </a:prstGeom>
        </p:spPr>
      </p:pic>
      <p:sp>
        <p:nvSpPr>
          <p:cNvPr id="20" name="Text 15"/>
          <p:cNvSpPr/>
          <p:nvPr/>
        </p:nvSpPr>
        <p:spPr>
          <a:xfrm>
            <a:off x="8970264" y="2240280"/>
            <a:ext cx="2514600" cy="502920"/>
          </a:xfrm>
          <a:prstGeom prst="rect">
            <a:avLst/>
          </a:prstGeom>
          <a:noFill/>
          <a:ln/>
        </p:spPr>
        <p:txBody>
          <a:bodyPr wrap="square" lIns="0" tIns="0" rIns="0" bIns="0" rtlCol="0" anchor="ctr"/>
          <a:lstStyle/>
          <a:p>
            <a:pPr indent="0" marL="0">
              <a:buNone/>
            </a:pPr>
            <a:r>
              <a:rPr lang="en-US" sz="1900" b="1" dirty="0">
                <a:solidFill>
                  <a:srgbClr val="D9614C"/>
                </a:solidFill>
                <a:latin typeface="Calibri" pitchFamily="34" charset="0"/>
                <a:ea typeface="Calibri" pitchFamily="34" charset="-122"/>
                <a:cs typeface="Calibri" pitchFamily="34" charset="-120"/>
              </a:rPr>
              <a:t>Limitations</a:t>
            </a:r>
            <a:endParaRPr lang="en-US" sz="1900" dirty="0"/>
          </a:p>
        </p:txBody>
      </p:sp>
      <p:sp>
        <p:nvSpPr>
          <p:cNvPr id="21" name="Text 16"/>
          <p:cNvSpPr/>
          <p:nvPr/>
        </p:nvSpPr>
        <p:spPr>
          <a:xfrm>
            <a:off x="8284464" y="2880360"/>
            <a:ext cx="3063240" cy="320040"/>
          </a:xfrm>
          <a:prstGeom prst="rect">
            <a:avLst/>
          </a:prstGeom>
          <a:noFill/>
          <a:ln/>
        </p:spPr>
        <p:txBody>
          <a:bodyPr wrap="square" lIns="0" tIns="0" rIns="0" bIns="0" rtlCol="0" anchor="ctr"/>
          <a:lstStyle/>
          <a:p>
            <a:pPr indent="0" marL="0">
              <a:buNone/>
            </a:pPr>
            <a:r>
              <a:rPr lang="en-US" sz="1350" i="1" dirty="0">
                <a:solidFill>
                  <a:srgbClr val="5F7284"/>
                </a:solidFill>
                <a:latin typeface="Calibri" pitchFamily="34" charset="0"/>
                <a:ea typeface="Calibri" pitchFamily="34" charset="-122"/>
                <a:cs typeface="Calibri" pitchFamily="34" charset="-120"/>
              </a:rPr>
              <a:t>What's not granted</a:t>
            </a:r>
            <a:endParaRPr lang="en-US" sz="1350" dirty="0"/>
          </a:p>
        </p:txBody>
      </p:sp>
      <p:sp>
        <p:nvSpPr>
          <p:cNvPr id="22" name="Text 17"/>
          <p:cNvSpPr/>
          <p:nvPr/>
        </p:nvSpPr>
        <p:spPr>
          <a:xfrm>
            <a:off x="8302752" y="3246120"/>
            <a:ext cx="3044952" cy="2286000"/>
          </a:xfrm>
          <a:prstGeom prst="rect">
            <a:avLst/>
          </a:prstGeom>
          <a:noFill/>
          <a:ln/>
        </p:spPr>
        <p:txBody>
          <a:bodyPr wrap="square" lIns="0" tIns="0" rIns="0" bIns="0" rtlCol="0" anchor="t"/>
          <a:lstStyle/>
          <a:p>
            <a:pPr marL="190500" indent="-190500">
              <a:lnSpc>
                <a:spcPct val="103000"/>
              </a:lnSpc>
              <a:spcAft>
                <a:spcPts val="1100"/>
              </a:spcAft>
              <a:buSzPct val="100000"/>
              <a:buChar char="•"/>
            </a:pPr>
            <a:r>
              <a:rPr lang="en-US" sz="1500" dirty="0">
                <a:solidFill>
                  <a:srgbClr val="1E2A36"/>
                </a:solidFill>
                <a:latin typeface="Calibri" pitchFamily="34" charset="0"/>
                <a:ea typeface="Calibri" pitchFamily="34" charset="-122"/>
                <a:cs typeface="Calibri" pitchFamily="34" charset="-120"/>
              </a:rPr>
              <a:t>No liability</a:t>
            </a:r>
            <a:endParaRPr lang="en-US" sz="1500" dirty="0"/>
          </a:p>
          <a:p>
            <a:pPr marL="190500" indent="-190500">
              <a:lnSpc>
                <a:spcPct val="103000"/>
              </a:lnSpc>
              <a:spcAft>
                <a:spcPts val="1100"/>
              </a:spcAft>
              <a:buSzPct val="100000"/>
              <a:buChar char="•"/>
            </a:pPr>
            <a:r>
              <a:rPr lang="en-US" sz="1500" dirty="0">
                <a:solidFill>
                  <a:srgbClr val="1E2A36"/>
                </a:solidFill>
                <a:latin typeface="Calibri" pitchFamily="34" charset="0"/>
                <a:ea typeface="Calibri" pitchFamily="34" charset="-122"/>
                <a:cs typeface="Calibri" pitchFamily="34" charset="-120"/>
              </a:rPr>
              <a:t>No warranty</a:t>
            </a:r>
            <a:endParaRPr lang="en-US" sz="1500" dirty="0"/>
          </a:p>
          <a:p>
            <a:pPr marL="190500" indent="-190500">
              <a:lnSpc>
                <a:spcPct val="103000"/>
              </a:lnSpc>
              <a:spcAft>
                <a:spcPts val="1100"/>
              </a:spcAft>
              <a:buSzPct val="100000"/>
              <a:buChar char="•"/>
            </a:pPr>
            <a:r>
              <a:rPr lang="en-US" sz="1500" dirty="0">
                <a:solidFill>
                  <a:srgbClr val="1E2A36"/>
                </a:solidFill>
                <a:latin typeface="Calibri" pitchFamily="34" charset="0"/>
                <a:ea typeface="Calibri" pitchFamily="34" charset="-122"/>
                <a:cs typeface="Calibri" pitchFamily="34" charset="-120"/>
              </a:rPr>
              <a:t>No trademark rights</a:t>
            </a:r>
            <a:endParaRPr lang="en-US" sz="1500" dirty="0"/>
          </a:p>
        </p:txBody>
      </p:sp>
      <p:sp>
        <p:nvSpPr>
          <p:cNvPr id="23" name="Text 18"/>
          <p:cNvSpPr/>
          <p:nvPr/>
        </p:nvSpPr>
        <p:spPr>
          <a:xfrm>
            <a:off x="548640" y="5852160"/>
            <a:ext cx="11064240" cy="320040"/>
          </a:xfrm>
          <a:prstGeom prst="rect">
            <a:avLst/>
          </a:prstGeom>
          <a:noFill/>
          <a:ln/>
        </p:spPr>
        <p:txBody>
          <a:bodyPr wrap="square" lIns="0" tIns="0" rIns="0" bIns="0" rtlCol="0" anchor="ctr"/>
          <a:lstStyle/>
          <a:p>
            <a:pPr algn="ctr" indent="0" marL="0">
              <a:buNone/>
            </a:pPr>
            <a:r>
              <a:rPr lang="en-US" sz="1350" i="1" dirty="0">
                <a:solidFill>
                  <a:srgbClr val="5F7284"/>
                </a:solidFill>
                <a:latin typeface="Calibri" pitchFamily="34" charset="0"/>
                <a:ea typeface="Calibri" pitchFamily="34" charset="-122"/>
                <a:cs typeface="Calibri" pitchFamily="34" charset="-120"/>
              </a:rPr>
              <a:t>This is exactly how choosealicense.com lays out every license — learn to read the three columns.</a:t>
            </a:r>
            <a:endParaRPr lang="en-US" sz="1350" dirty="0"/>
          </a:p>
        </p:txBody>
      </p:sp>
      <p:sp>
        <p:nvSpPr>
          <p:cNvPr id="24" name="Text 19"/>
          <p:cNvSpPr/>
          <p:nvPr/>
        </p:nvSpPr>
        <p:spPr>
          <a:xfrm>
            <a:off x="7132320" y="6437376"/>
            <a:ext cx="44805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3 · Open Source &amp; Licensing</a:t>
            </a:r>
            <a:endParaRPr lang="en-US" sz="1000" dirty="0"/>
          </a:p>
        </p:txBody>
      </p:sp>
      <p:sp>
        <p:nvSpPr>
          <p:cNvPr id="25" name="Text 20"/>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THE COMMON LICENSES</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Pick for your goal</a:t>
            </a:r>
            <a:endParaRPr lang="en-US" sz="31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11064240" cy="914400"/>
        </p:xfrm>
        <a:graphic>
          <a:graphicData uri="http://schemas.openxmlformats.org/drawingml/2006/table">
            <a:tbl>
              <a:tblPr/>
              <a:tblGrid>
                <a:gridCol w="1737360"/>
                <a:gridCol w="2011680"/>
                <a:gridCol w="2651760"/>
                <a:gridCol w="1737360"/>
                <a:gridCol w="2926080"/>
              </a:tblGrid>
              <a:tr h="777240">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LICENSE</a:t>
                      </a:r>
                      <a:endParaRPr lang="en-US" sz="1250" dirty="0">
                        <a:latin typeface="Calibri" charset="0"/>
                        <a:ea typeface="Calibri" charset="0"/>
                        <a:cs typeface="Calibri" charset="0"/>
                      </a:endParaRPr>
                    </a:p>
                  </a:txBody>
                  <a:tcPr marL="101600" marR="1016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12908F"/>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TYPE</a:t>
                      </a:r>
                      <a:endParaRPr lang="en-US" sz="1250" dirty="0">
                        <a:latin typeface="Calibri" charset="0"/>
                        <a:ea typeface="Calibri" charset="0"/>
                        <a:cs typeface="Calibri" charset="0"/>
                      </a:endParaRPr>
                    </a:p>
                  </a:txBody>
                  <a:tcPr marL="101600" marR="1016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12908F"/>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DERIVATIVES STAY OPEN?</a:t>
                      </a:r>
                      <a:endParaRPr lang="en-US" sz="1250" dirty="0">
                        <a:latin typeface="Calibri" charset="0"/>
                        <a:ea typeface="Calibri" charset="0"/>
                        <a:cs typeface="Calibri" charset="0"/>
                      </a:endParaRPr>
                    </a:p>
                  </a:txBody>
                  <a:tcPr marL="101600" marR="1016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12908F"/>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PATENT GRANT?</a:t>
                      </a:r>
                      <a:endParaRPr lang="en-US" sz="1250" dirty="0">
                        <a:latin typeface="Calibri" charset="0"/>
                        <a:ea typeface="Calibri" charset="0"/>
                        <a:cs typeface="Calibri" charset="0"/>
                      </a:endParaRPr>
                    </a:p>
                  </a:txBody>
                  <a:tcPr marL="101600" marR="1016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12908F"/>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BEST FOR</a:t>
                      </a:r>
                      <a:endParaRPr lang="en-US" sz="1250" dirty="0">
                        <a:latin typeface="Calibri" charset="0"/>
                        <a:ea typeface="Calibri" charset="0"/>
                        <a:cs typeface="Calibri" charset="0"/>
                      </a:endParaRPr>
                    </a:p>
                  </a:txBody>
                  <a:tcPr marL="101600" marR="1016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12908F"/>
                    </a:solidFill>
                  </a:tcPr>
                </a:tc>
              </a:tr>
              <a:tr h="777240">
                <a:tc>
                  <a:txBody>
                    <a:bodyPr/>
                    <a:lstStyle/>
                    <a:p>
                      <a:pPr algn="l" indent="0" marL="0">
                        <a:buNone/>
                      </a:pPr>
                      <a:r>
                        <a:rPr lang="en-US" sz="1400" b="1" dirty="0">
                          <a:solidFill>
                            <a:srgbClr val="0E6E6D"/>
                          </a:solidFill>
                          <a:latin typeface="Calibri" pitchFamily="34" charset="0"/>
                          <a:ea typeface="Calibri" pitchFamily="34" charset="-122"/>
                          <a:cs typeface="Calibri" pitchFamily="34" charset="-120"/>
                        </a:rPr>
                        <a:t>MIT</a:t>
                      </a:r>
                      <a:endParaRPr lang="en-US" sz="1400" dirty="0">
                        <a:latin typeface="Calibri" charset="0"/>
                        <a:ea typeface="Calibri" charset="0"/>
                        <a:cs typeface="Calibri" charset="0"/>
                      </a:endParaRPr>
                    </a:p>
                  </a:txBody>
                  <a:tcPr marL="101600" marR="1016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E2A36"/>
                          </a:solidFill>
                          <a:latin typeface="Calibri" pitchFamily="34" charset="0"/>
                          <a:ea typeface="Calibri" pitchFamily="34" charset="-122"/>
                          <a:cs typeface="Calibri" pitchFamily="34" charset="-120"/>
                        </a:rPr>
                        <a:t>Permissive</a:t>
                      </a:r>
                      <a:endParaRPr lang="en-US" sz="1400" dirty="0">
                        <a:latin typeface="Calibri" charset="0"/>
                        <a:ea typeface="Calibri" charset="0"/>
                        <a:cs typeface="Calibri" charset="0"/>
                      </a:endParaRPr>
                    </a:p>
                  </a:txBody>
                  <a:tcPr marL="101600" marR="1016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E2A36"/>
                          </a:solidFill>
                          <a:latin typeface="Calibri" pitchFamily="34" charset="0"/>
                          <a:ea typeface="Calibri" pitchFamily="34" charset="-122"/>
                          <a:cs typeface="Calibri" pitchFamily="34" charset="-120"/>
                        </a:rPr>
                        <a:t>No</a:t>
                      </a:r>
                      <a:endParaRPr lang="en-US" sz="1400" dirty="0">
                        <a:latin typeface="Calibri" charset="0"/>
                        <a:ea typeface="Calibri" charset="0"/>
                        <a:cs typeface="Calibri" charset="0"/>
                      </a:endParaRPr>
                    </a:p>
                  </a:txBody>
                  <a:tcPr marL="101600" marR="1016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E2A36"/>
                          </a:solidFill>
                          <a:latin typeface="Calibri" pitchFamily="34" charset="0"/>
                          <a:ea typeface="Calibri" pitchFamily="34" charset="-122"/>
                          <a:cs typeface="Calibri" pitchFamily="34" charset="-120"/>
                        </a:rPr>
                        <a:t>No</a:t>
                      </a:r>
                      <a:endParaRPr lang="en-US" sz="1400" dirty="0">
                        <a:latin typeface="Calibri" charset="0"/>
                        <a:ea typeface="Calibri" charset="0"/>
                        <a:cs typeface="Calibri" charset="0"/>
                      </a:endParaRPr>
                    </a:p>
                  </a:txBody>
                  <a:tcPr marL="101600" marR="1016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E2A36"/>
                          </a:solidFill>
                          <a:latin typeface="Calibri" pitchFamily="34" charset="0"/>
                          <a:ea typeface="Calibri" pitchFamily="34" charset="-122"/>
                          <a:cs typeface="Calibri" pitchFamily="34" charset="-120"/>
                        </a:rPr>
                        <a:t>Max adoption, simplicity</a:t>
                      </a:r>
                      <a:endParaRPr lang="en-US" sz="1400" dirty="0">
                        <a:latin typeface="Calibri" charset="0"/>
                        <a:ea typeface="Calibri" charset="0"/>
                        <a:cs typeface="Calibri" charset="0"/>
                      </a:endParaRPr>
                    </a:p>
                  </a:txBody>
                  <a:tcPr marL="101600" marR="1016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r>
              <a:tr h="777240">
                <a:tc>
                  <a:txBody>
                    <a:bodyPr/>
                    <a:lstStyle/>
                    <a:p>
                      <a:pPr algn="l" indent="0" marL="0">
                        <a:buNone/>
                      </a:pPr>
                      <a:r>
                        <a:rPr lang="en-US" sz="1400" b="1" dirty="0">
                          <a:solidFill>
                            <a:srgbClr val="0E6E6D"/>
                          </a:solidFill>
                          <a:latin typeface="Calibri" pitchFamily="34" charset="0"/>
                          <a:ea typeface="Calibri" pitchFamily="34" charset="-122"/>
                          <a:cs typeface="Calibri" pitchFamily="34" charset="-120"/>
                        </a:rPr>
                        <a:t>Apache-2.0</a:t>
                      </a:r>
                      <a:endParaRPr lang="en-US" sz="1400" dirty="0">
                        <a:latin typeface="Calibri" charset="0"/>
                        <a:ea typeface="Calibri" charset="0"/>
                        <a:cs typeface="Calibri" charset="0"/>
                      </a:endParaRPr>
                    </a:p>
                  </a:txBody>
                  <a:tcPr marL="101600" marR="1016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EF3F6"/>
                    </a:solidFill>
                  </a:tcPr>
                </a:tc>
                <a:tc>
                  <a:txBody>
                    <a:bodyPr/>
                    <a:lstStyle/>
                    <a:p>
                      <a:pPr algn="l" indent="0" marL="0">
                        <a:buNone/>
                      </a:pPr>
                      <a:r>
                        <a:rPr lang="en-US" sz="1400" dirty="0">
                          <a:solidFill>
                            <a:srgbClr val="1E2A36"/>
                          </a:solidFill>
                          <a:latin typeface="Calibri" pitchFamily="34" charset="0"/>
                          <a:ea typeface="Calibri" pitchFamily="34" charset="-122"/>
                          <a:cs typeface="Calibri" pitchFamily="34" charset="-120"/>
                        </a:rPr>
                        <a:t>Permissive</a:t>
                      </a:r>
                      <a:endParaRPr lang="en-US" sz="1400" dirty="0">
                        <a:latin typeface="Calibri" charset="0"/>
                        <a:ea typeface="Calibri" charset="0"/>
                        <a:cs typeface="Calibri" charset="0"/>
                      </a:endParaRPr>
                    </a:p>
                  </a:txBody>
                  <a:tcPr marL="101600" marR="1016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EF3F6"/>
                    </a:solidFill>
                  </a:tcPr>
                </a:tc>
                <a:tc>
                  <a:txBody>
                    <a:bodyPr/>
                    <a:lstStyle/>
                    <a:p>
                      <a:pPr algn="ctr" indent="0" marL="0">
                        <a:buNone/>
                      </a:pPr>
                      <a:r>
                        <a:rPr lang="en-US" sz="1400" dirty="0">
                          <a:solidFill>
                            <a:srgbClr val="1E2A36"/>
                          </a:solidFill>
                          <a:latin typeface="Calibri" pitchFamily="34" charset="0"/>
                          <a:ea typeface="Calibri" pitchFamily="34" charset="-122"/>
                          <a:cs typeface="Calibri" pitchFamily="34" charset="-120"/>
                        </a:rPr>
                        <a:t>No</a:t>
                      </a:r>
                      <a:endParaRPr lang="en-US" sz="1400" dirty="0">
                        <a:latin typeface="Calibri" charset="0"/>
                        <a:ea typeface="Calibri" charset="0"/>
                        <a:cs typeface="Calibri" charset="0"/>
                      </a:endParaRPr>
                    </a:p>
                  </a:txBody>
                  <a:tcPr marL="101600" marR="1016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EF3F6"/>
                    </a:solidFill>
                  </a:tcPr>
                </a:tc>
                <a:tc>
                  <a:txBody>
                    <a:bodyPr/>
                    <a:lstStyle/>
                    <a:p>
                      <a:pPr algn="ctr" indent="0" marL="0">
                        <a:buNone/>
                      </a:pPr>
                      <a:r>
                        <a:rPr lang="en-US" sz="1400" dirty="0">
                          <a:solidFill>
                            <a:srgbClr val="1E2A36"/>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101600" marR="1016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EF3F6"/>
                    </a:solidFill>
                  </a:tcPr>
                </a:tc>
                <a:tc>
                  <a:txBody>
                    <a:bodyPr/>
                    <a:lstStyle/>
                    <a:p>
                      <a:pPr algn="l" indent="0" marL="0">
                        <a:buNone/>
                      </a:pPr>
                      <a:r>
                        <a:rPr lang="en-US" sz="1400" dirty="0">
                          <a:solidFill>
                            <a:srgbClr val="1E2A36"/>
                          </a:solidFill>
                          <a:latin typeface="Calibri" pitchFamily="34" charset="0"/>
                          <a:ea typeface="Calibri" pitchFamily="34" charset="-122"/>
                          <a:cs typeface="Calibri" pitchFamily="34" charset="-120"/>
                        </a:rPr>
                        <a:t>Permissive + patent protection</a:t>
                      </a:r>
                      <a:endParaRPr lang="en-US" sz="1400" dirty="0">
                        <a:latin typeface="Calibri" charset="0"/>
                        <a:ea typeface="Calibri" charset="0"/>
                        <a:cs typeface="Calibri" charset="0"/>
                      </a:endParaRPr>
                    </a:p>
                  </a:txBody>
                  <a:tcPr marL="101600" marR="1016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EF3F6"/>
                    </a:solidFill>
                  </a:tcPr>
                </a:tc>
              </a:tr>
              <a:tr h="777240">
                <a:tc>
                  <a:txBody>
                    <a:bodyPr/>
                    <a:lstStyle/>
                    <a:p>
                      <a:pPr algn="l" indent="0" marL="0">
                        <a:buNone/>
                      </a:pPr>
                      <a:r>
                        <a:rPr lang="en-US" sz="1400" b="1" dirty="0">
                          <a:solidFill>
                            <a:srgbClr val="0E6E6D"/>
                          </a:solidFill>
                          <a:latin typeface="Calibri" pitchFamily="34" charset="0"/>
                          <a:ea typeface="Calibri" pitchFamily="34" charset="-122"/>
                          <a:cs typeface="Calibri" pitchFamily="34" charset="-120"/>
                        </a:rPr>
                        <a:t>GPL-3.0</a:t>
                      </a:r>
                      <a:endParaRPr lang="en-US" sz="1400" dirty="0">
                        <a:latin typeface="Calibri" charset="0"/>
                        <a:ea typeface="Calibri" charset="0"/>
                        <a:cs typeface="Calibri" charset="0"/>
                      </a:endParaRPr>
                    </a:p>
                  </a:txBody>
                  <a:tcPr marL="101600" marR="1016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E2A36"/>
                          </a:solidFill>
                          <a:latin typeface="Calibri" pitchFamily="34" charset="0"/>
                          <a:ea typeface="Calibri" pitchFamily="34" charset="-122"/>
                          <a:cs typeface="Calibri" pitchFamily="34" charset="-120"/>
                        </a:rPr>
                        <a:t>Copyleft</a:t>
                      </a:r>
                      <a:endParaRPr lang="en-US" sz="1400" dirty="0">
                        <a:latin typeface="Calibri" charset="0"/>
                        <a:ea typeface="Calibri" charset="0"/>
                        <a:cs typeface="Calibri" charset="0"/>
                      </a:endParaRPr>
                    </a:p>
                  </a:txBody>
                  <a:tcPr marL="101600" marR="1016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E2A36"/>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101600" marR="1016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E2A36"/>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101600" marR="1016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E2A36"/>
                          </a:solidFill>
                          <a:latin typeface="Calibri" pitchFamily="34" charset="0"/>
                          <a:ea typeface="Calibri" pitchFamily="34" charset="-122"/>
                          <a:cs typeface="Calibri" pitchFamily="34" charset="-120"/>
                        </a:rPr>
                        <a:t>Keep the whole project open</a:t>
                      </a:r>
                      <a:endParaRPr lang="en-US" sz="1400" dirty="0">
                        <a:latin typeface="Calibri" charset="0"/>
                        <a:ea typeface="Calibri" charset="0"/>
                        <a:cs typeface="Calibri" charset="0"/>
                      </a:endParaRPr>
                    </a:p>
                  </a:txBody>
                  <a:tcPr marL="101600" marR="1016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r>
              <a:tr h="777240">
                <a:tc>
                  <a:txBody>
                    <a:bodyPr/>
                    <a:lstStyle/>
                    <a:p>
                      <a:pPr algn="l" indent="0" marL="0">
                        <a:buNone/>
                      </a:pPr>
                      <a:r>
                        <a:rPr lang="en-US" sz="1400" b="1" dirty="0">
                          <a:solidFill>
                            <a:srgbClr val="0E6E6D"/>
                          </a:solidFill>
                          <a:latin typeface="Calibri" pitchFamily="34" charset="0"/>
                          <a:ea typeface="Calibri" pitchFamily="34" charset="-122"/>
                          <a:cs typeface="Calibri" pitchFamily="34" charset="-120"/>
                        </a:rPr>
                        <a:t>AGPL-3.0</a:t>
                      </a:r>
                      <a:endParaRPr lang="en-US" sz="1400" dirty="0">
                        <a:latin typeface="Calibri" charset="0"/>
                        <a:ea typeface="Calibri" charset="0"/>
                        <a:cs typeface="Calibri" charset="0"/>
                      </a:endParaRPr>
                    </a:p>
                  </a:txBody>
                  <a:tcPr marL="101600" marR="1016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EF3F6"/>
                    </a:solidFill>
                  </a:tcPr>
                </a:tc>
                <a:tc>
                  <a:txBody>
                    <a:bodyPr/>
                    <a:lstStyle/>
                    <a:p>
                      <a:pPr algn="l" indent="0" marL="0">
                        <a:buNone/>
                      </a:pPr>
                      <a:r>
                        <a:rPr lang="en-US" sz="1400" dirty="0">
                          <a:solidFill>
                            <a:srgbClr val="1E2A36"/>
                          </a:solidFill>
                          <a:latin typeface="Calibri" pitchFamily="34" charset="0"/>
                          <a:ea typeface="Calibri" pitchFamily="34" charset="-122"/>
                          <a:cs typeface="Calibri" pitchFamily="34" charset="-120"/>
                        </a:rPr>
                        <a:t>Copyleft (network)</a:t>
                      </a:r>
                      <a:endParaRPr lang="en-US" sz="1400" dirty="0">
                        <a:latin typeface="Calibri" charset="0"/>
                        <a:ea typeface="Calibri" charset="0"/>
                        <a:cs typeface="Calibri" charset="0"/>
                      </a:endParaRPr>
                    </a:p>
                  </a:txBody>
                  <a:tcPr marL="101600" marR="1016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EF3F6"/>
                    </a:solidFill>
                  </a:tcPr>
                </a:tc>
                <a:tc>
                  <a:txBody>
                    <a:bodyPr/>
                    <a:lstStyle/>
                    <a:p>
                      <a:pPr algn="ctr" indent="0" marL="0">
                        <a:buNone/>
                      </a:pPr>
                      <a:r>
                        <a:rPr lang="en-US" sz="1400" dirty="0">
                          <a:solidFill>
                            <a:srgbClr val="1E2A36"/>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101600" marR="1016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EF3F6"/>
                    </a:solidFill>
                  </a:tcPr>
                </a:tc>
                <a:tc>
                  <a:txBody>
                    <a:bodyPr/>
                    <a:lstStyle/>
                    <a:p>
                      <a:pPr algn="ctr" indent="0" marL="0">
                        <a:buNone/>
                      </a:pPr>
                      <a:r>
                        <a:rPr lang="en-US" sz="1400" dirty="0">
                          <a:solidFill>
                            <a:srgbClr val="1E2A36"/>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101600" marR="1016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EF3F6"/>
                    </a:solidFill>
                  </a:tcPr>
                </a:tc>
                <a:tc>
                  <a:txBody>
                    <a:bodyPr/>
                    <a:lstStyle/>
                    <a:p>
                      <a:pPr algn="l" indent="0" marL="0">
                        <a:buNone/>
                      </a:pPr>
                      <a:r>
                        <a:rPr lang="en-US" sz="1400" dirty="0">
                          <a:solidFill>
                            <a:srgbClr val="1E2A36"/>
                          </a:solidFill>
                          <a:latin typeface="Calibri" pitchFamily="34" charset="0"/>
                          <a:ea typeface="Calibri" pitchFamily="34" charset="-122"/>
                          <a:cs typeface="Calibri" pitchFamily="34" charset="-120"/>
                        </a:rPr>
                        <a:t>Servers/SaaS stay open when hosted</a:t>
                      </a:r>
                      <a:endParaRPr lang="en-US" sz="1400" dirty="0">
                        <a:latin typeface="Calibri" charset="0"/>
                        <a:ea typeface="Calibri" charset="0"/>
                        <a:cs typeface="Calibri" charset="0"/>
                      </a:endParaRPr>
                    </a:p>
                  </a:txBody>
                  <a:tcPr marL="101600" marR="1016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EF3F6"/>
                    </a:solidFill>
                  </a:tcPr>
                </a:tc>
              </a:tr>
            </a:tbl>
          </a:graphicData>
        </a:graphic>
      </p:graphicFrame>
      <p:sp>
        <p:nvSpPr>
          <p:cNvPr id="6" name="Text 3"/>
          <p:cNvSpPr/>
          <p:nvPr/>
        </p:nvSpPr>
        <p:spPr>
          <a:xfrm>
            <a:off x="548640" y="5943600"/>
            <a:ext cx="11064240" cy="320040"/>
          </a:xfrm>
          <a:prstGeom prst="rect">
            <a:avLst/>
          </a:prstGeom>
          <a:noFill/>
          <a:ln/>
        </p:spPr>
        <p:txBody>
          <a:bodyPr wrap="square" lIns="0" tIns="0" rIns="0" bIns="0" rtlCol="0" anchor="ctr"/>
          <a:lstStyle/>
          <a:p>
            <a:pPr algn="ctr" indent="0" marL="0">
              <a:buNone/>
            </a:pPr>
            <a:r>
              <a:rPr lang="en-US" sz="1300" i="1" dirty="0">
                <a:solidFill>
                  <a:srgbClr val="5F7284"/>
                </a:solidFill>
                <a:latin typeface="Calibri" pitchFamily="34" charset="0"/>
                <a:ea typeface="Calibri" pitchFamily="34" charset="-122"/>
                <a:cs typeface="Calibri" pitchFamily="34" charset="-120"/>
              </a:rPr>
              <a:t>Full one-pager: the License Cheat Sheet on Canvas — includes BSD, LGPL, MPL, and public domain.</a:t>
            </a:r>
            <a:endParaRPr lang="en-US" sz="1300" dirty="0"/>
          </a:p>
        </p:txBody>
      </p:sp>
      <p:sp>
        <p:nvSpPr>
          <p:cNvPr id="7" name="Text 4"/>
          <p:cNvSpPr/>
          <p:nvPr/>
        </p:nvSpPr>
        <p:spPr>
          <a:xfrm>
            <a:off x="7132320" y="6437376"/>
            <a:ext cx="44805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3 · Open Source &amp; Licensing</a:t>
            </a:r>
            <a:endParaRPr lang="en-US" sz="1000" dirty="0"/>
          </a:p>
        </p:txBody>
      </p:sp>
      <p:sp>
        <p:nvSpPr>
          <p:cNvPr id="8" name="Text 5"/>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233A"/>
        </a:solidFill>
      </p:bgPr>
    </p:bg>
    <p:spTree>
      <p:nvGrpSpPr>
        <p:cNvPr id="1" name=""/>
        <p:cNvGrpSpPr/>
        <p:nvPr/>
      </p:nvGrpSpPr>
      <p:grpSpPr>
        <a:xfrm>
          <a:off x="0" y="0"/>
          <a:ext cx="0" cy="0"/>
          <a:chOff x="0" y="0"/>
          <a:chExt cx="0" cy="0"/>
        </a:xfrm>
      </p:grpSpPr>
      <p:sp>
        <p:nvSpPr>
          <p:cNvPr id="2" name="Shape 0"/>
          <p:cNvSpPr/>
          <p:nvPr/>
        </p:nvSpPr>
        <p:spPr>
          <a:xfrm>
            <a:off x="10424160" y="-1188720"/>
            <a:ext cx="3291840" cy="3291840"/>
          </a:xfrm>
          <a:prstGeom prst="ellipse">
            <a:avLst/>
          </a:prstGeom>
          <a:solidFill>
            <a:srgbClr val="1C3252"/>
          </a:solidFill>
          <a:ln/>
        </p:spPr>
      </p:sp>
      <p:sp>
        <p:nvSpPr>
          <p:cNvPr id="3" name="Shape 1"/>
          <p:cNvSpPr/>
          <p:nvPr/>
        </p:nvSpPr>
        <p:spPr>
          <a:xfrm>
            <a:off x="566928" y="548640"/>
            <a:ext cx="137160" cy="137160"/>
          </a:xfrm>
          <a:prstGeom prst="ellipse">
            <a:avLst/>
          </a:prstGeom>
          <a:solidFill>
            <a:srgbClr val="E8A33D"/>
          </a:solidFill>
          <a:ln/>
        </p:spPr>
      </p:sp>
      <p:sp>
        <p:nvSpPr>
          <p:cNvPr id="4" name="Text 2"/>
          <p:cNvSpPr/>
          <p:nvPr/>
        </p:nvSpPr>
        <p:spPr>
          <a:xfrm>
            <a:off x="795528" y="457200"/>
            <a:ext cx="10515600" cy="310896"/>
          </a:xfrm>
          <a:prstGeom prst="rect">
            <a:avLst/>
          </a:prstGeom>
          <a:noFill/>
          <a:ln/>
        </p:spPr>
        <p:txBody>
          <a:bodyPr wrap="square" lIns="0" tIns="0" rIns="0" bIns="0" rtlCol="0" anchor="ctr"/>
          <a:lstStyle/>
          <a:p>
            <a:pPr indent="0" marL="0">
              <a:buNone/>
            </a:pPr>
            <a:r>
              <a:rPr lang="en-US" sz="1400" b="1" spc="200" kern="0" dirty="0">
                <a:solidFill>
                  <a:srgbClr val="E8A33D"/>
                </a:solidFill>
                <a:latin typeface="Calibri" pitchFamily="34" charset="0"/>
                <a:ea typeface="Calibri" pitchFamily="34" charset="-122"/>
                <a:cs typeface="Calibri" pitchFamily="34" charset="-120"/>
              </a:rPr>
              <a:t>IN-CLASS · 3 MINUTES</a:t>
            </a:r>
            <a:endParaRPr lang="en-US" sz="1400" dirty="0"/>
          </a:p>
        </p:txBody>
      </p:sp>
      <p:sp>
        <p:nvSpPr>
          <p:cNvPr id="5" name="Text 3"/>
          <p:cNvSpPr/>
          <p:nvPr/>
        </p:nvSpPr>
        <p:spPr>
          <a:xfrm>
            <a:off x="548640" y="822960"/>
            <a:ext cx="11064240" cy="73152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Pick a license for your idea</a:t>
            </a:r>
            <a:endParaRPr lang="en-US" sz="3400" dirty="0"/>
          </a:p>
        </p:txBody>
      </p:sp>
      <p:sp>
        <p:nvSpPr>
          <p:cNvPr id="6" name="Text 4"/>
          <p:cNvSpPr/>
          <p:nvPr/>
        </p:nvSpPr>
        <p:spPr>
          <a:xfrm>
            <a:off x="548640" y="1874520"/>
            <a:ext cx="10972800" cy="457200"/>
          </a:xfrm>
          <a:prstGeom prst="rect">
            <a:avLst/>
          </a:prstGeom>
          <a:noFill/>
          <a:ln/>
        </p:spPr>
        <p:txBody>
          <a:bodyPr wrap="square" lIns="0" tIns="0" rIns="0" bIns="0" rtlCol="0" anchor="ctr"/>
          <a:lstStyle/>
          <a:p>
            <a:pPr indent="0" marL="0">
              <a:buNone/>
            </a:pPr>
            <a:r>
              <a:rPr lang="en-US" sz="1800" dirty="0">
                <a:solidFill>
                  <a:srgbClr val="CFE0E9"/>
                </a:solidFill>
                <a:latin typeface="Calibri" pitchFamily="34" charset="0"/>
                <a:ea typeface="Calibri" pitchFamily="34" charset="-122"/>
                <a:cs typeface="Calibri" pitchFamily="34" charset="-120"/>
              </a:rPr>
              <a:t>Open choosealicense.com. For your most promising candidate idea, jot down:</a:t>
            </a:r>
            <a:endParaRPr lang="en-US" sz="1800" dirty="0"/>
          </a:p>
        </p:txBody>
      </p:sp>
      <p:sp>
        <p:nvSpPr>
          <p:cNvPr id="7" name="Shape 5"/>
          <p:cNvSpPr/>
          <p:nvPr/>
        </p:nvSpPr>
        <p:spPr>
          <a:xfrm>
            <a:off x="548640" y="2514600"/>
            <a:ext cx="3630168" cy="2286000"/>
          </a:xfrm>
          <a:prstGeom prst="roundRect">
            <a:avLst>
              <a:gd name="adj" fmla="val 3600"/>
            </a:avLst>
          </a:prstGeom>
          <a:solidFill>
            <a:srgbClr val="1E3352"/>
          </a:solidFill>
          <a:ln/>
          <a:effectLst>
            <a:outerShdw sx="100000" sy="100000" kx="0" ky="0" algn="bl" rotWithShape="0" blurRad="88900" dist="38100" dir="5400000">
              <a:srgbClr val="000000">
                <a:alpha val="13000"/>
              </a:srgbClr>
            </a:outerShdw>
          </a:effectLst>
        </p:spPr>
      </p:sp>
      <p:sp>
        <p:nvSpPr>
          <p:cNvPr id="8" name="Shape 6"/>
          <p:cNvSpPr/>
          <p:nvPr/>
        </p:nvSpPr>
        <p:spPr>
          <a:xfrm>
            <a:off x="822960" y="2743200"/>
            <a:ext cx="640080" cy="640080"/>
          </a:xfrm>
          <a:prstGeom prst="ellipse">
            <a:avLst/>
          </a:prstGeom>
          <a:solidFill>
            <a:srgbClr val="E8A33D"/>
          </a:solidFill>
          <a:ln/>
        </p:spPr>
      </p:sp>
      <p:sp>
        <p:nvSpPr>
          <p:cNvPr id="9" name="Text 7"/>
          <p:cNvSpPr/>
          <p:nvPr/>
        </p:nvSpPr>
        <p:spPr>
          <a:xfrm>
            <a:off x="822960" y="2743200"/>
            <a:ext cx="640080" cy="640080"/>
          </a:xfrm>
          <a:prstGeom prst="rect">
            <a:avLst/>
          </a:prstGeom>
          <a:noFill/>
          <a:ln/>
        </p:spPr>
        <p:txBody>
          <a:bodyPr wrap="square" lIns="0" tIns="0" rIns="0" bIns="0" rtlCol="0" anchor="ctr"/>
          <a:lstStyle/>
          <a:p>
            <a:pPr algn="ctr" indent="0" marL="0">
              <a:buNone/>
            </a:pPr>
            <a:r>
              <a:rPr lang="en-US" sz="2400" b="1" dirty="0">
                <a:solidFill>
                  <a:srgbClr val="14233A"/>
                </a:solidFill>
                <a:latin typeface="Cambria" pitchFamily="34" charset="0"/>
                <a:ea typeface="Cambria" pitchFamily="34" charset="-122"/>
                <a:cs typeface="Cambria" pitchFamily="34" charset="-120"/>
              </a:rPr>
              <a:t>1</a:t>
            </a:r>
            <a:endParaRPr lang="en-US" sz="2400" dirty="0"/>
          </a:p>
        </p:txBody>
      </p:sp>
      <p:sp>
        <p:nvSpPr>
          <p:cNvPr id="10" name="Text 8"/>
          <p:cNvSpPr/>
          <p:nvPr/>
        </p:nvSpPr>
        <p:spPr>
          <a:xfrm>
            <a:off x="822960" y="3520440"/>
            <a:ext cx="3108960" cy="41148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The license</a:t>
            </a:r>
            <a:endParaRPr lang="en-US" sz="1800" dirty="0"/>
          </a:p>
        </p:txBody>
      </p:sp>
      <p:sp>
        <p:nvSpPr>
          <p:cNvPr id="11" name="Text 9"/>
          <p:cNvSpPr/>
          <p:nvPr/>
        </p:nvSpPr>
        <p:spPr>
          <a:xfrm>
            <a:off x="822960" y="3931920"/>
            <a:ext cx="3154680" cy="777240"/>
          </a:xfrm>
          <a:prstGeom prst="rect">
            <a:avLst/>
          </a:prstGeom>
          <a:noFill/>
          <a:ln/>
        </p:spPr>
        <p:txBody>
          <a:bodyPr wrap="square" lIns="0" tIns="0" rIns="0" bIns="0" rtlCol="0" anchor="ctr"/>
          <a:lstStyle/>
          <a:p>
            <a:pPr indent="0" marL="0">
              <a:lnSpc>
                <a:spcPct val="104000"/>
              </a:lnSpc>
              <a:buNone/>
            </a:pPr>
            <a:r>
              <a:rPr lang="en-US" sz="1400" dirty="0">
                <a:solidFill>
                  <a:srgbClr val="CFE0E9"/>
                </a:solidFill>
                <a:latin typeface="Calibri" pitchFamily="34" charset="0"/>
                <a:ea typeface="Calibri" pitchFamily="34" charset="-122"/>
                <a:cs typeface="Calibri" pitchFamily="34" charset="-120"/>
              </a:rPr>
              <a:t>Which one did you pick?</a:t>
            </a:r>
            <a:endParaRPr lang="en-US" sz="1400" dirty="0"/>
          </a:p>
        </p:txBody>
      </p:sp>
      <p:sp>
        <p:nvSpPr>
          <p:cNvPr id="12" name="Shape 10"/>
          <p:cNvSpPr/>
          <p:nvPr/>
        </p:nvSpPr>
        <p:spPr>
          <a:xfrm>
            <a:off x="4270248" y="2514600"/>
            <a:ext cx="3630168" cy="2286000"/>
          </a:xfrm>
          <a:prstGeom prst="roundRect">
            <a:avLst>
              <a:gd name="adj" fmla="val 3600"/>
            </a:avLst>
          </a:prstGeom>
          <a:solidFill>
            <a:srgbClr val="1E3352"/>
          </a:solidFill>
          <a:ln/>
          <a:effectLst>
            <a:outerShdw sx="100000" sy="100000" kx="0" ky="0" algn="bl" rotWithShape="0" blurRad="88900" dist="38100" dir="5400000">
              <a:srgbClr val="000000">
                <a:alpha val="13000"/>
              </a:srgbClr>
            </a:outerShdw>
          </a:effectLst>
        </p:spPr>
      </p:sp>
      <p:sp>
        <p:nvSpPr>
          <p:cNvPr id="13" name="Shape 11"/>
          <p:cNvSpPr/>
          <p:nvPr/>
        </p:nvSpPr>
        <p:spPr>
          <a:xfrm>
            <a:off x="4544568" y="2743200"/>
            <a:ext cx="640080" cy="640080"/>
          </a:xfrm>
          <a:prstGeom prst="ellipse">
            <a:avLst/>
          </a:prstGeom>
          <a:solidFill>
            <a:srgbClr val="E8A33D"/>
          </a:solidFill>
          <a:ln/>
        </p:spPr>
      </p:sp>
      <p:sp>
        <p:nvSpPr>
          <p:cNvPr id="14" name="Text 12"/>
          <p:cNvSpPr/>
          <p:nvPr/>
        </p:nvSpPr>
        <p:spPr>
          <a:xfrm>
            <a:off x="4544568" y="2743200"/>
            <a:ext cx="640080" cy="640080"/>
          </a:xfrm>
          <a:prstGeom prst="rect">
            <a:avLst/>
          </a:prstGeom>
          <a:noFill/>
          <a:ln/>
        </p:spPr>
        <p:txBody>
          <a:bodyPr wrap="square" lIns="0" tIns="0" rIns="0" bIns="0" rtlCol="0" anchor="ctr"/>
          <a:lstStyle/>
          <a:p>
            <a:pPr algn="ctr" indent="0" marL="0">
              <a:buNone/>
            </a:pPr>
            <a:r>
              <a:rPr lang="en-US" sz="2400" b="1" dirty="0">
                <a:solidFill>
                  <a:srgbClr val="14233A"/>
                </a:solidFill>
                <a:latin typeface="Cambria" pitchFamily="34" charset="0"/>
                <a:ea typeface="Cambria" pitchFamily="34" charset="-122"/>
                <a:cs typeface="Cambria" pitchFamily="34" charset="-120"/>
              </a:rPr>
              <a:t>2</a:t>
            </a:r>
            <a:endParaRPr lang="en-US" sz="2400" dirty="0"/>
          </a:p>
        </p:txBody>
      </p:sp>
      <p:sp>
        <p:nvSpPr>
          <p:cNvPr id="15" name="Text 13"/>
          <p:cNvSpPr/>
          <p:nvPr/>
        </p:nvSpPr>
        <p:spPr>
          <a:xfrm>
            <a:off x="4544568" y="3520440"/>
            <a:ext cx="3108960" cy="41148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6" name="Text 14"/>
          <p:cNvSpPr/>
          <p:nvPr/>
        </p:nvSpPr>
        <p:spPr>
          <a:xfrm>
            <a:off x="4544568" y="3931920"/>
            <a:ext cx="3154680" cy="777240"/>
          </a:xfrm>
          <a:prstGeom prst="rect">
            <a:avLst/>
          </a:prstGeom>
          <a:noFill/>
          <a:ln/>
        </p:spPr>
        <p:txBody>
          <a:bodyPr wrap="square" lIns="0" tIns="0" rIns="0" bIns="0" rtlCol="0" anchor="ctr"/>
          <a:lstStyle/>
          <a:p>
            <a:pPr indent="0" marL="0">
              <a:lnSpc>
                <a:spcPct val="104000"/>
              </a:lnSpc>
              <a:buNone/>
            </a:pPr>
            <a:r>
              <a:rPr lang="en-US" sz="1400" dirty="0">
                <a:solidFill>
                  <a:srgbClr val="CFE0E9"/>
                </a:solidFill>
                <a:latin typeface="Calibri" pitchFamily="34" charset="0"/>
                <a:ea typeface="Calibri" pitchFamily="34" charset="-122"/>
                <a:cs typeface="Calibri" pitchFamily="34" charset="-120"/>
              </a:rPr>
              <a:t>Adoption (permissive) or keep-it-open (copyleft)?</a:t>
            </a:r>
            <a:endParaRPr lang="en-US" sz="1400" dirty="0"/>
          </a:p>
        </p:txBody>
      </p:sp>
      <p:sp>
        <p:nvSpPr>
          <p:cNvPr id="17" name="Shape 15"/>
          <p:cNvSpPr/>
          <p:nvPr/>
        </p:nvSpPr>
        <p:spPr>
          <a:xfrm>
            <a:off x="7991856" y="2514600"/>
            <a:ext cx="3630168" cy="2286000"/>
          </a:xfrm>
          <a:prstGeom prst="roundRect">
            <a:avLst>
              <a:gd name="adj" fmla="val 3600"/>
            </a:avLst>
          </a:prstGeom>
          <a:solidFill>
            <a:srgbClr val="1E3352"/>
          </a:solidFill>
          <a:ln/>
          <a:effectLst>
            <a:outerShdw sx="100000" sy="100000" kx="0" ky="0" algn="bl" rotWithShape="0" blurRad="88900" dist="38100" dir="5400000">
              <a:srgbClr val="000000">
                <a:alpha val="13000"/>
              </a:srgbClr>
            </a:outerShdw>
          </a:effectLst>
        </p:spPr>
      </p:sp>
      <p:sp>
        <p:nvSpPr>
          <p:cNvPr id="18" name="Shape 16"/>
          <p:cNvSpPr/>
          <p:nvPr/>
        </p:nvSpPr>
        <p:spPr>
          <a:xfrm>
            <a:off x="8266176" y="2743200"/>
            <a:ext cx="640080" cy="640080"/>
          </a:xfrm>
          <a:prstGeom prst="ellipse">
            <a:avLst/>
          </a:prstGeom>
          <a:solidFill>
            <a:srgbClr val="E8A33D"/>
          </a:solidFill>
          <a:ln/>
        </p:spPr>
      </p:sp>
      <p:sp>
        <p:nvSpPr>
          <p:cNvPr id="19" name="Text 17"/>
          <p:cNvSpPr/>
          <p:nvPr/>
        </p:nvSpPr>
        <p:spPr>
          <a:xfrm>
            <a:off x="8266176" y="2743200"/>
            <a:ext cx="640080" cy="640080"/>
          </a:xfrm>
          <a:prstGeom prst="rect">
            <a:avLst/>
          </a:prstGeom>
          <a:noFill/>
          <a:ln/>
        </p:spPr>
        <p:txBody>
          <a:bodyPr wrap="square" lIns="0" tIns="0" rIns="0" bIns="0" rtlCol="0" anchor="ctr"/>
          <a:lstStyle/>
          <a:p>
            <a:pPr algn="ctr" indent="0" marL="0">
              <a:buNone/>
            </a:pPr>
            <a:r>
              <a:rPr lang="en-US" sz="2400" b="1" dirty="0">
                <a:solidFill>
                  <a:srgbClr val="14233A"/>
                </a:solidFill>
                <a:latin typeface="Cambria" pitchFamily="34" charset="0"/>
                <a:ea typeface="Cambria" pitchFamily="34" charset="-122"/>
                <a:cs typeface="Cambria" pitchFamily="34" charset="-120"/>
              </a:rPr>
              <a:t>3</a:t>
            </a:r>
            <a:endParaRPr lang="en-US" sz="2400" dirty="0"/>
          </a:p>
        </p:txBody>
      </p:sp>
      <p:sp>
        <p:nvSpPr>
          <p:cNvPr id="20" name="Text 18"/>
          <p:cNvSpPr/>
          <p:nvPr/>
        </p:nvSpPr>
        <p:spPr>
          <a:xfrm>
            <a:off x="8266176" y="3520440"/>
            <a:ext cx="3108960" cy="41148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One requirement</a:t>
            </a:r>
            <a:endParaRPr lang="en-US" sz="1800" dirty="0"/>
          </a:p>
        </p:txBody>
      </p:sp>
      <p:sp>
        <p:nvSpPr>
          <p:cNvPr id="21" name="Text 19"/>
          <p:cNvSpPr/>
          <p:nvPr/>
        </p:nvSpPr>
        <p:spPr>
          <a:xfrm>
            <a:off x="8266176" y="3931920"/>
            <a:ext cx="3154680" cy="777240"/>
          </a:xfrm>
          <a:prstGeom prst="rect">
            <a:avLst/>
          </a:prstGeom>
          <a:noFill/>
          <a:ln/>
        </p:spPr>
        <p:txBody>
          <a:bodyPr wrap="square" lIns="0" tIns="0" rIns="0" bIns="0" rtlCol="0" anchor="ctr"/>
          <a:lstStyle/>
          <a:p>
            <a:pPr indent="0" marL="0">
              <a:lnSpc>
                <a:spcPct val="104000"/>
              </a:lnSpc>
              <a:buNone/>
            </a:pPr>
            <a:r>
              <a:rPr lang="en-US" sz="1400" dirty="0">
                <a:solidFill>
                  <a:srgbClr val="CFE0E9"/>
                </a:solidFill>
                <a:latin typeface="Calibri" pitchFamily="34" charset="0"/>
                <a:ea typeface="Calibri" pitchFamily="34" charset="-122"/>
                <a:cs typeface="Calibri" pitchFamily="34" charset="-120"/>
              </a:rPr>
              <a:t>One thing it asks of people who use your code.</a:t>
            </a:r>
            <a:endParaRPr lang="en-US" sz="1400" dirty="0"/>
          </a:p>
        </p:txBody>
      </p:sp>
      <p:sp>
        <p:nvSpPr>
          <p:cNvPr id="22" name="Text 20"/>
          <p:cNvSpPr/>
          <p:nvPr/>
        </p:nvSpPr>
        <p:spPr>
          <a:xfrm>
            <a:off x="548640" y="5120640"/>
            <a:ext cx="11064240" cy="457200"/>
          </a:xfrm>
          <a:prstGeom prst="rect">
            <a:avLst/>
          </a:prstGeom>
          <a:noFill/>
          <a:ln/>
        </p:spPr>
        <p:txBody>
          <a:bodyPr wrap="square" lIns="0" tIns="0" rIns="0" bIns="0" rtlCol="0" anchor="ctr"/>
          <a:lstStyle/>
          <a:p>
            <a:pPr algn="ctr" indent="0" marL="0">
              <a:buNone/>
            </a:pPr>
            <a:r>
              <a:rPr lang="en-US" sz="1600" b="1" i="1" dirty="0">
                <a:solidFill>
                  <a:srgbClr val="E8A33D"/>
                </a:solidFill>
                <a:latin typeface="Calibri" pitchFamily="34" charset="0"/>
                <a:ea typeface="Calibri" pitchFamily="34" charset="-122"/>
                <a:cs typeface="Calibri" pitchFamily="34" charset="-120"/>
              </a:rPr>
              <a:t>Then turn to a neighbor: "What did you pick, and why?"</a:t>
            </a:r>
            <a:endParaRPr lang="en-US" sz="1600" dirty="0"/>
          </a:p>
        </p:txBody>
      </p:sp>
      <p:sp>
        <p:nvSpPr>
          <p:cNvPr id="23" name="Text 21"/>
          <p:cNvSpPr/>
          <p:nvPr/>
        </p:nvSpPr>
        <p:spPr>
          <a:xfrm>
            <a:off x="7132320" y="6437376"/>
            <a:ext cx="4480560" cy="274320"/>
          </a:xfrm>
          <a:prstGeom prst="rect">
            <a:avLst/>
          </a:prstGeom>
          <a:noFill/>
          <a:ln/>
        </p:spPr>
        <p:txBody>
          <a:bodyPr wrap="square" lIns="0" tIns="0" rIns="0" bIns="0" rtlCol="0" anchor="ctr"/>
          <a:lstStyle/>
          <a:p>
            <a:pPr algn="r" indent="0" marL="0">
              <a:buNone/>
            </a:pPr>
            <a:r>
              <a:rPr lang="en-US" sz="1000" dirty="0">
                <a:solidFill>
                  <a:srgbClr val="7E92A8"/>
                </a:solidFill>
                <a:latin typeface="Calibri" pitchFamily="34" charset="0"/>
                <a:ea typeface="Calibri" pitchFamily="34" charset="-122"/>
                <a:cs typeface="Calibri" pitchFamily="34" charset="-120"/>
              </a:rPr>
              <a:t>CS 301R · Session 3 · Open Source &amp; Licensing</a:t>
            </a:r>
            <a:endParaRPr lang="en-US" sz="1000" dirty="0"/>
          </a:p>
        </p:txBody>
      </p:sp>
      <p:sp>
        <p:nvSpPr>
          <p:cNvPr id="24" name="Text 22"/>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7E92A8"/>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GOVERNANCE</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What turns cool code into a project people can join</a:t>
            </a:r>
            <a:endParaRPr lang="en-US" sz="3100" dirty="0"/>
          </a:p>
        </p:txBody>
      </p:sp>
      <p:sp>
        <p:nvSpPr>
          <p:cNvPr id="5" name="Shape 3"/>
          <p:cNvSpPr/>
          <p:nvPr/>
        </p:nvSpPr>
        <p:spPr>
          <a:xfrm>
            <a:off x="548640" y="1965960"/>
            <a:ext cx="11064240" cy="1554480"/>
          </a:xfrm>
          <a:prstGeom prst="roundRect">
            <a:avLst>
              <a:gd name="adj" fmla="val 5294"/>
            </a:avLst>
          </a:prstGeom>
          <a:solidFill>
            <a:srgbClr val="F2F6F8"/>
          </a:solidFill>
          <a:ln/>
          <a:effectLst>
            <a:outerShdw sx="100000" sy="100000" kx="0" ky="0" algn="bl" rotWithShape="0" blurRad="88900" dist="38100" dir="5400000">
              <a:srgbClr val="000000">
                <a:alpha val="13000"/>
              </a:srgbClr>
            </a:outerShdw>
          </a:effectLst>
        </p:spPr>
      </p:sp>
      <p:sp>
        <p:nvSpPr>
          <p:cNvPr id="6" name="Shape 4"/>
          <p:cNvSpPr/>
          <p:nvPr/>
        </p:nvSpPr>
        <p:spPr>
          <a:xfrm>
            <a:off x="914400" y="2395728"/>
            <a:ext cx="658368" cy="658368"/>
          </a:xfrm>
          <a:prstGeom prst="ellipse">
            <a:avLst/>
          </a:prstGeom>
          <a:solidFill>
            <a:srgbClr val="12908F"/>
          </a:solidFill>
          <a:ln/>
        </p:spPr>
      </p:sp>
      <p:pic>
        <p:nvPicPr>
          <p:cNvPr id="7" name="Image 0" descr="preencoded.png">    </p:cNvPr>
          <p:cNvPicPr>
            <a:picLocks noChangeAspect="1"/>
          </p:cNvPicPr>
          <p:nvPr/>
        </p:nvPicPr>
        <p:blipFill>
          <a:blip r:embed="rId1"/>
          <a:stretch>
            <a:fillRect/>
          </a:stretch>
        </p:blipFill>
        <p:spPr>
          <a:xfrm>
            <a:off x="1092159" y="2573487"/>
            <a:ext cx="302849" cy="302849"/>
          </a:xfrm>
          <a:prstGeom prst="rect">
            <a:avLst/>
          </a:prstGeom>
        </p:spPr>
      </p:pic>
      <p:sp>
        <p:nvSpPr>
          <p:cNvPr id="8" name="Text 5"/>
          <p:cNvSpPr/>
          <p:nvPr/>
        </p:nvSpPr>
        <p:spPr>
          <a:xfrm>
            <a:off x="1828800" y="1965960"/>
            <a:ext cx="9509760" cy="1554480"/>
          </a:xfrm>
          <a:prstGeom prst="rect">
            <a:avLst/>
          </a:prstGeom>
          <a:noFill/>
          <a:ln/>
        </p:spPr>
        <p:txBody>
          <a:bodyPr wrap="square" lIns="0" tIns="0" rIns="0" bIns="0" rtlCol="0" anchor="ctr"/>
          <a:lstStyle/>
          <a:p>
            <a:pPr indent="0" marL="0">
              <a:lnSpc>
                <a:spcPct val="105000"/>
              </a:lnSpc>
              <a:buNone/>
            </a:pPr>
            <a:r>
              <a:rPr lang="en-US" sz="1700" dirty="0">
                <a:solidFill>
                  <a:srgbClr val="1E2A36"/>
                </a:solidFill>
                <a:latin typeface="Calibri" pitchFamily="34" charset="0"/>
                <a:ea typeface="Calibri" pitchFamily="34" charset="-122"/>
                <a:cs typeface="Calibri" pitchFamily="34" charset="-120"/>
              </a:rPr>
              <a:t>Governance = the rules and expectations that let strangers contribute safely — the license, the code of conduct, the contribution process, and who decides. Without it, even great code stays a solo repo.</a:t>
            </a:r>
            <a:endParaRPr lang="en-US" sz="1700" dirty="0"/>
          </a:p>
        </p:txBody>
      </p:sp>
      <p:sp>
        <p:nvSpPr>
          <p:cNvPr id="9" name="Shape 6"/>
          <p:cNvSpPr/>
          <p:nvPr/>
        </p:nvSpPr>
        <p:spPr>
          <a:xfrm>
            <a:off x="548640" y="3794760"/>
            <a:ext cx="11064240" cy="1874520"/>
          </a:xfrm>
          <a:prstGeom prst="roundRect">
            <a:avLst>
              <a:gd name="adj" fmla="val 4390"/>
            </a:avLst>
          </a:prstGeom>
          <a:solidFill>
            <a:srgbClr val="14233A"/>
          </a:solidFill>
          <a:ln/>
          <a:effectLst>
            <a:outerShdw sx="100000" sy="100000" kx="0" ky="0" algn="bl" rotWithShape="0" blurRad="88900" dist="38100" dir="5400000">
              <a:srgbClr val="000000">
                <a:alpha val="13000"/>
              </a:srgbClr>
            </a:outerShdw>
          </a:effectLst>
        </p:spPr>
      </p:sp>
      <p:sp>
        <p:nvSpPr>
          <p:cNvPr id="10" name="Shape 7"/>
          <p:cNvSpPr/>
          <p:nvPr/>
        </p:nvSpPr>
        <p:spPr>
          <a:xfrm>
            <a:off x="914400" y="4343400"/>
            <a:ext cx="658368" cy="658368"/>
          </a:xfrm>
          <a:prstGeom prst="ellipse">
            <a:avLst/>
          </a:prstGeom>
          <a:solidFill>
            <a:srgbClr val="E8A33D"/>
          </a:solidFill>
          <a:ln/>
        </p:spPr>
      </p:sp>
      <p:pic>
        <p:nvPicPr>
          <p:cNvPr id="11" name="Image 1" descr="preencoded.png">    </p:cNvPr>
          <p:cNvPicPr>
            <a:picLocks noChangeAspect="1"/>
          </p:cNvPicPr>
          <p:nvPr/>
        </p:nvPicPr>
        <p:blipFill>
          <a:blip r:embed="rId2"/>
          <a:stretch>
            <a:fillRect/>
          </a:stretch>
        </p:blipFill>
        <p:spPr>
          <a:xfrm>
            <a:off x="1092159" y="4521159"/>
            <a:ext cx="302849" cy="302849"/>
          </a:xfrm>
          <a:prstGeom prst="rect">
            <a:avLst/>
          </a:prstGeom>
        </p:spPr>
      </p:pic>
      <p:sp>
        <p:nvSpPr>
          <p:cNvPr id="12" name="Text 8"/>
          <p:cNvSpPr/>
          <p:nvPr/>
        </p:nvSpPr>
        <p:spPr>
          <a:xfrm>
            <a:off x="1828800" y="3977640"/>
            <a:ext cx="9144000" cy="457200"/>
          </a:xfrm>
          <a:prstGeom prst="rect">
            <a:avLst/>
          </a:prstGeom>
          <a:noFill/>
          <a:ln/>
        </p:spPr>
        <p:txBody>
          <a:bodyPr wrap="square" lIns="0" tIns="0" rIns="0" bIns="0" rtlCol="0" anchor="ctr"/>
          <a:lstStyle/>
          <a:p>
            <a:pPr indent="0" marL="0">
              <a:buNone/>
            </a:pPr>
            <a:r>
              <a:rPr lang="en-US" sz="1700" b="1" dirty="0">
                <a:solidFill>
                  <a:srgbClr val="E8A33D"/>
                </a:solidFill>
                <a:latin typeface="Calibri" pitchFamily="34" charset="0"/>
                <a:ea typeface="Calibri" pitchFamily="34" charset="-122"/>
                <a:cs typeface="Calibri" pitchFamily="34" charset="-120"/>
              </a:rPr>
              <a:t>A contributor's-eye view</a:t>
            </a:r>
            <a:endParaRPr lang="en-US" sz="1700" dirty="0"/>
          </a:p>
        </p:txBody>
      </p:sp>
      <p:sp>
        <p:nvSpPr>
          <p:cNvPr id="13" name="Text 9"/>
          <p:cNvSpPr/>
          <p:nvPr/>
        </p:nvSpPr>
        <p:spPr>
          <a:xfrm>
            <a:off x="1828800" y="4480560"/>
            <a:ext cx="9509760" cy="1097280"/>
          </a:xfrm>
          <a:prstGeom prst="rect">
            <a:avLst/>
          </a:prstGeom>
          <a:noFill/>
          <a:ln/>
        </p:spPr>
        <p:txBody>
          <a:bodyPr wrap="square" lIns="0" tIns="0" rIns="0" bIns="0" rtlCol="0" anchor="t"/>
          <a:lstStyle/>
          <a:p>
            <a:pPr indent="0" marL="0">
              <a:lnSpc>
                <a:spcPct val="105000"/>
              </a:lnSpc>
              <a:buNone/>
            </a:pPr>
            <a:r>
              <a:rPr lang="en-US" sz="1600" dirty="0">
                <a:solidFill>
                  <a:srgbClr val="CFE0E9"/>
                </a:solidFill>
                <a:latin typeface="Calibri" pitchFamily="34" charset="0"/>
                <a:ea typeface="Calibri" pitchFamily="34" charset="-122"/>
                <a:cs typeface="Calibri" pitchFamily="34" charset="-120"/>
              </a:rPr>
              <a:t>"I'd like to help with this project… but do I know how to contribute? What's expected of me? And am I even allowed to use this?"  Good governance answers all three before they have to ask.</a:t>
            </a:r>
            <a:endParaRPr lang="en-US" sz="1600" dirty="0"/>
          </a:p>
        </p:txBody>
      </p:sp>
      <p:sp>
        <p:nvSpPr>
          <p:cNvPr id="14" name="Text 10"/>
          <p:cNvSpPr/>
          <p:nvPr/>
        </p:nvSpPr>
        <p:spPr>
          <a:xfrm>
            <a:off x="7132320" y="6437376"/>
            <a:ext cx="44805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3 · Open Source &amp; Licensing</a:t>
            </a:r>
            <a:endParaRPr lang="en-US" sz="1000" dirty="0"/>
          </a:p>
        </p:txBody>
      </p:sp>
      <p:sp>
        <p:nvSpPr>
          <p:cNvPr id="15" name="Text 11"/>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GOVERNANCE</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Strong vs. early-stage — side by side</a:t>
            </a:r>
            <a:endParaRPr lang="en-US" sz="3100" dirty="0"/>
          </a:p>
        </p:txBody>
      </p:sp>
      <p:sp>
        <p:nvSpPr>
          <p:cNvPr id="5" name="Shape 3"/>
          <p:cNvSpPr/>
          <p:nvPr/>
        </p:nvSpPr>
        <p:spPr>
          <a:xfrm>
            <a:off x="548640" y="1965960"/>
            <a:ext cx="5440680" cy="3886200"/>
          </a:xfrm>
          <a:prstGeom prst="roundRect">
            <a:avLst>
              <a:gd name="adj" fmla="val 2118"/>
            </a:avLst>
          </a:prstGeom>
          <a:solidFill>
            <a:srgbClr val="EAF4EE"/>
          </a:solidFill>
          <a:ln/>
          <a:effectLst>
            <a:outerShdw sx="100000" sy="100000" kx="0" ky="0" algn="bl" rotWithShape="0" blurRad="88900" dist="38100" dir="5400000">
              <a:srgbClr val="000000">
                <a:alpha val="13000"/>
              </a:srgbClr>
            </a:outerShdw>
          </a:effectLst>
        </p:spPr>
      </p:sp>
      <p:sp>
        <p:nvSpPr>
          <p:cNvPr id="6" name="Shape 4"/>
          <p:cNvSpPr/>
          <p:nvPr/>
        </p:nvSpPr>
        <p:spPr>
          <a:xfrm>
            <a:off x="822960" y="2240280"/>
            <a:ext cx="566928" cy="566928"/>
          </a:xfrm>
          <a:prstGeom prst="ellipse">
            <a:avLst/>
          </a:prstGeom>
          <a:solidFill>
            <a:srgbClr val="3E9C6B"/>
          </a:solidFill>
          <a:ln/>
        </p:spPr>
      </p:sp>
      <p:pic>
        <p:nvPicPr>
          <p:cNvPr id="7" name="Image 0" descr="preencoded.png">    </p:cNvPr>
          <p:cNvPicPr>
            <a:picLocks noChangeAspect="1"/>
          </p:cNvPicPr>
          <p:nvPr/>
        </p:nvPicPr>
        <p:blipFill>
          <a:blip r:embed="rId1"/>
          <a:stretch>
            <a:fillRect/>
          </a:stretch>
        </p:blipFill>
        <p:spPr>
          <a:xfrm>
            <a:off x="976031" y="2393351"/>
            <a:ext cx="260787" cy="260787"/>
          </a:xfrm>
          <a:prstGeom prst="rect">
            <a:avLst/>
          </a:prstGeom>
        </p:spPr>
      </p:pic>
      <p:sp>
        <p:nvSpPr>
          <p:cNvPr id="8" name="Text 5"/>
          <p:cNvSpPr/>
          <p:nvPr/>
        </p:nvSpPr>
        <p:spPr>
          <a:xfrm>
            <a:off x="1536192" y="2286000"/>
            <a:ext cx="4114800" cy="457200"/>
          </a:xfrm>
          <a:prstGeom prst="rect">
            <a:avLst/>
          </a:prstGeom>
          <a:noFill/>
          <a:ln/>
        </p:spPr>
        <p:txBody>
          <a:bodyPr wrap="square" lIns="0" tIns="0" rIns="0" bIns="0" rtlCol="0" anchor="ctr"/>
          <a:lstStyle/>
          <a:p>
            <a:pPr indent="0" marL="0">
              <a:buNone/>
            </a:pPr>
            <a:r>
              <a:rPr lang="en-US" sz="2000" b="1" dirty="0">
                <a:solidFill>
                  <a:srgbClr val="3E9C6B"/>
                </a:solidFill>
                <a:latin typeface="Calibri" pitchFamily="34" charset="0"/>
                <a:ea typeface="Calibri" pitchFamily="34" charset="-122"/>
                <a:cs typeface="Calibri" pitchFamily="34" charset="-120"/>
              </a:rPr>
              <a:t>Strong</a:t>
            </a:r>
            <a:endParaRPr lang="en-US" sz="2000" dirty="0"/>
          </a:p>
        </p:txBody>
      </p:sp>
      <p:sp>
        <p:nvSpPr>
          <p:cNvPr id="9" name="Text 6"/>
          <p:cNvSpPr/>
          <p:nvPr/>
        </p:nvSpPr>
        <p:spPr>
          <a:xfrm>
            <a:off x="896112" y="3017520"/>
            <a:ext cx="4892040" cy="2743200"/>
          </a:xfrm>
          <a:prstGeom prst="rect">
            <a:avLst/>
          </a:prstGeom>
          <a:noFill/>
          <a:ln/>
        </p:spPr>
        <p:txBody>
          <a:bodyPr wrap="square" lIns="0" tIns="0" rIns="0" bIns="0" rtlCol="0" anchor="t"/>
          <a:lstStyle/>
          <a:p>
            <a:pPr marL="190500" indent="-190500">
              <a:spcAft>
                <a:spcPts val="900"/>
              </a:spcAft>
              <a:buSzPct val="100000"/>
              <a:buChar char="•"/>
            </a:pPr>
            <a:r>
              <a:rPr lang="en-US" sz="1500" dirty="0">
                <a:solidFill>
                  <a:srgbClr val="1E2A36"/>
                </a:solidFill>
                <a:latin typeface="Calibri" pitchFamily="34" charset="0"/>
                <a:ea typeface="Calibri" pitchFamily="34" charset="-122"/>
                <a:cs typeface="Calibri" pitchFamily="34" charset="-120"/>
              </a:rPr>
              <a:t>README that onboards + "how to contribute"</a:t>
            </a:r>
            <a:endParaRPr lang="en-US" sz="1500" dirty="0"/>
          </a:p>
          <a:p>
            <a:pPr marL="190500" indent="-190500">
              <a:spcAft>
                <a:spcPts val="900"/>
              </a:spcAft>
              <a:buSzPct val="100000"/>
              <a:buChar char="•"/>
            </a:pPr>
            <a:r>
              <a:rPr lang="en-US" sz="1500" dirty="0">
                <a:solidFill>
                  <a:srgbClr val="1E2A36"/>
                </a:solidFill>
                <a:latin typeface="Calibri" pitchFamily="34" charset="0"/>
                <a:ea typeface="Calibri" pitchFamily="34" charset="-122"/>
                <a:cs typeface="Calibri" pitchFamily="34" charset="-120"/>
              </a:rPr>
              <a:t>LICENSE, CONTRIBUTING, CODE_OF_CONDUCT</a:t>
            </a:r>
            <a:endParaRPr lang="en-US" sz="1500" dirty="0"/>
          </a:p>
          <a:p>
            <a:pPr marL="190500" indent="-190500">
              <a:spcAft>
                <a:spcPts val="900"/>
              </a:spcAft>
              <a:buSzPct val="100000"/>
              <a:buChar char="•"/>
            </a:pPr>
            <a:r>
              <a:rPr lang="en-US" sz="1500" dirty="0">
                <a:solidFill>
                  <a:srgbClr val="1E2A36"/>
                </a:solidFill>
                <a:latin typeface="Calibri" pitchFamily="34" charset="0"/>
                <a:ea typeface="Calibri" pitchFamily="34" charset="-122"/>
                <a:cs typeface="Calibri" pitchFamily="34" charset="-120"/>
              </a:rPr>
              <a:t>Issue / PR templates</a:t>
            </a:r>
            <a:endParaRPr lang="en-US" sz="1500" dirty="0"/>
          </a:p>
          <a:p>
            <a:pPr marL="190500" indent="-190500">
              <a:spcAft>
                <a:spcPts val="900"/>
              </a:spcAft>
              <a:buSzPct val="100000"/>
              <a:buChar char="•"/>
            </a:pPr>
            <a:r>
              <a:rPr lang="en-US" sz="1500" dirty="0">
                <a:solidFill>
                  <a:srgbClr val="1E2A36"/>
                </a:solidFill>
                <a:latin typeface="Calibri" pitchFamily="34" charset="0"/>
                <a:ea typeface="Calibri" pitchFamily="34" charset="-122"/>
                <a:cs typeface="Calibri" pitchFamily="34" charset="-120"/>
              </a:rPr>
              <a:t>Labeled good-first-issues + a roadmap</a:t>
            </a:r>
            <a:endParaRPr lang="en-US" sz="1500" dirty="0"/>
          </a:p>
          <a:p>
            <a:pPr marL="190500" indent="-190500">
              <a:buSzPct val="100000"/>
              <a:buChar char="•"/>
            </a:pPr>
            <a:r>
              <a:rPr lang="en-US" sz="1500" dirty="0">
                <a:solidFill>
                  <a:srgbClr val="1E2A36"/>
                </a:solidFill>
                <a:latin typeface="Calibri" pitchFamily="34" charset="0"/>
                <a:ea typeface="Calibri" pitchFamily="34" charset="-122"/>
                <a:cs typeface="Calibri" pitchFamily="34" charset="-120"/>
              </a:rPr>
              <a:t>Responsive maintainers, clear channel</a:t>
            </a:r>
            <a:endParaRPr lang="en-US" sz="1500" dirty="0"/>
          </a:p>
        </p:txBody>
      </p:sp>
      <p:sp>
        <p:nvSpPr>
          <p:cNvPr id="10" name="Shape 7"/>
          <p:cNvSpPr/>
          <p:nvPr/>
        </p:nvSpPr>
        <p:spPr>
          <a:xfrm>
            <a:off x="6172200" y="1965960"/>
            <a:ext cx="5440680" cy="3886200"/>
          </a:xfrm>
          <a:prstGeom prst="roundRect">
            <a:avLst>
              <a:gd name="adj" fmla="val 2118"/>
            </a:avLst>
          </a:prstGeom>
          <a:solidFill>
            <a:srgbClr val="FBECE8"/>
          </a:solidFill>
          <a:ln/>
          <a:effectLst>
            <a:outerShdw sx="100000" sy="100000" kx="0" ky="0" algn="bl" rotWithShape="0" blurRad="88900" dist="38100" dir="5400000">
              <a:srgbClr val="000000">
                <a:alpha val="13000"/>
              </a:srgbClr>
            </a:outerShdw>
          </a:effectLst>
        </p:spPr>
      </p:sp>
      <p:sp>
        <p:nvSpPr>
          <p:cNvPr id="11" name="Shape 8"/>
          <p:cNvSpPr/>
          <p:nvPr/>
        </p:nvSpPr>
        <p:spPr>
          <a:xfrm>
            <a:off x="6446520" y="2240280"/>
            <a:ext cx="566928" cy="566928"/>
          </a:xfrm>
          <a:prstGeom prst="ellipse">
            <a:avLst/>
          </a:prstGeom>
          <a:solidFill>
            <a:srgbClr val="D9614C"/>
          </a:solidFill>
          <a:ln/>
        </p:spPr>
      </p:sp>
      <p:pic>
        <p:nvPicPr>
          <p:cNvPr id="12" name="Image 1" descr="preencoded.png">    </p:cNvPr>
          <p:cNvPicPr>
            <a:picLocks noChangeAspect="1"/>
          </p:cNvPicPr>
          <p:nvPr/>
        </p:nvPicPr>
        <p:blipFill>
          <a:blip r:embed="rId2"/>
          <a:stretch>
            <a:fillRect/>
          </a:stretch>
        </p:blipFill>
        <p:spPr>
          <a:xfrm>
            <a:off x="6599591" y="2393351"/>
            <a:ext cx="260787" cy="260787"/>
          </a:xfrm>
          <a:prstGeom prst="rect">
            <a:avLst/>
          </a:prstGeom>
        </p:spPr>
      </p:pic>
      <p:sp>
        <p:nvSpPr>
          <p:cNvPr id="13" name="Text 9"/>
          <p:cNvSpPr/>
          <p:nvPr/>
        </p:nvSpPr>
        <p:spPr>
          <a:xfrm>
            <a:off x="7159752" y="2286000"/>
            <a:ext cx="4297680" cy="457200"/>
          </a:xfrm>
          <a:prstGeom prst="rect">
            <a:avLst/>
          </a:prstGeom>
          <a:noFill/>
          <a:ln/>
        </p:spPr>
        <p:txBody>
          <a:bodyPr wrap="square" lIns="0" tIns="0" rIns="0" bIns="0" rtlCol="0" anchor="ctr"/>
          <a:lstStyle/>
          <a:p>
            <a:pPr indent="0" marL="0">
              <a:buNone/>
            </a:pPr>
            <a:r>
              <a:rPr lang="en-US" sz="2000" b="1" dirty="0">
                <a:solidFill>
                  <a:srgbClr val="D9614C"/>
                </a:solidFill>
                <a:latin typeface="Calibri" pitchFamily="34" charset="0"/>
                <a:ea typeface="Calibri" pitchFamily="34" charset="-122"/>
                <a:cs typeface="Calibri" pitchFamily="34" charset="-120"/>
              </a:rPr>
              <a:t>Early-stage / incomplete</a:t>
            </a:r>
            <a:endParaRPr lang="en-US" sz="2000" dirty="0"/>
          </a:p>
        </p:txBody>
      </p:sp>
      <p:sp>
        <p:nvSpPr>
          <p:cNvPr id="14" name="Text 10"/>
          <p:cNvSpPr/>
          <p:nvPr/>
        </p:nvSpPr>
        <p:spPr>
          <a:xfrm>
            <a:off x="6519672" y="3017520"/>
            <a:ext cx="4892040" cy="2743200"/>
          </a:xfrm>
          <a:prstGeom prst="rect">
            <a:avLst/>
          </a:prstGeom>
          <a:noFill/>
          <a:ln/>
        </p:spPr>
        <p:txBody>
          <a:bodyPr wrap="square" lIns="0" tIns="0" rIns="0" bIns="0" rtlCol="0" anchor="t"/>
          <a:lstStyle/>
          <a:p>
            <a:pPr marL="190500" indent="-190500">
              <a:spcAft>
                <a:spcPts val="900"/>
              </a:spcAft>
              <a:buSzPct val="100000"/>
              <a:buChar char="•"/>
            </a:pPr>
            <a:r>
              <a:rPr lang="en-US" sz="1500" dirty="0">
                <a:solidFill>
                  <a:srgbClr val="1E2A36"/>
                </a:solidFill>
                <a:latin typeface="Calibri" pitchFamily="34" charset="0"/>
                <a:ea typeface="Calibri" pitchFamily="34" charset="-122"/>
                <a:cs typeface="Calibri" pitchFamily="34" charset="-120"/>
              </a:rPr>
              <a:t>Just code + a bare README</a:t>
            </a:r>
            <a:endParaRPr lang="en-US" sz="1500" dirty="0"/>
          </a:p>
          <a:p>
            <a:pPr marL="190500" indent="-190500">
              <a:spcAft>
                <a:spcPts val="900"/>
              </a:spcAft>
              <a:buSzPct val="100000"/>
              <a:buChar char="•"/>
            </a:pPr>
            <a:r>
              <a:rPr lang="en-US" sz="1500" dirty="0">
                <a:solidFill>
                  <a:srgbClr val="1E2A36"/>
                </a:solidFill>
                <a:latin typeface="Calibri" pitchFamily="34" charset="0"/>
                <a:ea typeface="Calibri" pitchFamily="34" charset="-122"/>
                <a:cs typeface="Calibri" pitchFamily="34" charset="-120"/>
              </a:rPr>
              <a:t>No LICENSE — legally not reusable</a:t>
            </a:r>
            <a:endParaRPr lang="en-US" sz="1500" dirty="0"/>
          </a:p>
          <a:p>
            <a:pPr marL="190500" indent="-190500">
              <a:spcAft>
                <a:spcPts val="900"/>
              </a:spcAft>
              <a:buSzPct val="100000"/>
              <a:buChar char="•"/>
            </a:pPr>
            <a:r>
              <a:rPr lang="en-US" sz="1500" dirty="0">
                <a:solidFill>
                  <a:srgbClr val="1E2A36"/>
                </a:solidFill>
                <a:latin typeface="Calibri" pitchFamily="34" charset="0"/>
                <a:ea typeface="Calibri" pitchFamily="34" charset="-122"/>
                <a:cs typeface="Calibri" pitchFamily="34" charset="-120"/>
              </a:rPr>
              <a:t>No CONTRIBUTING — newcomers are lost</a:t>
            </a:r>
            <a:endParaRPr lang="en-US" sz="1500" dirty="0"/>
          </a:p>
          <a:p>
            <a:pPr marL="190500" indent="-190500">
              <a:spcAft>
                <a:spcPts val="900"/>
              </a:spcAft>
              <a:buSzPct val="100000"/>
              <a:buChar char="•"/>
            </a:pPr>
            <a:r>
              <a:rPr lang="en-US" sz="1500" dirty="0">
                <a:solidFill>
                  <a:srgbClr val="1E2A36"/>
                </a:solidFill>
                <a:latin typeface="Calibri" pitchFamily="34" charset="0"/>
                <a:ea typeface="Calibri" pitchFamily="34" charset="-122"/>
                <a:cs typeface="Calibri" pitchFamily="34" charset="-120"/>
              </a:rPr>
              <a:t>No code of conduct, no templates</a:t>
            </a:r>
            <a:endParaRPr lang="en-US" sz="1500" dirty="0"/>
          </a:p>
          <a:p>
            <a:pPr marL="190500" indent="-190500">
              <a:buSzPct val="100000"/>
              <a:buChar char="•"/>
            </a:pPr>
            <a:r>
              <a:rPr lang="en-US" sz="1500" dirty="0">
                <a:solidFill>
                  <a:srgbClr val="1E2A36"/>
                </a:solidFill>
                <a:latin typeface="Calibri" pitchFamily="34" charset="0"/>
                <a:ea typeface="Calibri" pitchFamily="34" charset="-122"/>
                <a:cs typeface="Calibri" pitchFamily="34" charset="-120"/>
              </a:rPr>
              <a:t>Stale, unanswered issues</a:t>
            </a:r>
            <a:endParaRPr lang="en-US" sz="1500" dirty="0"/>
          </a:p>
        </p:txBody>
      </p:sp>
      <p:sp>
        <p:nvSpPr>
          <p:cNvPr id="15" name="Text 11"/>
          <p:cNvSpPr/>
          <p:nvPr/>
        </p:nvSpPr>
        <p:spPr>
          <a:xfrm>
            <a:off x="7132320" y="6437376"/>
            <a:ext cx="44805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3 · Open Source &amp; Licensing</a:t>
            </a:r>
            <a:endParaRPr lang="en-US" sz="1000" dirty="0"/>
          </a:p>
        </p:txBody>
      </p:sp>
      <p:sp>
        <p:nvSpPr>
          <p:cNvPr id="16" name="Text 12"/>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THE FOUNDER'S CHOICES</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Six calls you make as maintainer</a:t>
            </a:r>
            <a:endParaRPr lang="en-US" sz="3100" dirty="0"/>
          </a:p>
        </p:txBody>
      </p:sp>
      <p:sp>
        <p:nvSpPr>
          <p:cNvPr id="5" name="Shape 3"/>
          <p:cNvSpPr/>
          <p:nvPr/>
        </p:nvSpPr>
        <p:spPr>
          <a:xfrm>
            <a:off x="548640" y="1920240"/>
            <a:ext cx="3611880" cy="1371600"/>
          </a:xfrm>
          <a:prstGeom prst="roundRect">
            <a:avLst>
              <a:gd name="adj" fmla="val 6000"/>
            </a:avLst>
          </a:prstGeom>
          <a:solidFill>
            <a:srgbClr val="F2F6F8"/>
          </a:solidFill>
          <a:ln/>
          <a:effectLst>
            <a:outerShdw sx="100000" sy="100000" kx="0" ky="0" algn="bl" rotWithShape="0" blurRad="88900" dist="38100" dir="5400000">
              <a:srgbClr val="000000">
                <a:alpha val="13000"/>
              </a:srgbClr>
            </a:outerShdw>
          </a:effectLst>
        </p:spPr>
      </p:sp>
      <p:sp>
        <p:nvSpPr>
          <p:cNvPr id="6" name="Shape 4"/>
          <p:cNvSpPr/>
          <p:nvPr/>
        </p:nvSpPr>
        <p:spPr>
          <a:xfrm>
            <a:off x="777240" y="2148840"/>
            <a:ext cx="548640" cy="548640"/>
          </a:xfrm>
          <a:prstGeom prst="ellipse">
            <a:avLst/>
          </a:prstGeom>
          <a:solidFill>
            <a:srgbClr val="12908F"/>
          </a:solidFill>
          <a:ln/>
        </p:spPr>
      </p:sp>
      <p:pic>
        <p:nvPicPr>
          <p:cNvPr id="7" name="Image 0" descr="preencoded.png">    </p:cNvPr>
          <p:cNvPicPr>
            <a:picLocks noChangeAspect="1"/>
          </p:cNvPicPr>
          <p:nvPr/>
        </p:nvPicPr>
        <p:blipFill>
          <a:blip r:embed="rId1"/>
          <a:stretch>
            <a:fillRect/>
          </a:stretch>
        </p:blipFill>
        <p:spPr>
          <a:xfrm>
            <a:off x="925373" y="2296973"/>
            <a:ext cx="252374" cy="252374"/>
          </a:xfrm>
          <a:prstGeom prst="rect">
            <a:avLst/>
          </a:prstGeom>
        </p:spPr>
      </p:pic>
      <p:sp>
        <p:nvSpPr>
          <p:cNvPr id="8" name="Text 5"/>
          <p:cNvSpPr/>
          <p:nvPr/>
        </p:nvSpPr>
        <p:spPr>
          <a:xfrm>
            <a:off x="1463040" y="2121408"/>
            <a:ext cx="2560320" cy="548640"/>
          </a:xfrm>
          <a:prstGeom prst="rect">
            <a:avLst/>
          </a:prstGeom>
          <a:noFill/>
          <a:ln/>
        </p:spPr>
        <p:txBody>
          <a:bodyPr wrap="square" lIns="0" tIns="0" rIns="0" bIns="0" rtlCol="0" anchor="ctr"/>
          <a:lstStyle/>
          <a:p>
            <a:pPr indent="0" marL="0">
              <a:buNone/>
            </a:pPr>
            <a:r>
              <a:rPr lang="en-US" sz="1700" b="1" dirty="0">
                <a:solidFill>
                  <a:srgbClr val="1E2A36"/>
                </a:solidFill>
                <a:latin typeface="Calibri" pitchFamily="34" charset="0"/>
                <a:ea typeface="Calibri" pitchFamily="34" charset="-122"/>
                <a:cs typeface="Calibri" pitchFamily="34" charset="-120"/>
              </a:rPr>
              <a:t>Visibility</a:t>
            </a:r>
            <a:endParaRPr lang="en-US" sz="1700" dirty="0"/>
          </a:p>
        </p:txBody>
      </p:sp>
      <p:sp>
        <p:nvSpPr>
          <p:cNvPr id="9" name="Text 6"/>
          <p:cNvSpPr/>
          <p:nvPr/>
        </p:nvSpPr>
        <p:spPr>
          <a:xfrm>
            <a:off x="804672" y="2761488"/>
            <a:ext cx="3154680" cy="457200"/>
          </a:xfrm>
          <a:prstGeom prst="rect">
            <a:avLst/>
          </a:prstGeom>
          <a:noFill/>
          <a:ln/>
        </p:spPr>
        <p:txBody>
          <a:bodyPr wrap="square" lIns="0" tIns="0" rIns="0" bIns="0" rtlCol="0" anchor="ctr"/>
          <a:lstStyle/>
          <a:p>
            <a:pPr indent="0" marL="0">
              <a:buNone/>
            </a:pPr>
            <a:r>
              <a:rPr lang="en-US" sz="1400" dirty="0">
                <a:solidFill>
                  <a:srgbClr val="5F7284"/>
                </a:solidFill>
                <a:latin typeface="Calibri" pitchFamily="34" charset="0"/>
                <a:ea typeface="Calibri" pitchFamily="34" charset="-122"/>
                <a:cs typeface="Calibri" pitchFamily="34" charset="-120"/>
              </a:rPr>
              <a:t>Public from day one, or later?</a:t>
            </a:r>
            <a:endParaRPr lang="en-US" sz="1400" dirty="0"/>
          </a:p>
        </p:txBody>
      </p:sp>
      <p:sp>
        <p:nvSpPr>
          <p:cNvPr id="10" name="Shape 7"/>
          <p:cNvSpPr/>
          <p:nvPr/>
        </p:nvSpPr>
        <p:spPr>
          <a:xfrm>
            <a:off x="4279392" y="1920240"/>
            <a:ext cx="3611880" cy="1371600"/>
          </a:xfrm>
          <a:prstGeom prst="roundRect">
            <a:avLst>
              <a:gd name="adj" fmla="val 6000"/>
            </a:avLst>
          </a:prstGeom>
          <a:solidFill>
            <a:srgbClr val="F2F6F8"/>
          </a:solidFill>
          <a:ln/>
          <a:effectLst>
            <a:outerShdw sx="100000" sy="100000" kx="0" ky="0" algn="bl" rotWithShape="0" blurRad="88900" dist="38100" dir="5400000">
              <a:srgbClr val="000000">
                <a:alpha val="13000"/>
              </a:srgbClr>
            </a:outerShdw>
          </a:effectLst>
        </p:spPr>
      </p:sp>
      <p:sp>
        <p:nvSpPr>
          <p:cNvPr id="11" name="Shape 8"/>
          <p:cNvSpPr/>
          <p:nvPr/>
        </p:nvSpPr>
        <p:spPr>
          <a:xfrm>
            <a:off x="4507992" y="2148840"/>
            <a:ext cx="548640" cy="548640"/>
          </a:xfrm>
          <a:prstGeom prst="ellipse">
            <a:avLst/>
          </a:prstGeom>
          <a:solidFill>
            <a:srgbClr val="12908F"/>
          </a:solidFill>
          <a:ln/>
        </p:spPr>
      </p:sp>
      <p:pic>
        <p:nvPicPr>
          <p:cNvPr id="12" name="Image 1" descr="preencoded.png">    </p:cNvPr>
          <p:cNvPicPr>
            <a:picLocks noChangeAspect="1"/>
          </p:cNvPicPr>
          <p:nvPr/>
        </p:nvPicPr>
        <p:blipFill>
          <a:blip r:embed="rId2"/>
          <a:stretch>
            <a:fillRect/>
          </a:stretch>
        </p:blipFill>
        <p:spPr>
          <a:xfrm>
            <a:off x="4656125" y="2296973"/>
            <a:ext cx="252374" cy="252374"/>
          </a:xfrm>
          <a:prstGeom prst="rect">
            <a:avLst/>
          </a:prstGeom>
        </p:spPr>
      </p:pic>
      <p:sp>
        <p:nvSpPr>
          <p:cNvPr id="13" name="Text 9"/>
          <p:cNvSpPr/>
          <p:nvPr/>
        </p:nvSpPr>
        <p:spPr>
          <a:xfrm>
            <a:off x="5193792" y="2121408"/>
            <a:ext cx="2560320" cy="548640"/>
          </a:xfrm>
          <a:prstGeom prst="rect">
            <a:avLst/>
          </a:prstGeom>
          <a:noFill/>
          <a:ln/>
        </p:spPr>
        <p:txBody>
          <a:bodyPr wrap="square" lIns="0" tIns="0" rIns="0" bIns="0" rtlCol="0" anchor="ctr"/>
          <a:lstStyle/>
          <a:p>
            <a:pPr indent="0" marL="0">
              <a:buNone/>
            </a:pPr>
            <a:r>
              <a:rPr lang="en-US" sz="1700" b="1" dirty="0">
                <a:solidFill>
                  <a:srgbClr val="1E2A36"/>
                </a:solidFill>
                <a:latin typeface="Calibri" pitchFamily="34" charset="0"/>
                <a:ea typeface="Calibri" pitchFamily="34" charset="-122"/>
                <a:cs typeface="Calibri" pitchFamily="34" charset="-120"/>
              </a:rPr>
              <a:t>Code of conduct</a:t>
            </a:r>
            <a:endParaRPr lang="en-US" sz="1700" dirty="0"/>
          </a:p>
        </p:txBody>
      </p:sp>
      <p:sp>
        <p:nvSpPr>
          <p:cNvPr id="14" name="Text 10"/>
          <p:cNvSpPr/>
          <p:nvPr/>
        </p:nvSpPr>
        <p:spPr>
          <a:xfrm>
            <a:off x="4535424" y="2761488"/>
            <a:ext cx="3154680" cy="457200"/>
          </a:xfrm>
          <a:prstGeom prst="rect">
            <a:avLst/>
          </a:prstGeom>
          <a:noFill/>
          <a:ln/>
        </p:spPr>
        <p:txBody>
          <a:bodyPr wrap="square" lIns="0" tIns="0" rIns="0" bIns="0" rtlCol="0" anchor="ctr"/>
          <a:lstStyle/>
          <a:p>
            <a:pPr indent="0" marL="0">
              <a:buNone/>
            </a:pPr>
            <a:r>
              <a:rPr lang="en-US" sz="1400" dirty="0">
                <a:solidFill>
                  <a:srgbClr val="5F7284"/>
                </a:solidFill>
                <a:latin typeface="Calibri" pitchFamily="34" charset="0"/>
                <a:ea typeface="Calibri" pitchFamily="34" charset="-122"/>
                <a:cs typeface="Calibri" pitchFamily="34" charset="-120"/>
              </a:rPr>
              <a:t>How people treat each other.</a:t>
            </a:r>
            <a:endParaRPr lang="en-US" sz="1400" dirty="0"/>
          </a:p>
        </p:txBody>
      </p:sp>
      <p:sp>
        <p:nvSpPr>
          <p:cNvPr id="15" name="Shape 11"/>
          <p:cNvSpPr/>
          <p:nvPr/>
        </p:nvSpPr>
        <p:spPr>
          <a:xfrm>
            <a:off x="8010144" y="1920240"/>
            <a:ext cx="3611880" cy="1371600"/>
          </a:xfrm>
          <a:prstGeom prst="roundRect">
            <a:avLst>
              <a:gd name="adj" fmla="val 6000"/>
            </a:avLst>
          </a:prstGeom>
          <a:solidFill>
            <a:srgbClr val="F2F6F8"/>
          </a:solidFill>
          <a:ln/>
          <a:effectLst>
            <a:outerShdw sx="100000" sy="100000" kx="0" ky="0" algn="bl" rotWithShape="0" blurRad="88900" dist="38100" dir="5400000">
              <a:srgbClr val="000000">
                <a:alpha val="13000"/>
              </a:srgbClr>
            </a:outerShdw>
          </a:effectLst>
        </p:spPr>
      </p:sp>
      <p:sp>
        <p:nvSpPr>
          <p:cNvPr id="16" name="Shape 12"/>
          <p:cNvSpPr/>
          <p:nvPr/>
        </p:nvSpPr>
        <p:spPr>
          <a:xfrm>
            <a:off x="8238744" y="2148840"/>
            <a:ext cx="548640" cy="548640"/>
          </a:xfrm>
          <a:prstGeom prst="ellipse">
            <a:avLst/>
          </a:prstGeom>
          <a:solidFill>
            <a:srgbClr val="12908F"/>
          </a:solidFill>
          <a:ln/>
        </p:spPr>
      </p:sp>
      <p:pic>
        <p:nvPicPr>
          <p:cNvPr id="17" name="Image 2" descr="preencoded.png">    </p:cNvPr>
          <p:cNvPicPr>
            <a:picLocks noChangeAspect="1"/>
          </p:cNvPicPr>
          <p:nvPr/>
        </p:nvPicPr>
        <p:blipFill>
          <a:blip r:embed="rId3"/>
          <a:stretch>
            <a:fillRect/>
          </a:stretch>
        </p:blipFill>
        <p:spPr>
          <a:xfrm>
            <a:off x="8386877" y="2296973"/>
            <a:ext cx="252374" cy="252374"/>
          </a:xfrm>
          <a:prstGeom prst="rect">
            <a:avLst/>
          </a:prstGeom>
        </p:spPr>
      </p:pic>
      <p:sp>
        <p:nvSpPr>
          <p:cNvPr id="18" name="Text 13"/>
          <p:cNvSpPr/>
          <p:nvPr/>
        </p:nvSpPr>
        <p:spPr>
          <a:xfrm>
            <a:off x="8924544" y="2121408"/>
            <a:ext cx="2560320" cy="548640"/>
          </a:xfrm>
          <a:prstGeom prst="rect">
            <a:avLst/>
          </a:prstGeom>
          <a:noFill/>
          <a:ln/>
        </p:spPr>
        <p:txBody>
          <a:bodyPr wrap="square" lIns="0" tIns="0" rIns="0" bIns="0" rtlCol="0" anchor="ctr"/>
          <a:lstStyle/>
          <a:p>
            <a:pPr indent="0" marL="0">
              <a:buNone/>
            </a:pPr>
            <a:r>
              <a:rPr lang="en-US" sz="1700" b="1" dirty="0">
                <a:solidFill>
                  <a:srgbClr val="1E2A36"/>
                </a:solidFill>
                <a:latin typeface="Calibri" pitchFamily="34" charset="0"/>
                <a:ea typeface="Calibri" pitchFamily="34" charset="-122"/>
                <a:cs typeface="Calibri" pitchFamily="34" charset="-120"/>
              </a:rPr>
              <a:t>Contribution process</a:t>
            </a:r>
            <a:endParaRPr lang="en-US" sz="1700" dirty="0"/>
          </a:p>
        </p:txBody>
      </p:sp>
      <p:sp>
        <p:nvSpPr>
          <p:cNvPr id="19" name="Text 14"/>
          <p:cNvSpPr/>
          <p:nvPr/>
        </p:nvSpPr>
        <p:spPr>
          <a:xfrm>
            <a:off x="8266176" y="2761488"/>
            <a:ext cx="3154680" cy="457200"/>
          </a:xfrm>
          <a:prstGeom prst="rect">
            <a:avLst/>
          </a:prstGeom>
          <a:noFill/>
          <a:ln/>
        </p:spPr>
        <p:txBody>
          <a:bodyPr wrap="square" lIns="0" tIns="0" rIns="0" bIns="0" rtlCol="0" anchor="ctr"/>
          <a:lstStyle/>
          <a:p>
            <a:pPr indent="0" marL="0">
              <a:buNone/>
            </a:pPr>
            <a:r>
              <a:rPr lang="en-US" sz="1400" dirty="0">
                <a:solidFill>
                  <a:srgbClr val="5F7284"/>
                </a:solidFill>
                <a:latin typeface="Calibri" pitchFamily="34" charset="0"/>
                <a:ea typeface="Calibri" pitchFamily="34" charset="-122"/>
                <a:cs typeface="Calibri" pitchFamily="34" charset="-120"/>
              </a:rPr>
              <a:t>Issues, PRs, review, "done."</a:t>
            </a:r>
            <a:endParaRPr lang="en-US" sz="1400" dirty="0"/>
          </a:p>
        </p:txBody>
      </p:sp>
      <p:sp>
        <p:nvSpPr>
          <p:cNvPr id="20" name="Shape 15"/>
          <p:cNvSpPr/>
          <p:nvPr/>
        </p:nvSpPr>
        <p:spPr>
          <a:xfrm>
            <a:off x="548640" y="3456432"/>
            <a:ext cx="3611880" cy="1371600"/>
          </a:xfrm>
          <a:prstGeom prst="roundRect">
            <a:avLst>
              <a:gd name="adj" fmla="val 6000"/>
            </a:avLst>
          </a:prstGeom>
          <a:solidFill>
            <a:srgbClr val="F2F6F8"/>
          </a:solidFill>
          <a:ln/>
          <a:effectLst>
            <a:outerShdw sx="100000" sy="100000" kx="0" ky="0" algn="bl" rotWithShape="0" blurRad="88900" dist="38100" dir="5400000">
              <a:srgbClr val="000000">
                <a:alpha val="13000"/>
              </a:srgbClr>
            </a:outerShdw>
          </a:effectLst>
        </p:spPr>
      </p:sp>
      <p:sp>
        <p:nvSpPr>
          <p:cNvPr id="21" name="Shape 16"/>
          <p:cNvSpPr/>
          <p:nvPr/>
        </p:nvSpPr>
        <p:spPr>
          <a:xfrm>
            <a:off x="777240" y="3685032"/>
            <a:ext cx="548640" cy="548640"/>
          </a:xfrm>
          <a:prstGeom prst="ellipse">
            <a:avLst/>
          </a:prstGeom>
          <a:solidFill>
            <a:srgbClr val="12908F"/>
          </a:solidFill>
          <a:ln/>
        </p:spPr>
      </p:sp>
      <p:pic>
        <p:nvPicPr>
          <p:cNvPr id="22" name="Image 3" descr="preencoded.png">    </p:cNvPr>
          <p:cNvPicPr>
            <a:picLocks noChangeAspect="1"/>
          </p:cNvPicPr>
          <p:nvPr/>
        </p:nvPicPr>
        <p:blipFill>
          <a:blip r:embed="rId4"/>
          <a:stretch>
            <a:fillRect/>
          </a:stretch>
        </p:blipFill>
        <p:spPr>
          <a:xfrm>
            <a:off x="925373" y="3833165"/>
            <a:ext cx="252374" cy="252374"/>
          </a:xfrm>
          <a:prstGeom prst="rect">
            <a:avLst/>
          </a:prstGeom>
        </p:spPr>
      </p:pic>
      <p:sp>
        <p:nvSpPr>
          <p:cNvPr id="23" name="Text 17"/>
          <p:cNvSpPr/>
          <p:nvPr/>
        </p:nvSpPr>
        <p:spPr>
          <a:xfrm>
            <a:off x="1463040" y="3657600"/>
            <a:ext cx="2560320" cy="548640"/>
          </a:xfrm>
          <a:prstGeom prst="rect">
            <a:avLst/>
          </a:prstGeom>
          <a:noFill/>
          <a:ln/>
        </p:spPr>
        <p:txBody>
          <a:bodyPr wrap="square" lIns="0" tIns="0" rIns="0" bIns="0" rtlCol="0" anchor="ctr"/>
          <a:lstStyle/>
          <a:p>
            <a:pPr indent="0" marL="0">
              <a:buNone/>
            </a:pPr>
            <a:r>
              <a:rPr lang="en-US" sz="1700" b="1" dirty="0">
                <a:solidFill>
                  <a:srgbClr val="1E2A36"/>
                </a:solidFill>
                <a:latin typeface="Calibri" pitchFamily="34" charset="0"/>
                <a:ea typeface="Calibri" pitchFamily="34" charset="-122"/>
                <a:cs typeface="Calibri" pitchFamily="34" charset="-120"/>
              </a:rPr>
              <a:t>Maintainer expectations</a:t>
            </a:r>
            <a:endParaRPr lang="en-US" sz="1700" dirty="0"/>
          </a:p>
        </p:txBody>
      </p:sp>
      <p:sp>
        <p:nvSpPr>
          <p:cNvPr id="24" name="Text 18"/>
          <p:cNvSpPr/>
          <p:nvPr/>
        </p:nvSpPr>
        <p:spPr>
          <a:xfrm>
            <a:off x="804672" y="4297680"/>
            <a:ext cx="3154680" cy="457200"/>
          </a:xfrm>
          <a:prstGeom prst="rect">
            <a:avLst/>
          </a:prstGeom>
          <a:noFill/>
          <a:ln/>
        </p:spPr>
        <p:txBody>
          <a:bodyPr wrap="square" lIns="0" tIns="0" rIns="0" bIns="0" rtlCol="0" anchor="ctr"/>
          <a:lstStyle/>
          <a:p>
            <a:pPr indent="0" marL="0">
              <a:buNone/>
            </a:pPr>
            <a:r>
              <a:rPr lang="en-US" sz="1400" dirty="0">
                <a:solidFill>
                  <a:srgbClr val="5F7284"/>
                </a:solidFill>
                <a:latin typeface="Calibri" pitchFamily="34" charset="0"/>
                <a:ea typeface="Calibri" pitchFamily="34" charset="-122"/>
                <a:cs typeface="Calibri" pitchFamily="34" charset="-120"/>
              </a:rPr>
              <a:t>Responsiveness, who reviews.</a:t>
            </a:r>
            <a:endParaRPr lang="en-US" sz="1400" dirty="0"/>
          </a:p>
        </p:txBody>
      </p:sp>
      <p:sp>
        <p:nvSpPr>
          <p:cNvPr id="25" name="Shape 19"/>
          <p:cNvSpPr/>
          <p:nvPr/>
        </p:nvSpPr>
        <p:spPr>
          <a:xfrm>
            <a:off x="4279392" y="3456432"/>
            <a:ext cx="3611880" cy="1371600"/>
          </a:xfrm>
          <a:prstGeom prst="roundRect">
            <a:avLst>
              <a:gd name="adj" fmla="val 6000"/>
            </a:avLst>
          </a:prstGeom>
          <a:solidFill>
            <a:srgbClr val="F2F6F8"/>
          </a:solidFill>
          <a:ln/>
          <a:effectLst>
            <a:outerShdw sx="100000" sy="100000" kx="0" ky="0" algn="bl" rotWithShape="0" blurRad="88900" dist="38100" dir="5400000">
              <a:srgbClr val="000000">
                <a:alpha val="13000"/>
              </a:srgbClr>
            </a:outerShdw>
          </a:effectLst>
        </p:spPr>
      </p:sp>
      <p:sp>
        <p:nvSpPr>
          <p:cNvPr id="26" name="Shape 20"/>
          <p:cNvSpPr/>
          <p:nvPr/>
        </p:nvSpPr>
        <p:spPr>
          <a:xfrm>
            <a:off x="4507992" y="3685032"/>
            <a:ext cx="548640" cy="548640"/>
          </a:xfrm>
          <a:prstGeom prst="ellipse">
            <a:avLst/>
          </a:prstGeom>
          <a:solidFill>
            <a:srgbClr val="12908F"/>
          </a:solidFill>
          <a:ln/>
        </p:spPr>
      </p:sp>
      <p:pic>
        <p:nvPicPr>
          <p:cNvPr id="27" name="Image 4" descr="preencoded.png">    </p:cNvPr>
          <p:cNvPicPr>
            <a:picLocks noChangeAspect="1"/>
          </p:cNvPicPr>
          <p:nvPr/>
        </p:nvPicPr>
        <p:blipFill>
          <a:blip r:embed="rId5"/>
          <a:stretch>
            <a:fillRect/>
          </a:stretch>
        </p:blipFill>
        <p:spPr>
          <a:xfrm>
            <a:off x="4656125" y="3833165"/>
            <a:ext cx="252374" cy="252374"/>
          </a:xfrm>
          <a:prstGeom prst="rect">
            <a:avLst/>
          </a:prstGeom>
        </p:spPr>
      </p:pic>
      <p:sp>
        <p:nvSpPr>
          <p:cNvPr id="28" name="Text 21"/>
          <p:cNvSpPr/>
          <p:nvPr/>
        </p:nvSpPr>
        <p:spPr>
          <a:xfrm>
            <a:off x="5193792" y="3657600"/>
            <a:ext cx="2560320" cy="548640"/>
          </a:xfrm>
          <a:prstGeom prst="rect">
            <a:avLst/>
          </a:prstGeom>
          <a:noFill/>
          <a:ln/>
        </p:spPr>
        <p:txBody>
          <a:bodyPr wrap="square" lIns="0" tIns="0" rIns="0" bIns="0" rtlCol="0" anchor="ctr"/>
          <a:lstStyle/>
          <a:p>
            <a:pPr indent="0" marL="0">
              <a:buNone/>
            </a:pPr>
            <a:r>
              <a:rPr lang="en-US" sz="1700" b="1" dirty="0">
                <a:solidFill>
                  <a:srgbClr val="1E2A36"/>
                </a:solidFill>
                <a:latin typeface="Calibri" pitchFamily="34" charset="0"/>
                <a:ea typeface="Calibri" pitchFamily="34" charset="-122"/>
                <a:cs typeface="Calibri" pitchFamily="34" charset="-120"/>
              </a:rPr>
              <a:t>Communication</a:t>
            </a:r>
            <a:endParaRPr lang="en-US" sz="1700" dirty="0"/>
          </a:p>
        </p:txBody>
      </p:sp>
      <p:sp>
        <p:nvSpPr>
          <p:cNvPr id="29" name="Text 22"/>
          <p:cNvSpPr/>
          <p:nvPr/>
        </p:nvSpPr>
        <p:spPr>
          <a:xfrm>
            <a:off x="4535424" y="4297680"/>
            <a:ext cx="3154680" cy="457200"/>
          </a:xfrm>
          <a:prstGeom prst="rect">
            <a:avLst/>
          </a:prstGeom>
          <a:noFill/>
          <a:ln/>
        </p:spPr>
        <p:txBody>
          <a:bodyPr wrap="square" lIns="0" tIns="0" rIns="0" bIns="0" rtlCol="0" anchor="ctr"/>
          <a:lstStyle/>
          <a:p>
            <a:pPr indent="0" marL="0">
              <a:buNone/>
            </a:pPr>
            <a:r>
              <a:rPr lang="en-US" sz="1400" dirty="0">
                <a:solidFill>
                  <a:srgbClr val="5F7284"/>
                </a:solidFill>
                <a:latin typeface="Calibri" pitchFamily="34" charset="0"/>
                <a:ea typeface="Calibri" pitchFamily="34" charset="-122"/>
                <a:cs typeface="Calibri" pitchFamily="34" charset="-120"/>
              </a:rPr>
              <a:t>Where discussion happens.</a:t>
            </a:r>
            <a:endParaRPr lang="en-US" sz="1400" dirty="0"/>
          </a:p>
        </p:txBody>
      </p:sp>
      <p:sp>
        <p:nvSpPr>
          <p:cNvPr id="30" name="Shape 23"/>
          <p:cNvSpPr/>
          <p:nvPr/>
        </p:nvSpPr>
        <p:spPr>
          <a:xfrm>
            <a:off x="8010144" y="3456432"/>
            <a:ext cx="3611880" cy="1371600"/>
          </a:xfrm>
          <a:prstGeom prst="roundRect">
            <a:avLst>
              <a:gd name="adj" fmla="val 6000"/>
            </a:avLst>
          </a:prstGeom>
          <a:solidFill>
            <a:srgbClr val="F2F6F8"/>
          </a:solidFill>
          <a:ln/>
          <a:effectLst>
            <a:outerShdw sx="100000" sy="100000" kx="0" ky="0" algn="bl" rotWithShape="0" blurRad="88900" dist="38100" dir="5400000">
              <a:srgbClr val="000000">
                <a:alpha val="13000"/>
              </a:srgbClr>
            </a:outerShdw>
          </a:effectLst>
        </p:spPr>
      </p:sp>
      <p:sp>
        <p:nvSpPr>
          <p:cNvPr id="31" name="Shape 24"/>
          <p:cNvSpPr/>
          <p:nvPr/>
        </p:nvSpPr>
        <p:spPr>
          <a:xfrm>
            <a:off x="8238744" y="3685032"/>
            <a:ext cx="548640" cy="548640"/>
          </a:xfrm>
          <a:prstGeom prst="ellipse">
            <a:avLst/>
          </a:prstGeom>
          <a:solidFill>
            <a:srgbClr val="12908F"/>
          </a:solidFill>
          <a:ln/>
        </p:spPr>
      </p:sp>
      <p:pic>
        <p:nvPicPr>
          <p:cNvPr id="32" name="Image 5" descr="preencoded.png">    </p:cNvPr>
          <p:cNvPicPr>
            <a:picLocks noChangeAspect="1"/>
          </p:cNvPicPr>
          <p:nvPr/>
        </p:nvPicPr>
        <p:blipFill>
          <a:blip r:embed="rId6"/>
          <a:stretch>
            <a:fillRect/>
          </a:stretch>
        </p:blipFill>
        <p:spPr>
          <a:xfrm>
            <a:off x="8386877" y="3833165"/>
            <a:ext cx="252374" cy="252374"/>
          </a:xfrm>
          <a:prstGeom prst="rect">
            <a:avLst/>
          </a:prstGeom>
        </p:spPr>
      </p:pic>
      <p:sp>
        <p:nvSpPr>
          <p:cNvPr id="33" name="Text 25"/>
          <p:cNvSpPr/>
          <p:nvPr/>
        </p:nvSpPr>
        <p:spPr>
          <a:xfrm>
            <a:off x="8924544" y="3657600"/>
            <a:ext cx="2560320" cy="548640"/>
          </a:xfrm>
          <a:prstGeom prst="rect">
            <a:avLst/>
          </a:prstGeom>
          <a:noFill/>
          <a:ln/>
        </p:spPr>
        <p:txBody>
          <a:bodyPr wrap="square" lIns="0" tIns="0" rIns="0" bIns="0" rtlCol="0" anchor="ctr"/>
          <a:lstStyle/>
          <a:p>
            <a:pPr indent="0" marL="0">
              <a:buNone/>
            </a:pPr>
            <a:r>
              <a:rPr lang="en-US" sz="1700" b="1" dirty="0">
                <a:solidFill>
                  <a:srgbClr val="1E2A36"/>
                </a:solidFill>
                <a:latin typeface="Calibri" pitchFamily="34" charset="0"/>
                <a:ea typeface="Calibri" pitchFamily="34" charset="-122"/>
                <a:cs typeface="Calibri" pitchFamily="34" charset="-120"/>
              </a:rPr>
              <a:t>Decision-making</a:t>
            </a:r>
            <a:endParaRPr lang="en-US" sz="1700" dirty="0"/>
          </a:p>
        </p:txBody>
      </p:sp>
      <p:sp>
        <p:nvSpPr>
          <p:cNvPr id="34" name="Text 26"/>
          <p:cNvSpPr/>
          <p:nvPr/>
        </p:nvSpPr>
        <p:spPr>
          <a:xfrm>
            <a:off x="8266176" y="4297680"/>
            <a:ext cx="3154680" cy="457200"/>
          </a:xfrm>
          <a:prstGeom prst="rect">
            <a:avLst/>
          </a:prstGeom>
          <a:noFill/>
          <a:ln/>
        </p:spPr>
        <p:txBody>
          <a:bodyPr wrap="square" lIns="0" tIns="0" rIns="0" bIns="0" rtlCol="0" anchor="ctr"/>
          <a:lstStyle/>
          <a:p>
            <a:pPr indent="0" marL="0">
              <a:buNone/>
            </a:pPr>
            <a:r>
              <a:rPr lang="en-US" sz="1400" dirty="0">
                <a:solidFill>
                  <a:srgbClr val="5F7284"/>
                </a:solidFill>
                <a:latin typeface="Calibri" pitchFamily="34" charset="0"/>
                <a:ea typeface="Calibri" pitchFamily="34" charset="-122"/>
                <a:cs typeface="Calibri" pitchFamily="34" charset="-120"/>
              </a:rPr>
              <a:t>Solo call vs. small council.</a:t>
            </a:r>
            <a:endParaRPr lang="en-US" sz="1400" dirty="0"/>
          </a:p>
        </p:txBody>
      </p:sp>
      <p:sp>
        <p:nvSpPr>
          <p:cNvPr id="35" name="Shape 27"/>
          <p:cNvSpPr/>
          <p:nvPr/>
        </p:nvSpPr>
        <p:spPr>
          <a:xfrm>
            <a:off x="548640" y="5120640"/>
            <a:ext cx="11064240" cy="777240"/>
          </a:xfrm>
          <a:prstGeom prst="roundRect">
            <a:avLst>
              <a:gd name="adj" fmla="val 10588"/>
            </a:avLst>
          </a:prstGeom>
          <a:solidFill>
            <a:srgbClr val="14233A"/>
          </a:solidFill>
          <a:ln/>
          <a:effectLst>
            <a:outerShdw sx="100000" sy="100000" kx="0" ky="0" algn="bl" rotWithShape="0" blurRad="88900" dist="38100" dir="5400000">
              <a:srgbClr val="000000">
                <a:alpha val="13000"/>
              </a:srgbClr>
            </a:outerShdw>
          </a:effectLst>
        </p:spPr>
      </p:sp>
      <p:sp>
        <p:nvSpPr>
          <p:cNvPr id="36" name="Text 28"/>
          <p:cNvSpPr/>
          <p:nvPr/>
        </p:nvSpPr>
        <p:spPr>
          <a:xfrm>
            <a:off x="822960" y="5120640"/>
            <a:ext cx="10515600" cy="777240"/>
          </a:xfrm>
          <a:prstGeom prst="rect">
            <a:avLst/>
          </a:prstGeom>
          <a:noFill/>
          <a:ln/>
        </p:spPr>
        <p:txBody>
          <a:bodyPr wrap="square" lIns="0" tIns="0" rIns="0" bIns="0" rtlCol="0" anchor="ctr"/>
          <a:lstStyle/>
          <a:p>
            <a:pPr algn="ctr" indent="0" marL="0">
              <a:buNone/>
            </a:pPr>
            <a:r>
              <a:rPr lang="en-US" sz="1550" b="1" dirty="0">
                <a:solidFill>
                  <a:srgbClr val="E8A33D"/>
                </a:solidFill>
                <a:latin typeface="Calibri" pitchFamily="34" charset="0"/>
                <a:ea typeface="Calibri" pitchFamily="34" charset="-122"/>
                <a:cs typeface="Calibri" pitchFamily="34" charset="-120"/>
              </a:rPr>
              <a:t>Lead as sponsor:  </a:t>
            </a:r>
            <a:pPr algn="ctr" indent="0" marL="0">
              <a:buNone/>
            </a:pPr>
            <a:r>
              <a:rPr lang="en-US" sz="1550" dirty="0">
                <a:solidFill>
                  <a:srgbClr val="FFFFFF"/>
                </a:solidFill>
                <a:latin typeface="Calibri" pitchFamily="34" charset="0"/>
                <a:ea typeface="Calibri" pitchFamily="34" charset="-122"/>
                <a:cs typeface="Calibri" pitchFamily="34" charset="-120"/>
              </a:rPr>
              <a:t>you set these norms and steward the project — you're building the place others come to build.</a:t>
            </a:r>
            <a:endParaRPr lang="en-US" sz="1550" dirty="0"/>
          </a:p>
        </p:txBody>
      </p:sp>
      <p:sp>
        <p:nvSpPr>
          <p:cNvPr id="37" name="Text 29"/>
          <p:cNvSpPr/>
          <p:nvPr/>
        </p:nvSpPr>
        <p:spPr>
          <a:xfrm>
            <a:off x="7132320" y="6437376"/>
            <a:ext cx="44805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3 · Open Source &amp; Licensing</a:t>
            </a:r>
            <a:endParaRPr lang="en-US" sz="1000" dirty="0"/>
          </a:p>
        </p:txBody>
      </p:sp>
      <p:sp>
        <p:nvSpPr>
          <p:cNvPr id="38" name="Text 30"/>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THE MAIN ACTIVITY</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Decide license + governance for a real project</a:t>
            </a:r>
            <a:endParaRPr lang="en-US" sz="3100" dirty="0"/>
          </a:p>
        </p:txBody>
      </p:sp>
      <p:sp>
        <p:nvSpPr>
          <p:cNvPr id="5" name="Shape 3"/>
          <p:cNvSpPr/>
          <p:nvPr/>
        </p:nvSpPr>
        <p:spPr>
          <a:xfrm>
            <a:off x="548640" y="1920240"/>
            <a:ext cx="11064240" cy="1371600"/>
          </a:xfrm>
          <a:prstGeom prst="roundRect">
            <a:avLst>
              <a:gd name="adj" fmla="val 6000"/>
            </a:avLst>
          </a:prstGeom>
          <a:solidFill>
            <a:srgbClr val="F2F6F8"/>
          </a:solidFill>
          <a:ln/>
          <a:effectLst>
            <a:outerShdw sx="100000" sy="100000" kx="0" ky="0" algn="bl" rotWithShape="0" blurRad="88900" dist="38100" dir="5400000">
              <a:srgbClr val="000000">
                <a:alpha val="13000"/>
              </a:srgbClr>
            </a:outerShdw>
          </a:effectLst>
        </p:spPr>
      </p:sp>
      <p:sp>
        <p:nvSpPr>
          <p:cNvPr id="6" name="Shape 4"/>
          <p:cNvSpPr/>
          <p:nvPr/>
        </p:nvSpPr>
        <p:spPr>
          <a:xfrm>
            <a:off x="914400" y="2240280"/>
            <a:ext cx="640080" cy="640080"/>
          </a:xfrm>
          <a:prstGeom prst="ellipse">
            <a:avLst/>
          </a:prstGeom>
          <a:solidFill>
            <a:srgbClr val="12908F"/>
          </a:solidFill>
          <a:ln/>
        </p:spPr>
      </p:sp>
      <p:pic>
        <p:nvPicPr>
          <p:cNvPr id="7" name="Image 0" descr="preencoded.png">    </p:cNvPr>
          <p:cNvPicPr>
            <a:picLocks noChangeAspect="1"/>
          </p:cNvPicPr>
          <p:nvPr/>
        </p:nvPicPr>
        <p:blipFill>
          <a:blip r:embed="rId1"/>
          <a:stretch>
            <a:fillRect/>
          </a:stretch>
        </p:blipFill>
        <p:spPr>
          <a:xfrm>
            <a:off x="1087222" y="2413102"/>
            <a:ext cx="294437" cy="294437"/>
          </a:xfrm>
          <a:prstGeom prst="rect">
            <a:avLst/>
          </a:prstGeom>
        </p:spPr>
      </p:pic>
      <p:sp>
        <p:nvSpPr>
          <p:cNvPr id="8" name="Text 5"/>
          <p:cNvSpPr/>
          <p:nvPr/>
        </p:nvSpPr>
        <p:spPr>
          <a:xfrm>
            <a:off x="1828800" y="1920240"/>
            <a:ext cx="9509760" cy="1371600"/>
          </a:xfrm>
          <a:prstGeom prst="rect">
            <a:avLst/>
          </a:prstGeom>
          <a:noFill/>
          <a:ln/>
        </p:spPr>
        <p:txBody>
          <a:bodyPr wrap="square" lIns="0" tIns="0" rIns="0" bIns="0" rtlCol="0" anchor="ctr"/>
          <a:lstStyle/>
          <a:p>
            <a:pPr indent="0" marL="0">
              <a:lnSpc>
                <a:spcPct val="105000"/>
              </a:lnSpc>
              <a:buNone/>
            </a:pPr>
            <a:r>
              <a:rPr lang="en-US" sz="1700" b="1" dirty="0">
                <a:solidFill>
                  <a:srgbClr val="1E2A36"/>
                </a:solidFill>
                <a:latin typeface="Calibri" pitchFamily="34" charset="0"/>
                <a:ea typeface="Calibri" pitchFamily="34" charset="-122"/>
                <a:cs typeface="Calibri" pitchFamily="34" charset="-120"/>
              </a:rPr>
              <a:t>In small groups: </a:t>
            </a:r>
            <a:pPr indent="0" marL="0">
              <a:lnSpc>
                <a:spcPct val="105000"/>
              </a:lnSpc>
              <a:buNone/>
            </a:pPr>
            <a:r>
              <a:rPr lang="en-US" sz="1700" dirty="0">
                <a:solidFill>
                  <a:srgbClr val="1E2A36"/>
                </a:solidFill>
                <a:latin typeface="Calibri" pitchFamily="34" charset="0"/>
                <a:ea typeface="Calibri" pitchFamily="34" charset="-122"/>
                <a:cs typeface="Calibri" pitchFamily="34" charset="-120"/>
              </a:rPr>
              <a:t>take one member's candidate idea (or a back-pocket one). Decide (a) which license, and (b) three governance choices — and why.</a:t>
            </a:r>
            <a:endParaRPr lang="en-US" sz="1700" dirty="0"/>
          </a:p>
        </p:txBody>
      </p:sp>
      <p:sp>
        <p:nvSpPr>
          <p:cNvPr id="9" name="Shape 6"/>
          <p:cNvSpPr/>
          <p:nvPr/>
        </p:nvSpPr>
        <p:spPr>
          <a:xfrm>
            <a:off x="548640" y="3520440"/>
            <a:ext cx="5440680" cy="2286000"/>
          </a:xfrm>
          <a:prstGeom prst="roundRect">
            <a:avLst>
              <a:gd name="adj" fmla="val 3600"/>
            </a:avLst>
          </a:prstGeom>
          <a:solidFill>
            <a:srgbClr val="EAF4EE"/>
          </a:solidFill>
          <a:ln/>
          <a:effectLst>
            <a:outerShdw sx="100000" sy="100000" kx="0" ky="0" algn="bl" rotWithShape="0" blurRad="88900" dist="38100" dir="5400000">
              <a:srgbClr val="000000">
                <a:alpha val="13000"/>
              </a:srgbClr>
            </a:outerShdw>
          </a:effectLst>
        </p:spPr>
      </p:sp>
      <p:sp>
        <p:nvSpPr>
          <p:cNvPr id="10" name="Shape 7"/>
          <p:cNvSpPr/>
          <p:nvPr/>
        </p:nvSpPr>
        <p:spPr>
          <a:xfrm>
            <a:off x="822960" y="3794760"/>
            <a:ext cx="548640" cy="548640"/>
          </a:xfrm>
          <a:prstGeom prst="ellipse">
            <a:avLst/>
          </a:prstGeom>
          <a:solidFill>
            <a:srgbClr val="3E9C6B"/>
          </a:solidFill>
          <a:ln/>
        </p:spPr>
      </p:sp>
      <p:pic>
        <p:nvPicPr>
          <p:cNvPr id="11" name="Image 1" descr="preencoded.png">    </p:cNvPr>
          <p:cNvPicPr>
            <a:picLocks noChangeAspect="1"/>
          </p:cNvPicPr>
          <p:nvPr/>
        </p:nvPicPr>
        <p:blipFill>
          <a:blip r:embed="rId2"/>
          <a:stretch>
            <a:fillRect/>
          </a:stretch>
        </p:blipFill>
        <p:spPr>
          <a:xfrm>
            <a:off x="971093" y="3942893"/>
            <a:ext cx="252374" cy="252374"/>
          </a:xfrm>
          <a:prstGeom prst="rect">
            <a:avLst/>
          </a:prstGeom>
        </p:spPr>
      </p:pic>
      <p:sp>
        <p:nvSpPr>
          <p:cNvPr id="12" name="Text 8"/>
          <p:cNvSpPr/>
          <p:nvPr/>
        </p:nvSpPr>
        <p:spPr>
          <a:xfrm>
            <a:off x="1508760" y="3840480"/>
            <a:ext cx="4114800" cy="457200"/>
          </a:xfrm>
          <a:prstGeom prst="rect">
            <a:avLst/>
          </a:prstGeom>
          <a:noFill/>
          <a:ln/>
        </p:spPr>
        <p:txBody>
          <a:bodyPr wrap="square" lIns="0" tIns="0" rIns="0" bIns="0" rtlCol="0" anchor="ctr"/>
          <a:lstStyle/>
          <a:p>
            <a:pPr indent="0" marL="0">
              <a:buNone/>
            </a:pPr>
            <a:r>
              <a:rPr lang="en-US" sz="1800" b="1" dirty="0">
                <a:solidFill>
                  <a:srgbClr val="3E9C6B"/>
                </a:solidFill>
                <a:latin typeface="Calibri" pitchFamily="34" charset="0"/>
                <a:ea typeface="Calibri" pitchFamily="34" charset="-122"/>
                <a:cs typeface="Calibri" pitchFamily="34" charset="-120"/>
              </a:rPr>
              <a:t>Decide</a:t>
            </a:r>
            <a:endParaRPr lang="en-US" sz="1800" dirty="0"/>
          </a:p>
        </p:txBody>
      </p:sp>
      <p:sp>
        <p:nvSpPr>
          <p:cNvPr id="13" name="Text 9"/>
          <p:cNvSpPr/>
          <p:nvPr/>
        </p:nvSpPr>
        <p:spPr>
          <a:xfrm>
            <a:off x="896112" y="4526280"/>
            <a:ext cx="4892040" cy="1188720"/>
          </a:xfrm>
          <a:prstGeom prst="rect">
            <a:avLst/>
          </a:prstGeom>
          <a:noFill/>
          <a:ln/>
        </p:spPr>
        <p:txBody>
          <a:bodyPr wrap="square" lIns="0" tIns="0" rIns="0" bIns="0" rtlCol="0" anchor="t"/>
          <a:lstStyle/>
          <a:p>
            <a:pPr indent="0" marL="0">
              <a:lnSpc>
                <a:spcPct val="105000"/>
              </a:lnSpc>
              <a:buNone/>
            </a:pPr>
            <a:r>
              <a:rPr lang="en-US" sz="1550" dirty="0">
                <a:solidFill>
                  <a:srgbClr val="1E2A36"/>
                </a:solidFill>
                <a:latin typeface="Calibri" pitchFamily="34" charset="0"/>
                <a:ea typeface="Calibri" pitchFamily="34" charset="-122"/>
                <a:cs typeface="Calibri" pitchFamily="34" charset="-120"/>
              </a:rPr>
              <a:t>A license + three governance calls, with the reasoning. Share one of each with the room.</a:t>
            </a:r>
            <a:endParaRPr lang="en-US" sz="1550" dirty="0"/>
          </a:p>
        </p:txBody>
      </p:sp>
      <p:sp>
        <p:nvSpPr>
          <p:cNvPr id="14" name="Shape 10"/>
          <p:cNvSpPr/>
          <p:nvPr/>
        </p:nvSpPr>
        <p:spPr>
          <a:xfrm>
            <a:off x="6172200" y="3520440"/>
            <a:ext cx="5440680" cy="2286000"/>
          </a:xfrm>
          <a:prstGeom prst="roundRect">
            <a:avLst>
              <a:gd name="adj" fmla="val 3600"/>
            </a:avLst>
          </a:prstGeom>
          <a:solidFill>
            <a:srgbClr val="E9F0F4"/>
          </a:solidFill>
          <a:ln/>
          <a:effectLst>
            <a:outerShdw sx="100000" sy="100000" kx="0" ky="0" algn="bl" rotWithShape="0" blurRad="88900" dist="38100" dir="5400000">
              <a:srgbClr val="000000">
                <a:alpha val="13000"/>
              </a:srgbClr>
            </a:outerShdw>
          </a:effectLst>
        </p:spPr>
      </p:sp>
      <p:sp>
        <p:nvSpPr>
          <p:cNvPr id="15" name="Shape 11"/>
          <p:cNvSpPr/>
          <p:nvPr/>
        </p:nvSpPr>
        <p:spPr>
          <a:xfrm>
            <a:off x="6446520" y="3794760"/>
            <a:ext cx="548640" cy="548640"/>
          </a:xfrm>
          <a:prstGeom prst="ellipse">
            <a:avLst/>
          </a:prstGeom>
          <a:solidFill>
            <a:srgbClr val="12908F"/>
          </a:solidFill>
          <a:ln/>
        </p:spPr>
      </p:sp>
      <p:pic>
        <p:nvPicPr>
          <p:cNvPr id="16" name="Image 2" descr="preencoded.png">    </p:cNvPr>
          <p:cNvPicPr>
            <a:picLocks noChangeAspect="1"/>
          </p:cNvPicPr>
          <p:nvPr/>
        </p:nvPicPr>
        <p:blipFill>
          <a:blip r:embed="rId3"/>
          <a:stretch>
            <a:fillRect/>
          </a:stretch>
        </p:blipFill>
        <p:spPr>
          <a:xfrm>
            <a:off x="6594653" y="3942893"/>
            <a:ext cx="252374" cy="252374"/>
          </a:xfrm>
          <a:prstGeom prst="rect">
            <a:avLst/>
          </a:prstGeom>
        </p:spPr>
      </p:pic>
      <p:sp>
        <p:nvSpPr>
          <p:cNvPr id="17" name="Text 12"/>
          <p:cNvSpPr/>
          <p:nvPr/>
        </p:nvSpPr>
        <p:spPr>
          <a:xfrm>
            <a:off x="7132320" y="3840480"/>
            <a:ext cx="4297680" cy="457200"/>
          </a:xfrm>
          <a:prstGeom prst="rect">
            <a:avLst/>
          </a:prstGeom>
          <a:noFill/>
          <a:ln/>
        </p:spPr>
        <p:txBody>
          <a:bodyPr wrap="square" lIns="0" tIns="0" rIns="0" bIns="0" rtlCol="0" anchor="ctr"/>
          <a:lstStyle/>
          <a:p>
            <a:pPr indent="0" marL="0">
              <a:buNone/>
            </a:pPr>
            <a:r>
              <a:rPr lang="en-US" sz="1800" b="1" dirty="0">
                <a:solidFill>
                  <a:srgbClr val="0E6E6D"/>
                </a:solidFill>
                <a:latin typeface="Calibri" pitchFamily="34" charset="0"/>
                <a:ea typeface="Calibri" pitchFamily="34" charset="-122"/>
                <a:cs typeface="Calibri" pitchFamily="34" charset="-120"/>
              </a:rPr>
              <a:t>Or audit a repo</a:t>
            </a:r>
            <a:endParaRPr lang="en-US" sz="1800" dirty="0"/>
          </a:p>
        </p:txBody>
      </p:sp>
      <p:sp>
        <p:nvSpPr>
          <p:cNvPr id="18" name="Text 13"/>
          <p:cNvSpPr/>
          <p:nvPr/>
        </p:nvSpPr>
        <p:spPr>
          <a:xfrm>
            <a:off x="6519672" y="4526280"/>
            <a:ext cx="4892040" cy="1188720"/>
          </a:xfrm>
          <a:prstGeom prst="rect">
            <a:avLst/>
          </a:prstGeom>
          <a:noFill/>
          <a:ln/>
        </p:spPr>
        <p:txBody>
          <a:bodyPr wrap="square" lIns="0" tIns="0" rIns="0" bIns="0" rtlCol="0" anchor="t"/>
          <a:lstStyle/>
          <a:p>
            <a:pPr indent="0" marL="0">
              <a:lnSpc>
                <a:spcPct val="105000"/>
              </a:lnSpc>
              <a:buNone/>
            </a:pPr>
            <a:r>
              <a:rPr lang="en-US" sz="1550" dirty="0">
                <a:solidFill>
                  <a:srgbClr val="1E2A36"/>
                </a:solidFill>
                <a:latin typeface="Calibri" pitchFamily="34" charset="0"/>
                <a:ea typeface="Calibri" pitchFamily="34" charset="-122"/>
                <a:cs typeface="Calibri" pitchFamily="34" charset="-120"/>
              </a:rPr>
              <a:t>Take a real repo and audit its governance against the checklist. What would you keep or change?</a:t>
            </a:r>
            <a:endParaRPr lang="en-US" sz="1550" dirty="0"/>
          </a:p>
        </p:txBody>
      </p:sp>
      <p:sp>
        <p:nvSpPr>
          <p:cNvPr id="19" name="Text 14"/>
          <p:cNvSpPr/>
          <p:nvPr/>
        </p:nvSpPr>
        <p:spPr>
          <a:xfrm>
            <a:off x="7132320" y="6437376"/>
            <a:ext cx="44805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3 · Open Source &amp; Licensing</a:t>
            </a:r>
            <a:endParaRPr lang="en-US" sz="1000" dirty="0"/>
          </a:p>
        </p:txBody>
      </p:sp>
      <p:sp>
        <p:nvSpPr>
          <p:cNvPr id="20" name="Text 15"/>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7C7B"/>
        </a:solidFill>
      </p:bgPr>
    </p:bg>
    <p:spTree>
      <p:nvGrpSpPr>
        <p:cNvPr id="1" name=""/>
        <p:cNvGrpSpPr/>
        <p:nvPr/>
      </p:nvGrpSpPr>
      <p:grpSpPr>
        <a:xfrm>
          <a:off x="0" y="0"/>
          <a:ext cx="0" cy="0"/>
          <a:chOff x="0" y="0"/>
          <a:chExt cx="0" cy="0"/>
        </a:xfrm>
      </p:grpSpPr>
      <p:sp>
        <p:nvSpPr>
          <p:cNvPr id="2" name="Shape 0"/>
          <p:cNvSpPr/>
          <p:nvPr/>
        </p:nvSpPr>
        <p:spPr>
          <a:xfrm>
            <a:off x="10241280" y="-1097280"/>
            <a:ext cx="3291840" cy="3291840"/>
          </a:xfrm>
          <a:prstGeom prst="ellipse">
            <a:avLst/>
          </a:prstGeom>
          <a:solidFill>
            <a:srgbClr val="127D7C"/>
          </a:solidFill>
          <a:ln/>
        </p:spPr>
      </p:sp>
      <p:sp>
        <p:nvSpPr>
          <p:cNvPr id="3" name="Text 1"/>
          <p:cNvSpPr/>
          <p:nvPr/>
        </p:nvSpPr>
        <p:spPr>
          <a:xfrm>
            <a:off x="640080" y="502920"/>
            <a:ext cx="10058400" cy="320040"/>
          </a:xfrm>
          <a:prstGeom prst="rect">
            <a:avLst/>
          </a:prstGeom>
          <a:noFill/>
          <a:ln/>
        </p:spPr>
        <p:txBody>
          <a:bodyPr wrap="square" lIns="0" tIns="0" rIns="0" bIns="0" rtlCol="0" anchor="ctr"/>
          <a:lstStyle/>
          <a:p>
            <a:pPr indent="0" marL="0">
              <a:buNone/>
            </a:pPr>
            <a:r>
              <a:rPr lang="en-US" sz="1400" b="1" spc="200" kern="0" dirty="0">
                <a:solidFill>
                  <a:srgbClr val="BFE7E4"/>
                </a:solidFill>
                <a:latin typeface="Calibri" pitchFamily="34" charset="0"/>
                <a:ea typeface="Calibri" pitchFamily="34" charset="-122"/>
                <a:cs typeface="Calibri" pitchFamily="34" charset="-120"/>
              </a:rPr>
              <a:t>YOUR DELIVERABLE</a:t>
            </a:r>
            <a:endParaRPr lang="en-US" sz="1400" dirty="0"/>
          </a:p>
        </p:txBody>
      </p:sp>
      <p:sp>
        <p:nvSpPr>
          <p:cNvPr id="4" name="Text 2"/>
          <p:cNvSpPr/>
          <p:nvPr/>
        </p:nvSpPr>
        <p:spPr>
          <a:xfrm>
            <a:off x="621792" y="868680"/>
            <a:ext cx="10972800" cy="73152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License / OSS short response</a:t>
            </a:r>
            <a:endParaRPr lang="en-US" sz="3400" dirty="0"/>
          </a:p>
        </p:txBody>
      </p:sp>
      <p:sp>
        <p:nvSpPr>
          <p:cNvPr id="5" name="Shape 3"/>
          <p:cNvSpPr/>
          <p:nvPr/>
        </p:nvSpPr>
        <p:spPr>
          <a:xfrm>
            <a:off x="548640" y="2011680"/>
            <a:ext cx="11064240" cy="3566160"/>
          </a:xfrm>
          <a:prstGeom prst="roundRect">
            <a:avLst>
              <a:gd name="adj" fmla="val 2308"/>
            </a:avLst>
          </a:prstGeom>
          <a:solidFill>
            <a:srgbClr val="FFFFFF"/>
          </a:solidFill>
          <a:ln/>
          <a:effectLst>
            <a:outerShdw sx="100000" sy="100000" kx="0" ky="0" algn="bl" rotWithShape="0" blurRad="88900" dist="38100" dir="5400000">
              <a:srgbClr val="000000">
                <a:alpha val="13000"/>
              </a:srgbClr>
            </a:outerShdw>
          </a:effectLst>
        </p:spPr>
      </p:sp>
      <p:sp>
        <p:nvSpPr>
          <p:cNvPr id="6" name="Shape 4"/>
          <p:cNvSpPr/>
          <p:nvPr/>
        </p:nvSpPr>
        <p:spPr>
          <a:xfrm>
            <a:off x="868680" y="2331720"/>
            <a:ext cx="640080" cy="640080"/>
          </a:xfrm>
          <a:prstGeom prst="ellipse">
            <a:avLst/>
          </a:prstGeom>
          <a:solidFill>
            <a:srgbClr val="12908F"/>
          </a:solidFill>
          <a:ln/>
        </p:spPr>
      </p:sp>
      <p:pic>
        <p:nvPicPr>
          <p:cNvPr id="7" name="Image 0" descr="preencoded.png">    </p:cNvPr>
          <p:cNvPicPr>
            <a:picLocks noChangeAspect="1"/>
          </p:cNvPicPr>
          <p:nvPr/>
        </p:nvPicPr>
        <p:blipFill>
          <a:blip r:embed="rId1"/>
          <a:stretch>
            <a:fillRect/>
          </a:stretch>
        </p:blipFill>
        <p:spPr>
          <a:xfrm>
            <a:off x="1041502" y="2504542"/>
            <a:ext cx="294437" cy="294437"/>
          </a:xfrm>
          <a:prstGeom prst="rect">
            <a:avLst/>
          </a:prstGeom>
        </p:spPr>
      </p:pic>
      <p:sp>
        <p:nvSpPr>
          <p:cNvPr id="8" name="Text 5"/>
          <p:cNvSpPr/>
          <p:nvPr/>
        </p:nvSpPr>
        <p:spPr>
          <a:xfrm>
            <a:off x="1828800" y="2377440"/>
            <a:ext cx="9144000" cy="502920"/>
          </a:xfrm>
          <a:prstGeom prst="rect">
            <a:avLst/>
          </a:prstGeom>
          <a:noFill/>
          <a:ln/>
        </p:spPr>
        <p:txBody>
          <a:bodyPr wrap="square" lIns="0" tIns="0" rIns="0" bIns="0" rtlCol="0" anchor="ctr"/>
          <a:lstStyle/>
          <a:p>
            <a:pPr indent="0" marL="0">
              <a:buNone/>
            </a:pPr>
            <a:r>
              <a:rPr lang="en-US" sz="2000" b="1" dirty="0">
                <a:solidFill>
                  <a:srgbClr val="1E2A36"/>
                </a:solidFill>
                <a:latin typeface="Calibri" pitchFamily="34" charset="0"/>
                <a:ea typeface="Calibri" pitchFamily="34" charset="-122"/>
                <a:cs typeface="Calibri" pitchFamily="34" charset="-120"/>
              </a:rPr>
              <a:t>In about one page</a:t>
            </a:r>
            <a:endParaRPr lang="en-US" sz="2000" dirty="0"/>
          </a:p>
        </p:txBody>
      </p:sp>
      <p:sp>
        <p:nvSpPr>
          <p:cNvPr id="9" name="Text 6"/>
          <p:cNvSpPr/>
          <p:nvPr/>
        </p:nvSpPr>
        <p:spPr>
          <a:xfrm>
            <a:off x="1051560" y="3200400"/>
            <a:ext cx="10241280" cy="2194560"/>
          </a:xfrm>
          <a:prstGeom prst="rect">
            <a:avLst/>
          </a:prstGeom>
          <a:noFill/>
          <a:ln/>
        </p:spPr>
        <p:txBody>
          <a:bodyPr wrap="square" lIns="0" tIns="0" rIns="0" bIns="0" rtlCol="0" anchor="t"/>
          <a:lstStyle/>
          <a:p>
            <a:pPr marL="203200" indent="-203200">
              <a:spcAft>
                <a:spcPts val="1200"/>
              </a:spcAft>
              <a:buSzPct val="100000"/>
              <a:buChar char="•"/>
            </a:pPr>
            <a:r>
              <a:rPr lang="en-US" sz="1650" dirty="0">
                <a:solidFill>
                  <a:srgbClr val="1E2A36"/>
                </a:solidFill>
                <a:latin typeface="Calibri" pitchFamily="34" charset="0"/>
                <a:ea typeface="Calibri" pitchFamily="34" charset="-122"/>
                <a:cs typeface="Calibri" pitchFamily="34" charset="-120"/>
              </a:rPr>
              <a:t>Pick a license for the project you're imagining, and name it.</a:t>
            </a:r>
            <a:endParaRPr lang="en-US" sz="1650" dirty="0"/>
          </a:p>
          <a:p>
            <a:pPr marL="203200" indent="-203200">
              <a:spcAft>
                <a:spcPts val="1200"/>
              </a:spcAft>
              <a:buSzPct val="100000"/>
              <a:buChar char="•"/>
            </a:pPr>
            <a:r>
              <a:rPr lang="en-US" sz="1650" dirty="0">
                <a:solidFill>
                  <a:srgbClr val="1E2A36"/>
                </a:solidFill>
                <a:latin typeface="Calibri" pitchFamily="34" charset="0"/>
                <a:ea typeface="Calibri" pitchFamily="34" charset="-122"/>
                <a:cs typeface="Calibri" pitchFamily="34" charset="-120"/>
              </a:rPr>
              <a:t>Explain in plain terms what it lets others do (and not do), and why it fits your goals.</a:t>
            </a:r>
            <a:endParaRPr lang="en-US" sz="1650" dirty="0"/>
          </a:p>
          <a:p>
            <a:pPr marL="203200" indent="-203200">
              <a:buSzPct val="100000"/>
              <a:buChar char="•"/>
            </a:pPr>
            <a:r>
              <a:rPr lang="en-US" sz="1650" dirty="0">
                <a:solidFill>
                  <a:srgbClr val="1E2A36"/>
                </a:solidFill>
                <a:latin typeface="Calibri" pitchFamily="34" charset="0"/>
                <a:ea typeface="Calibri" pitchFamily="34" charset="-122"/>
                <a:cs typeface="Calibri" pitchFamily="34" charset="-120"/>
              </a:rPr>
              <a:t>Name one governance choice you'd make (e.g., code of conduct, contribution process) and why.</a:t>
            </a:r>
            <a:endParaRPr lang="en-US" sz="1650" dirty="0"/>
          </a:p>
        </p:txBody>
      </p:sp>
      <p:sp>
        <p:nvSpPr>
          <p:cNvPr id="10" name="Text 7"/>
          <p:cNvSpPr/>
          <p:nvPr/>
        </p:nvSpPr>
        <p:spPr>
          <a:xfrm>
            <a:off x="548640" y="5715000"/>
            <a:ext cx="11064240" cy="365760"/>
          </a:xfrm>
          <a:prstGeom prst="rect">
            <a:avLst/>
          </a:prstGeom>
          <a:noFill/>
          <a:ln/>
        </p:spPr>
        <p:txBody>
          <a:bodyPr wrap="square" lIns="0" tIns="0" rIns="0" bIns="0" rtlCol="0" anchor="ctr"/>
          <a:lstStyle/>
          <a:p>
            <a:pPr algn="ctr" indent="0" marL="0">
              <a:buNone/>
            </a:pPr>
            <a:r>
              <a:rPr lang="en-US" sz="1400" i="1" dirty="0">
                <a:solidFill>
                  <a:srgbClr val="BFE7E4"/>
                </a:solidFill>
                <a:latin typeface="Calibri" pitchFamily="34" charset="0"/>
                <a:ea typeface="Calibri" pitchFamily="34" charset="-122"/>
                <a:cs typeface="Calibri" pitchFamily="34" charset="-120"/>
              </a:rPr>
              <a:t>Reference: License Cheat Sheet (Canvas → Course Resources) · choosealicense.com</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4233A"/>
        </a:solidFill>
      </p:bgPr>
    </p:bg>
    <p:spTree>
      <p:nvGrpSpPr>
        <p:cNvPr id="1" name=""/>
        <p:cNvGrpSpPr/>
        <p:nvPr/>
      </p:nvGrpSpPr>
      <p:grpSpPr>
        <a:xfrm>
          <a:off x="0" y="0"/>
          <a:ext cx="0" cy="0"/>
          <a:chOff x="0" y="0"/>
          <a:chExt cx="0" cy="0"/>
        </a:xfrm>
      </p:grpSpPr>
      <p:sp>
        <p:nvSpPr>
          <p:cNvPr id="2" name="Shape 0"/>
          <p:cNvSpPr/>
          <p:nvPr/>
        </p:nvSpPr>
        <p:spPr>
          <a:xfrm>
            <a:off x="-1188720" y="4754880"/>
            <a:ext cx="3291840" cy="3291840"/>
          </a:xfrm>
          <a:prstGeom prst="ellipse">
            <a:avLst/>
          </a:prstGeom>
          <a:solidFill>
            <a:srgbClr val="1C3252"/>
          </a:solidFill>
          <a:ln/>
        </p:spPr>
      </p:sp>
      <p:sp>
        <p:nvSpPr>
          <p:cNvPr id="3" name="Shape 1"/>
          <p:cNvSpPr/>
          <p:nvPr/>
        </p:nvSpPr>
        <p:spPr>
          <a:xfrm>
            <a:off x="822960" y="1234440"/>
            <a:ext cx="822960" cy="822960"/>
          </a:xfrm>
          <a:prstGeom prst="ellipse">
            <a:avLst/>
          </a:prstGeom>
          <a:solidFill>
            <a:srgbClr val="E8A33D"/>
          </a:solidFill>
          <a:ln/>
        </p:spPr>
      </p:sp>
      <p:pic>
        <p:nvPicPr>
          <p:cNvPr id="4" name="Image 0" descr="preencoded.png">    </p:cNvPr>
          <p:cNvPicPr>
            <a:picLocks noChangeAspect="1"/>
          </p:cNvPicPr>
          <p:nvPr/>
        </p:nvPicPr>
        <p:blipFill>
          <a:blip r:embed="rId1"/>
          <a:stretch>
            <a:fillRect/>
          </a:stretch>
        </p:blipFill>
        <p:spPr>
          <a:xfrm>
            <a:off x="1045159" y="1456639"/>
            <a:ext cx="378562" cy="378562"/>
          </a:xfrm>
          <a:prstGeom prst="rect">
            <a:avLst/>
          </a:prstGeom>
        </p:spPr>
      </p:pic>
      <p:sp>
        <p:nvSpPr>
          <p:cNvPr id="5" name="Text 2"/>
          <p:cNvSpPr/>
          <p:nvPr/>
        </p:nvSpPr>
        <p:spPr>
          <a:xfrm>
            <a:off x="822960" y="2194560"/>
            <a:ext cx="10789920" cy="1463040"/>
          </a:xfrm>
          <a:prstGeom prst="rect">
            <a:avLst/>
          </a:prstGeom>
          <a:noFill/>
          <a:ln/>
        </p:spPr>
        <p:txBody>
          <a:bodyPr wrap="square" lIns="0" tIns="0" rIns="0" bIns="0" rtlCol="0" anchor="ctr"/>
          <a:lstStyle/>
          <a:p>
            <a:pPr indent="0" marL="0">
              <a:lnSpc>
                <a:spcPct val="105000"/>
              </a:lnSpc>
              <a:buNone/>
            </a:pPr>
            <a:r>
              <a:rPr lang="en-US" sz="3000" b="1" dirty="0">
                <a:solidFill>
                  <a:srgbClr val="FFFFFF"/>
                </a:solidFill>
                <a:latin typeface="Cambria" pitchFamily="34" charset="0"/>
                <a:ea typeface="Cambria" pitchFamily="34" charset="-122"/>
                <a:cs typeface="Cambria" pitchFamily="34" charset="-120"/>
              </a:rPr>
              <a:t>Building in the open is how a project</a:t>
            </a:r>
            <a:endParaRPr lang="en-US" sz="3000" dirty="0"/>
          </a:p>
          <a:p>
            <a:pPr indent="0" marL="0">
              <a:lnSpc>
                <a:spcPct val="105000"/>
              </a:lnSpc>
              <a:buNone/>
            </a:pPr>
            <a:r>
              <a:rPr lang="en-US" sz="3000" b="1" dirty="0">
                <a:solidFill>
                  <a:srgbClr val="FFFFFF"/>
                </a:solidFill>
                <a:latin typeface="Cambria" pitchFamily="34" charset="0"/>
                <a:ea typeface="Cambria" pitchFamily="34" charset="-122"/>
                <a:cs typeface="Cambria" pitchFamily="34" charset="-120"/>
              </a:rPr>
              <a:t>becomes something others can join.</a:t>
            </a:r>
            <a:endParaRPr lang="en-US" sz="3000" dirty="0"/>
          </a:p>
        </p:txBody>
      </p:sp>
      <p:sp>
        <p:nvSpPr>
          <p:cNvPr id="6" name="Text 3"/>
          <p:cNvSpPr/>
          <p:nvPr/>
        </p:nvSpPr>
        <p:spPr>
          <a:xfrm>
            <a:off x="841248" y="4023360"/>
            <a:ext cx="10058400" cy="320040"/>
          </a:xfrm>
          <a:prstGeom prst="rect">
            <a:avLst/>
          </a:prstGeom>
          <a:noFill/>
          <a:ln/>
        </p:spPr>
        <p:txBody>
          <a:bodyPr wrap="square" lIns="0" tIns="0" rIns="0" bIns="0" rtlCol="0" anchor="ctr"/>
          <a:lstStyle/>
          <a:p>
            <a:pPr indent="0" marL="0">
              <a:buNone/>
            </a:pPr>
            <a:r>
              <a:rPr lang="en-US" sz="1400" b="1" spc="200" kern="0" dirty="0">
                <a:solidFill>
                  <a:srgbClr val="E8A33D"/>
                </a:solidFill>
                <a:latin typeface="Calibri" pitchFamily="34" charset="0"/>
                <a:ea typeface="Calibri" pitchFamily="34" charset="-122"/>
                <a:cs typeface="Calibri" pitchFamily="34" charset="-120"/>
              </a:rPr>
              <a:t>BEFORE NEXT CLASS — WED, SEP 16</a:t>
            </a:r>
            <a:endParaRPr lang="en-US" sz="1400" dirty="0"/>
          </a:p>
        </p:txBody>
      </p:sp>
      <p:sp>
        <p:nvSpPr>
          <p:cNvPr id="7" name="Text 4"/>
          <p:cNvSpPr/>
          <p:nvPr/>
        </p:nvSpPr>
        <p:spPr>
          <a:xfrm>
            <a:off x="868680" y="4407408"/>
            <a:ext cx="10698480" cy="1463040"/>
          </a:xfrm>
          <a:prstGeom prst="rect">
            <a:avLst/>
          </a:prstGeom>
          <a:noFill/>
          <a:ln/>
        </p:spPr>
        <p:txBody>
          <a:bodyPr wrap="square" lIns="0" tIns="0" rIns="0" bIns="0" rtlCol="0" anchor="t"/>
          <a:lstStyle/>
          <a:p>
            <a:pPr marL="203200" indent="-203200">
              <a:spcAft>
                <a:spcPts val="800"/>
              </a:spcAft>
              <a:buSzPct val="100000"/>
              <a:buChar char="•"/>
            </a:pPr>
            <a:r>
              <a:rPr lang="en-US" sz="1650" dirty="0">
                <a:solidFill>
                  <a:srgbClr val="CBD8E6"/>
                </a:solidFill>
                <a:latin typeface="Calibri" pitchFamily="34" charset="0"/>
                <a:ea typeface="Calibri" pitchFamily="34" charset="-122"/>
                <a:cs typeface="Calibri" pitchFamily="34" charset="-120"/>
              </a:rPr>
              <a:t>Read the Session 4 discovery readings (see the Session 4 page)</a:t>
            </a:r>
            <a:endParaRPr lang="en-US" sz="1650" dirty="0"/>
          </a:p>
          <a:p>
            <a:pPr marL="203200" indent="-203200">
              <a:spcAft>
                <a:spcPts val="800"/>
              </a:spcAft>
              <a:buSzPct val="100000"/>
              <a:buChar char="•"/>
            </a:pPr>
            <a:r>
              <a:rPr lang="en-US" sz="1650" dirty="0">
                <a:solidFill>
                  <a:srgbClr val="CBD8E6"/>
                </a:solidFill>
                <a:latin typeface="Calibri" pitchFamily="34" charset="0"/>
                <a:ea typeface="Calibri" pitchFamily="34" charset="-122"/>
                <a:cs typeface="Calibri" pitchFamily="34" charset="-120"/>
              </a:rPr>
              <a:t>Keep feeding your idea journal — next up: talking to real users</a:t>
            </a:r>
            <a:endParaRPr lang="en-US" sz="1650" dirty="0"/>
          </a:p>
          <a:p>
            <a:pPr marL="203200" indent="-203200">
              <a:buSzPct val="100000"/>
              <a:buChar char="•"/>
            </a:pPr>
            <a:r>
              <a:rPr lang="en-US" sz="1650" dirty="0">
                <a:solidFill>
                  <a:srgbClr val="CBD8E6"/>
                </a:solidFill>
                <a:latin typeface="Calibri" pitchFamily="34" charset="0"/>
                <a:ea typeface="Calibri" pitchFamily="34" charset="-122"/>
                <a:cs typeface="Calibri" pitchFamily="34" charset="-120"/>
              </a:rPr>
              <a:t>Write your License / OSS short response — due Mon, Sep 21</a:t>
            </a:r>
            <a:endParaRPr lang="en-US" sz="16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301R — Session 3 — Open Source, Licensing &amp; Governance</dc:title>
  <dc:subject>PptxGenJS Presentation</dc:subject>
  <dc:creator>CS 301R</dc:creator>
  <cp:lastModifiedBy>CS 301R</cp:lastModifiedBy>
  <cp:revision>1</cp:revision>
  <dcterms:created xsi:type="dcterms:W3CDTF">2026-08-26T16:14:11Z</dcterms:created>
  <dcterms:modified xsi:type="dcterms:W3CDTF">2026-08-26T16:14:11Z</dcterms:modified>
</cp:coreProperties>
</file>