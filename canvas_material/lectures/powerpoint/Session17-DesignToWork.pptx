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begins: the build. Before class: open Prop Loft's issues, the epic 'Find an item', the milestones page, and the project board in tabs, plus the search issue showing its request and its Triaged note. Have the Setting Up Your Board page up; it's the step-by-step students follow in the workshop. Laptops required. CP8 is due end of day Wednesday, Nov 4; today produces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first forty minutes are short teaching blocks, every one shown on Prop Loft. The highlighted row is the point of the day: 28 minutes building your own tracker, live, with me circulating. Anything you build today counts toward CP8, due Wednesday. Keep the teaching blocks moving; the workshop time is the part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The shift: until now you've produced documents; from here you produce software, and the tracker is where one turns into the other. One click per reader. The first is obvious. The second is anyone checking on progress: a manager, a sponsor, and in this course the Week-11 auditor. The third is the founder's reason: a plan in public is how a stranger sees there's a future. Fourth click, say it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the map for the rest of the day. Every tracker, on any tool, has to do these five jobs. The right column is what we'll set up, and what Prop Loft uses. Click: these are defaults, the same rule as your git policies in Session 13. Most of you will take them, and that's fine. Change one if your project works differently, and say why in CONTRIBUTING. The only fixed piece is a review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One click per rung, top down. The MVP is the design doc's commitment. An epic is something a user gets, and Prop Loft has five. An issue is one change a reviewer can review as a unit, usually one pull request. Fourth click is the common mistake: epics named after layers of the code. 'Backend' isn't something a volunteer gets. Epics cut across components,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Read the five aloud and ask which goal in Prop Loft's design each comes from: E1 is goal 1, E2 goal 2, E3 goal 3, E4 and E5 goal 4, running without a developer. The bottom line is the check students run on their own: trace every epic to a goal. Mention that E4 and E5 aren't broken down yet, on purpose; they're on the roadmap, and we'll see why in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switch to the Prop Loft tab if you can. The left is what an epic looks like a week into the build: a parent issue whose sub-issues are the work, with a progress bar that moves as they close. The three steps are the default. Create sub-issue sits at the bottom of the description, not the comments; people miss it. The italic line is the alternatives: an issue type, or a milestone per epic when each epic is also a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answers the question you'll have: the issue forms you built for CP7 don't ask for acceptance criteria, and they shouldn't. They're for requests from anyone, and a request is the problem as the reporter sees it. A work item is the maintainer's decision about what to build. Both live in the same tracker. Click: triage is the bridge, and the next slide is one, on Prop Loft.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open the real issue if you can, since it shows both halves. Left: the request as a stranger filed it, through the feature form. Click: what the maintainer added below it, without editing the request away. Read the acceptance criteria aloud; each is true or false when the PR is ready. Second click: triage doesn't just accept, it can split. One request became two tasks in two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highlighted field is the one that matters most: acceptance criteria are how a reviewer, or the demo, can say 'done' without arguing. A form makes this shape the easy path, the same way the bug form did for reports; it goes in through a PR like any other change. The alternatives are real, and some of you may prefer one. Whatever you pick, the four fields are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four tests are about the work, not time. First click: on real projects, issues that take weeks exist and are fine when the work is one indivisible thing; what they owe everyone is visible progress. Second click: the real rule, split when the pieces stand alone. Third: the course-scale version. With about five build weeks, a two-week issue is a big bet with no checkpoint. Bigger is allowed; say so in the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Hands up or call-outs for each before you click. The third is the one people get wrong: it takes a week, and it's still one issue, because there's no useful half of an investigation. The last two are the other anti-patterns: a title with nothing behind it, and an issue that dictates implementation the design doc already decided. That one goes stale the moment the design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Read across a row: an epic spreads over time. Read down a column: a milestone takes slices of several epics. M1 is the thinnest path through E1, E2, and E5 that a volunteer could actually use. On GitHub, a milestone is Issues, Milestones, New: a title that says what it delivers, a due date, and a line on what's true when it closes. Each issue goes in one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Two fixed dates, so two milestones of about two weeks each. First click: the arithmetic from Session 8, now with real numbers. Seven is the outside hours a week the ten-hour course load leaves after class; on a team, multiply. Second click: count, then cut. A milestone that fits and closes on time beats an impressive one that slips. Wednesday you'll size every M1 issue against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Prop Loft's design plans five vertical slices before its real-world trial. Counting one maintainer's hours, two milestones hold three slices. Click: four and five move to the roadmap. Second click: the cut is written down in docs/roadmap.md, with reasons, framed as places to help. That's CP8's roadmap criterion, and it's 20% of the grade. Open the file if you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Callback to Session 16: your communication norms promised a response time, and CP7 asked how you'd know what's waiting. This is that answer, now called triage. The highlighted card is the default; the others are real alternatives. The amber warning is the trap: the forms silently drop a label that doesn't exist yet. Ask who has already filed a test issue through their own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This is Prop Loft's board at the start of the build. Walk the columns: Backlog is decided, Ready means anyone could pick it up because the criteria are written, In progress means someone said they're on it. In review is where a PR waits; it's the column that shows whether your review policy is real. Done fills itself. Click for the default rule. A board where everything is In progress tells a reader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it live on Prop Loft or a scratch org, about four minutes, then leave this up during the workshop. Step 1 imports existing issues because auto-add only catches new ones, and free organizations get one auto-add workflow. Step 3: the board holds issues only; a PR shows on the card of the issue it closes. Which workflows start out on varies, so check each one. Step 5: on a board the setting is called Swimlanes, and an unsaved view shows a dot on its tab and reverts. Step 4 is the trap: projects start private, so a stranger or the auditor sees nothing. Say it twice. The page has every click; students don't need to copy this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Prop Loft's item-detail issue is the model: a newcomer knows which file to open and what to copy before they've read anything else. good first issue is GitHub's own label for this, so there's rarely a reason to change it. Contribution pathways are 20% of CP8 and they're tested again at launch. Tag two or three in the workshop, and write their Where to start sections, not just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Left: acceptance criteria belong to one issue. Right: Prop Loft's definition of done, which every change passes regardless of what it is. Students already wrote one in their git standards for CP6. Click: CP8 grades the revised version, so the question is whether a reviewer could check each item now that there's code. It stays in the git standards; a copy elsewhere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time out loud at each step. Most students are solo, so circulate to every repo at least twice. Push epics first: projects that start writing issues before epics end up with a flat pile. In the M1 block, read acceptance criteria aloud back to their authors and ask if a reviewer could mark each true or false. Whatever isn't finished, M2 especially, is homework: M2 only needs to be coarse by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a few minutes. Say the one-liner. M1 fine-grained and M2 coarse is the right shape, not a shortcut. The roadmap and the definition of done are files, so they go in through PRs. Wednesday is estimation and sequencing, and the slice statement on M1 becomes the progress-demo commitment. Remind them to check that the board is public before submitting: a private board can't be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From Design to Work</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17 — epics, milestones, issues, and a board</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November 2,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Turn your design into work someone can pick up</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74520"/>
            <a:ext cx="438912" cy="43891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3178" y="1993026"/>
            <a:ext cx="201900" cy="201900"/>
          </a:xfrm>
          <a:prstGeom prst="rect">
            <a:avLst/>
          </a:prstGeom>
        </p:spPr>
      </p:pic>
      <p:sp>
        <p:nvSpPr>
          <p:cNvPr id="8" name="Text 5"/>
          <p:cNvSpPr/>
          <p:nvPr/>
        </p:nvSpPr>
        <p:spPr>
          <a:xfrm>
            <a:off x="1463040" y="17830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tracker is the project's memory</a:t>
            </a:r>
            <a:endParaRPr lang="en-US" sz="1800" dirty="0"/>
          </a:p>
        </p:txBody>
      </p:sp>
      <p:sp>
        <p:nvSpPr>
          <p:cNvPr id="9" name="Text 6"/>
          <p:cNvSpPr/>
          <p:nvPr/>
        </p:nvSpPr>
        <p:spPr>
          <a:xfrm>
            <a:off x="9692640" y="17830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10" name="Shape 7"/>
          <p:cNvSpPr/>
          <p:nvPr/>
        </p:nvSpPr>
        <p:spPr>
          <a:xfrm>
            <a:off x="548640" y="251460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606040"/>
            <a:ext cx="438912" cy="438912"/>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23178" y="2724546"/>
            <a:ext cx="201900" cy="201900"/>
          </a:xfrm>
          <a:prstGeom prst="rect">
            <a:avLst/>
          </a:prstGeom>
        </p:spPr>
      </p:pic>
      <p:sp>
        <p:nvSpPr>
          <p:cNvPr id="13" name="Text 9"/>
          <p:cNvSpPr/>
          <p:nvPr/>
        </p:nvSpPr>
        <p:spPr>
          <a:xfrm>
            <a:off x="1463040" y="251460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decomposition ladder: MVP → epics → issues</a:t>
            </a:r>
            <a:endParaRPr lang="en-US" sz="1800" dirty="0"/>
          </a:p>
        </p:txBody>
      </p:sp>
      <p:sp>
        <p:nvSpPr>
          <p:cNvPr id="14" name="Text 10"/>
          <p:cNvSpPr/>
          <p:nvPr/>
        </p:nvSpPr>
        <p:spPr>
          <a:xfrm>
            <a:off x="9692640" y="251460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14 min</a:t>
            </a:r>
            <a:endParaRPr lang="en-US" sz="1600" dirty="0"/>
          </a:p>
        </p:txBody>
      </p:sp>
      <p:sp>
        <p:nvSpPr>
          <p:cNvPr id="15" name="Shape 11"/>
          <p:cNvSpPr/>
          <p:nvPr/>
        </p:nvSpPr>
        <p:spPr>
          <a:xfrm>
            <a:off x="548640" y="324612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337560"/>
            <a:ext cx="438912" cy="438912"/>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23178" y="3456066"/>
            <a:ext cx="201900" cy="201900"/>
          </a:xfrm>
          <a:prstGeom prst="rect">
            <a:avLst/>
          </a:prstGeom>
        </p:spPr>
      </p:pic>
      <p:sp>
        <p:nvSpPr>
          <p:cNvPr id="18" name="Text 13"/>
          <p:cNvSpPr/>
          <p:nvPr/>
        </p:nvSpPr>
        <p:spPr>
          <a:xfrm>
            <a:off x="1463040" y="324612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Milestones and the honest calendar</a:t>
            </a:r>
            <a:endParaRPr lang="en-US" sz="1800" dirty="0"/>
          </a:p>
        </p:txBody>
      </p:sp>
      <p:sp>
        <p:nvSpPr>
          <p:cNvPr id="19" name="Text 14"/>
          <p:cNvSpPr/>
          <p:nvPr/>
        </p:nvSpPr>
        <p:spPr>
          <a:xfrm>
            <a:off x="9692640" y="324612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10 min</a:t>
            </a:r>
            <a:endParaRPr lang="en-US" sz="1600" dirty="0"/>
          </a:p>
        </p:txBody>
      </p:sp>
      <p:sp>
        <p:nvSpPr>
          <p:cNvPr id="20" name="Shape 15"/>
          <p:cNvSpPr/>
          <p:nvPr/>
        </p:nvSpPr>
        <p:spPr>
          <a:xfrm>
            <a:off x="548640" y="397764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069080"/>
            <a:ext cx="438912" cy="438912"/>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3178" y="4187586"/>
            <a:ext cx="201900" cy="201900"/>
          </a:xfrm>
          <a:prstGeom prst="rect">
            <a:avLst/>
          </a:prstGeom>
        </p:spPr>
      </p:pic>
      <p:sp>
        <p:nvSpPr>
          <p:cNvPr id="23" name="Text 17"/>
          <p:cNvSpPr/>
          <p:nvPr/>
        </p:nvSpPr>
        <p:spPr>
          <a:xfrm>
            <a:off x="1463040" y="397764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board, labels, and pathways in</a:t>
            </a:r>
            <a:endParaRPr lang="en-US" sz="1800" dirty="0"/>
          </a:p>
        </p:txBody>
      </p:sp>
      <p:sp>
        <p:nvSpPr>
          <p:cNvPr id="24" name="Text 18"/>
          <p:cNvSpPr/>
          <p:nvPr/>
        </p:nvSpPr>
        <p:spPr>
          <a:xfrm>
            <a:off x="9692640" y="397764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10 min</a:t>
            </a:r>
            <a:endParaRPr lang="en-US" sz="1600" dirty="0"/>
          </a:p>
        </p:txBody>
      </p:sp>
      <p:sp>
        <p:nvSpPr>
          <p:cNvPr id="25" name="Shape 19"/>
          <p:cNvSpPr/>
          <p:nvPr/>
        </p:nvSpPr>
        <p:spPr>
          <a:xfrm>
            <a:off x="548640" y="470916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4800600"/>
            <a:ext cx="438912" cy="438912"/>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923178" y="4919106"/>
            <a:ext cx="201900" cy="201900"/>
          </a:xfrm>
          <a:prstGeom prst="rect">
            <a:avLst/>
          </a:prstGeom>
        </p:spPr>
      </p:pic>
      <p:sp>
        <p:nvSpPr>
          <p:cNvPr id="28" name="Text 21"/>
          <p:cNvSpPr/>
          <p:nvPr/>
        </p:nvSpPr>
        <p:spPr>
          <a:xfrm>
            <a:off x="1463040" y="4709160"/>
            <a:ext cx="822960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Workshop: decompose your own MVP</a:t>
            </a:r>
            <a:endParaRPr lang="en-US" sz="1800" dirty="0"/>
          </a:p>
        </p:txBody>
      </p:sp>
      <p:sp>
        <p:nvSpPr>
          <p:cNvPr id="29" name="Text 22"/>
          <p:cNvSpPr/>
          <p:nvPr/>
        </p:nvSpPr>
        <p:spPr>
          <a:xfrm>
            <a:off x="9692640" y="4709160"/>
            <a:ext cx="16459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28 min</a:t>
            </a:r>
            <a:endParaRPr lang="en-US" sz="1600" dirty="0"/>
          </a:p>
        </p:txBody>
      </p:sp>
      <p:sp>
        <p:nvSpPr>
          <p:cNvPr id="30" name="Shape 23"/>
          <p:cNvSpPr/>
          <p:nvPr/>
        </p:nvSpPr>
        <p:spPr>
          <a:xfrm>
            <a:off x="548640" y="54406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04672" y="5532120"/>
            <a:ext cx="438912" cy="438912"/>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923178" y="5650626"/>
            <a:ext cx="201900" cy="201900"/>
          </a:xfrm>
          <a:prstGeom prst="rect">
            <a:avLst/>
          </a:prstGeom>
        </p:spPr>
      </p:pic>
      <p:sp>
        <p:nvSpPr>
          <p:cNvPr id="33" name="Text 25"/>
          <p:cNvSpPr/>
          <p:nvPr/>
        </p:nvSpPr>
        <p:spPr>
          <a:xfrm>
            <a:off x="1463040" y="5440680"/>
            <a:ext cx="822960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Wednesday: estimate, sequence, commit</a:t>
            </a:r>
            <a:endParaRPr lang="en-US" sz="1800" dirty="0"/>
          </a:p>
        </p:txBody>
      </p:sp>
      <p:sp>
        <p:nvSpPr>
          <p:cNvPr id="34" name="Text 26"/>
          <p:cNvSpPr/>
          <p:nvPr/>
        </p:nvSpPr>
        <p:spPr>
          <a:xfrm>
            <a:off x="9692640" y="5440680"/>
            <a:ext cx="16459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8 min</a:t>
            </a:r>
            <a:endParaRPr lang="en-US" sz="1600" dirty="0"/>
          </a:p>
        </p:txBody>
      </p:sp>
      <p:sp>
        <p:nvSpPr>
          <p:cNvPr id="35"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6"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TRACKER IS THE PROJECT'S MEMORY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Documents become software here</a:t>
            </a:r>
            <a:endParaRPr lang="en-US" sz="3100" dirty="0"/>
          </a:p>
        </p:txBody>
      </p:sp>
      <p:sp>
        <p:nvSpPr>
          <p:cNvPr id="5" name="Shape 3"/>
          <p:cNvSpPr/>
          <p:nvPr/>
        </p:nvSpPr>
        <p:spPr>
          <a:xfrm>
            <a:off x="548640" y="1783080"/>
            <a:ext cx="347472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20240"/>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5373" y="2068373"/>
            <a:ext cx="252374" cy="252374"/>
          </a:xfrm>
          <a:prstGeom prst="rect">
            <a:avLst/>
          </a:prstGeom>
        </p:spPr>
      </p:pic>
      <p:sp>
        <p:nvSpPr>
          <p:cNvPr id="8" name="Text 5"/>
          <p:cNvSpPr/>
          <p:nvPr/>
        </p:nvSpPr>
        <p:spPr>
          <a:xfrm>
            <a:off x="1463040" y="1920240"/>
            <a:ext cx="2423160" cy="548640"/>
          </a:xfrm>
          <a:prstGeom prst="rect">
            <a:avLst/>
          </a:prstGeom>
          <a:noFill/>
          <a:ln/>
        </p:spPr>
        <p:txBody>
          <a:bodyPr wrap="square" lIns="0" tIns="0" rIns="0" bIns="0" rtlCol="0" anchor="ctr"/>
          <a:lstStyle/>
          <a:p>
            <a:pPr indent="0" marL="0">
              <a:buNone/>
            </a:pPr>
            <a:r>
              <a:rPr lang="en-US" sz="1900" b="1" dirty="0">
                <a:solidFill>
                  <a:srgbClr val="0E6E6D"/>
                </a:solidFill>
                <a:latin typeface="Calibri" pitchFamily="34" charset="0"/>
                <a:ea typeface="Calibri" pitchFamily="34" charset="-122"/>
                <a:cs typeface="Calibri" pitchFamily="34" charset="-120"/>
              </a:rPr>
              <a:t>Weeks 1–8</a:t>
            </a:r>
            <a:endParaRPr lang="en-US" sz="1900" dirty="0"/>
          </a:p>
        </p:txBody>
      </p:sp>
      <p:sp>
        <p:nvSpPr>
          <p:cNvPr id="9" name="Text 6"/>
          <p:cNvSpPr/>
          <p:nvPr/>
        </p:nvSpPr>
        <p:spPr>
          <a:xfrm>
            <a:off x="777240" y="2560320"/>
            <a:ext cx="3017520" cy="54864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Documents: the proposal, the design</a:t>
            </a:r>
            <a:endParaRPr lang="en-US" sz="1600" dirty="0"/>
          </a:p>
        </p:txBody>
      </p:sp>
      <p:sp>
        <p:nvSpPr>
          <p:cNvPr id="10" name="Text 7"/>
          <p:cNvSpPr/>
          <p:nvPr/>
        </p:nvSpPr>
        <p:spPr>
          <a:xfrm>
            <a:off x="4023360" y="2148840"/>
            <a:ext cx="320040" cy="548640"/>
          </a:xfrm>
          <a:prstGeom prst="rect">
            <a:avLst/>
          </a:prstGeom>
          <a:noFill/>
          <a:ln/>
        </p:spPr>
        <p:txBody>
          <a:bodyPr wrap="square" lIns="0" tIns="0" rIns="0" bIns="0" rtlCol="0" anchor="ctr"/>
          <a:lstStyle/>
          <a:p>
            <a:pPr algn="ctr" indent="0" marL="0">
              <a:buNone/>
            </a:pPr>
            <a:r>
              <a:rPr lang="en-US" sz="2400" b="1" dirty="0">
                <a:solidFill>
                  <a:srgbClr val="12908F"/>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4343400" y="1783080"/>
            <a:ext cx="347472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12" name="Shape 9"/>
          <p:cNvSpPr/>
          <p:nvPr/>
        </p:nvSpPr>
        <p:spPr>
          <a:xfrm>
            <a:off x="4572000" y="1920240"/>
            <a:ext cx="548640" cy="548640"/>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720133" y="2068373"/>
            <a:ext cx="252374" cy="252374"/>
          </a:xfrm>
          <a:prstGeom prst="rect">
            <a:avLst/>
          </a:prstGeom>
        </p:spPr>
      </p:pic>
      <p:sp>
        <p:nvSpPr>
          <p:cNvPr id="14" name="Text 10"/>
          <p:cNvSpPr/>
          <p:nvPr/>
        </p:nvSpPr>
        <p:spPr>
          <a:xfrm>
            <a:off x="5257800" y="1920240"/>
            <a:ext cx="2423160" cy="54864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The tracker</a:t>
            </a:r>
            <a:endParaRPr lang="en-US" sz="1900" dirty="0"/>
          </a:p>
        </p:txBody>
      </p:sp>
      <p:sp>
        <p:nvSpPr>
          <p:cNvPr id="15" name="Text 11"/>
          <p:cNvSpPr/>
          <p:nvPr/>
        </p:nvSpPr>
        <p:spPr>
          <a:xfrm>
            <a:off x="4572000" y="2560320"/>
            <a:ext cx="3017520" cy="5486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Where the design becomes work</a:t>
            </a:r>
            <a:endParaRPr lang="en-US" sz="1600" dirty="0"/>
          </a:p>
        </p:txBody>
      </p:sp>
      <p:sp>
        <p:nvSpPr>
          <p:cNvPr id="16" name="Text 12"/>
          <p:cNvSpPr/>
          <p:nvPr/>
        </p:nvSpPr>
        <p:spPr>
          <a:xfrm>
            <a:off x="7818120" y="2148840"/>
            <a:ext cx="320040" cy="548640"/>
          </a:xfrm>
          <a:prstGeom prst="rect">
            <a:avLst/>
          </a:prstGeom>
          <a:noFill/>
          <a:ln/>
        </p:spPr>
        <p:txBody>
          <a:bodyPr wrap="square" lIns="0" tIns="0" rIns="0" bIns="0" rtlCol="0" anchor="ctr"/>
          <a:lstStyle/>
          <a:p>
            <a:pPr algn="ctr" indent="0" marL="0">
              <a:buNone/>
            </a:pPr>
            <a:r>
              <a:rPr lang="en-US" sz="2400" b="1" dirty="0">
                <a:solidFill>
                  <a:srgbClr val="12908F"/>
                </a:solidFill>
                <a:latin typeface="Calibri" pitchFamily="34" charset="0"/>
                <a:ea typeface="Calibri" pitchFamily="34" charset="-122"/>
                <a:cs typeface="Calibri" pitchFamily="34" charset="-120"/>
              </a:rPr>
              <a:t>→</a:t>
            </a:r>
            <a:endParaRPr lang="en-US" sz="2400" dirty="0"/>
          </a:p>
        </p:txBody>
      </p:sp>
      <p:sp>
        <p:nvSpPr>
          <p:cNvPr id="17" name="Shape 13"/>
          <p:cNvSpPr/>
          <p:nvPr/>
        </p:nvSpPr>
        <p:spPr>
          <a:xfrm>
            <a:off x="8138160" y="1783080"/>
            <a:ext cx="347472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366760" y="1920240"/>
            <a:ext cx="548640" cy="548640"/>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8514893" y="2068373"/>
            <a:ext cx="252374" cy="252374"/>
          </a:xfrm>
          <a:prstGeom prst="rect">
            <a:avLst/>
          </a:prstGeom>
        </p:spPr>
      </p:pic>
      <p:sp>
        <p:nvSpPr>
          <p:cNvPr id="20" name="Text 15"/>
          <p:cNvSpPr/>
          <p:nvPr/>
        </p:nvSpPr>
        <p:spPr>
          <a:xfrm>
            <a:off x="9052560" y="1920240"/>
            <a:ext cx="2423160" cy="548640"/>
          </a:xfrm>
          <a:prstGeom prst="rect">
            <a:avLst/>
          </a:prstGeom>
          <a:noFill/>
          <a:ln/>
        </p:spPr>
        <p:txBody>
          <a:bodyPr wrap="square" lIns="0" tIns="0" rIns="0" bIns="0" rtlCol="0" anchor="ctr"/>
          <a:lstStyle/>
          <a:p>
            <a:pPr indent="0" marL="0">
              <a:buNone/>
            </a:pPr>
            <a:r>
              <a:rPr lang="en-US" sz="1900" b="1" dirty="0">
                <a:solidFill>
                  <a:srgbClr val="0E6E6D"/>
                </a:solidFill>
                <a:latin typeface="Calibri" pitchFamily="34" charset="0"/>
                <a:ea typeface="Calibri" pitchFamily="34" charset="-122"/>
                <a:cs typeface="Calibri" pitchFamily="34" charset="-120"/>
              </a:rPr>
              <a:t>Weeks 9–13</a:t>
            </a:r>
            <a:endParaRPr lang="en-US" sz="1900" dirty="0"/>
          </a:p>
        </p:txBody>
      </p:sp>
      <p:sp>
        <p:nvSpPr>
          <p:cNvPr id="21" name="Text 16"/>
          <p:cNvSpPr/>
          <p:nvPr/>
        </p:nvSpPr>
        <p:spPr>
          <a:xfrm>
            <a:off x="8366760" y="2560320"/>
            <a:ext cx="3017520" cy="54864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Working software, a piece at a time</a:t>
            </a:r>
            <a:endParaRPr lang="en-US" sz="1600" dirty="0"/>
          </a:p>
        </p:txBody>
      </p:sp>
      <p:sp>
        <p:nvSpPr>
          <p:cNvPr id="22" name="Text 17"/>
          <p:cNvSpPr/>
          <p:nvPr/>
        </p:nvSpPr>
        <p:spPr>
          <a:xfrm>
            <a:off x="548640" y="3429000"/>
            <a:ext cx="5486400" cy="320040"/>
          </a:xfrm>
          <a:prstGeom prst="rect">
            <a:avLst/>
          </a:prstGeom>
          <a:noFill/>
          <a:ln/>
        </p:spPr>
        <p:txBody>
          <a:bodyPr wrap="square" lIns="0" tIns="0" rIns="0" bIns="0" rtlCol="0" anchor="ctr"/>
          <a:lstStyle/>
          <a:p>
            <a:pPr indent="0" marL="0">
              <a:buNone/>
            </a:pPr>
            <a:r>
              <a:rPr lang="en-US" sz="1400" b="1" spc="200" kern="0" dirty="0">
                <a:solidFill>
                  <a:srgbClr val="5F7284"/>
                </a:solidFill>
                <a:latin typeface="Calibri" pitchFamily="34" charset="0"/>
                <a:ea typeface="Calibri" pitchFamily="34" charset="-122"/>
                <a:cs typeface="Calibri" pitchFamily="34" charset="-120"/>
              </a:rPr>
              <a:t>WHO READS IT</a:t>
            </a:r>
            <a:endParaRPr lang="en-US" sz="1400" dirty="0"/>
          </a:p>
        </p:txBody>
      </p:sp>
      <p:sp>
        <p:nvSpPr>
          <p:cNvPr id="23" name="click-1"/>
          <p:cNvSpPr/>
          <p:nvPr/>
        </p:nvSpPr>
        <p:spPr>
          <a:xfrm>
            <a:off x="548640" y="3794760"/>
            <a:ext cx="347472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24" name="click-1"/>
          <p:cNvSpPr/>
          <p:nvPr/>
        </p:nvSpPr>
        <p:spPr>
          <a:xfrm>
            <a:off x="777240" y="3794760"/>
            <a:ext cx="3017520" cy="13258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You, and anyone you build with</a:t>
            </a:r>
            <a:endParaRPr lang="en-US" sz="1700" dirty="0"/>
          </a:p>
          <a:p>
            <a:pPr indent="0" marL="0">
              <a:lnSpc>
                <a:spcPct val="104000"/>
              </a:lnSpc>
              <a:buNone/>
            </a:pPr>
            <a:r>
              <a:rPr lang="en-US" sz="1500" dirty="0">
                <a:solidFill>
                  <a:srgbClr val="5F7284"/>
                </a:solidFill>
                <a:latin typeface="Calibri" pitchFamily="34" charset="0"/>
                <a:ea typeface="Calibri" pitchFamily="34" charset="-122"/>
                <a:cs typeface="Calibri" pitchFamily="34" charset="-120"/>
              </a:rPr>
              <a:t>What's next, and who's on it. Solo, it's how you remember.</a:t>
            </a:r>
            <a:endParaRPr lang="en-US" sz="1700" dirty="0"/>
          </a:p>
        </p:txBody>
      </p:sp>
      <p:sp>
        <p:nvSpPr>
          <p:cNvPr id="25" name="click-2"/>
          <p:cNvSpPr/>
          <p:nvPr/>
        </p:nvSpPr>
        <p:spPr>
          <a:xfrm>
            <a:off x="4343400" y="3794760"/>
            <a:ext cx="347472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26" name="click-2"/>
          <p:cNvSpPr/>
          <p:nvPr/>
        </p:nvSpPr>
        <p:spPr>
          <a:xfrm>
            <a:off x="4572000" y="3794760"/>
            <a:ext cx="3017520" cy="13258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Anyone checking on progress</a:t>
            </a:r>
            <a:endParaRPr lang="en-US" sz="1700" dirty="0"/>
          </a:p>
          <a:p>
            <a:pPr indent="0" marL="0">
              <a:lnSpc>
                <a:spcPct val="104000"/>
              </a:lnSpc>
              <a:buNone/>
            </a:pPr>
            <a:r>
              <a:rPr lang="en-US" sz="1500" dirty="0">
                <a:solidFill>
                  <a:srgbClr val="5F7284"/>
                </a:solidFill>
                <a:latin typeface="Calibri" pitchFamily="34" charset="0"/>
                <a:ea typeface="Calibri" pitchFamily="34" charset="-122"/>
                <a:cs typeface="Calibri" pitchFamily="34" charset="-120"/>
              </a:rPr>
              <a:t>What you said you'd do, and what you did. (Here: the Week-11 audit.)</a:t>
            </a:r>
            <a:endParaRPr lang="en-US" sz="1700" dirty="0"/>
          </a:p>
        </p:txBody>
      </p:sp>
      <p:sp>
        <p:nvSpPr>
          <p:cNvPr id="27" name="click-3"/>
          <p:cNvSpPr/>
          <p:nvPr/>
        </p:nvSpPr>
        <p:spPr>
          <a:xfrm>
            <a:off x="8138160" y="3794760"/>
            <a:ext cx="3474720" cy="1325880"/>
          </a:xfrm>
          <a:prstGeom prst="roundRect">
            <a:avLst>
              <a:gd name="adj" fmla="val 6207"/>
            </a:avLst>
          </a:prstGeom>
          <a:solidFill>
            <a:srgbClr val="F2F6F8"/>
          </a:solidFill>
          <a:ln/>
          <a:effectLst>
            <a:outerShdw sx="100000" sy="100000" kx="0" ky="0" algn="bl" rotWithShape="0" blurRad="88900" dist="38100" dir="5400000">
              <a:srgbClr val="000000">
                <a:alpha val="13000"/>
              </a:srgbClr>
            </a:outerShdw>
          </a:effectLst>
        </p:spPr>
      </p:sp>
      <p:sp>
        <p:nvSpPr>
          <p:cNvPr id="28" name="click-3"/>
          <p:cNvSpPr/>
          <p:nvPr/>
        </p:nvSpPr>
        <p:spPr>
          <a:xfrm>
            <a:off x="8366760" y="3794760"/>
            <a:ext cx="3017520" cy="13258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A future contributor</a:t>
            </a:r>
            <a:endParaRPr lang="en-US" sz="1700" dirty="0"/>
          </a:p>
          <a:p>
            <a:pPr indent="0" marL="0">
              <a:lnSpc>
                <a:spcPct val="104000"/>
              </a:lnSpc>
              <a:buNone/>
            </a:pPr>
            <a:r>
              <a:rPr lang="en-US" sz="1500" dirty="0">
                <a:solidFill>
                  <a:srgbClr val="5F7284"/>
                </a:solidFill>
                <a:latin typeface="Calibri" pitchFamily="34" charset="0"/>
                <a:ea typeface="Calibri" pitchFamily="34" charset="-122"/>
                <a:cs typeface="Calibri" pitchFamily="34" charset="-120"/>
              </a:rPr>
              <a:t>Where the project is going, and where there's room to help.</a:t>
            </a:r>
            <a:endParaRPr lang="en-US" sz="1700" dirty="0"/>
          </a:p>
        </p:txBody>
      </p:sp>
      <p:sp>
        <p:nvSpPr>
          <p:cNvPr id="29" name="click-4"/>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30" name="click-4"/>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Unwritten work doesn't get done. Vaguely written work gets done wrong.</a:t>
            </a:r>
            <a:endParaRPr lang="en-US" sz="1700" dirty="0"/>
          </a:p>
        </p:txBody>
      </p:sp>
      <p:sp>
        <p:nvSpPr>
          <p:cNvPr id="31" name="Text 2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2"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A TRACKER HAS TO DO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jobs, and a good default for each</a:t>
            </a:r>
            <a:endParaRPr lang="en-US" sz="3100" dirty="0"/>
          </a:p>
        </p:txBody>
      </p:sp>
      <p:sp>
        <p:nvSpPr>
          <p:cNvPr id="5" name="Text 3"/>
          <p:cNvSpPr/>
          <p:nvPr/>
        </p:nvSpPr>
        <p:spPr>
          <a:xfrm>
            <a:off x="777240" y="1737360"/>
            <a:ext cx="3657600" cy="274320"/>
          </a:xfrm>
          <a:prstGeom prst="rect">
            <a:avLst/>
          </a:prstGeom>
          <a:noFill/>
          <a:ln/>
        </p:spPr>
        <p:txBody>
          <a:bodyPr wrap="square" lIns="0" tIns="0" rIns="0" bIns="0" rtlCol="0" anchor="ctr"/>
          <a:lstStyle/>
          <a:p>
            <a:pPr indent="0" marL="0">
              <a:buNone/>
            </a:pPr>
            <a:r>
              <a:rPr lang="en-US" sz="1400" b="1" spc="200" kern="0" dirty="0">
                <a:solidFill>
                  <a:srgbClr val="5F7284"/>
                </a:solidFill>
                <a:latin typeface="Calibri" pitchFamily="34" charset="0"/>
                <a:ea typeface="Calibri" pitchFamily="34" charset="-122"/>
                <a:cs typeface="Calibri" pitchFamily="34" charset="-120"/>
              </a:rPr>
              <a:t>THE JOB</a:t>
            </a:r>
            <a:endParaRPr lang="en-US" sz="1400" dirty="0"/>
          </a:p>
        </p:txBody>
      </p:sp>
      <p:sp>
        <p:nvSpPr>
          <p:cNvPr id="6" name="Text 4"/>
          <p:cNvSpPr/>
          <p:nvPr/>
        </p:nvSpPr>
        <p:spPr>
          <a:xfrm>
            <a:off x="8001000" y="1737360"/>
            <a:ext cx="3474720" cy="274320"/>
          </a:xfrm>
          <a:prstGeom prst="rect">
            <a:avLst/>
          </a:prstGeom>
          <a:noFill/>
          <a:ln/>
        </p:spPr>
        <p:txBody>
          <a:bodyPr wrap="square" lIns="0" tIns="0" rIns="0" bIns="0" rtlCol="0" anchor="ctr"/>
          <a:lstStyle/>
          <a:p>
            <a:pPr indent="0" marL="0">
              <a:buNone/>
            </a:pPr>
            <a:r>
              <a:rPr lang="en-US" sz="1400" b="1" spc="200" kern="0" dirty="0">
                <a:solidFill>
                  <a:srgbClr val="5F7284"/>
                </a:solidFill>
                <a:latin typeface="Calibri" pitchFamily="34" charset="0"/>
                <a:ea typeface="Calibri" pitchFamily="34" charset="-122"/>
                <a:cs typeface="Calibri" pitchFamily="34" charset="-120"/>
              </a:rPr>
              <a:t>THE DEFAULT</a:t>
            </a:r>
            <a:endParaRPr lang="en-US" sz="1400" dirty="0"/>
          </a:p>
        </p:txBody>
      </p:sp>
      <p:sp>
        <p:nvSpPr>
          <p:cNvPr id="7" name="Shape 5"/>
          <p:cNvSpPr/>
          <p:nvPr/>
        </p:nvSpPr>
        <p:spPr>
          <a:xfrm>
            <a:off x="548640" y="208483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777240" y="2084832"/>
            <a:ext cx="402336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Describe each piece of work</a:t>
            </a:r>
            <a:endParaRPr lang="en-US" sz="1700" dirty="0"/>
          </a:p>
        </p:txBody>
      </p:sp>
      <p:sp>
        <p:nvSpPr>
          <p:cNvPr id="9" name="Text 7"/>
          <p:cNvSpPr/>
          <p:nvPr/>
        </p:nvSpPr>
        <p:spPr>
          <a:xfrm>
            <a:off x="4846320" y="2084832"/>
            <a:ext cx="3063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exactly needs doing?</a:t>
            </a:r>
            <a:endParaRPr lang="en-US" sz="1500" dirty="0"/>
          </a:p>
        </p:txBody>
      </p:sp>
      <p:sp>
        <p:nvSpPr>
          <p:cNvPr id="10" name="Text 8"/>
          <p:cNvSpPr/>
          <p:nvPr/>
        </p:nvSpPr>
        <p:spPr>
          <a:xfrm>
            <a:off x="8001000" y="2084832"/>
            <a:ext cx="3474720" cy="5486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A task form with acceptance criteria</a:t>
            </a:r>
            <a:endParaRPr lang="en-US" sz="1550" dirty="0"/>
          </a:p>
        </p:txBody>
      </p:sp>
      <p:sp>
        <p:nvSpPr>
          <p:cNvPr id="11" name="Shape 9"/>
          <p:cNvSpPr/>
          <p:nvPr/>
        </p:nvSpPr>
        <p:spPr>
          <a:xfrm>
            <a:off x="548640" y="272491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777240" y="2724912"/>
            <a:ext cx="402336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Notice what's new</a:t>
            </a:r>
            <a:endParaRPr lang="en-US" sz="1700" dirty="0"/>
          </a:p>
        </p:txBody>
      </p:sp>
      <p:sp>
        <p:nvSpPr>
          <p:cNvPr id="13" name="Text 11"/>
          <p:cNvSpPr/>
          <p:nvPr/>
        </p:nvSpPr>
        <p:spPr>
          <a:xfrm>
            <a:off x="4846320" y="2724912"/>
            <a:ext cx="3063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hasn't anyone read?</a:t>
            </a:r>
            <a:endParaRPr lang="en-US" sz="1500" dirty="0"/>
          </a:p>
        </p:txBody>
      </p:sp>
      <p:sp>
        <p:nvSpPr>
          <p:cNvPr id="14" name="Text 12"/>
          <p:cNvSpPr/>
          <p:nvPr/>
        </p:nvSpPr>
        <p:spPr>
          <a:xfrm>
            <a:off x="8001000" y="2724912"/>
            <a:ext cx="3474720" cy="5486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A needs triage label</a:t>
            </a:r>
            <a:endParaRPr lang="en-US" sz="1550" dirty="0"/>
          </a:p>
        </p:txBody>
      </p:sp>
      <p:sp>
        <p:nvSpPr>
          <p:cNvPr id="15" name="Shape 13"/>
          <p:cNvSpPr/>
          <p:nvPr/>
        </p:nvSpPr>
        <p:spPr>
          <a:xfrm>
            <a:off x="548640" y="336499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777240" y="3364992"/>
            <a:ext cx="402336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Group work by the value it delivers</a:t>
            </a:r>
            <a:endParaRPr lang="en-US" sz="1700" dirty="0"/>
          </a:p>
        </p:txBody>
      </p:sp>
      <p:sp>
        <p:nvSpPr>
          <p:cNvPr id="17" name="Text 15"/>
          <p:cNvSpPr/>
          <p:nvPr/>
        </p:nvSpPr>
        <p:spPr>
          <a:xfrm>
            <a:off x="4846320" y="3364992"/>
            <a:ext cx="3063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does this add up to?</a:t>
            </a:r>
            <a:endParaRPr lang="en-US" sz="1500" dirty="0"/>
          </a:p>
        </p:txBody>
      </p:sp>
      <p:sp>
        <p:nvSpPr>
          <p:cNvPr id="18" name="Text 16"/>
          <p:cNvSpPr/>
          <p:nvPr/>
        </p:nvSpPr>
        <p:spPr>
          <a:xfrm>
            <a:off x="8001000" y="3364992"/>
            <a:ext cx="3474720" cy="5486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Epics: parent issues + sub-issues</a:t>
            </a:r>
            <a:endParaRPr lang="en-US" sz="1550" dirty="0"/>
          </a:p>
        </p:txBody>
      </p:sp>
      <p:sp>
        <p:nvSpPr>
          <p:cNvPr id="19" name="Shape 17"/>
          <p:cNvSpPr/>
          <p:nvPr/>
        </p:nvSpPr>
        <p:spPr>
          <a:xfrm>
            <a:off x="548640" y="400507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0" name="Text 18"/>
          <p:cNvSpPr/>
          <p:nvPr/>
        </p:nvSpPr>
        <p:spPr>
          <a:xfrm>
            <a:off x="777240" y="4005072"/>
            <a:ext cx="402336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Group work by when it's due</a:t>
            </a:r>
            <a:endParaRPr lang="en-US" sz="1700" dirty="0"/>
          </a:p>
        </p:txBody>
      </p:sp>
      <p:sp>
        <p:nvSpPr>
          <p:cNvPr id="21" name="Text 19"/>
          <p:cNvSpPr/>
          <p:nvPr/>
        </p:nvSpPr>
        <p:spPr>
          <a:xfrm>
            <a:off x="4846320" y="4005072"/>
            <a:ext cx="3063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 has to be true by when?</a:t>
            </a:r>
            <a:endParaRPr lang="en-US" sz="1500" dirty="0"/>
          </a:p>
        </p:txBody>
      </p:sp>
      <p:sp>
        <p:nvSpPr>
          <p:cNvPr id="22" name="Text 20"/>
          <p:cNvSpPr/>
          <p:nvPr/>
        </p:nvSpPr>
        <p:spPr>
          <a:xfrm>
            <a:off x="8001000" y="4005072"/>
            <a:ext cx="3474720" cy="5486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Milestones</a:t>
            </a:r>
            <a:endParaRPr lang="en-US" sz="1550" dirty="0"/>
          </a:p>
        </p:txBody>
      </p:sp>
      <p:sp>
        <p:nvSpPr>
          <p:cNvPr id="23" name="Shape 21"/>
          <p:cNvSpPr/>
          <p:nvPr/>
        </p:nvSpPr>
        <p:spPr>
          <a:xfrm>
            <a:off x="548640" y="4645152"/>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4" name="Text 22"/>
          <p:cNvSpPr/>
          <p:nvPr/>
        </p:nvSpPr>
        <p:spPr>
          <a:xfrm>
            <a:off x="777240" y="4645152"/>
            <a:ext cx="402336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Show each item's state</a:t>
            </a:r>
            <a:endParaRPr lang="en-US" sz="1700" dirty="0"/>
          </a:p>
        </p:txBody>
      </p:sp>
      <p:sp>
        <p:nvSpPr>
          <p:cNvPr id="25" name="Text 23"/>
          <p:cNvSpPr/>
          <p:nvPr/>
        </p:nvSpPr>
        <p:spPr>
          <a:xfrm>
            <a:off x="4846320" y="4645152"/>
            <a:ext cx="3063240" cy="54864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What's happening right now?</a:t>
            </a:r>
            <a:endParaRPr lang="en-US" sz="1500" dirty="0"/>
          </a:p>
        </p:txBody>
      </p:sp>
      <p:sp>
        <p:nvSpPr>
          <p:cNvPr id="26" name="Text 24"/>
          <p:cNvSpPr/>
          <p:nvPr/>
        </p:nvSpPr>
        <p:spPr>
          <a:xfrm>
            <a:off x="8001000" y="4645152"/>
            <a:ext cx="3474720" cy="548640"/>
          </a:xfrm>
          <a:prstGeom prst="rect">
            <a:avLst/>
          </a:prstGeom>
          <a:noFill/>
          <a:ln/>
        </p:spPr>
        <p:txBody>
          <a:bodyPr wrap="square" lIns="0" tIns="0" rIns="0" bIns="0" rtlCol="0" anchor="ctr"/>
          <a:lstStyle/>
          <a:p>
            <a:pPr indent="0" marL="0">
              <a:buNone/>
            </a:pPr>
            <a:r>
              <a:rPr lang="en-US" sz="1550" b="1" dirty="0">
                <a:solidFill>
                  <a:srgbClr val="0E6E6D"/>
                </a:solidFill>
                <a:latin typeface="Calibri" pitchFamily="34" charset="0"/>
                <a:ea typeface="Calibri" pitchFamily="34" charset="-122"/>
                <a:cs typeface="Calibri" pitchFamily="34" charset="-120"/>
              </a:rPr>
              <a:t>A public project board</a:t>
            </a:r>
            <a:endParaRPr lang="en-US" sz="1550" dirty="0"/>
          </a:p>
        </p:txBody>
      </p:sp>
      <p:sp>
        <p:nvSpPr>
          <p:cNvPr id="27" name="click-1"/>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28" name="click-1"/>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Defaults, not rules.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Change any of them; write what you do instead, and why, in CONTRIBUTING. Keep a review state: every project works through PRs.</a:t>
            </a:r>
            <a:endParaRPr lang="en-US" sz="17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DECOMPOSITION LADDER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MVP → epics → issues, on Prop Loft</a:t>
            </a:r>
            <a:endParaRPr lang="en-US" sz="3100" dirty="0"/>
          </a:p>
        </p:txBody>
      </p:sp>
      <p:sp>
        <p:nvSpPr>
          <p:cNvPr id="5" name="click-1"/>
          <p:cNvSpPr/>
          <p:nvPr/>
        </p:nvSpPr>
        <p:spPr>
          <a:xfrm>
            <a:off x="548640" y="178308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6" name="click-1"/>
          <p:cNvSpPr/>
          <p:nvPr/>
        </p:nvSpPr>
        <p:spPr>
          <a:xfrm>
            <a:off x="777240" y="1965960"/>
            <a:ext cx="1371600" cy="548640"/>
          </a:xfrm>
          <a:prstGeom prst="roundRect">
            <a:avLst>
              <a:gd name="adj" fmla="val 13333"/>
            </a:avLst>
          </a:prstGeom>
          <a:solidFill>
            <a:srgbClr val="E8A33D"/>
          </a:solidFill>
          <a:ln/>
        </p:spPr>
      </p:sp>
      <p:sp>
        <p:nvSpPr>
          <p:cNvPr id="7" name="click-1"/>
          <p:cNvSpPr/>
          <p:nvPr/>
        </p:nvSpPr>
        <p:spPr>
          <a:xfrm>
            <a:off x="777240" y="1965960"/>
            <a:ext cx="1371600" cy="548640"/>
          </a:xfrm>
          <a:prstGeom prst="rect">
            <a:avLst/>
          </a:prstGeom>
          <a:noFill/>
          <a:ln/>
        </p:spPr>
        <p:txBody>
          <a:bodyPr wrap="square" lIns="0" tIns="0" rIns="0" bIns="0" rtlCol="0" anchor="ctr"/>
          <a:lstStyle/>
          <a:p>
            <a:pPr algn="ctr" indent="0" marL="0">
              <a:buNone/>
            </a:pPr>
            <a:r>
              <a:rPr lang="en-US" sz="1900" b="1" dirty="0">
                <a:solidFill>
                  <a:srgbClr val="14233A"/>
                </a:solidFill>
                <a:latin typeface="Cambria" pitchFamily="34" charset="0"/>
                <a:ea typeface="Cambria" pitchFamily="34" charset="-122"/>
                <a:cs typeface="Cambria" pitchFamily="34" charset="-120"/>
              </a:rPr>
              <a:t>MVP</a:t>
            </a:r>
            <a:endParaRPr lang="en-US" sz="1900" dirty="0"/>
          </a:p>
        </p:txBody>
      </p:sp>
      <p:sp>
        <p:nvSpPr>
          <p:cNvPr id="8" name="click-1"/>
          <p:cNvSpPr/>
          <p:nvPr/>
        </p:nvSpPr>
        <p:spPr>
          <a:xfrm>
            <a:off x="2377440" y="1783080"/>
            <a:ext cx="393192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the design commits to</a:t>
            </a:r>
            <a:endParaRPr lang="en-US" sz="1600" dirty="0"/>
          </a:p>
        </p:txBody>
      </p:sp>
      <p:sp>
        <p:nvSpPr>
          <p:cNvPr id="9" name="click-1"/>
          <p:cNvSpPr/>
          <p:nvPr/>
        </p:nvSpPr>
        <p:spPr>
          <a:xfrm>
            <a:off x="6400800" y="1783080"/>
            <a:ext cx="5029200" cy="91440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One theater's costume stock: find it, check it out, add it, from a phone</a:t>
            </a:r>
            <a:endParaRPr lang="en-US" sz="1600" dirty="0"/>
          </a:p>
        </p:txBody>
      </p:sp>
      <p:sp>
        <p:nvSpPr>
          <p:cNvPr id="10" name="click-2"/>
          <p:cNvSpPr/>
          <p:nvPr/>
        </p:nvSpPr>
        <p:spPr>
          <a:xfrm>
            <a:off x="548640" y="288036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click-2"/>
          <p:cNvSpPr/>
          <p:nvPr/>
        </p:nvSpPr>
        <p:spPr>
          <a:xfrm>
            <a:off x="777240" y="3063240"/>
            <a:ext cx="1371600" cy="548640"/>
          </a:xfrm>
          <a:prstGeom prst="roundRect">
            <a:avLst>
              <a:gd name="adj" fmla="val 13333"/>
            </a:avLst>
          </a:prstGeom>
          <a:solidFill>
            <a:srgbClr val="12908F"/>
          </a:solidFill>
          <a:ln/>
        </p:spPr>
      </p:sp>
      <p:sp>
        <p:nvSpPr>
          <p:cNvPr id="12" name="click-2"/>
          <p:cNvSpPr/>
          <p:nvPr/>
        </p:nvSpPr>
        <p:spPr>
          <a:xfrm>
            <a:off x="777240" y="3063240"/>
            <a:ext cx="137160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Epic</a:t>
            </a:r>
            <a:endParaRPr lang="en-US" sz="1900" dirty="0"/>
          </a:p>
        </p:txBody>
      </p:sp>
      <p:sp>
        <p:nvSpPr>
          <p:cNvPr id="13" name="click-2"/>
          <p:cNvSpPr/>
          <p:nvPr/>
        </p:nvSpPr>
        <p:spPr>
          <a:xfrm>
            <a:off x="2377440" y="2880360"/>
            <a:ext cx="3931920" cy="9144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A slice of user-visible value · 3–5 per MVP</a:t>
            </a:r>
            <a:endParaRPr lang="en-US" sz="1600" dirty="0"/>
          </a:p>
        </p:txBody>
      </p:sp>
      <p:sp>
        <p:nvSpPr>
          <p:cNvPr id="14" name="click-2"/>
          <p:cNvSpPr/>
          <p:nvPr/>
        </p:nvSpPr>
        <p:spPr>
          <a:xfrm>
            <a:off x="6400800" y="2880360"/>
            <a:ext cx="5029200" cy="914400"/>
          </a:xfrm>
          <a:prstGeom prst="rect">
            <a:avLst/>
          </a:prstGeom>
          <a:noFill/>
          <a:ln/>
        </p:spPr>
        <p:txBody>
          <a:bodyPr wrap="square" lIns="0" tIns="0" rIns="0" bIns="0" rtlCol="0" anchor="ctr"/>
          <a:lstStyle/>
          <a:p>
            <a:pPr indent="0" marL="0">
              <a:buNone/>
            </a:pPr>
            <a:r>
              <a:rPr lang="en-US" sz="1600" i="1" dirty="0">
                <a:solidFill>
                  <a:srgbClr val="0E6E6D"/>
                </a:solidFill>
                <a:latin typeface="Calibri" pitchFamily="34" charset="0"/>
                <a:ea typeface="Calibri" pitchFamily="34" charset="-122"/>
                <a:cs typeface="Calibri" pitchFamily="34" charset="-120"/>
              </a:rPr>
              <a:t>Check out and return</a:t>
            </a:r>
            <a:endParaRPr lang="en-US" sz="1600" dirty="0"/>
          </a:p>
        </p:txBody>
      </p:sp>
      <p:sp>
        <p:nvSpPr>
          <p:cNvPr id="15" name="click-3"/>
          <p:cNvSpPr/>
          <p:nvPr/>
        </p:nvSpPr>
        <p:spPr>
          <a:xfrm>
            <a:off x="548640" y="397764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click-3"/>
          <p:cNvSpPr/>
          <p:nvPr/>
        </p:nvSpPr>
        <p:spPr>
          <a:xfrm>
            <a:off x="777240" y="4160520"/>
            <a:ext cx="1371600" cy="548640"/>
          </a:xfrm>
          <a:prstGeom prst="roundRect">
            <a:avLst>
              <a:gd name="adj" fmla="val 13333"/>
            </a:avLst>
          </a:prstGeom>
          <a:solidFill>
            <a:srgbClr val="0E6E6D"/>
          </a:solidFill>
          <a:ln/>
        </p:spPr>
      </p:sp>
      <p:sp>
        <p:nvSpPr>
          <p:cNvPr id="17" name="click-3"/>
          <p:cNvSpPr/>
          <p:nvPr/>
        </p:nvSpPr>
        <p:spPr>
          <a:xfrm>
            <a:off x="777240" y="4160520"/>
            <a:ext cx="137160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Issue</a:t>
            </a:r>
            <a:endParaRPr lang="en-US" sz="1900" dirty="0"/>
          </a:p>
        </p:txBody>
      </p:sp>
      <p:sp>
        <p:nvSpPr>
          <p:cNvPr id="18" name="click-3"/>
          <p:cNvSpPr/>
          <p:nvPr/>
        </p:nvSpPr>
        <p:spPr>
          <a:xfrm>
            <a:off x="2377440" y="3977640"/>
            <a:ext cx="3931920" cy="914400"/>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One coherent, reviewable change · usually one PR</a:t>
            </a:r>
            <a:endParaRPr lang="en-US" sz="1600" dirty="0"/>
          </a:p>
        </p:txBody>
      </p:sp>
      <p:sp>
        <p:nvSpPr>
          <p:cNvPr id="19" name="click-3"/>
          <p:cNvSpPr/>
          <p:nvPr/>
        </p:nvSpPr>
        <p:spPr>
          <a:xfrm>
            <a:off x="6400800" y="3977640"/>
            <a:ext cx="5029200" cy="914400"/>
          </a:xfrm>
          <a:prstGeom prst="rect">
            <a:avLst/>
          </a:prstGeom>
          <a:noFill/>
          <a:ln/>
        </p:spPr>
        <p:txBody>
          <a:bodyPr wrap="square" lIns="0" tIns="0" rIns="0" bIns="0" rtlCol="0" anchor="ctr"/>
          <a:lstStyle/>
          <a:p>
            <a:pPr indent="0" marL="0">
              <a:buNone/>
            </a:pPr>
            <a:r>
              <a:rPr lang="en-US" sz="1600" i="1" dirty="0">
                <a:solidFill>
                  <a:srgbClr val="0E6E6D"/>
                </a:solidFill>
                <a:latin typeface="Calibri" pitchFamily="34" charset="0"/>
                <a:ea typeface="Calibri" pitchFamily="34" charset="-122"/>
                <a:cs typeface="Calibri" pitchFamily="34" charset="-120"/>
              </a:rPr>
              <a:t>Enforce one open checkout per item</a:t>
            </a:r>
            <a:endParaRPr lang="en-US" sz="1600" dirty="0"/>
          </a:p>
        </p:txBody>
      </p:sp>
      <p:sp>
        <p:nvSpPr>
          <p:cNvPr id="20" name="click-4"/>
          <p:cNvSpPr/>
          <p:nvPr/>
        </p:nvSpPr>
        <p:spPr>
          <a:xfrm>
            <a:off x="548640" y="5166360"/>
            <a:ext cx="11064240" cy="1005840"/>
          </a:xfrm>
          <a:prstGeom prst="roundRect">
            <a:avLst>
              <a:gd name="adj" fmla="val 8182"/>
            </a:avLst>
          </a:prstGeom>
          <a:solidFill>
            <a:srgbClr val="E8A33D"/>
          </a:solidFill>
          <a:ln/>
          <a:effectLst>
            <a:outerShdw sx="100000" sy="100000" kx="0" ky="0" algn="bl" rotWithShape="0" blurRad="88900" dist="38100" dir="5400000">
              <a:srgbClr val="000000">
                <a:alpha val="13000"/>
              </a:srgbClr>
            </a:outerShdw>
          </a:effectLst>
        </p:spPr>
      </p:sp>
      <p:sp>
        <p:nvSpPr>
          <p:cNvPr id="21" name="click-4"/>
          <p:cNvSpPr/>
          <p:nvPr/>
        </p:nvSpPr>
        <p:spPr>
          <a:xfrm>
            <a:off x="868680" y="5166360"/>
            <a:ext cx="10424160" cy="100584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Read epics off the design's goals, not its components. "Check out and return" touches the web UI, checkout, and auth. That's normal.</a:t>
            </a:r>
            <a:endParaRPr lang="en-US" sz="17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2"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EPICS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each named for what a volunteer gets</a:t>
            </a:r>
            <a:endParaRPr lang="en-US" sz="3100" dirty="0"/>
          </a:p>
        </p:txBody>
      </p:sp>
      <p:sp>
        <p:nvSpPr>
          <p:cNvPr id="5" name="Shape 3"/>
          <p:cNvSpPr/>
          <p:nvPr/>
        </p:nvSpPr>
        <p:spPr>
          <a:xfrm>
            <a:off x="548640" y="1783080"/>
            <a:ext cx="2103120" cy="31546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548640" y="1920240"/>
            <a:ext cx="2103120" cy="50292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E1</a:t>
            </a:r>
            <a:endParaRPr lang="en-US" sz="2400" dirty="0"/>
          </a:p>
        </p:txBody>
      </p:sp>
      <p:sp>
        <p:nvSpPr>
          <p:cNvPr id="7" name="Text 5"/>
          <p:cNvSpPr/>
          <p:nvPr/>
        </p:nvSpPr>
        <p:spPr>
          <a:xfrm>
            <a:off x="658368" y="2468880"/>
            <a:ext cx="1883664" cy="86868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Find an item</a:t>
            </a:r>
            <a:endParaRPr lang="en-US" sz="1800" dirty="0"/>
          </a:p>
        </p:txBody>
      </p:sp>
      <p:sp>
        <p:nvSpPr>
          <p:cNvPr id="8" name="Text 6"/>
          <p:cNvSpPr/>
          <p:nvPr/>
        </p:nvSpPr>
        <p:spPr>
          <a:xfrm>
            <a:off x="685800" y="3383280"/>
            <a:ext cx="1828800" cy="14630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"Do we own this?" from a phone, in under a minute</a:t>
            </a:r>
            <a:endParaRPr lang="en-US" sz="1500" dirty="0"/>
          </a:p>
        </p:txBody>
      </p:sp>
      <p:sp>
        <p:nvSpPr>
          <p:cNvPr id="9" name="Shape 7"/>
          <p:cNvSpPr/>
          <p:nvPr/>
        </p:nvSpPr>
        <p:spPr>
          <a:xfrm>
            <a:off x="2788920" y="1783080"/>
            <a:ext cx="2103120" cy="31546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2788920" y="1920240"/>
            <a:ext cx="2103120" cy="50292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E2</a:t>
            </a:r>
            <a:endParaRPr lang="en-US" sz="2400" dirty="0"/>
          </a:p>
        </p:txBody>
      </p:sp>
      <p:sp>
        <p:nvSpPr>
          <p:cNvPr id="11" name="Text 9"/>
          <p:cNvSpPr/>
          <p:nvPr/>
        </p:nvSpPr>
        <p:spPr>
          <a:xfrm>
            <a:off x="2898648" y="2468880"/>
            <a:ext cx="1883664" cy="86868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Check out and return</a:t>
            </a:r>
            <a:endParaRPr lang="en-US" sz="1800" dirty="0"/>
          </a:p>
        </p:txBody>
      </p:sp>
      <p:sp>
        <p:nvSpPr>
          <p:cNvPr id="12" name="Text 10"/>
          <p:cNvSpPr/>
          <p:nvPr/>
        </p:nvSpPr>
        <p:spPr>
          <a:xfrm>
            <a:off x="2926080" y="3383280"/>
            <a:ext cx="1828800" cy="14630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Who has it, for which show, due back when</a:t>
            </a:r>
            <a:endParaRPr lang="en-US" sz="1500" dirty="0"/>
          </a:p>
        </p:txBody>
      </p:sp>
      <p:sp>
        <p:nvSpPr>
          <p:cNvPr id="13" name="Shape 11"/>
          <p:cNvSpPr/>
          <p:nvPr/>
        </p:nvSpPr>
        <p:spPr>
          <a:xfrm>
            <a:off x="5029200" y="1783080"/>
            <a:ext cx="2103120" cy="31546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5029200" y="1920240"/>
            <a:ext cx="2103120" cy="50292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E3</a:t>
            </a:r>
            <a:endParaRPr lang="en-US" sz="2400" dirty="0"/>
          </a:p>
        </p:txBody>
      </p:sp>
      <p:sp>
        <p:nvSpPr>
          <p:cNvPr id="15" name="Text 13"/>
          <p:cNvSpPr/>
          <p:nvPr/>
        </p:nvSpPr>
        <p:spPr>
          <a:xfrm>
            <a:off x="5138928" y="2468880"/>
            <a:ext cx="1883664" cy="86868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Add an item</a:t>
            </a:r>
            <a:endParaRPr lang="en-US" sz="1800" dirty="0"/>
          </a:p>
        </p:txBody>
      </p:sp>
      <p:sp>
        <p:nvSpPr>
          <p:cNvPr id="16" name="Text 14"/>
          <p:cNvSpPr/>
          <p:nvPr/>
        </p:nvSpPr>
        <p:spPr>
          <a:xfrm>
            <a:off x="5166360" y="3383280"/>
            <a:ext cx="1828800" cy="14630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With a photo, and no one showing you how</a:t>
            </a:r>
            <a:endParaRPr lang="en-US" sz="1500" dirty="0"/>
          </a:p>
        </p:txBody>
      </p:sp>
      <p:sp>
        <p:nvSpPr>
          <p:cNvPr id="17" name="Shape 15"/>
          <p:cNvSpPr/>
          <p:nvPr/>
        </p:nvSpPr>
        <p:spPr>
          <a:xfrm>
            <a:off x="7269480" y="1783080"/>
            <a:ext cx="2103120" cy="31546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7269480" y="1920240"/>
            <a:ext cx="2103120" cy="50292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E4</a:t>
            </a:r>
            <a:endParaRPr lang="en-US" sz="2400" dirty="0"/>
          </a:p>
        </p:txBody>
      </p:sp>
      <p:sp>
        <p:nvSpPr>
          <p:cNvPr id="19" name="Text 17"/>
          <p:cNvSpPr/>
          <p:nvPr/>
        </p:nvSpPr>
        <p:spPr>
          <a:xfrm>
            <a:off x="7379208" y="2468880"/>
            <a:ext cx="1883664" cy="86868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Roles and phone layout</a:t>
            </a:r>
            <a:endParaRPr lang="en-US" sz="1800" dirty="0"/>
          </a:p>
        </p:txBody>
      </p:sp>
      <p:sp>
        <p:nvSpPr>
          <p:cNvPr id="20" name="Text 18"/>
          <p:cNvSpPr/>
          <p:nvPr/>
        </p:nvSpPr>
        <p:spPr>
          <a:xfrm>
            <a:off x="7406640" y="3383280"/>
            <a:ext cx="1828800" cy="14630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What a volunteer may do; pages that work on a phone</a:t>
            </a:r>
            <a:endParaRPr lang="en-US" sz="1500" dirty="0"/>
          </a:p>
        </p:txBody>
      </p:sp>
      <p:sp>
        <p:nvSpPr>
          <p:cNvPr id="21" name="Shape 19"/>
          <p:cNvSpPr/>
          <p:nvPr/>
        </p:nvSpPr>
        <p:spPr>
          <a:xfrm>
            <a:off x="9509760" y="1783080"/>
            <a:ext cx="2103120" cy="31546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9509760" y="1920240"/>
            <a:ext cx="2103120" cy="502920"/>
          </a:xfrm>
          <a:prstGeom prst="rect">
            <a:avLst/>
          </a:prstGeom>
          <a:noFill/>
          <a:ln/>
        </p:spPr>
        <p:txBody>
          <a:bodyPr wrap="square" lIns="0" tIns="0" rIns="0" bIns="0" rtlCol="0" anchor="ctr"/>
          <a:lstStyle/>
          <a:p>
            <a:pPr algn="ctr" indent="0" marL="0">
              <a:buNone/>
            </a:pPr>
            <a:r>
              <a:rPr lang="en-US" sz="2400" b="1" dirty="0">
                <a:solidFill>
                  <a:srgbClr val="12908F"/>
                </a:solidFill>
                <a:latin typeface="Cambria" pitchFamily="34" charset="0"/>
                <a:ea typeface="Cambria" pitchFamily="34" charset="-122"/>
                <a:cs typeface="Cambria" pitchFamily="34" charset="-120"/>
              </a:rPr>
              <a:t>E5</a:t>
            </a:r>
            <a:endParaRPr lang="en-US" sz="2400" dirty="0"/>
          </a:p>
        </p:txBody>
      </p:sp>
      <p:sp>
        <p:nvSpPr>
          <p:cNvPr id="23" name="Text 21"/>
          <p:cNvSpPr/>
          <p:nvPr/>
        </p:nvSpPr>
        <p:spPr>
          <a:xfrm>
            <a:off x="9619488" y="2468880"/>
            <a:ext cx="1883664" cy="86868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Run it at the theater</a:t>
            </a:r>
            <a:endParaRPr lang="en-US" sz="1800" dirty="0"/>
          </a:p>
        </p:txBody>
      </p:sp>
      <p:sp>
        <p:nvSpPr>
          <p:cNvPr id="24" name="Text 22"/>
          <p:cNvSpPr/>
          <p:nvPr/>
        </p:nvSpPr>
        <p:spPr>
          <a:xfrm>
            <a:off x="9646920" y="3383280"/>
            <a:ext cx="1828800" cy="14630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Its own server, and a real strike night</a:t>
            </a:r>
            <a:endParaRPr lang="en-US" sz="1500" dirty="0"/>
          </a:p>
        </p:txBody>
      </p:sp>
      <p:sp>
        <p:nvSpPr>
          <p:cNvPr id="25" name="Shape 23"/>
          <p:cNvSpPr/>
          <p:nvPr/>
        </p:nvSpPr>
        <p:spPr>
          <a:xfrm>
            <a:off x="548640" y="5166360"/>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26" name="Text 24"/>
          <p:cNvSpPr/>
          <p:nvPr/>
        </p:nvSpPr>
        <p:spPr>
          <a:xfrm>
            <a:off x="868680" y="5166360"/>
            <a:ext cx="10424160" cy="100584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Each traces to a goal in the design.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If an epic doesn't, either the design is missing a goal or the epic is missing a reason.</a:t>
            </a:r>
            <a:endParaRPr lang="en-US" sz="17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AN EPIC ON GITHUB</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 parent issue, with the work hung under it</a:t>
            </a:r>
            <a:endParaRPr lang="en-US" sz="3100" dirty="0"/>
          </a:p>
        </p:txBody>
      </p:sp>
      <p:sp>
        <p:nvSpPr>
          <p:cNvPr id="5" name="Shape 3"/>
          <p:cNvSpPr/>
          <p:nvPr/>
        </p:nvSpPr>
        <p:spPr>
          <a:xfrm>
            <a:off x="548640" y="1783080"/>
            <a:ext cx="6309360" cy="3886200"/>
          </a:xfrm>
          <a:prstGeom prst="roundRect">
            <a:avLst>
              <a:gd name="adj" fmla="val 2118"/>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20240"/>
            <a:ext cx="4389120" cy="502920"/>
          </a:xfrm>
          <a:prstGeom prst="rect">
            <a:avLst/>
          </a:prstGeom>
          <a:noFill/>
          <a:ln/>
        </p:spPr>
        <p:txBody>
          <a:bodyPr wrap="square" lIns="0" tIns="0" rIns="0" bIns="0" rtlCol="0" anchor="ctr"/>
          <a:lstStyle/>
          <a:p>
            <a:pPr indent="0" marL="0">
              <a:buNone/>
            </a:pPr>
            <a:r>
              <a:rPr lang="en-US" sz="2000" b="1" dirty="0">
                <a:solidFill>
                  <a:srgbClr val="1E2A36"/>
                </a:solidFill>
                <a:latin typeface="Cambria" pitchFamily="34" charset="0"/>
                <a:ea typeface="Cambria" pitchFamily="34" charset="-122"/>
                <a:cs typeface="Cambria" pitchFamily="34" charset="-120"/>
              </a:rPr>
              <a:t>Epic: Find an item</a:t>
            </a:r>
            <a:endParaRPr lang="en-US" sz="2000" dirty="0"/>
          </a:p>
        </p:txBody>
      </p:sp>
      <p:sp>
        <p:nvSpPr>
          <p:cNvPr id="7" name="Shape 5"/>
          <p:cNvSpPr/>
          <p:nvPr/>
        </p:nvSpPr>
        <p:spPr>
          <a:xfrm>
            <a:off x="5440680" y="2011680"/>
            <a:ext cx="1143000" cy="365760"/>
          </a:xfrm>
          <a:prstGeom prst="roundRect">
            <a:avLst>
              <a:gd name="adj" fmla="val 50000"/>
            </a:avLst>
          </a:prstGeom>
          <a:solidFill>
            <a:srgbClr val="3E4B9E"/>
          </a:solidFill>
          <a:ln/>
        </p:spPr>
      </p:sp>
      <p:sp>
        <p:nvSpPr>
          <p:cNvPr id="8" name="Text 6"/>
          <p:cNvSpPr/>
          <p:nvPr/>
        </p:nvSpPr>
        <p:spPr>
          <a:xfrm>
            <a:off x="5440680" y="2011680"/>
            <a:ext cx="11430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epic</a:t>
            </a:r>
            <a:endParaRPr lang="en-US" sz="1500" dirty="0"/>
          </a:p>
        </p:txBody>
      </p:sp>
      <p:sp>
        <p:nvSpPr>
          <p:cNvPr id="9" name="Text 7"/>
          <p:cNvSpPr/>
          <p:nvPr/>
        </p:nvSpPr>
        <p:spPr>
          <a:xfrm>
            <a:off x="822960" y="2560320"/>
            <a:ext cx="3657600" cy="36576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Sub-issues · 2 of 4</a:t>
            </a:r>
            <a:endParaRPr lang="en-US" sz="1500" dirty="0"/>
          </a:p>
        </p:txBody>
      </p:sp>
      <p:sp>
        <p:nvSpPr>
          <p:cNvPr id="10" name="Shape 8"/>
          <p:cNvSpPr/>
          <p:nvPr/>
        </p:nvSpPr>
        <p:spPr>
          <a:xfrm>
            <a:off x="822960" y="2999232"/>
            <a:ext cx="5760720" cy="109728"/>
          </a:xfrm>
          <a:prstGeom prst="rect">
            <a:avLst/>
          </a:prstGeom>
          <a:solidFill>
            <a:srgbClr val="D5DEE5"/>
          </a:solidFill>
          <a:ln/>
        </p:spPr>
      </p:sp>
      <p:sp>
        <p:nvSpPr>
          <p:cNvPr id="11" name="Shape 9"/>
          <p:cNvSpPr/>
          <p:nvPr/>
        </p:nvSpPr>
        <p:spPr>
          <a:xfrm>
            <a:off x="822960" y="2999232"/>
            <a:ext cx="2880360" cy="109728"/>
          </a:xfrm>
          <a:prstGeom prst="rect">
            <a:avLst/>
          </a:prstGeom>
          <a:solidFill>
            <a:srgbClr val="3E9C6B"/>
          </a:solidFill>
          <a:ln/>
        </p:spPr>
      </p:sp>
      <p:sp>
        <p:nvSpPr>
          <p:cNvPr id="12" name="Shape 10"/>
          <p:cNvSpPr/>
          <p:nvPr/>
        </p:nvSpPr>
        <p:spPr>
          <a:xfrm>
            <a:off x="822960" y="3355848"/>
            <a:ext cx="365760" cy="365760"/>
          </a:xfrm>
          <a:prstGeom prst="ellipse">
            <a:avLst/>
          </a:prstGeom>
          <a:solidFill>
            <a:srgbClr val="3E9C6B"/>
          </a:solidFill>
          <a:ln/>
        </p:spPr>
      </p:sp>
      <p:pic>
        <p:nvPicPr>
          <p:cNvPr id="13" name="Image 0" descr="preencoded.png">    </p:cNvPr>
          <p:cNvPicPr>
            <a:picLocks noChangeAspect="1"/>
          </p:cNvPicPr>
          <p:nvPr/>
        </p:nvPicPr>
        <p:blipFill>
          <a:blip r:embed="rId1"/>
          <a:stretch>
            <a:fillRect/>
          </a:stretch>
        </p:blipFill>
        <p:spPr>
          <a:xfrm>
            <a:off x="921715" y="3454603"/>
            <a:ext cx="168250" cy="168250"/>
          </a:xfrm>
          <a:prstGeom prst="rect">
            <a:avLst/>
          </a:prstGeom>
        </p:spPr>
      </p:pic>
      <p:sp>
        <p:nvSpPr>
          <p:cNvPr id="14" name="Text 11"/>
          <p:cNvSpPr/>
          <p:nvPr/>
        </p:nvSpPr>
        <p:spPr>
          <a:xfrm>
            <a:off x="1371600" y="3291840"/>
            <a:ext cx="5212080" cy="502920"/>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Search items by name</a:t>
            </a:r>
            <a:endParaRPr lang="en-US" sz="1600" dirty="0"/>
          </a:p>
        </p:txBody>
      </p:sp>
      <p:sp>
        <p:nvSpPr>
          <p:cNvPr id="15" name="Shape 12"/>
          <p:cNvSpPr/>
          <p:nvPr/>
        </p:nvSpPr>
        <p:spPr>
          <a:xfrm>
            <a:off x="822960" y="3904488"/>
            <a:ext cx="365760" cy="365760"/>
          </a:xfrm>
          <a:prstGeom prst="ellipse">
            <a:avLst/>
          </a:prstGeom>
          <a:solidFill>
            <a:srgbClr val="3E9C6B"/>
          </a:solidFill>
          <a:ln/>
        </p:spPr>
      </p:sp>
      <p:pic>
        <p:nvPicPr>
          <p:cNvPr id="16" name="Image 1" descr="preencoded.png">    </p:cNvPr>
          <p:cNvPicPr>
            <a:picLocks noChangeAspect="1"/>
          </p:cNvPicPr>
          <p:nvPr/>
        </p:nvPicPr>
        <p:blipFill>
          <a:blip r:embed="rId2"/>
          <a:stretch>
            <a:fillRect/>
          </a:stretch>
        </p:blipFill>
        <p:spPr>
          <a:xfrm>
            <a:off x="921715" y="4003243"/>
            <a:ext cx="168250" cy="168250"/>
          </a:xfrm>
          <a:prstGeom prst="rect">
            <a:avLst/>
          </a:prstGeom>
        </p:spPr>
      </p:pic>
      <p:sp>
        <p:nvSpPr>
          <p:cNvPr id="17" name="Text 13"/>
          <p:cNvSpPr/>
          <p:nvPr/>
        </p:nvSpPr>
        <p:spPr>
          <a:xfrm>
            <a:off x="1371600" y="3840480"/>
            <a:ext cx="5212080" cy="502920"/>
          </a:xfrm>
          <a:prstGeom prst="rect">
            <a:avLst/>
          </a:prstGeom>
          <a:noFill/>
          <a:ln/>
        </p:spPr>
        <p:txBody>
          <a:bodyPr wrap="square" lIns="0" tIns="0" rIns="0" bIns="0" rtlCol="0" anchor="ctr"/>
          <a:lstStyle/>
          <a:p>
            <a:pPr indent="0" marL="0">
              <a:buNone/>
            </a:pPr>
            <a:r>
              <a:rPr lang="en-US" sz="1600" dirty="0">
                <a:solidFill>
                  <a:srgbClr val="5F7284"/>
                </a:solidFill>
                <a:latin typeface="Calibri" pitchFamily="34" charset="0"/>
                <a:ea typeface="Calibri" pitchFamily="34" charset="-122"/>
                <a:cs typeface="Calibri" pitchFamily="34" charset="-120"/>
              </a:rPr>
              <a:t>Show an item's detail page</a:t>
            </a:r>
            <a:endParaRPr lang="en-US" sz="1600" dirty="0"/>
          </a:p>
        </p:txBody>
      </p:sp>
      <p:sp>
        <p:nvSpPr>
          <p:cNvPr id="18" name="Shape 14"/>
          <p:cNvSpPr/>
          <p:nvPr/>
        </p:nvSpPr>
        <p:spPr>
          <a:xfrm>
            <a:off x="822960" y="4453128"/>
            <a:ext cx="365760" cy="365760"/>
          </a:xfrm>
          <a:prstGeom prst="ellipse">
            <a:avLst/>
          </a:prstGeom>
          <a:solidFill>
            <a:srgbClr val="C9D3DC"/>
          </a:solidFill>
          <a:ln/>
        </p:spPr>
      </p:sp>
      <p:pic>
        <p:nvPicPr>
          <p:cNvPr id="19" name="Image 2" descr="preencoded.png">    </p:cNvPr>
          <p:cNvPicPr>
            <a:picLocks noChangeAspect="1"/>
          </p:cNvPicPr>
          <p:nvPr/>
        </p:nvPicPr>
        <p:blipFill>
          <a:blip r:embed="rId3"/>
          <a:stretch>
            <a:fillRect/>
          </a:stretch>
        </p:blipFill>
        <p:spPr>
          <a:xfrm>
            <a:off x="921715" y="4551883"/>
            <a:ext cx="168250" cy="168250"/>
          </a:xfrm>
          <a:prstGeom prst="rect">
            <a:avLst/>
          </a:prstGeom>
        </p:spPr>
      </p:pic>
      <p:sp>
        <p:nvSpPr>
          <p:cNvPr id="20" name="Text 15"/>
          <p:cNvSpPr/>
          <p:nvPr/>
        </p:nvSpPr>
        <p:spPr>
          <a:xfrm>
            <a:off x="1371600" y="4389120"/>
            <a:ext cx="5212080" cy="502920"/>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Filter items by category and size</a:t>
            </a:r>
            <a:endParaRPr lang="en-US" sz="1600" dirty="0"/>
          </a:p>
        </p:txBody>
      </p:sp>
      <p:sp>
        <p:nvSpPr>
          <p:cNvPr id="21" name="Shape 16"/>
          <p:cNvSpPr/>
          <p:nvPr/>
        </p:nvSpPr>
        <p:spPr>
          <a:xfrm>
            <a:off x="822960" y="5001768"/>
            <a:ext cx="365760" cy="365760"/>
          </a:xfrm>
          <a:prstGeom prst="ellipse">
            <a:avLst/>
          </a:prstGeom>
          <a:solidFill>
            <a:srgbClr val="C9D3DC"/>
          </a:solidFill>
          <a:ln/>
        </p:spPr>
      </p:sp>
      <p:pic>
        <p:nvPicPr>
          <p:cNvPr id="22" name="Image 3" descr="preencoded.png">    </p:cNvPr>
          <p:cNvPicPr>
            <a:picLocks noChangeAspect="1"/>
          </p:cNvPicPr>
          <p:nvPr/>
        </p:nvPicPr>
        <p:blipFill>
          <a:blip r:embed="rId4"/>
          <a:stretch>
            <a:fillRect/>
          </a:stretch>
        </p:blipFill>
        <p:spPr>
          <a:xfrm>
            <a:off x="921715" y="5100523"/>
            <a:ext cx="168250" cy="168250"/>
          </a:xfrm>
          <a:prstGeom prst="rect">
            <a:avLst/>
          </a:prstGeom>
        </p:spPr>
      </p:pic>
      <p:sp>
        <p:nvSpPr>
          <p:cNvPr id="23" name="Text 17"/>
          <p:cNvSpPr/>
          <p:nvPr/>
        </p:nvSpPr>
        <p:spPr>
          <a:xfrm>
            <a:off x="1371600" y="4937760"/>
            <a:ext cx="5212080" cy="502920"/>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Say so when a search finds nothing</a:t>
            </a:r>
            <a:endParaRPr lang="en-US" sz="1600" dirty="0"/>
          </a:p>
        </p:txBody>
      </p:sp>
      <p:sp>
        <p:nvSpPr>
          <p:cNvPr id="24" name="Shape 18"/>
          <p:cNvSpPr/>
          <p:nvPr/>
        </p:nvSpPr>
        <p:spPr>
          <a:xfrm>
            <a:off x="7086600" y="1783080"/>
            <a:ext cx="4526280" cy="1188720"/>
          </a:xfrm>
          <a:prstGeom prst="roundRect">
            <a:avLst>
              <a:gd name="adj" fmla="val 6923"/>
            </a:avLst>
          </a:prstGeom>
          <a:solidFill>
            <a:srgbClr val="FFFFFF"/>
          </a:solidFill>
          <a:ln/>
          <a:effectLst>
            <a:outerShdw sx="100000" sy="100000" kx="0" ky="0" algn="bl" rotWithShape="0" blurRad="88900" dist="38100" dir="5400000">
              <a:srgbClr val="000000">
                <a:alpha val="13000"/>
              </a:srgbClr>
            </a:outerShdw>
          </a:effectLst>
        </p:spPr>
      </p:sp>
      <p:sp>
        <p:nvSpPr>
          <p:cNvPr id="25" name="Shape 19"/>
          <p:cNvSpPr/>
          <p:nvPr/>
        </p:nvSpPr>
        <p:spPr>
          <a:xfrm>
            <a:off x="7269480" y="2112264"/>
            <a:ext cx="521208" cy="521208"/>
          </a:xfrm>
          <a:prstGeom prst="ellipse">
            <a:avLst/>
          </a:prstGeom>
          <a:solidFill>
            <a:srgbClr val="12908F"/>
          </a:solidFill>
          <a:ln/>
        </p:spPr>
      </p:sp>
      <p:sp>
        <p:nvSpPr>
          <p:cNvPr id="26" name="Text 20"/>
          <p:cNvSpPr/>
          <p:nvPr/>
        </p:nvSpPr>
        <p:spPr>
          <a:xfrm>
            <a:off x="7269480" y="2112264"/>
            <a:ext cx="521208" cy="52120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27" name="Text 21"/>
          <p:cNvSpPr/>
          <p:nvPr/>
        </p:nvSpPr>
        <p:spPr>
          <a:xfrm>
            <a:off x="7955280" y="1783080"/>
            <a:ext cx="3520440" cy="11887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Label it epic</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Add the label; explain it in CONTRIBUTING</a:t>
            </a:r>
            <a:endParaRPr lang="en-US" sz="1700" dirty="0"/>
          </a:p>
        </p:txBody>
      </p:sp>
      <p:sp>
        <p:nvSpPr>
          <p:cNvPr id="28" name="Shape 22"/>
          <p:cNvSpPr/>
          <p:nvPr/>
        </p:nvSpPr>
        <p:spPr>
          <a:xfrm>
            <a:off x="7086600" y="3108960"/>
            <a:ext cx="4526280" cy="1188720"/>
          </a:xfrm>
          <a:prstGeom prst="roundRect">
            <a:avLst>
              <a:gd name="adj" fmla="val 6923"/>
            </a:avLst>
          </a:prstGeom>
          <a:solidFill>
            <a:srgbClr val="FFFFFF"/>
          </a:solidFill>
          <a:ln/>
          <a:effectLst>
            <a:outerShdw sx="100000" sy="100000" kx="0" ky="0" algn="bl" rotWithShape="0" blurRad="88900" dist="38100" dir="5400000">
              <a:srgbClr val="000000">
                <a:alpha val="13000"/>
              </a:srgbClr>
            </a:outerShdw>
          </a:effectLst>
        </p:spPr>
      </p:sp>
      <p:sp>
        <p:nvSpPr>
          <p:cNvPr id="29" name="Shape 23"/>
          <p:cNvSpPr/>
          <p:nvPr/>
        </p:nvSpPr>
        <p:spPr>
          <a:xfrm>
            <a:off x="7269480" y="3438144"/>
            <a:ext cx="521208" cy="521208"/>
          </a:xfrm>
          <a:prstGeom prst="ellipse">
            <a:avLst/>
          </a:prstGeom>
          <a:solidFill>
            <a:srgbClr val="12908F"/>
          </a:solidFill>
          <a:ln/>
        </p:spPr>
      </p:sp>
      <p:sp>
        <p:nvSpPr>
          <p:cNvPr id="30" name="Text 24"/>
          <p:cNvSpPr/>
          <p:nvPr/>
        </p:nvSpPr>
        <p:spPr>
          <a:xfrm>
            <a:off x="7269480" y="3438144"/>
            <a:ext cx="521208" cy="52120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31" name="Text 25"/>
          <p:cNvSpPr/>
          <p:nvPr/>
        </p:nvSpPr>
        <p:spPr>
          <a:xfrm>
            <a:off x="7955280" y="3108960"/>
            <a:ext cx="3520440" cy="11887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Write it like a task</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Done when the slice works and every sub-issue is closed</a:t>
            </a:r>
            <a:endParaRPr lang="en-US" sz="1700" dirty="0"/>
          </a:p>
        </p:txBody>
      </p:sp>
      <p:sp>
        <p:nvSpPr>
          <p:cNvPr id="32" name="Shape 26"/>
          <p:cNvSpPr/>
          <p:nvPr/>
        </p:nvSpPr>
        <p:spPr>
          <a:xfrm>
            <a:off x="7086600" y="4434840"/>
            <a:ext cx="4526280" cy="1188720"/>
          </a:xfrm>
          <a:prstGeom prst="roundRect">
            <a:avLst>
              <a:gd name="adj" fmla="val 6923"/>
            </a:avLst>
          </a:prstGeom>
          <a:solidFill>
            <a:srgbClr val="FFFFFF"/>
          </a:solidFill>
          <a:ln/>
          <a:effectLst>
            <a:outerShdw sx="100000" sy="100000" kx="0" ky="0" algn="bl" rotWithShape="0" blurRad="88900" dist="38100" dir="5400000">
              <a:srgbClr val="000000">
                <a:alpha val="13000"/>
              </a:srgbClr>
            </a:outerShdw>
          </a:effectLst>
        </p:spPr>
      </p:sp>
      <p:sp>
        <p:nvSpPr>
          <p:cNvPr id="33" name="Shape 27"/>
          <p:cNvSpPr/>
          <p:nvPr/>
        </p:nvSpPr>
        <p:spPr>
          <a:xfrm>
            <a:off x="7269480" y="4764024"/>
            <a:ext cx="521208" cy="521208"/>
          </a:xfrm>
          <a:prstGeom prst="ellipse">
            <a:avLst/>
          </a:prstGeom>
          <a:solidFill>
            <a:srgbClr val="12908F"/>
          </a:solidFill>
          <a:ln/>
        </p:spPr>
      </p:sp>
      <p:sp>
        <p:nvSpPr>
          <p:cNvPr id="34" name="Text 28"/>
          <p:cNvSpPr/>
          <p:nvPr/>
        </p:nvSpPr>
        <p:spPr>
          <a:xfrm>
            <a:off x="7269480" y="4764024"/>
            <a:ext cx="521208" cy="52120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35" name="Text 29"/>
          <p:cNvSpPr/>
          <p:nvPr/>
        </p:nvSpPr>
        <p:spPr>
          <a:xfrm>
            <a:off x="7955280" y="4434840"/>
            <a:ext cx="3520440" cy="118872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Hang the work under it</a:t>
            </a:r>
            <a:endParaRPr lang="en-US" sz="1700" dirty="0"/>
          </a:p>
          <a:p>
            <a:pPr indent="0" marL="0">
              <a:buNone/>
            </a:pPr>
            <a:r>
              <a:rPr lang="en-US" sz="1500" dirty="0">
                <a:solidFill>
                  <a:srgbClr val="5F7284"/>
                </a:solidFill>
                <a:latin typeface="Calibri" pitchFamily="34" charset="0"/>
                <a:ea typeface="Calibri" pitchFamily="34" charset="-122"/>
                <a:cs typeface="Calibri" pitchFamily="34" charset="-120"/>
              </a:rPr>
              <a:t>Create sub-issue, or Add existing issue</a:t>
            </a:r>
            <a:endParaRPr lang="en-US" sz="1700" dirty="0"/>
          </a:p>
        </p:txBody>
      </p:sp>
      <p:sp>
        <p:nvSpPr>
          <p:cNvPr id="36" name="Text 30"/>
          <p:cNvSpPr/>
          <p:nvPr/>
        </p:nvSpPr>
        <p:spPr>
          <a:xfrm>
            <a:off x="548640" y="5806440"/>
            <a:ext cx="11064240" cy="50292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Also works: an Epic issue type, or one milestone per epic. Keep the sub-issues either way: they give the epic its progress bar.</a:t>
            </a:r>
            <a:endParaRPr lang="en-US" sz="1500" dirty="0"/>
          </a:p>
        </p:txBody>
      </p:sp>
      <p:sp>
        <p:nvSpPr>
          <p:cNvPr id="37" name="Text 3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8"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KINDS OF ISSUES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Same tracker, different jobs</a:t>
            </a:r>
            <a:endParaRPr lang="en-US" sz="3100" dirty="0"/>
          </a:p>
        </p:txBody>
      </p:sp>
      <p:sp>
        <p:nvSpPr>
          <p:cNvPr id="5" name="Shape 3"/>
          <p:cNvSpPr/>
          <p:nvPr/>
        </p:nvSpPr>
        <p:spPr>
          <a:xfrm>
            <a:off x="548640" y="1783080"/>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96596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128906"/>
            <a:ext cx="277612" cy="277612"/>
          </a:xfrm>
          <a:prstGeom prst="rect">
            <a:avLst/>
          </a:prstGeom>
        </p:spPr>
      </p:pic>
      <p:sp>
        <p:nvSpPr>
          <p:cNvPr id="8" name="Text 5"/>
          <p:cNvSpPr/>
          <p:nvPr/>
        </p:nvSpPr>
        <p:spPr>
          <a:xfrm>
            <a:off x="1600200" y="1920240"/>
            <a:ext cx="4206240" cy="7315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Requests</a:t>
            </a:r>
            <a:endParaRPr lang="en-US" sz="2000" dirty="0"/>
          </a:p>
          <a:p>
            <a:pPr indent="0" marL="0">
              <a:buNone/>
            </a:pPr>
            <a:r>
              <a:rPr lang="en-US" sz="1500" dirty="0">
                <a:solidFill>
                  <a:srgbClr val="0E6E6D"/>
                </a:solidFill>
                <a:latin typeface="Calibri" pitchFamily="34" charset="0"/>
                <a:ea typeface="Calibri" pitchFamily="34" charset="-122"/>
                <a:cs typeface="Calibri" pitchFamily="34" charset="-120"/>
              </a:rPr>
              <a:t>Session 15's anatomy</a:t>
            </a:r>
            <a:endParaRPr lang="en-US" sz="2000" dirty="0"/>
          </a:p>
        </p:txBody>
      </p:sp>
      <p:sp>
        <p:nvSpPr>
          <p:cNvPr id="9" name="Text 6"/>
          <p:cNvSpPr/>
          <p:nvPr/>
        </p:nvSpPr>
        <p:spPr>
          <a:xfrm>
            <a:off x="822960" y="2834640"/>
            <a:ext cx="1371600" cy="640080"/>
          </a:xfrm>
          <a:prstGeom prst="rect">
            <a:avLst/>
          </a:prstGeom>
          <a:noFill/>
          <a:ln/>
        </p:spPr>
        <p:txBody>
          <a:bodyPr wrap="square" lIns="0" tIns="0" rIns="0" bIns="0" rtlCol="0" anchor="t"/>
          <a:lstStyle/>
          <a:p>
            <a:pPr indent="0" marL="0">
              <a:buNone/>
            </a:pPr>
            <a:r>
              <a:rPr lang="en-US" sz="1500" b="1" dirty="0">
                <a:solidFill>
                  <a:srgbClr val="5F7284"/>
                </a:solidFill>
                <a:latin typeface="Calibri" pitchFamily="34" charset="0"/>
                <a:ea typeface="Calibri" pitchFamily="34" charset="-122"/>
                <a:cs typeface="Calibri" pitchFamily="34" charset="-120"/>
              </a:rPr>
              <a:t>Written by</a:t>
            </a:r>
            <a:endParaRPr lang="en-US" sz="1500" dirty="0"/>
          </a:p>
        </p:txBody>
      </p:sp>
      <p:sp>
        <p:nvSpPr>
          <p:cNvPr id="10" name="Text 7"/>
          <p:cNvSpPr/>
          <p:nvPr/>
        </p:nvSpPr>
        <p:spPr>
          <a:xfrm>
            <a:off x="2194560" y="2834640"/>
            <a:ext cx="3611880" cy="64008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anyone: a user, a stranger</a:t>
            </a:r>
            <a:endParaRPr lang="en-US" sz="1600" dirty="0"/>
          </a:p>
        </p:txBody>
      </p:sp>
      <p:sp>
        <p:nvSpPr>
          <p:cNvPr id="11" name="Text 8"/>
          <p:cNvSpPr/>
          <p:nvPr/>
        </p:nvSpPr>
        <p:spPr>
          <a:xfrm>
            <a:off x="822960" y="3547872"/>
            <a:ext cx="1371600" cy="640080"/>
          </a:xfrm>
          <a:prstGeom prst="rect">
            <a:avLst/>
          </a:prstGeom>
          <a:noFill/>
          <a:ln/>
        </p:spPr>
        <p:txBody>
          <a:bodyPr wrap="square" lIns="0" tIns="0" rIns="0" bIns="0" rtlCol="0" anchor="t"/>
          <a:lstStyle/>
          <a:p>
            <a:pPr indent="0" marL="0">
              <a:buNone/>
            </a:pPr>
            <a:r>
              <a:rPr lang="en-US" sz="1500" b="1" dirty="0">
                <a:solidFill>
                  <a:srgbClr val="5F7284"/>
                </a:solidFill>
                <a:latin typeface="Calibri" pitchFamily="34" charset="0"/>
                <a:ea typeface="Calibri" pitchFamily="34" charset="-122"/>
                <a:cs typeface="Calibri" pitchFamily="34" charset="-120"/>
              </a:rPr>
              <a:t>Says</a:t>
            </a:r>
            <a:endParaRPr lang="en-US" sz="1500" dirty="0"/>
          </a:p>
        </p:txBody>
      </p:sp>
      <p:sp>
        <p:nvSpPr>
          <p:cNvPr id="12" name="Text 9"/>
          <p:cNvSpPr/>
          <p:nvPr/>
        </p:nvSpPr>
        <p:spPr>
          <a:xfrm>
            <a:off x="2194560" y="3547872"/>
            <a:ext cx="3611880" cy="64008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what's wrong, or what's needed</a:t>
            </a:r>
            <a:endParaRPr lang="en-US" sz="1600" dirty="0"/>
          </a:p>
        </p:txBody>
      </p:sp>
      <p:sp>
        <p:nvSpPr>
          <p:cNvPr id="13" name="Text 10"/>
          <p:cNvSpPr/>
          <p:nvPr/>
        </p:nvSpPr>
        <p:spPr>
          <a:xfrm>
            <a:off x="822960" y="4261104"/>
            <a:ext cx="1371600" cy="640080"/>
          </a:xfrm>
          <a:prstGeom prst="rect">
            <a:avLst/>
          </a:prstGeom>
          <a:noFill/>
          <a:ln/>
        </p:spPr>
        <p:txBody>
          <a:bodyPr wrap="square" lIns="0" tIns="0" rIns="0" bIns="0" rtlCol="0" anchor="t"/>
          <a:lstStyle/>
          <a:p>
            <a:pPr indent="0" marL="0">
              <a:buNone/>
            </a:pPr>
            <a:r>
              <a:rPr lang="en-US" sz="1500" b="1" dirty="0">
                <a:solidFill>
                  <a:srgbClr val="5F7284"/>
                </a:solidFill>
                <a:latin typeface="Calibri" pitchFamily="34" charset="0"/>
                <a:ea typeface="Calibri" pitchFamily="34" charset="-122"/>
                <a:cs typeface="Calibri" pitchFamily="34" charset="-120"/>
              </a:rPr>
              <a:t>Shape</a:t>
            </a:r>
            <a:endParaRPr lang="en-US" sz="1500" dirty="0"/>
          </a:p>
        </p:txBody>
      </p:sp>
      <p:sp>
        <p:nvSpPr>
          <p:cNvPr id="14" name="Text 11"/>
          <p:cNvSpPr/>
          <p:nvPr/>
        </p:nvSpPr>
        <p:spPr>
          <a:xfrm>
            <a:off x="2194560" y="4261104"/>
            <a:ext cx="3611880" cy="640080"/>
          </a:xfrm>
          <a:prstGeom prst="rect">
            <a:avLst/>
          </a:prstGeom>
          <a:noFill/>
          <a:ln/>
        </p:spPr>
        <p:txBody>
          <a:bodyPr wrap="square" lIns="0" tIns="0" rIns="0" bIns="0" rtlCol="0" anchor="t"/>
          <a:lstStyle/>
          <a:p>
            <a:pPr indent="0" marL="0">
              <a:buNone/>
            </a:pPr>
            <a:r>
              <a:rPr lang="en-US" sz="1600" dirty="0">
                <a:solidFill>
                  <a:srgbClr val="1E2A36"/>
                </a:solidFill>
                <a:latin typeface="Calibri" pitchFamily="34" charset="0"/>
                <a:ea typeface="Calibri" pitchFamily="34" charset="-122"/>
                <a:cs typeface="Calibri" pitchFamily="34" charset="-120"/>
              </a:rPr>
              <a:t>steps, expected vs. actual; or the problem, who has it, the workaround</a:t>
            </a:r>
            <a:endParaRPr lang="en-US" sz="1600" dirty="0"/>
          </a:p>
        </p:txBody>
      </p:sp>
      <p:sp>
        <p:nvSpPr>
          <p:cNvPr id="15" name="Shape 12"/>
          <p:cNvSpPr/>
          <p:nvPr/>
        </p:nvSpPr>
        <p:spPr>
          <a:xfrm>
            <a:off x="6172200" y="1783080"/>
            <a:ext cx="5440680" cy="3291840"/>
          </a:xfrm>
          <a:prstGeom prst="roundRect">
            <a:avLst>
              <a:gd name="adj" fmla="val 2500"/>
            </a:avLst>
          </a:prstGeom>
          <a:solidFill>
            <a:srgbClr val="14233A"/>
          </a:solidFill>
          <a:ln/>
          <a:effectLst>
            <a:outerShdw sx="100000" sy="100000" kx="0" ky="0" algn="bl" rotWithShape="0" blurRad="88900" dist="38100" dir="5400000">
              <a:srgbClr val="000000">
                <a:alpha val="13000"/>
              </a:srgbClr>
            </a:outerShdw>
          </a:effectLst>
        </p:spPr>
      </p:sp>
      <p:sp>
        <p:nvSpPr>
          <p:cNvPr id="16" name="Shape 13"/>
          <p:cNvSpPr/>
          <p:nvPr/>
        </p:nvSpPr>
        <p:spPr>
          <a:xfrm>
            <a:off x="6446520" y="1965960"/>
            <a:ext cx="603504" cy="603504"/>
          </a:xfrm>
          <a:prstGeom prst="ellipse">
            <a:avLst/>
          </a:prstGeom>
          <a:solidFill>
            <a:srgbClr val="E8A33D"/>
          </a:solidFill>
          <a:ln/>
        </p:spPr>
      </p:sp>
      <p:pic>
        <p:nvPicPr>
          <p:cNvPr id="17" name="Image 1" descr="preencoded.png">    </p:cNvPr>
          <p:cNvPicPr>
            <a:picLocks noChangeAspect="1"/>
          </p:cNvPicPr>
          <p:nvPr/>
        </p:nvPicPr>
        <p:blipFill>
          <a:blip r:embed="rId2"/>
          <a:stretch>
            <a:fillRect/>
          </a:stretch>
        </p:blipFill>
        <p:spPr>
          <a:xfrm>
            <a:off x="6609466" y="2128906"/>
            <a:ext cx="277612" cy="277612"/>
          </a:xfrm>
          <a:prstGeom prst="rect">
            <a:avLst/>
          </a:prstGeom>
        </p:spPr>
      </p:pic>
      <p:sp>
        <p:nvSpPr>
          <p:cNvPr id="18" name="Text 14"/>
          <p:cNvSpPr/>
          <p:nvPr/>
        </p:nvSpPr>
        <p:spPr>
          <a:xfrm>
            <a:off x="7223760" y="1920240"/>
            <a:ext cx="4206240"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Work items</a:t>
            </a:r>
            <a:endParaRPr lang="en-US" sz="2000" dirty="0"/>
          </a:p>
          <a:p>
            <a:pPr indent="0" marL="0">
              <a:buNone/>
            </a:pPr>
            <a:r>
              <a:rPr lang="en-US" sz="1500" dirty="0">
                <a:solidFill>
                  <a:srgbClr val="E8A33D"/>
                </a:solidFill>
                <a:latin typeface="Calibri" pitchFamily="34" charset="0"/>
                <a:ea typeface="Calibri" pitchFamily="34" charset="-122"/>
                <a:cs typeface="Calibri" pitchFamily="34" charset="-120"/>
              </a:rPr>
              <a:t>Today</a:t>
            </a:r>
            <a:endParaRPr lang="en-US" sz="2000" dirty="0"/>
          </a:p>
        </p:txBody>
      </p:sp>
      <p:sp>
        <p:nvSpPr>
          <p:cNvPr id="19" name="Text 15"/>
          <p:cNvSpPr/>
          <p:nvPr/>
        </p:nvSpPr>
        <p:spPr>
          <a:xfrm>
            <a:off x="6446520" y="2834640"/>
            <a:ext cx="1371600" cy="640080"/>
          </a:xfrm>
          <a:prstGeom prst="rect">
            <a:avLst/>
          </a:prstGeom>
          <a:noFill/>
          <a:ln/>
        </p:spPr>
        <p:txBody>
          <a:bodyPr wrap="square" lIns="0" tIns="0" rIns="0" bIns="0" rtlCol="0" anchor="t"/>
          <a:lstStyle/>
          <a:p>
            <a:pPr indent="0" marL="0">
              <a:buNone/>
            </a:pPr>
            <a:r>
              <a:rPr lang="en-US" sz="1500" b="1" dirty="0">
                <a:solidFill>
                  <a:srgbClr val="9FB4C7"/>
                </a:solidFill>
                <a:latin typeface="Calibri" pitchFamily="34" charset="0"/>
                <a:ea typeface="Calibri" pitchFamily="34" charset="-122"/>
                <a:cs typeface="Calibri" pitchFamily="34" charset="-120"/>
              </a:rPr>
              <a:t>Written by</a:t>
            </a:r>
            <a:endParaRPr lang="en-US" sz="1500" dirty="0"/>
          </a:p>
        </p:txBody>
      </p:sp>
      <p:sp>
        <p:nvSpPr>
          <p:cNvPr id="20" name="Text 16"/>
          <p:cNvSpPr/>
          <p:nvPr/>
        </p:nvSpPr>
        <p:spPr>
          <a:xfrm>
            <a:off x="7818120" y="2834640"/>
            <a:ext cx="361188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maintainer, while planning</a:t>
            </a:r>
            <a:endParaRPr lang="en-US" sz="1600" dirty="0"/>
          </a:p>
        </p:txBody>
      </p:sp>
      <p:sp>
        <p:nvSpPr>
          <p:cNvPr id="21" name="Text 17"/>
          <p:cNvSpPr/>
          <p:nvPr/>
        </p:nvSpPr>
        <p:spPr>
          <a:xfrm>
            <a:off x="6446520" y="3547872"/>
            <a:ext cx="1371600" cy="640080"/>
          </a:xfrm>
          <a:prstGeom prst="rect">
            <a:avLst/>
          </a:prstGeom>
          <a:noFill/>
          <a:ln/>
        </p:spPr>
        <p:txBody>
          <a:bodyPr wrap="square" lIns="0" tIns="0" rIns="0" bIns="0" rtlCol="0" anchor="t"/>
          <a:lstStyle/>
          <a:p>
            <a:pPr indent="0" marL="0">
              <a:buNone/>
            </a:pPr>
            <a:r>
              <a:rPr lang="en-US" sz="1500" b="1" dirty="0">
                <a:solidFill>
                  <a:srgbClr val="9FB4C7"/>
                </a:solidFill>
                <a:latin typeface="Calibri" pitchFamily="34" charset="0"/>
                <a:ea typeface="Calibri" pitchFamily="34" charset="-122"/>
                <a:cs typeface="Calibri" pitchFamily="34" charset="-120"/>
              </a:rPr>
              <a:t>Says</a:t>
            </a:r>
            <a:endParaRPr lang="en-US" sz="1500" dirty="0"/>
          </a:p>
        </p:txBody>
      </p:sp>
      <p:sp>
        <p:nvSpPr>
          <p:cNvPr id="22" name="Text 18"/>
          <p:cNvSpPr/>
          <p:nvPr/>
        </p:nvSpPr>
        <p:spPr>
          <a:xfrm>
            <a:off x="7818120" y="3547872"/>
            <a:ext cx="361188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what will be built, and how you'll know it's done</a:t>
            </a:r>
            <a:endParaRPr lang="en-US" sz="1600" dirty="0"/>
          </a:p>
        </p:txBody>
      </p:sp>
      <p:sp>
        <p:nvSpPr>
          <p:cNvPr id="23" name="Text 19"/>
          <p:cNvSpPr/>
          <p:nvPr/>
        </p:nvSpPr>
        <p:spPr>
          <a:xfrm>
            <a:off x="6446520" y="4261104"/>
            <a:ext cx="1371600" cy="640080"/>
          </a:xfrm>
          <a:prstGeom prst="rect">
            <a:avLst/>
          </a:prstGeom>
          <a:noFill/>
          <a:ln/>
        </p:spPr>
        <p:txBody>
          <a:bodyPr wrap="square" lIns="0" tIns="0" rIns="0" bIns="0" rtlCol="0" anchor="t"/>
          <a:lstStyle/>
          <a:p>
            <a:pPr indent="0" marL="0">
              <a:buNone/>
            </a:pPr>
            <a:r>
              <a:rPr lang="en-US" sz="1500" b="1" dirty="0">
                <a:solidFill>
                  <a:srgbClr val="9FB4C7"/>
                </a:solidFill>
                <a:latin typeface="Calibri" pitchFamily="34" charset="0"/>
                <a:ea typeface="Calibri" pitchFamily="34" charset="-122"/>
                <a:cs typeface="Calibri" pitchFamily="34" charset="-120"/>
              </a:rPr>
              <a:t>Shape</a:t>
            </a:r>
            <a:endParaRPr lang="en-US" sz="1500" dirty="0"/>
          </a:p>
        </p:txBody>
      </p:sp>
      <p:sp>
        <p:nvSpPr>
          <p:cNvPr id="24" name="Text 20"/>
          <p:cNvSpPr/>
          <p:nvPr/>
        </p:nvSpPr>
        <p:spPr>
          <a:xfrm>
            <a:off x="7818120" y="4261104"/>
            <a:ext cx="361188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goal, context, and acceptance criteria</a:t>
            </a:r>
            <a:endParaRPr lang="en-US" sz="1600" dirty="0"/>
          </a:p>
        </p:txBody>
      </p:sp>
      <p:sp>
        <p:nvSpPr>
          <p:cNvPr id="25" name="click-1"/>
          <p:cNvSpPr/>
          <p:nvPr/>
        </p:nvSpPr>
        <p:spPr>
          <a:xfrm>
            <a:off x="548640" y="530352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26" name="click-1"/>
          <p:cNvSpPr/>
          <p:nvPr/>
        </p:nvSpPr>
        <p:spPr>
          <a:xfrm>
            <a:off x="868680" y="530352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Triage turns a request into a work item: read it, decide, and add what's missing.</a:t>
            </a:r>
            <a:endParaRPr lang="en-US" sz="1700" dirty="0"/>
          </a:p>
        </p:txBody>
      </p:sp>
      <p:sp>
        <p:nvSpPr>
          <p:cNvPr id="27"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8"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TRIAGE, ON PROP LOFT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request stays on top. The decision goes below.</a:t>
            </a:r>
            <a:endParaRPr lang="en-US" sz="3100" dirty="0"/>
          </a:p>
        </p:txBody>
      </p:sp>
      <p:sp>
        <p:nvSpPr>
          <p:cNvPr id="5" name="Text 3"/>
          <p:cNvSpPr/>
          <p:nvPr/>
        </p:nvSpPr>
        <p:spPr>
          <a:xfrm>
            <a:off x="548640" y="1691640"/>
            <a:ext cx="544068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As filed, through the feature form</a:t>
            </a:r>
            <a:endParaRPr lang="en-US" sz="1500" dirty="0"/>
          </a:p>
        </p:txBody>
      </p:sp>
      <p:sp>
        <p:nvSpPr>
          <p:cNvPr id="6" name="Shape 4"/>
          <p:cNvSpPr/>
          <p:nvPr/>
        </p:nvSpPr>
        <p:spPr>
          <a:xfrm>
            <a:off x="548640" y="2057400"/>
            <a:ext cx="5440680" cy="2743200"/>
          </a:xfrm>
          <a:prstGeom prst="roundRect">
            <a:avLst>
              <a:gd name="adj" fmla="val 2667"/>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4892040" cy="241401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Search items by name, category,</a:t>
            </a:r>
            <a:endParaRPr lang="en-US" sz="1450" dirty="0"/>
          </a:p>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and size</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The problem</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A volunteer needs to know whether we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own something, from a phone.</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Who has this problem</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Wardrobe volunteers, on the shop floor</a:t>
            </a:r>
            <a:endParaRPr lang="en-US" sz="1450" dirty="0"/>
          </a:p>
        </p:txBody>
      </p:sp>
      <p:sp>
        <p:nvSpPr>
          <p:cNvPr id="8" name="click-1"/>
          <p:cNvSpPr/>
          <p:nvPr/>
        </p:nvSpPr>
        <p:spPr>
          <a:xfrm>
            <a:off x="6172200" y="1691640"/>
            <a:ext cx="544068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Added by the maintainer</a:t>
            </a:r>
            <a:endParaRPr lang="en-US" sz="1500" dirty="0"/>
          </a:p>
        </p:txBody>
      </p:sp>
      <p:sp>
        <p:nvSpPr>
          <p:cNvPr id="9" name="click-1"/>
          <p:cNvSpPr/>
          <p:nvPr/>
        </p:nvSpPr>
        <p:spPr>
          <a:xfrm>
            <a:off x="6172200" y="2057400"/>
            <a:ext cx="5440680" cy="2743200"/>
          </a:xfrm>
          <a:prstGeom prst="roundRect">
            <a:avLst>
              <a:gd name="adj" fmla="val 2667"/>
            </a:avLst>
          </a:prstGeom>
          <a:solidFill>
            <a:srgbClr val="1E3352"/>
          </a:solidFill>
          <a:ln/>
          <a:effectLst>
            <a:outerShdw sx="100000" sy="100000" kx="0" ky="0" algn="bl" rotWithShape="0" blurRad="88900" dist="38100" dir="5400000">
              <a:srgbClr val="000000">
                <a:alpha val="13000"/>
              </a:srgbClr>
            </a:outerShdw>
          </a:effectLst>
        </p:spPr>
      </p:sp>
      <p:sp>
        <p:nvSpPr>
          <p:cNvPr id="10" name="click-1"/>
          <p:cNvSpPr/>
          <p:nvPr/>
        </p:nvSpPr>
        <p:spPr>
          <a:xfrm>
            <a:off x="6446520" y="2221992"/>
            <a:ext cx="4892040" cy="2414016"/>
          </a:xfrm>
          <a:prstGeom prst="rect">
            <a:avLst/>
          </a:prstGeom>
          <a:noFill/>
          <a:ln/>
        </p:spPr>
        <p:txBody>
          <a:bodyPr wrap="square" lIns="0" tIns="0" rIns="0" bIns="0" rtlCol="0" anchor="t"/>
          <a:lstStyle/>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Retitled: Search items by name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Goal  A volunteer finds an item by</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typing part of its name.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Context  Design §2 goal 1 · part of E1</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The list filters by name, any case</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An empty search shows everything</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 Tests: a match, case, empty search</a:t>
            </a:r>
            <a:endParaRPr lang="en-US" sz="1450" dirty="0"/>
          </a:p>
        </p:txBody>
      </p:sp>
      <p:sp>
        <p:nvSpPr>
          <p:cNvPr id="11" name="click-2"/>
          <p:cNvSpPr/>
          <p:nvPr/>
        </p:nvSpPr>
        <p:spPr>
          <a:xfrm>
            <a:off x="548640" y="5029200"/>
            <a:ext cx="11064240" cy="1143000"/>
          </a:xfrm>
          <a:prstGeom prst="roundRect">
            <a:avLst>
              <a:gd name="adj" fmla="val 7200"/>
            </a:avLst>
          </a:prstGeom>
          <a:solidFill>
            <a:srgbClr val="FBEEDA"/>
          </a:solidFill>
          <a:ln/>
          <a:effectLst>
            <a:outerShdw sx="100000" sy="100000" kx="0" ky="0" algn="bl" rotWithShape="0" blurRad="88900" dist="38100" dir="5400000">
              <a:srgbClr val="000000">
                <a:alpha val="13000"/>
              </a:srgbClr>
            </a:outerShdw>
          </a:effectLst>
        </p:spPr>
      </p:sp>
      <p:sp>
        <p:nvSpPr>
          <p:cNvPr id="12" name="click-2"/>
          <p:cNvSpPr/>
          <p:nvPr/>
        </p:nvSpPr>
        <p:spPr>
          <a:xfrm>
            <a:off x="868680" y="5029200"/>
            <a:ext cx="10424160" cy="114300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Triage also split it.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Filtering by category and size became its own task, in the second milestone. Now each one is a single pull request, and the first can ship for the demo.</a:t>
            </a:r>
            <a:endParaRPr lang="en-US" sz="17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DESCRIBING PLANNED WORK</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Four fields make an issue ready to work</a:t>
            </a:r>
            <a:endParaRPr lang="en-US" sz="3100" dirty="0"/>
          </a:p>
        </p:txBody>
      </p:sp>
      <p:sp>
        <p:nvSpPr>
          <p:cNvPr id="5" name="Shape 3"/>
          <p:cNvSpPr/>
          <p:nvPr/>
        </p:nvSpPr>
        <p:spPr>
          <a:xfrm>
            <a:off x="548640" y="1783080"/>
            <a:ext cx="544068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4892040" cy="1417320"/>
          </a:xfrm>
          <a:prstGeom prst="rect">
            <a:avLst/>
          </a:prstGeom>
          <a:noFill/>
          <a:ln/>
        </p:spPr>
        <p:txBody>
          <a:bodyPr wrap="square" lIns="0" tIns="0" rIns="0" bIns="0" rtlCol="0" anchor="ctr"/>
          <a:lstStyle/>
          <a:p>
            <a:pPr indent="0" marL="0">
              <a:lnSpc>
                <a:spcPct val="104000"/>
              </a:lnSpc>
              <a:buNone/>
            </a:pPr>
            <a:r>
              <a:rPr lang="en-US" sz="1900" b="1" dirty="0">
                <a:solidFill>
                  <a:srgbClr val="0E6E6D"/>
                </a:solidFill>
                <a:latin typeface="Calibri" pitchFamily="34" charset="0"/>
                <a:ea typeface="Calibri" pitchFamily="34" charset="-122"/>
                <a:cs typeface="Calibri" pitchFamily="34" charset="-120"/>
              </a:rPr>
              <a:t>Goal</a:t>
            </a:r>
            <a:endParaRPr lang="en-US" sz="1600" dirty="0"/>
          </a:p>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One sentence: what's true for a user when it's done.</a:t>
            </a:r>
            <a:endParaRPr lang="en-US" sz="1600" dirty="0"/>
          </a:p>
        </p:txBody>
      </p:sp>
      <p:sp>
        <p:nvSpPr>
          <p:cNvPr id="7" name="Shape 5"/>
          <p:cNvSpPr/>
          <p:nvPr/>
        </p:nvSpPr>
        <p:spPr>
          <a:xfrm>
            <a:off x="6172200" y="1783080"/>
            <a:ext cx="544068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6446520" y="1783080"/>
            <a:ext cx="4892040" cy="1417320"/>
          </a:xfrm>
          <a:prstGeom prst="rect">
            <a:avLst/>
          </a:prstGeom>
          <a:noFill/>
          <a:ln/>
        </p:spPr>
        <p:txBody>
          <a:bodyPr wrap="square" lIns="0" tIns="0" rIns="0" bIns="0" rtlCol="0" anchor="ctr"/>
          <a:lstStyle/>
          <a:p>
            <a:pPr indent="0" marL="0">
              <a:lnSpc>
                <a:spcPct val="104000"/>
              </a:lnSpc>
              <a:buNone/>
            </a:pPr>
            <a:r>
              <a:rPr lang="en-US" sz="1900" b="1" dirty="0">
                <a:solidFill>
                  <a:srgbClr val="0E6E6D"/>
                </a:solidFill>
                <a:latin typeface="Calibri" pitchFamily="34" charset="0"/>
                <a:ea typeface="Calibri" pitchFamily="34" charset="-122"/>
                <a:cs typeface="Calibri" pitchFamily="34" charset="-120"/>
              </a:rPr>
              <a:t>Context</a:t>
            </a:r>
            <a:endParaRPr lang="en-US" sz="1600" dirty="0"/>
          </a:p>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Links, not a retelling: the design section, the epic, the request it answers.</a:t>
            </a:r>
            <a:endParaRPr lang="en-US" sz="1600" dirty="0"/>
          </a:p>
        </p:txBody>
      </p:sp>
      <p:sp>
        <p:nvSpPr>
          <p:cNvPr id="9" name="Shape 7"/>
          <p:cNvSpPr/>
          <p:nvPr/>
        </p:nvSpPr>
        <p:spPr>
          <a:xfrm>
            <a:off x="548640" y="3383280"/>
            <a:ext cx="54406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10" name="Text 8"/>
          <p:cNvSpPr/>
          <p:nvPr/>
        </p:nvSpPr>
        <p:spPr>
          <a:xfrm>
            <a:off x="822960" y="3383280"/>
            <a:ext cx="4892040" cy="1417320"/>
          </a:xfrm>
          <a:prstGeom prst="rect">
            <a:avLst/>
          </a:prstGeom>
          <a:noFill/>
          <a:ln/>
        </p:spPr>
        <p:txBody>
          <a:bodyPr wrap="square" lIns="0" tIns="0" rIns="0" bIns="0" rtlCol="0" anchor="ctr"/>
          <a:lstStyle/>
          <a:p>
            <a:pPr indent="0" marL="0">
              <a:lnSpc>
                <a:spcPct val="104000"/>
              </a:lnSpc>
              <a:buNone/>
            </a:pPr>
            <a:r>
              <a:rPr lang="en-US" sz="1900" b="1" dirty="0">
                <a:solidFill>
                  <a:srgbClr val="E8A33D"/>
                </a:solidFill>
                <a:latin typeface="Calibri" pitchFamily="34" charset="0"/>
                <a:ea typeface="Calibri" pitchFamily="34" charset="-122"/>
                <a:cs typeface="Calibri" pitchFamily="34" charset="-120"/>
              </a:rPr>
              <a:t>Acceptance criteria</a:t>
            </a:r>
            <a:endParaRPr lang="en-US" sz="1600" dirty="0"/>
          </a:p>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"Checkout works" is a hope. "An item that's already out can't be checked out again" is a criterion.</a:t>
            </a:r>
            <a:endParaRPr lang="en-US" sz="1600" dirty="0"/>
          </a:p>
        </p:txBody>
      </p:sp>
      <p:sp>
        <p:nvSpPr>
          <p:cNvPr id="11" name="Shape 9"/>
          <p:cNvSpPr/>
          <p:nvPr/>
        </p:nvSpPr>
        <p:spPr>
          <a:xfrm>
            <a:off x="6172200" y="3383280"/>
            <a:ext cx="5440680" cy="1417320"/>
          </a:xfrm>
          <a:prstGeom prst="roundRect">
            <a:avLst>
              <a:gd name="adj" fmla="val 5806"/>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6446520" y="3383280"/>
            <a:ext cx="4892040" cy="1417320"/>
          </a:xfrm>
          <a:prstGeom prst="rect">
            <a:avLst/>
          </a:prstGeom>
          <a:noFill/>
          <a:ln/>
        </p:spPr>
        <p:txBody>
          <a:bodyPr wrap="square" lIns="0" tIns="0" rIns="0" bIns="0" rtlCol="0" anchor="ctr"/>
          <a:lstStyle/>
          <a:p>
            <a:pPr indent="0" marL="0">
              <a:lnSpc>
                <a:spcPct val="104000"/>
              </a:lnSpc>
              <a:buNone/>
            </a:pPr>
            <a:r>
              <a:rPr lang="en-US" sz="1900" b="1" dirty="0">
                <a:solidFill>
                  <a:srgbClr val="0E6E6D"/>
                </a:solidFill>
                <a:latin typeface="Calibri" pitchFamily="34" charset="0"/>
                <a:ea typeface="Calibri" pitchFamily="34" charset="-122"/>
                <a:cs typeface="Calibri" pitchFamily="34" charset="-120"/>
              </a:rPr>
              <a:t>Where to start (optional)</a:t>
            </a:r>
            <a:endParaRPr lang="en-US" sz="1600" dirty="0"/>
          </a:p>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For a newcomer: the file, the function to imitate, the test to copy.</a:t>
            </a:r>
            <a:endParaRPr lang="en-US" sz="1600" dirty="0"/>
          </a:p>
        </p:txBody>
      </p:sp>
      <p:sp>
        <p:nvSpPr>
          <p:cNvPr id="13" name="Shape 11"/>
          <p:cNvSpPr/>
          <p:nvPr/>
        </p:nvSpPr>
        <p:spPr>
          <a:xfrm>
            <a:off x="548640" y="5120640"/>
            <a:ext cx="11064240" cy="1051560"/>
          </a:xfrm>
          <a:prstGeom prst="roundRect">
            <a:avLst>
              <a:gd name="adj" fmla="val 7826"/>
            </a:avLst>
          </a:prstGeom>
          <a:solidFill>
            <a:srgbClr val="FBEEDA"/>
          </a:solidFill>
          <a:ln/>
          <a:effectLst>
            <a:outerShdw sx="100000" sy="100000" kx="0" ky="0" algn="bl" rotWithShape="0" blurRad="88900" dist="38100" dir="5400000">
              <a:srgbClr val="000000">
                <a:alpha val="13000"/>
              </a:srgbClr>
            </a:outerShdw>
          </a:effectLst>
        </p:spPr>
      </p:sp>
      <p:sp>
        <p:nvSpPr>
          <p:cNvPr id="14" name="Text 12"/>
          <p:cNvSpPr/>
          <p:nvPr/>
        </p:nvSpPr>
        <p:spPr>
          <a:xfrm>
            <a:off x="868680" y="5120640"/>
            <a:ext cx="10424160" cy="105156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Default: a task form,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.github/ISSUE_TEMPLATE/task.yml (copy Prop Loft's). Also works: a Markdown template, GitHub's Task issue type, or a reviewer who insists on criteria.</a:t>
            </a:r>
            <a:endParaRPr lang="en-US" sz="1700" dirty="0"/>
          </a:p>
        </p:txBody>
      </p:sp>
      <p:sp>
        <p:nvSpPr>
          <p:cNvPr id="15"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16"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BIG IS AN ISSUE?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shape of the work, not the clock</a:t>
            </a:r>
            <a:endParaRPr lang="en-US" sz="3100" dirty="0"/>
          </a:p>
        </p:txBody>
      </p:sp>
      <p:sp>
        <p:nvSpPr>
          <p:cNvPr id="5" name="Shape 3"/>
          <p:cNvSpPr/>
          <p:nvPr/>
        </p:nvSpPr>
        <p:spPr>
          <a:xfrm>
            <a:off x="548640" y="1783080"/>
            <a:ext cx="265176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91056" y="192024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44127" y="2073311"/>
            <a:ext cx="260787" cy="260787"/>
          </a:xfrm>
          <a:prstGeom prst="rect">
            <a:avLst/>
          </a:prstGeom>
        </p:spPr>
      </p:pic>
      <p:sp>
        <p:nvSpPr>
          <p:cNvPr id="8" name="Text 5"/>
          <p:cNvSpPr/>
          <p:nvPr/>
        </p:nvSpPr>
        <p:spPr>
          <a:xfrm>
            <a:off x="685800" y="2560320"/>
            <a:ext cx="2377440" cy="73152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One coherent change?</a:t>
            </a:r>
            <a:endParaRPr lang="en-US" sz="1700" dirty="0"/>
          </a:p>
        </p:txBody>
      </p:sp>
      <p:sp>
        <p:nvSpPr>
          <p:cNvPr id="9" name="Shape 6"/>
          <p:cNvSpPr/>
          <p:nvPr/>
        </p:nvSpPr>
        <p:spPr>
          <a:xfrm>
            <a:off x="3360420" y="1783080"/>
            <a:ext cx="265176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4402836" y="1920240"/>
            <a:ext cx="566928" cy="56692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4555907" y="2073311"/>
            <a:ext cx="260787" cy="260787"/>
          </a:xfrm>
          <a:prstGeom prst="rect">
            <a:avLst/>
          </a:prstGeom>
        </p:spPr>
      </p:pic>
      <p:sp>
        <p:nvSpPr>
          <p:cNvPr id="12" name="Text 8"/>
          <p:cNvSpPr/>
          <p:nvPr/>
        </p:nvSpPr>
        <p:spPr>
          <a:xfrm>
            <a:off x="3497580" y="2560320"/>
            <a:ext cx="2377440" cy="73152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Can one person carry it?</a:t>
            </a:r>
            <a:endParaRPr lang="en-US" sz="1700" dirty="0"/>
          </a:p>
        </p:txBody>
      </p:sp>
      <p:sp>
        <p:nvSpPr>
          <p:cNvPr id="13" name="Shape 9"/>
          <p:cNvSpPr/>
          <p:nvPr/>
        </p:nvSpPr>
        <p:spPr>
          <a:xfrm>
            <a:off x="6172200" y="1783080"/>
            <a:ext cx="265176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4" name="Shape 10"/>
          <p:cNvSpPr/>
          <p:nvPr/>
        </p:nvSpPr>
        <p:spPr>
          <a:xfrm>
            <a:off x="7214616" y="1920240"/>
            <a:ext cx="566928" cy="566928"/>
          </a:xfrm>
          <a:prstGeom prst="ellipse">
            <a:avLst/>
          </a:prstGeom>
          <a:solidFill>
            <a:srgbClr val="12908F"/>
          </a:solidFill>
          <a:ln/>
        </p:spPr>
      </p:sp>
      <p:pic>
        <p:nvPicPr>
          <p:cNvPr id="15" name="Image 2" descr="preencoded.png">    </p:cNvPr>
          <p:cNvPicPr>
            <a:picLocks noChangeAspect="1"/>
          </p:cNvPicPr>
          <p:nvPr/>
        </p:nvPicPr>
        <p:blipFill>
          <a:blip r:embed="rId3"/>
          <a:stretch>
            <a:fillRect/>
          </a:stretch>
        </p:blipFill>
        <p:spPr>
          <a:xfrm>
            <a:off x="7367687" y="2073311"/>
            <a:ext cx="260787" cy="260787"/>
          </a:xfrm>
          <a:prstGeom prst="rect">
            <a:avLst/>
          </a:prstGeom>
        </p:spPr>
      </p:pic>
      <p:sp>
        <p:nvSpPr>
          <p:cNvPr id="16" name="Text 11"/>
          <p:cNvSpPr/>
          <p:nvPr/>
        </p:nvSpPr>
        <p:spPr>
          <a:xfrm>
            <a:off x="6309360" y="2560320"/>
            <a:ext cx="2377440" cy="73152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Reviewable as a unit?</a:t>
            </a:r>
            <a:endParaRPr lang="en-US" sz="1700" dirty="0"/>
          </a:p>
        </p:txBody>
      </p:sp>
      <p:sp>
        <p:nvSpPr>
          <p:cNvPr id="17" name="Shape 12"/>
          <p:cNvSpPr/>
          <p:nvPr/>
        </p:nvSpPr>
        <p:spPr>
          <a:xfrm>
            <a:off x="8983980" y="1783080"/>
            <a:ext cx="2651760" cy="1600200"/>
          </a:xfrm>
          <a:prstGeom prst="roundRect">
            <a:avLst>
              <a:gd name="adj" fmla="val 5143"/>
            </a:avLst>
          </a:prstGeom>
          <a:solidFill>
            <a:srgbClr val="F2F6F8"/>
          </a:solidFill>
          <a:ln/>
          <a:effectLst>
            <a:outerShdw sx="100000" sy="100000" kx="0" ky="0" algn="bl" rotWithShape="0" blurRad="88900" dist="38100" dir="5400000">
              <a:srgbClr val="000000">
                <a:alpha val="13000"/>
              </a:srgbClr>
            </a:outerShdw>
          </a:effectLst>
        </p:spPr>
      </p:sp>
      <p:sp>
        <p:nvSpPr>
          <p:cNvPr id="18" name="Shape 13"/>
          <p:cNvSpPr/>
          <p:nvPr/>
        </p:nvSpPr>
        <p:spPr>
          <a:xfrm>
            <a:off x="10026396" y="1920240"/>
            <a:ext cx="566928" cy="566928"/>
          </a:xfrm>
          <a:prstGeom prst="ellipse">
            <a:avLst/>
          </a:prstGeom>
          <a:solidFill>
            <a:srgbClr val="12908F"/>
          </a:solidFill>
          <a:ln/>
        </p:spPr>
      </p:sp>
      <p:pic>
        <p:nvPicPr>
          <p:cNvPr id="19" name="Image 3" descr="preencoded.png">    </p:cNvPr>
          <p:cNvPicPr>
            <a:picLocks noChangeAspect="1"/>
          </p:cNvPicPr>
          <p:nvPr/>
        </p:nvPicPr>
        <p:blipFill>
          <a:blip r:embed="rId4"/>
          <a:stretch>
            <a:fillRect/>
          </a:stretch>
        </p:blipFill>
        <p:spPr>
          <a:xfrm>
            <a:off x="10179467" y="2073311"/>
            <a:ext cx="260787" cy="260787"/>
          </a:xfrm>
          <a:prstGeom prst="rect">
            <a:avLst/>
          </a:prstGeom>
        </p:spPr>
      </p:pic>
      <p:sp>
        <p:nvSpPr>
          <p:cNvPr id="20" name="Text 14"/>
          <p:cNvSpPr/>
          <p:nvPr/>
        </p:nvSpPr>
        <p:spPr>
          <a:xfrm>
            <a:off x="9121140" y="2560320"/>
            <a:ext cx="2377440" cy="73152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Shows progress before it's done?</a:t>
            </a:r>
            <a:endParaRPr lang="en-US" sz="1700" dirty="0"/>
          </a:p>
        </p:txBody>
      </p:sp>
      <p:sp>
        <p:nvSpPr>
          <p:cNvPr id="21" name="click-1"/>
          <p:cNvSpPr/>
          <p:nvPr/>
        </p:nvSpPr>
        <p:spPr>
          <a:xfrm>
            <a:off x="548640" y="3566160"/>
            <a:ext cx="5440680" cy="1508760"/>
          </a:xfrm>
          <a:prstGeom prst="roundRect">
            <a:avLst>
              <a:gd name="adj" fmla="val 5455"/>
            </a:avLst>
          </a:prstGeom>
          <a:solidFill>
            <a:srgbClr val="EAF4EE"/>
          </a:solidFill>
          <a:ln/>
          <a:effectLst>
            <a:outerShdw sx="100000" sy="100000" kx="0" ky="0" algn="bl" rotWithShape="0" blurRad="88900" dist="38100" dir="5400000">
              <a:srgbClr val="000000">
                <a:alpha val="13000"/>
              </a:srgbClr>
            </a:outerShdw>
          </a:effectLst>
        </p:spPr>
      </p:sp>
      <p:sp>
        <p:nvSpPr>
          <p:cNvPr id="22" name="click-1"/>
          <p:cNvSpPr/>
          <p:nvPr/>
        </p:nvSpPr>
        <p:spPr>
          <a:xfrm>
            <a:off x="822960" y="3566160"/>
            <a:ext cx="4937760" cy="1508760"/>
          </a:xfrm>
          <a:prstGeom prst="rect">
            <a:avLst/>
          </a:prstGeom>
          <a:noFill/>
          <a:ln/>
        </p:spPr>
        <p:txBody>
          <a:bodyPr wrap="square" lIns="0" tIns="0" rIns="0" bIns="0" rtlCol="0" anchor="ctr"/>
          <a:lstStyle/>
          <a:p>
            <a:pPr indent="0" marL="0">
              <a:lnSpc>
                <a:spcPct val="104000"/>
              </a:lnSpc>
              <a:buNone/>
            </a:pPr>
            <a:r>
              <a:rPr lang="en-US" sz="1600" b="1" dirty="0">
                <a:solidFill>
                  <a:srgbClr val="3E9C6B"/>
                </a:solidFill>
                <a:latin typeface="Calibri" pitchFamily="34" charset="0"/>
                <a:ea typeface="Calibri" pitchFamily="34" charset="-122"/>
                <a:cs typeface="Calibri" pitchFamily="34" charset="-120"/>
              </a:rPr>
              <a:t>Weeks can be fine. </a:t>
            </a:r>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A migration or a hard concurrency bug is one thing; split it and the pieces mean nothing. Show progress: a draft PR, a checklist.</a:t>
            </a:r>
            <a:endParaRPr lang="en-US" sz="1600" dirty="0"/>
          </a:p>
        </p:txBody>
      </p:sp>
      <p:sp>
        <p:nvSpPr>
          <p:cNvPr id="23" name="click-2"/>
          <p:cNvSpPr/>
          <p:nvPr/>
        </p:nvSpPr>
        <p:spPr>
          <a:xfrm>
            <a:off x="6172200" y="3566160"/>
            <a:ext cx="5440680" cy="1508760"/>
          </a:xfrm>
          <a:prstGeom prst="roundRect">
            <a:avLst>
              <a:gd name="adj" fmla="val 5455"/>
            </a:avLst>
          </a:prstGeom>
          <a:solidFill>
            <a:srgbClr val="FBECE8"/>
          </a:solidFill>
          <a:ln/>
          <a:effectLst>
            <a:outerShdw sx="100000" sy="100000" kx="0" ky="0" algn="bl" rotWithShape="0" blurRad="88900" dist="38100" dir="5400000">
              <a:srgbClr val="000000">
                <a:alpha val="13000"/>
              </a:srgbClr>
            </a:outerShdw>
          </a:effectLst>
        </p:spPr>
      </p:sp>
      <p:sp>
        <p:nvSpPr>
          <p:cNvPr id="24" name="click-2"/>
          <p:cNvSpPr/>
          <p:nvPr/>
        </p:nvSpPr>
        <p:spPr>
          <a:xfrm>
            <a:off x="6446520" y="3566160"/>
            <a:ext cx="4937760" cy="1508760"/>
          </a:xfrm>
          <a:prstGeom prst="rect">
            <a:avLst/>
          </a:prstGeom>
          <a:noFill/>
          <a:ln/>
        </p:spPr>
        <p:txBody>
          <a:bodyPr wrap="square" lIns="0" tIns="0" rIns="0" bIns="0" rtlCol="0" anchor="ctr"/>
          <a:lstStyle/>
          <a:p>
            <a:pPr indent="0" marL="0">
              <a:lnSpc>
                <a:spcPct val="104000"/>
              </a:lnSpc>
              <a:buNone/>
            </a:pPr>
            <a:r>
              <a:rPr lang="en-US" sz="1600" b="1" dirty="0">
                <a:solidFill>
                  <a:srgbClr val="D9614C"/>
                </a:solidFill>
                <a:latin typeface="Calibri" pitchFamily="34" charset="0"/>
                <a:ea typeface="Calibri" pitchFamily="34" charset="-122"/>
                <a:cs typeface="Calibri" pitchFamily="34" charset="-120"/>
              </a:rPr>
              <a:t>Split when you can. </a:t>
            </a:r>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If it breaks into pieces that are each useful and reviewable alone, it's an epic wearing an issue's costume.</a:t>
            </a:r>
            <a:endParaRPr lang="en-US" sz="1600" dirty="0"/>
          </a:p>
        </p:txBody>
      </p:sp>
      <p:sp>
        <p:nvSpPr>
          <p:cNvPr id="25" name="click-3"/>
          <p:cNvSpPr/>
          <p:nvPr/>
        </p:nvSpPr>
        <p:spPr>
          <a:xfrm>
            <a:off x="548640" y="530352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26" name="click-3"/>
          <p:cNvSpPr/>
          <p:nvPr/>
        </p:nvSpPr>
        <p:spPr>
          <a:xfrm>
            <a:off x="868680" y="530352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In this course: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most land in a few focused hours to a couple of days. A two-week issue is 40% of the build with no checkpoint.</a:t>
            </a:r>
            <a:endParaRPr lang="en-US" sz="1700" dirty="0"/>
          </a:p>
        </p:txBody>
      </p:sp>
      <p:sp>
        <p:nvSpPr>
          <p:cNvPr id="27"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QUICK CHECK</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Which of these is ready to work?</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83080"/>
            <a:ext cx="585216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Implement the frontend</a:t>
            </a:r>
            <a:endParaRPr lang="en-US" sz="1700" dirty="0"/>
          </a:p>
        </p:txBody>
      </p:sp>
      <p:sp>
        <p:nvSpPr>
          <p:cNvPr id="7" name="click-1"/>
          <p:cNvSpPr/>
          <p:nvPr/>
        </p:nvSpPr>
        <p:spPr>
          <a:xfrm>
            <a:off x="6812280" y="1929384"/>
            <a:ext cx="73152" cy="457200"/>
          </a:xfrm>
          <a:prstGeom prst="rect">
            <a:avLst/>
          </a:prstGeom>
          <a:solidFill>
            <a:srgbClr val="D9614C"/>
          </a:solidFill>
          <a:ln/>
        </p:spPr>
      </p:sp>
      <p:sp>
        <p:nvSpPr>
          <p:cNvPr id="8" name="click-1"/>
          <p:cNvSpPr/>
          <p:nvPr/>
        </p:nvSpPr>
        <p:spPr>
          <a:xfrm>
            <a:off x="7040880" y="1783080"/>
            <a:ext cx="443484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An epic in disguise: it splits into useful pieces</a:t>
            </a:r>
            <a:endParaRPr lang="en-US" sz="1600" dirty="0"/>
          </a:p>
        </p:txBody>
      </p:sp>
      <p:sp>
        <p:nvSpPr>
          <p:cNvPr id="9" name="Shape 7"/>
          <p:cNvSpPr/>
          <p:nvPr/>
        </p:nvSpPr>
        <p:spPr>
          <a:xfrm>
            <a:off x="548640" y="265176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822960" y="2651760"/>
            <a:ext cx="585216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Enforce one open checkout per item</a:t>
            </a:r>
            <a:endParaRPr lang="en-US" sz="1700" dirty="0"/>
          </a:p>
        </p:txBody>
      </p:sp>
      <p:sp>
        <p:nvSpPr>
          <p:cNvPr id="11" name="click-2"/>
          <p:cNvSpPr/>
          <p:nvPr/>
        </p:nvSpPr>
        <p:spPr>
          <a:xfrm>
            <a:off x="6812280" y="2798064"/>
            <a:ext cx="73152" cy="457200"/>
          </a:xfrm>
          <a:prstGeom prst="rect">
            <a:avLst/>
          </a:prstGeom>
          <a:solidFill>
            <a:srgbClr val="3E9C6B"/>
          </a:solidFill>
          <a:ln/>
        </p:spPr>
      </p:sp>
      <p:sp>
        <p:nvSpPr>
          <p:cNvPr id="12" name="click-2"/>
          <p:cNvSpPr/>
          <p:nvPr/>
        </p:nvSpPr>
        <p:spPr>
          <a:xfrm>
            <a:off x="7040880" y="2651760"/>
            <a:ext cx="443484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Ready: one change, one pull request</a:t>
            </a:r>
            <a:endParaRPr lang="en-US" sz="1600" dirty="0"/>
          </a:p>
        </p:txBody>
      </p:sp>
      <p:sp>
        <p:nvSpPr>
          <p:cNvPr id="13" name="Shape 11"/>
          <p:cNvSpPr/>
          <p:nvPr/>
        </p:nvSpPr>
        <p:spPr>
          <a:xfrm>
            <a:off x="548640" y="352044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822960" y="3520440"/>
            <a:ext cx="585216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Investigate why checkouts double-post on slow networks</a:t>
            </a:r>
            <a:endParaRPr lang="en-US" sz="1700" dirty="0"/>
          </a:p>
        </p:txBody>
      </p:sp>
      <p:sp>
        <p:nvSpPr>
          <p:cNvPr id="15" name="click-3"/>
          <p:cNvSpPr/>
          <p:nvPr/>
        </p:nvSpPr>
        <p:spPr>
          <a:xfrm>
            <a:off x="6812280" y="3666744"/>
            <a:ext cx="73152" cy="457200"/>
          </a:xfrm>
          <a:prstGeom prst="rect">
            <a:avLst/>
          </a:prstGeom>
          <a:solidFill>
            <a:srgbClr val="3E9C6B"/>
          </a:solidFill>
          <a:ln/>
        </p:spPr>
      </p:sp>
      <p:sp>
        <p:nvSpPr>
          <p:cNvPr id="16" name="click-3"/>
          <p:cNvSpPr/>
          <p:nvPr/>
        </p:nvSpPr>
        <p:spPr>
          <a:xfrm>
            <a:off x="7040880" y="3520440"/>
            <a:ext cx="443484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Ready, even at a week: it's one thing</a:t>
            </a:r>
            <a:endParaRPr lang="en-US" sz="1600" dirty="0"/>
          </a:p>
        </p:txBody>
      </p:sp>
      <p:sp>
        <p:nvSpPr>
          <p:cNvPr id="17" name="Shape 15"/>
          <p:cNvSpPr/>
          <p:nvPr/>
        </p:nvSpPr>
        <p:spPr>
          <a:xfrm>
            <a:off x="548640" y="438912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822960" y="4389120"/>
            <a:ext cx="585216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Checkout</a:t>
            </a:r>
            <a:endParaRPr lang="en-US" sz="1700" dirty="0"/>
          </a:p>
        </p:txBody>
      </p:sp>
      <p:sp>
        <p:nvSpPr>
          <p:cNvPr id="19" name="click-4"/>
          <p:cNvSpPr/>
          <p:nvPr/>
        </p:nvSpPr>
        <p:spPr>
          <a:xfrm>
            <a:off x="6812280" y="4535424"/>
            <a:ext cx="73152" cy="457200"/>
          </a:xfrm>
          <a:prstGeom prst="rect">
            <a:avLst/>
          </a:prstGeom>
          <a:solidFill>
            <a:srgbClr val="E8A33D"/>
          </a:solidFill>
          <a:ln/>
        </p:spPr>
      </p:sp>
      <p:sp>
        <p:nvSpPr>
          <p:cNvPr id="20" name="click-4"/>
          <p:cNvSpPr/>
          <p:nvPr/>
        </p:nvSpPr>
        <p:spPr>
          <a:xfrm>
            <a:off x="7040880" y="4389120"/>
            <a:ext cx="443484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A mystery: no goal, no criteria</a:t>
            </a:r>
            <a:endParaRPr lang="en-US" sz="1600" dirty="0"/>
          </a:p>
        </p:txBody>
      </p:sp>
      <p:sp>
        <p:nvSpPr>
          <p:cNvPr id="21" name="Shape 19"/>
          <p:cNvSpPr/>
          <p:nvPr/>
        </p:nvSpPr>
        <p:spPr>
          <a:xfrm>
            <a:off x="548640" y="525780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22960" y="5257800"/>
            <a:ext cx="5852160" cy="749808"/>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Use crispy-forms for the checkout form</a:t>
            </a:r>
            <a:endParaRPr lang="en-US" sz="1700" dirty="0"/>
          </a:p>
        </p:txBody>
      </p:sp>
      <p:sp>
        <p:nvSpPr>
          <p:cNvPr id="23" name="click-5"/>
          <p:cNvSpPr/>
          <p:nvPr/>
        </p:nvSpPr>
        <p:spPr>
          <a:xfrm>
            <a:off x="6812280" y="5404104"/>
            <a:ext cx="73152" cy="457200"/>
          </a:xfrm>
          <a:prstGeom prst="rect">
            <a:avLst/>
          </a:prstGeom>
          <a:solidFill>
            <a:srgbClr val="E8A33D"/>
          </a:solidFill>
          <a:ln/>
        </p:spPr>
      </p:sp>
      <p:sp>
        <p:nvSpPr>
          <p:cNvPr id="24" name="click-5"/>
          <p:cNvSpPr/>
          <p:nvPr/>
        </p:nvSpPr>
        <p:spPr>
          <a:xfrm>
            <a:off x="7040880" y="5257800"/>
            <a:ext cx="4434840" cy="749808"/>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Stale by design: the design doc owns that</a:t>
            </a:r>
            <a:endParaRPr lang="en-US" sz="16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4" presetID="1"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30" presetID="1"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MILESTONES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Epics are what. Milestones are when. They cut across.</a:t>
            </a:r>
            <a:endParaRPr lang="en-US" sz="3100" dirty="0"/>
          </a:p>
        </p:txBody>
      </p:sp>
      <p:sp>
        <p:nvSpPr>
          <p:cNvPr id="5" name="Shape 3"/>
          <p:cNvSpPr/>
          <p:nvPr/>
        </p:nvSpPr>
        <p:spPr>
          <a:xfrm>
            <a:off x="2971800" y="1783080"/>
            <a:ext cx="2816352" cy="457200"/>
          </a:xfrm>
          <a:prstGeom prst="roundRect">
            <a:avLst>
              <a:gd name="adj" fmla="val 12000"/>
            </a:avLst>
          </a:prstGeom>
          <a:solidFill>
            <a:srgbClr val="14233A"/>
          </a:solidFill>
          <a:ln/>
        </p:spPr>
      </p:sp>
      <p:sp>
        <p:nvSpPr>
          <p:cNvPr id="6" name="Text 4"/>
          <p:cNvSpPr/>
          <p:nvPr/>
        </p:nvSpPr>
        <p:spPr>
          <a:xfrm>
            <a:off x="2971800" y="1783080"/>
            <a:ext cx="281635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M1 · Demo-able core</a:t>
            </a:r>
            <a:endParaRPr lang="en-US" sz="1600" dirty="0"/>
          </a:p>
        </p:txBody>
      </p:sp>
      <p:sp>
        <p:nvSpPr>
          <p:cNvPr id="7" name="Shape 5"/>
          <p:cNvSpPr/>
          <p:nvPr/>
        </p:nvSpPr>
        <p:spPr>
          <a:xfrm>
            <a:off x="5879592" y="1783080"/>
            <a:ext cx="2816352" cy="457200"/>
          </a:xfrm>
          <a:prstGeom prst="roundRect">
            <a:avLst>
              <a:gd name="adj" fmla="val 12000"/>
            </a:avLst>
          </a:prstGeom>
          <a:solidFill>
            <a:srgbClr val="14233A"/>
          </a:solidFill>
          <a:ln/>
        </p:spPr>
      </p:sp>
      <p:sp>
        <p:nvSpPr>
          <p:cNvPr id="8" name="Text 6"/>
          <p:cNvSpPr/>
          <p:nvPr/>
        </p:nvSpPr>
        <p:spPr>
          <a:xfrm>
            <a:off x="5879592" y="1783080"/>
            <a:ext cx="281635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M2 · MVP complete</a:t>
            </a:r>
            <a:endParaRPr lang="en-US" sz="1600" dirty="0"/>
          </a:p>
        </p:txBody>
      </p:sp>
      <p:sp>
        <p:nvSpPr>
          <p:cNvPr id="9" name="Shape 7"/>
          <p:cNvSpPr/>
          <p:nvPr/>
        </p:nvSpPr>
        <p:spPr>
          <a:xfrm>
            <a:off x="8787384" y="1783080"/>
            <a:ext cx="2825496" cy="457200"/>
          </a:xfrm>
          <a:prstGeom prst="roundRect">
            <a:avLst>
              <a:gd name="adj" fmla="val 12000"/>
            </a:avLst>
          </a:prstGeom>
          <a:solidFill>
            <a:srgbClr val="5F7284"/>
          </a:solidFill>
          <a:ln/>
        </p:spPr>
      </p:sp>
      <p:sp>
        <p:nvSpPr>
          <p:cNvPr id="10" name="Text 8"/>
          <p:cNvSpPr/>
          <p:nvPr/>
        </p:nvSpPr>
        <p:spPr>
          <a:xfrm>
            <a:off x="8787384" y="1783080"/>
            <a:ext cx="2825496"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Roadmap</a:t>
            </a:r>
            <a:endParaRPr lang="en-US" sz="1600" dirty="0"/>
          </a:p>
        </p:txBody>
      </p:sp>
      <p:sp>
        <p:nvSpPr>
          <p:cNvPr id="11" name="Shape 9"/>
          <p:cNvSpPr/>
          <p:nvPr/>
        </p:nvSpPr>
        <p:spPr>
          <a:xfrm>
            <a:off x="548640" y="2331720"/>
            <a:ext cx="2331720" cy="658368"/>
          </a:xfrm>
          <a:prstGeom prst="rect">
            <a:avLst/>
          </a:prstGeom>
          <a:solidFill>
            <a:srgbClr val="E4EEF1"/>
          </a:solidFill>
          <a:ln/>
        </p:spPr>
      </p:sp>
      <p:sp>
        <p:nvSpPr>
          <p:cNvPr id="12" name="Text 10"/>
          <p:cNvSpPr/>
          <p:nvPr/>
        </p:nvSpPr>
        <p:spPr>
          <a:xfrm>
            <a:off x="685800" y="2331720"/>
            <a:ext cx="2148840" cy="65836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E1 Find an item</a:t>
            </a:r>
            <a:endParaRPr lang="en-US" sz="1600" dirty="0"/>
          </a:p>
        </p:txBody>
      </p:sp>
      <p:sp>
        <p:nvSpPr>
          <p:cNvPr id="13" name="Shape 11"/>
          <p:cNvSpPr/>
          <p:nvPr/>
        </p:nvSpPr>
        <p:spPr>
          <a:xfrm>
            <a:off x="2971800" y="2331720"/>
            <a:ext cx="2816352" cy="658368"/>
          </a:xfrm>
          <a:prstGeom prst="rect">
            <a:avLst/>
          </a:prstGeom>
          <a:solidFill>
            <a:srgbClr val="F2F6F8"/>
          </a:solidFill>
          <a:ln w="9525">
            <a:solidFill>
              <a:srgbClr val="E1E8ED"/>
            </a:solidFill>
            <a:prstDash val="solid"/>
          </a:ln>
        </p:spPr>
      </p:sp>
      <p:sp>
        <p:nvSpPr>
          <p:cNvPr id="14" name="Text 12"/>
          <p:cNvSpPr/>
          <p:nvPr/>
        </p:nvSpPr>
        <p:spPr>
          <a:xfrm>
            <a:off x="3081528" y="2331720"/>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Search · item page</a:t>
            </a:r>
            <a:endParaRPr lang="en-US" sz="1500" dirty="0"/>
          </a:p>
        </p:txBody>
      </p:sp>
      <p:sp>
        <p:nvSpPr>
          <p:cNvPr id="15" name="Shape 13"/>
          <p:cNvSpPr/>
          <p:nvPr/>
        </p:nvSpPr>
        <p:spPr>
          <a:xfrm>
            <a:off x="5879592" y="2331720"/>
            <a:ext cx="2816352" cy="658368"/>
          </a:xfrm>
          <a:prstGeom prst="rect">
            <a:avLst/>
          </a:prstGeom>
          <a:solidFill>
            <a:srgbClr val="F2F6F8"/>
          </a:solidFill>
          <a:ln w="9525">
            <a:solidFill>
              <a:srgbClr val="E1E8ED"/>
            </a:solidFill>
            <a:prstDash val="solid"/>
          </a:ln>
        </p:spPr>
      </p:sp>
      <p:sp>
        <p:nvSpPr>
          <p:cNvPr id="16" name="Text 14"/>
          <p:cNvSpPr/>
          <p:nvPr/>
        </p:nvSpPr>
        <p:spPr>
          <a:xfrm>
            <a:off x="5989320" y="2331720"/>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Filters · empty search</a:t>
            </a:r>
            <a:endParaRPr lang="en-US" sz="1500" dirty="0"/>
          </a:p>
        </p:txBody>
      </p:sp>
      <p:sp>
        <p:nvSpPr>
          <p:cNvPr id="17" name="Shape 15"/>
          <p:cNvSpPr/>
          <p:nvPr/>
        </p:nvSpPr>
        <p:spPr>
          <a:xfrm>
            <a:off x="8787384" y="2331720"/>
            <a:ext cx="2825496" cy="658368"/>
          </a:xfrm>
          <a:prstGeom prst="rect">
            <a:avLst/>
          </a:prstGeom>
          <a:solidFill>
            <a:srgbClr val="FAFBFC"/>
          </a:solidFill>
          <a:ln w="9525">
            <a:solidFill>
              <a:srgbClr val="E1E8ED"/>
            </a:solidFill>
            <a:prstDash val="solid"/>
          </a:ln>
        </p:spPr>
      </p:sp>
      <p:sp>
        <p:nvSpPr>
          <p:cNvPr id="18" name="Shape 16"/>
          <p:cNvSpPr/>
          <p:nvPr/>
        </p:nvSpPr>
        <p:spPr>
          <a:xfrm>
            <a:off x="548640" y="3044952"/>
            <a:ext cx="2331720" cy="658368"/>
          </a:xfrm>
          <a:prstGeom prst="rect">
            <a:avLst/>
          </a:prstGeom>
          <a:solidFill>
            <a:srgbClr val="E4EEF1"/>
          </a:solidFill>
          <a:ln/>
        </p:spPr>
      </p:sp>
      <p:sp>
        <p:nvSpPr>
          <p:cNvPr id="19" name="Text 17"/>
          <p:cNvSpPr/>
          <p:nvPr/>
        </p:nvSpPr>
        <p:spPr>
          <a:xfrm>
            <a:off x="685800" y="3044952"/>
            <a:ext cx="2148840" cy="65836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E2 Check out, return</a:t>
            </a:r>
            <a:endParaRPr lang="en-US" sz="1600" dirty="0"/>
          </a:p>
        </p:txBody>
      </p:sp>
      <p:sp>
        <p:nvSpPr>
          <p:cNvPr id="20" name="Shape 18"/>
          <p:cNvSpPr/>
          <p:nvPr/>
        </p:nvSpPr>
        <p:spPr>
          <a:xfrm>
            <a:off x="2971800" y="3044952"/>
            <a:ext cx="2816352" cy="658368"/>
          </a:xfrm>
          <a:prstGeom prst="rect">
            <a:avLst/>
          </a:prstGeom>
          <a:solidFill>
            <a:srgbClr val="F2F6F8"/>
          </a:solidFill>
          <a:ln w="9525">
            <a:solidFill>
              <a:srgbClr val="E1E8ED"/>
            </a:solidFill>
            <a:prstDash val="solid"/>
          </a:ln>
        </p:spPr>
      </p:sp>
      <p:sp>
        <p:nvSpPr>
          <p:cNvPr id="21" name="Text 19"/>
          <p:cNvSpPr/>
          <p:nvPr/>
        </p:nvSpPr>
        <p:spPr>
          <a:xfrm>
            <a:off x="3081528" y="3044952"/>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Record · check out · who has it</a:t>
            </a:r>
            <a:endParaRPr lang="en-US" sz="1500" dirty="0"/>
          </a:p>
        </p:txBody>
      </p:sp>
      <p:sp>
        <p:nvSpPr>
          <p:cNvPr id="22" name="Shape 20"/>
          <p:cNvSpPr/>
          <p:nvPr/>
        </p:nvSpPr>
        <p:spPr>
          <a:xfrm>
            <a:off x="5879592" y="3044952"/>
            <a:ext cx="2816352" cy="658368"/>
          </a:xfrm>
          <a:prstGeom prst="rect">
            <a:avLst/>
          </a:prstGeom>
          <a:solidFill>
            <a:srgbClr val="F2F6F8"/>
          </a:solidFill>
          <a:ln w="9525">
            <a:solidFill>
              <a:srgbClr val="E1E8ED"/>
            </a:solidFill>
            <a:prstDash val="solid"/>
          </a:ln>
        </p:spPr>
      </p:sp>
      <p:sp>
        <p:nvSpPr>
          <p:cNvPr id="23" name="Text 21"/>
          <p:cNvSpPr/>
          <p:nvPr/>
        </p:nvSpPr>
        <p:spPr>
          <a:xfrm>
            <a:off x="5989320" y="3044952"/>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Returns · overdue list</a:t>
            </a:r>
            <a:endParaRPr lang="en-US" sz="1500" dirty="0"/>
          </a:p>
        </p:txBody>
      </p:sp>
      <p:sp>
        <p:nvSpPr>
          <p:cNvPr id="24" name="Shape 22"/>
          <p:cNvSpPr/>
          <p:nvPr/>
        </p:nvSpPr>
        <p:spPr>
          <a:xfrm>
            <a:off x="8787384" y="3044952"/>
            <a:ext cx="2825496" cy="658368"/>
          </a:xfrm>
          <a:prstGeom prst="rect">
            <a:avLst/>
          </a:prstGeom>
          <a:solidFill>
            <a:srgbClr val="FAFBFC"/>
          </a:solidFill>
          <a:ln w="9525">
            <a:solidFill>
              <a:srgbClr val="E1E8ED"/>
            </a:solidFill>
            <a:prstDash val="solid"/>
          </a:ln>
        </p:spPr>
      </p:sp>
      <p:sp>
        <p:nvSpPr>
          <p:cNvPr id="25" name="Shape 23"/>
          <p:cNvSpPr/>
          <p:nvPr/>
        </p:nvSpPr>
        <p:spPr>
          <a:xfrm>
            <a:off x="548640" y="3758184"/>
            <a:ext cx="2331720" cy="658368"/>
          </a:xfrm>
          <a:prstGeom prst="rect">
            <a:avLst/>
          </a:prstGeom>
          <a:solidFill>
            <a:srgbClr val="E4EEF1"/>
          </a:solidFill>
          <a:ln/>
        </p:spPr>
      </p:sp>
      <p:sp>
        <p:nvSpPr>
          <p:cNvPr id="26" name="Text 24"/>
          <p:cNvSpPr/>
          <p:nvPr/>
        </p:nvSpPr>
        <p:spPr>
          <a:xfrm>
            <a:off x="685800" y="3758184"/>
            <a:ext cx="2148840" cy="65836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E3 Add an item</a:t>
            </a:r>
            <a:endParaRPr lang="en-US" sz="1600" dirty="0"/>
          </a:p>
        </p:txBody>
      </p:sp>
      <p:sp>
        <p:nvSpPr>
          <p:cNvPr id="27" name="Shape 25"/>
          <p:cNvSpPr/>
          <p:nvPr/>
        </p:nvSpPr>
        <p:spPr>
          <a:xfrm>
            <a:off x="2971800" y="3758184"/>
            <a:ext cx="2816352" cy="658368"/>
          </a:xfrm>
          <a:prstGeom prst="rect">
            <a:avLst/>
          </a:prstGeom>
          <a:solidFill>
            <a:srgbClr val="FAFBFC"/>
          </a:solidFill>
          <a:ln w="9525">
            <a:solidFill>
              <a:srgbClr val="E1E8ED"/>
            </a:solidFill>
            <a:prstDash val="solid"/>
          </a:ln>
        </p:spPr>
      </p:sp>
      <p:sp>
        <p:nvSpPr>
          <p:cNvPr id="28" name="Shape 26"/>
          <p:cNvSpPr/>
          <p:nvPr/>
        </p:nvSpPr>
        <p:spPr>
          <a:xfrm>
            <a:off x="5879592" y="3758184"/>
            <a:ext cx="2816352" cy="658368"/>
          </a:xfrm>
          <a:prstGeom prst="rect">
            <a:avLst/>
          </a:prstGeom>
          <a:solidFill>
            <a:srgbClr val="F2F6F8"/>
          </a:solidFill>
          <a:ln w="9525">
            <a:solidFill>
              <a:srgbClr val="E1E8ED"/>
            </a:solidFill>
            <a:prstDash val="solid"/>
          </a:ln>
        </p:spPr>
      </p:sp>
      <p:sp>
        <p:nvSpPr>
          <p:cNvPr id="29" name="Text 27"/>
          <p:cNvSpPr/>
          <p:nvPr/>
        </p:nvSpPr>
        <p:spPr>
          <a:xfrm>
            <a:off x="5989320" y="3758184"/>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Add form · photo · iPhone test</a:t>
            </a:r>
            <a:endParaRPr lang="en-US" sz="1500" dirty="0"/>
          </a:p>
        </p:txBody>
      </p:sp>
      <p:sp>
        <p:nvSpPr>
          <p:cNvPr id="30" name="Shape 28"/>
          <p:cNvSpPr/>
          <p:nvPr/>
        </p:nvSpPr>
        <p:spPr>
          <a:xfrm>
            <a:off x="8787384" y="3758184"/>
            <a:ext cx="2825496" cy="658368"/>
          </a:xfrm>
          <a:prstGeom prst="rect">
            <a:avLst/>
          </a:prstGeom>
          <a:solidFill>
            <a:srgbClr val="FAFBFC"/>
          </a:solidFill>
          <a:ln w="9525">
            <a:solidFill>
              <a:srgbClr val="E1E8ED"/>
            </a:solidFill>
            <a:prstDash val="solid"/>
          </a:ln>
        </p:spPr>
      </p:sp>
      <p:sp>
        <p:nvSpPr>
          <p:cNvPr id="31" name="Shape 29"/>
          <p:cNvSpPr/>
          <p:nvPr/>
        </p:nvSpPr>
        <p:spPr>
          <a:xfrm>
            <a:off x="548640" y="4471416"/>
            <a:ext cx="2331720" cy="658368"/>
          </a:xfrm>
          <a:prstGeom prst="rect">
            <a:avLst/>
          </a:prstGeom>
          <a:solidFill>
            <a:srgbClr val="E4EEF1"/>
          </a:solidFill>
          <a:ln/>
        </p:spPr>
      </p:sp>
      <p:sp>
        <p:nvSpPr>
          <p:cNvPr id="32" name="Text 30"/>
          <p:cNvSpPr/>
          <p:nvPr/>
        </p:nvSpPr>
        <p:spPr>
          <a:xfrm>
            <a:off x="685800" y="4471416"/>
            <a:ext cx="2148840" cy="65836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E4 Roles, layout</a:t>
            </a:r>
            <a:endParaRPr lang="en-US" sz="1600" dirty="0"/>
          </a:p>
        </p:txBody>
      </p:sp>
      <p:sp>
        <p:nvSpPr>
          <p:cNvPr id="33" name="Shape 31"/>
          <p:cNvSpPr/>
          <p:nvPr/>
        </p:nvSpPr>
        <p:spPr>
          <a:xfrm>
            <a:off x="2971800" y="4471416"/>
            <a:ext cx="2816352" cy="658368"/>
          </a:xfrm>
          <a:prstGeom prst="rect">
            <a:avLst/>
          </a:prstGeom>
          <a:solidFill>
            <a:srgbClr val="FAFBFC"/>
          </a:solidFill>
          <a:ln w="9525">
            <a:solidFill>
              <a:srgbClr val="E1E8ED"/>
            </a:solidFill>
            <a:prstDash val="solid"/>
          </a:ln>
        </p:spPr>
      </p:sp>
      <p:sp>
        <p:nvSpPr>
          <p:cNvPr id="34" name="Shape 32"/>
          <p:cNvSpPr/>
          <p:nvPr/>
        </p:nvSpPr>
        <p:spPr>
          <a:xfrm>
            <a:off x="5879592" y="4471416"/>
            <a:ext cx="2816352" cy="658368"/>
          </a:xfrm>
          <a:prstGeom prst="rect">
            <a:avLst/>
          </a:prstGeom>
          <a:solidFill>
            <a:srgbClr val="FAFBFC"/>
          </a:solidFill>
          <a:ln w="9525">
            <a:solidFill>
              <a:srgbClr val="E1E8ED"/>
            </a:solidFill>
            <a:prstDash val="solid"/>
          </a:ln>
        </p:spPr>
      </p:sp>
      <p:sp>
        <p:nvSpPr>
          <p:cNvPr id="35" name="Shape 33"/>
          <p:cNvSpPr/>
          <p:nvPr/>
        </p:nvSpPr>
        <p:spPr>
          <a:xfrm>
            <a:off x="8787384" y="4471416"/>
            <a:ext cx="2825496" cy="658368"/>
          </a:xfrm>
          <a:prstGeom prst="rect">
            <a:avLst/>
          </a:prstGeom>
          <a:solidFill>
            <a:srgbClr val="F2F6F8"/>
          </a:solidFill>
          <a:ln w="9525">
            <a:solidFill>
              <a:srgbClr val="E1E8ED"/>
            </a:solidFill>
            <a:prstDash val="solid"/>
          </a:ln>
        </p:spPr>
      </p:sp>
      <p:sp>
        <p:nvSpPr>
          <p:cNvPr id="36" name="Text 34"/>
          <p:cNvSpPr/>
          <p:nvPr/>
        </p:nvSpPr>
        <p:spPr>
          <a:xfrm>
            <a:off x="8897112" y="4471416"/>
            <a:ext cx="2606040"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Roles · phone layout</a:t>
            </a:r>
            <a:endParaRPr lang="en-US" sz="1500" dirty="0"/>
          </a:p>
        </p:txBody>
      </p:sp>
      <p:sp>
        <p:nvSpPr>
          <p:cNvPr id="37" name="Shape 35"/>
          <p:cNvSpPr/>
          <p:nvPr/>
        </p:nvSpPr>
        <p:spPr>
          <a:xfrm>
            <a:off x="548640" y="5184648"/>
            <a:ext cx="2331720" cy="658368"/>
          </a:xfrm>
          <a:prstGeom prst="rect">
            <a:avLst/>
          </a:prstGeom>
          <a:solidFill>
            <a:srgbClr val="E4EEF1"/>
          </a:solidFill>
          <a:ln/>
        </p:spPr>
      </p:sp>
      <p:sp>
        <p:nvSpPr>
          <p:cNvPr id="38" name="Text 36"/>
          <p:cNvSpPr/>
          <p:nvPr/>
        </p:nvSpPr>
        <p:spPr>
          <a:xfrm>
            <a:off x="685800" y="5184648"/>
            <a:ext cx="2148840" cy="65836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E5 Run it there</a:t>
            </a:r>
            <a:endParaRPr lang="en-US" sz="1600" dirty="0"/>
          </a:p>
        </p:txBody>
      </p:sp>
      <p:sp>
        <p:nvSpPr>
          <p:cNvPr id="39" name="Shape 37"/>
          <p:cNvSpPr/>
          <p:nvPr/>
        </p:nvSpPr>
        <p:spPr>
          <a:xfrm>
            <a:off x="2971800" y="5184648"/>
            <a:ext cx="2816352" cy="658368"/>
          </a:xfrm>
          <a:prstGeom prst="rect">
            <a:avLst/>
          </a:prstGeom>
          <a:solidFill>
            <a:srgbClr val="F2F6F8"/>
          </a:solidFill>
          <a:ln w="9525">
            <a:solidFill>
              <a:srgbClr val="E1E8ED"/>
            </a:solidFill>
            <a:prstDash val="solid"/>
          </a:ln>
        </p:spPr>
      </p:sp>
      <p:sp>
        <p:nvSpPr>
          <p:cNvPr id="40" name="Text 38"/>
          <p:cNvSpPr/>
          <p:nvPr/>
        </p:nvSpPr>
        <p:spPr>
          <a:xfrm>
            <a:off x="3081528" y="5184648"/>
            <a:ext cx="2596896"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Setup guide</a:t>
            </a:r>
            <a:endParaRPr lang="en-US" sz="1500" dirty="0"/>
          </a:p>
        </p:txBody>
      </p:sp>
      <p:sp>
        <p:nvSpPr>
          <p:cNvPr id="41" name="Shape 39"/>
          <p:cNvSpPr/>
          <p:nvPr/>
        </p:nvSpPr>
        <p:spPr>
          <a:xfrm>
            <a:off x="5879592" y="5184648"/>
            <a:ext cx="2816352" cy="658368"/>
          </a:xfrm>
          <a:prstGeom prst="rect">
            <a:avLst/>
          </a:prstGeom>
          <a:solidFill>
            <a:srgbClr val="FAFBFC"/>
          </a:solidFill>
          <a:ln w="9525">
            <a:solidFill>
              <a:srgbClr val="E1E8ED"/>
            </a:solidFill>
            <a:prstDash val="solid"/>
          </a:ln>
        </p:spPr>
      </p:sp>
      <p:sp>
        <p:nvSpPr>
          <p:cNvPr id="42" name="Shape 40"/>
          <p:cNvSpPr/>
          <p:nvPr/>
        </p:nvSpPr>
        <p:spPr>
          <a:xfrm>
            <a:off x="8787384" y="5184648"/>
            <a:ext cx="2825496" cy="658368"/>
          </a:xfrm>
          <a:prstGeom prst="rect">
            <a:avLst/>
          </a:prstGeom>
          <a:solidFill>
            <a:srgbClr val="F2F6F8"/>
          </a:solidFill>
          <a:ln w="9525">
            <a:solidFill>
              <a:srgbClr val="E1E8ED"/>
            </a:solidFill>
            <a:prstDash val="solid"/>
          </a:ln>
        </p:spPr>
      </p:sp>
      <p:sp>
        <p:nvSpPr>
          <p:cNvPr id="43" name="Text 41"/>
          <p:cNvSpPr/>
          <p:nvPr/>
        </p:nvSpPr>
        <p:spPr>
          <a:xfrm>
            <a:off x="8897112" y="5184648"/>
            <a:ext cx="2606040" cy="658368"/>
          </a:xfrm>
          <a:prstGeom prst="rect">
            <a:avLst/>
          </a:prstGeom>
          <a:noFill/>
          <a:ln/>
        </p:spPr>
        <p:txBody>
          <a:bodyPr wrap="square" lIns="0" tIns="0" rIns="0" bIns="0" rtlCol="0" anchor="ctr"/>
          <a:lstStyle/>
          <a:p>
            <a:pPr algn="ctr" indent="0" marL="0">
              <a:buNone/>
            </a:pPr>
            <a:r>
              <a:rPr lang="en-US" sz="1500" dirty="0">
                <a:solidFill>
                  <a:srgbClr val="1E2A36"/>
                </a:solidFill>
                <a:latin typeface="Calibri" pitchFamily="34" charset="0"/>
                <a:ea typeface="Calibri" pitchFamily="34" charset="-122"/>
                <a:cs typeface="Calibri" pitchFamily="34" charset="-120"/>
              </a:rPr>
              <a:t>Deploy · 60 items · strike night</a:t>
            </a:r>
            <a:endParaRPr lang="en-US" sz="1500" dirty="0"/>
          </a:p>
        </p:txBody>
      </p:sp>
      <p:sp>
        <p:nvSpPr>
          <p:cNvPr id="44" name="Text 42"/>
          <p:cNvSpPr/>
          <p:nvPr/>
        </p:nvSpPr>
        <p:spPr>
          <a:xfrm>
            <a:off x="548640" y="5925312"/>
            <a:ext cx="11064240" cy="384048"/>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Prop Loft. M1 takes a slice of three epics; nothing in E4 is due this term.</a:t>
            </a:r>
            <a:endParaRPr lang="en-US" sz="1500" dirty="0"/>
          </a:p>
        </p:txBody>
      </p:sp>
      <p:sp>
        <p:nvSpPr>
          <p:cNvPr id="45" name="Text 4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46" name="Text 4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HONEST CALENDAR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Count the hours, then cut</a:t>
            </a:r>
            <a:endParaRPr lang="en-US" sz="3100" dirty="0"/>
          </a:p>
        </p:txBody>
      </p:sp>
      <p:sp>
        <p:nvSpPr>
          <p:cNvPr id="5" name="Shape 3"/>
          <p:cNvSpPr/>
          <p:nvPr/>
        </p:nvSpPr>
        <p:spPr>
          <a:xfrm>
            <a:off x="1463040" y="2331720"/>
            <a:ext cx="9052560" cy="0"/>
          </a:xfrm>
          <a:prstGeom prst="line">
            <a:avLst/>
          </a:prstGeom>
          <a:noFill/>
          <a:ln w="38100">
            <a:solidFill>
              <a:srgbClr val="12908F"/>
            </a:solidFill>
            <a:prstDash val="solid"/>
          </a:ln>
        </p:spPr>
      </p:sp>
      <p:sp>
        <p:nvSpPr>
          <p:cNvPr id="6" name="Shape 4"/>
          <p:cNvSpPr/>
          <p:nvPr/>
        </p:nvSpPr>
        <p:spPr>
          <a:xfrm>
            <a:off x="1307592" y="2176272"/>
            <a:ext cx="310896" cy="310896"/>
          </a:xfrm>
          <a:prstGeom prst="ellipse">
            <a:avLst/>
          </a:prstGeom>
          <a:solidFill>
            <a:srgbClr val="5F7284"/>
          </a:solidFill>
          <a:ln w="25400">
            <a:solidFill>
              <a:srgbClr val="FFFFFF"/>
            </a:solidFill>
            <a:prstDash val="solid"/>
          </a:ln>
        </p:spPr>
      </p:sp>
      <p:sp>
        <p:nvSpPr>
          <p:cNvPr id="7" name="Text 5"/>
          <p:cNvSpPr/>
          <p:nvPr/>
        </p:nvSpPr>
        <p:spPr>
          <a:xfrm>
            <a:off x="91440" y="2606040"/>
            <a:ext cx="2743200" cy="6858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Today</a:t>
            </a:r>
            <a:endParaRPr lang="en-US" sz="1700" dirty="0"/>
          </a:p>
          <a:p>
            <a:pPr algn="ctr" indent="0" marL="0">
              <a:buNone/>
            </a:pPr>
            <a:r>
              <a:rPr lang="en-US" sz="1500" dirty="0">
                <a:solidFill>
                  <a:srgbClr val="5F7284"/>
                </a:solidFill>
                <a:latin typeface="Calibri" pitchFamily="34" charset="0"/>
                <a:ea typeface="Calibri" pitchFamily="34" charset="-122"/>
                <a:cs typeface="Calibri" pitchFamily="34" charset="-120"/>
              </a:rPr>
              <a:t>Mon, Nov 2</a:t>
            </a:r>
            <a:endParaRPr lang="en-US" sz="1700" dirty="0"/>
          </a:p>
        </p:txBody>
      </p:sp>
      <p:sp>
        <p:nvSpPr>
          <p:cNvPr id="8" name="Shape 6"/>
          <p:cNvSpPr/>
          <p:nvPr/>
        </p:nvSpPr>
        <p:spPr>
          <a:xfrm>
            <a:off x="5833872" y="2176272"/>
            <a:ext cx="310896" cy="310896"/>
          </a:xfrm>
          <a:prstGeom prst="ellipse">
            <a:avLst/>
          </a:prstGeom>
          <a:solidFill>
            <a:srgbClr val="12908F"/>
          </a:solidFill>
          <a:ln w="25400">
            <a:solidFill>
              <a:srgbClr val="FFFFFF"/>
            </a:solidFill>
            <a:prstDash val="solid"/>
          </a:ln>
        </p:spPr>
      </p:sp>
      <p:sp>
        <p:nvSpPr>
          <p:cNvPr id="9" name="Text 7"/>
          <p:cNvSpPr/>
          <p:nvPr/>
        </p:nvSpPr>
        <p:spPr>
          <a:xfrm>
            <a:off x="4617720" y="2606040"/>
            <a:ext cx="2743200" cy="6858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M1 · progress demo</a:t>
            </a:r>
            <a:endParaRPr lang="en-US" sz="1700" dirty="0"/>
          </a:p>
          <a:p>
            <a:pPr algn="ctr" indent="0" marL="0">
              <a:buNone/>
            </a:pPr>
            <a:r>
              <a:rPr lang="en-US" sz="1500" dirty="0">
                <a:solidFill>
                  <a:srgbClr val="5F7284"/>
                </a:solidFill>
                <a:latin typeface="Calibri" pitchFamily="34" charset="0"/>
                <a:ea typeface="Calibri" pitchFamily="34" charset="-122"/>
                <a:cs typeface="Calibri" pitchFamily="34" charset="-120"/>
              </a:rPr>
              <a:t>Wed, Nov 18 (CP10)</a:t>
            </a:r>
            <a:endParaRPr lang="en-US" sz="1700" dirty="0"/>
          </a:p>
        </p:txBody>
      </p:sp>
      <p:sp>
        <p:nvSpPr>
          <p:cNvPr id="10" name="Shape 8"/>
          <p:cNvSpPr/>
          <p:nvPr/>
        </p:nvSpPr>
        <p:spPr>
          <a:xfrm>
            <a:off x="10360152" y="2176272"/>
            <a:ext cx="310896" cy="310896"/>
          </a:xfrm>
          <a:prstGeom prst="ellipse">
            <a:avLst/>
          </a:prstGeom>
          <a:solidFill>
            <a:srgbClr val="14233A"/>
          </a:solidFill>
          <a:ln w="25400">
            <a:solidFill>
              <a:srgbClr val="FFFFFF"/>
            </a:solidFill>
            <a:prstDash val="solid"/>
          </a:ln>
        </p:spPr>
      </p:sp>
      <p:sp>
        <p:nvSpPr>
          <p:cNvPr id="11" name="Text 9"/>
          <p:cNvSpPr/>
          <p:nvPr/>
        </p:nvSpPr>
        <p:spPr>
          <a:xfrm>
            <a:off x="9144000" y="2606040"/>
            <a:ext cx="2743200" cy="68580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M2 · launch package</a:t>
            </a:r>
            <a:endParaRPr lang="en-US" sz="1700" dirty="0"/>
          </a:p>
          <a:p>
            <a:pPr algn="ctr" indent="0" marL="0">
              <a:buNone/>
            </a:pPr>
            <a:r>
              <a:rPr lang="en-US" sz="1500" dirty="0">
                <a:solidFill>
                  <a:srgbClr val="5F7284"/>
                </a:solidFill>
                <a:latin typeface="Calibri" pitchFamily="34" charset="0"/>
                <a:ea typeface="Calibri" pitchFamily="34" charset="-122"/>
                <a:cs typeface="Calibri" pitchFamily="34" charset="-120"/>
              </a:rPr>
              <a:t>Wed, Dec 2 (CP11)</a:t>
            </a:r>
            <a:endParaRPr lang="en-US" sz="1700" dirty="0"/>
          </a:p>
        </p:txBody>
      </p:sp>
      <p:sp>
        <p:nvSpPr>
          <p:cNvPr id="12" name="click-1"/>
          <p:cNvSpPr/>
          <p:nvPr/>
        </p:nvSpPr>
        <p:spPr>
          <a:xfrm>
            <a:off x="548640" y="3611880"/>
            <a:ext cx="6675120" cy="1508760"/>
          </a:xfrm>
          <a:prstGeom prst="roundRect">
            <a:avLst>
              <a:gd name="adj" fmla="val 5455"/>
            </a:avLst>
          </a:prstGeom>
          <a:solidFill>
            <a:srgbClr val="14233A"/>
          </a:solidFill>
          <a:ln/>
          <a:effectLst>
            <a:outerShdw sx="100000" sy="100000" kx="0" ky="0" algn="bl" rotWithShape="0" blurRad="88900" dist="38100" dir="5400000">
              <a:srgbClr val="000000">
                <a:alpha val="13000"/>
              </a:srgbClr>
            </a:outerShdw>
          </a:effectLst>
        </p:spPr>
      </p:sp>
      <p:sp>
        <p:nvSpPr>
          <p:cNvPr id="13" name="click-1"/>
          <p:cNvSpPr/>
          <p:nvPr/>
        </p:nvSpPr>
        <p:spPr>
          <a:xfrm>
            <a:off x="868680" y="3611880"/>
            <a:ext cx="6217920" cy="1508760"/>
          </a:xfrm>
          <a:prstGeom prst="rect">
            <a:avLst/>
          </a:prstGeom>
          <a:noFill/>
          <a:ln/>
        </p:spPr>
        <p:txBody>
          <a:bodyPr wrap="square" lIns="0" tIns="0" rIns="0" bIns="0" rtlCol="0" anchor="ctr"/>
          <a:lstStyle/>
          <a:p>
            <a:pPr indent="0" marL="0">
              <a:lnSpc>
                <a:spcPct val="110000"/>
              </a:lnSpc>
              <a:buNone/>
            </a:pPr>
            <a:r>
              <a:rPr lang="en-US" sz="1600" b="1" dirty="0">
                <a:solidFill>
                  <a:srgbClr val="E8A33D"/>
                </a:solidFill>
                <a:latin typeface="Calibri" pitchFamily="34" charset="0"/>
                <a:ea typeface="Calibri" pitchFamily="34" charset="-122"/>
                <a:cs typeface="Calibri" pitchFamily="34" charset="-120"/>
              </a:rPr>
              <a:t>Capacity per milestone</a:t>
            </a:r>
            <a:endParaRPr lang="en-US" sz="1800" dirty="0"/>
          </a:p>
          <a:p>
            <a:pPr indent="0" marL="0">
              <a:lnSpc>
                <a:spcPct val="110000"/>
              </a:lnSpc>
              <a:buNone/>
            </a:pPr>
            <a:r>
              <a:rPr lang="en-US" sz="1800" dirty="0">
                <a:solidFill>
                  <a:srgbClr val="FFFFFF"/>
                </a:solidFill>
                <a:latin typeface="Calibri" pitchFamily="34" charset="0"/>
                <a:ea typeface="Calibri" pitchFamily="34" charset="-122"/>
                <a:cs typeface="Calibri" pitchFamily="34" charset="-120"/>
              </a:rPr>
              <a:t>maintainers × ~7 outside hours × 2 weeks, minus review</a:t>
            </a:r>
            <a:endParaRPr lang="en-US" sz="1800" dirty="0"/>
          </a:p>
          <a:p>
            <a:pPr indent="0" marL="0">
              <a:lnSpc>
                <a:spcPct val="110000"/>
              </a:lnSpc>
              <a:buNone/>
            </a:pPr>
            <a:r>
              <a:rPr lang="en-US" sz="1800" dirty="0">
                <a:solidFill>
                  <a:srgbClr val="CFE0E9"/>
                </a:solidFill>
                <a:latin typeface="Calibri" pitchFamily="34" charset="0"/>
                <a:ea typeface="Calibri" pitchFamily="34" charset="-122"/>
                <a:cs typeface="Calibri" pitchFamily="34" charset="-120"/>
              </a:rPr>
              <a:t>Solo: 1 × 7 × 2 = 14 hours, about 12 after review</a:t>
            </a:r>
            <a:endParaRPr lang="en-US" sz="1800" dirty="0"/>
          </a:p>
        </p:txBody>
      </p:sp>
      <p:sp>
        <p:nvSpPr>
          <p:cNvPr id="14" name="click-2"/>
          <p:cNvSpPr/>
          <p:nvPr/>
        </p:nvSpPr>
        <p:spPr>
          <a:xfrm>
            <a:off x="7452360" y="3611880"/>
            <a:ext cx="4160520" cy="1508760"/>
          </a:xfrm>
          <a:prstGeom prst="roundRect">
            <a:avLst>
              <a:gd name="adj" fmla="val 5455"/>
            </a:avLst>
          </a:prstGeom>
          <a:solidFill>
            <a:srgbClr val="FBEEDA"/>
          </a:solidFill>
          <a:ln/>
          <a:effectLst>
            <a:outerShdw sx="100000" sy="100000" kx="0" ky="0" algn="bl" rotWithShape="0" blurRad="88900" dist="38100" dir="5400000">
              <a:srgbClr val="000000">
                <a:alpha val="13000"/>
              </a:srgbClr>
            </a:outerShdw>
          </a:effectLst>
        </p:spPr>
      </p:sp>
      <p:sp>
        <p:nvSpPr>
          <p:cNvPr id="15" name="click-2"/>
          <p:cNvSpPr/>
          <p:nvPr/>
        </p:nvSpPr>
        <p:spPr>
          <a:xfrm>
            <a:off x="7726680" y="3611880"/>
            <a:ext cx="3657600" cy="1508760"/>
          </a:xfrm>
          <a:prstGeom prst="rect">
            <a:avLst/>
          </a:prstGeom>
          <a:noFill/>
          <a:ln/>
        </p:spPr>
        <p:txBody>
          <a:bodyPr wrap="square" lIns="0" tIns="0" rIns="0" bIns="0" rtlCol="0" anchor="ctr"/>
          <a:lstStyle/>
          <a:p>
            <a:pPr indent="0" marL="0">
              <a:lnSpc>
                <a:spcPct val="104000"/>
              </a:lnSpc>
              <a:buNone/>
            </a:pPr>
            <a:r>
              <a:rPr lang="en-US" sz="1650" b="1" dirty="0">
                <a:solidFill>
                  <a:srgbClr val="1E2A36"/>
                </a:solidFill>
                <a:latin typeface="Calibri" pitchFamily="34" charset="0"/>
                <a:ea typeface="Calibri" pitchFamily="34" charset="-122"/>
                <a:cs typeface="Calibri" pitchFamily="34" charset="-120"/>
              </a:rPr>
              <a:t>Add up the issues. If they don't fit, cut until they do, and write down what moved.</a:t>
            </a:r>
            <a:endParaRPr lang="en-US" sz="1650" dirty="0"/>
          </a:p>
        </p:txBody>
      </p:sp>
      <p:sp>
        <p:nvSpPr>
          <p:cNvPr id="16" name="Shape 14"/>
          <p:cNvSpPr/>
          <p:nvPr/>
        </p:nvSpPr>
        <p:spPr>
          <a:xfrm>
            <a:off x="548640" y="5349240"/>
            <a:ext cx="11064240" cy="822960"/>
          </a:xfrm>
          <a:prstGeom prst="roundRect">
            <a:avLst>
              <a:gd name="adj" fmla="val 10000"/>
            </a:avLst>
          </a:prstGeom>
          <a:solidFill>
            <a:srgbClr val="F2F6F8"/>
          </a:solidFill>
          <a:ln/>
          <a:effectLst>
            <a:outerShdw sx="100000" sy="100000" kx="0" ky="0" algn="bl" rotWithShape="0" blurRad="88900" dist="38100" dir="5400000">
              <a:srgbClr val="000000">
                <a:alpha val="13000"/>
              </a:srgbClr>
            </a:outerShdw>
          </a:effectLst>
        </p:spPr>
      </p:sp>
      <p:sp>
        <p:nvSpPr>
          <p:cNvPr id="17" name="Text 15"/>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Detail M1 fully, M2 loosely.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Plans sharpen as you get closer; detailed issues for work a month out mostly get rewritten.</a:t>
            </a:r>
            <a:endParaRPr lang="en-US" sz="1700" dirty="0"/>
          </a:p>
        </p:txBody>
      </p:sp>
      <p:sp>
        <p:nvSpPr>
          <p:cNvPr id="18"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19"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LOFT'S CUT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design planned five slices. The calendar holds two.</a:t>
            </a:r>
            <a:endParaRPr lang="en-US" sz="3100" dirty="0"/>
          </a:p>
        </p:txBody>
      </p:sp>
      <p:sp>
        <p:nvSpPr>
          <p:cNvPr id="5" name="Shape 3"/>
          <p:cNvSpPr/>
          <p:nvPr/>
        </p:nvSpPr>
        <p:spPr>
          <a:xfrm>
            <a:off x="548640" y="1783080"/>
            <a:ext cx="2103120" cy="274320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548640" y="1920240"/>
            <a:ext cx="2103120" cy="411480"/>
          </a:xfrm>
          <a:prstGeom prst="rect">
            <a:avLst/>
          </a:prstGeom>
          <a:noFill/>
          <a:ln/>
        </p:spPr>
        <p:txBody>
          <a:bodyPr wrap="square" lIns="0" tIns="0" rIns="0" bIns="0" rtlCol="0" anchor="ctr"/>
          <a:lstStyle/>
          <a:p>
            <a:pPr algn="ctr" indent="0" marL="0">
              <a:buNone/>
            </a:pPr>
            <a:r>
              <a:rPr lang="en-US" sz="1500" b="1" dirty="0">
                <a:solidFill>
                  <a:srgbClr val="5F7284"/>
                </a:solidFill>
                <a:latin typeface="Calibri" pitchFamily="34" charset="0"/>
                <a:ea typeface="Calibri" pitchFamily="34" charset="-122"/>
                <a:cs typeface="Calibri" pitchFamily="34" charset="-120"/>
              </a:rPr>
              <a:t>Slice 1</a:t>
            </a:r>
            <a:endParaRPr lang="en-US" sz="1500" dirty="0"/>
          </a:p>
        </p:txBody>
      </p:sp>
      <p:sp>
        <p:nvSpPr>
          <p:cNvPr id="7" name="Text 5"/>
          <p:cNvSpPr/>
          <p:nvPr/>
        </p:nvSpPr>
        <p:spPr>
          <a:xfrm>
            <a:off x="685800" y="2377440"/>
            <a:ext cx="1828800" cy="128016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Find, open, check out, see it marked out</a:t>
            </a:r>
            <a:endParaRPr lang="en-US" sz="1700" dirty="0"/>
          </a:p>
        </p:txBody>
      </p:sp>
      <p:sp>
        <p:nvSpPr>
          <p:cNvPr id="8" name="Shape 6"/>
          <p:cNvSpPr/>
          <p:nvPr/>
        </p:nvSpPr>
        <p:spPr>
          <a:xfrm>
            <a:off x="868680" y="3794760"/>
            <a:ext cx="1463040" cy="457200"/>
          </a:xfrm>
          <a:prstGeom prst="roundRect">
            <a:avLst>
              <a:gd name="adj" fmla="val 16000"/>
            </a:avLst>
          </a:prstGeom>
          <a:solidFill>
            <a:srgbClr val="12908F"/>
          </a:solidFill>
          <a:ln/>
        </p:spPr>
      </p:sp>
      <p:sp>
        <p:nvSpPr>
          <p:cNvPr id="9" name="Text 7"/>
          <p:cNvSpPr/>
          <p:nvPr/>
        </p:nvSpPr>
        <p:spPr>
          <a:xfrm>
            <a:off x="868680" y="3794760"/>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M1</a:t>
            </a:r>
            <a:endParaRPr lang="en-US" sz="1600" dirty="0"/>
          </a:p>
        </p:txBody>
      </p:sp>
      <p:sp>
        <p:nvSpPr>
          <p:cNvPr id="10" name="Shape 8"/>
          <p:cNvSpPr/>
          <p:nvPr/>
        </p:nvSpPr>
        <p:spPr>
          <a:xfrm>
            <a:off x="2788920" y="1783080"/>
            <a:ext cx="2103120" cy="274320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2788920" y="1920240"/>
            <a:ext cx="2103120" cy="411480"/>
          </a:xfrm>
          <a:prstGeom prst="rect">
            <a:avLst/>
          </a:prstGeom>
          <a:noFill/>
          <a:ln/>
        </p:spPr>
        <p:txBody>
          <a:bodyPr wrap="square" lIns="0" tIns="0" rIns="0" bIns="0" rtlCol="0" anchor="ctr"/>
          <a:lstStyle/>
          <a:p>
            <a:pPr algn="ctr" indent="0" marL="0">
              <a:buNone/>
            </a:pPr>
            <a:r>
              <a:rPr lang="en-US" sz="1500" b="1" dirty="0">
                <a:solidFill>
                  <a:srgbClr val="5F7284"/>
                </a:solidFill>
                <a:latin typeface="Calibri" pitchFamily="34" charset="0"/>
                <a:ea typeface="Calibri" pitchFamily="34" charset="-122"/>
                <a:cs typeface="Calibri" pitchFamily="34" charset="-120"/>
              </a:rPr>
              <a:t>Slice 2</a:t>
            </a:r>
            <a:endParaRPr lang="en-US" sz="1500" dirty="0"/>
          </a:p>
        </p:txBody>
      </p:sp>
      <p:sp>
        <p:nvSpPr>
          <p:cNvPr id="12" name="Text 10"/>
          <p:cNvSpPr/>
          <p:nvPr/>
        </p:nvSpPr>
        <p:spPr>
          <a:xfrm>
            <a:off x="2926080" y="2377440"/>
            <a:ext cx="1828800" cy="128016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Returns and the overdue list</a:t>
            </a:r>
            <a:endParaRPr lang="en-US" sz="1700" dirty="0"/>
          </a:p>
        </p:txBody>
      </p:sp>
      <p:sp>
        <p:nvSpPr>
          <p:cNvPr id="13" name="Shape 11"/>
          <p:cNvSpPr/>
          <p:nvPr/>
        </p:nvSpPr>
        <p:spPr>
          <a:xfrm>
            <a:off x="3108960" y="3794760"/>
            <a:ext cx="1463040" cy="457200"/>
          </a:xfrm>
          <a:prstGeom prst="roundRect">
            <a:avLst>
              <a:gd name="adj" fmla="val 16000"/>
            </a:avLst>
          </a:prstGeom>
          <a:solidFill>
            <a:srgbClr val="14233A"/>
          </a:solidFill>
          <a:ln/>
        </p:spPr>
      </p:sp>
      <p:sp>
        <p:nvSpPr>
          <p:cNvPr id="14" name="Text 12"/>
          <p:cNvSpPr/>
          <p:nvPr/>
        </p:nvSpPr>
        <p:spPr>
          <a:xfrm>
            <a:off x="3108960" y="3794760"/>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M2</a:t>
            </a:r>
            <a:endParaRPr lang="en-US" sz="1600" dirty="0"/>
          </a:p>
        </p:txBody>
      </p:sp>
      <p:sp>
        <p:nvSpPr>
          <p:cNvPr id="15" name="Shape 13"/>
          <p:cNvSpPr/>
          <p:nvPr/>
        </p:nvSpPr>
        <p:spPr>
          <a:xfrm>
            <a:off x="5029200" y="1783080"/>
            <a:ext cx="2103120" cy="274320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5029200" y="1920240"/>
            <a:ext cx="2103120" cy="411480"/>
          </a:xfrm>
          <a:prstGeom prst="rect">
            <a:avLst/>
          </a:prstGeom>
          <a:noFill/>
          <a:ln/>
        </p:spPr>
        <p:txBody>
          <a:bodyPr wrap="square" lIns="0" tIns="0" rIns="0" bIns="0" rtlCol="0" anchor="ctr"/>
          <a:lstStyle/>
          <a:p>
            <a:pPr algn="ctr" indent="0" marL="0">
              <a:buNone/>
            </a:pPr>
            <a:r>
              <a:rPr lang="en-US" sz="1500" b="1" dirty="0">
                <a:solidFill>
                  <a:srgbClr val="5F7284"/>
                </a:solidFill>
                <a:latin typeface="Calibri" pitchFamily="34" charset="0"/>
                <a:ea typeface="Calibri" pitchFamily="34" charset="-122"/>
                <a:cs typeface="Calibri" pitchFamily="34" charset="-120"/>
              </a:rPr>
              <a:t>Slice 3</a:t>
            </a:r>
            <a:endParaRPr lang="en-US" sz="1500" dirty="0"/>
          </a:p>
        </p:txBody>
      </p:sp>
      <p:sp>
        <p:nvSpPr>
          <p:cNvPr id="17" name="Text 15"/>
          <p:cNvSpPr/>
          <p:nvPr/>
        </p:nvSpPr>
        <p:spPr>
          <a:xfrm>
            <a:off x="5166360" y="2377440"/>
            <a:ext cx="1828800" cy="128016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Add an item, with a photo</a:t>
            </a:r>
            <a:endParaRPr lang="en-US" sz="1700" dirty="0"/>
          </a:p>
        </p:txBody>
      </p:sp>
      <p:sp>
        <p:nvSpPr>
          <p:cNvPr id="18" name="Shape 16"/>
          <p:cNvSpPr/>
          <p:nvPr/>
        </p:nvSpPr>
        <p:spPr>
          <a:xfrm>
            <a:off x="5349240" y="3794760"/>
            <a:ext cx="1463040" cy="457200"/>
          </a:xfrm>
          <a:prstGeom prst="roundRect">
            <a:avLst>
              <a:gd name="adj" fmla="val 16000"/>
            </a:avLst>
          </a:prstGeom>
          <a:solidFill>
            <a:srgbClr val="14233A"/>
          </a:solidFill>
          <a:ln/>
        </p:spPr>
      </p:sp>
      <p:sp>
        <p:nvSpPr>
          <p:cNvPr id="19" name="Text 17"/>
          <p:cNvSpPr/>
          <p:nvPr/>
        </p:nvSpPr>
        <p:spPr>
          <a:xfrm>
            <a:off x="5349240" y="3794760"/>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M2</a:t>
            </a:r>
            <a:endParaRPr lang="en-US" sz="1600" dirty="0"/>
          </a:p>
        </p:txBody>
      </p:sp>
      <p:sp>
        <p:nvSpPr>
          <p:cNvPr id="20" name="click-1"/>
          <p:cNvSpPr/>
          <p:nvPr/>
        </p:nvSpPr>
        <p:spPr>
          <a:xfrm>
            <a:off x="7269480" y="1783080"/>
            <a:ext cx="2103120" cy="2743200"/>
          </a:xfrm>
          <a:prstGeom prst="roundRect">
            <a:avLst>
              <a:gd name="adj" fmla="val 3913"/>
            </a:avLst>
          </a:prstGeom>
          <a:solidFill>
            <a:srgbClr val="F7F9FA"/>
          </a:solidFill>
          <a:ln/>
          <a:effectLst>
            <a:outerShdw sx="100000" sy="100000" kx="0" ky="0" algn="bl" rotWithShape="0" blurRad="88900" dist="38100" dir="5400000">
              <a:srgbClr val="000000">
                <a:alpha val="13000"/>
              </a:srgbClr>
            </a:outerShdw>
          </a:effectLst>
        </p:spPr>
      </p:sp>
      <p:sp>
        <p:nvSpPr>
          <p:cNvPr id="21" name="click-1"/>
          <p:cNvSpPr/>
          <p:nvPr/>
        </p:nvSpPr>
        <p:spPr>
          <a:xfrm>
            <a:off x="7269480" y="1920240"/>
            <a:ext cx="2103120" cy="411480"/>
          </a:xfrm>
          <a:prstGeom prst="rect">
            <a:avLst/>
          </a:prstGeom>
          <a:noFill/>
          <a:ln/>
        </p:spPr>
        <p:txBody>
          <a:bodyPr wrap="square" lIns="0" tIns="0" rIns="0" bIns="0" rtlCol="0" anchor="ctr"/>
          <a:lstStyle/>
          <a:p>
            <a:pPr algn="ctr" indent="0" marL="0">
              <a:buNone/>
            </a:pPr>
            <a:r>
              <a:rPr lang="en-US" sz="1500" b="1" dirty="0">
                <a:solidFill>
                  <a:srgbClr val="5F7284"/>
                </a:solidFill>
                <a:latin typeface="Calibri" pitchFamily="34" charset="0"/>
                <a:ea typeface="Calibri" pitchFamily="34" charset="-122"/>
                <a:cs typeface="Calibri" pitchFamily="34" charset="-120"/>
              </a:rPr>
              <a:t>Slice 4</a:t>
            </a:r>
            <a:endParaRPr lang="en-US" sz="1500" dirty="0"/>
          </a:p>
        </p:txBody>
      </p:sp>
      <p:sp>
        <p:nvSpPr>
          <p:cNvPr id="22" name="click-1"/>
          <p:cNvSpPr/>
          <p:nvPr/>
        </p:nvSpPr>
        <p:spPr>
          <a:xfrm>
            <a:off x="7406640" y="2377440"/>
            <a:ext cx="1828800" cy="128016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Roles and phone layout</a:t>
            </a:r>
            <a:endParaRPr lang="en-US" sz="1700" dirty="0"/>
          </a:p>
        </p:txBody>
      </p:sp>
      <p:sp>
        <p:nvSpPr>
          <p:cNvPr id="23" name="click-1"/>
          <p:cNvSpPr/>
          <p:nvPr/>
        </p:nvSpPr>
        <p:spPr>
          <a:xfrm>
            <a:off x="7589520" y="3794760"/>
            <a:ext cx="1463040" cy="457200"/>
          </a:xfrm>
          <a:prstGeom prst="roundRect">
            <a:avLst>
              <a:gd name="adj" fmla="val 16000"/>
            </a:avLst>
          </a:prstGeom>
          <a:solidFill>
            <a:srgbClr val="5F7284"/>
          </a:solidFill>
          <a:ln/>
        </p:spPr>
      </p:sp>
      <p:sp>
        <p:nvSpPr>
          <p:cNvPr id="24" name="click-1"/>
          <p:cNvSpPr/>
          <p:nvPr/>
        </p:nvSpPr>
        <p:spPr>
          <a:xfrm>
            <a:off x="7589520" y="3794760"/>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Roadmap</a:t>
            </a:r>
            <a:endParaRPr lang="en-US" sz="1600" dirty="0"/>
          </a:p>
        </p:txBody>
      </p:sp>
      <p:sp>
        <p:nvSpPr>
          <p:cNvPr id="25" name="click-1"/>
          <p:cNvSpPr/>
          <p:nvPr/>
        </p:nvSpPr>
        <p:spPr>
          <a:xfrm>
            <a:off x="9509760" y="1783080"/>
            <a:ext cx="2103120" cy="2743200"/>
          </a:xfrm>
          <a:prstGeom prst="roundRect">
            <a:avLst>
              <a:gd name="adj" fmla="val 3913"/>
            </a:avLst>
          </a:prstGeom>
          <a:solidFill>
            <a:srgbClr val="F7F9FA"/>
          </a:solidFill>
          <a:ln/>
          <a:effectLst>
            <a:outerShdw sx="100000" sy="100000" kx="0" ky="0" algn="bl" rotWithShape="0" blurRad="88900" dist="38100" dir="5400000">
              <a:srgbClr val="000000">
                <a:alpha val="13000"/>
              </a:srgbClr>
            </a:outerShdw>
          </a:effectLst>
        </p:spPr>
      </p:sp>
      <p:sp>
        <p:nvSpPr>
          <p:cNvPr id="26" name="click-1"/>
          <p:cNvSpPr/>
          <p:nvPr/>
        </p:nvSpPr>
        <p:spPr>
          <a:xfrm>
            <a:off x="9509760" y="1920240"/>
            <a:ext cx="2103120" cy="411480"/>
          </a:xfrm>
          <a:prstGeom prst="rect">
            <a:avLst/>
          </a:prstGeom>
          <a:noFill/>
          <a:ln/>
        </p:spPr>
        <p:txBody>
          <a:bodyPr wrap="square" lIns="0" tIns="0" rIns="0" bIns="0" rtlCol="0" anchor="ctr"/>
          <a:lstStyle/>
          <a:p>
            <a:pPr algn="ctr" indent="0" marL="0">
              <a:buNone/>
            </a:pPr>
            <a:r>
              <a:rPr lang="en-US" sz="1500" b="1" dirty="0">
                <a:solidFill>
                  <a:srgbClr val="5F7284"/>
                </a:solidFill>
                <a:latin typeface="Calibri" pitchFamily="34" charset="0"/>
                <a:ea typeface="Calibri" pitchFamily="34" charset="-122"/>
                <a:cs typeface="Calibri" pitchFamily="34" charset="-120"/>
              </a:rPr>
              <a:t>Slice 5</a:t>
            </a:r>
            <a:endParaRPr lang="en-US" sz="1500" dirty="0"/>
          </a:p>
        </p:txBody>
      </p:sp>
      <p:sp>
        <p:nvSpPr>
          <p:cNvPr id="27" name="click-1"/>
          <p:cNvSpPr/>
          <p:nvPr/>
        </p:nvSpPr>
        <p:spPr>
          <a:xfrm>
            <a:off x="9646920" y="2377440"/>
            <a:ext cx="1828800" cy="1280160"/>
          </a:xfrm>
          <a:prstGeom prst="rect">
            <a:avLst/>
          </a:prstGeom>
          <a:noFill/>
          <a:ln/>
        </p:spPr>
        <p:txBody>
          <a:bodyPr wrap="square" lIns="0" tIns="0" rIns="0" bIns="0" rtlCol="0" anchor="t"/>
          <a:lstStyle/>
          <a:p>
            <a:pPr algn="ctr" indent="0" marL="0">
              <a:buNone/>
            </a:pPr>
            <a:r>
              <a:rPr lang="en-US" sz="1700" b="1" dirty="0">
                <a:solidFill>
                  <a:srgbClr val="1E2A36"/>
                </a:solidFill>
                <a:latin typeface="Calibri" pitchFamily="34" charset="0"/>
                <a:ea typeface="Calibri" pitchFamily="34" charset="-122"/>
                <a:cs typeface="Calibri" pitchFamily="34" charset="-120"/>
              </a:rPr>
              <a:t>Deploy, 60 items, strike night</a:t>
            </a:r>
            <a:endParaRPr lang="en-US" sz="1700" dirty="0"/>
          </a:p>
        </p:txBody>
      </p:sp>
      <p:sp>
        <p:nvSpPr>
          <p:cNvPr id="28" name="click-1"/>
          <p:cNvSpPr/>
          <p:nvPr/>
        </p:nvSpPr>
        <p:spPr>
          <a:xfrm>
            <a:off x="9829800" y="3794760"/>
            <a:ext cx="1463040" cy="457200"/>
          </a:xfrm>
          <a:prstGeom prst="roundRect">
            <a:avLst>
              <a:gd name="adj" fmla="val 16000"/>
            </a:avLst>
          </a:prstGeom>
          <a:solidFill>
            <a:srgbClr val="5F7284"/>
          </a:solidFill>
          <a:ln/>
        </p:spPr>
      </p:sp>
      <p:sp>
        <p:nvSpPr>
          <p:cNvPr id="29" name="click-1"/>
          <p:cNvSpPr/>
          <p:nvPr/>
        </p:nvSpPr>
        <p:spPr>
          <a:xfrm>
            <a:off x="9829800" y="3794760"/>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Roadmap</a:t>
            </a:r>
            <a:endParaRPr lang="en-US" sz="1600" dirty="0"/>
          </a:p>
        </p:txBody>
      </p:sp>
      <p:sp>
        <p:nvSpPr>
          <p:cNvPr id="30" name="click-2"/>
          <p:cNvSpPr/>
          <p:nvPr/>
        </p:nvSpPr>
        <p:spPr>
          <a:xfrm>
            <a:off x="548640" y="480060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31" name="click-2"/>
          <p:cNvSpPr/>
          <p:nvPr/>
        </p:nvSpPr>
        <p:spPr>
          <a:xfrm>
            <a:off x="868680" y="4800600"/>
            <a:ext cx="10424160" cy="137160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docs/roadmap.md says so, out loud.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What was cut, why, and where a contributor could pick it up. A roadmap isn't where cut work goes to die; it's where the next person finds room.</a:t>
            </a:r>
            <a:endParaRPr lang="en-US" sz="1700" dirty="0"/>
          </a:p>
        </p:txBody>
      </p:sp>
      <p:sp>
        <p:nvSpPr>
          <p:cNvPr id="32" name="Text 3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3" name="Text 3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8" presetID="1"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NOTICING WHAT'S NEW</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How do you know what's still waiting?</a:t>
            </a:r>
            <a:endParaRPr lang="en-US" sz="3100" dirty="0"/>
          </a:p>
        </p:txBody>
      </p:sp>
      <p:sp>
        <p:nvSpPr>
          <p:cNvPr id="5" name="Shape 3"/>
          <p:cNvSpPr/>
          <p:nvPr/>
        </p:nvSpPr>
        <p:spPr>
          <a:xfrm>
            <a:off x="548640" y="1783080"/>
            <a:ext cx="2651760" cy="3017520"/>
          </a:xfrm>
          <a:prstGeom prst="roundRect">
            <a:avLst>
              <a:gd name="adj" fmla="val 3103"/>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65960"/>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25373" y="2114093"/>
            <a:ext cx="252374" cy="252374"/>
          </a:xfrm>
          <a:prstGeom prst="rect">
            <a:avLst/>
          </a:prstGeom>
        </p:spPr>
      </p:pic>
      <p:sp>
        <p:nvSpPr>
          <p:cNvPr id="8" name="Text 5"/>
          <p:cNvSpPr/>
          <p:nvPr/>
        </p:nvSpPr>
        <p:spPr>
          <a:xfrm>
            <a:off x="777240" y="2651760"/>
            <a:ext cx="2240280" cy="7772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 label the forms apply</a:t>
            </a:r>
            <a:endParaRPr lang="en-US" sz="1700" dirty="0"/>
          </a:p>
        </p:txBody>
      </p:sp>
      <p:sp>
        <p:nvSpPr>
          <p:cNvPr id="9" name="Text 6"/>
          <p:cNvSpPr/>
          <p:nvPr/>
        </p:nvSpPr>
        <p:spPr>
          <a:xfrm>
            <a:off x="777240" y="3474720"/>
            <a:ext cx="2240280" cy="1234440"/>
          </a:xfrm>
          <a:prstGeom prst="rect">
            <a:avLst/>
          </a:prstGeom>
          <a:noFill/>
          <a:ln/>
        </p:spPr>
        <p:txBody>
          <a:bodyPr wrap="square" lIns="0" tIns="0" rIns="0" bIns="0" rtlCol="0" anchor="t"/>
          <a:lstStyle/>
          <a:p>
            <a:pPr indent="0" marL="0">
              <a:buNone/>
            </a:pPr>
            <a:r>
              <a:rPr lang="en-US" sz="1500" dirty="0">
                <a:solidFill>
                  <a:srgbClr val="CFE0E9"/>
                </a:solidFill>
                <a:latin typeface="Calibri" pitchFamily="34" charset="0"/>
                <a:ea typeface="Calibri" pitchFamily="34" charset="-122"/>
                <a:cs typeface="Calibri" pitchFamily="34" charset="-120"/>
              </a:rPr>
              <a:t>Removed when a maintainer has read it. Prop Loft's: needs triage.</a:t>
            </a:r>
            <a:endParaRPr lang="en-US" sz="1500" dirty="0"/>
          </a:p>
        </p:txBody>
      </p:sp>
      <p:sp>
        <p:nvSpPr>
          <p:cNvPr id="10" name="Shape 7"/>
          <p:cNvSpPr/>
          <p:nvPr/>
        </p:nvSpPr>
        <p:spPr>
          <a:xfrm>
            <a:off x="3360420" y="1783080"/>
            <a:ext cx="2651760" cy="301752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89020" y="1965960"/>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737153" y="2114093"/>
            <a:ext cx="252374" cy="252374"/>
          </a:xfrm>
          <a:prstGeom prst="rect">
            <a:avLst/>
          </a:prstGeom>
        </p:spPr>
      </p:pic>
      <p:sp>
        <p:nvSpPr>
          <p:cNvPr id="13" name="Text 9"/>
          <p:cNvSpPr/>
          <p:nvPr/>
        </p:nvSpPr>
        <p:spPr>
          <a:xfrm>
            <a:off x="3589020" y="2651760"/>
            <a:ext cx="2240280" cy="77724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A New column</a:t>
            </a:r>
            <a:endParaRPr lang="en-US" sz="1700" dirty="0"/>
          </a:p>
        </p:txBody>
      </p:sp>
      <p:sp>
        <p:nvSpPr>
          <p:cNvPr id="14" name="Text 10"/>
          <p:cNvSpPr/>
          <p:nvPr/>
        </p:nvSpPr>
        <p:spPr>
          <a:xfrm>
            <a:off x="3589020" y="3474720"/>
            <a:ext cx="2240280" cy="123444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Auto-add drops new issues there; the column is the queue.</a:t>
            </a:r>
            <a:endParaRPr lang="en-US" sz="1500" dirty="0"/>
          </a:p>
        </p:txBody>
      </p:sp>
      <p:sp>
        <p:nvSpPr>
          <p:cNvPr id="15" name="Shape 11"/>
          <p:cNvSpPr/>
          <p:nvPr/>
        </p:nvSpPr>
        <p:spPr>
          <a:xfrm>
            <a:off x="6172200" y="1783080"/>
            <a:ext cx="2651760" cy="301752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6400800" y="1965960"/>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6548933" y="2114093"/>
            <a:ext cx="252374" cy="252374"/>
          </a:xfrm>
          <a:prstGeom prst="rect">
            <a:avLst/>
          </a:prstGeom>
        </p:spPr>
      </p:pic>
      <p:sp>
        <p:nvSpPr>
          <p:cNvPr id="18" name="Text 13"/>
          <p:cNvSpPr/>
          <p:nvPr/>
        </p:nvSpPr>
        <p:spPr>
          <a:xfrm>
            <a:off x="6400800" y="2651760"/>
            <a:ext cx="2240280" cy="77724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No labels = untriaged</a:t>
            </a:r>
            <a:endParaRPr lang="en-US" sz="1700" dirty="0"/>
          </a:p>
        </p:txBody>
      </p:sp>
      <p:sp>
        <p:nvSpPr>
          <p:cNvPr id="19" name="Text 14"/>
          <p:cNvSpPr/>
          <p:nvPr/>
        </p:nvSpPr>
        <p:spPr>
          <a:xfrm>
            <a:off x="6400800" y="3474720"/>
            <a:ext cx="2240280" cy="123444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Zero setup. Breaks once forms add labels.</a:t>
            </a:r>
            <a:endParaRPr lang="en-US" sz="1500" dirty="0"/>
          </a:p>
        </p:txBody>
      </p:sp>
      <p:sp>
        <p:nvSpPr>
          <p:cNvPr id="20" name="Shape 15"/>
          <p:cNvSpPr/>
          <p:nvPr/>
        </p:nvSpPr>
        <p:spPr>
          <a:xfrm>
            <a:off x="8983980" y="1783080"/>
            <a:ext cx="2651760" cy="301752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9212580" y="1965960"/>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360713" y="2114093"/>
            <a:ext cx="252374" cy="252374"/>
          </a:xfrm>
          <a:prstGeom prst="rect">
            <a:avLst/>
          </a:prstGeom>
        </p:spPr>
      </p:pic>
      <p:sp>
        <p:nvSpPr>
          <p:cNvPr id="23" name="Text 17"/>
          <p:cNvSpPr/>
          <p:nvPr/>
        </p:nvSpPr>
        <p:spPr>
          <a:xfrm>
            <a:off x="9212580" y="2651760"/>
            <a:ext cx="2240280" cy="777240"/>
          </a:xfrm>
          <a:prstGeom prst="rect">
            <a:avLst/>
          </a:prstGeom>
          <a:noFill/>
          <a:ln/>
        </p:spPr>
        <p:txBody>
          <a:bodyPr wrap="square" lIns="0" tIns="0" rIns="0" bIns="0" rtlCol="0" anchor="t"/>
          <a:lstStyle/>
          <a:p>
            <a:pPr indent="0" marL="0">
              <a:buNone/>
            </a:pPr>
            <a:r>
              <a:rPr lang="en-US" sz="1700" b="1" dirty="0">
                <a:solidFill>
                  <a:srgbClr val="1E2A36"/>
                </a:solidFill>
                <a:latin typeface="Calibri" pitchFamily="34" charset="0"/>
                <a:ea typeface="Calibri" pitchFamily="34" charset="-122"/>
                <a:cs typeface="Calibri" pitchFamily="34" charset="-120"/>
              </a:rPr>
              <a:t>A person and a day</a:t>
            </a:r>
            <a:endParaRPr lang="en-US" sz="1700" dirty="0"/>
          </a:p>
        </p:txBody>
      </p:sp>
      <p:sp>
        <p:nvSpPr>
          <p:cNvPr id="24" name="Text 18"/>
          <p:cNvSpPr/>
          <p:nvPr/>
        </p:nvSpPr>
        <p:spPr>
          <a:xfrm>
            <a:off x="9212580" y="3474720"/>
            <a:ext cx="2240280" cy="1234440"/>
          </a:xfrm>
          <a:prstGeom prst="rect">
            <a:avLst/>
          </a:prstGeom>
          <a:noFill/>
          <a:ln/>
        </p:spPr>
        <p:txBody>
          <a:bodyPr wrap="square" lIns="0" tIns="0" rIns="0" bIns="0" rtlCol="0" anchor="t"/>
          <a:lstStyle/>
          <a:p>
            <a:pPr indent="0" marL="0">
              <a:buNone/>
            </a:pPr>
            <a:r>
              <a:rPr lang="en-US" sz="1500" dirty="0">
                <a:solidFill>
                  <a:srgbClr val="5F7284"/>
                </a:solidFill>
                <a:latin typeface="Calibri" pitchFamily="34" charset="0"/>
                <a:ea typeface="Calibri" pitchFamily="34" charset="-122"/>
                <a:cs typeface="Calibri" pitchFamily="34" charset="-120"/>
              </a:rPr>
              <a:t>Someone reads everything new, every week.</a:t>
            </a:r>
            <a:endParaRPr lang="en-US" sz="1500" dirty="0"/>
          </a:p>
        </p:txBody>
      </p:sp>
      <p:sp>
        <p:nvSpPr>
          <p:cNvPr id="25" name="Shape 19"/>
          <p:cNvSpPr/>
          <p:nvPr/>
        </p:nvSpPr>
        <p:spPr>
          <a:xfrm>
            <a:off x="548640" y="5029200"/>
            <a:ext cx="11064240" cy="1143000"/>
          </a:xfrm>
          <a:prstGeom prst="roundRect">
            <a:avLst>
              <a:gd name="adj" fmla="val 7200"/>
            </a:avLst>
          </a:prstGeom>
          <a:solidFill>
            <a:srgbClr val="FBEEDA"/>
          </a:solidFill>
          <a:ln/>
          <a:effectLst>
            <a:outerShdw sx="100000" sy="100000" kx="0" ky="0" algn="bl" rotWithShape="0" blurRad="88900" dist="38100" dir="5400000">
              <a:srgbClr val="000000">
                <a:alpha val="13000"/>
              </a:srgbClr>
            </a:outerShdw>
          </a:effectLst>
        </p:spPr>
      </p:sp>
      <p:sp>
        <p:nvSpPr>
          <p:cNvPr id="26" name="Text 20"/>
          <p:cNvSpPr/>
          <p:nvPr/>
        </p:nvSpPr>
        <p:spPr>
          <a:xfrm>
            <a:off x="868680" y="5029200"/>
            <a:ext cx="10424160" cy="114300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Using a label?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Create it before a form names it. A form skips labels that don't exist, without a warning. File a test issue to check.</a:t>
            </a:r>
            <a:endParaRPr lang="en-US" sz="1700" dirty="0"/>
          </a:p>
        </p:txBody>
      </p:sp>
      <p:sp>
        <p:nvSpPr>
          <p:cNvPr id="27"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28"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BOARD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Columns are the states your work actually passes through</a:t>
            </a:r>
            <a:endParaRPr lang="en-US" sz="3100" dirty="0"/>
          </a:p>
        </p:txBody>
      </p:sp>
      <p:sp>
        <p:nvSpPr>
          <p:cNvPr id="5" name="Shape 3"/>
          <p:cNvSpPr/>
          <p:nvPr/>
        </p:nvSpPr>
        <p:spPr>
          <a:xfrm>
            <a:off x="548640" y="1783080"/>
            <a:ext cx="2103120" cy="3246120"/>
          </a:xfrm>
          <a:prstGeom prst="roundRect">
            <a:avLst>
              <a:gd name="adj" fmla="val 3478"/>
            </a:avLst>
          </a:prstGeom>
          <a:solidFill>
            <a:srgbClr val="F2F6F8"/>
          </a:solidFill>
          <a:ln/>
        </p:spPr>
      </p:sp>
      <p:sp>
        <p:nvSpPr>
          <p:cNvPr id="6" name="Text 4"/>
          <p:cNvSpPr/>
          <p:nvPr/>
        </p:nvSpPr>
        <p:spPr>
          <a:xfrm>
            <a:off x="685800" y="1847088"/>
            <a:ext cx="1828800" cy="45720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Backlog</a:t>
            </a:r>
            <a:endParaRPr lang="en-US" sz="1700" dirty="0"/>
          </a:p>
        </p:txBody>
      </p:sp>
      <p:sp>
        <p:nvSpPr>
          <p:cNvPr id="7" name="Shape 5"/>
          <p:cNvSpPr/>
          <p:nvPr/>
        </p:nvSpPr>
        <p:spPr>
          <a:xfrm>
            <a:off x="658368" y="2377440"/>
            <a:ext cx="1883664" cy="804672"/>
          </a:xfrm>
          <a:prstGeom prst="roundRect">
            <a:avLst>
              <a:gd name="adj" fmla="val 10227"/>
            </a:avLst>
          </a:prstGeom>
          <a:solidFill>
            <a:srgbClr val="FFFFFF"/>
          </a:solidFill>
          <a:ln/>
          <a:effectLst>
            <a:outerShdw sx="100000" sy="100000" kx="0" ky="0" algn="bl" rotWithShape="0" blurRad="88900" dist="38100" dir="5400000">
              <a:srgbClr val="000000">
                <a:alpha val="13000"/>
              </a:srgbClr>
            </a:outerShdw>
          </a:effectLst>
        </p:spPr>
      </p:sp>
      <p:sp>
        <p:nvSpPr>
          <p:cNvPr id="8" name="Text 6"/>
          <p:cNvSpPr/>
          <p:nvPr/>
        </p:nvSpPr>
        <p:spPr>
          <a:xfrm>
            <a:off x="777240" y="2377440"/>
            <a:ext cx="1645920" cy="804672"/>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Check an item out from its page</a:t>
            </a:r>
            <a:endParaRPr lang="en-US" sz="1500" dirty="0"/>
          </a:p>
        </p:txBody>
      </p:sp>
      <p:sp>
        <p:nvSpPr>
          <p:cNvPr id="9" name="Shape 7"/>
          <p:cNvSpPr/>
          <p:nvPr/>
        </p:nvSpPr>
        <p:spPr>
          <a:xfrm>
            <a:off x="658368" y="3291840"/>
            <a:ext cx="1883664" cy="804672"/>
          </a:xfrm>
          <a:prstGeom prst="roundRect">
            <a:avLst>
              <a:gd name="adj" fmla="val 10227"/>
            </a:avLst>
          </a:prstGeom>
          <a:solidFill>
            <a:srgbClr val="FFFFFF"/>
          </a:solidFill>
          <a:ln/>
          <a:effectLst>
            <a:outerShdw sx="100000" sy="100000" kx="0" ky="0" algn="bl" rotWithShape="0" blurRad="88900" dist="38100" dir="5400000">
              <a:srgbClr val="000000">
                <a:alpha val="13000"/>
              </a:srgbClr>
            </a:outerShdw>
          </a:effectLst>
        </p:spPr>
      </p:sp>
      <p:sp>
        <p:nvSpPr>
          <p:cNvPr id="10" name="Text 8"/>
          <p:cNvSpPr/>
          <p:nvPr/>
        </p:nvSpPr>
        <p:spPr>
          <a:xfrm>
            <a:off x="777240" y="3291840"/>
            <a:ext cx="1645920" cy="804672"/>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Record a return</a:t>
            </a:r>
            <a:endParaRPr lang="en-US" sz="1500" dirty="0"/>
          </a:p>
        </p:txBody>
      </p:sp>
      <p:sp>
        <p:nvSpPr>
          <p:cNvPr id="11" name="Shape 9"/>
          <p:cNvSpPr/>
          <p:nvPr/>
        </p:nvSpPr>
        <p:spPr>
          <a:xfrm>
            <a:off x="2788920" y="1783080"/>
            <a:ext cx="2103120" cy="3246120"/>
          </a:xfrm>
          <a:prstGeom prst="roundRect">
            <a:avLst>
              <a:gd name="adj" fmla="val 3478"/>
            </a:avLst>
          </a:prstGeom>
          <a:solidFill>
            <a:srgbClr val="F2F6F8"/>
          </a:solidFill>
          <a:ln/>
        </p:spPr>
      </p:sp>
      <p:sp>
        <p:nvSpPr>
          <p:cNvPr id="12" name="Text 10"/>
          <p:cNvSpPr/>
          <p:nvPr/>
        </p:nvSpPr>
        <p:spPr>
          <a:xfrm>
            <a:off x="2926080" y="1847088"/>
            <a:ext cx="1828800" cy="45720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Ready</a:t>
            </a:r>
            <a:endParaRPr lang="en-US" sz="1700" dirty="0"/>
          </a:p>
        </p:txBody>
      </p:sp>
      <p:sp>
        <p:nvSpPr>
          <p:cNvPr id="13" name="Shape 11"/>
          <p:cNvSpPr/>
          <p:nvPr/>
        </p:nvSpPr>
        <p:spPr>
          <a:xfrm>
            <a:off x="2898648" y="2377440"/>
            <a:ext cx="1883664" cy="804672"/>
          </a:xfrm>
          <a:prstGeom prst="roundRect">
            <a:avLst>
              <a:gd name="adj" fmla="val 10227"/>
            </a:avLst>
          </a:prstGeom>
          <a:solidFill>
            <a:srgbClr val="FFFFFF"/>
          </a:solidFill>
          <a:ln/>
          <a:effectLst>
            <a:outerShdw sx="100000" sy="100000" kx="0" ky="0" algn="bl" rotWithShape="0" blurRad="88900" dist="38100" dir="5400000">
              <a:srgbClr val="000000">
                <a:alpha val="13000"/>
              </a:srgbClr>
            </a:outerShdw>
          </a:effectLst>
        </p:spPr>
      </p:sp>
      <p:sp>
        <p:nvSpPr>
          <p:cNvPr id="14" name="Text 12"/>
          <p:cNvSpPr/>
          <p:nvPr/>
        </p:nvSpPr>
        <p:spPr>
          <a:xfrm>
            <a:off x="3017520" y="2377440"/>
            <a:ext cx="1645920" cy="804672"/>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Show an item's detail page</a:t>
            </a:r>
            <a:endParaRPr lang="en-US" sz="1500" dirty="0"/>
          </a:p>
        </p:txBody>
      </p:sp>
      <p:sp>
        <p:nvSpPr>
          <p:cNvPr id="15" name="Shape 13"/>
          <p:cNvSpPr/>
          <p:nvPr/>
        </p:nvSpPr>
        <p:spPr>
          <a:xfrm>
            <a:off x="2898648" y="3291840"/>
            <a:ext cx="1883664" cy="804672"/>
          </a:xfrm>
          <a:prstGeom prst="roundRect">
            <a:avLst>
              <a:gd name="adj" fmla="val 10227"/>
            </a:avLst>
          </a:prstGeom>
          <a:solidFill>
            <a:srgbClr val="FFFFFF"/>
          </a:solidFill>
          <a:ln/>
          <a:effectLst>
            <a:outerShdw sx="100000" sy="100000" kx="0" ky="0" algn="bl" rotWithShape="0" blurRad="88900" dist="38100" dir="5400000">
              <a:srgbClr val="000000">
                <a:alpha val="13000"/>
              </a:srgbClr>
            </a:outerShdw>
          </a:effectLst>
        </p:spPr>
      </p:sp>
      <p:sp>
        <p:nvSpPr>
          <p:cNvPr id="16" name="Text 14"/>
          <p:cNvSpPr/>
          <p:nvPr/>
        </p:nvSpPr>
        <p:spPr>
          <a:xfrm>
            <a:off x="3017520" y="3291840"/>
            <a:ext cx="1645920" cy="804672"/>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Record checkouts</a:t>
            </a:r>
            <a:endParaRPr lang="en-US" sz="1500" dirty="0"/>
          </a:p>
        </p:txBody>
      </p:sp>
      <p:sp>
        <p:nvSpPr>
          <p:cNvPr id="17" name="Shape 15"/>
          <p:cNvSpPr/>
          <p:nvPr/>
        </p:nvSpPr>
        <p:spPr>
          <a:xfrm>
            <a:off x="5029200" y="1783080"/>
            <a:ext cx="2103120" cy="3246120"/>
          </a:xfrm>
          <a:prstGeom prst="roundRect">
            <a:avLst>
              <a:gd name="adj" fmla="val 3478"/>
            </a:avLst>
          </a:prstGeom>
          <a:solidFill>
            <a:srgbClr val="F2F6F8"/>
          </a:solidFill>
          <a:ln/>
        </p:spPr>
      </p:sp>
      <p:sp>
        <p:nvSpPr>
          <p:cNvPr id="18" name="Text 16"/>
          <p:cNvSpPr/>
          <p:nvPr/>
        </p:nvSpPr>
        <p:spPr>
          <a:xfrm>
            <a:off x="5166360" y="1847088"/>
            <a:ext cx="1828800" cy="45720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In progress</a:t>
            </a:r>
            <a:endParaRPr lang="en-US" sz="1700" dirty="0"/>
          </a:p>
        </p:txBody>
      </p:sp>
      <p:sp>
        <p:nvSpPr>
          <p:cNvPr id="19" name="Shape 17"/>
          <p:cNvSpPr/>
          <p:nvPr/>
        </p:nvSpPr>
        <p:spPr>
          <a:xfrm>
            <a:off x="5138928" y="2377440"/>
            <a:ext cx="1883664" cy="804672"/>
          </a:xfrm>
          <a:prstGeom prst="roundRect">
            <a:avLst>
              <a:gd name="adj" fmla="val 10227"/>
            </a:avLst>
          </a:prstGeom>
          <a:solidFill>
            <a:srgbClr val="FFFFFF"/>
          </a:solidFill>
          <a:ln/>
          <a:effectLst>
            <a:outerShdw sx="100000" sy="100000" kx="0" ky="0" algn="bl" rotWithShape="0" blurRad="88900" dist="38100" dir="5400000">
              <a:srgbClr val="000000">
                <a:alpha val="13000"/>
              </a:srgbClr>
            </a:outerShdw>
          </a:effectLst>
        </p:spPr>
      </p:sp>
      <p:sp>
        <p:nvSpPr>
          <p:cNvPr id="20" name="Text 18"/>
          <p:cNvSpPr/>
          <p:nvPr/>
        </p:nvSpPr>
        <p:spPr>
          <a:xfrm>
            <a:off x="5257800" y="2377440"/>
            <a:ext cx="1645920" cy="804672"/>
          </a:xfrm>
          <a:prstGeom prst="rect">
            <a:avLst/>
          </a:prstGeom>
          <a:noFill/>
          <a:ln/>
        </p:spPr>
        <p:txBody>
          <a:bodyPr wrap="square" lIns="0" tIns="0" rIns="0" bIns="0" rtlCol="0" anchor="ctr"/>
          <a:lstStyle/>
          <a:p>
            <a:pPr indent="0" marL="0">
              <a:buNone/>
            </a:pPr>
            <a:r>
              <a:rPr lang="en-US" sz="1500" dirty="0">
                <a:solidFill>
                  <a:srgbClr val="1E2A36"/>
                </a:solidFill>
                <a:latin typeface="Calibri" pitchFamily="34" charset="0"/>
                <a:ea typeface="Calibri" pitchFamily="34" charset="-122"/>
                <a:cs typeface="Calibri" pitchFamily="34" charset="-120"/>
              </a:rPr>
              <a:t>Search items by name</a:t>
            </a:r>
            <a:endParaRPr lang="en-US" sz="1500" dirty="0"/>
          </a:p>
        </p:txBody>
      </p:sp>
      <p:sp>
        <p:nvSpPr>
          <p:cNvPr id="21" name="Shape 19"/>
          <p:cNvSpPr/>
          <p:nvPr/>
        </p:nvSpPr>
        <p:spPr>
          <a:xfrm>
            <a:off x="7269480" y="1783080"/>
            <a:ext cx="2103120" cy="3246120"/>
          </a:xfrm>
          <a:prstGeom prst="roundRect">
            <a:avLst>
              <a:gd name="adj" fmla="val 3478"/>
            </a:avLst>
          </a:prstGeom>
          <a:solidFill>
            <a:srgbClr val="FBEEDA"/>
          </a:solidFill>
          <a:ln/>
        </p:spPr>
      </p:sp>
      <p:sp>
        <p:nvSpPr>
          <p:cNvPr id="22" name="Text 20"/>
          <p:cNvSpPr/>
          <p:nvPr/>
        </p:nvSpPr>
        <p:spPr>
          <a:xfrm>
            <a:off x="7406640" y="1847088"/>
            <a:ext cx="182880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In review</a:t>
            </a:r>
            <a:endParaRPr lang="en-US" sz="1700" dirty="0"/>
          </a:p>
        </p:txBody>
      </p:sp>
      <p:sp>
        <p:nvSpPr>
          <p:cNvPr id="23" name="Text 21"/>
          <p:cNvSpPr/>
          <p:nvPr/>
        </p:nvSpPr>
        <p:spPr>
          <a:xfrm>
            <a:off x="7406640" y="2468880"/>
            <a:ext cx="1828800" cy="1097280"/>
          </a:xfrm>
          <a:prstGeom prst="rect">
            <a:avLst/>
          </a:prstGeom>
          <a:noFill/>
          <a:ln/>
        </p:spPr>
        <p:txBody>
          <a:bodyPr wrap="square" lIns="0" tIns="0" rIns="0" bIns="0" rtlCol="0" anchor="t"/>
          <a:lstStyle/>
          <a:p>
            <a:pPr indent="0" marL="0">
              <a:buNone/>
            </a:pPr>
            <a:r>
              <a:rPr lang="en-US" sz="1500" i="1" dirty="0">
                <a:solidFill>
                  <a:srgbClr val="5F7284"/>
                </a:solidFill>
                <a:latin typeface="Calibri" pitchFamily="34" charset="0"/>
                <a:ea typeface="Calibri" pitchFamily="34" charset="-122"/>
                <a:cs typeface="Calibri" pitchFamily="34" charset="-120"/>
              </a:rPr>
              <a:t>Your review policy lives here</a:t>
            </a:r>
            <a:endParaRPr lang="en-US" sz="1500" dirty="0"/>
          </a:p>
        </p:txBody>
      </p:sp>
      <p:sp>
        <p:nvSpPr>
          <p:cNvPr id="24" name="Shape 22"/>
          <p:cNvSpPr/>
          <p:nvPr/>
        </p:nvSpPr>
        <p:spPr>
          <a:xfrm>
            <a:off x="9509760" y="1783080"/>
            <a:ext cx="2103120" cy="3246120"/>
          </a:xfrm>
          <a:prstGeom prst="roundRect">
            <a:avLst>
              <a:gd name="adj" fmla="val 3478"/>
            </a:avLst>
          </a:prstGeom>
          <a:solidFill>
            <a:srgbClr val="F2F6F8"/>
          </a:solidFill>
          <a:ln/>
        </p:spPr>
      </p:sp>
      <p:sp>
        <p:nvSpPr>
          <p:cNvPr id="25" name="Text 23"/>
          <p:cNvSpPr/>
          <p:nvPr/>
        </p:nvSpPr>
        <p:spPr>
          <a:xfrm>
            <a:off x="9646920" y="1847088"/>
            <a:ext cx="1828800" cy="45720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Done</a:t>
            </a:r>
            <a:endParaRPr lang="en-US" sz="1700" dirty="0"/>
          </a:p>
        </p:txBody>
      </p:sp>
      <p:sp>
        <p:nvSpPr>
          <p:cNvPr id="26" name="Text 24"/>
          <p:cNvSpPr/>
          <p:nvPr/>
        </p:nvSpPr>
        <p:spPr>
          <a:xfrm>
            <a:off x="9646920" y="2468880"/>
            <a:ext cx="1828800" cy="1280160"/>
          </a:xfrm>
          <a:prstGeom prst="rect">
            <a:avLst/>
          </a:prstGeom>
          <a:noFill/>
          <a:ln/>
        </p:spPr>
        <p:txBody>
          <a:bodyPr wrap="square" lIns="0" tIns="0" rIns="0" bIns="0" rtlCol="0" anchor="t"/>
          <a:lstStyle/>
          <a:p>
            <a:pPr indent="0" marL="0">
              <a:buNone/>
            </a:pPr>
            <a:r>
              <a:rPr lang="en-US" sz="1500" i="1" dirty="0">
                <a:solidFill>
                  <a:srgbClr val="5F7284"/>
                </a:solidFill>
                <a:latin typeface="Calibri" pitchFamily="34" charset="0"/>
                <a:ea typeface="Calibri" pitchFamily="34" charset="-122"/>
                <a:cs typeface="Calibri" pitchFamily="34" charset="-120"/>
              </a:rPr>
              <a:t>Fills itself: closed issues and merged PRs move here</a:t>
            </a:r>
            <a:endParaRPr lang="en-US" sz="1500" dirty="0"/>
          </a:p>
        </p:txBody>
      </p:sp>
      <p:sp>
        <p:nvSpPr>
          <p:cNvPr id="27" name="click-1"/>
          <p:cNvSpPr/>
          <p:nvPr/>
        </p:nvSpPr>
        <p:spPr>
          <a:xfrm>
            <a:off x="548640" y="525780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28" name="click-1"/>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Default columns.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Change them to fit how your project works, but keep a review state. Ready means acceptance criteria are written.</a:t>
            </a:r>
            <a:endParaRPr lang="en-US" sz="1700" dirty="0"/>
          </a:p>
        </p:txBody>
      </p:sp>
      <p:sp>
        <p:nvSpPr>
          <p:cNvPr id="29" name="Text 2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0" name="Text 2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SETTING IT UP · LIVE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steps, at your organization</a:t>
            </a:r>
            <a:endParaRPr lang="en-US" sz="3100" dirty="0"/>
          </a:p>
        </p:txBody>
      </p:sp>
      <p:sp>
        <p:nvSpPr>
          <p:cNvPr id="5" name="Shape 3"/>
          <p:cNvSpPr/>
          <p:nvPr/>
        </p:nvSpPr>
        <p:spPr>
          <a:xfrm>
            <a:off x="548640" y="1783080"/>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31520" y="1901952"/>
            <a:ext cx="457200" cy="457200"/>
          </a:xfrm>
          <a:prstGeom prst="ellipse">
            <a:avLst/>
          </a:prstGeom>
          <a:solidFill>
            <a:srgbClr val="12908F"/>
          </a:solidFill>
          <a:ln/>
        </p:spPr>
      </p:sp>
      <p:sp>
        <p:nvSpPr>
          <p:cNvPr id="7" name="Text 5"/>
          <p:cNvSpPr/>
          <p:nvPr/>
        </p:nvSpPr>
        <p:spPr>
          <a:xfrm>
            <a:off x="731520" y="19019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71600" y="1783080"/>
            <a:ext cx="301752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Create it</a:t>
            </a:r>
            <a:endParaRPr lang="en-US" sz="1700" dirty="0"/>
          </a:p>
        </p:txBody>
      </p:sp>
      <p:sp>
        <p:nvSpPr>
          <p:cNvPr id="9" name="Text 7"/>
          <p:cNvSpPr/>
          <p:nvPr/>
        </p:nvSpPr>
        <p:spPr>
          <a:xfrm>
            <a:off x="4389120" y="1783080"/>
            <a:ext cx="704088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Org → Projects → New project → Board. Check Import items from repository.</a:t>
            </a:r>
            <a:endParaRPr lang="en-US" sz="1550" dirty="0"/>
          </a:p>
        </p:txBody>
      </p:sp>
      <p:sp>
        <p:nvSpPr>
          <p:cNvPr id="10" name="Shape 8"/>
          <p:cNvSpPr/>
          <p:nvPr/>
        </p:nvSpPr>
        <p:spPr>
          <a:xfrm>
            <a:off x="548640" y="2569464"/>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31520" y="2688336"/>
            <a:ext cx="457200" cy="457200"/>
          </a:xfrm>
          <a:prstGeom prst="ellipse">
            <a:avLst/>
          </a:prstGeom>
          <a:solidFill>
            <a:srgbClr val="12908F"/>
          </a:solidFill>
          <a:ln/>
        </p:spPr>
      </p:sp>
      <p:sp>
        <p:nvSpPr>
          <p:cNvPr id="12" name="Text 10"/>
          <p:cNvSpPr/>
          <p:nvPr/>
        </p:nvSpPr>
        <p:spPr>
          <a:xfrm>
            <a:off x="731520" y="268833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71600" y="2569464"/>
            <a:ext cx="301752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Set the columns</a:t>
            </a:r>
            <a:endParaRPr lang="en-US" sz="1700" dirty="0"/>
          </a:p>
        </p:txBody>
      </p:sp>
      <p:sp>
        <p:nvSpPr>
          <p:cNvPr id="14" name="Text 12"/>
          <p:cNvSpPr/>
          <p:nvPr/>
        </p:nvSpPr>
        <p:spPr>
          <a:xfrm>
            <a:off x="4389120" y="2569464"/>
            <a:ext cx="704088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They're the Status field's options. Edit them from any column's ⋯ menu.</a:t>
            </a:r>
            <a:endParaRPr lang="en-US" sz="1550" dirty="0"/>
          </a:p>
        </p:txBody>
      </p:sp>
      <p:sp>
        <p:nvSpPr>
          <p:cNvPr id="15" name="Shape 13"/>
          <p:cNvSpPr/>
          <p:nvPr/>
        </p:nvSpPr>
        <p:spPr>
          <a:xfrm>
            <a:off x="548640" y="3355848"/>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31520" y="3474720"/>
            <a:ext cx="457200" cy="457200"/>
          </a:xfrm>
          <a:prstGeom prst="ellipse">
            <a:avLst/>
          </a:prstGeom>
          <a:solidFill>
            <a:srgbClr val="12908F"/>
          </a:solidFill>
          <a:ln/>
        </p:spPr>
      </p:sp>
      <p:sp>
        <p:nvSpPr>
          <p:cNvPr id="17" name="Text 15"/>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71600" y="3355848"/>
            <a:ext cx="301752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Set up the workflows</a:t>
            </a:r>
            <a:endParaRPr lang="en-US" sz="1700" dirty="0"/>
          </a:p>
        </p:txBody>
      </p:sp>
      <p:sp>
        <p:nvSpPr>
          <p:cNvPr id="19" name="Text 17"/>
          <p:cNvSpPr/>
          <p:nvPr/>
        </p:nvSpPr>
        <p:spPr>
          <a:xfrm>
            <a:off x="4389120" y="3355848"/>
            <a:ext cx="704088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Workflows: auto-add is:issue is:open; new items → Backlog; closed and merged → Done.</a:t>
            </a:r>
            <a:endParaRPr lang="en-US" sz="1550" dirty="0"/>
          </a:p>
        </p:txBody>
      </p:sp>
      <p:sp>
        <p:nvSpPr>
          <p:cNvPr id="20" name="Shape 18"/>
          <p:cNvSpPr/>
          <p:nvPr/>
        </p:nvSpPr>
        <p:spPr>
          <a:xfrm>
            <a:off x="548640" y="4142232"/>
            <a:ext cx="11064240" cy="694944"/>
          </a:xfrm>
          <a:prstGeom prst="roundRect">
            <a:avLst>
              <a:gd name="adj" fmla="val 11842"/>
            </a:avLst>
          </a:prstGeom>
          <a:solidFill>
            <a:srgbClr val="14233A"/>
          </a:solidFill>
          <a:ln/>
          <a:effectLst>
            <a:outerShdw sx="100000" sy="100000" kx="0" ky="0" algn="bl" rotWithShape="0" blurRad="88900" dist="38100" dir="5400000">
              <a:srgbClr val="000000">
                <a:alpha val="13000"/>
              </a:srgbClr>
            </a:outerShdw>
          </a:effectLst>
        </p:spPr>
      </p:sp>
      <p:sp>
        <p:nvSpPr>
          <p:cNvPr id="21" name="Shape 19"/>
          <p:cNvSpPr/>
          <p:nvPr/>
        </p:nvSpPr>
        <p:spPr>
          <a:xfrm>
            <a:off x="731520" y="4261104"/>
            <a:ext cx="457200" cy="457200"/>
          </a:xfrm>
          <a:prstGeom prst="ellipse">
            <a:avLst/>
          </a:prstGeom>
          <a:solidFill>
            <a:srgbClr val="E8A33D"/>
          </a:solidFill>
          <a:ln/>
        </p:spPr>
      </p:sp>
      <p:sp>
        <p:nvSpPr>
          <p:cNvPr id="22" name="Text 20"/>
          <p:cNvSpPr/>
          <p:nvPr/>
        </p:nvSpPr>
        <p:spPr>
          <a:xfrm>
            <a:off x="731520" y="4261104"/>
            <a:ext cx="457200" cy="457200"/>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371600" y="4142232"/>
            <a:ext cx="3017520" cy="694944"/>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Make it public, then link it</a:t>
            </a:r>
            <a:endParaRPr lang="en-US" sz="1700" dirty="0"/>
          </a:p>
        </p:txBody>
      </p:sp>
      <p:sp>
        <p:nvSpPr>
          <p:cNvPr id="24" name="Text 22"/>
          <p:cNvSpPr/>
          <p:nvPr/>
        </p:nvSpPr>
        <p:spPr>
          <a:xfrm>
            <a:off x="4389120" y="4142232"/>
            <a:ext cx="7040880" cy="694944"/>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 new project is private, even in a public org. Then repo → Projects → Link a project.</a:t>
            </a:r>
            <a:endParaRPr lang="en-US" sz="1550" dirty="0"/>
          </a:p>
        </p:txBody>
      </p:sp>
      <p:sp>
        <p:nvSpPr>
          <p:cNvPr id="25" name="Shape 23"/>
          <p:cNvSpPr/>
          <p:nvPr/>
        </p:nvSpPr>
        <p:spPr>
          <a:xfrm>
            <a:off x="548640" y="4928616"/>
            <a:ext cx="11064240" cy="694944"/>
          </a:xfrm>
          <a:prstGeom prst="roundRect">
            <a:avLst>
              <a:gd name="adj" fmla="val 11842"/>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31520" y="5047488"/>
            <a:ext cx="457200" cy="457200"/>
          </a:xfrm>
          <a:prstGeom prst="ellipse">
            <a:avLst/>
          </a:prstGeom>
          <a:solidFill>
            <a:srgbClr val="12908F"/>
          </a:solidFill>
          <a:ln/>
        </p:spPr>
      </p:sp>
      <p:sp>
        <p:nvSpPr>
          <p:cNvPr id="27" name="Text 25"/>
          <p:cNvSpPr/>
          <p:nvPr/>
        </p:nvSpPr>
        <p:spPr>
          <a:xfrm>
            <a:off x="731520" y="50474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371600" y="4928616"/>
            <a:ext cx="3017520" cy="694944"/>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Add two views</a:t>
            </a:r>
            <a:endParaRPr lang="en-US" sz="1700" dirty="0"/>
          </a:p>
        </p:txBody>
      </p:sp>
      <p:sp>
        <p:nvSpPr>
          <p:cNvPr id="29" name="Text 27"/>
          <p:cNvSpPr/>
          <p:nvPr/>
        </p:nvSpPr>
        <p:spPr>
          <a:xfrm>
            <a:off x="4389120" y="4928616"/>
            <a:ext cx="7040880" cy="694944"/>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Swimlanes by milestone (what's left?) and by parent issue (how's each epic?). Save each.</a:t>
            </a:r>
            <a:endParaRPr lang="en-US" sz="1550" dirty="0"/>
          </a:p>
        </p:txBody>
      </p:sp>
      <p:sp>
        <p:nvSpPr>
          <p:cNvPr id="30" name="Text 28"/>
          <p:cNvSpPr/>
          <p:nvPr/>
        </p:nvSpPr>
        <p:spPr>
          <a:xfrm>
            <a:off x="548640" y="5779008"/>
            <a:ext cx="11064240" cy="45720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Every step, with screenshots: Canvas → Course Resources → Setting Up Your Board.</a:t>
            </a:r>
            <a:endParaRPr lang="en-US" sz="1500" dirty="0"/>
          </a:p>
        </p:txBody>
      </p:sp>
      <p:sp>
        <p:nvSpPr>
          <p:cNvPr id="31" name="Text 2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32"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 WAY IN FOR A NEWCOMER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or three real starting points</a:t>
            </a:r>
            <a:endParaRPr lang="en-US" sz="3100" dirty="0"/>
          </a:p>
        </p:txBody>
      </p:sp>
      <p:sp>
        <p:nvSpPr>
          <p:cNvPr id="5" name="Text 3"/>
          <p:cNvSpPr/>
          <p:nvPr/>
        </p:nvSpPr>
        <p:spPr>
          <a:xfrm>
            <a:off x="548640" y="1691640"/>
            <a:ext cx="6309360" cy="32004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Prop Loft · a good first issue</a:t>
            </a:r>
            <a:endParaRPr lang="en-US" sz="1500" dirty="0"/>
          </a:p>
        </p:txBody>
      </p:sp>
      <p:sp>
        <p:nvSpPr>
          <p:cNvPr id="6" name="Shape 4"/>
          <p:cNvSpPr/>
          <p:nvPr/>
        </p:nvSpPr>
        <p:spPr>
          <a:xfrm>
            <a:off x="548640" y="2057400"/>
            <a:ext cx="6309360" cy="3063240"/>
          </a:xfrm>
          <a:prstGeom prst="roundRect">
            <a:avLst>
              <a:gd name="adj" fmla="val 238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5760720" cy="2734056"/>
          </a:xfrm>
          <a:prstGeom prst="rect">
            <a:avLst/>
          </a:prstGeom>
          <a:noFill/>
          <a:ln/>
        </p:spPr>
        <p:txBody>
          <a:bodyPr wrap="square" lIns="0" tIns="0" rIns="0" bIns="0" rtlCol="0" anchor="t"/>
          <a:lstStyle/>
          <a:p>
            <a:pPr indent="0" marL="0">
              <a:lnSpc>
                <a:spcPct val="105000"/>
              </a:lnSpc>
              <a:buNone/>
            </a:pPr>
            <a:r>
              <a:rPr lang="en-US" sz="1450" dirty="0">
                <a:solidFill>
                  <a:srgbClr val="E8A33D"/>
                </a:solidFill>
                <a:latin typeface="Consolas" pitchFamily="34" charset="0"/>
                <a:ea typeface="Consolas" pitchFamily="34" charset="-122"/>
                <a:cs typeface="Consolas" pitchFamily="34" charset="-120"/>
              </a:rPr>
              <a:t>Show an item's detail page</a:t>
            </a:r>
            <a:endParaRPr lang="en-US" sz="1450" dirty="0"/>
          </a:p>
          <a:p>
            <a:pPr indent="0" marL="0">
              <a:lnSpc>
                <a:spcPct val="105000"/>
              </a:lnSpc>
              <a:buNone/>
            </a:pPr>
            <a:r>
              <a:rPr lang="en-US" sz="1450" dirty="0">
                <a:solidFill>
                  <a:srgbClr val="9FE0B5"/>
                </a:solidFill>
                <a:latin typeface="Consolas" pitchFamily="34" charset="0"/>
                <a:ea typeface="Consolas" pitchFamily="34" charset="-122"/>
                <a:cs typeface="Consolas" pitchFamily="34" charset="-120"/>
              </a:rPr>
              <a:t>good first issue</a:t>
            </a:r>
            <a:endParaRPr lang="en-US" sz="1450" dirty="0"/>
          </a:p>
          <a:p>
            <a:pPr indent="0" marL="0">
              <a:lnSpc>
                <a:spcPct val="105000"/>
              </a:lnSpc>
              <a:buNone/>
            </a:pPr>
            <a:r>
              <a:rPr lang="en-US" sz="1450" dirty="0">
                <a:solidFill>
                  <a:srgbClr val="9FB4C7"/>
                </a:solidFill>
                <a:latin typeface="Consolas" pitchFamily="34" charset="0"/>
                <a:ea typeface="Consolas" pitchFamily="34" charset="-122"/>
                <a:cs typeface="Consolas" pitchFamily="34" charset="-120"/>
              </a:rPr>
              <a:t>Where to start</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 view beside item_list in</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catalog/views.py (get_object_or_404)</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Its URL; a template next to the list's</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A test modeled on ItemListTests,</a:t>
            </a:r>
            <a:endParaRPr lang="en-US" sz="1450" dirty="0"/>
          </a:p>
          <a:p>
            <a:pPr indent="0" marL="0">
              <a:lnSpc>
                <a:spcPct val="105000"/>
              </a:lnSpc>
              <a:buNone/>
            </a:pPr>
            <a:r>
              <a:rPr lang="en-US" sz="1450" dirty="0">
                <a:solidFill>
                  <a:srgbClr val="E8EEF3"/>
                </a:solidFill>
                <a:latin typeface="Consolas" pitchFamily="34" charset="0"/>
                <a:ea typeface="Consolas" pitchFamily="34" charset="-122"/>
                <a:cs typeface="Consolas" pitchFamily="34" charset="-120"/>
              </a:rPr>
              <a:t>  plus one for a missing item (404)</a:t>
            </a:r>
            <a:endParaRPr lang="en-US" sz="1450" dirty="0"/>
          </a:p>
        </p:txBody>
      </p:sp>
      <p:sp>
        <p:nvSpPr>
          <p:cNvPr id="8" name="Shape 6"/>
          <p:cNvSpPr/>
          <p:nvPr/>
        </p:nvSpPr>
        <p:spPr>
          <a:xfrm>
            <a:off x="7086600" y="1783080"/>
            <a:ext cx="452628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7315200" y="1783080"/>
            <a:ext cx="4114800" cy="1024128"/>
          </a:xfrm>
          <a:prstGeom prst="rect">
            <a:avLst/>
          </a:prstGeom>
          <a:noFill/>
          <a:ln/>
        </p:spPr>
        <p:txBody>
          <a:bodyPr wrap="square" lIns="0" tIns="0" rIns="0" bIns="0" rtlCol="0" anchor="ctr"/>
          <a:lstStyle/>
          <a:p>
            <a:pPr indent="0" marL="0">
              <a:lnSpc>
                <a:spcPct val="102000"/>
              </a:lnSpc>
              <a:buNone/>
            </a:pPr>
            <a:r>
              <a:rPr lang="en-US" sz="1700" b="1" dirty="0">
                <a:solidFill>
                  <a:srgbClr val="1E2A36"/>
                </a:solidFill>
                <a:latin typeface="Calibri" pitchFamily="34" charset="0"/>
                <a:ea typeface="Calibri" pitchFamily="34" charset="-122"/>
                <a:cs typeface="Calibri" pitchFamily="34" charset="-120"/>
              </a:rPr>
              <a:t>Small, and needs no history</a:t>
            </a:r>
            <a:endParaRPr lang="en-US" sz="1700" dirty="0"/>
          </a:p>
          <a:p>
            <a:pPr indent="0" marL="0">
              <a:lnSpc>
                <a:spcPct val="102000"/>
              </a:lnSpc>
              <a:buNone/>
            </a:pPr>
            <a:r>
              <a:rPr lang="en-US" sz="1500" dirty="0">
                <a:solidFill>
                  <a:srgbClr val="5F7284"/>
                </a:solidFill>
                <a:latin typeface="Calibri" pitchFamily="34" charset="0"/>
                <a:ea typeface="Calibri" pitchFamily="34" charset="-122"/>
                <a:cs typeface="Calibri" pitchFamily="34" charset="-120"/>
              </a:rPr>
              <a:t>A newcomer shouldn't need to know why things are the way they are.</a:t>
            </a:r>
            <a:endParaRPr lang="en-US" sz="1700" dirty="0"/>
          </a:p>
        </p:txBody>
      </p:sp>
      <p:sp>
        <p:nvSpPr>
          <p:cNvPr id="10" name="Shape 8"/>
          <p:cNvSpPr/>
          <p:nvPr/>
        </p:nvSpPr>
        <p:spPr>
          <a:xfrm>
            <a:off x="7086600" y="2944368"/>
            <a:ext cx="452628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7315200" y="2944368"/>
            <a:ext cx="4114800" cy="1024128"/>
          </a:xfrm>
          <a:prstGeom prst="rect">
            <a:avLst/>
          </a:prstGeom>
          <a:noFill/>
          <a:ln/>
        </p:spPr>
        <p:txBody>
          <a:bodyPr wrap="square" lIns="0" tIns="0" rIns="0" bIns="0" rtlCol="0" anchor="ctr"/>
          <a:lstStyle/>
          <a:p>
            <a:pPr indent="0" marL="0">
              <a:lnSpc>
                <a:spcPct val="102000"/>
              </a:lnSpc>
              <a:buNone/>
            </a:pPr>
            <a:r>
              <a:rPr lang="en-US" sz="1700" b="1" dirty="0">
                <a:solidFill>
                  <a:srgbClr val="1E2A36"/>
                </a:solidFill>
                <a:latin typeface="Calibri" pitchFamily="34" charset="0"/>
                <a:ea typeface="Calibri" pitchFamily="34" charset="-122"/>
                <a:cs typeface="Calibri" pitchFamily="34" charset="-120"/>
              </a:rPr>
              <a:t>Says where to start</a:t>
            </a:r>
            <a:endParaRPr lang="en-US" sz="1700" dirty="0"/>
          </a:p>
          <a:p>
            <a:pPr indent="0" marL="0">
              <a:lnSpc>
                <a:spcPct val="102000"/>
              </a:lnSpc>
              <a:buNone/>
            </a:pPr>
            <a:r>
              <a:rPr lang="en-US" sz="1500" dirty="0">
                <a:solidFill>
                  <a:srgbClr val="5F7284"/>
                </a:solidFill>
                <a:latin typeface="Calibri" pitchFamily="34" charset="0"/>
                <a:ea typeface="Calibri" pitchFamily="34" charset="-122"/>
                <a:cs typeface="Calibri" pitchFamily="34" charset="-120"/>
              </a:rPr>
              <a:t>The file, the function to imitate, the test to copy. Two extra sentences.</a:t>
            </a:r>
            <a:endParaRPr lang="en-US" sz="1700" dirty="0"/>
          </a:p>
        </p:txBody>
      </p:sp>
      <p:sp>
        <p:nvSpPr>
          <p:cNvPr id="12" name="Shape 10"/>
          <p:cNvSpPr/>
          <p:nvPr/>
        </p:nvSpPr>
        <p:spPr>
          <a:xfrm>
            <a:off x="7086600" y="4105656"/>
            <a:ext cx="4526280" cy="1024128"/>
          </a:xfrm>
          <a:prstGeom prst="roundRect">
            <a:avLst>
              <a:gd name="adj" fmla="val 8036"/>
            </a:avLst>
          </a:prstGeom>
          <a:solidFill>
            <a:srgbClr val="F2F6F8"/>
          </a:solidFill>
          <a:ln/>
          <a:effectLst>
            <a:outerShdw sx="100000" sy="100000" kx="0" ky="0" algn="bl" rotWithShape="0" blurRad="88900" dist="38100" dir="5400000">
              <a:srgbClr val="000000">
                <a:alpha val="13000"/>
              </a:srgbClr>
            </a:outerShdw>
          </a:effectLst>
        </p:spPr>
      </p:sp>
      <p:sp>
        <p:nvSpPr>
          <p:cNvPr id="13" name="Text 11"/>
          <p:cNvSpPr/>
          <p:nvPr/>
        </p:nvSpPr>
        <p:spPr>
          <a:xfrm>
            <a:off x="7315200" y="4105656"/>
            <a:ext cx="4114800" cy="1024128"/>
          </a:xfrm>
          <a:prstGeom prst="rect">
            <a:avLst/>
          </a:prstGeom>
          <a:noFill/>
          <a:ln/>
        </p:spPr>
        <p:txBody>
          <a:bodyPr wrap="square" lIns="0" tIns="0" rIns="0" bIns="0" rtlCol="0" anchor="ctr"/>
          <a:lstStyle/>
          <a:p>
            <a:pPr indent="0" marL="0">
              <a:lnSpc>
                <a:spcPct val="102000"/>
              </a:lnSpc>
              <a:buNone/>
            </a:pPr>
            <a:r>
              <a:rPr lang="en-US" sz="1700" b="1" dirty="0">
                <a:solidFill>
                  <a:srgbClr val="1E2A36"/>
                </a:solidFill>
                <a:latin typeface="Calibri" pitchFamily="34" charset="0"/>
                <a:ea typeface="Calibri" pitchFamily="34" charset="-122"/>
                <a:cs typeface="Calibri" pitchFamily="34" charset="-120"/>
              </a:rPr>
              <a:t>Findable from the front door</a:t>
            </a:r>
            <a:endParaRPr lang="en-US" sz="1700" dirty="0"/>
          </a:p>
          <a:p>
            <a:pPr indent="0" marL="0">
              <a:lnSpc>
                <a:spcPct val="102000"/>
              </a:lnSpc>
              <a:buNone/>
            </a:pPr>
            <a:r>
              <a:rPr lang="en-US" sz="1500" dirty="0">
                <a:solidFill>
                  <a:srgbClr val="5F7284"/>
                </a:solidFill>
                <a:latin typeface="Calibri" pitchFamily="34" charset="0"/>
                <a:ea typeface="Calibri" pitchFamily="34" charset="-122"/>
                <a:cs typeface="Calibri" pitchFamily="34" charset="-120"/>
              </a:rPr>
              <a:t>README and CONTRIBUTING link the board and the roadmap.</a:t>
            </a:r>
            <a:endParaRPr lang="en-US" sz="1700" dirty="0"/>
          </a:p>
        </p:txBody>
      </p:sp>
      <p:sp>
        <p:nvSpPr>
          <p:cNvPr id="14" name="Shape 12"/>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15" name="Text 13"/>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A good first issue with no context is a trap, not an invitation.</a:t>
            </a:r>
            <a:endParaRPr lang="en-US" sz="1700" dirty="0"/>
          </a:p>
        </p:txBody>
      </p:sp>
      <p:sp>
        <p:nvSpPr>
          <p:cNvPr id="16"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17"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TWO LAYERS OF "DONE"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This change, and every change</a:t>
            </a:r>
            <a:endParaRPr lang="en-US" sz="3100" dirty="0"/>
          </a:p>
        </p:txBody>
      </p:sp>
      <p:sp>
        <p:nvSpPr>
          <p:cNvPr id="5" name="Shape 3"/>
          <p:cNvSpPr/>
          <p:nvPr/>
        </p:nvSpPr>
        <p:spPr>
          <a:xfrm>
            <a:off x="548640" y="1783080"/>
            <a:ext cx="544068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68680" y="1874520"/>
            <a:ext cx="4846320" cy="82296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Acceptance criteria</a:t>
            </a:r>
            <a:endParaRPr lang="en-US" sz="2000" dirty="0"/>
          </a:p>
          <a:p>
            <a:pPr indent="0" marL="0">
              <a:buNone/>
            </a:pPr>
            <a:r>
              <a:rPr lang="en-US" sz="1500" dirty="0">
                <a:solidFill>
                  <a:srgbClr val="5F7284"/>
                </a:solidFill>
                <a:latin typeface="Calibri" pitchFamily="34" charset="0"/>
                <a:ea typeface="Calibri" pitchFamily="34" charset="-122"/>
                <a:cs typeface="Calibri" pitchFamily="34" charset="-120"/>
              </a:rPr>
              <a:t>In each issue: what this change must do</a:t>
            </a:r>
            <a:endParaRPr lang="en-US" sz="2000" dirty="0"/>
          </a:p>
        </p:txBody>
      </p:sp>
      <p:sp>
        <p:nvSpPr>
          <p:cNvPr id="7" name="Text 5"/>
          <p:cNvSpPr/>
          <p:nvPr/>
        </p:nvSpPr>
        <p:spPr>
          <a:xfrm>
            <a:off x="868680" y="2834640"/>
            <a:ext cx="4892040" cy="210312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E2A36"/>
                </a:solidFill>
                <a:latin typeface="Calibri" pitchFamily="34" charset="0"/>
                <a:ea typeface="Calibri" pitchFamily="34" charset="-122"/>
                <a:cs typeface="Calibri" pitchFamily="34" charset="-120"/>
              </a:rPr>
              <a:t>The list filters by name, ignoring case</a:t>
            </a:r>
            <a:endParaRPr lang="en-US" sz="1600" dirty="0"/>
          </a:p>
          <a:p>
            <a:pPr marL="203200" indent="-203200">
              <a:spcAft>
                <a:spcPts val="600"/>
              </a:spcAft>
              <a:buSzPct val="100000"/>
              <a:buChar char="•"/>
            </a:pPr>
            <a:r>
              <a:rPr lang="en-US" sz="1600" dirty="0">
                <a:solidFill>
                  <a:srgbClr val="1E2A36"/>
                </a:solidFill>
                <a:latin typeface="Calibri" pitchFamily="34" charset="0"/>
                <a:ea typeface="Calibri" pitchFamily="34" charset="-122"/>
                <a:cs typeface="Calibri" pitchFamily="34" charset="-120"/>
              </a:rPr>
              <a:t>An empty search shows everything</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Tests cover a match, case, and empty</a:t>
            </a:r>
            <a:endParaRPr lang="en-US" sz="1600" dirty="0"/>
          </a:p>
        </p:txBody>
      </p:sp>
      <p:sp>
        <p:nvSpPr>
          <p:cNvPr id="8" name="Shape 6"/>
          <p:cNvSpPr/>
          <p:nvPr/>
        </p:nvSpPr>
        <p:spPr>
          <a:xfrm>
            <a:off x="6172200" y="1783080"/>
            <a:ext cx="5440680" cy="3291840"/>
          </a:xfrm>
          <a:prstGeom prst="roundRect">
            <a:avLst>
              <a:gd name="adj" fmla="val 2500"/>
            </a:avLst>
          </a:prstGeom>
          <a:solidFill>
            <a:srgbClr val="14233A"/>
          </a:solidFill>
          <a:ln/>
          <a:effectLst>
            <a:outerShdw sx="100000" sy="100000" kx="0" ky="0" algn="bl" rotWithShape="0" blurRad="88900" dist="38100" dir="5400000">
              <a:srgbClr val="000000">
                <a:alpha val="13000"/>
              </a:srgbClr>
            </a:outerShdw>
          </a:effectLst>
        </p:spPr>
      </p:sp>
      <p:sp>
        <p:nvSpPr>
          <p:cNvPr id="9" name="Text 7"/>
          <p:cNvSpPr/>
          <p:nvPr/>
        </p:nvSpPr>
        <p:spPr>
          <a:xfrm>
            <a:off x="6492240" y="1874520"/>
            <a:ext cx="4846320" cy="822960"/>
          </a:xfrm>
          <a:prstGeom prst="rect">
            <a:avLst/>
          </a:prstGeom>
          <a:noFill/>
          <a:ln/>
        </p:spPr>
        <p:txBody>
          <a:bodyPr wrap="square" lIns="0" tIns="0" rIns="0" bIns="0"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Definition of done</a:t>
            </a:r>
            <a:endParaRPr lang="en-US" sz="2000" dirty="0"/>
          </a:p>
          <a:p>
            <a:pPr indent="0" marL="0">
              <a:buNone/>
            </a:pPr>
            <a:r>
              <a:rPr lang="en-US" sz="1500" dirty="0">
                <a:solidFill>
                  <a:srgbClr val="9FB4C7"/>
                </a:solidFill>
                <a:latin typeface="Calibri" pitchFamily="34" charset="0"/>
                <a:ea typeface="Calibri" pitchFamily="34" charset="-122"/>
                <a:cs typeface="Calibri" pitchFamily="34" charset="-120"/>
              </a:rPr>
              <a:t>In the git standards: what every change must pass</a:t>
            </a:r>
            <a:endParaRPr lang="en-US" sz="2000" dirty="0"/>
          </a:p>
        </p:txBody>
      </p:sp>
      <p:sp>
        <p:nvSpPr>
          <p:cNvPr id="10" name="Text 8"/>
          <p:cNvSpPr/>
          <p:nvPr/>
        </p:nvSpPr>
        <p:spPr>
          <a:xfrm>
            <a:off x="6492240" y="2834640"/>
            <a:ext cx="4892040" cy="210312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Reviewed under the project's rules</a:t>
            </a:r>
            <a:endParaRPr lang="en-US" sz="1600" dirty="0"/>
          </a:p>
          <a:p>
            <a:pPr marL="203200" indent="-2032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Merged; tests pass on main</a:t>
            </a:r>
            <a:endParaRPr lang="en-US" sz="1600" dirty="0"/>
          </a:p>
          <a:p>
            <a:pPr marL="203200" indent="-2032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Docs say what the code now does</a:t>
            </a:r>
            <a:endParaRPr lang="en-US" sz="1600" dirty="0"/>
          </a:p>
          <a:p>
            <a:pPr marL="203200" indent="-203200">
              <a:buSzPct val="100000"/>
              <a:buChar char="•"/>
            </a:pPr>
            <a:r>
              <a:rPr lang="en-US" sz="1600" dirty="0">
                <a:solidFill>
                  <a:srgbClr val="FFFFFF"/>
                </a:solidFill>
                <a:latin typeface="Calibri" pitchFamily="34" charset="0"/>
                <a:ea typeface="Calibri" pitchFamily="34" charset="-122"/>
                <a:cs typeface="Calibri" pitchFamily="34" charset="-120"/>
              </a:rPr>
              <a:t>Its issue closed, with a note if it differs</a:t>
            </a:r>
            <a:endParaRPr lang="en-US" sz="1600" dirty="0"/>
          </a:p>
        </p:txBody>
      </p:sp>
      <p:sp>
        <p:nvSpPr>
          <p:cNvPr id="11" name="click-1"/>
          <p:cNvSpPr/>
          <p:nvPr/>
        </p:nvSpPr>
        <p:spPr>
          <a:xfrm>
            <a:off x="548640" y="5303520"/>
            <a:ext cx="11064240" cy="868680"/>
          </a:xfrm>
          <a:prstGeom prst="roundRect">
            <a:avLst>
              <a:gd name="adj" fmla="val 9474"/>
            </a:avLst>
          </a:prstGeom>
          <a:solidFill>
            <a:srgbClr val="FBEEDA"/>
          </a:solidFill>
          <a:ln/>
          <a:effectLst>
            <a:outerShdw sx="100000" sy="100000" kx="0" ky="0" algn="bl" rotWithShape="0" blurRad="88900" dist="38100" dir="5400000">
              <a:srgbClr val="000000">
                <a:alpha val="13000"/>
              </a:srgbClr>
            </a:outerShdw>
          </a:effectLst>
        </p:spPr>
      </p:sp>
      <p:sp>
        <p:nvSpPr>
          <p:cNvPr id="12" name="click-1"/>
          <p:cNvSpPr/>
          <p:nvPr/>
        </p:nvSpPr>
        <p:spPr>
          <a:xfrm>
            <a:off x="868680" y="530352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You wrote one in CP6.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Revisit it now there's code: does it name your test command? Keep it in that one place and link it; don't copy it into issues.</a:t>
            </a:r>
            <a:endParaRPr lang="en-US" sz="17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17 · From Design to Work</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28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Decompose your own MVP, live in your tracker</a:t>
            </a:r>
            <a:endParaRPr lang="en-US" sz="3200" dirty="0"/>
          </a:p>
        </p:txBody>
      </p:sp>
      <p:sp>
        <p:nvSpPr>
          <p:cNvPr id="6" name="Shape 4"/>
          <p:cNvSpPr/>
          <p:nvPr/>
        </p:nvSpPr>
        <p:spPr>
          <a:xfrm>
            <a:off x="548640" y="1783080"/>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777240" y="1783080"/>
            <a:ext cx="1005840" cy="73152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5 min</a:t>
            </a:r>
            <a:endParaRPr lang="en-US" sz="1600" dirty="0"/>
          </a:p>
        </p:txBody>
      </p:sp>
      <p:sp>
        <p:nvSpPr>
          <p:cNvPr id="8" name="Text 6"/>
          <p:cNvSpPr/>
          <p:nvPr/>
        </p:nvSpPr>
        <p:spPr>
          <a:xfrm>
            <a:off x="1828800" y="1783080"/>
            <a:ext cx="237744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Set up</a:t>
            </a:r>
            <a:endParaRPr lang="en-US" sz="1800" dirty="0"/>
          </a:p>
        </p:txBody>
      </p:sp>
      <p:sp>
        <p:nvSpPr>
          <p:cNvPr id="9" name="Text 7"/>
          <p:cNvSpPr/>
          <p:nvPr/>
        </p:nvSpPr>
        <p:spPr>
          <a:xfrm>
            <a:off x="4206240" y="1783080"/>
            <a:ext cx="72237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Create the project (public, linked); add the epic label and a task form, or your alternative with its reason</a:t>
            </a:r>
            <a:endParaRPr lang="en-US" sz="1550" dirty="0"/>
          </a:p>
        </p:txBody>
      </p:sp>
      <p:sp>
        <p:nvSpPr>
          <p:cNvPr id="10" name="Shape 8"/>
          <p:cNvSpPr/>
          <p:nvPr/>
        </p:nvSpPr>
        <p:spPr>
          <a:xfrm>
            <a:off x="548640" y="2624328"/>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1" name="Text 9"/>
          <p:cNvSpPr/>
          <p:nvPr/>
        </p:nvSpPr>
        <p:spPr>
          <a:xfrm>
            <a:off x="777240" y="2624328"/>
            <a:ext cx="1005840" cy="73152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6 min</a:t>
            </a:r>
            <a:endParaRPr lang="en-US" sz="1600" dirty="0"/>
          </a:p>
        </p:txBody>
      </p:sp>
      <p:sp>
        <p:nvSpPr>
          <p:cNvPr id="12" name="Text 10"/>
          <p:cNvSpPr/>
          <p:nvPr/>
        </p:nvSpPr>
        <p:spPr>
          <a:xfrm>
            <a:off x="1828800" y="2624328"/>
            <a:ext cx="237744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Epics</a:t>
            </a:r>
            <a:endParaRPr lang="en-US" sz="1800" dirty="0"/>
          </a:p>
        </p:txBody>
      </p:sp>
      <p:sp>
        <p:nvSpPr>
          <p:cNvPr id="13" name="Text 11"/>
          <p:cNvSpPr/>
          <p:nvPr/>
        </p:nvSpPr>
        <p:spPr>
          <a:xfrm>
            <a:off x="4206240" y="2624328"/>
            <a:ext cx="72237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3–5 parent issues, named for value, each linked to a goal in your design</a:t>
            </a:r>
            <a:endParaRPr lang="en-US" sz="1550" dirty="0"/>
          </a:p>
        </p:txBody>
      </p:sp>
      <p:sp>
        <p:nvSpPr>
          <p:cNvPr id="14" name="Shape 12"/>
          <p:cNvSpPr/>
          <p:nvPr/>
        </p:nvSpPr>
        <p:spPr>
          <a:xfrm>
            <a:off x="548640" y="3465576"/>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5" name="Text 13"/>
          <p:cNvSpPr/>
          <p:nvPr/>
        </p:nvSpPr>
        <p:spPr>
          <a:xfrm>
            <a:off x="777240" y="3465576"/>
            <a:ext cx="1005840" cy="73152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12 min</a:t>
            </a:r>
            <a:endParaRPr lang="en-US" sz="1600" dirty="0"/>
          </a:p>
        </p:txBody>
      </p:sp>
      <p:sp>
        <p:nvSpPr>
          <p:cNvPr id="16" name="Text 14"/>
          <p:cNvSpPr/>
          <p:nvPr/>
        </p:nvSpPr>
        <p:spPr>
          <a:xfrm>
            <a:off x="1828800" y="3465576"/>
            <a:ext cx="237744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M1, in full</a:t>
            </a:r>
            <a:endParaRPr lang="en-US" sz="1800" dirty="0"/>
          </a:p>
        </p:txBody>
      </p:sp>
      <p:sp>
        <p:nvSpPr>
          <p:cNvPr id="17" name="Text 15"/>
          <p:cNvSpPr/>
          <p:nvPr/>
        </p:nvSpPr>
        <p:spPr>
          <a:xfrm>
            <a:off x="4206240" y="3465576"/>
            <a:ext cx="72237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Sub-issues with real acceptance criteria; triage your CP7 seed issues; owners on the first few</a:t>
            </a:r>
            <a:endParaRPr lang="en-US" sz="1550" dirty="0"/>
          </a:p>
        </p:txBody>
      </p:sp>
      <p:sp>
        <p:nvSpPr>
          <p:cNvPr id="18" name="Shape 16"/>
          <p:cNvSpPr/>
          <p:nvPr/>
        </p:nvSpPr>
        <p:spPr>
          <a:xfrm>
            <a:off x="548640" y="4306824"/>
            <a:ext cx="11064240" cy="731520"/>
          </a:xfrm>
          <a:prstGeom prst="roundRect">
            <a:avLst>
              <a:gd name="adj" fmla="val 11250"/>
            </a:avLst>
          </a:prstGeom>
          <a:solidFill>
            <a:srgbClr val="1E3352"/>
          </a:solidFill>
          <a:ln/>
          <a:effectLst>
            <a:outerShdw sx="100000" sy="100000" kx="0" ky="0" algn="bl" rotWithShape="0" blurRad="88900" dist="38100" dir="5400000">
              <a:srgbClr val="000000">
                <a:alpha val="13000"/>
              </a:srgbClr>
            </a:outerShdw>
          </a:effectLst>
        </p:spPr>
      </p:sp>
      <p:sp>
        <p:nvSpPr>
          <p:cNvPr id="19" name="Text 17"/>
          <p:cNvSpPr/>
          <p:nvPr/>
        </p:nvSpPr>
        <p:spPr>
          <a:xfrm>
            <a:off x="777240" y="4306824"/>
            <a:ext cx="1005840" cy="73152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5 min</a:t>
            </a:r>
            <a:endParaRPr lang="en-US" sz="1600" dirty="0"/>
          </a:p>
        </p:txBody>
      </p:sp>
      <p:sp>
        <p:nvSpPr>
          <p:cNvPr id="20" name="Text 18"/>
          <p:cNvSpPr/>
          <p:nvPr/>
        </p:nvSpPr>
        <p:spPr>
          <a:xfrm>
            <a:off x="1828800" y="4306824"/>
            <a:ext cx="237744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Dates and pathways</a:t>
            </a:r>
            <a:endParaRPr lang="en-US" sz="1800" dirty="0"/>
          </a:p>
        </p:txBody>
      </p:sp>
      <p:sp>
        <p:nvSpPr>
          <p:cNvPr id="21" name="Text 19"/>
          <p:cNvSpPr/>
          <p:nvPr/>
        </p:nvSpPr>
        <p:spPr>
          <a:xfrm>
            <a:off x="4206240" y="4306824"/>
            <a:ext cx="7223760" cy="731520"/>
          </a:xfrm>
          <a:prstGeom prst="rect">
            <a:avLst/>
          </a:prstGeom>
          <a:noFill/>
          <a:ln/>
        </p:spPr>
        <p:txBody>
          <a:bodyPr wrap="square" lIns="0" tIns="0" rIns="0" bIns="0" rtlCol="0" anchor="ctr"/>
          <a:lstStyle/>
          <a:p>
            <a:pPr indent="0" marL="0">
              <a:buNone/>
            </a:pPr>
            <a:r>
              <a:rPr lang="en-US" sz="1550" dirty="0">
                <a:solidFill>
                  <a:srgbClr val="CFE0E9"/>
                </a:solidFill>
                <a:latin typeface="Calibri" pitchFamily="34" charset="0"/>
                <a:ea typeface="Calibri" pitchFamily="34" charset="-122"/>
                <a:cs typeface="Calibri" pitchFamily="34" charset="-120"/>
              </a:rPr>
              <a:t>M1 and M2 dated; issues placed and given a status; 2–3 good first issues with Where to start</a:t>
            </a:r>
            <a:endParaRPr lang="en-US" sz="1550" dirty="0"/>
          </a:p>
        </p:txBody>
      </p:sp>
      <p:sp>
        <p:nvSpPr>
          <p:cNvPr id="22" name="Shape 20"/>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23" name="Text 21"/>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650" b="1" dirty="0">
                <a:solidFill>
                  <a:srgbClr val="14233A"/>
                </a:solidFill>
                <a:latin typeface="Calibri" pitchFamily="34" charset="0"/>
                <a:ea typeface="Calibri" pitchFamily="34" charset="-122"/>
                <a:cs typeface="Calibri" pitchFamily="34" charset="-120"/>
              </a:rPr>
              <a:t>I'll ask:  </a:t>
            </a:r>
            <a:pPr indent="0" marL="0">
              <a:lnSpc>
                <a:spcPct val="104000"/>
              </a:lnSpc>
              <a:buNone/>
            </a:pPr>
            <a:r>
              <a:rPr lang="en-US" sz="1650" dirty="0">
                <a:solidFill>
                  <a:srgbClr val="14233A"/>
                </a:solidFill>
                <a:latin typeface="Calibri" pitchFamily="34" charset="0"/>
                <a:ea typeface="Calibri" pitchFamily="34" charset="-122"/>
                <a:cs typeface="Calibri" pitchFamily="34" charset="-120"/>
              </a:rPr>
              <a:t>Which issue is secretly an epic? · What must be true on Nov 18, and is that M1? · What did you change from the defaults, and why?</a:t>
            </a:r>
            <a:endParaRPr lang="en-US" sz="1650" dirty="0"/>
          </a:p>
        </p:txBody>
      </p:sp>
      <p:sp>
        <p:nvSpPr>
          <p:cNvPr id="24"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17 · From Design to Work</a:t>
            </a:r>
            <a:endParaRPr lang="en-US" sz="1000" dirty="0"/>
          </a:p>
        </p:txBody>
      </p:sp>
      <p:sp>
        <p:nvSpPr>
          <p:cNvPr id="25"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The tracker is your project's public memory, and its welcome mat.</a:t>
            </a:r>
            <a:endParaRPr lang="en-US" sz="26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NOV 4</a:t>
            </a:r>
            <a:endParaRPr lang="en-US" sz="1400" dirty="0"/>
          </a:p>
        </p:txBody>
      </p:sp>
      <p:sp>
        <p:nvSpPr>
          <p:cNvPr id="7" name="Text 4"/>
          <p:cNvSpPr/>
          <p:nvPr/>
        </p:nvSpPr>
        <p:spPr>
          <a:xfrm>
            <a:off x="868680" y="352044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Finish M1's issues; break M2 down coarsely, at the epic or rough-issue level</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Write docs/roadmap.md, and revisit the definition of done in your git standards</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Wednesday: size every M1 issue, find the dependencies, and commit to the vertical slice</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CP8 Project Plan &amp; Roadmap is due end of day Wednesday, Nov 4. Submit your public board's URL.</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17 · From Design to Work</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17 — From Design to Work</dc:title>
  <dc:subject>PptxGenJS Presentation</dc:subject>
  <dc:creator>CS 301R</dc:creator>
  <cp:lastModifiedBy>CS 301R</cp:lastModifiedBy>
  <cp:revision>1</cp:revision>
  <dcterms:created xsi:type="dcterms:W3CDTF">2026-10-29T21:05:14Z</dcterms:created>
  <dcterms:modified xsi:type="dcterms:W3CDTF">2026-10-29T21:05:14Z</dcterms:modified>
</cp:coreProperties>
</file>