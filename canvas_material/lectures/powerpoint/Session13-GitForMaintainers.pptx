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3's second week, and the first day in the repository. Everyone has used git; today re-aims it. You've always been the contributor asking to get code in. Now you're the maintainer deciding how code gets in, and that decision is governance. Before class: the demo kit is reset (`demo-upstream.sh local`), the student reviewer has accepted the invite, the Canvas message is sent, and the terminal font is large. Run sheet: demos/session13-git-workflow/DEMO-SCRIPT.md.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 highlighted row is most of the session and it's live, not slides. Name the payoff up front: by the end of today they should be able to run the whole loop, write a commit message a stranger can use, and review a change without making it personal. Wednesday they do it for real on their own repositories, so today is the model they copy. Keep moving; the framing slide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with the next slide. The reframe: in most tutorials you're the contributor. Here you set the rules, and what you choose is what a future contributor will experience, so this is Session 3's governance made real in tooling. Say why PRs are required even for a solo project: the PR is where the reasoning is recorded and where a second reader gets a chance to look, and a solo founder needs that record most. Everything else is theirs to decide Wednesday.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step, a sentence each. Don't teach the steps here; the demo does. This slide is the map they carry into it. The seventh click lands the contrast: this is the maintainer-centered loop of a project whose people own the repository, not forking a stranger's project and asking permission. Tell them to watch for all six in the next twenty minutes, and that Wednesday's lab grades the same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The design doc they dissected called it Backstage. When it came time to create the repo, we checked the name, the way the repository guide says to, and it belonged to a widely used project. First click: Prop Loft, deliberately broader than version 1. Second click: the line to say out loud. The best name is often taken, and a founder picks the best available one and moves on. Mention the demo runs on a disposable copy so the practice PR stays out of the real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you switch to the terminal, and come back to it between steps if the room loses the thread. Everything is in DEMO-SCRIPT.md, steps B1 to B12, with the conflict sidebar optional if you're under time. The code is pre-written; every git and GitHub step is live. Keep narrating the decision behind each step rather than the keystrokes. Budget: branch and commits 6 min, PR 4, review and revisions 7, merge 3. Next slide is for the merge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this up at the merge step (B11), just before choosing in GitHub's dropdown. One click per strategy; the dots are commits, grey for main, colored for the branch. Merge commit keeps everything plus a join. Squash collapses the pull request into one commit, which is why the squash message deserves editing. Rebase replays each commit with no join. The fourth click is the suggestion, not a rule: squash keeps main linear and easy to revert at this project size. After squashing, raise the question and leave it open: why write careful commits if squash makes them one? It's answered after the commit-message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they read cbeams, so recall rather than teach. The highlighted two do most of the work: imperative mood, and a body that explains why. The imperative test is the one tool to leave with. Try it on the demo's own commits from ten minutes ago: "If applied, this commit will filter the item list by a name query." Then set up the critique: eight real messages, one at a time, and the room grades each before you click to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what does this log tell you? Nothing, twice. The revert is the teaching point: git dutifully records that the WIP was undone, and the reader is no wiser. Name the audience, the person who can't ask you, including yourself in six months. The critique set is real messages from public repos; the ones that aren't mine are shown without author names on purpose. The point is the message, not the person. About ninety seconds per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one. Let someone run the imperative test out loud; the grammar failure gets a laugh and makes the rule stick. Then ask what they'd need to know to find this commit a year from now, searching the log for when something changed. "Updates" can't be found by searching for anything. Move on in under a minute; the next one is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it: this one's mine. Let the room find past tense, the typo, and "which error?" first. Then the reveal, the part they can't see from the message: the diff wasn't a bug fix at all, just a stale error message updated after adding a fifth class. That's the real cost of a vague message: not ugliness, but a history that misleads. We'll rewrite this one after the critique.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subject is really three commit subjects joined together. Ask: if the --auto-open fix broke something, how would you revert just that? You couldn't. That's the practical argument for logical commits, and it's the same discipline the demo showed when four files became four commits. Point back to the demo log. We'll rewrite this one too, as three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with the last one. This author did write a body, which is better than most, and the body is what gives it away: four bullets, four different parts of the system. Ask the room how many commits this should have been. Four. "Minor" is a warning word in a subject; it usually means "I didn't want to describe this." The typo is verbatim; don't dwell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mine, and written by an AI agent working in my repository. Let them find the length first; ask where GitHub will truncate it. Then the point worth making in 2026: agents write a lot of commit messages now, and the seven rules don't care who typed the message. If your tools write your commits, you're still responsible for what the history says. The next slide after the critique comes back to AI from the other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Mine again, and closer to good: imperative subject, a body, wrapped lines. Ask what the body tells you that the diff doesn't. Nothing. Rule seven is the hardest one because narrating what you did feels like explaining. The test: delete every sentence the diff already shows, and see what's left. Here, nothing. A good body would say what running the integrator now lets you do, or why it's wired in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set on a good one, and let the room find why it's good before revealing. Three things: the failure that motivated it, which is why; what changed; and calibrated confidence. "The goal is" is honest; the author doesn't know for sure yet, and says so. That honesty helps the next person debugging a corrupted recording: they know this was a mitigation, not a proven fix. Short subject, wrapped body, imperative.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 good message on its own merits, and the last sentence is the point. Ask what it changes for a reviewer: they know to scrutinize the reasoning, because a tool generated it, and they know the author tested it and vouches for the result. That's the course AI policy, written where it matters. Point out the demo's own commits carry a Co-Authored-By line for the same reason. The honest version is simply to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ninety seconds: write the message this commit should have had, with everything they need on the slide. Take two answers aloud before the click. Strong answers name what changed (the error message), not the symptom, and a good body says why (class 5 was just added). Make the point that matters: the author knew all of this at the time and didn't write it down, and the message "FIxed exception error" actively misdescribes a text change as a bug fix. It's mine; say so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is the complete text: one 115-character subject, no body. Pairs, two minutes: from the message and the list on the left, how many commits should this have been, and what are their subjects? The coral line is the reveal before the reveal: the diff has two changes the message never mentions, and one is a security fix, HTML escaping in the report viewer. A reviewer reading the message would never look for it. Click for five commits, one subject each (the indented lines are wrapped subjects). The lesson: a message that lists fixes with periods between them is several commits, and the ones it leaves out are the ones a reviewer most needed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to close the section. Each card is a tool that only works as well as the messages it reads. Blame is the one to demonstrate if there's a spare minute: on GitHub, open any file in Prop Loft and click Blame, and every line links to the commit and its why. The highlighted card is the contributor-ready thread: the history is part of what a newcomer inherits. This is also why commit quality is graded in CP6. Then the next slide: if we squash, which commits end up in that log? The question from the demo,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question you left open at the demo's merge step: why write four careful commits if squash turns them into one? They weren't thrown away. The branch commits serve the reviewer and stay in the pull request, which the squash commit links to by number; if the demo PR is still open in a browser tab, click its Commits tab to show them. The squash commit is what lands on main, so the seven rules apply to it: the PR title as its subject, the why as its body, not GitHub's default pile of bullets. Tip: GitHub can default the squash message to the PR's title and description (Settings, Pull Requests), which is another reason to write good descriptions. The alternative is real: projects like git itself and the Linux kernel keep every commit on main, rebase-merging, and pay for it by making every branch commit clean. That's why merge strategy is Wednesday's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Eighteen minutes for this section with the exercise. Three author habits, each with a reason. Small, because reviewers approve what they can't absorb. Described, because a reviewer who knows where to start reviews the part that matters. Self-reviewed, because reading your own diff in the browser, not the editor, catches the debug print and the stray file. Tie back to the demo's PR description, which the class just watched being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reading's reviewer guide. The standard is the most misunderstood part of review: students think reviewing means finding everything wrong and withholding approval until it's perfect. Google's standard is about direction. Does this change make the code better? Then approve, and leave the nits as nits. The order matters: a design problem makes naming comments irrelevant, so look at the shape before the spelling. The narrowing bars show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Session 8: they've done this with prose, and code review is the same social skill. The fourth row is the one that got modeled in the demo: every comment answered, one with a fix and one with reasons. On a small team this is also self-protection, because review comments are how resentment starts if they're careless. Keep this to three minutes; the exercise is next and it's where the register gets practiced.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in pairs, then the debrief slide. It's Prop Loft code, so they know the model: an Item belongs to a Bin. The design problem is the one to push them toward: the loop loads every item in the catalog and then fetches each item's bin one at a time, when the database could do the filtering in one query. Naming: get, l, i, result. The nit: the comment restates the next line. Circulate and read comments for register as much as for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pair's comment for each problem before clicking to the model. The design comment is the important one; if nobody found it, say so plainly and explain it, because it's a problem students will write constantly in Django: fetching everything and filtering in Python. Point out the shape all three share: what I see, why it matters, a question or a suggestion. That's the register. Note the nit is labeled and optional; the author can decline it without a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This is Wednesday's agenda: come ready to decide. Walk the six rows, a reason each. The defaults are suggestions; say plainly that a project choosing merge commits over squash, or two approvals instead of one, is fine, as long as it writes down the rationale. Solo students: the review row means their review partner. These decisions get written in the lab and formalized as CONTRIBUTING.md in Week 8, where a stranger will read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a few minutes. Say the one-liner, then the logistics, which are Wednesday's prep check in advance: laptop, push access, the six decisions, design doc nearly done. Push access is the one that costs a teammate their lab if it's missing, so ask anyone who hasn't pushed to their repo yet to do it tonight. Both CP5 and CP6 are due end of day Wednesday; CP6 happens in the lab itself. The Session 14 page has the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The Workflow You'll Enforce</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13 — git for maintainers</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October 19,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loop, the craft behind it, and Wednesday</a:t>
            </a:r>
            <a:endParaRPr lang="en-US" sz="3100" dirty="0"/>
          </a:p>
        </p:txBody>
      </p:sp>
      <p:sp>
        <p:nvSpPr>
          <p:cNvPr id="5" name="Shape 3"/>
          <p:cNvSpPr/>
          <p:nvPr/>
        </p:nvSpPr>
        <p:spPr>
          <a:xfrm>
            <a:off x="548640" y="178308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883664"/>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52805" y="2031797"/>
            <a:ext cx="252374" cy="252374"/>
          </a:xfrm>
          <a:prstGeom prst="rect">
            <a:avLst/>
          </a:prstGeom>
        </p:spPr>
      </p:pic>
      <p:sp>
        <p:nvSpPr>
          <p:cNvPr id="8" name="Text 5"/>
          <p:cNvSpPr/>
          <p:nvPr/>
        </p:nvSpPr>
        <p:spPr>
          <a:xfrm>
            <a:off x="1536192" y="1783080"/>
            <a:ext cx="81381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workflow is governance</a:t>
            </a:r>
            <a:endParaRPr lang="en-US" sz="1800" dirty="0"/>
          </a:p>
        </p:txBody>
      </p:sp>
      <p:sp>
        <p:nvSpPr>
          <p:cNvPr id="9" name="Text 6"/>
          <p:cNvSpPr/>
          <p:nvPr/>
        </p:nvSpPr>
        <p:spPr>
          <a:xfrm>
            <a:off x="9692640" y="1783080"/>
            <a:ext cx="1645920" cy="749808"/>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6 min</a:t>
            </a:r>
            <a:endParaRPr lang="en-US" sz="1600" dirty="0"/>
          </a:p>
        </p:txBody>
      </p:sp>
      <p:sp>
        <p:nvSpPr>
          <p:cNvPr id="10" name="Shape 7"/>
          <p:cNvSpPr/>
          <p:nvPr/>
        </p:nvSpPr>
        <p:spPr>
          <a:xfrm>
            <a:off x="548640" y="2633472"/>
            <a:ext cx="11064240" cy="749808"/>
          </a:xfrm>
          <a:prstGeom prst="roundRect">
            <a:avLst>
              <a:gd name="adj" fmla="val 10976"/>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804672" y="2734056"/>
            <a:ext cx="548640" cy="548640"/>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952805" y="2882189"/>
            <a:ext cx="252374" cy="252374"/>
          </a:xfrm>
          <a:prstGeom prst="rect">
            <a:avLst/>
          </a:prstGeom>
        </p:spPr>
      </p:pic>
      <p:sp>
        <p:nvSpPr>
          <p:cNvPr id="13" name="Text 9"/>
          <p:cNvSpPr/>
          <p:nvPr/>
        </p:nvSpPr>
        <p:spPr>
          <a:xfrm>
            <a:off x="1536192" y="2633472"/>
            <a:ext cx="8138160" cy="74980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whole loop, live, on a real repo</a:t>
            </a:r>
            <a:endParaRPr lang="en-US" sz="1800" dirty="0"/>
          </a:p>
        </p:txBody>
      </p:sp>
      <p:sp>
        <p:nvSpPr>
          <p:cNvPr id="14" name="Text 10"/>
          <p:cNvSpPr/>
          <p:nvPr/>
        </p:nvSpPr>
        <p:spPr>
          <a:xfrm>
            <a:off x="9692640" y="2633472"/>
            <a:ext cx="1645920" cy="749808"/>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22 min</a:t>
            </a:r>
            <a:endParaRPr lang="en-US" sz="1600" dirty="0"/>
          </a:p>
        </p:txBody>
      </p:sp>
      <p:sp>
        <p:nvSpPr>
          <p:cNvPr id="15" name="Shape 11"/>
          <p:cNvSpPr/>
          <p:nvPr/>
        </p:nvSpPr>
        <p:spPr>
          <a:xfrm>
            <a:off x="548640" y="3483864"/>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04672" y="3584448"/>
            <a:ext cx="548640" cy="54864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52805" y="3732581"/>
            <a:ext cx="252374" cy="252374"/>
          </a:xfrm>
          <a:prstGeom prst="rect">
            <a:avLst/>
          </a:prstGeom>
        </p:spPr>
      </p:pic>
      <p:sp>
        <p:nvSpPr>
          <p:cNvPr id="18" name="Text 13"/>
          <p:cNvSpPr/>
          <p:nvPr/>
        </p:nvSpPr>
        <p:spPr>
          <a:xfrm>
            <a:off x="1536192" y="3483864"/>
            <a:ext cx="81381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Commit messages: eight real ones, graded</a:t>
            </a:r>
            <a:endParaRPr lang="en-US" sz="1800" dirty="0"/>
          </a:p>
        </p:txBody>
      </p:sp>
      <p:sp>
        <p:nvSpPr>
          <p:cNvPr id="19" name="Text 14"/>
          <p:cNvSpPr/>
          <p:nvPr/>
        </p:nvSpPr>
        <p:spPr>
          <a:xfrm>
            <a:off x="9692640" y="3483864"/>
            <a:ext cx="1645920" cy="749808"/>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15 min</a:t>
            </a:r>
            <a:endParaRPr lang="en-US" sz="1600" dirty="0"/>
          </a:p>
        </p:txBody>
      </p:sp>
      <p:sp>
        <p:nvSpPr>
          <p:cNvPr id="20" name="Shape 15"/>
          <p:cNvSpPr/>
          <p:nvPr/>
        </p:nvSpPr>
        <p:spPr>
          <a:xfrm>
            <a:off x="548640" y="4334256"/>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804672" y="4434840"/>
            <a:ext cx="548640" cy="54864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52805" y="4582973"/>
            <a:ext cx="252374" cy="252374"/>
          </a:xfrm>
          <a:prstGeom prst="rect">
            <a:avLst/>
          </a:prstGeom>
        </p:spPr>
      </p:pic>
      <p:sp>
        <p:nvSpPr>
          <p:cNvPr id="23" name="Text 17"/>
          <p:cNvSpPr/>
          <p:nvPr/>
        </p:nvSpPr>
        <p:spPr>
          <a:xfrm>
            <a:off x="1536192" y="4334256"/>
            <a:ext cx="81381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Pull requests and code review</a:t>
            </a:r>
            <a:endParaRPr lang="en-US" sz="1800" dirty="0"/>
          </a:p>
        </p:txBody>
      </p:sp>
      <p:sp>
        <p:nvSpPr>
          <p:cNvPr id="24" name="Text 18"/>
          <p:cNvSpPr/>
          <p:nvPr/>
        </p:nvSpPr>
        <p:spPr>
          <a:xfrm>
            <a:off x="9692640" y="4334256"/>
            <a:ext cx="1645920" cy="749808"/>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18 min</a:t>
            </a:r>
            <a:endParaRPr lang="en-US" sz="1600" dirty="0"/>
          </a:p>
        </p:txBody>
      </p:sp>
      <p:sp>
        <p:nvSpPr>
          <p:cNvPr id="25" name="Shape 19"/>
          <p:cNvSpPr/>
          <p:nvPr/>
        </p:nvSpPr>
        <p:spPr>
          <a:xfrm>
            <a:off x="548640" y="5184648"/>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804672" y="5285232"/>
            <a:ext cx="548640" cy="548640"/>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952805" y="5433365"/>
            <a:ext cx="252374" cy="252374"/>
          </a:xfrm>
          <a:prstGeom prst="rect">
            <a:avLst/>
          </a:prstGeom>
        </p:spPr>
      </p:pic>
      <p:sp>
        <p:nvSpPr>
          <p:cNvPr id="28" name="Text 21"/>
          <p:cNvSpPr/>
          <p:nvPr/>
        </p:nvSpPr>
        <p:spPr>
          <a:xfrm>
            <a:off x="1536192" y="5184648"/>
            <a:ext cx="8138160" cy="749808"/>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Wednesday's decisions for your project</a:t>
            </a:r>
            <a:endParaRPr lang="en-US" sz="1800" dirty="0"/>
          </a:p>
        </p:txBody>
      </p:sp>
      <p:sp>
        <p:nvSpPr>
          <p:cNvPr id="29" name="Text 22"/>
          <p:cNvSpPr/>
          <p:nvPr/>
        </p:nvSpPr>
        <p:spPr>
          <a:xfrm>
            <a:off x="9692640" y="5184648"/>
            <a:ext cx="1645920" cy="749808"/>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8 min</a:t>
            </a:r>
            <a:endParaRPr lang="en-US" sz="1600" dirty="0"/>
          </a:p>
        </p:txBody>
      </p:sp>
      <p:sp>
        <p:nvSpPr>
          <p:cNvPr id="30" name="Text 23"/>
          <p:cNvSpPr/>
          <p:nvPr/>
        </p:nvSpPr>
        <p:spPr>
          <a:xfrm>
            <a:off x="548640" y="5943600"/>
            <a:ext cx="11064240" cy="365760"/>
          </a:xfrm>
          <a:prstGeom prst="rect">
            <a:avLst/>
          </a:prstGeom>
          <a:noFill/>
          <a:ln/>
        </p:spPr>
        <p:txBody>
          <a:bodyPr wrap="square" lIns="0" tIns="0" rIns="0" bIns="0" rtlCol="0" anchor="ctr"/>
          <a:lstStyle/>
          <a:p>
            <a:pPr algn="ctr" indent="0" marL="0">
              <a:buNone/>
            </a:pPr>
            <a:r>
              <a:rPr lang="en-US" sz="1500" i="1" dirty="0">
                <a:solidFill>
                  <a:srgbClr val="5F7284"/>
                </a:solidFill>
                <a:latin typeface="Calibri" pitchFamily="34" charset="0"/>
                <a:ea typeface="Calibri" pitchFamily="34" charset="-122"/>
                <a:cs typeface="Calibri" pitchFamily="34" charset="-120"/>
              </a:rPr>
              <a:t>Wednesday is a lab: you run this loop yourselves, on your own project's repository.</a:t>
            </a:r>
            <a:endParaRPr lang="en-US" sz="1500" dirty="0"/>
          </a:p>
        </p:txBody>
      </p:sp>
      <p:sp>
        <p:nvSpPr>
          <p:cNvPr id="31" name="Text 2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32"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WORKFLOW IS GOVERNANCE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You've been the contributor. Now you're the maintainer.</a:t>
            </a:r>
            <a:endParaRPr lang="en-US" sz="3100" dirty="0"/>
          </a:p>
        </p:txBody>
      </p:sp>
      <p:sp>
        <p:nvSpPr>
          <p:cNvPr id="5" name="Shape 3"/>
          <p:cNvSpPr/>
          <p:nvPr/>
        </p:nvSpPr>
        <p:spPr>
          <a:xfrm>
            <a:off x="548640" y="1828800"/>
            <a:ext cx="5440680" cy="3063240"/>
          </a:xfrm>
          <a:prstGeom prst="roundRect">
            <a:avLst>
              <a:gd name="adj" fmla="val 2687"/>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03120"/>
            <a:ext cx="603504" cy="603504"/>
          </a:xfrm>
          <a:prstGeom prst="ellipse">
            <a:avLst/>
          </a:prstGeom>
          <a:solidFill>
            <a:srgbClr val="5F7284"/>
          </a:solidFill>
          <a:ln/>
        </p:spPr>
      </p:sp>
      <p:pic>
        <p:nvPicPr>
          <p:cNvPr id="7" name="Image 0" descr="preencoded.png">    </p:cNvPr>
          <p:cNvPicPr>
            <a:picLocks noChangeAspect="1"/>
          </p:cNvPicPr>
          <p:nvPr/>
        </p:nvPicPr>
        <p:blipFill>
          <a:blip r:embed="rId1"/>
          <a:stretch>
            <a:fillRect/>
          </a:stretch>
        </p:blipFill>
        <p:spPr>
          <a:xfrm>
            <a:off x="1031626" y="2266066"/>
            <a:ext cx="277612" cy="277612"/>
          </a:xfrm>
          <a:prstGeom prst="rect">
            <a:avLst/>
          </a:prstGeom>
        </p:spPr>
      </p:pic>
      <p:sp>
        <p:nvSpPr>
          <p:cNvPr id="8" name="Text 5"/>
          <p:cNvSpPr/>
          <p:nvPr/>
        </p:nvSpPr>
        <p:spPr>
          <a:xfrm>
            <a:off x="1645920" y="2167128"/>
            <a:ext cx="420624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The contributor</a:t>
            </a:r>
            <a:endParaRPr lang="en-US" sz="1900" dirty="0"/>
          </a:p>
        </p:txBody>
      </p:sp>
      <p:sp>
        <p:nvSpPr>
          <p:cNvPr id="9" name="Text 6"/>
          <p:cNvSpPr/>
          <p:nvPr/>
        </p:nvSpPr>
        <p:spPr>
          <a:xfrm>
            <a:off x="914400" y="2926080"/>
            <a:ext cx="4846320" cy="1828800"/>
          </a:xfrm>
          <a:prstGeom prst="rect">
            <a:avLst/>
          </a:prstGeom>
          <a:noFill/>
          <a:ln/>
        </p:spPr>
        <p:txBody>
          <a:bodyPr wrap="square" lIns="0" tIns="0" rIns="0" bIns="0" rtlCol="0" anchor="t"/>
          <a:lstStyle/>
          <a:p>
            <a:pPr indent="0" marL="0">
              <a:lnSpc>
                <a:spcPct val="106000"/>
              </a:lnSpc>
              <a:buNone/>
            </a:pPr>
            <a:r>
              <a:rPr lang="en-US" sz="1750" dirty="0">
                <a:solidFill>
                  <a:srgbClr val="1E2A36"/>
                </a:solidFill>
                <a:latin typeface="Calibri" pitchFamily="34" charset="0"/>
                <a:ea typeface="Calibri" pitchFamily="34" charset="-122"/>
                <a:cs typeface="Calibri" pitchFamily="34" charset="-120"/>
              </a:rPr>
              <a:t>Asks to get code in. Follows the project's rules: its branch names, its review process, its idea of "done."</a:t>
            </a:r>
            <a:endParaRPr lang="en-US" sz="1750" dirty="0"/>
          </a:p>
        </p:txBody>
      </p:sp>
      <p:sp>
        <p:nvSpPr>
          <p:cNvPr id="10" name="Shape 7"/>
          <p:cNvSpPr/>
          <p:nvPr/>
        </p:nvSpPr>
        <p:spPr>
          <a:xfrm>
            <a:off x="6172200" y="1828800"/>
            <a:ext cx="5440680" cy="3063240"/>
          </a:xfrm>
          <a:prstGeom prst="roundRect">
            <a:avLst>
              <a:gd name="adj" fmla="val 2687"/>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92240" y="210312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55186" y="2266066"/>
            <a:ext cx="277612" cy="277612"/>
          </a:xfrm>
          <a:prstGeom prst="rect">
            <a:avLst/>
          </a:prstGeom>
        </p:spPr>
      </p:pic>
      <p:sp>
        <p:nvSpPr>
          <p:cNvPr id="13" name="Text 9"/>
          <p:cNvSpPr/>
          <p:nvPr/>
        </p:nvSpPr>
        <p:spPr>
          <a:xfrm>
            <a:off x="7269480" y="2167128"/>
            <a:ext cx="42062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maintainer</a:t>
            </a:r>
            <a:endParaRPr lang="en-US" sz="1900" dirty="0"/>
          </a:p>
        </p:txBody>
      </p:sp>
      <p:sp>
        <p:nvSpPr>
          <p:cNvPr id="14" name="Text 10"/>
          <p:cNvSpPr/>
          <p:nvPr/>
        </p:nvSpPr>
        <p:spPr>
          <a:xfrm>
            <a:off x="6537960" y="2926080"/>
            <a:ext cx="4846320" cy="1828800"/>
          </a:xfrm>
          <a:prstGeom prst="rect">
            <a:avLst/>
          </a:prstGeom>
          <a:noFill/>
          <a:ln/>
        </p:spPr>
        <p:txBody>
          <a:bodyPr wrap="square" lIns="0" tIns="0" rIns="0" bIns="0" rtlCol="0" anchor="t"/>
          <a:lstStyle/>
          <a:p>
            <a:pPr indent="0" marL="0">
              <a:lnSpc>
                <a:spcPct val="106000"/>
              </a:lnSpc>
              <a:buNone/>
            </a:pPr>
            <a:r>
              <a:rPr lang="en-US" sz="1750" dirty="0">
                <a:solidFill>
                  <a:srgbClr val="CFE0E9"/>
                </a:solidFill>
                <a:latin typeface="Calibri" pitchFamily="34" charset="0"/>
                <a:ea typeface="Calibri" pitchFamily="34" charset="-122"/>
                <a:cs typeface="Calibri" pitchFamily="34" charset="-120"/>
              </a:rPr>
              <a:t>Decides how code gets in. Every rule a contributor follows was a choice a maintainer made, and wrote down.</a:t>
            </a:r>
            <a:endParaRPr lang="en-US" sz="1750" dirty="0"/>
          </a:p>
        </p:txBody>
      </p:sp>
      <p:sp>
        <p:nvSpPr>
          <p:cNvPr id="15" name="Shape 11"/>
          <p:cNvSpPr/>
          <p:nvPr/>
        </p:nvSpPr>
        <p:spPr>
          <a:xfrm>
            <a:off x="548640" y="5120640"/>
            <a:ext cx="11064240" cy="1051560"/>
          </a:xfrm>
          <a:prstGeom prst="roundRect">
            <a:avLst>
              <a:gd name="adj" fmla="val 7826"/>
            </a:avLst>
          </a:prstGeom>
          <a:solidFill>
            <a:srgbClr val="E8A33D"/>
          </a:solidFill>
          <a:ln/>
          <a:effectLst>
            <a:outerShdw sx="100000" sy="100000" kx="0" ky="0" algn="bl" rotWithShape="0" blurRad="88900" dist="38100" dir="5400000">
              <a:srgbClr val="000000">
                <a:alpha val="13000"/>
              </a:srgbClr>
            </a:outerShdw>
          </a:effectLst>
        </p:spPr>
      </p:sp>
      <p:sp>
        <p:nvSpPr>
          <p:cNvPr id="16" name="Shape 12"/>
          <p:cNvSpPr/>
          <p:nvPr/>
        </p:nvSpPr>
        <p:spPr>
          <a:xfrm>
            <a:off x="841248" y="5367528"/>
            <a:ext cx="548640" cy="548640"/>
          </a:xfrm>
          <a:prstGeom prst="ellipse">
            <a:avLst/>
          </a:prstGeom>
          <a:solidFill>
            <a:srgbClr val="14233A"/>
          </a:solidFill>
          <a:ln/>
        </p:spPr>
      </p:sp>
      <p:pic>
        <p:nvPicPr>
          <p:cNvPr id="17" name="Image 2" descr="preencoded.png">    </p:cNvPr>
          <p:cNvPicPr>
            <a:picLocks noChangeAspect="1"/>
          </p:cNvPicPr>
          <p:nvPr/>
        </p:nvPicPr>
        <p:blipFill>
          <a:blip r:embed="rId3"/>
          <a:stretch>
            <a:fillRect/>
          </a:stretch>
        </p:blipFill>
        <p:spPr>
          <a:xfrm>
            <a:off x="989381" y="5515661"/>
            <a:ext cx="252374" cy="252374"/>
          </a:xfrm>
          <a:prstGeom prst="rect">
            <a:avLst/>
          </a:prstGeom>
        </p:spPr>
      </p:pic>
      <p:sp>
        <p:nvSpPr>
          <p:cNvPr id="18" name="Text 13"/>
          <p:cNvSpPr/>
          <p:nvPr/>
        </p:nvSpPr>
        <p:spPr>
          <a:xfrm>
            <a:off x="1691640" y="5120640"/>
            <a:ext cx="9692640" cy="1051560"/>
          </a:xfrm>
          <a:prstGeom prst="rect">
            <a:avLst/>
          </a:prstGeom>
          <a:noFill/>
          <a:ln/>
        </p:spPr>
        <p:txBody>
          <a:bodyPr wrap="square" lIns="0" tIns="0" rIns="0" bIns="0" rtlCol="0" anchor="ctr"/>
          <a:lstStyle/>
          <a:p>
            <a:pPr indent="0" marL="0">
              <a:lnSpc>
                <a:spcPct val="104000"/>
              </a:lnSpc>
              <a:buNone/>
            </a:pPr>
            <a:r>
              <a:rPr lang="en-US" sz="1650" b="1" dirty="0">
                <a:solidFill>
                  <a:srgbClr val="14233A"/>
                </a:solidFill>
                <a:latin typeface="Calibri" pitchFamily="34" charset="0"/>
                <a:ea typeface="Calibri" pitchFamily="34" charset="-122"/>
                <a:cs typeface="Calibri" pitchFamily="34" charset="-120"/>
              </a:rPr>
              <a:t>The one fixed rule in this course: every project uses pull requests, even solo. Everything else about your workflow is your project's call.</a:t>
            </a:r>
            <a:endParaRPr lang="en-US" sz="165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LOOP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Six steps, every change, every time</a:t>
            </a:r>
            <a:endParaRPr lang="en-US" sz="3100" dirty="0"/>
          </a:p>
        </p:txBody>
      </p:sp>
      <p:sp>
        <p:nvSpPr>
          <p:cNvPr id="5" name="click-1"/>
          <p:cNvSpPr/>
          <p:nvPr/>
        </p:nvSpPr>
        <p:spPr>
          <a:xfrm>
            <a:off x="548640" y="1920240"/>
            <a:ext cx="1719072" cy="3017520"/>
          </a:xfrm>
          <a:prstGeom prst="roundRect">
            <a:avLst>
              <a:gd name="adj" fmla="val 4787"/>
            </a:avLst>
          </a:prstGeom>
          <a:solidFill>
            <a:srgbClr val="F2F6F8"/>
          </a:solidFill>
          <a:ln/>
          <a:effectLst>
            <a:outerShdw sx="100000" sy="100000" kx="0" ky="0" algn="bl" rotWithShape="0" blurRad="88900" dist="38100" dir="5400000">
              <a:srgbClr val="000000">
                <a:alpha val="13000"/>
              </a:srgbClr>
            </a:outerShdw>
          </a:effectLst>
        </p:spPr>
      </p:sp>
      <p:sp>
        <p:nvSpPr>
          <p:cNvPr id="6" name="click-1"/>
          <p:cNvSpPr/>
          <p:nvPr/>
        </p:nvSpPr>
        <p:spPr>
          <a:xfrm>
            <a:off x="1078992" y="2148840"/>
            <a:ext cx="658368" cy="658368"/>
          </a:xfrm>
          <a:prstGeom prst="ellipse">
            <a:avLst/>
          </a:prstGeom>
          <a:solidFill>
            <a:srgbClr val="12908F"/>
          </a:solidFill>
          <a:ln/>
        </p:spPr>
      </p:sp>
      <p:pic>
        <p:nvPicPr>
          <p:cNvPr id="7" name="click-1" descr="preencoded.png">    </p:cNvPr>
          <p:cNvPicPr>
            <a:picLocks noChangeAspect="1"/>
          </p:cNvPicPr>
          <p:nvPr/>
        </p:nvPicPr>
        <p:blipFill>
          <a:blip r:embed="rId1"/>
          <a:stretch>
            <a:fillRect/>
          </a:stretch>
        </p:blipFill>
        <p:spPr>
          <a:xfrm>
            <a:off x="1256751" y="2326599"/>
            <a:ext cx="302849" cy="302849"/>
          </a:xfrm>
          <a:prstGeom prst="rect">
            <a:avLst/>
          </a:prstGeom>
        </p:spPr>
      </p:pic>
      <p:sp>
        <p:nvSpPr>
          <p:cNvPr id="8" name="click-1"/>
          <p:cNvSpPr/>
          <p:nvPr/>
        </p:nvSpPr>
        <p:spPr>
          <a:xfrm>
            <a:off x="548640" y="2926080"/>
            <a:ext cx="1719072" cy="365760"/>
          </a:xfrm>
          <a:prstGeom prst="rect">
            <a:avLst/>
          </a:prstGeom>
          <a:noFill/>
          <a:ln/>
        </p:spPr>
        <p:txBody>
          <a:bodyPr wrap="square" lIns="0" tIns="0" rIns="0" bIns="0" rtlCol="0" anchor="ctr"/>
          <a:lstStyle/>
          <a:p>
            <a:pPr algn="ctr" indent="0" marL="0">
              <a:buNone/>
            </a:pPr>
            <a:r>
              <a:rPr lang="en-US" sz="1800" b="1" dirty="0">
                <a:solidFill>
                  <a:srgbClr val="12908F"/>
                </a:solidFill>
                <a:latin typeface="Cambria" pitchFamily="34" charset="0"/>
                <a:ea typeface="Cambria" pitchFamily="34" charset="-122"/>
                <a:cs typeface="Cambria" pitchFamily="34" charset="-120"/>
              </a:rPr>
              <a:t>1</a:t>
            </a:r>
            <a:endParaRPr lang="en-US" sz="1800" dirty="0"/>
          </a:p>
        </p:txBody>
      </p:sp>
      <p:sp>
        <p:nvSpPr>
          <p:cNvPr id="9" name="click-1"/>
          <p:cNvSpPr/>
          <p:nvPr/>
        </p:nvSpPr>
        <p:spPr>
          <a:xfrm>
            <a:off x="640080" y="3291840"/>
            <a:ext cx="1536192" cy="6858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Branch</a:t>
            </a:r>
            <a:endParaRPr lang="en-US" sz="1800" dirty="0"/>
          </a:p>
        </p:txBody>
      </p:sp>
      <p:sp>
        <p:nvSpPr>
          <p:cNvPr id="10" name="click-1"/>
          <p:cNvSpPr/>
          <p:nvPr/>
        </p:nvSpPr>
        <p:spPr>
          <a:xfrm>
            <a:off x="658368" y="3977640"/>
            <a:ext cx="1499616" cy="8686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from main, named for the change</a:t>
            </a:r>
            <a:endParaRPr lang="en-US" sz="1500" dirty="0"/>
          </a:p>
        </p:txBody>
      </p:sp>
      <p:sp>
        <p:nvSpPr>
          <p:cNvPr id="11" name="click-2"/>
          <p:cNvSpPr/>
          <p:nvPr/>
        </p:nvSpPr>
        <p:spPr>
          <a:xfrm>
            <a:off x="2414016" y="1920240"/>
            <a:ext cx="1719072" cy="3017520"/>
          </a:xfrm>
          <a:prstGeom prst="roundRect">
            <a:avLst>
              <a:gd name="adj" fmla="val 4787"/>
            </a:avLst>
          </a:prstGeom>
          <a:solidFill>
            <a:srgbClr val="F2F6F8"/>
          </a:solidFill>
          <a:ln/>
          <a:effectLst>
            <a:outerShdw sx="100000" sy="100000" kx="0" ky="0" algn="bl" rotWithShape="0" blurRad="88900" dist="38100" dir="5400000">
              <a:srgbClr val="000000">
                <a:alpha val="13000"/>
              </a:srgbClr>
            </a:outerShdw>
          </a:effectLst>
        </p:spPr>
      </p:sp>
      <p:sp>
        <p:nvSpPr>
          <p:cNvPr id="12" name="click-2"/>
          <p:cNvSpPr/>
          <p:nvPr/>
        </p:nvSpPr>
        <p:spPr>
          <a:xfrm>
            <a:off x="2944368" y="2148840"/>
            <a:ext cx="658368" cy="658368"/>
          </a:xfrm>
          <a:prstGeom prst="ellipse">
            <a:avLst/>
          </a:prstGeom>
          <a:solidFill>
            <a:srgbClr val="12908F"/>
          </a:solidFill>
          <a:ln/>
        </p:spPr>
      </p:sp>
      <p:pic>
        <p:nvPicPr>
          <p:cNvPr id="13" name="click-2" descr="preencoded.png">    </p:cNvPr>
          <p:cNvPicPr>
            <a:picLocks noChangeAspect="1"/>
          </p:cNvPicPr>
          <p:nvPr/>
        </p:nvPicPr>
        <p:blipFill>
          <a:blip r:embed="rId2"/>
          <a:stretch>
            <a:fillRect/>
          </a:stretch>
        </p:blipFill>
        <p:spPr>
          <a:xfrm>
            <a:off x="3122127" y="2326599"/>
            <a:ext cx="302849" cy="302849"/>
          </a:xfrm>
          <a:prstGeom prst="rect">
            <a:avLst/>
          </a:prstGeom>
        </p:spPr>
      </p:pic>
      <p:sp>
        <p:nvSpPr>
          <p:cNvPr id="14" name="click-2"/>
          <p:cNvSpPr/>
          <p:nvPr/>
        </p:nvSpPr>
        <p:spPr>
          <a:xfrm>
            <a:off x="2414016" y="2926080"/>
            <a:ext cx="1719072" cy="365760"/>
          </a:xfrm>
          <a:prstGeom prst="rect">
            <a:avLst/>
          </a:prstGeom>
          <a:noFill/>
          <a:ln/>
        </p:spPr>
        <p:txBody>
          <a:bodyPr wrap="square" lIns="0" tIns="0" rIns="0" bIns="0" rtlCol="0" anchor="ctr"/>
          <a:lstStyle/>
          <a:p>
            <a:pPr algn="ctr" indent="0" marL="0">
              <a:buNone/>
            </a:pPr>
            <a:r>
              <a:rPr lang="en-US" sz="1800" b="1" dirty="0">
                <a:solidFill>
                  <a:srgbClr val="12908F"/>
                </a:solidFill>
                <a:latin typeface="Cambria" pitchFamily="34" charset="0"/>
                <a:ea typeface="Cambria" pitchFamily="34" charset="-122"/>
                <a:cs typeface="Cambria" pitchFamily="34" charset="-120"/>
              </a:rPr>
              <a:t>2</a:t>
            </a:r>
            <a:endParaRPr lang="en-US" sz="1800" dirty="0"/>
          </a:p>
        </p:txBody>
      </p:sp>
      <p:sp>
        <p:nvSpPr>
          <p:cNvPr id="15" name="click-2"/>
          <p:cNvSpPr/>
          <p:nvPr/>
        </p:nvSpPr>
        <p:spPr>
          <a:xfrm>
            <a:off x="2505456" y="3291840"/>
            <a:ext cx="1536192" cy="6858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Logical commits</a:t>
            </a:r>
            <a:endParaRPr lang="en-US" sz="1800" dirty="0"/>
          </a:p>
        </p:txBody>
      </p:sp>
      <p:sp>
        <p:nvSpPr>
          <p:cNvPr id="16" name="click-2"/>
          <p:cNvSpPr/>
          <p:nvPr/>
        </p:nvSpPr>
        <p:spPr>
          <a:xfrm>
            <a:off x="2523744" y="3977640"/>
            <a:ext cx="1499616" cy="8686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one nameable thing each</a:t>
            </a:r>
            <a:endParaRPr lang="en-US" sz="1500" dirty="0"/>
          </a:p>
        </p:txBody>
      </p:sp>
      <p:sp>
        <p:nvSpPr>
          <p:cNvPr id="17" name="click-3"/>
          <p:cNvSpPr/>
          <p:nvPr/>
        </p:nvSpPr>
        <p:spPr>
          <a:xfrm>
            <a:off x="4279392" y="1920240"/>
            <a:ext cx="1719072" cy="3017520"/>
          </a:xfrm>
          <a:prstGeom prst="roundRect">
            <a:avLst>
              <a:gd name="adj" fmla="val 4787"/>
            </a:avLst>
          </a:prstGeom>
          <a:solidFill>
            <a:srgbClr val="F2F6F8"/>
          </a:solidFill>
          <a:ln/>
          <a:effectLst>
            <a:outerShdw sx="100000" sy="100000" kx="0" ky="0" algn="bl" rotWithShape="0" blurRad="88900" dist="38100" dir="5400000">
              <a:srgbClr val="000000">
                <a:alpha val="13000"/>
              </a:srgbClr>
            </a:outerShdw>
          </a:effectLst>
        </p:spPr>
      </p:sp>
      <p:sp>
        <p:nvSpPr>
          <p:cNvPr id="18" name="click-3"/>
          <p:cNvSpPr/>
          <p:nvPr/>
        </p:nvSpPr>
        <p:spPr>
          <a:xfrm>
            <a:off x="4809744" y="2148840"/>
            <a:ext cx="658368" cy="658368"/>
          </a:xfrm>
          <a:prstGeom prst="ellipse">
            <a:avLst/>
          </a:prstGeom>
          <a:solidFill>
            <a:srgbClr val="12908F"/>
          </a:solidFill>
          <a:ln/>
        </p:spPr>
      </p:sp>
      <p:pic>
        <p:nvPicPr>
          <p:cNvPr id="19" name="click-3" descr="preencoded.png">    </p:cNvPr>
          <p:cNvPicPr>
            <a:picLocks noChangeAspect="1"/>
          </p:cNvPicPr>
          <p:nvPr/>
        </p:nvPicPr>
        <p:blipFill>
          <a:blip r:embed="rId3"/>
          <a:stretch>
            <a:fillRect/>
          </a:stretch>
        </p:blipFill>
        <p:spPr>
          <a:xfrm>
            <a:off x="4987503" y="2326599"/>
            <a:ext cx="302849" cy="302849"/>
          </a:xfrm>
          <a:prstGeom prst="rect">
            <a:avLst/>
          </a:prstGeom>
        </p:spPr>
      </p:pic>
      <p:sp>
        <p:nvSpPr>
          <p:cNvPr id="20" name="click-3"/>
          <p:cNvSpPr/>
          <p:nvPr/>
        </p:nvSpPr>
        <p:spPr>
          <a:xfrm>
            <a:off x="4279392" y="2926080"/>
            <a:ext cx="1719072" cy="365760"/>
          </a:xfrm>
          <a:prstGeom prst="rect">
            <a:avLst/>
          </a:prstGeom>
          <a:noFill/>
          <a:ln/>
        </p:spPr>
        <p:txBody>
          <a:bodyPr wrap="square" lIns="0" tIns="0" rIns="0" bIns="0" rtlCol="0" anchor="ctr"/>
          <a:lstStyle/>
          <a:p>
            <a:pPr algn="ctr" indent="0" marL="0">
              <a:buNone/>
            </a:pPr>
            <a:r>
              <a:rPr lang="en-US" sz="1800" b="1" dirty="0">
                <a:solidFill>
                  <a:srgbClr val="12908F"/>
                </a:solidFill>
                <a:latin typeface="Cambria" pitchFamily="34" charset="0"/>
                <a:ea typeface="Cambria" pitchFamily="34" charset="-122"/>
                <a:cs typeface="Cambria" pitchFamily="34" charset="-120"/>
              </a:rPr>
              <a:t>3</a:t>
            </a:r>
            <a:endParaRPr lang="en-US" sz="1800" dirty="0"/>
          </a:p>
        </p:txBody>
      </p:sp>
      <p:sp>
        <p:nvSpPr>
          <p:cNvPr id="21" name="click-3"/>
          <p:cNvSpPr/>
          <p:nvPr/>
        </p:nvSpPr>
        <p:spPr>
          <a:xfrm>
            <a:off x="4370832" y="3291840"/>
            <a:ext cx="1536192" cy="6858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Draft PR</a:t>
            </a:r>
            <a:endParaRPr lang="en-US" sz="1800" dirty="0"/>
          </a:p>
        </p:txBody>
      </p:sp>
      <p:sp>
        <p:nvSpPr>
          <p:cNvPr id="22" name="click-3"/>
          <p:cNvSpPr/>
          <p:nvPr/>
        </p:nvSpPr>
        <p:spPr>
          <a:xfrm>
            <a:off x="4389120" y="3977640"/>
            <a:ext cx="1499616" cy="8686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open early, describe it well</a:t>
            </a:r>
            <a:endParaRPr lang="en-US" sz="1500" dirty="0"/>
          </a:p>
        </p:txBody>
      </p:sp>
      <p:sp>
        <p:nvSpPr>
          <p:cNvPr id="23" name="click-4"/>
          <p:cNvSpPr/>
          <p:nvPr/>
        </p:nvSpPr>
        <p:spPr>
          <a:xfrm>
            <a:off x="6144768" y="1920240"/>
            <a:ext cx="1719072" cy="3017520"/>
          </a:xfrm>
          <a:prstGeom prst="roundRect">
            <a:avLst>
              <a:gd name="adj" fmla="val 4787"/>
            </a:avLst>
          </a:prstGeom>
          <a:solidFill>
            <a:srgbClr val="F2F6F8"/>
          </a:solidFill>
          <a:ln/>
          <a:effectLst>
            <a:outerShdw sx="100000" sy="100000" kx="0" ky="0" algn="bl" rotWithShape="0" blurRad="88900" dist="38100" dir="5400000">
              <a:srgbClr val="000000">
                <a:alpha val="13000"/>
              </a:srgbClr>
            </a:outerShdw>
          </a:effectLst>
        </p:spPr>
      </p:sp>
      <p:sp>
        <p:nvSpPr>
          <p:cNvPr id="24" name="click-4"/>
          <p:cNvSpPr/>
          <p:nvPr/>
        </p:nvSpPr>
        <p:spPr>
          <a:xfrm>
            <a:off x="6675120" y="2148840"/>
            <a:ext cx="658368" cy="658368"/>
          </a:xfrm>
          <a:prstGeom prst="ellipse">
            <a:avLst/>
          </a:prstGeom>
          <a:solidFill>
            <a:srgbClr val="12908F"/>
          </a:solidFill>
          <a:ln/>
        </p:spPr>
      </p:sp>
      <p:pic>
        <p:nvPicPr>
          <p:cNvPr id="25" name="click-4" descr="preencoded.png">    </p:cNvPr>
          <p:cNvPicPr>
            <a:picLocks noChangeAspect="1"/>
          </p:cNvPicPr>
          <p:nvPr/>
        </p:nvPicPr>
        <p:blipFill>
          <a:blip r:embed="rId4"/>
          <a:stretch>
            <a:fillRect/>
          </a:stretch>
        </p:blipFill>
        <p:spPr>
          <a:xfrm>
            <a:off x="6852879" y="2326599"/>
            <a:ext cx="302849" cy="302849"/>
          </a:xfrm>
          <a:prstGeom prst="rect">
            <a:avLst/>
          </a:prstGeom>
        </p:spPr>
      </p:pic>
      <p:sp>
        <p:nvSpPr>
          <p:cNvPr id="26" name="click-4"/>
          <p:cNvSpPr/>
          <p:nvPr/>
        </p:nvSpPr>
        <p:spPr>
          <a:xfrm>
            <a:off x="6144768" y="2926080"/>
            <a:ext cx="1719072" cy="365760"/>
          </a:xfrm>
          <a:prstGeom prst="rect">
            <a:avLst/>
          </a:prstGeom>
          <a:noFill/>
          <a:ln/>
        </p:spPr>
        <p:txBody>
          <a:bodyPr wrap="square" lIns="0" tIns="0" rIns="0" bIns="0" rtlCol="0" anchor="ctr"/>
          <a:lstStyle/>
          <a:p>
            <a:pPr algn="ctr" indent="0" marL="0">
              <a:buNone/>
            </a:pPr>
            <a:r>
              <a:rPr lang="en-US" sz="1800" b="1" dirty="0">
                <a:solidFill>
                  <a:srgbClr val="12908F"/>
                </a:solidFill>
                <a:latin typeface="Cambria" pitchFamily="34" charset="0"/>
                <a:ea typeface="Cambria" pitchFamily="34" charset="-122"/>
                <a:cs typeface="Cambria" pitchFamily="34" charset="-120"/>
              </a:rPr>
              <a:t>4</a:t>
            </a:r>
            <a:endParaRPr lang="en-US" sz="1800" dirty="0"/>
          </a:p>
        </p:txBody>
      </p:sp>
      <p:sp>
        <p:nvSpPr>
          <p:cNvPr id="27" name="click-4"/>
          <p:cNvSpPr/>
          <p:nvPr/>
        </p:nvSpPr>
        <p:spPr>
          <a:xfrm>
            <a:off x="6236208" y="3291840"/>
            <a:ext cx="1536192" cy="6858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Request review</a:t>
            </a:r>
            <a:endParaRPr lang="en-US" sz="1800" dirty="0"/>
          </a:p>
        </p:txBody>
      </p:sp>
      <p:sp>
        <p:nvSpPr>
          <p:cNvPr id="28" name="click-4"/>
          <p:cNvSpPr/>
          <p:nvPr/>
        </p:nvSpPr>
        <p:spPr>
          <a:xfrm>
            <a:off x="6254496" y="3977640"/>
            <a:ext cx="1499616" cy="8686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someone who didn't write it</a:t>
            </a:r>
            <a:endParaRPr lang="en-US" sz="1500" dirty="0"/>
          </a:p>
        </p:txBody>
      </p:sp>
      <p:sp>
        <p:nvSpPr>
          <p:cNvPr id="29" name="click-5"/>
          <p:cNvSpPr/>
          <p:nvPr/>
        </p:nvSpPr>
        <p:spPr>
          <a:xfrm>
            <a:off x="8010144" y="1920240"/>
            <a:ext cx="1719072" cy="3017520"/>
          </a:xfrm>
          <a:prstGeom prst="roundRect">
            <a:avLst>
              <a:gd name="adj" fmla="val 4787"/>
            </a:avLst>
          </a:prstGeom>
          <a:solidFill>
            <a:srgbClr val="F2F6F8"/>
          </a:solidFill>
          <a:ln/>
          <a:effectLst>
            <a:outerShdw sx="100000" sy="100000" kx="0" ky="0" algn="bl" rotWithShape="0" blurRad="88900" dist="38100" dir="5400000">
              <a:srgbClr val="000000">
                <a:alpha val="13000"/>
              </a:srgbClr>
            </a:outerShdw>
          </a:effectLst>
        </p:spPr>
      </p:sp>
      <p:sp>
        <p:nvSpPr>
          <p:cNvPr id="30" name="click-5"/>
          <p:cNvSpPr/>
          <p:nvPr/>
        </p:nvSpPr>
        <p:spPr>
          <a:xfrm>
            <a:off x="8540496" y="2148840"/>
            <a:ext cx="658368" cy="658368"/>
          </a:xfrm>
          <a:prstGeom prst="ellipse">
            <a:avLst/>
          </a:prstGeom>
          <a:solidFill>
            <a:srgbClr val="12908F"/>
          </a:solidFill>
          <a:ln/>
        </p:spPr>
      </p:sp>
      <p:pic>
        <p:nvPicPr>
          <p:cNvPr id="31" name="click-5" descr="preencoded.png">    </p:cNvPr>
          <p:cNvPicPr>
            <a:picLocks noChangeAspect="1"/>
          </p:cNvPicPr>
          <p:nvPr/>
        </p:nvPicPr>
        <p:blipFill>
          <a:blip r:embed="rId5"/>
          <a:stretch>
            <a:fillRect/>
          </a:stretch>
        </p:blipFill>
        <p:spPr>
          <a:xfrm>
            <a:off x="8718255" y="2326599"/>
            <a:ext cx="302849" cy="302849"/>
          </a:xfrm>
          <a:prstGeom prst="rect">
            <a:avLst/>
          </a:prstGeom>
        </p:spPr>
      </p:pic>
      <p:sp>
        <p:nvSpPr>
          <p:cNvPr id="32" name="click-5"/>
          <p:cNvSpPr/>
          <p:nvPr/>
        </p:nvSpPr>
        <p:spPr>
          <a:xfrm>
            <a:off x="8010144" y="2926080"/>
            <a:ext cx="1719072" cy="365760"/>
          </a:xfrm>
          <a:prstGeom prst="rect">
            <a:avLst/>
          </a:prstGeom>
          <a:noFill/>
          <a:ln/>
        </p:spPr>
        <p:txBody>
          <a:bodyPr wrap="square" lIns="0" tIns="0" rIns="0" bIns="0" rtlCol="0" anchor="ctr"/>
          <a:lstStyle/>
          <a:p>
            <a:pPr algn="ctr" indent="0" marL="0">
              <a:buNone/>
            </a:pPr>
            <a:r>
              <a:rPr lang="en-US" sz="1800" b="1" dirty="0">
                <a:solidFill>
                  <a:srgbClr val="12908F"/>
                </a:solidFill>
                <a:latin typeface="Cambria" pitchFamily="34" charset="0"/>
                <a:ea typeface="Cambria" pitchFamily="34" charset="-122"/>
                <a:cs typeface="Cambria" pitchFamily="34" charset="-120"/>
              </a:rPr>
              <a:t>5</a:t>
            </a:r>
            <a:endParaRPr lang="en-US" sz="1800" dirty="0"/>
          </a:p>
        </p:txBody>
      </p:sp>
      <p:sp>
        <p:nvSpPr>
          <p:cNvPr id="33" name="click-5"/>
          <p:cNvSpPr/>
          <p:nvPr/>
        </p:nvSpPr>
        <p:spPr>
          <a:xfrm>
            <a:off x="8101584" y="3291840"/>
            <a:ext cx="1536192" cy="685800"/>
          </a:xfrm>
          <a:prstGeom prst="rect">
            <a:avLst/>
          </a:prstGeom>
          <a:noFill/>
          <a:ln/>
        </p:spPr>
        <p:txBody>
          <a:bodyPr wrap="square" lIns="0" tIns="0" rIns="0" bIns="0" rtlCol="0" anchor="t"/>
          <a:lstStyle/>
          <a:p>
            <a:pPr algn="ctr" indent="0" marL="0">
              <a:buNone/>
            </a:pPr>
            <a:r>
              <a:rPr lang="en-US" sz="1800" b="1" dirty="0">
                <a:solidFill>
                  <a:srgbClr val="1E2A36"/>
                </a:solidFill>
                <a:latin typeface="Calibri" pitchFamily="34" charset="0"/>
                <a:ea typeface="Calibri" pitchFamily="34" charset="-122"/>
                <a:cs typeface="Calibri" pitchFamily="34" charset="-120"/>
              </a:rPr>
              <a:t>Revise</a:t>
            </a:r>
            <a:endParaRPr lang="en-US" sz="1800" dirty="0"/>
          </a:p>
        </p:txBody>
      </p:sp>
      <p:sp>
        <p:nvSpPr>
          <p:cNvPr id="34" name="click-5"/>
          <p:cNvSpPr/>
          <p:nvPr/>
        </p:nvSpPr>
        <p:spPr>
          <a:xfrm>
            <a:off x="8119872" y="3977640"/>
            <a:ext cx="1499616" cy="8686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answer every comment</a:t>
            </a:r>
            <a:endParaRPr lang="en-US" sz="1500" dirty="0"/>
          </a:p>
        </p:txBody>
      </p:sp>
      <p:sp>
        <p:nvSpPr>
          <p:cNvPr id="35" name="click-6"/>
          <p:cNvSpPr/>
          <p:nvPr/>
        </p:nvSpPr>
        <p:spPr>
          <a:xfrm>
            <a:off x="9875520" y="1920240"/>
            <a:ext cx="1719072" cy="3017520"/>
          </a:xfrm>
          <a:prstGeom prst="roundRect">
            <a:avLst>
              <a:gd name="adj" fmla="val 4787"/>
            </a:avLst>
          </a:prstGeom>
          <a:solidFill>
            <a:srgbClr val="14233A"/>
          </a:solidFill>
          <a:ln/>
          <a:effectLst>
            <a:outerShdw sx="100000" sy="100000" kx="0" ky="0" algn="bl" rotWithShape="0" blurRad="88900" dist="38100" dir="5400000">
              <a:srgbClr val="000000">
                <a:alpha val="13000"/>
              </a:srgbClr>
            </a:outerShdw>
          </a:effectLst>
        </p:spPr>
      </p:sp>
      <p:sp>
        <p:nvSpPr>
          <p:cNvPr id="36" name="click-6"/>
          <p:cNvSpPr/>
          <p:nvPr/>
        </p:nvSpPr>
        <p:spPr>
          <a:xfrm>
            <a:off x="10405872" y="2148840"/>
            <a:ext cx="658368" cy="658368"/>
          </a:xfrm>
          <a:prstGeom prst="ellipse">
            <a:avLst/>
          </a:prstGeom>
          <a:solidFill>
            <a:srgbClr val="E8A33D"/>
          </a:solidFill>
          <a:ln/>
        </p:spPr>
      </p:sp>
      <p:pic>
        <p:nvPicPr>
          <p:cNvPr id="37" name="click-6" descr="preencoded.png">    </p:cNvPr>
          <p:cNvPicPr>
            <a:picLocks noChangeAspect="1"/>
          </p:cNvPicPr>
          <p:nvPr/>
        </p:nvPicPr>
        <p:blipFill>
          <a:blip r:embed="rId6"/>
          <a:stretch>
            <a:fillRect/>
          </a:stretch>
        </p:blipFill>
        <p:spPr>
          <a:xfrm>
            <a:off x="10583631" y="2326599"/>
            <a:ext cx="302849" cy="302849"/>
          </a:xfrm>
          <a:prstGeom prst="rect">
            <a:avLst/>
          </a:prstGeom>
        </p:spPr>
      </p:pic>
      <p:sp>
        <p:nvSpPr>
          <p:cNvPr id="38" name="click-6"/>
          <p:cNvSpPr/>
          <p:nvPr/>
        </p:nvSpPr>
        <p:spPr>
          <a:xfrm>
            <a:off x="9875520" y="2926080"/>
            <a:ext cx="1719072" cy="365760"/>
          </a:xfrm>
          <a:prstGeom prst="rect">
            <a:avLst/>
          </a:prstGeom>
          <a:noFill/>
          <a:ln/>
        </p:spPr>
        <p:txBody>
          <a:bodyPr wrap="square" lIns="0" tIns="0" rIns="0" bIns="0" rtlCol="0" anchor="ctr"/>
          <a:lstStyle/>
          <a:p>
            <a:pPr algn="ctr" indent="0" marL="0">
              <a:buNone/>
            </a:pPr>
            <a:r>
              <a:rPr lang="en-US" sz="1800" b="1" dirty="0">
                <a:solidFill>
                  <a:srgbClr val="E8A33D"/>
                </a:solidFill>
                <a:latin typeface="Cambria" pitchFamily="34" charset="0"/>
                <a:ea typeface="Cambria" pitchFamily="34" charset="-122"/>
                <a:cs typeface="Cambria" pitchFamily="34" charset="-120"/>
              </a:rPr>
              <a:t>6</a:t>
            </a:r>
            <a:endParaRPr lang="en-US" sz="1800" dirty="0"/>
          </a:p>
        </p:txBody>
      </p:sp>
      <p:sp>
        <p:nvSpPr>
          <p:cNvPr id="39" name="click-6"/>
          <p:cNvSpPr/>
          <p:nvPr/>
        </p:nvSpPr>
        <p:spPr>
          <a:xfrm>
            <a:off x="9966960" y="3291840"/>
            <a:ext cx="1536192" cy="685800"/>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Merge</a:t>
            </a:r>
            <a:endParaRPr lang="en-US" sz="1800" dirty="0"/>
          </a:p>
        </p:txBody>
      </p:sp>
      <p:sp>
        <p:nvSpPr>
          <p:cNvPr id="40" name="click-6"/>
          <p:cNvSpPr/>
          <p:nvPr/>
        </p:nvSpPr>
        <p:spPr>
          <a:xfrm>
            <a:off x="9985248" y="3977640"/>
            <a:ext cx="1499616" cy="868680"/>
          </a:xfrm>
          <a:prstGeom prst="rect">
            <a:avLst/>
          </a:prstGeom>
          <a:noFill/>
          <a:ln/>
        </p:spPr>
        <p:txBody>
          <a:bodyPr wrap="square" lIns="0" tIns="0" rIns="0" bIns="0" rtlCol="0" anchor="t"/>
          <a:lstStyle/>
          <a:p>
            <a:pPr algn="ctr" indent="0" marL="0">
              <a:buNone/>
            </a:pPr>
            <a:r>
              <a:rPr lang="en-US" sz="1500" dirty="0">
                <a:solidFill>
                  <a:srgbClr val="CFE0E9"/>
                </a:solidFill>
                <a:latin typeface="Calibri" pitchFamily="34" charset="0"/>
                <a:ea typeface="Calibri" pitchFamily="34" charset="-122"/>
                <a:cs typeface="Calibri" pitchFamily="34" charset="-120"/>
              </a:rPr>
              <a:t>under your project's policy</a:t>
            </a:r>
            <a:endParaRPr lang="en-US" sz="1500" dirty="0"/>
          </a:p>
        </p:txBody>
      </p:sp>
      <p:sp>
        <p:nvSpPr>
          <p:cNvPr id="41" name="click-7"/>
          <p:cNvSpPr/>
          <p:nvPr/>
        </p:nvSpPr>
        <p:spPr>
          <a:xfrm>
            <a:off x="548640" y="5212080"/>
            <a:ext cx="11064240" cy="960120"/>
          </a:xfrm>
          <a:prstGeom prst="roundRect">
            <a:avLst>
              <a:gd name="adj" fmla="val 8571"/>
            </a:avLst>
          </a:prstGeom>
          <a:solidFill>
            <a:srgbClr val="14233A"/>
          </a:solidFill>
          <a:ln/>
          <a:effectLst>
            <a:outerShdw sx="100000" sy="100000" kx="0" ky="0" algn="bl" rotWithShape="0" blurRad="88900" dist="38100" dir="5400000">
              <a:srgbClr val="000000">
                <a:alpha val="13000"/>
              </a:srgbClr>
            </a:outerShdw>
          </a:effectLst>
        </p:spPr>
      </p:sp>
      <p:sp>
        <p:nvSpPr>
          <p:cNvPr id="42" name="click-7"/>
          <p:cNvSpPr/>
          <p:nvPr/>
        </p:nvSpPr>
        <p:spPr>
          <a:xfrm>
            <a:off x="868680" y="5212080"/>
            <a:ext cx="10424160" cy="9601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Not the fork-and-upstream dance of contributing to a stranger's project. This is the loop of a project that owns its repository.</a:t>
            </a:r>
            <a:endParaRPr lang="en-US" sz="1600" dirty="0"/>
          </a:p>
        </p:txBody>
      </p:sp>
      <p:sp>
        <p:nvSpPr>
          <p:cNvPr id="43" name="Text 3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44" name="Text 3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20"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4" presetID="1"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8" presetID="1"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2" presetID="1" presetClass="entr" presetSubtype="0"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5" dur="1" fill="hold">
                                          <p:stCondLst>
                                            <p:cond delay="0"/>
                                          </p:stCondLst>
                                        </p:cTn>
                                        <p:tgtEl>
                                          <p:spTgt spid="3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1" dur="1" fill="hold">
                                          <p:stCondLst>
                                            <p:cond delay="0"/>
                                          </p:stCondLst>
                                        </p:cTn>
                                        <p:tgtEl>
                                          <p:spTgt spid="3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6" presetID="1" presetClass="entr" presetSubtype="0" fill="hold" grpId="0" nodeType="clickEffect">
                                  <p:stCondLst>
                                    <p:cond delay="0"/>
                                  </p:stCondLst>
                                  <p:childTnLst>
                                    <p:set>
                                      <p:cBhvr>
                                        <p:cTn id="75" dur="1" fill="hold">
                                          <p:stCondLst>
                                            <p:cond delay="0"/>
                                          </p:stCondLst>
                                        </p:cTn>
                                        <p:tgtEl>
                                          <p:spTgt spid="35"/>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7" dur="1" fill="hold">
                                          <p:stCondLst>
                                            <p:cond delay="0"/>
                                          </p:stCondLst>
                                        </p:cTn>
                                        <p:tgtEl>
                                          <p:spTgt spid="36"/>
                                        </p:tgtEl>
                                        <p:attrNameLst>
                                          <p:attrName>style.visibility</p:attrName>
                                        </p:attrNameLst>
                                      </p:cBhvr>
                                      <p:to>
                                        <p:strVal val="visible"/>
                                      </p:to>
                                    </p:set>
                                  </p:childTnLst>
                                </p:cTn>
                              </p:par>
                              <p:par>
                                <p:cTn id="80" presetID="1" presetClass="entr" presetSubtype="0" fill="hold" nodeType="withEffect">
                                  <p:stCondLst>
                                    <p:cond delay="0"/>
                                  </p:stCondLst>
                                  <p:childTnLst>
                                    <p:set>
                                      <p:cBhvr>
                                        <p:cTn id="79" dur="1" fill="hold">
                                          <p:stCondLst>
                                            <p:cond delay="0"/>
                                          </p:stCondLst>
                                        </p:cTn>
                                        <p:tgtEl>
                                          <p:spTgt spid="37"/>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90" presetID="1" presetClass="entr" presetSubtype="0" fill="hold" grpId="0" nodeType="clickEffect">
                                  <p:stCondLst>
                                    <p:cond delay="0"/>
                                  </p:stCondLst>
                                  <p:childTnLst>
                                    <p:set>
                                      <p:cBhvr>
                                        <p:cTn id="89" dur="1" fill="hold">
                                          <p:stCondLst>
                                            <p:cond delay="0"/>
                                          </p:stCondLst>
                                        </p:cTn>
                                        <p:tgtEl>
                                          <p:spTgt spid="41"/>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DEMO PROJECT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Monday's Backstage, built for real, under a new name</a:t>
            </a:r>
            <a:endParaRPr lang="en-US" sz="3100" dirty="0"/>
          </a:p>
        </p:txBody>
      </p:sp>
      <p:sp>
        <p:nvSpPr>
          <p:cNvPr id="5" name="Shape 3"/>
          <p:cNvSpPr/>
          <p:nvPr/>
        </p:nvSpPr>
        <p:spPr>
          <a:xfrm>
            <a:off x="548640" y="1828800"/>
            <a:ext cx="5440680"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548640" y="2057400"/>
            <a:ext cx="5440680" cy="822960"/>
          </a:xfrm>
          <a:prstGeom prst="rect">
            <a:avLst/>
          </a:prstGeom>
          <a:noFill/>
          <a:ln/>
        </p:spPr>
        <p:txBody>
          <a:bodyPr wrap="square" lIns="0" tIns="0" rIns="0" bIns="0" rtlCol="0" anchor="ctr"/>
          <a:lstStyle/>
          <a:p>
            <a:pPr algn="ctr" indent="0" marL="0">
              <a:buNone/>
            </a:pPr>
            <a:r>
              <a:rPr lang="en-US" sz="3800" b="1" strike="sngStrike" dirty="0">
                <a:solidFill>
                  <a:srgbClr val="5F7284"/>
                </a:solidFill>
                <a:latin typeface="Cambria" pitchFamily="34" charset="0"/>
                <a:ea typeface="Cambria" pitchFamily="34" charset="-122"/>
                <a:cs typeface="Cambria" pitchFamily="34" charset="-120"/>
              </a:rPr>
              <a:t>Backstage</a:t>
            </a:r>
            <a:endParaRPr lang="en-US" sz="3800" dirty="0"/>
          </a:p>
        </p:txBody>
      </p:sp>
      <p:sp>
        <p:nvSpPr>
          <p:cNvPr id="7" name="Text 5"/>
          <p:cNvSpPr/>
          <p:nvPr/>
        </p:nvSpPr>
        <p:spPr>
          <a:xfrm>
            <a:off x="868680" y="2971800"/>
            <a:ext cx="4800600" cy="914400"/>
          </a:xfrm>
          <a:prstGeom prst="rect">
            <a:avLst/>
          </a:prstGeom>
          <a:noFill/>
          <a:ln/>
        </p:spPr>
        <p:txBody>
          <a:bodyPr wrap="square" lIns="0" tIns="0" rIns="0" bIns="0" rtlCol="0" anchor="t"/>
          <a:lstStyle/>
          <a:p>
            <a:pPr algn="ctr" indent="0" marL="0">
              <a:buNone/>
            </a:pPr>
            <a:r>
              <a:rPr lang="en-US" sz="1600" dirty="0">
                <a:solidFill>
                  <a:srgbClr val="1E2A36"/>
                </a:solidFill>
                <a:latin typeface="Calibri" pitchFamily="34" charset="0"/>
                <a:ea typeface="Calibri" pitchFamily="34" charset="-122"/>
                <a:cs typeface="Calibri" pitchFamily="34" charset="-120"/>
              </a:rPr>
              <a:t>Already taken: Spotify's open-source developer portal, backstage.io</a:t>
            </a:r>
            <a:endParaRPr lang="en-US" sz="1600" dirty="0"/>
          </a:p>
        </p:txBody>
      </p:sp>
      <p:sp>
        <p:nvSpPr>
          <p:cNvPr id="8" name="click-1"/>
          <p:cNvSpPr/>
          <p:nvPr/>
        </p:nvSpPr>
        <p:spPr>
          <a:xfrm>
            <a:off x="6172200" y="1828800"/>
            <a:ext cx="5440680" cy="2286000"/>
          </a:xfrm>
          <a:prstGeom prst="roundRect">
            <a:avLst>
              <a:gd name="adj" fmla="val 3600"/>
            </a:avLst>
          </a:prstGeom>
          <a:solidFill>
            <a:srgbClr val="14233A"/>
          </a:solidFill>
          <a:ln/>
          <a:effectLst>
            <a:outerShdw sx="100000" sy="100000" kx="0" ky="0" algn="bl" rotWithShape="0" blurRad="88900" dist="38100" dir="5400000">
              <a:srgbClr val="000000">
                <a:alpha val="13000"/>
              </a:srgbClr>
            </a:outerShdw>
          </a:effectLst>
        </p:spPr>
      </p:sp>
      <p:sp>
        <p:nvSpPr>
          <p:cNvPr id="9" name="click-1"/>
          <p:cNvSpPr/>
          <p:nvPr/>
        </p:nvSpPr>
        <p:spPr>
          <a:xfrm>
            <a:off x="6172200" y="2057400"/>
            <a:ext cx="5440680" cy="822960"/>
          </a:xfrm>
          <a:prstGeom prst="rect">
            <a:avLst/>
          </a:prstGeom>
          <a:noFill/>
          <a:ln/>
        </p:spPr>
        <p:txBody>
          <a:bodyPr wrap="square" lIns="0" tIns="0" rIns="0" bIns="0" rtlCol="0" anchor="ctr"/>
          <a:lstStyle/>
          <a:p>
            <a:pPr algn="ctr" indent="0" marL="0">
              <a:buNone/>
            </a:pPr>
            <a:r>
              <a:rPr lang="en-US" sz="3800" b="1" dirty="0">
                <a:solidFill>
                  <a:srgbClr val="E8A33D"/>
                </a:solidFill>
                <a:latin typeface="Cambria" pitchFamily="34" charset="0"/>
                <a:ea typeface="Cambria" pitchFamily="34" charset="-122"/>
                <a:cs typeface="Cambria" pitchFamily="34" charset="-120"/>
              </a:rPr>
              <a:t>Prop Loft</a:t>
            </a:r>
            <a:endParaRPr lang="en-US" sz="3800" dirty="0"/>
          </a:p>
        </p:txBody>
      </p:sp>
      <p:sp>
        <p:nvSpPr>
          <p:cNvPr id="10" name="click-1"/>
          <p:cNvSpPr/>
          <p:nvPr/>
        </p:nvSpPr>
        <p:spPr>
          <a:xfrm>
            <a:off x="6492240" y="2971800"/>
            <a:ext cx="4800600" cy="914400"/>
          </a:xfrm>
          <a:prstGeom prst="rect">
            <a:avLst/>
          </a:prstGeom>
          <a:noFill/>
          <a:ln/>
        </p:spPr>
        <p:txBody>
          <a:bodyPr wrap="square" lIns="0" tIns="0" rIns="0" bIns="0" rtlCol="0" anchor="t"/>
          <a:lstStyle/>
          <a:p>
            <a:pPr algn="ctr" indent="0" marL="0">
              <a:buNone/>
            </a:pPr>
            <a:r>
              <a:rPr lang="en-US" sz="1600" dirty="0">
                <a:solidFill>
                  <a:srgbClr val="CFE0E9"/>
                </a:solidFill>
                <a:latin typeface="Calibri" pitchFamily="34" charset="0"/>
                <a:ea typeface="Calibri" pitchFamily="34" charset="-122"/>
                <a:cs typeface="Calibri" pitchFamily="34" charset="-120"/>
              </a:rPr>
              <a:t>Every item a production stores: costumes first, then props and set pieces</a:t>
            </a:r>
            <a:endParaRPr lang="en-US" sz="1600" dirty="0"/>
          </a:p>
        </p:txBody>
      </p:sp>
      <p:sp>
        <p:nvSpPr>
          <p:cNvPr id="11" name="click-2"/>
          <p:cNvSpPr/>
          <p:nvPr/>
        </p:nvSpPr>
        <p:spPr>
          <a:xfrm>
            <a:off x="548640" y="4389120"/>
            <a:ext cx="11064240" cy="822960"/>
          </a:xfrm>
          <a:prstGeom prst="roundRect">
            <a:avLst>
              <a:gd name="adj" fmla="val 10000"/>
            </a:avLst>
          </a:prstGeom>
          <a:solidFill>
            <a:srgbClr val="FBEEDA"/>
          </a:solidFill>
          <a:ln/>
          <a:effectLst>
            <a:outerShdw sx="100000" sy="100000" kx="0" ky="0" algn="bl" rotWithShape="0" blurRad="88900" dist="38100" dir="5400000">
              <a:srgbClr val="000000">
                <a:alpha val="13000"/>
              </a:srgbClr>
            </a:outerShdw>
          </a:effectLst>
        </p:spPr>
      </p:sp>
      <p:sp>
        <p:nvSpPr>
          <p:cNvPr id="12" name="click-2"/>
          <p:cNvSpPr/>
          <p:nvPr/>
        </p:nvSpPr>
        <p:spPr>
          <a:xfrm>
            <a:off x="868680" y="4389120"/>
            <a:ext cx="10424160" cy="822960"/>
          </a:xfrm>
          <a:prstGeom prst="rect">
            <a:avLst/>
          </a:prstGeom>
          <a:noFill/>
          <a:ln/>
        </p:spPr>
        <p:txBody>
          <a:bodyPr wrap="square" lIns="0" tIns="0" rIns="0" bIns="0" rtlCol="0" anchor="ctr"/>
          <a:lstStyle/>
          <a:p>
            <a:pPr algn="ctr" indent="0" marL="0">
              <a:buNone/>
            </a:pPr>
            <a:r>
              <a:rPr lang="en-US" sz="2100" b="1" dirty="0">
                <a:solidFill>
                  <a:srgbClr val="1E2A36"/>
                </a:solidFill>
                <a:latin typeface="Cambria" pitchFamily="34" charset="0"/>
                <a:ea typeface="Cambria" pitchFamily="34" charset="-122"/>
                <a:cs typeface="Cambria" pitchFamily="34" charset="-120"/>
              </a:rPr>
              <a:t>Name for where the project is going. Scope for where it starts.</a:t>
            </a:r>
            <a:endParaRPr lang="en-US" sz="2100" dirty="0"/>
          </a:p>
        </p:txBody>
      </p:sp>
      <p:sp>
        <p:nvSpPr>
          <p:cNvPr id="13" name="Text 11"/>
          <p:cNvSpPr/>
          <p:nvPr/>
        </p:nvSpPr>
        <p:spPr>
          <a:xfrm>
            <a:off x="548640" y="5486400"/>
            <a:ext cx="11064240" cy="411480"/>
          </a:xfrm>
          <a:prstGeom prst="rect">
            <a:avLst/>
          </a:prstGeom>
          <a:noFill/>
          <a:ln/>
        </p:spPr>
        <p:txBody>
          <a:bodyPr wrap="square" lIns="0" tIns="0" rIns="0" bIns="0" rtlCol="0" anchor="ctr"/>
          <a:lstStyle/>
          <a:p>
            <a:pPr algn="ctr" indent="0" marL="0">
              <a:buNone/>
            </a:pPr>
            <a:r>
              <a:rPr lang="en-US" sz="1500" dirty="0">
                <a:solidFill>
                  <a:srgbClr val="5F7284"/>
                </a:solidFill>
                <a:latin typeface="Calibri" pitchFamily="34" charset="0"/>
                <a:ea typeface="Calibri" pitchFamily="34" charset="-122"/>
                <a:cs typeface="Calibri" pitchFamily="34" charset="-120"/>
              </a:rPr>
              <a:t>Django · Apache-2.0 · public · github.com/prop-loft/prop-loft</a:t>
            </a:r>
            <a:endParaRPr lang="en-US" sz="1500" dirty="0"/>
          </a:p>
        </p:txBody>
      </p:sp>
      <p:sp>
        <p:nvSpPr>
          <p:cNvPr id="14" name="Text 1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5"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4" presetID="1"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LIVE · 20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loop, once, start to finish</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Watch for each step. Wednesday you'll do all of them yourselves.</a:t>
            </a:r>
            <a:endParaRPr lang="en-US" sz="1600" dirty="0"/>
          </a:p>
        </p:txBody>
      </p:sp>
      <p:sp>
        <p:nvSpPr>
          <p:cNvPr id="7" name="Shape 5"/>
          <p:cNvSpPr/>
          <p:nvPr/>
        </p:nvSpPr>
        <p:spPr>
          <a:xfrm>
            <a:off x="548640" y="2148840"/>
            <a:ext cx="11064240" cy="519379"/>
          </a:xfrm>
          <a:prstGeom prst="roundRect">
            <a:avLst>
              <a:gd name="adj" fmla="val 15845"/>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179930"/>
            <a:ext cx="457200" cy="457200"/>
          </a:xfrm>
          <a:prstGeom prst="ellipse">
            <a:avLst/>
          </a:prstGeom>
          <a:solidFill>
            <a:srgbClr val="E8A33D"/>
          </a:solidFill>
          <a:ln/>
        </p:spPr>
      </p:sp>
      <p:sp>
        <p:nvSpPr>
          <p:cNvPr id="9" name="Text 7"/>
          <p:cNvSpPr/>
          <p:nvPr/>
        </p:nvSpPr>
        <p:spPr>
          <a:xfrm>
            <a:off x="777240" y="217993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6309360" cy="519379"/>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Branch, and four logical commits</a:t>
            </a:r>
            <a:endParaRPr lang="en-US" sz="1600" dirty="0"/>
          </a:p>
        </p:txBody>
      </p:sp>
      <p:sp>
        <p:nvSpPr>
          <p:cNvPr id="11" name="Text 9"/>
          <p:cNvSpPr/>
          <p:nvPr/>
        </p:nvSpPr>
        <p:spPr>
          <a:xfrm>
            <a:off x="7772400" y="2148840"/>
            <a:ext cx="3657600" cy="519379"/>
          </a:xfrm>
          <a:prstGeom prst="rect">
            <a:avLst/>
          </a:prstGeom>
          <a:noFill/>
          <a:ln/>
        </p:spPr>
        <p:txBody>
          <a:bodyPr wrap="square" lIns="0" tIns="0" rIns="0" bIns="0" rtlCol="0" anchor="ctr"/>
          <a:lstStyle/>
          <a:p>
            <a:pPr algn="r" indent="0" marL="0">
              <a:buNone/>
            </a:pPr>
            <a:r>
              <a:rPr lang="en-US" sz="1500" b="1" dirty="0">
                <a:solidFill>
                  <a:srgbClr val="E8A33D"/>
                </a:solidFill>
                <a:latin typeface="Calibri" pitchFamily="34" charset="0"/>
                <a:ea typeface="Calibri" pitchFamily="34" charset="-122"/>
                <a:cs typeface="Calibri" pitchFamily="34" charset="-120"/>
              </a:rPr>
              <a:t>feat/item-search</a:t>
            </a:r>
            <a:endParaRPr lang="en-US" sz="1500" dirty="0"/>
          </a:p>
        </p:txBody>
      </p:sp>
      <p:sp>
        <p:nvSpPr>
          <p:cNvPr id="12" name="Shape 10"/>
          <p:cNvSpPr/>
          <p:nvPr/>
        </p:nvSpPr>
        <p:spPr>
          <a:xfrm>
            <a:off x="548640" y="2796235"/>
            <a:ext cx="11064240" cy="519379"/>
          </a:xfrm>
          <a:prstGeom prst="roundRect">
            <a:avLst>
              <a:gd name="adj" fmla="val 15845"/>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2827325"/>
            <a:ext cx="457200" cy="457200"/>
          </a:xfrm>
          <a:prstGeom prst="ellipse">
            <a:avLst/>
          </a:prstGeom>
          <a:solidFill>
            <a:srgbClr val="E8A33D"/>
          </a:solidFill>
          <a:ln/>
        </p:spPr>
      </p:sp>
      <p:sp>
        <p:nvSpPr>
          <p:cNvPr id="14" name="Text 12"/>
          <p:cNvSpPr/>
          <p:nvPr/>
        </p:nvSpPr>
        <p:spPr>
          <a:xfrm>
            <a:off x="777240" y="2827325"/>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2796235"/>
            <a:ext cx="6309360" cy="519379"/>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Push, and open a draft pull request</a:t>
            </a:r>
            <a:endParaRPr lang="en-US" sz="1600" dirty="0"/>
          </a:p>
        </p:txBody>
      </p:sp>
      <p:sp>
        <p:nvSpPr>
          <p:cNvPr id="16" name="Text 14"/>
          <p:cNvSpPr/>
          <p:nvPr/>
        </p:nvSpPr>
        <p:spPr>
          <a:xfrm>
            <a:off x="7772400" y="2796235"/>
            <a:ext cx="3657600" cy="519379"/>
          </a:xfrm>
          <a:prstGeom prst="rect">
            <a:avLst/>
          </a:prstGeom>
          <a:noFill/>
          <a:ln/>
        </p:spPr>
        <p:txBody>
          <a:bodyPr wrap="square" lIns="0" tIns="0" rIns="0" bIns="0" rtlCol="0" anchor="ctr"/>
          <a:lstStyle/>
          <a:p>
            <a:pPr algn="r" indent="0" marL="0">
              <a:buNone/>
            </a:pPr>
            <a:r>
              <a:rPr lang="en-US" sz="1500" b="1" dirty="0">
                <a:solidFill>
                  <a:srgbClr val="E8A33D"/>
                </a:solidFill>
                <a:latin typeface="Calibri" pitchFamily="34" charset="0"/>
                <a:ea typeface="Calibri" pitchFamily="34" charset="-122"/>
                <a:cs typeface="Calibri" pitchFamily="34" charset="-120"/>
              </a:rPr>
              <a:t>problem · approach · look here first</a:t>
            </a:r>
            <a:endParaRPr lang="en-US" sz="1500" dirty="0"/>
          </a:p>
        </p:txBody>
      </p:sp>
      <p:sp>
        <p:nvSpPr>
          <p:cNvPr id="17" name="Shape 15"/>
          <p:cNvSpPr/>
          <p:nvPr/>
        </p:nvSpPr>
        <p:spPr>
          <a:xfrm>
            <a:off x="548640" y="3443630"/>
            <a:ext cx="11064240" cy="519379"/>
          </a:xfrm>
          <a:prstGeom prst="roundRect">
            <a:avLst>
              <a:gd name="adj" fmla="val 15845"/>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3474720"/>
            <a:ext cx="457200" cy="457200"/>
          </a:xfrm>
          <a:prstGeom prst="ellipse">
            <a:avLst/>
          </a:prstGeom>
          <a:solidFill>
            <a:srgbClr val="E8A33D"/>
          </a:solidFill>
          <a:ln/>
        </p:spPr>
      </p:sp>
      <p:sp>
        <p:nvSpPr>
          <p:cNvPr id="19" name="Text 17"/>
          <p:cNvSpPr/>
          <p:nvPr/>
        </p:nvSpPr>
        <p:spPr>
          <a:xfrm>
            <a:off x="777240" y="347472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3443630"/>
            <a:ext cx="6309360" cy="519379"/>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classmate reviews it</a:t>
            </a:r>
            <a:endParaRPr lang="en-US" sz="1600" dirty="0"/>
          </a:p>
        </p:txBody>
      </p:sp>
      <p:sp>
        <p:nvSpPr>
          <p:cNvPr id="21" name="Text 19"/>
          <p:cNvSpPr/>
          <p:nvPr/>
        </p:nvSpPr>
        <p:spPr>
          <a:xfrm>
            <a:off x="7772400" y="3443630"/>
            <a:ext cx="3657600" cy="519379"/>
          </a:xfrm>
          <a:prstGeom prst="rect">
            <a:avLst/>
          </a:prstGeom>
          <a:noFill/>
          <a:ln/>
        </p:spPr>
        <p:txBody>
          <a:bodyPr wrap="square" lIns="0" tIns="0" rIns="0" bIns="0" rtlCol="0" anchor="ctr"/>
          <a:lstStyle/>
          <a:p>
            <a:pPr algn="r" indent="0" marL="0">
              <a:buNone/>
            </a:pPr>
            <a:r>
              <a:rPr lang="en-US" sz="1500" b="1" dirty="0">
                <a:solidFill>
                  <a:srgbClr val="E8A33D"/>
                </a:solidFill>
                <a:latin typeface="Calibri" pitchFamily="34" charset="0"/>
                <a:ea typeface="Calibri" pitchFamily="34" charset="-122"/>
                <a:cs typeface="Calibri" pitchFamily="34" charset="-120"/>
              </a:rPr>
              <a:t>one real bug, one scope question</a:t>
            </a:r>
            <a:endParaRPr lang="en-US" sz="1500" dirty="0"/>
          </a:p>
        </p:txBody>
      </p:sp>
      <p:sp>
        <p:nvSpPr>
          <p:cNvPr id="22" name="Shape 20"/>
          <p:cNvSpPr/>
          <p:nvPr/>
        </p:nvSpPr>
        <p:spPr>
          <a:xfrm>
            <a:off x="548640" y="4091026"/>
            <a:ext cx="11064240" cy="519379"/>
          </a:xfrm>
          <a:prstGeom prst="roundRect">
            <a:avLst>
              <a:gd name="adj" fmla="val 15845"/>
            </a:avLst>
          </a:prstGeom>
          <a:solidFill>
            <a:srgbClr val="1E3352"/>
          </a:solidFill>
          <a:ln/>
          <a:effectLst>
            <a:outerShdw sx="100000" sy="100000" kx="0" ky="0" algn="bl" rotWithShape="0" blurRad="88900" dist="38100" dir="5400000">
              <a:srgbClr val="000000">
                <a:alpha val="13000"/>
              </a:srgbClr>
            </a:outerShdw>
          </a:effectLst>
        </p:spPr>
      </p:sp>
      <p:sp>
        <p:nvSpPr>
          <p:cNvPr id="23" name="Shape 21"/>
          <p:cNvSpPr/>
          <p:nvPr/>
        </p:nvSpPr>
        <p:spPr>
          <a:xfrm>
            <a:off x="777240" y="4122115"/>
            <a:ext cx="457200" cy="457200"/>
          </a:xfrm>
          <a:prstGeom prst="ellipse">
            <a:avLst/>
          </a:prstGeom>
          <a:solidFill>
            <a:srgbClr val="E8A33D"/>
          </a:solidFill>
          <a:ln/>
        </p:spPr>
      </p:sp>
      <p:sp>
        <p:nvSpPr>
          <p:cNvPr id="24" name="Text 22"/>
          <p:cNvSpPr/>
          <p:nvPr/>
        </p:nvSpPr>
        <p:spPr>
          <a:xfrm>
            <a:off x="777240" y="4122115"/>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4091026"/>
            <a:ext cx="6309360" cy="519379"/>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Fix one comment with a commit; answer the other with reasons</a:t>
            </a:r>
            <a:endParaRPr lang="en-US" sz="1600" dirty="0"/>
          </a:p>
        </p:txBody>
      </p:sp>
      <p:sp>
        <p:nvSpPr>
          <p:cNvPr id="26" name="Text 24"/>
          <p:cNvSpPr/>
          <p:nvPr/>
        </p:nvSpPr>
        <p:spPr>
          <a:xfrm>
            <a:off x="7772400" y="4091026"/>
            <a:ext cx="3657600" cy="519379"/>
          </a:xfrm>
          <a:prstGeom prst="rect">
            <a:avLst/>
          </a:prstGeom>
          <a:noFill/>
          <a:ln/>
        </p:spPr>
        <p:txBody>
          <a:bodyPr wrap="square" lIns="0" tIns="0" rIns="0" bIns="0" rtlCol="0" anchor="ctr"/>
          <a:lstStyle/>
          <a:p>
            <a:pPr algn="r" indent="0" marL="0">
              <a:buNone/>
            </a:pPr>
            <a:r>
              <a:rPr lang="en-US" sz="1500" b="1" dirty="0">
                <a:solidFill>
                  <a:srgbClr val="E8A33D"/>
                </a:solidFill>
                <a:latin typeface="Calibri" pitchFamily="34" charset="0"/>
                <a:ea typeface="Calibri" pitchFamily="34" charset="-122"/>
                <a:cs typeface="Calibri" pitchFamily="34" charset="-120"/>
              </a:rPr>
              <a:t>and an issue</a:t>
            </a:r>
            <a:endParaRPr lang="en-US" sz="1500" dirty="0"/>
          </a:p>
        </p:txBody>
      </p:sp>
      <p:sp>
        <p:nvSpPr>
          <p:cNvPr id="27" name="Shape 25"/>
          <p:cNvSpPr/>
          <p:nvPr/>
        </p:nvSpPr>
        <p:spPr>
          <a:xfrm>
            <a:off x="548640" y="4738421"/>
            <a:ext cx="11064240" cy="519379"/>
          </a:xfrm>
          <a:prstGeom prst="roundRect">
            <a:avLst>
              <a:gd name="adj" fmla="val 15845"/>
            </a:avLst>
          </a:prstGeom>
          <a:solidFill>
            <a:srgbClr val="1E3352"/>
          </a:solidFill>
          <a:ln/>
          <a:effectLst>
            <a:outerShdw sx="100000" sy="100000" kx="0" ky="0" algn="bl" rotWithShape="0" blurRad="88900" dist="38100" dir="5400000">
              <a:srgbClr val="000000">
                <a:alpha val="13000"/>
              </a:srgbClr>
            </a:outerShdw>
          </a:effectLst>
        </p:spPr>
      </p:sp>
      <p:sp>
        <p:nvSpPr>
          <p:cNvPr id="28" name="Shape 26"/>
          <p:cNvSpPr/>
          <p:nvPr/>
        </p:nvSpPr>
        <p:spPr>
          <a:xfrm>
            <a:off x="777240" y="4769510"/>
            <a:ext cx="457200" cy="457200"/>
          </a:xfrm>
          <a:prstGeom prst="ellipse">
            <a:avLst/>
          </a:prstGeom>
          <a:solidFill>
            <a:srgbClr val="E8A33D"/>
          </a:solidFill>
          <a:ln/>
        </p:spPr>
      </p:sp>
      <p:sp>
        <p:nvSpPr>
          <p:cNvPr id="29" name="Text 27"/>
          <p:cNvSpPr/>
          <p:nvPr/>
        </p:nvSpPr>
        <p:spPr>
          <a:xfrm>
            <a:off x="777240" y="476951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5</a:t>
            </a:r>
            <a:endParaRPr lang="en-US" sz="2000" dirty="0"/>
          </a:p>
        </p:txBody>
      </p:sp>
      <p:sp>
        <p:nvSpPr>
          <p:cNvPr id="30" name="Text 28"/>
          <p:cNvSpPr/>
          <p:nvPr/>
        </p:nvSpPr>
        <p:spPr>
          <a:xfrm>
            <a:off x="1417320" y="4738421"/>
            <a:ext cx="6309360" cy="519379"/>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Merge, and read the history it leaves</a:t>
            </a:r>
            <a:endParaRPr lang="en-US" sz="1600" dirty="0"/>
          </a:p>
        </p:txBody>
      </p:sp>
      <p:sp>
        <p:nvSpPr>
          <p:cNvPr id="31" name="Text 29"/>
          <p:cNvSpPr/>
          <p:nvPr/>
        </p:nvSpPr>
        <p:spPr>
          <a:xfrm>
            <a:off x="7772400" y="4738421"/>
            <a:ext cx="3657600" cy="519379"/>
          </a:xfrm>
          <a:prstGeom prst="rect">
            <a:avLst/>
          </a:prstGeom>
          <a:noFill/>
          <a:ln/>
        </p:spPr>
        <p:txBody>
          <a:bodyPr wrap="square" lIns="0" tIns="0" rIns="0" bIns="0" rtlCol="0" anchor="ctr"/>
          <a:lstStyle/>
          <a:p>
            <a:pPr algn="r" indent="0" marL="0">
              <a:buNone/>
            </a:pPr>
            <a:r>
              <a:rPr lang="en-US" sz="1500" b="1" dirty="0">
                <a:solidFill>
                  <a:srgbClr val="E8A33D"/>
                </a:solidFill>
                <a:latin typeface="Calibri" pitchFamily="34" charset="0"/>
                <a:ea typeface="Calibri" pitchFamily="34" charset="-122"/>
                <a:cs typeface="Calibri" pitchFamily="34" charset="-120"/>
              </a:rPr>
              <a:t>merge · squash · rebase</a:t>
            </a:r>
            <a:endParaRPr lang="en-US" sz="1500" dirty="0"/>
          </a:p>
        </p:txBody>
      </p:sp>
      <p:sp>
        <p:nvSpPr>
          <p:cNvPr id="32" name="Shape 30"/>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33" name="Text 31"/>
          <p:cNvSpPr/>
          <p:nvPr/>
        </p:nvSpPr>
        <p:spPr>
          <a:xfrm>
            <a:off x="914400" y="5440680"/>
            <a:ext cx="10332720" cy="731520"/>
          </a:xfrm>
          <a:prstGeom prst="rect">
            <a:avLst/>
          </a:prstGeom>
          <a:noFill/>
          <a:ln/>
        </p:spPr>
        <p:txBody>
          <a:bodyPr wrap="square" lIns="0" tIns="0" rIns="0" bIns="0" rtlCol="0" anchor="ctr"/>
          <a:lstStyle/>
          <a:p>
            <a:pPr indent="0" marL="0">
              <a:buNone/>
            </a:pPr>
            <a:r>
              <a:rPr lang="en-US" sz="1700" b="1" dirty="0">
                <a:solidFill>
                  <a:srgbClr val="14233A"/>
                </a:solidFill>
                <a:latin typeface="Calibri" pitchFamily="34" charset="0"/>
                <a:ea typeface="Calibri" pitchFamily="34" charset="-122"/>
                <a:cs typeface="Calibri" pitchFamily="34" charset="-120"/>
              </a:rPr>
              <a:t>Follow along: github.com/prop-loft/prop-loft-demo</a:t>
            </a:r>
            <a:endParaRPr lang="en-US" sz="1700" dirty="0"/>
          </a:p>
        </p:txBody>
      </p:sp>
      <p:sp>
        <p:nvSpPr>
          <p:cNvPr id="34" name="Text 3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13 · Git for Maintainers</a:t>
            </a:r>
            <a:endParaRPr lang="en-US" sz="1000" dirty="0"/>
          </a:p>
        </p:txBody>
      </p:sp>
      <p:sp>
        <p:nvSpPr>
          <p:cNvPr id="35" name="Text 3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MERGE UNDER POLICY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ways to merge, three different histories</a:t>
            </a:r>
            <a:endParaRPr lang="en-US" sz="3100" dirty="0"/>
          </a:p>
        </p:txBody>
      </p:sp>
      <p:sp>
        <p:nvSpPr>
          <p:cNvPr id="5" name="click-1"/>
          <p:cNvSpPr/>
          <p:nvPr/>
        </p:nvSpPr>
        <p:spPr>
          <a:xfrm>
            <a:off x="548640" y="1783080"/>
            <a:ext cx="3566160" cy="3657600"/>
          </a:xfrm>
          <a:prstGeom prst="roundRect">
            <a:avLst>
              <a:gd name="adj" fmla="val 2308"/>
            </a:avLst>
          </a:prstGeom>
          <a:solidFill>
            <a:srgbClr val="F2F6F8"/>
          </a:solidFill>
          <a:ln/>
          <a:effectLst>
            <a:outerShdw sx="100000" sy="100000" kx="0" ky="0" algn="bl" rotWithShape="0" blurRad="88900" dist="38100" dir="5400000">
              <a:srgbClr val="000000">
                <a:alpha val="13000"/>
              </a:srgbClr>
            </a:outerShdw>
          </a:effectLst>
        </p:spPr>
      </p:sp>
      <p:sp>
        <p:nvSpPr>
          <p:cNvPr id="6" name="click-1"/>
          <p:cNvSpPr/>
          <p:nvPr/>
        </p:nvSpPr>
        <p:spPr>
          <a:xfrm>
            <a:off x="777240" y="1920240"/>
            <a:ext cx="310896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Merge commit</a:t>
            </a:r>
            <a:endParaRPr lang="en-US" sz="1900" dirty="0"/>
          </a:p>
        </p:txBody>
      </p:sp>
      <p:sp>
        <p:nvSpPr>
          <p:cNvPr id="7" name="click-1"/>
          <p:cNvSpPr/>
          <p:nvPr/>
        </p:nvSpPr>
        <p:spPr>
          <a:xfrm>
            <a:off x="914400" y="2788920"/>
            <a:ext cx="2468880" cy="914"/>
          </a:xfrm>
          <a:prstGeom prst="line">
            <a:avLst/>
          </a:prstGeom>
          <a:noFill/>
          <a:ln w="28575">
            <a:solidFill>
              <a:srgbClr val="5F7284"/>
            </a:solidFill>
            <a:prstDash val="solid"/>
          </a:ln>
        </p:spPr>
      </p:sp>
      <p:sp>
        <p:nvSpPr>
          <p:cNvPr id="8" name="click-1"/>
          <p:cNvSpPr/>
          <p:nvPr/>
        </p:nvSpPr>
        <p:spPr>
          <a:xfrm>
            <a:off x="1325880" y="2788920"/>
            <a:ext cx="411480" cy="457200"/>
          </a:xfrm>
          <a:prstGeom prst="line">
            <a:avLst/>
          </a:prstGeom>
          <a:noFill/>
          <a:ln w="28575">
            <a:solidFill>
              <a:srgbClr val="12908F"/>
            </a:solidFill>
            <a:prstDash val="solid"/>
          </a:ln>
        </p:spPr>
      </p:sp>
      <p:sp>
        <p:nvSpPr>
          <p:cNvPr id="9" name="click-1"/>
          <p:cNvSpPr/>
          <p:nvPr/>
        </p:nvSpPr>
        <p:spPr>
          <a:xfrm>
            <a:off x="1737360" y="3246120"/>
            <a:ext cx="822960" cy="914"/>
          </a:xfrm>
          <a:prstGeom prst="line">
            <a:avLst/>
          </a:prstGeom>
          <a:noFill/>
          <a:ln w="28575">
            <a:solidFill>
              <a:srgbClr val="12908F"/>
            </a:solidFill>
            <a:prstDash val="solid"/>
          </a:ln>
        </p:spPr>
      </p:sp>
      <p:sp>
        <p:nvSpPr>
          <p:cNvPr id="10" name="click-1"/>
          <p:cNvSpPr/>
          <p:nvPr/>
        </p:nvSpPr>
        <p:spPr>
          <a:xfrm flipV="1">
            <a:off x="2560320" y="2788920"/>
            <a:ext cx="411480" cy="457200"/>
          </a:xfrm>
          <a:prstGeom prst="line">
            <a:avLst/>
          </a:prstGeom>
          <a:noFill/>
          <a:ln w="28575">
            <a:solidFill>
              <a:srgbClr val="12908F"/>
            </a:solidFill>
            <a:prstDash val="solid"/>
          </a:ln>
        </p:spPr>
      </p:sp>
      <p:sp>
        <p:nvSpPr>
          <p:cNvPr id="11" name="click-1"/>
          <p:cNvSpPr/>
          <p:nvPr/>
        </p:nvSpPr>
        <p:spPr>
          <a:xfrm>
            <a:off x="813816" y="2688336"/>
            <a:ext cx="201168" cy="201168"/>
          </a:xfrm>
          <a:prstGeom prst="ellipse">
            <a:avLst/>
          </a:prstGeom>
          <a:solidFill>
            <a:srgbClr val="5F7284"/>
          </a:solidFill>
          <a:ln/>
        </p:spPr>
      </p:sp>
      <p:sp>
        <p:nvSpPr>
          <p:cNvPr id="12" name="click-1"/>
          <p:cNvSpPr/>
          <p:nvPr/>
        </p:nvSpPr>
        <p:spPr>
          <a:xfrm>
            <a:off x="1225296" y="2688336"/>
            <a:ext cx="201168" cy="201168"/>
          </a:xfrm>
          <a:prstGeom prst="ellipse">
            <a:avLst/>
          </a:prstGeom>
          <a:solidFill>
            <a:srgbClr val="5F7284"/>
          </a:solidFill>
          <a:ln/>
        </p:spPr>
      </p:sp>
      <p:sp>
        <p:nvSpPr>
          <p:cNvPr id="13" name="click-1"/>
          <p:cNvSpPr/>
          <p:nvPr/>
        </p:nvSpPr>
        <p:spPr>
          <a:xfrm>
            <a:off x="2871216" y="2688336"/>
            <a:ext cx="201168" cy="201168"/>
          </a:xfrm>
          <a:prstGeom prst="ellipse">
            <a:avLst/>
          </a:prstGeom>
          <a:solidFill>
            <a:srgbClr val="5F7284"/>
          </a:solidFill>
          <a:ln/>
        </p:spPr>
      </p:sp>
      <p:sp>
        <p:nvSpPr>
          <p:cNvPr id="14" name="click-1"/>
          <p:cNvSpPr/>
          <p:nvPr/>
        </p:nvSpPr>
        <p:spPr>
          <a:xfrm>
            <a:off x="3282696" y="2688336"/>
            <a:ext cx="201168" cy="201168"/>
          </a:xfrm>
          <a:prstGeom prst="ellipse">
            <a:avLst/>
          </a:prstGeom>
          <a:solidFill>
            <a:srgbClr val="5F7284"/>
          </a:solidFill>
          <a:ln/>
        </p:spPr>
      </p:sp>
      <p:sp>
        <p:nvSpPr>
          <p:cNvPr id="15" name="click-1"/>
          <p:cNvSpPr/>
          <p:nvPr/>
        </p:nvSpPr>
        <p:spPr>
          <a:xfrm>
            <a:off x="1636776" y="3145536"/>
            <a:ext cx="201168" cy="201168"/>
          </a:xfrm>
          <a:prstGeom prst="ellipse">
            <a:avLst/>
          </a:prstGeom>
          <a:solidFill>
            <a:srgbClr val="12908F"/>
          </a:solidFill>
          <a:ln/>
        </p:spPr>
      </p:sp>
      <p:sp>
        <p:nvSpPr>
          <p:cNvPr id="16" name="click-1"/>
          <p:cNvSpPr/>
          <p:nvPr/>
        </p:nvSpPr>
        <p:spPr>
          <a:xfrm>
            <a:off x="2048256" y="3145536"/>
            <a:ext cx="201168" cy="201168"/>
          </a:xfrm>
          <a:prstGeom prst="ellipse">
            <a:avLst/>
          </a:prstGeom>
          <a:solidFill>
            <a:srgbClr val="12908F"/>
          </a:solidFill>
          <a:ln/>
        </p:spPr>
      </p:sp>
      <p:sp>
        <p:nvSpPr>
          <p:cNvPr id="17" name="click-1"/>
          <p:cNvSpPr/>
          <p:nvPr/>
        </p:nvSpPr>
        <p:spPr>
          <a:xfrm>
            <a:off x="2459736" y="3145536"/>
            <a:ext cx="201168" cy="201168"/>
          </a:xfrm>
          <a:prstGeom prst="ellipse">
            <a:avLst/>
          </a:prstGeom>
          <a:solidFill>
            <a:srgbClr val="12908F"/>
          </a:solidFill>
          <a:ln/>
        </p:spPr>
      </p:sp>
      <p:sp>
        <p:nvSpPr>
          <p:cNvPr id="18" name="click-1"/>
          <p:cNvSpPr/>
          <p:nvPr/>
        </p:nvSpPr>
        <p:spPr>
          <a:xfrm>
            <a:off x="777240" y="3520440"/>
            <a:ext cx="3108960" cy="914400"/>
          </a:xfrm>
          <a:prstGeom prst="rect">
            <a:avLst/>
          </a:prstGeom>
          <a:noFill/>
          <a:ln/>
        </p:spPr>
        <p:txBody>
          <a:bodyPr wrap="square" lIns="0" tIns="0" rIns="0" bIns="0" rtlCol="0" anchor="t"/>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Keeps every branch commit, plus a commit that joins them.</a:t>
            </a:r>
            <a:endParaRPr lang="en-US" sz="1600" dirty="0"/>
          </a:p>
        </p:txBody>
      </p:sp>
      <p:sp>
        <p:nvSpPr>
          <p:cNvPr id="19" name="click-1"/>
          <p:cNvSpPr/>
          <p:nvPr/>
        </p:nvSpPr>
        <p:spPr>
          <a:xfrm>
            <a:off x="777240" y="4526280"/>
            <a:ext cx="3108960" cy="777240"/>
          </a:xfrm>
          <a:prstGeom prst="rect">
            <a:avLst/>
          </a:prstGeom>
          <a:noFill/>
          <a:ln/>
        </p:spPr>
        <p:txBody>
          <a:bodyPr wrap="square" lIns="0" tIns="0" rIns="0" bIns="0" rtlCol="0" anchor="t"/>
          <a:lstStyle/>
          <a:p>
            <a:pPr indent="0" marL="0">
              <a:buNone/>
            </a:pPr>
            <a:r>
              <a:rPr lang="en-US" sz="1500" i="1" dirty="0">
                <a:solidFill>
                  <a:srgbClr val="5F7284"/>
                </a:solidFill>
                <a:latin typeface="Calibri" pitchFamily="34" charset="0"/>
                <a:ea typeface="Calibri" pitchFamily="34" charset="-122"/>
                <a:cs typeface="Calibri" pitchFamily="34" charset="-120"/>
              </a:rPr>
              <a:t>Full history; a busier log.</a:t>
            </a:r>
            <a:endParaRPr lang="en-US" sz="1500" dirty="0"/>
          </a:p>
        </p:txBody>
      </p:sp>
      <p:sp>
        <p:nvSpPr>
          <p:cNvPr id="20" name="click-2"/>
          <p:cNvSpPr/>
          <p:nvPr/>
        </p:nvSpPr>
        <p:spPr>
          <a:xfrm>
            <a:off x="4297680" y="1783080"/>
            <a:ext cx="3566160" cy="3657600"/>
          </a:xfrm>
          <a:prstGeom prst="roundRect">
            <a:avLst>
              <a:gd name="adj" fmla="val 2308"/>
            </a:avLst>
          </a:prstGeom>
          <a:solidFill>
            <a:srgbClr val="14233A"/>
          </a:solidFill>
          <a:ln/>
          <a:effectLst>
            <a:outerShdw sx="100000" sy="100000" kx="0" ky="0" algn="bl" rotWithShape="0" blurRad="88900" dist="38100" dir="5400000">
              <a:srgbClr val="000000">
                <a:alpha val="13000"/>
              </a:srgbClr>
            </a:outerShdw>
          </a:effectLst>
        </p:spPr>
      </p:sp>
      <p:sp>
        <p:nvSpPr>
          <p:cNvPr id="21" name="click-2"/>
          <p:cNvSpPr/>
          <p:nvPr/>
        </p:nvSpPr>
        <p:spPr>
          <a:xfrm>
            <a:off x="4526280" y="1920240"/>
            <a:ext cx="3108960" cy="457200"/>
          </a:xfrm>
          <a:prstGeom prst="rect">
            <a:avLst/>
          </a:prstGeom>
          <a:noFill/>
          <a:ln/>
        </p:spPr>
        <p:txBody>
          <a:bodyPr wrap="square" lIns="0" tIns="0" rIns="0" bIns="0" rtlCol="0" anchor="ctr"/>
          <a:lstStyle/>
          <a:p>
            <a:pPr indent="0" marL="0">
              <a:buNone/>
            </a:pPr>
            <a:r>
              <a:rPr lang="en-US" sz="1900" b="1" dirty="0">
                <a:solidFill>
                  <a:srgbClr val="E8A33D"/>
                </a:solidFill>
                <a:latin typeface="Calibri" pitchFamily="34" charset="0"/>
                <a:ea typeface="Calibri" pitchFamily="34" charset="-122"/>
                <a:cs typeface="Calibri" pitchFamily="34" charset="-120"/>
              </a:rPr>
              <a:t>Squash and merge</a:t>
            </a:r>
            <a:endParaRPr lang="en-US" sz="1900" dirty="0"/>
          </a:p>
        </p:txBody>
      </p:sp>
      <p:sp>
        <p:nvSpPr>
          <p:cNvPr id="22" name="click-2"/>
          <p:cNvSpPr/>
          <p:nvPr/>
        </p:nvSpPr>
        <p:spPr>
          <a:xfrm>
            <a:off x="4663440" y="2788920"/>
            <a:ext cx="2468880" cy="914"/>
          </a:xfrm>
          <a:prstGeom prst="line">
            <a:avLst/>
          </a:prstGeom>
          <a:noFill/>
          <a:ln w="28575">
            <a:solidFill>
              <a:srgbClr val="CFE0E9"/>
            </a:solidFill>
            <a:prstDash val="solid"/>
          </a:ln>
        </p:spPr>
      </p:sp>
      <p:sp>
        <p:nvSpPr>
          <p:cNvPr id="23" name="click-2"/>
          <p:cNvSpPr/>
          <p:nvPr/>
        </p:nvSpPr>
        <p:spPr>
          <a:xfrm>
            <a:off x="4562856" y="2688336"/>
            <a:ext cx="201168" cy="201168"/>
          </a:xfrm>
          <a:prstGeom prst="ellipse">
            <a:avLst/>
          </a:prstGeom>
          <a:solidFill>
            <a:srgbClr val="CFE0E9"/>
          </a:solidFill>
          <a:ln/>
        </p:spPr>
      </p:sp>
      <p:sp>
        <p:nvSpPr>
          <p:cNvPr id="24" name="click-2"/>
          <p:cNvSpPr/>
          <p:nvPr/>
        </p:nvSpPr>
        <p:spPr>
          <a:xfrm>
            <a:off x="4974336" y="2688336"/>
            <a:ext cx="201168" cy="201168"/>
          </a:xfrm>
          <a:prstGeom prst="ellipse">
            <a:avLst/>
          </a:prstGeom>
          <a:solidFill>
            <a:srgbClr val="CFE0E9"/>
          </a:solidFill>
          <a:ln/>
        </p:spPr>
      </p:sp>
      <p:sp>
        <p:nvSpPr>
          <p:cNvPr id="25" name="click-2"/>
          <p:cNvSpPr/>
          <p:nvPr/>
        </p:nvSpPr>
        <p:spPr>
          <a:xfrm>
            <a:off x="5385816" y="2688336"/>
            <a:ext cx="201168" cy="201168"/>
          </a:xfrm>
          <a:prstGeom prst="ellipse">
            <a:avLst/>
          </a:prstGeom>
          <a:solidFill>
            <a:srgbClr val="CFE0E9"/>
          </a:solidFill>
          <a:ln/>
        </p:spPr>
      </p:sp>
      <p:sp>
        <p:nvSpPr>
          <p:cNvPr id="26" name="click-2"/>
          <p:cNvSpPr/>
          <p:nvPr/>
        </p:nvSpPr>
        <p:spPr>
          <a:xfrm>
            <a:off x="7031736" y="2688336"/>
            <a:ext cx="201168" cy="201168"/>
          </a:xfrm>
          <a:prstGeom prst="ellipse">
            <a:avLst/>
          </a:prstGeom>
          <a:solidFill>
            <a:srgbClr val="CFE0E9"/>
          </a:solidFill>
          <a:ln/>
        </p:spPr>
      </p:sp>
      <p:sp>
        <p:nvSpPr>
          <p:cNvPr id="27" name="click-2"/>
          <p:cNvSpPr/>
          <p:nvPr/>
        </p:nvSpPr>
        <p:spPr>
          <a:xfrm>
            <a:off x="6208776" y="2688336"/>
            <a:ext cx="201168" cy="201168"/>
          </a:xfrm>
          <a:prstGeom prst="ellipse">
            <a:avLst/>
          </a:prstGeom>
          <a:solidFill>
            <a:srgbClr val="E8A33D"/>
          </a:solidFill>
          <a:ln/>
        </p:spPr>
      </p:sp>
      <p:sp>
        <p:nvSpPr>
          <p:cNvPr id="28" name="click-2"/>
          <p:cNvSpPr/>
          <p:nvPr/>
        </p:nvSpPr>
        <p:spPr>
          <a:xfrm>
            <a:off x="4526280" y="3520440"/>
            <a:ext cx="3108960" cy="914400"/>
          </a:xfrm>
          <a:prstGeom prst="rect">
            <a:avLst/>
          </a:prstGeom>
          <a:noFill/>
          <a:ln/>
        </p:spPr>
        <p:txBody>
          <a:bodyPr wrap="square" lIns="0" tIns="0" rIns="0" bIns="0" rtlCol="0" anchor="t"/>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The whole pull request becomes one commit on main.</a:t>
            </a:r>
            <a:endParaRPr lang="en-US" sz="1600" dirty="0"/>
          </a:p>
        </p:txBody>
      </p:sp>
      <p:sp>
        <p:nvSpPr>
          <p:cNvPr id="29" name="click-2"/>
          <p:cNvSpPr/>
          <p:nvPr/>
        </p:nvSpPr>
        <p:spPr>
          <a:xfrm>
            <a:off x="4526280" y="4526280"/>
            <a:ext cx="3108960" cy="777240"/>
          </a:xfrm>
          <a:prstGeom prst="rect">
            <a:avLst/>
          </a:prstGeom>
          <a:noFill/>
          <a:ln/>
        </p:spPr>
        <p:txBody>
          <a:bodyPr wrap="square" lIns="0" tIns="0" rIns="0" bIns="0" rtlCol="0" anchor="t"/>
          <a:lstStyle/>
          <a:p>
            <a:pPr indent="0" marL="0">
              <a:buNone/>
            </a:pPr>
            <a:r>
              <a:rPr lang="en-US" sz="1500" i="1" dirty="0">
                <a:solidFill>
                  <a:srgbClr val="CFE0E9"/>
                </a:solidFill>
                <a:latin typeface="Calibri" pitchFamily="34" charset="0"/>
                <a:ea typeface="Calibri" pitchFamily="34" charset="-122"/>
                <a:cs typeface="Calibri" pitchFamily="34" charset="-120"/>
              </a:rPr>
              <a:t>Linear; one revert undoes the change.</a:t>
            </a:r>
            <a:endParaRPr lang="en-US" sz="1500" dirty="0"/>
          </a:p>
        </p:txBody>
      </p:sp>
      <p:sp>
        <p:nvSpPr>
          <p:cNvPr id="30" name="click-3"/>
          <p:cNvSpPr/>
          <p:nvPr/>
        </p:nvSpPr>
        <p:spPr>
          <a:xfrm>
            <a:off x="8046720" y="1783080"/>
            <a:ext cx="3566160" cy="3657600"/>
          </a:xfrm>
          <a:prstGeom prst="roundRect">
            <a:avLst>
              <a:gd name="adj" fmla="val 2308"/>
            </a:avLst>
          </a:prstGeom>
          <a:solidFill>
            <a:srgbClr val="F2F6F8"/>
          </a:solidFill>
          <a:ln/>
          <a:effectLst>
            <a:outerShdw sx="100000" sy="100000" kx="0" ky="0" algn="bl" rotWithShape="0" blurRad="88900" dist="38100" dir="5400000">
              <a:srgbClr val="000000">
                <a:alpha val="13000"/>
              </a:srgbClr>
            </a:outerShdw>
          </a:effectLst>
        </p:spPr>
      </p:sp>
      <p:sp>
        <p:nvSpPr>
          <p:cNvPr id="31" name="click-3"/>
          <p:cNvSpPr/>
          <p:nvPr/>
        </p:nvSpPr>
        <p:spPr>
          <a:xfrm>
            <a:off x="8275320" y="1920240"/>
            <a:ext cx="310896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Rebase and merge</a:t>
            </a:r>
            <a:endParaRPr lang="en-US" sz="1900" dirty="0"/>
          </a:p>
        </p:txBody>
      </p:sp>
      <p:sp>
        <p:nvSpPr>
          <p:cNvPr id="32" name="click-3"/>
          <p:cNvSpPr/>
          <p:nvPr/>
        </p:nvSpPr>
        <p:spPr>
          <a:xfrm>
            <a:off x="8412480" y="2788920"/>
            <a:ext cx="2468880" cy="914"/>
          </a:xfrm>
          <a:prstGeom prst="line">
            <a:avLst/>
          </a:prstGeom>
          <a:noFill/>
          <a:ln w="28575">
            <a:solidFill>
              <a:srgbClr val="5F7284"/>
            </a:solidFill>
            <a:prstDash val="solid"/>
          </a:ln>
        </p:spPr>
      </p:sp>
      <p:sp>
        <p:nvSpPr>
          <p:cNvPr id="33" name="click-3"/>
          <p:cNvSpPr/>
          <p:nvPr/>
        </p:nvSpPr>
        <p:spPr>
          <a:xfrm>
            <a:off x="8311896" y="2688336"/>
            <a:ext cx="201168" cy="201168"/>
          </a:xfrm>
          <a:prstGeom prst="ellipse">
            <a:avLst/>
          </a:prstGeom>
          <a:solidFill>
            <a:srgbClr val="5F7284"/>
          </a:solidFill>
          <a:ln/>
        </p:spPr>
      </p:sp>
      <p:sp>
        <p:nvSpPr>
          <p:cNvPr id="34" name="click-3"/>
          <p:cNvSpPr/>
          <p:nvPr/>
        </p:nvSpPr>
        <p:spPr>
          <a:xfrm>
            <a:off x="8723376" y="2688336"/>
            <a:ext cx="201168" cy="201168"/>
          </a:xfrm>
          <a:prstGeom prst="ellipse">
            <a:avLst/>
          </a:prstGeom>
          <a:solidFill>
            <a:srgbClr val="5F7284"/>
          </a:solidFill>
          <a:ln/>
        </p:spPr>
      </p:sp>
      <p:sp>
        <p:nvSpPr>
          <p:cNvPr id="35" name="click-3"/>
          <p:cNvSpPr/>
          <p:nvPr/>
        </p:nvSpPr>
        <p:spPr>
          <a:xfrm>
            <a:off x="10780776" y="2688336"/>
            <a:ext cx="201168" cy="201168"/>
          </a:xfrm>
          <a:prstGeom prst="ellipse">
            <a:avLst/>
          </a:prstGeom>
          <a:solidFill>
            <a:srgbClr val="5F7284"/>
          </a:solidFill>
          <a:ln/>
        </p:spPr>
      </p:sp>
      <p:sp>
        <p:nvSpPr>
          <p:cNvPr id="36" name="click-3"/>
          <p:cNvSpPr/>
          <p:nvPr/>
        </p:nvSpPr>
        <p:spPr>
          <a:xfrm>
            <a:off x="9546336" y="2688336"/>
            <a:ext cx="201168" cy="201168"/>
          </a:xfrm>
          <a:prstGeom prst="ellipse">
            <a:avLst/>
          </a:prstGeom>
          <a:solidFill>
            <a:srgbClr val="12908F"/>
          </a:solidFill>
          <a:ln/>
        </p:spPr>
      </p:sp>
      <p:sp>
        <p:nvSpPr>
          <p:cNvPr id="37" name="click-3"/>
          <p:cNvSpPr/>
          <p:nvPr/>
        </p:nvSpPr>
        <p:spPr>
          <a:xfrm>
            <a:off x="9957816" y="2688336"/>
            <a:ext cx="201168" cy="201168"/>
          </a:xfrm>
          <a:prstGeom prst="ellipse">
            <a:avLst/>
          </a:prstGeom>
          <a:solidFill>
            <a:srgbClr val="12908F"/>
          </a:solidFill>
          <a:ln/>
        </p:spPr>
      </p:sp>
      <p:sp>
        <p:nvSpPr>
          <p:cNvPr id="38" name="click-3"/>
          <p:cNvSpPr/>
          <p:nvPr/>
        </p:nvSpPr>
        <p:spPr>
          <a:xfrm>
            <a:off x="10369296" y="2688336"/>
            <a:ext cx="201168" cy="201168"/>
          </a:xfrm>
          <a:prstGeom prst="ellipse">
            <a:avLst/>
          </a:prstGeom>
          <a:solidFill>
            <a:srgbClr val="12908F"/>
          </a:solidFill>
          <a:ln/>
        </p:spPr>
      </p:sp>
      <p:sp>
        <p:nvSpPr>
          <p:cNvPr id="39" name="click-3"/>
          <p:cNvSpPr/>
          <p:nvPr/>
        </p:nvSpPr>
        <p:spPr>
          <a:xfrm>
            <a:off x="8275320" y="3520440"/>
            <a:ext cx="3108960" cy="914400"/>
          </a:xfrm>
          <a:prstGeom prst="rect">
            <a:avLst/>
          </a:prstGeom>
          <a:noFill/>
          <a:ln/>
        </p:spPr>
        <p:txBody>
          <a:bodyPr wrap="square" lIns="0" tIns="0" rIns="0" bIns="0" rtlCol="0" anchor="t"/>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Replays each commit onto main. No merge commit.</a:t>
            </a:r>
            <a:endParaRPr lang="en-US" sz="1600" dirty="0"/>
          </a:p>
        </p:txBody>
      </p:sp>
      <p:sp>
        <p:nvSpPr>
          <p:cNvPr id="40" name="click-3"/>
          <p:cNvSpPr/>
          <p:nvPr/>
        </p:nvSpPr>
        <p:spPr>
          <a:xfrm>
            <a:off x="8275320" y="4526280"/>
            <a:ext cx="3108960" cy="777240"/>
          </a:xfrm>
          <a:prstGeom prst="rect">
            <a:avLst/>
          </a:prstGeom>
          <a:noFill/>
          <a:ln/>
        </p:spPr>
        <p:txBody>
          <a:bodyPr wrap="square" lIns="0" tIns="0" rIns="0" bIns="0" rtlCol="0" anchor="t"/>
          <a:lstStyle/>
          <a:p>
            <a:pPr indent="0" marL="0">
              <a:buNone/>
            </a:pPr>
            <a:r>
              <a:rPr lang="en-US" sz="1500" i="1" dirty="0">
                <a:solidFill>
                  <a:srgbClr val="5F7284"/>
                </a:solidFill>
                <a:latin typeface="Calibri" pitchFamily="34" charset="0"/>
                <a:ea typeface="Calibri" pitchFamily="34" charset="-122"/>
                <a:cs typeface="Calibri" pitchFamily="34" charset="-120"/>
              </a:rPr>
              <a:t>Linear, with every commit kept.</a:t>
            </a:r>
            <a:endParaRPr lang="en-US" sz="1500" dirty="0"/>
          </a:p>
        </p:txBody>
      </p:sp>
      <p:sp>
        <p:nvSpPr>
          <p:cNvPr id="41" name="click-4"/>
          <p:cNvSpPr/>
          <p:nvPr/>
        </p:nvSpPr>
        <p:spPr>
          <a:xfrm>
            <a:off x="548640" y="5623560"/>
            <a:ext cx="11064240" cy="594360"/>
          </a:xfrm>
          <a:prstGeom prst="roundRect">
            <a:avLst>
              <a:gd name="adj" fmla="val 13846"/>
            </a:avLst>
          </a:prstGeom>
          <a:solidFill>
            <a:srgbClr val="E8A33D"/>
          </a:solidFill>
          <a:ln/>
          <a:effectLst>
            <a:outerShdw sx="100000" sy="100000" kx="0" ky="0" algn="bl" rotWithShape="0" blurRad="88900" dist="38100" dir="5400000">
              <a:srgbClr val="000000">
                <a:alpha val="13000"/>
              </a:srgbClr>
            </a:outerShdw>
          </a:effectLst>
        </p:spPr>
      </p:sp>
      <p:sp>
        <p:nvSpPr>
          <p:cNvPr id="42" name="click-4"/>
          <p:cNvSpPr/>
          <p:nvPr/>
        </p:nvSpPr>
        <p:spPr>
          <a:xfrm>
            <a:off x="868680" y="5623560"/>
            <a:ext cx="10424160" cy="594360"/>
          </a:xfrm>
          <a:prstGeom prst="rect">
            <a:avLst/>
          </a:prstGeom>
          <a:noFill/>
          <a:ln/>
        </p:spPr>
        <p:txBody>
          <a:bodyPr wrap="square" lIns="0" tIns="0" rIns="0" bIns="0" rtlCol="0" anchor="ctr"/>
          <a:lstStyle/>
          <a:p>
            <a:pPr indent="0" marL="0">
              <a:buNone/>
            </a:pPr>
            <a:r>
              <a:rPr lang="en-US" sz="1650" b="1" dirty="0">
                <a:solidFill>
                  <a:srgbClr val="14233A"/>
                </a:solidFill>
                <a:latin typeface="Calibri" pitchFamily="34" charset="0"/>
                <a:ea typeface="Calibri" pitchFamily="34" charset="-122"/>
                <a:cs typeface="Calibri" pitchFamily="34" charset="-120"/>
              </a:rPr>
              <a:t>Each project picks one on Wednesday. Our suggested default: squash.</a:t>
            </a:r>
            <a:endParaRPr lang="en-US" sz="1650" dirty="0"/>
          </a:p>
        </p:txBody>
      </p:sp>
      <p:sp>
        <p:nvSpPr>
          <p:cNvPr id="43" name="Text 4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44" name="Text 4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8" presetID="1"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60" presetID="1" presetClass="entr" presetSubtype="0" fill="hold" grpId="0" nodeType="clickEffect">
                                  <p:stCondLst>
                                    <p:cond delay="0"/>
                                  </p:stCondLst>
                                  <p:childTnLst>
                                    <p:set>
                                      <p:cBhvr>
                                        <p:cTn id="59" dur="1" fill="hold">
                                          <p:stCondLst>
                                            <p:cond delay="0"/>
                                          </p:stCondLst>
                                        </p:cTn>
                                        <p:tgtEl>
                                          <p:spTgt spid="30"/>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1" dur="1" fill="hold">
                                          <p:stCondLst>
                                            <p:cond delay="0"/>
                                          </p:stCondLst>
                                        </p:cTn>
                                        <p:tgtEl>
                                          <p:spTgt spid="36"/>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3" dur="1" fill="hold">
                                          <p:stCondLst>
                                            <p:cond delay="0"/>
                                          </p:stCondLst>
                                        </p:cTn>
                                        <p:tgtEl>
                                          <p:spTgt spid="37"/>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5" dur="1" fill="hold">
                                          <p:stCondLst>
                                            <p:cond delay="0"/>
                                          </p:stCondLst>
                                        </p:cTn>
                                        <p:tgtEl>
                                          <p:spTgt spid="38"/>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79" dur="1" fill="hold">
                                          <p:stCondLst>
                                            <p:cond delay="0"/>
                                          </p:stCondLst>
                                        </p:cTn>
                                        <p:tgtEl>
                                          <p:spTgt spid="4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4" presetID="1" presetClass="entr" presetSubtype="0" fill="hold" grpId="0" nodeType="clickEffect">
                                  <p:stCondLst>
                                    <p:cond delay="0"/>
                                  </p:stCondLst>
                                  <p:childTnLst>
                                    <p:set>
                                      <p:cBhvr>
                                        <p:cTn id="83" dur="1" fill="hold">
                                          <p:stCondLst>
                                            <p:cond delay="0"/>
                                          </p:stCondLst>
                                        </p:cTn>
                                        <p:tgtEl>
                                          <p:spTgt spid="41"/>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5"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COMMIT MESSAGES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seven rules, from the reading</a:t>
            </a:r>
            <a:endParaRPr lang="en-US" sz="3100" dirty="0"/>
          </a:p>
        </p:txBody>
      </p:sp>
      <p:sp>
        <p:nvSpPr>
          <p:cNvPr id="5" name="Shape 3"/>
          <p:cNvSpPr/>
          <p:nvPr/>
        </p:nvSpPr>
        <p:spPr>
          <a:xfrm>
            <a:off x="548640" y="1783080"/>
            <a:ext cx="6675120" cy="493776"/>
          </a:xfrm>
          <a:prstGeom prst="roundRect">
            <a:avLst>
              <a:gd name="adj" fmla="val 16667"/>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685800" y="1783080"/>
            <a:ext cx="411480" cy="493776"/>
          </a:xfrm>
          <a:prstGeom prst="rect">
            <a:avLst/>
          </a:prstGeom>
          <a:noFill/>
          <a:ln/>
        </p:spPr>
        <p:txBody>
          <a:bodyPr wrap="square" lIns="0" tIns="0" rIns="0" bIns="0" rtlCol="0" anchor="ctr"/>
          <a:lstStyle/>
          <a:p>
            <a:pPr algn="ctr" indent="0" marL="0">
              <a:buNone/>
            </a:pPr>
            <a:r>
              <a:rPr lang="en-US" sz="1800" b="1" dirty="0">
                <a:solidFill>
                  <a:srgbClr val="12908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188720" y="1783080"/>
            <a:ext cx="5943600" cy="493776"/>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Separate the subject from the body with a blank line</a:t>
            </a:r>
            <a:endParaRPr lang="en-US" sz="1600" dirty="0"/>
          </a:p>
        </p:txBody>
      </p:sp>
      <p:sp>
        <p:nvSpPr>
          <p:cNvPr id="8" name="Shape 6"/>
          <p:cNvSpPr/>
          <p:nvPr/>
        </p:nvSpPr>
        <p:spPr>
          <a:xfrm>
            <a:off x="548640" y="2368296"/>
            <a:ext cx="6675120" cy="493776"/>
          </a:xfrm>
          <a:prstGeom prst="roundRect">
            <a:avLst>
              <a:gd name="adj" fmla="val 16667"/>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685800" y="2368296"/>
            <a:ext cx="411480" cy="493776"/>
          </a:xfrm>
          <a:prstGeom prst="rect">
            <a:avLst/>
          </a:prstGeom>
          <a:noFill/>
          <a:ln/>
        </p:spPr>
        <p:txBody>
          <a:bodyPr wrap="square" lIns="0" tIns="0" rIns="0" bIns="0" rtlCol="0" anchor="ctr"/>
          <a:lstStyle/>
          <a:p>
            <a:pPr algn="ctr" indent="0" marL="0">
              <a:buNone/>
            </a:pPr>
            <a:r>
              <a:rPr lang="en-US" sz="1800" b="1" dirty="0">
                <a:solidFill>
                  <a:srgbClr val="12908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88720" y="2368296"/>
            <a:ext cx="5943600" cy="493776"/>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Limit the subject line to about 50 characters</a:t>
            </a:r>
            <a:endParaRPr lang="en-US" sz="1600" dirty="0"/>
          </a:p>
        </p:txBody>
      </p:sp>
      <p:sp>
        <p:nvSpPr>
          <p:cNvPr id="11" name="Shape 9"/>
          <p:cNvSpPr/>
          <p:nvPr/>
        </p:nvSpPr>
        <p:spPr>
          <a:xfrm>
            <a:off x="548640" y="2953512"/>
            <a:ext cx="6675120" cy="493776"/>
          </a:xfrm>
          <a:prstGeom prst="roundRect">
            <a:avLst>
              <a:gd name="adj" fmla="val 16667"/>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685800" y="2953512"/>
            <a:ext cx="411480" cy="493776"/>
          </a:xfrm>
          <a:prstGeom prst="rect">
            <a:avLst/>
          </a:prstGeom>
          <a:noFill/>
          <a:ln/>
        </p:spPr>
        <p:txBody>
          <a:bodyPr wrap="square" lIns="0" tIns="0" rIns="0" bIns="0" rtlCol="0" anchor="ctr"/>
          <a:lstStyle/>
          <a:p>
            <a:pPr algn="ctr" indent="0" marL="0">
              <a:buNone/>
            </a:pPr>
            <a:r>
              <a:rPr lang="en-US" sz="1800" b="1" dirty="0">
                <a:solidFill>
                  <a:srgbClr val="12908F"/>
                </a:solidFill>
                <a:latin typeface="Cambria" pitchFamily="34" charset="0"/>
                <a:ea typeface="Cambria" pitchFamily="34" charset="-122"/>
                <a:cs typeface="Cambria" pitchFamily="34" charset="-120"/>
              </a:rPr>
              <a:t>3</a:t>
            </a:r>
            <a:endParaRPr lang="en-US" sz="1800" dirty="0"/>
          </a:p>
        </p:txBody>
      </p:sp>
      <p:sp>
        <p:nvSpPr>
          <p:cNvPr id="13" name="Text 11"/>
          <p:cNvSpPr/>
          <p:nvPr/>
        </p:nvSpPr>
        <p:spPr>
          <a:xfrm>
            <a:off x="1188720" y="2953512"/>
            <a:ext cx="5943600" cy="493776"/>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Capitalize the subject line</a:t>
            </a:r>
            <a:endParaRPr lang="en-US" sz="1600" dirty="0"/>
          </a:p>
        </p:txBody>
      </p:sp>
      <p:sp>
        <p:nvSpPr>
          <p:cNvPr id="14" name="Shape 12"/>
          <p:cNvSpPr/>
          <p:nvPr/>
        </p:nvSpPr>
        <p:spPr>
          <a:xfrm>
            <a:off x="548640" y="3538728"/>
            <a:ext cx="6675120" cy="493776"/>
          </a:xfrm>
          <a:prstGeom prst="roundRect">
            <a:avLst>
              <a:gd name="adj" fmla="val 16667"/>
            </a:avLst>
          </a:prstGeom>
          <a:solidFill>
            <a:srgbClr val="F2F6F8"/>
          </a:solidFill>
          <a:ln/>
          <a:effectLst>
            <a:outerShdw sx="100000" sy="100000" kx="0" ky="0" algn="bl" rotWithShape="0" blurRad="88900" dist="38100" dir="5400000">
              <a:srgbClr val="000000">
                <a:alpha val="13000"/>
              </a:srgbClr>
            </a:outerShdw>
          </a:effectLst>
        </p:spPr>
      </p:sp>
      <p:sp>
        <p:nvSpPr>
          <p:cNvPr id="15" name="Text 13"/>
          <p:cNvSpPr/>
          <p:nvPr/>
        </p:nvSpPr>
        <p:spPr>
          <a:xfrm>
            <a:off x="685800" y="3538728"/>
            <a:ext cx="411480" cy="493776"/>
          </a:xfrm>
          <a:prstGeom prst="rect">
            <a:avLst/>
          </a:prstGeom>
          <a:noFill/>
          <a:ln/>
        </p:spPr>
        <p:txBody>
          <a:bodyPr wrap="square" lIns="0" tIns="0" rIns="0" bIns="0" rtlCol="0" anchor="ctr"/>
          <a:lstStyle/>
          <a:p>
            <a:pPr algn="ctr" indent="0" marL="0">
              <a:buNone/>
            </a:pPr>
            <a:r>
              <a:rPr lang="en-US" sz="1800" b="1" dirty="0">
                <a:solidFill>
                  <a:srgbClr val="12908F"/>
                </a:solidFill>
                <a:latin typeface="Cambria" pitchFamily="34" charset="0"/>
                <a:ea typeface="Cambria" pitchFamily="34" charset="-122"/>
                <a:cs typeface="Cambria" pitchFamily="34" charset="-120"/>
              </a:rPr>
              <a:t>4</a:t>
            </a:r>
            <a:endParaRPr lang="en-US" sz="1800" dirty="0"/>
          </a:p>
        </p:txBody>
      </p:sp>
      <p:sp>
        <p:nvSpPr>
          <p:cNvPr id="16" name="Text 14"/>
          <p:cNvSpPr/>
          <p:nvPr/>
        </p:nvSpPr>
        <p:spPr>
          <a:xfrm>
            <a:off x="1188720" y="3538728"/>
            <a:ext cx="5943600" cy="493776"/>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Don't end the subject line with a period</a:t>
            </a:r>
            <a:endParaRPr lang="en-US" sz="1600" dirty="0"/>
          </a:p>
        </p:txBody>
      </p:sp>
      <p:sp>
        <p:nvSpPr>
          <p:cNvPr id="17" name="Shape 15"/>
          <p:cNvSpPr/>
          <p:nvPr/>
        </p:nvSpPr>
        <p:spPr>
          <a:xfrm>
            <a:off x="548640" y="4123944"/>
            <a:ext cx="6675120" cy="493776"/>
          </a:xfrm>
          <a:prstGeom prst="roundRect">
            <a:avLst>
              <a:gd name="adj" fmla="val 16667"/>
            </a:avLst>
          </a:prstGeom>
          <a:solidFill>
            <a:srgbClr val="14233A"/>
          </a:solidFill>
          <a:ln/>
          <a:effectLst>
            <a:outerShdw sx="100000" sy="100000" kx="0" ky="0" algn="bl" rotWithShape="0" blurRad="88900" dist="38100" dir="5400000">
              <a:srgbClr val="000000">
                <a:alpha val="13000"/>
              </a:srgbClr>
            </a:outerShdw>
          </a:effectLst>
        </p:spPr>
      </p:sp>
      <p:sp>
        <p:nvSpPr>
          <p:cNvPr id="18" name="Text 16"/>
          <p:cNvSpPr/>
          <p:nvPr/>
        </p:nvSpPr>
        <p:spPr>
          <a:xfrm>
            <a:off x="685800" y="4123944"/>
            <a:ext cx="411480" cy="493776"/>
          </a:xfrm>
          <a:prstGeom prst="rect">
            <a:avLst/>
          </a:prstGeom>
          <a:noFill/>
          <a:ln/>
        </p:spPr>
        <p:txBody>
          <a:bodyPr wrap="square" lIns="0" tIns="0" rIns="0" bIns="0" rtlCol="0" anchor="ctr"/>
          <a:lstStyle/>
          <a:p>
            <a:pPr algn="ctr" indent="0" marL="0">
              <a:buNone/>
            </a:pPr>
            <a:r>
              <a:rPr lang="en-US" sz="1800" b="1" dirty="0">
                <a:solidFill>
                  <a:srgbClr val="E8A33D"/>
                </a:solidFill>
                <a:latin typeface="Cambria" pitchFamily="34" charset="0"/>
                <a:ea typeface="Cambria" pitchFamily="34" charset="-122"/>
                <a:cs typeface="Cambria" pitchFamily="34" charset="-120"/>
              </a:rPr>
              <a:t>5</a:t>
            </a:r>
            <a:endParaRPr lang="en-US" sz="1800" dirty="0"/>
          </a:p>
        </p:txBody>
      </p:sp>
      <p:sp>
        <p:nvSpPr>
          <p:cNvPr id="19" name="Text 17"/>
          <p:cNvSpPr/>
          <p:nvPr/>
        </p:nvSpPr>
        <p:spPr>
          <a:xfrm>
            <a:off x="1188720" y="4123944"/>
            <a:ext cx="5943600" cy="49377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Use the imperative mood in the subject line</a:t>
            </a:r>
            <a:endParaRPr lang="en-US" sz="1600" dirty="0"/>
          </a:p>
        </p:txBody>
      </p:sp>
      <p:sp>
        <p:nvSpPr>
          <p:cNvPr id="20" name="Shape 18"/>
          <p:cNvSpPr/>
          <p:nvPr/>
        </p:nvSpPr>
        <p:spPr>
          <a:xfrm>
            <a:off x="548640" y="4709160"/>
            <a:ext cx="6675120" cy="493776"/>
          </a:xfrm>
          <a:prstGeom prst="roundRect">
            <a:avLst>
              <a:gd name="adj" fmla="val 16667"/>
            </a:avLst>
          </a:prstGeom>
          <a:solidFill>
            <a:srgbClr val="F2F6F8"/>
          </a:solidFill>
          <a:ln/>
          <a:effectLst>
            <a:outerShdw sx="100000" sy="100000" kx="0" ky="0" algn="bl" rotWithShape="0" blurRad="88900" dist="38100" dir="5400000">
              <a:srgbClr val="000000">
                <a:alpha val="13000"/>
              </a:srgbClr>
            </a:outerShdw>
          </a:effectLst>
        </p:spPr>
      </p:sp>
      <p:sp>
        <p:nvSpPr>
          <p:cNvPr id="21" name="Text 19"/>
          <p:cNvSpPr/>
          <p:nvPr/>
        </p:nvSpPr>
        <p:spPr>
          <a:xfrm>
            <a:off x="685800" y="4709160"/>
            <a:ext cx="411480" cy="493776"/>
          </a:xfrm>
          <a:prstGeom prst="rect">
            <a:avLst/>
          </a:prstGeom>
          <a:noFill/>
          <a:ln/>
        </p:spPr>
        <p:txBody>
          <a:bodyPr wrap="square" lIns="0" tIns="0" rIns="0" bIns="0" rtlCol="0" anchor="ctr"/>
          <a:lstStyle/>
          <a:p>
            <a:pPr algn="ctr" indent="0" marL="0">
              <a:buNone/>
            </a:pPr>
            <a:r>
              <a:rPr lang="en-US" sz="1800" b="1" dirty="0">
                <a:solidFill>
                  <a:srgbClr val="12908F"/>
                </a:solidFill>
                <a:latin typeface="Cambria" pitchFamily="34" charset="0"/>
                <a:ea typeface="Cambria" pitchFamily="34" charset="-122"/>
                <a:cs typeface="Cambria" pitchFamily="34" charset="-120"/>
              </a:rPr>
              <a:t>6</a:t>
            </a:r>
            <a:endParaRPr lang="en-US" sz="1800" dirty="0"/>
          </a:p>
        </p:txBody>
      </p:sp>
      <p:sp>
        <p:nvSpPr>
          <p:cNvPr id="22" name="Text 20"/>
          <p:cNvSpPr/>
          <p:nvPr/>
        </p:nvSpPr>
        <p:spPr>
          <a:xfrm>
            <a:off x="1188720" y="4709160"/>
            <a:ext cx="5943600" cy="493776"/>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Wrap the body at about 72 characters</a:t>
            </a:r>
            <a:endParaRPr lang="en-US" sz="1600" dirty="0"/>
          </a:p>
        </p:txBody>
      </p:sp>
      <p:sp>
        <p:nvSpPr>
          <p:cNvPr id="23" name="Shape 21"/>
          <p:cNvSpPr/>
          <p:nvPr/>
        </p:nvSpPr>
        <p:spPr>
          <a:xfrm>
            <a:off x="548640" y="5294376"/>
            <a:ext cx="6675120" cy="493776"/>
          </a:xfrm>
          <a:prstGeom prst="roundRect">
            <a:avLst>
              <a:gd name="adj" fmla="val 16667"/>
            </a:avLst>
          </a:prstGeom>
          <a:solidFill>
            <a:srgbClr val="14233A"/>
          </a:solidFill>
          <a:ln/>
          <a:effectLst>
            <a:outerShdw sx="100000" sy="100000" kx="0" ky="0" algn="bl" rotWithShape="0" blurRad="88900" dist="38100" dir="5400000">
              <a:srgbClr val="000000">
                <a:alpha val="13000"/>
              </a:srgbClr>
            </a:outerShdw>
          </a:effectLst>
        </p:spPr>
      </p:sp>
      <p:sp>
        <p:nvSpPr>
          <p:cNvPr id="24" name="Text 22"/>
          <p:cNvSpPr/>
          <p:nvPr/>
        </p:nvSpPr>
        <p:spPr>
          <a:xfrm>
            <a:off x="685800" y="5294376"/>
            <a:ext cx="411480" cy="493776"/>
          </a:xfrm>
          <a:prstGeom prst="rect">
            <a:avLst/>
          </a:prstGeom>
          <a:noFill/>
          <a:ln/>
        </p:spPr>
        <p:txBody>
          <a:bodyPr wrap="square" lIns="0" tIns="0" rIns="0" bIns="0" rtlCol="0" anchor="ctr"/>
          <a:lstStyle/>
          <a:p>
            <a:pPr algn="ctr" indent="0" marL="0">
              <a:buNone/>
            </a:pPr>
            <a:r>
              <a:rPr lang="en-US" sz="1800" b="1" dirty="0">
                <a:solidFill>
                  <a:srgbClr val="E8A33D"/>
                </a:solidFill>
                <a:latin typeface="Cambria" pitchFamily="34" charset="0"/>
                <a:ea typeface="Cambria" pitchFamily="34" charset="-122"/>
                <a:cs typeface="Cambria" pitchFamily="34" charset="-120"/>
              </a:rPr>
              <a:t>7</a:t>
            </a:r>
            <a:endParaRPr lang="en-US" sz="1800" dirty="0"/>
          </a:p>
        </p:txBody>
      </p:sp>
      <p:sp>
        <p:nvSpPr>
          <p:cNvPr id="25" name="Text 23"/>
          <p:cNvSpPr/>
          <p:nvPr/>
        </p:nvSpPr>
        <p:spPr>
          <a:xfrm>
            <a:off x="1188720" y="5294376"/>
            <a:ext cx="5943600" cy="493776"/>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Use the body to explain what and why, not how</a:t>
            </a:r>
            <a:endParaRPr lang="en-US" sz="1600" dirty="0"/>
          </a:p>
        </p:txBody>
      </p:sp>
      <p:sp>
        <p:nvSpPr>
          <p:cNvPr id="26" name="Shape 24"/>
          <p:cNvSpPr/>
          <p:nvPr/>
        </p:nvSpPr>
        <p:spPr>
          <a:xfrm>
            <a:off x="7452360" y="1783080"/>
            <a:ext cx="4160520" cy="4005072"/>
          </a:xfrm>
          <a:prstGeom prst="roundRect">
            <a:avLst>
              <a:gd name="adj" fmla="val 2055"/>
            </a:avLst>
          </a:prstGeom>
          <a:solidFill>
            <a:srgbClr val="FBEEDA"/>
          </a:solidFill>
          <a:ln/>
          <a:effectLst>
            <a:outerShdw sx="100000" sy="100000" kx="0" ky="0" algn="bl" rotWithShape="0" blurRad="88900" dist="38100" dir="5400000">
              <a:srgbClr val="000000">
                <a:alpha val="13000"/>
              </a:srgbClr>
            </a:outerShdw>
          </a:effectLst>
        </p:spPr>
      </p:sp>
      <p:sp>
        <p:nvSpPr>
          <p:cNvPr id="27" name="Text 25"/>
          <p:cNvSpPr/>
          <p:nvPr/>
        </p:nvSpPr>
        <p:spPr>
          <a:xfrm>
            <a:off x="7726680" y="1965960"/>
            <a:ext cx="3657600" cy="457200"/>
          </a:xfrm>
          <a:prstGeom prst="rect">
            <a:avLst/>
          </a:prstGeom>
          <a:noFill/>
          <a:ln/>
        </p:spPr>
        <p:txBody>
          <a:bodyPr wrap="square" lIns="0" tIns="0" rIns="0" bIns="0" rtlCol="0" anchor="ctr"/>
          <a:lstStyle/>
          <a:p>
            <a:pPr indent="0" marL="0">
              <a:buNone/>
            </a:pPr>
            <a:r>
              <a:rPr lang="en-US" sz="1900" b="1" dirty="0">
                <a:solidFill>
                  <a:srgbClr val="0E6E6D"/>
                </a:solidFill>
                <a:latin typeface="Calibri" pitchFamily="34" charset="0"/>
                <a:ea typeface="Calibri" pitchFamily="34" charset="-122"/>
                <a:cs typeface="Calibri" pitchFamily="34" charset="-120"/>
              </a:rPr>
              <a:t>The imperative test</a:t>
            </a:r>
            <a:endParaRPr lang="en-US" sz="1900" dirty="0"/>
          </a:p>
        </p:txBody>
      </p:sp>
      <p:sp>
        <p:nvSpPr>
          <p:cNvPr id="28" name="Text 26"/>
          <p:cNvSpPr/>
          <p:nvPr/>
        </p:nvSpPr>
        <p:spPr>
          <a:xfrm>
            <a:off x="7726680" y="2514600"/>
            <a:ext cx="3657600" cy="914400"/>
          </a:xfrm>
          <a:prstGeom prst="rect">
            <a:avLst/>
          </a:prstGeom>
          <a:noFill/>
          <a:ln/>
        </p:spPr>
        <p:txBody>
          <a:bodyPr wrap="square" lIns="0" tIns="0" rIns="0" bIns="0" rtlCol="0" anchor="t"/>
          <a:lstStyle/>
          <a:p>
            <a:pPr indent="0" marL="0">
              <a:buNone/>
            </a:pPr>
            <a:r>
              <a:rPr lang="en-US" sz="2000" i="1" dirty="0">
                <a:solidFill>
                  <a:srgbClr val="1E2A36"/>
                </a:solidFill>
                <a:latin typeface="Cambria" pitchFamily="34" charset="0"/>
                <a:ea typeface="Cambria" pitchFamily="34" charset="-122"/>
                <a:cs typeface="Cambria" pitchFamily="34" charset="-120"/>
              </a:rPr>
              <a:t>"If applied, this commit will </a:t>
            </a:r>
            <a:pPr indent="0" marL="0">
              <a:buNone/>
            </a:pPr>
            <a:r>
              <a:rPr lang="en-US" sz="2000" b="1" i="1" dirty="0">
                <a:solidFill>
                  <a:srgbClr val="D9614C"/>
                </a:solidFill>
                <a:latin typeface="Cambria" pitchFamily="34" charset="0"/>
                <a:ea typeface="Cambria" pitchFamily="34" charset="-122"/>
                <a:cs typeface="Cambria" pitchFamily="34" charset="-120"/>
              </a:rPr>
              <a:t>___</a:t>
            </a:r>
            <a:pPr indent="0" marL="0">
              <a:buNone/>
            </a:pPr>
            <a:r>
              <a:rPr lang="en-US" sz="2000" i="1" dirty="0">
                <a:solidFill>
                  <a:srgbClr val="1E2A36"/>
                </a:solidFill>
                <a:latin typeface="Cambria" pitchFamily="34" charset="0"/>
                <a:ea typeface="Cambria" pitchFamily="34" charset="-122"/>
                <a:cs typeface="Cambria" pitchFamily="34" charset="-120"/>
              </a:rPr>
              <a:t>."</a:t>
            </a:r>
            <a:endParaRPr lang="en-US" sz="2000" dirty="0"/>
          </a:p>
        </p:txBody>
      </p:sp>
      <p:sp>
        <p:nvSpPr>
          <p:cNvPr id="29" name="Text 27"/>
          <p:cNvSpPr/>
          <p:nvPr/>
        </p:nvSpPr>
        <p:spPr>
          <a:xfrm>
            <a:off x="7726680" y="3611880"/>
            <a:ext cx="3657600" cy="2011680"/>
          </a:xfrm>
          <a:prstGeom prst="rect">
            <a:avLst/>
          </a:prstGeom>
          <a:noFill/>
          <a:ln/>
        </p:spPr>
        <p:txBody>
          <a:bodyPr wrap="square" lIns="0" tIns="0" rIns="0" bIns="0" rtlCol="0" anchor="t"/>
          <a:lstStyle/>
          <a:p>
            <a:pPr indent="0" marL="0">
              <a:lnSpc>
                <a:spcPct val="106000"/>
              </a:lnSpc>
              <a:buNone/>
            </a:pPr>
            <a:r>
              <a:rPr lang="en-US" sz="1600" dirty="0">
                <a:solidFill>
                  <a:srgbClr val="1E2A36"/>
                </a:solidFill>
                <a:latin typeface="Calibri" pitchFamily="34" charset="0"/>
                <a:ea typeface="Calibri" pitchFamily="34" charset="-122"/>
                <a:cs typeface="Calibri" pitchFamily="34" charset="-120"/>
              </a:rPr>
              <a:t>Your subject line should fill the blank. "Add search" passes. "Added search" and "Search stuff" don't.</a:t>
            </a:r>
            <a:endParaRPr lang="en-US" sz="1600" dirty="0"/>
          </a:p>
        </p:txBody>
      </p:sp>
      <p:sp>
        <p:nvSpPr>
          <p:cNvPr id="30" name="Text 2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31" name="Text 2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COMMIT CRITIQUE · 1 OF 8</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Grade it against the seven rules</a:t>
            </a:r>
            <a:endParaRPr lang="en-US" sz="3100" dirty="0"/>
          </a:p>
        </p:txBody>
      </p:sp>
      <p:sp>
        <p:nvSpPr>
          <p:cNvPr id="5" name="Shape 3"/>
          <p:cNvSpPr/>
          <p:nvPr/>
        </p:nvSpPr>
        <p:spPr>
          <a:xfrm>
            <a:off x="548640" y="1737360"/>
            <a:ext cx="11064240" cy="1188720"/>
          </a:xfrm>
          <a:prstGeom prst="roundRect">
            <a:avLst>
              <a:gd name="adj" fmla="val 6154"/>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01952"/>
            <a:ext cx="10515600" cy="859536"/>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e66f6cc WIP</a:t>
            </a:r>
            <a:endParaRPr lang="en-US" sz="1600" dirty="0"/>
          </a:p>
          <a:p>
            <a:pPr indent="0" marL="0">
              <a:lnSpc>
                <a:spcPct val="105000"/>
              </a:lnSpc>
              <a:buNone/>
            </a:pPr>
            <a:r>
              <a:rPr lang="en-US" sz="1600" dirty="0">
                <a:solidFill>
                  <a:srgbClr val="9FB4C7"/>
                </a:solidFill>
                <a:latin typeface="Consolas" pitchFamily="34" charset="0"/>
                <a:ea typeface="Consolas" pitchFamily="34" charset="-122"/>
                <a:cs typeface="Consolas" pitchFamily="34" charset="-120"/>
              </a:rPr>
              <a:t>…</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be46e3c Revert "WIP"</a:t>
            </a:r>
            <a:endParaRPr lang="en-US" sz="1600" dirty="0"/>
          </a:p>
        </p:txBody>
      </p:sp>
      <p:sp>
        <p:nvSpPr>
          <p:cNvPr id="7" name="Text 5"/>
          <p:cNvSpPr/>
          <p:nvPr/>
        </p:nvSpPr>
        <p:spPr>
          <a:xfrm>
            <a:off x="548640" y="2999232"/>
            <a:ext cx="11064240" cy="329184"/>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git log --oneline · mdxcanvas, a public BYU course-tools repository</a:t>
            </a:r>
            <a:endParaRPr lang="en-US" sz="1400" dirty="0"/>
          </a:p>
        </p:txBody>
      </p:sp>
      <p:sp>
        <p:nvSpPr>
          <p:cNvPr id="8" name="click-1"/>
          <p:cNvSpPr/>
          <p:nvPr/>
        </p:nvSpPr>
        <p:spPr>
          <a:xfrm>
            <a:off x="548640" y="3474720"/>
            <a:ext cx="11064240" cy="2743200"/>
          </a:xfrm>
          <a:prstGeom prst="roundRect">
            <a:avLst>
              <a:gd name="adj" fmla="val 3000"/>
            </a:avLst>
          </a:prstGeom>
          <a:solidFill>
            <a:srgbClr val="FBEEDA"/>
          </a:solidFill>
          <a:ln/>
          <a:effectLst>
            <a:outerShdw sx="100000" sy="100000" kx="0" ky="0" algn="bl" rotWithShape="0" blurRad="88900" dist="38100" dir="5400000">
              <a:srgbClr val="000000">
                <a:alpha val="13000"/>
              </a:srgbClr>
            </a:outerShdw>
          </a:effectLst>
        </p:spPr>
      </p:sp>
      <p:sp>
        <p:nvSpPr>
          <p:cNvPr id="9" name="click-1"/>
          <p:cNvSpPr/>
          <p:nvPr/>
        </p:nvSpPr>
        <p:spPr>
          <a:xfrm>
            <a:off x="868680" y="3474720"/>
            <a:ext cx="10424160" cy="2743200"/>
          </a:xfrm>
          <a:prstGeom prst="rect">
            <a:avLst/>
          </a:prstGeom>
          <a:noFill/>
          <a:ln/>
        </p:spPr>
        <p:txBody>
          <a:bodyPr wrap="square" lIns="0" tIns="0" rIns="0" bIns="0" rtlCol="0" anchor="ctr"/>
          <a:lstStyle/>
          <a:p>
            <a:pPr indent="0" marL="0">
              <a:lnSpc>
                <a:spcPct val="106000"/>
              </a:lnSpc>
              <a:buNone/>
            </a:pPr>
            <a:r>
              <a:rPr lang="en-US" sz="1800" b="1" dirty="0">
                <a:solidFill>
                  <a:srgbClr val="0E6E6D"/>
                </a:solidFill>
                <a:latin typeface="Calibri" pitchFamily="34" charset="0"/>
                <a:ea typeface="Calibri" pitchFamily="34" charset="-122"/>
                <a:cs typeface="Calibri" pitchFamily="34" charset="-120"/>
              </a:rPr>
              <a:t>What to notice:  </a:t>
            </a:r>
            <a:pPr indent="0" marL="0">
              <a:lnSpc>
                <a:spcPct val="106000"/>
              </a:lnSpc>
              <a:buNone/>
            </a:pPr>
            <a:r>
              <a:rPr lang="en-US" sz="1800" dirty="0">
                <a:solidFill>
                  <a:srgbClr val="1E2A36"/>
                </a:solidFill>
                <a:latin typeface="Calibri" pitchFamily="34" charset="0"/>
                <a:ea typeface="Calibri" pitchFamily="34" charset="-122"/>
                <a:cs typeface="Calibri" pitchFamily="34" charset="-120"/>
              </a:rPr>
              <a:t>"WIP" says nothing. The revert is worse: a future reader learns that something was undone, but not what, or why. A commit message is written for someone who can't ask you.</a:t>
            </a:r>
            <a:endParaRPr lang="en-US" sz="18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COMMIT CRITIQUE · 2 OF 8</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Grade it against the seven rules</a:t>
            </a:r>
            <a:endParaRPr lang="en-US" sz="3100" dirty="0"/>
          </a:p>
        </p:txBody>
      </p:sp>
      <p:sp>
        <p:nvSpPr>
          <p:cNvPr id="5" name="Shape 3"/>
          <p:cNvSpPr/>
          <p:nvPr/>
        </p:nvSpPr>
        <p:spPr>
          <a:xfrm>
            <a:off x="548640" y="1737360"/>
            <a:ext cx="11064240" cy="777240"/>
          </a:xfrm>
          <a:prstGeom prst="roundRect">
            <a:avLst>
              <a:gd name="adj" fmla="val 9412"/>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01952"/>
            <a:ext cx="10515600" cy="448056"/>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Updates</a:t>
            </a:r>
            <a:endParaRPr lang="en-US" sz="1600" dirty="0"/>
          </a:p>
        </p:txBody>
      </p:sp>
      <p:sp>
        <p:nvSpPr>
          <p:cNvPr id="7" name="Text 5"/>
          <p:cNvSpPr/>
          <p:nvPr/>
        </p:nvSpPr>
        <p:spPr>
          <a:xfrm>
            <a:off x="548640" y="2587752"/>
            <a:ext cx="11064240" cy="329184"/>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mdxcanvas, a public BYU course-tools repository</a:t>
            </a:r>
            <a:endParaRPr lang="en-US" sz="1400" dirty="0"/>
          </a:p>
        </p:txBody>
      </p:sp>
      <p:sp>
        <p:nvSpPr>
          <p:cNvPr id="8" name="click-1"/>
          <p:cNvSpPr/>
          <p:nvPr/>
        </p:nvSpPr>
        <p:spPr>
          <a:xfrm>
            <a:off x="548640" y="3063240"/>
            <a:ext cx="11064240" cy="3154680"/>
          </a:xfrm>
          <a:prstGeom prst="roundRect">
            <a:avLst>
              <a:gd name="adj" fmla="val 2609"/>
            </a:avLst>
          </a:prstGeom>
          <a:solidFill>
            <a:srgbClr val="FBEEDA"/>
          </a:solidFill>
          <a:ln/>
          <a:effectLst>
            <a:outerShdw sx="100000" sy="100000" kx="0" ky="0" algn="bl" rotWithShape="0" blurRad="88900" dist="38100" dir="5400000">
              <a:srgbClr val="000000">
                <a:alpha val="13000"/>
              </a:srgbClr>
            </a:outerShdw>
          </a:effectLst>
        </p:spPr>
      </p:sp>
      <p:sp>
        <p:nvSpPr>
          <p:cNvPr id="9" name="click-1"/>
          <p:cNvSpPr/>
          <p:nvPr/>
        </p:nvSpPr>
        <p:spPr>
          <a:xfrm>
            <a:off x="868680" y="3063240"/>
            <a:ext cx="10424160" cy="3154680"/>
          </a:xfrm>
          <a:prstGeom prst="rect">
            <a:avLst/>
          </a:prstGeom>
          <a:noFill/>
          <a:ln/>
        </p:spPr>
        <p:txBody>
          <a:bodyPr wrap="square" lIns="0" tIns="0" rIns="0" bIns="0" rtlCol="0" anchor="ctr"/>
          <a:lstStyle/>
          <a:p>
            <a:pPr indent="0" marL="0">
              <a:lnSpc>
                <a:spcPct val="106000"/>
              </a:lnSpc>
              <a:buNone/>
            </a:pPr>
            <a:r>
              <a:rPr lang="en-US" sz="1800" b="1" dirty="0">
                <a:solidFill>
                  <a:srgbClr val="0E6E6D"/>
                </a:solidFill>
                <a:latin typeface="Calibri" pitchFamily="34" charset="0"/>
                <a:ea typeface="Calibri" pitchFamily="34" charset="-122"/>
                <a:cs typeface="Calibri" pitchFamily="34" charset="-120"/>
              </a:rPr>
              <a:t>What to notice:  </a:t>
            </a:r>
            <a:pPr indent="0" marL="0">
              <a:lnSpc>
                <a:spcPct val="106000"/>
              </a:lnSpc>
              <a:buNone/>
            </a:pPr>
            <a:r>
              <a:rPr lang="en-US" sz="1800" dirty="0">
                <a:solidFill>
                  <a:srgbClr val="1E2A36"/>
                </a:solidFill>
                <a:latin typeface="Calibri" pitchFamily="34" charset="0"/>
                <a:ea typeface="Calibri" pitchFamily="34" charset="-122"/>
                <a:cs typeface="Calibri" pitchFamily="34" charset="-120"/>
              </a:rPr>
              <a:t>A subject that fits every commit ever made tells you nothing about this one. Run the imperative test: "If applied, this commit will updates." It fails even as grammar.</a:t>
            </a:r>
            <a:endParaRPr lang="en-US" sz="18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COMMIT CRITIQUE · 3 OF 8</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Grade it against the seven rules</a:t>
            </a:r>
            <a:endParaRPr lang="en-US" sz="3100" dirty="0"/>
          </a:p>
        </p:txBody>
      </p:sp>
      <p:sp>
        <p:nvSpPr>
          <p:cNvPr id="5" name="Shape 3"/>
          <p:cNvSpPr/>
          <p:nvPr/>
        </p:nvSpPr>
        <p:spPr>
          <a:xfrm>
            <a:off x="548640" y="1737360"/>
            <a:ext cx="11064240" cy="777240"/>
          </a:xfrm>
          <a:prstGeom prst="roundRect">
            <a:avLst>
              <a:gd name="adj" fmla="val 9412"/>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01952"/>
            <a:ext cx="10515600" cy="448056"/>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FIxed exception error</a:t>
            </a:r>
            <a:endParaRPr lang="en-US" sz="1600" dirty="0"/>
          </a:p>
        </p:txBody>
      </p:sp>
      <p:sp>
        <p:nvSpPr>
          <p:cNvPr id="7" name="Text 5"/>
          <p:cNvSpPr/>
          <p:nvPr/>
        </p:nvSpPr>
        <p:spPr>
          <a:xfrm>
            <a:off x="548640" y="2587752"/>
            <a:ext cx="11064240" cy="329184"/>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Mine: dagorym/StarshipConstruction</a:t>
            </a:r>
            <a:endParaRPr lang="en-US" sz="1400" dirty="0"/>
          </a:p>
        </p:txBody>
      </p:sp>
      <p:sp>
        <p:nvSpPr>
          <p:cNvPr id="8" name="click-1"/>
          <p:cNvSpPr/>
          <p:nvPr/>
        </p:nvSpPr>
        <p:spPr>
          <a:xfrm>
            <a:off x="548640" y="3063240"/>
            <a:ext cx="11064240" cy="3154680"/>
          </a:xfrm>
          <a:prstGeom prst="roundRect">
            <a:avLst>
              <a:gd name="adj" fmla="val 2609"/>
            </a:avLst>
          </a:prstGeom>
          <a:solidFill>
            <a:srgbClr val="FBEEDA"/>
          </a:solidFill>
          <a:ln/>
          <a:effectLst>
            <a:outerShdw sx="100000" sy="100000" kx="0" ky="0" algn="bl" rotWithShape="0" blurRad="88900" dist="38100" dir="5400000">
              <a:srgbClr val="000000">
                <a:alpha val="13000"/>
              </a:srgbClr>
            </a:outerShdw>
          </a:effectLst>
        </p:spPr>
      </p:sp>
      <p:sp>
        <p:nvSpPr>
          <p:cNvPr id="9" name="click-1"/>
          <p:cNvSpPr/>
          <p:nvPr/>
        </p:nvSpPr>
        <p:spPr>
          <a:xfrm>
            <a:off x="868680" y="3063240"/>
            <a:ext cx="10424160" cy="3154680"/>
          </a:xfrm>
          <a:prstGeom prst="rect">
            <a:avLst/>
          </a:prstGeom>
          <a:noFill/>
          <a:ln/>
        </p:spPr>
        <p:txBody>
          <a:bodyPr wrap="square" lIns="0" tIns="0" rIns="0" bIns="0" rtlCol="0" anchor="ctr"/>
          <a:lstStyle/>
          <a:p>
            <a:pPr indent="0" marL="0">
              <a:lnSpc>
                <a:spcPct val="106000"/>
              </a:lnSpc>
              <a:buNone/>
            </a:pPr>
            <a:r>
              <a:rPr lang="en-US" sz="1800" b="1" dirty="0">
                <a:solidFill>
                  <a:srgbClr val="0E6E6D"/>
                </a:solidFill>
                <a:latin typeface="Calibri" pitchFamily="34" charset="0"/>
                <a:ea typeface="Calibri" pitchFamily="34" charset="-122"/>
                <a:cs typeface="Calibri" pitchFamily="34" charset="-120"/>
              </a:rPr>
              <a:t>What to notice:  </a:t>
            </a:r>
            <a:pPr indent="0" marL="0">
              <a:lnSpc>
                <a:spcPct val="106000"/>
              </a:lnSpc>
              <a:buNone/>
            </a:pPr>
            <a:r>
              <a:rPr lang="en-US" sz="1800" dirty="0">
                <a:solidFill>
                  <a:srgbClr val="1E2A36"/>
                </a:solidFill>
                <a:latin typeface="Calibri" pitchFamily="34" charset="0"/>
                <a:ea typeface="Calibri" pitchFamily="34" charset="-122"/>
                <a:cs typeface="Calibri" pitchFamily="34" charset="-120"/>
              </a:rPr>
              <a:t>Past tense, a typo, and which exception? It reads like a bug fix. The diff shows it only changed an error message, from "class 1-4" to "class 1-5", after the previous commit added class 5. The message hid what actually happened.</a:t>
            </a:r>
            <a:endParaRPr lang="en-US" sz="18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COMMIT CRITIQUE · 4 OF 8</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Grade it against the seven rules</a:t>
            </a:r>
            <a:endParaRPr lang="en-US" sz="3100" dirty="0"/>
          </a:p>
        </p:txBody>
      </p:sp>
      <p:sp>
        <p:nvSpPr>
          <p:cNvPr id="5" name="Shape 3"/>
          <p:cNvSpPr/>
          <p:nvPr/>
        </p:nvSpPr>
        <p:spPr>
          <a:xfrm>
            <a:off x="548640" y="1737360"/>
            <a:ext cx="11064240" cy="1051560"/>
          </a:xfrm>
          <a:prstGeom prst="roundRect">
            <a:avLst>
              <a:gd name="adj" fmla="val 6957"/>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01952"/>
            <a:ext cx="10515600" cy="722376"/>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Fixed Test Suite. Fixed --auto-open flag. Fixed attempting to run on</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file that doesn't exist making an html anyway.</a:t>
            </a:r>
            <a:endParaRPr lang="en-US" sz="1600" dirty="0"/>
          </a:p>
        </p:txBody>
      </p:sp>
      <p:sp>
        <p:nvSpPr>
          <p:cNvPr id="7" name="Text 5"/>
          <p:cNvSpPr/>
          <p:nvPr/>
        </p:nvSpPr>
        <p:spPr>
          <a:xfrm>
            <a:off x="548640" y="2862072"/>
            <a:ext cx="11064240" cy="329184"/>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code-recording-analysis, a public BYU course-tools repository</a:t>
            </a:r>
            <a:endParaRPr lang="en-US" sz="1400" dirty="0"/>
          </a:p>
        </p:txBody>
      </p:sp>
      <p:sp>
        <p:nvSpPr>
          <p:cNvPr id="8" name="click-1"/>
          <p:cNvSpPr/>
          <p:nvPr/>
        </p:nvSpPr>
        <p:spPr>
          <a:xfrm>
            <a:off x="548640" y="3337560"/>
            <a:ext cx="11064240" cy="2880360"/>
          </a:xfrm>
          <a:prstGeom prst="roundRect">
            <a:avLst>
              <a:gd name="adj" fmla="val 2857"/>
            </a:avLst>
          </a:prstGeom>
          <a:solidFill>
            <a:srgbClr val="FBEEDA"/>
          </a:solidFill>
          <a:ln/>
          <a:effectLst>
            <a:outerShdw sx="100000" sy="100000" kx="0" ky="0" algn="bl" rotWithShape="0" blurRad="88900" dist="38100" dir="5400000">
              <a:srgbClr val="000000">
                <a:alpha val="13000"/>
              </a:srgbClr>
            </a:outerShdw>
          </a:effectLst>
        </p:spPr>
      </p:sp>
      <p:sp>
        <p:nvSpPr>
          <p:cNvPr id="9" name="click-1"/>
          <p:cNvSpPr/>
          <p:nvPr/>
        </p:nvSpPr>
        <p:spPr>
          <a:xfrm>
            <a:off x="868680" y="3337560"/>
            <a:ext cx="10424160" cy="2880360"/>
          </a:xfrm>
          <a:prstGeom prst="rect">
            <a:avLst/>
          </a:prstGeom>
          <a:noFill/>
          <a:ln/>
        </p:spPr>
        <p:txBody>
          <a:bodyPr wrap="square" lIns="0" tIns="0" rIns="0" bIns="0" rtlCol="0" anchor="ctr"/>
          <a:lstStyle/>
          <a:p>
            <a:pPr indent="0" marL="0">
              <a:lnSpc>
                <a:spcPct val="106000"/>
              </a:lnSpc>
              <a:buNone/>
            </a:pPr>
            <a:r>
              <a:rPr lang="en-US" sz="1800" b="1" dirty="0">
                <a:solidFill>
                  <a:srgbClr val="0E6E6D"/>
                </a:solidFill>
                <a:latin typeface="Calibri" pitchFamily="34" charset="0"/>
                <a:ea typeface="Calibri" pitchFamily="34" charset="-122"/>
                <a:cs typeface="Calibri" pitchFamily="34" charset="-120"/>
              </a:rPr>
              <a:t>What to notice:  </a:t>
            </a:r>
            <a:pPr indent="0" marL="0">
              <a:lnSpc>
                <a:spcPct val="106000"/>
              </a:lnSpc>
              <a:buNone/>
            </a:pPr>
            <a:r>
              <a:rPr lang="en-US" sz="1800" dirty="0">
                <a:solidFill>
                  <a:srgbClr val="1E2A36"/>
                </a:solidFill>
                <a:latin typeface="Calibri" pitchFamily="34" charset="0"/>
                <a:ea typeface="Calibri" pitchFamily="34" charset="-122"/>
                <a:cs typeface="Calibri" pitchFamily="34" charset="-120"/>
              </a:rPr>
              <a:t>Three changes, three "Fixed"s. When a subject needs "and", or three sentences, the commit wants to be split. One commit, one nameable thing, so each can be reviewed, found, and reverted on its own.</a:t>
            </a:r>
            <a:endParaRPr lang="en-US" sz="18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COMMIT CRITIQUE · 5 OF 8</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Grade it against the seven rules</a:t>
            </a:r>
            <a:endParaRPr lang="en-US" sz="3100" dirty="0"/>
          </a:p>
        </p:txBody>
      </p:sp>
      <p:sp>
        <p:nvSpPr>
          <p:cNvPr id="5" name="Shape 3"/>
          <p:cNvSpPr/>
          <p:nvPr/>
        </p:nvSpPr>
        <p:spPr>
          <a:xfrm>
            <a:off x="548640" y="1737360"/>
            <a:ext cx="11064240" cy="1920240"/>
          </a:xfrm>
          <a:prstGeom prst="roundRect">
            <a:avLst>
              <a:gd name="adj" fmla="val 3810"/>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01952"/>
            <a:ext cx="10515600" cy="1591056"/>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Minor Updates</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jinja updates to accept jinja args</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fix to deploy quiz not retuning info</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update to result object to show error local or server errors</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fix to common child quiz tag fields</a:t>
            </a:r>
            <a:endParaRPr lang="en-US" sz="1600" dirty="0"/>
          </a:p>
        </p:txBody>
      </p:sp>
      <p:sp>
        <p:nvSpPr>
          <p:cNvPr id="7" name="Text 5"/>
          <p:cNvSpPr/>
          <p:nvPr/>
        </p:nvSpPr>
        <p:spPr>
          <a:xfrm>
            <a:off x="548640" y="3730752"/>
            <a:ext cx="11064240" cy="329184"/>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mdxcanvas, a public BYU course-tools repository</a:t>
            </a:r>
            <a:endParaRPr lang="en-US" sz="1400" dirty="0"/>
          </a:p>
        </p:txBody>
      </p:sp>
      <p:sp>
        <p:nvSpPr>
          <p:cNvPr id="8" name="click-1"/>
          <p:cNvSpPr/>
          <p:nvPr/>
        </p:nvSpPr>
        <p:spPr>
          <a:xfrm>
            <a:off x="548640" y="4206240"/>
            <a:ext cx="11064240" cy="2011680"/>
          </a:xfrm>
          <a:prstGeom prst="roundRect">
            <a:avLst>
              <a:gd name="adj" fmla="val 4091"/>
            </a:avLst>
          </a:prstGeom>
          <a:solidFill>
            <a:srgbClr val="FBEEDA"/>
          </a:solidFill>
          <a:ln/>
          <a:effectLst>
            <a:outerShdw sx="100000" sy="100000" kx="0" ky="0" algn="bl" rotWithShape="0" blurRad="88900" dist="38100" dir="5400000">
              <a:srgbClr val="000000">
                <a:alpha val="13000"/>
              </a:srgbClr>
            </a:outerShdw>
          </a:effectLst>
        </p:spPr>
      </p:sp>
      <p:sp>
        <p:nvSpPr>
          <p:cNvPr id="9" name="click-1"/>
          <p:cNvSpPr/>
          <p:nvPr/>
        </p:nvSpPr>
        <p:spPr>
          <a:xfrm>
            <a:off x="868680" y="4206240"/>
            <a:ext cx="10424160" cy="2011680"/>
          </a:xfrm>
          <a:prstGeom prst="rect">
            <a:avLst/>
          </a:prstGeom>
          <a:noFill/>
          <a:ln/>
        </p:spPr>
        <p:txBody>
          <a:bodyPr wrap="square" lIns="0" tIns="0" rIns="0" bIns="0" rtlCol="0" anchor="ctr"/>
          <a:lstStyle/>
          <a:p>
            <a:pPr indent="0" marL="0">
              <a:lnSpc>
                <a:spcPct val="106000"/>
              </a:lnSpc>
              <a:buNone/>
            </a:pPr>
            <a:r>
              <a:rPr lang="en-US" sz="1800" b="1" dirty="0">
                <a:solidFill>
                  <a:srgbClr val="0E6E6D"/>
                </a:solidFill>
                <a:latin typeface="Calibri" pitchFamily="34" charset="0"/>
                <a:ea typeface="Calibri" pitchFamily="34" charset="-122"/>
                <a:cs typeface="Calibri" pitchFamily="34" charset="-120"/>
              </a:rPr>
              <a:t>What to notice:  </a:t>
            </a:r>
            <a:pPr indent="0" marL="0">
              <a:lnSpc>
                <a:spcPct val="106000"/>
              </a:lnSpc>
              <a:buNone/>
            </a:pPr>
            <a:r>
              <a:rPr lang="en-US" sz="1800" dirty="0">
                <a:solidFill>
                  <a:srgbClr val="1E2A36"/>
                </a:solidFill>
                <a:latin typeface="Calibri" pitchFamily="34" charset="0"/>
                <a:ea typeface="Calibri" pitchFamily="34" charset="-122"/>
                <a:cs typeface="Calibri" pitchFamily="34" charset="-120"/>
              </a:rPr>
              <a:t>The body contradicts the subject: four unrelated changes to templating, deploying, error reporting, and a quiz tag. None is minor, and none can be reverted without the other three.</a:t>
            </a:r>
            <a:endParaRPr lang="en-US" sz="18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COMMIT CRITIQUE · 6 OF 8</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Grade it against the seven rules</a:t>
            </a:r>
            <a:endParaRPr lang="en-US" sz="3100" dirty="0"/>
          </a:p>
        </p:txBody>
      </p:sp>
      <p:sp>
        <p:nvSpPr>
          <p:cNvPr id="5" name="Shape 3"/>
          <p:cNvSpPr/>
          <p:nvPr/>
        </p:nvSpPr>
        <p:spPr>
          <a:xfrm>
            <a:off x="548640" y="1737360"/>
            <a:ext cx="11064240" cy="1325880"/>
          </a:xfrm>
          <a:prstGeom prst="roundRect">
            <a:avLst>
              <a:gd name="adj" fmla="val 5517"/>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01952"/>
            <a:ext cx="10515600" cy="996696"/>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test(forums): add ST2 resolveTopicLastActivity primitive coverage - isReply</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flag, opening-post fallback, soft-delete fallback, mixed topics - 174/174</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tests pass, lint and typecheck clean</a:t>
            </a:r>
            <a:endParaRPr lang="en-US" sz="1600" dirty="0"/>
          </a:p>
        </p:txBody>
      </p:sp>
      <p:sp>
        <p:nvSpPr>
          <p:cNvPr id="7" name="Text 5"/>
          <p:cNvSpPr/>
          <p:nvPr/>
        </p:nvSpPr>
        <p:spPr>
          <a:xfrm>
            <a:off x="548640" y="3136392"/>
            <a:ext cx="11064240" cy="329184"/>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Mine: dagorym/sfus, written by an AI coding agent</a:t>
            </a:r>
            <a:endParaRPr lang="en-US" sz="1400" dirty="0"/>
          </a:p>
        </p:txBody>
      </p:sp>
      <p:sp>
        <p:nvSpPr>
          <p:cNvPr id="8" name="click-1"/>
          <p:cNvSpPr/>
          <p:nvPr/>
        </p:nvSpPr>
        <p:spPr>
          <a:xfrm>
            <a:off x="548640" y="3611880"/>
            <a:ext cx="11064240" cy="2606040"/>
          </a:xfrm>
          <a:prstGeom prst="roundRect">
            <a:avLst>
              <a:gd name="adj" fmla="val 3158"/>
            </a:avLst>
          </a:prstGeom>
          <a:solidFill>
            <a:srgbClr val="FBEEDA"/>
          </a:solidFill>
          <a:ln/>
          <a:effectLst>
            <a:outerShdw sx="100000" sy="100000" kx="0" ky="0" algn="bl" rotWithShape="0" blurRad="88900" dist="38100" dir="5400000">
              <a:srgbClr val="000000">
                <a:alpha val="13000"/>
              </a:srgbClr>
            </a:outerShdw>
          </a:effectLst>
        </p:spPr>
      </p:sp>
      <p:sp>
        <p:nvSpPr>
          <p:cNvPr id="9" name="click-1"/>
          <p:cNvSpPr/>
          <p:nvPr/>
        </p:nvSpPr>
        <p:spPr>
          <a:xfrm>
            <a:off x="868680" y="3611880"/>
            <a:ext cx="10424160" cy="2606040"/>
          </a:xfrm>
          <a:prstGeom prst="rect">
            <a:avLst/>
          </a:prstGeom>
          <a:noFill/>
          <a:ln/>
        </p:spPr>
        <p:txBody>
          <a:bodyPr wrap="square" lIns="0" tIns="0" rIns="0" bIns="0" rtlCol="0" anchor="ctr"/>
          <a:lstStyle/>
          <a:p>
            <a:pPr indent="0" marL="0">
              <a:lnSpc>
                <a:spcPct val="106000"/>
              </a:lnSpc>
              <a:buNone/>
            </a:pPr>
            <a:r>
              <a:rPr lang="en-US" sz="1800" b="1" dirty="0">
                <a:solidFill>
                  <a:srgbClr val="0E6E6D"/>
                </a:solidFill>
                <a:latin typeface="Calibri" pitchFamily="34" charset="0"/>
                <a:ea typeface="Calibri" pitchFamily="34" charset="-122"/>
                <a:cs typeface="Calibri" pitchFamily="34" charset="-120"/>
              </a:rPr>
              <a:t>What to notice:  </a:t>
            </a:r>
            <a:pPr indent="0" marL="0">
              <a:lnSpc>
                <a:spcPct val="106000"/>
              </a:lnSpc>
              <a:buNone/>
            </a:pPr>
            <a:r>
              <a:rPr lang="en-US" sz="1800" dirty="0">
                <a:solidFill>
                  <a:srgbClr val="1E2A36"/>
                </a:solidFill>
                <a:latin typeface="Calibri" pitchFamily="34" charset="0"/>
                <a:ea typeface="Calibri" pitchFamily="34" charset="-122"/>
                <a:cs typeface="Calibri" pitchFamily="34" charset="-120"/>
              </a:rPr>
              <a:t>About 200 characters: the body crammed into line one, which git log --oneline, GitHub, and every other tool will cut off. The test(forums): prefix is a good convention, wasted. An AI agent wrote it. The log still has to serve people, whoever writes it.</a:t>
            </a:r>
            <a:endParaRPr lang="en-US" sz="18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COMMIT CRITIQUE · 7 OF 8</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Grade it against the seven rules</a:t>
            </a:r>
            <a:endParaRPr lang="en-US" sz="3100" dirty="0"/>
          </a:p>
        </p:txBody>
      </p:sp>
      <p:sp>
        <p:nvSpPr>
          <p:cNvPr id="5" name="Shape 3"/>
          <p:cNvSpPr/>
          <p:nvPr/>
        </p:nvSpPr>
        <p:spPr>
          <a:xfrm>
            <a:off x="548640" y="1737360"/>
            <a:ext cx="11064240" cy="1691640"/>
          </a:xfrm>
          <a:prstGeom prst="roundRect">
            <a:avLst>
              <a:gd name="adj" fmla="val 4324"/>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01952"/>
            <a:ext cx="10515600" cy="1362456"/>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Update main to call Integrator::integrate()</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Add in some constants for number of steps and step size and the loop</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to call the integrate() function.  Also add a final print statement</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call to display the output.</a:t>
            </a:r>
            <a:endParaRPr lang="en-US" sz="1600" dirty="0"/>
          </a:p>
        </p:txBody>
      </p:sp>
      <p:sp>
        <p:nvSpPr>
          <p:cNvPr id="7" name="Text 5"/>
          <p:cNvSpPr/>
          <p:nvPr/>
        </p:nvSpPr>
        <p:spPr>
          <a:xfrm>
            <a:off x="548640" y="3502152"/>
            <a:ext cx="11064240" cy="329184"/>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Mine: dagorym/StarSystemChecker</a:t>
            </a:r>
            <a:endParaRPr lang="en-US" sz="1400" dirty="0"/>
          </a:p>
        </p:txBody>
      </p:sp>
      <p:sp>
        <p:nvSpPr>
          <p:cNvPr id="8" name="click-1"/>
          <p:cNvSpPr/>
          <p:nvPr/>
        </p:nvSpPr>
        <p:spPr>
          <a:xfrm>
            <a:off x="548640" y="3977640"/>
            <a:ext cx="11064240" cy="2240280"/>
          </a:xfrm>
          <a:prstGeom prst="roundRect">
            <a:avLst>
              <a:gd name="adj" fmla="val 3673"/>
            </a:avLst>
          </a:prstGeom>
          <a:solidFill>
            <a:srgbClr val="FBEEDA"/>
          </a:solidFill>
          <a:ln/>
          <a:effectLst>
            <a:outerShdw sx="100000" sy="100000" kx="0" ky="0" algn="bl" rotWithShape="0" blurRad="88900" dist="38100" dir="5400000">
              <a:srgbClr val="000000">
                <a:alpha val="13000"/>
              </a:srgbClr>
            </a:outerShdw>
          </a:effectLst>
        </p:spPr>
      </p:sp>
      <p:sp>
        <p:nvSpPr>
          <p:cNvPr id="9" name="click-1"/>
          <p:cNvSpPr/>
          <p:nvPr/>
        </p:nvSpPr>
        <p:spPr>
          <a:xfrm>
            <a:off x="868680" y="3977640"/>
            <a:ext cx="10424160" cy="2240280"/>
          </a:xfrm>
          <a:prstGeom prst="rect">
            <a:avLst/>
          </a:prstGeom>
          <a:noFill/>
          <a:ln/>
        </p:spPr>
        <p:txBody>
          <a:bodyPr wrap="square" lIns="0" tIns="0" rIns="0" bIns="0" rtlCol="0" anchor="ctr"/>
          <a:lstStyle/>
          <a:p>
            <a:pPr indent="0" marL="0">
              <a:lnSpc>
                <a:spcPct val="106000"/>
              </a:lnSpc>
              <a:buNone/>
            </a:pPr>
            <a:r>
              <a:rPr lang="en-US" sz="1800" b="1" dirty="0">
                <a:solidFill>
                  <a:srgbClr val="0E6E6D"/>
                </a:solidFill>
                <a:latin typeface="Calibri" pitchFamily="34" charset="0"/>
                <a:ea typeface="Calibri" pitchFamily="34" charset="-122"/>
                <a:cs typeface="Calibri" pitchFamily="34" charset="-120"/>
              </a:rPr>
              <a:t>What to notice:  </a:t>
            </a:r>
            <a:pPr indent="0" marL="0">
              <a:lnSpc>
                <a:spcPct val="106000"/>
              </a:lnSpc>
              <a:buNone/>
            </a:pPr>
            <a:r>
              <a:rPr lang="en-US" sz="1800" dirty="0">
                <a:solidFill>
                  <a:srgbClr val="1E2A36"/>
                </a:solidFill>
                <a:latin typeface="Calibri" pitchFamily="34" charset="0"/>
                <a:ea typeface="Calibri" pitchFamily="34" charset="-122"/>
                <a:cs typeface="Calibri" pitchFamily="34" charset="-120"/>
              </a:rPr>
              <a:t>The subject is fine. The body narrates the diff: constants, a loop, a print statement. That's the how, and git already shows it line by line. The missing piece is the why: what does calling integrate() make possible?</a:t>
            </a:r>
            <a:endParaRPr lang="en-US" sz="18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COMMIT CRITIQUE · 8 OF 8</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Grade it against the seven rules</a:t>
            </a:r>
            <a:endParaRPr lang="en-US" sz="3100" dirty="0"/>
          </a:p>
        </p:txBody>
      </p:sp>
      <p:sp>
        <p:nvSpPr>
          <p:cNvPr id="5" name="Shape 3"/>
          <p:cNvSpPr/>
          <p:nvPr/>
        </p:nvSpPr>
        <p:spPr>
          <a:xfrm>
            <a:off x="548640" y="1737360"/>
            <a:ext cx="11064240" cy="2377440"/>
          </a:xfrm>
          <a:prstGeom prst="roundRect">
            <a:avLst>
              <a:gd name="adj" fmla="val 3077"/>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01952"/>
            <a:ext cx="10515600" cy="2048256"/>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Use buffered GZip Writer</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I've observed instances where a recording has been corrupted and have</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even implemented a raw zlib decoder in the processor for this case when</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gzip headers are faulty.</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The goal is that using a buffered writer will help prevent this from</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happening.</a:t>
            </a:r>
            <a:endParaRPr lang="en-US" sz="1600" dirty="0"/>
          </a:p>
        </p:txBody>
      </p:sp>
      <p:sp>
        <p:nvSpPr>
          <p:cNvPr id="7" name="Text 5"/>
          <p:cNvSpPr/>
          <p:nvPr/>
        </p:nvSpPr>
        <p:spPr>
          <a:xfrm>
            <a:off x="548640" y="4187952"/>
            <a:ext cx="11064240" cy="329184"/>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jetbrains-recorder, a public BYU course-tools repository</a:t>
            </a:r>
            <a:endParaRPr lang="en-US" sz="1400" dirty="0"/>
          </a:p>
        </p:txBody>
      </p:sp>
      <p:sp>
        <p:nvSpPr>
          <p:cNvPr id="8" name="click-1"/>
          <p:cNvSpPr/>
          <p:nvPr/>
        </p:nvSpPr>
        <p:spPr>
          <a:xfrm>
            <a:off x="548640" y="4663440"/>
            <a:ext cx="11064240" cy="1554480"/>
          </a:xfrm>
          <a:prstGeom prst="roundRect">
            <a:avLst>
              <a:gd name="adj" fmla="val 5294"/>
            </a:avLst>
          </a:prstGeom>
          <a:solidFill>
            <a:srgbClr val="EAF4EE"/>
          </a:solidFill>
          <a:ln/>
          <a:effectLst>
            <a:outerShdw sx="100000" sy="100000" kx="0" ky="0" algn="bl" rotWithShape="0" blurRad="88900" dist="38100" dir="5400000">
              <a:srgbClr val="000000">
                <a:alpha val="13000"/>
              </a:srgbClr>
            </a:outerShdw>
          </a:effectLst>
        </p:spPr>
      </p:sp>
      <p:sp>
        <p:nvSpPr>
          <p:cNvPr id="9" name="click-1"/>
          <p:cNvSpPr/>
          <p:nvPr/>
        </p:nvSpPr>
        <p:spPr>
          <a:xfrm>
            <a:off x="868680" y="4663440"/>
            <a:ext cx="10424160" cy="1554480"/>
          </a:xfrm>
          <a:prstGeom prst="rect">
            <a:avLst/>
          </a:prstGeom>
          <a:noFill/>
          <a:ln/>
        </p:spPr>
        <p:txBody>
          <a:bodyPr wrap="square" lIns="0" tIns="0" rIns="0" bIns="0" rtlCol="0" anchor="ctr"/>
          <a:lstStyle/>
          <a:p>
            <a:pPr indent="0" marL="0">
              <a:lnSpc>
                <a:spcPct val="106000"/>
              </a:lnSpc>
              <a:buNone/>
            </a:pPr>
            <a:r>
              <a:rPr lang="en-US" sz="1800" b="1" dirty="0">
                <a:solidFill>
                  <a:srgbClr val="3E9C6B"/>
                </a:solidFill>
                <a:latin typeface="Calibri" pitchFamily="34" charset="0"/>
                <a:ea typeface="Calibri" pitchFamily="34" charset="-122"/>
                <a:cs typeface="Calibri" pitchFamily="34" charset="-120"/>
              </a:rPr>
              <a:t>The model.  </a:t>
            </a:r>
            <a:pPr indent="0" marL="0">
              <a:lnSpc>
                <a:spcPct val="106000"/>
              </a:lnSpc>
              <a:buNone/>
            </a:pPr>
            <a:r>
              <a:rPr lang="en-US" sz="1800" dirty="0">
                <a:solidFill>
                  <a:srgbClr val="1E2A36"/>
                </a:solidFill>
                <a:latin typeface="Calibri" pitchFamily="34" charset="0"/>
                <a:ea typeface="Calibri" pitchFamily="34" charset="-122"/>
                <a:cs typeface="Calibri" pitchFamily="34" charset="-120"/>
              </a:rPr>
              <a:t>An imperative 24-character subject. The body gives the failure that motivated it, the fix, and honest confidence: "the goal is," not "this fixes." Two years from now, a reader knows why this line exists.</a:t>
            </a:r>
            <a:endParaRPr lang="en-US" sz="18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ONE MORE: AI IN THE LOG</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does the last sentence ask a reviewer to do?</a:t>
            </a:r>
            <a:endParaRPr lang="en-US" sz="3100" dirty="0"/>
          </a:p>
        </p:txBody>
      </p:sp>
      <p:sp>
        <p:nvSpPr>
          <p:cNvPr id="5" name="Shape 3"/>
          <p:cNvSpPr/>
          <p:nvPr/>
        </p:nvSpPr>
        <p:spPr>
          <a:xfrm>
            <a:off x="548640" y="1737360"/>
            <a:ext cx="11064240" cy="2514600"/>
          </a:xfrm>
          <a:prstGeom prst="roundRect">
            <a:avLst>
              <a:gd name="adj" fmla="val 2909"/>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01952"/>
            <a:ext cx="10515600" cy="2185416"/>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Fix cross reference algorithm</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The fix changes the logic so that all nodes in an SCC (not just the</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cycle breaker) filter out edges to other nodes in the same SCC. This</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ensures the acyclic graph is truly acyclic.</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9FE0B5"/>
                </a:solidFill>
                <a:latin typeface="Consolas" pitchFamily="34" charset="0"/>
                <a:ea typeface="Consolas" pitchFamily="34" charset="-122"/>
                <a:cs typeface="Consolas" pitchFamily="34" charset="-120"/>
              </a:rPr>
              <a:t>This was written primarily by Copilot, however I have tested and</a:t>
            </a:r>
            <a:endParaRPr lang="en-US" sz="1600" dirty="0"/>
          </a:p>
          <a:p>
            <a:pPr indent="0" marL="0">
              <a:lnSpc>
                <a:spcPct val="105000"/>
              </a:lnSpc>
              <a:buNone/>
            </a:pPr>
            <a:r>
              <a:rPr lang="en-US" sz="1600" dirty="0">
                <a:solidFill>
                  <a:srgbClr val="9FE0B5"/>
                </a:solidFill>
                <a:latin typeface="Consolas" pitchFamily="34" charset="0"/>
                <a:ea typeface="Consolas" pitchFamily="34" charset="-122"/>
                <a:cs typeface="Consolas" pitchFamily="34" charset="-120"/>
              </a:rPr>
              <a:t>verified the results.</a:t>
            </a:r>
            <a:endParaRPr lang="en-US" sz="1600" dirty="0"/>
          </a:p>
        </p:txBody>
      </p:sp>
      <p:sp>
        <p:nvSpPr>
          <p:cNvPr id="7" name="Text 5"/>
          <p:cNvSpPr/>
          <p:nvPr/>
        </p:nvSpPr>
        <p:spPr>
          <a:xfrm>
            <a:off x="548640" y="4325112"/>
            <a:ext cx="11064240" cy="329184"/>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mdxcanvas, a public BYU course-tools repository (body shortened)</a:t>
            </a:r>
            <a:endParaRPr lang="en-US" sz="1400" dirty="0"/>
          </a:p>
        </p:txBody>
      </p:sp>
      <p:sp>
        <p:nvSpPr>
          <p:cNvPr id="8" name="click-1"/>
          <p:cNvSpPr/>
          <p:nvPr/>
        </p:nvSpPr>
        <p:spPr>
          <a:xfrm>
            <a:off x="548640" y="4846320"/>
            <a:ext cx="11064240" cy="1371600"/>
          </a:xfrm>
          <a:prstGeom prst="roundRect">
            <a:avLst>
              <a:gd name="adj" fmla="val 6000"/>
            </a:avLst>
          </a:prstGeom>
          <a:solidFill>
            <a:srgbClr val="14233A"/>
          </a:solidFill>
          <a:ln/>
          <a:effectLst>
            <a:outerShdw sx="100000" sy="100000" kx="0" ky="0" algn="bl" rotWithShape="0" blurRad="88900" dist="38100" dir="5400000">
              <a:srgbClr val="000000">
                <a:alpha val="13000"/>
              </a:srgbClr>
            </a:outerShdw>
          </a:effectLst>
        </p:spPr>
      </p:sp>
      <p:sp>
        <p:nvSpPr>
          <p:cNvPr id="9" name="click-1"/>
          <p:cNvSpPr/>
          <p:nvPr/>
        </p:nvSpPr>
        <p:spPr>
          <a:xfrm>
            <a:off x="868680" y="4846320"/>
            <a:ext cx="10424160" cy="1371600"/>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Read the reasoning with extra care: a tool wrote it. And know the author tested it and stands behind it. That's the course's AI policy: use it, understand it, stand behind it, and say so where the next maintainer will look.</a:t>
            </a:r>
            <a:endParaRPr lang="en-US" sz="1600" dirty="0"/>
          </a:p>
        </p:txBody>
      </p:sp>
      <p:sp>
        <p:nvSpPr>
          <p:cNvPr id="10" name="Text 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1"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17</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YOUR TURN · REWRITE MESSAGE 3</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You now know what the commit did. Say so.</a:t>
            </a:r>
            <a:endParaRPr lang="en-US" sz="3100" dirty="0"/>
          </a:p>
        </p:txBody>
      </p:sp>
      <p:sp>
        <p:nvSpPr>
          <p:cNvPr id="5" name="Text 3"/>
          <p:cNvSpPr/>
          <p:nvPr/>
        </p:nvSpPr>
        <p:spPr>
          <a:xfrm>
            <a:off x="548640" y="1691640"/>
            <a:ext cx="11064240" cy="36576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The message</a:t>
            </a:r>
            <a:endParaRPr lang="en-US" sz="1500" dirty="0"/>
          </a:p>
        </p:txBody>
      </p:sp>
      <p:sp>
        <p:nvSpPr>
          <p:cNvPr id="6" name="Shape 4"/>
          <p:cNvSpPr/>
          <p:nvPr/>
        </p:nvSpPr>
        <p:spPr>
          <a:xfrm>
            <a:off x="548640" y="2057400"/>
            <a:ext cx="11064240" cy="566928"/>
          </a:xfrm>
          <a:prstGeom prst="roundRect">
            <a:avLst>
              <a:gd name="adj" fmla="val 12903"/>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221992"/>
            <a:ext cx="10515600" cy="237744"/>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FIxed exception error</a:t>
            </a:r>
            <a:endParaRPr lang="en-US" sz="1600" dirty="0"/>
          </a:p>
        </p:txBody>
      </p:sp>
      <p:sp>
        <p:nvSpPr>
          <p:cNvPr id="8" name="Text 6"/>
          <p:cNvSpPr/>
          <p:nvPr/>
        </p:nvSpPr>
        <p:spPr>
          <a:xfrm>
            <a:off x="548640" y="2788920"/>
            <a:ext cx="11064240" cy="36576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What the commit actually changed (its whole diff)</a:t>
            </a:r>
            <a:endParaRPr lang="en-US" sz="1500" dirty="0"/>
          </a:p>
        </p:txBody>
      </p:sp>
      <p:sp>
        <p:nvSpPr>
          <p:cNvPr id="9" name="Shape 7"/>
          <p:cNvSpPr/>
          <p:nvPr/>
        </p:nvSpPr>
        <p:spPr>
          <a:xfrm>
            <a:off x="548640" y="3154680"/>
            <a:ext cx="11064240" cy="868680"/>
          </a:xfrm>
          <a:prstGeom prst="roundRect">
            <a:avLst>
              <a:gd name="adj" fmla="val 8421"/>
            </a:avLst>
          </a:prstGeom>
          <a:solidFill>
            <a:srgbClr val="1E3352"/>
          </a:solidFill>
          <a:ln/>
          <a:effectLst>
            <a:outerShdw sx="100000" sy="100000" kx="0" ky="0" algn="bl" rotWithShape="0" blurRad="88900" dist="38100" dir="5400000">
              <a:srgbClr val="000000">
                <a:alpha val="13000"/>
              </a:srgbClr>
            </a:outerShdw>
          </a:effectLst>
        </p:spPr>
      </p:sp>
      <p:sp>
        <p:nvSpPr>
          <p:cNvPr id="10" name="Text 8"/>
          <p:cNvSpPr/>
          <p:nvPr/>
        </p:nvSpPr>
        <p:spPr>
          <a:xfrm>
            <a:off x="822960" y="3319272"/>
            <a:ext cx="10515600" cy="539496"/>
          </a:xfrm>
          <a:prstGeom prst="rect">
            <a:avLst/>
          </a:prstGeom>
          <a:noFill/>
          <a:ln/>
        </p:spPr>
        <p:txBody>
          <a:bodyPr wrap="square" lIns="0" tIns="0" rIns="0" bIns="0" rtlCol="0" anchor="t"/>
          <a:lstStyle/>
          <a:p>
            <a:pPr indent="0" marL="0">
              <a:lnSpc>
                <a:spcPct val="105000"/>
              </a:lnSpc>
              <a:buNone/>
            </a:pPr>
            <a:r>
              <a:rPr lang="en-US" sz="1500" dirty="0">
                <a:solidFill>
                  <a:srgbClr val="F4A99A"/>
                </a:solidFill>
                <a:latin typeface="Consolas" pitchFamily="34" charset="0"/>
                <a:ea typeface="Consolas" pitchFamily="34" charset="-122"/>
                <a:cs typeface="Consolas" pitchFamily="34" charset="-120"/>
              </a:rPr>
              <a:t>-raise Exception( "Only class 1-4 starship construction centers are defined." )</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+raise Exception( "Only class 1-5 starship construction centers are defined." )</a:t>
            </a:r>
            <a:endParaRPr lang="en-US" sz="1500" dirty="0"/>
          </a:p>
        </p:txBody>
      </p:sp>
      <p:sp>
        <p:nvSpPr>
          <p:cNvPr id="11" name="Text 9"/>
          <p:cNvSpPr/>
          <p:nvPr/>
        </p:nvSpPr>
        <p:spPr>
          <a:xfrm>
            <a:off x="548640" y="4114800"/>
            <a:ext cx="11064240" cy="365760"/>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The commit just before it: </a:t>
            </a:r>
            <a:pPr indent="0" marL="0">
              <a:buNone/>
            </a:pPr>
            <a:r>
              <a:rPr lang="en-US" sz="1500" dirty="0">
                <a:solidFill>
                  <a:srgbClr val="1E2A36"/>
                </a:solidFill>
                <a:latin typeface="Consolas" pitchFamily="34" charset="0"/>
                <a:ea typeface="Consolas" pitchFamily="34" charset="-122"/>
                <a:cs typeface="Consolas" pitchFamily="34" charset="-120"/>
              </a:rPr>
              <a:t>Added a generic SCC as type 5</a:t>
            </a:r>
            <a:endParaRPr lang="en-US" sz="1500" dirty="0"/>
          </a:p>
        </p:txBody>
      </p:sp>
      <p:sp>
        <p:nvSpPr>
          <p:cNvPr id="12" name="click-1"/>
          <p:cNvSpPr/>
          <p:nvPr/>
        </p:nvSpPr>
        <p:spPr>
          <a:xfrm>
            <a:off x="548640" y="4663440"/>
            <a:ext cx="11064240" cy="1508760"/>
          </a:xfrm>
          <a:prstGeom prst="roundRect">
            <a:avLst>
              <a:gd name="adj" fmla="val 4848"/>
            </a:avLst>
          </a:prstGeom>
          <a:solidFill>
            <a:srgbClr val="1E3352"/>
          </a:solidFill>
          <a:ln/>
          <a:effectLst>
            <a:outerShdw sx="100000" sy="100000" kx="0" ky="0" algn="bl" rotWithShape="0" blurRad="88900" dist="38100" dir="5400000">
              <a:srgbClr val="000000">
                <a:alpha val="13000"/>
              </a:srgbClr>
            </a:outerShdw>
          </a:effectLst>
        </p:spPr>
      </p:sp>
      <p:sp>
        <p:nvSpPr>
          <p:cNvPr id="13" name="click-1"/>
          <p:cNvSpPr/>
          <p:nvPr/>
        </p:nvSpPr>
        <p:spPr>
          <a:xfrm>
            <a:off x="822960" y="4828032"/>
            <a:ext cx="10515600" cy="1179576"/>
          </a:xfrm>
          <a:prstGeom prst="rect">
            <a:avLst/>
          </a:prstGeom>
          <a:noFill/>
          <a:ln/>
        </p:spPr>
        <p:txBody>
          <a:bodyPr wrap="square" lIns="0" tIns="0" rIns="0" bIns="0" rtlCol="0" anchor="t"/>
          <a:lstStyle/>
          <a:p>
            <a:pPr indent="0" marL="0">
              <a:lnSpc>
                <a:spcPct val="105000"/>
              </a:lnSpc>
              <a:buNone/>
            </a:pPr>
            <a:r>
              <a:rPr lang="en-US" sz="1600" dirty="0">
                <a:solidFill>
                  <a:srgbClr val="9FE0B5"/>
                </a:solidFill>
                <a:latin typeface="Consolas" pitchFamily="34" charset="0"/>
                <a:ea typeface="Consolas" pitchFamily="34" charset="-122"/>
                <a:cs typeface="Consolas" pitchFamily="34" charset="-120"/>
              </a:rPr>
              <a:t>Include class 5 in unknown-SCC-class error message</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 </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The previous commit added class 5, but the error for an unknown class</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still said only classes 1-4 exist.</a:t>
            </a:r>
            <a:endParaRPr lang="en-US" sz="1600" dirty="0"/>
          </a:p>
        </p:txBody>
      </p:sp>
      <p:sp>
        <p:nvSpPr>
          <p:cNvPr id="14" name="Text 1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5"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YOUR TURN · REWRITE MESSAGE 4</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One commit, 23 files. How many changes?</a:t>
            </a:r>
            <a:endParaRPr lang="en-US" sz="3100" dirty="0"/>
          </a:p>
        </p:txBody>
      </p:sp>
      <p:sp>
        <p:nvSpPr>
          <p:cNvPr id="5" name="Text 3"/>
          <p:cNvSpPr/>
          <p:nvPr/>
        </p:nvSpPr>
        <p:spPr>
          <a:xfrm>
            <a:off x="548640" y="1691640"/>
            <a:ext cx="11064240" cy="365760"/>
          </a:xfrm>
          <a:prstGeom prst="rect">
            <a:avLst/>
          </a:prstGeom>
          <a:noFill/>
          <a:ln/>
        </p:spPr>
        <p:txBody>
          <a:bodyPr wrap="square" lIns="0" tIns="0" rIns="0" bIns="0" rtlCol="0" anchor="ctr"/>
          <a:lstStyle/>
          <a:p>
            <a:pPr indent="0" marL="0">
              <a:buNone/>
            </a:pPr>
            <a:r>
              <a:rPr lang="en-US" sz="1500" b="1" dirty="0">
                <a:solidFill>
                  <a:srgbClr val="5F7284"/>
                </a:solidFill>
                <a:latin typeface="Calibri" pitchFamily="34" charset="0"/>
                <a:ea typeface="Calibri" pitchFamily="34" charset="-122"/>
                <a:cs typeface="Calibri" pitchFamily="34" charset="-120"/>
              </a:rPr>
              <a:t>The message, complete: a subject line and no body</a:t>
            </a:r>
            <a:endParaRPr lang="en-US" sz="1500" dirty="0"/>
          </a:p>
        </p:txBody>
      </p:sp>
      <p:sp>
        <p:nvSpPr>
          <p:cNvPr id="6" name="Shape 4"/>
          <p:cNvSpPr/>
          <p:nvPr/>
        </p:nvSpPr>
        <p:spPr>
          <a:xfrm>
            <a:off x="548640" y="2057400"/>
            <a:ext cx="11064240" cy="868680"/>
          </a:xfrm>
          <a:prstGeom prst="roundRect">
            <a:avLst>
              <a:gd name="adj" fmla="val 8421"/>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221992"/>
            <a:ext cx="10515600" cy="539496"/>
          </a:xfrm>
          <a:prstGeom prst="rect">
            <a:avLst/>
          </a:prstGeom>
          <a:noFill/>
          <a:ln/>
        </p:spPr>
        <p:txBody>
          <a:bodyPr wrap="square" lIns="0" tIns="0" rIns="0" bIns="0" rtlCol="0" anchor="t"/>
          <a:lstStyle/>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Fixed Test Suite. Fixed --auto-open flag. Fixed attempting to run on file</a:t>
            </a:r>
            <a:endParaRPr lang="en-US" sz="1600" dirty="0"/>
          </a:p>
          <a:p>
            <a:pPr indent="0" marL="0">
              <a:lnSpc>
                <a:spcPct val="105000"/>
              </a:lnSpc>
              <a:buNone/>
            </a:pPr>
            <a:r>
              <a:rPr lang="en-US" sz="1600" dirty="0">
                <a:solidFill>
                  <a:srgbClr val="E8EEF3"/>
                </a:solidFill>
                <a:latin typeface="Consolas" pitchFamily="34" charset="0"/>
                <a:ea typeface="Consolas" pitchFamily="34" charset="-122"/>
                <a:cs typeface="Consolas" pitchFamily="34" charset="-120"/>
              </a:rPr>
              <a:t>that doesn't exist making an html anyway.</a:t>
            </a:r>
            <a:endParaRPr lang="en-US" sz="1600" dirty="0"/>
          </a:p>
        </p:txBody>
      </p:sp>
      <p:sp>
        <p:nvSpPr>
          <p:cNvPr id="8" name="Shape 6"/>
          <p:cNvSpPr/>
          <p:nvPr/>
        </p:nvSpPr>
        <p:spPr>
          <a:xfrm>
            <a:off x="548640" y="3154680"/>
            <a:ext cx="5669280" cy="3017520"/>
          </a:xfrm>
          <a:prstGeom prst="roundRect">
            <a:avLst>
              <a:gd name="adj" fmla="val 2727"/>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822960" y="3291840"/>
            <a:ext cx="5212080" cy="411480"/>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What the diff contains</a:t>
            </a:r>
            <a:endParaRPr lang="en-US" sz="1700" dirty="0"/>
          </a:p>
        </p:txBody>
      </p:sp>
      <p:sp>
        <p:nvSpPr>
          <p:cNvPr id="10" name="Text 8"/>
          <p:cNvSpPr/>
          <p:nvPr/>
        </p:nvSpPr>
        <p:spPr>
          <a:xfrm>
            <a:off x="822960" y="3749040"/>
            <a:ext cx="5212080" cy="2331720"/>
          </a:xfrm>
          <a:prstGeom prst="rect">
            <a:avLst/>
          </a:prstGeom>
          <a:noFill/>
          <a:ln/>
        </p:spPr>
        <p:txBody>
          <a:bodyPr wrap="square" lIns="0" tIns="0" rIns="0" bIns="0" rtlCol="0" anchor="t"/>
          <a:lstStyle/>
          <a:p>
            <a:pPr marL="203200" indent="-203200">
              <a:lnSpc>
                <a:spcPct val="102000"/>
              </a:lnSpc>
              <a:spcAft>
                <a:spcPts val="500"/>
              </a:spcAft>
              <a:buSzPct val="100000"/>
              <a:buChar char="•"/>
            </a:pPr>
            <a:r>
              <a:rPr lang="en-US" sz="1500" dirty="0">
                <a:solidFill>
                  <a:srgbClr val="1E2A36"/>
                </a:solidFill>
                <a:latin typeface="Calibri" pitchFamily="34" charset="0"/>
                <a:ea typeface="Calibri" pitchFamily="34" charset="-122"/>
                <a:cs typeface="Calibri" pitchFamily="34" charset="-120"/>
              </a:rPr>
              <a:t>--auto-open could never be turned off; now --no-auto-open works</a:t>
            </a:r>
            <a:endParaRPr lang="en-US" sz="1500" dirty="0"/>
          </a:p>
          <a:p>
            <a:pPr marL="203200" indent="-203200">
              <a:lnSpc>
                <a:spcPct val="102000"/>
              </a:lnSpc>
              <a:spcAft>
                <a:spcPts val="500"/>
              </a:spcAft>
              <a:buSzPct val="100000"/>
              <a:buChar char="•"/>
            </a:pPr>
            <a:r>
              <a:rPr lang="en-US" sz="1500" dirty="0">
                <a:solidFill>
                  <a:srgbClr val="1E2A36"/>
                </a:solidFill>
                <a:latin typeface="Calibri" pitchFamily="34" charset="0"/>
                <a:ea typeface="Calibri" pitchFamily="34" charset="-122"/>
                <a:cs typeface="Calibri" pitchFamily="34" charset="-120"/>
              </a:rPr>
              <a:t>A pattern matching no files still wrote an HTML report; now it's an error</a:t>
            </a:r>
            <a:endParaRPr lang="en-US" sz="1500" dirty="0"/>
          </a:p>
          <a:p>
            <a:pPr marL="203200" indent="-203200">
              <a:lnSpc>
                <a:spcPct val="102000"/>
              </a:lnSpc>
              <a:spcAft>
                <a:spcPts val="500"/>
              </a:spcAft>
              <a:buSzPct val="100000"/>
              <a:buChar char="•"/>
            </a:pPr>
            <a:r>
              <a:rPr lang="en-US" sz="1500" dirty="0">
                <a:solidFill>
                  <a:srgbClr val="1E2A36"/>
                </a:solidFill>
                <a:latin typeface="Calibri" pitchFamily="34" charset="0"/>
                <a:ea typeface="Calibri" pitchFamily="34" charset="-122"/>
                <a:cs typeface="Calibri" pitchFamily="34" charset="-120"/>
              </a:rPr>
              <a:t>Old tests removed, regression tests added</a:t>
            </a:r>
            <a:endParaRPr lang="en-US" sz="1500" dirty="0"/>
          </a:p>
          <a:p>
            <a:pPr indent="0" marL="0">
              <a:lnSpc>
                <a:spcPct val="102000"/>
              </a:lnSpc>
              <a:buNone/>
            </a:pPr>
            <a:r>
              <a:rPr lang="en-US" sz="1500" b="1" dirty="0">
                <a:solidFill>
                  <a:srgbClr val="D9614C"/>
                </a:solidFill>
                <a:latin typeface="Calibri" pitchFamily="34" charset="0"/>
                <a:ea typeface="Calibri" pitchFamily="34" charset="-122"/>
                <a:cs typeface="Calibri" pitchFamily="34" charset="-120"/>
              </a:rPr>
              <a:t>Not in the message: </a:t>
            </a:r>
            <a:pPr indent="0" marL="0">
              <a:lnSpc>
                <a:spcPct val="102000"/>
              </a:lnSpc>
              <a:buNone/>
            </a:pPr>
            <a:r>
              <a:rPr lang="en-US" sz="1500" dirty="0">
                <a:solidFill>
                  <a:srgbClr val="1E2A36"/>
                </a:solidFill>
                <a:latin typeface="Calibri" pitchFamily="34" charset="0"/>
                <a:ea typeface="Calibri" pitchFamily="34" charset="-122"/>
                <a:cs typeface="Calibri" pitchFamily="34" charset="-120"/>
              </a:rPr>
              <a:t>names escaped in the player's HTML, with a security test; edits checked to arrive in time order</a:t>
            </a:r>
            <a:endParaRPr lang="en-US" sz="1500" dirty="0"/>
          </a:p>
        </p:txBody>
      </p:sp>
      <p:sp>
        <p:nvSpPr>
          <p:cNvPr id="11" name="click-1"/>
          <p:cNvSpPr/>
          <p:nvPr/>
        </p:nvSpPr>
        <p:spPr>
          <a:xfrm>
            <a:off x="6400800" y="3154680"/>
            <a:ext cx="5212080" cy="3017520"/>
          </a:xfrm>
          <a:prstGeom prst="roundRect">
            <a:avLst>
              <a:gd name="adj" fmla="val 2424"/>
            </a:avLst>
          </a:prstGeom>
          <a:solidFill>
            <a:srgbClr val="1E3352"/>
          </a:solidFill>
          <a:ln/>
          <a:effectLst>
            <a:outerShdw sx="100000" sy="100000" kx="0" ky="0" algn="bl" rotWithShape="0" blurRad="88900" dist="38100" dir="5400000">
              <a:srgbClr val="000000">
                <a:alpha val="13000"/>
              </a:srgbClr>
            </a:outerShdw>
          </a:effectLst>
        </p:spPr>
      </p:sp>
      <p:sp>
        <p:nvSpPr>
          <p:cNvPr id="12" name="click-1"/>
          <p:cNvSpPr/>
          <p:nvPr/>
        </p:nvSpPr>
        <p:spPr>
          <a:xfrm>
            <a:off x="6675120" y="3319272"/>
            <a:ext cx="4663440" cy="2688336"/>
          </a:xfrm>
          <a:prstGeom prst="rect">
            <a:avLst/>
          </a:prstGeom>
          <a:noFill/>
          <a:ln/>
        </p:spPr>
        <p:txBody>
          <a:bodyPr wrap="square" lIns="0" tIns="0" rIns="0" bIns="0" rtlCol="0" anchor="t"/>
          <a:lstStyle/>
          <a:p>
            <a:pPr indent="0" marL="0">
              <a:lnSpc>
                <a:spcPct val="105000"/>
              </a:lnSpc>
              <a:buNone/>
            </a:pPr>
            <a:r>
              <a:rPr lang="en-US" sz="1500" dirty="0">
                <a:solidFill>
                  <a:srgbClr val="9FB4C7"/>
                </a:solidFill>
                <a:latin typeface="Consolas" pitchFamily="34" charset="0"/>
                <a:ea typeface="Consolas" pitchFamily="34" charset="-122"/>
                <a:cs typeface="Consolas" pitchFamily="34" charset="-120"/>
              </a:rPr>
              <a:t>Five commits, one subject each:</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Allow --no-auto-open to skip</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opening the browser</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Report an error when no</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recording files match</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Escape recording names in</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the player's HTML</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Reject out-of-order edits</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Replace the old tests with</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regression tests</a:t>
            </a:r>
            <a:endParaRPr lang="en-US" sz="1500" dirty="0"/>
          </a:p>
        </p:txBody>
      </p:sp>
      <p:sp>
        <p:nvSpPr>
          <p:cNvPr id="13"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19</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WHY MAINTAINERS CARE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log is free documentation, if you keep it</a:t>
            </a:r>
            <a:endParaRPr lang="en-US" sz="3100" dirty="0"/>
          </a:p>
        </p:txBody>
      </p:sp>
      <p:sp>
        <p:nvSpPr>
          <p:cNvPr id="5" name="Shape 3"/>
          <p:cNvSpPr/>
          <p:nvPr/>
        </p:nvSpPr>
        <p:spPr>
          <a:xfrm>
            <a:off x="548640" y="1828800"/>
            <a:ext cx="2103120" cy="310896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271016" y="2103120"/>
            <a:ext cx="658368" cy="65836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448775" y="2280879"/>
            <a:ext cx="302849" cy="302849"/>
          </a:xfrm>
          <a:prstGeom prst="rect">
            <a:avLst/>
          </a:prstGeom>
        </p:spPr>
      </p:pic>
      <p:sp>
        <p:nvSpPr>
          <p:cNvPr id="8" name="Text 5"/>
          <p:cNvSpPr/>
          <p:nvPr/>
        </p:nvSpPr>
        <p:spPr>
          <a:xfrm>
            <a:off x="640080" y="2926080"/>
            <a:ext cx="1920240" cy="45720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git log</a:t>
            </a:r>
            <a:endParaRPr lang="en-US" sz="1800" dirty="0"/>
          </a:p>
        </p:txBody>
      </p:sp>
      <p:sp>
        <p:nvSpPr>
          <p:cNvPr id="9" name="Text 6"/>
          <p:cNvSpPr/>
          <p:nvPr/>
        </p:nvSpPr>
        <p:spPr>
          <a:xfrm>
            <a:off x="685800" y="3474720"/>
            <a:ext cx="1828800" cy="13258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What happened, and in what order</a:t>
            </a:r>
            <a:endParaRPr lang="en-US" sz="1500" dirty="0"/>
          </a:p>
        </p:txBody>
      </p:sp>
      <p:sp>
        <p:nvSpPr>
          <p:cNvPr id="10" name="Shape 7"/>
          <p:cNvSpPr/>
          <p:nvPr/>
        </p:nvSpPr>
        <p:spPr>
          <a:xfrm>
            <a:off x="2788920" y="1828800"/>
            <a:ext cx="2103120" cy="310896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3511296" y="2103120"/>
            <a:ext cx="658368" cy="65836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3689055" y="2280879"/>
            <a:ext cx="302849" cy="302849"/>
          </a:xfrm>
          <a:prstGeom prst="rect">
            <a:avLst/>
          </a:prstGeom>
        </p:spPr>
      </p:pic>
      <p:sp>
        <p:nvSpPr>
          <p:cNvPr id="13" name="Text 9"/>
          <p:cNvSpPr/>
          <p:nvPr/>
        </p:nvSpPr>
        <p:spPr>
          <a:xfrm>
            <a:off x="2880360" y="2926080"/>
            <a:ext cx="1920240" cy="45720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git blame</a:t>
            </a:r>
            <a:endParaRPr lang="en-US" sz="1800" dirty="0"/>
          </a:p>
        </p:txBody>
      </p:sp>
      <p:sp>
        <p:nvSpPr>
          <p:cNvPr id="14" name="Text 10"/>
          <p:cNvSpPr/>
          <p:nvPr/>
        </p:nvSpPr>
        <p:spPr>
          <a:xfrm>
            <a:off x="2926080" y="3474720"/>
            <a:ext cx="1828800" cy="13258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Why is this line here? The commit says.</a:t>
            </a:r>
            <a:endParaRPr lang="en-US" sz="1500" dirty="0"/>
          </a:p>
        </p:txBody>
      </p:sp>
      <p:sp>
        <p:nvSpPr>
          <p:cNvPr id="15" name="Shape 11"/>
          <p:cNvSpPr/>
          <p:nvPr/>
        </p:nvSpPr>
        <p:spPr>
          <a:xfrm>
            <a:off x="5029200" y="1828800"/>
            <a:ext cx="2103120" cy="310896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5751576" y="2103120"/>
            <a:ext cx="658368" cy="65836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5929335" y="2280879"/>
            <a:ext cx="302849" cy="302849"/>
          </a:xfrm>
          <a:prstGeom prst="rect">
            <a:avLst/>
          </a:prstGeom>
        </p:spPr>
      </p:pic>
      <p:sp>
        <p:nvSpPr>
          <p:cNvPr id="18" name="Text 13"/>
          <p:cNvSpPr/>
          <p:nvPr/>
        </p:nvSpPr>
        <p:spPr>
          <a:xfrm>
            <a:off x="5120640" y="2926080"/>
            <a:ext cx="1920240" cy="45720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git revert</a:t>
            </a:r>
            <a:endParaRPr lang="en-US" sz="1800" dirty="0"/>
          </a:p>
        </p:txBody>
      </p:sp>
      <p:sp>
        <p:nvSpPr>
          <p:cNvPr id="19" name="Text 14"/>
          <p:cNvSpPr/>
          <p:nvPr/>
        </p:nvSpPr>
        <p:spPr>
          <a:xfrm>
            <a:off x="5166360" y="3474720"/>
            <a:ext cx="1828800" cy="13258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Undo one change cleanly, if it's one change</a:t>
            </a:r>
            <a:endParaRPr lang="en-US" sz="1500" dirty="0"/>
          </a:p>
        </p:txBody>
      </p:sp>
      <p:sp>
        <p:nvSpPr>
          <p:cNvPr id="20" name="Shape 15"/>
          <p:cNvSpPr/>
          <p:nvPr/>
        </p:nvSpPr>
        <p:spPr>
          <a:xfrm>
            <a:off x="7269480" y="1828800"/>
            <a:ext cx="2103120" cy="3108960"/>
          </a:xfrm>
          <a:prstGeom prst="roundRect">
            <a:avLst>
              <a:gd name="adj" fmla="val 3913"/>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7991856" y="2103120"/>
            <a:ext cx="658368" cy="658368"/>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8169615" y="2280879"/>
            <a:ext cx="302849" cy="302849"/>
          </a:xfrm>
          <a:prstGeom prst="rect">
            <a:avLst/>
          </a:prstGeom>
        </p:spPr>
      </p:pic>
      <p:sp>
        <p:nvSpPr>
          <p:cNvPr id="23" name="Text 17"/>
          <p:cNvSpPr/>
          <p:nvPr/>
        </p:nvSpPr>
        <p:spPr>
          <a:xfrm>
            <a:off x="7360920" y="2926080"/>
            <a:ext cx="1920240" cy="45720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Release notes</a:t>
            </a:r>
            <a:endParaRPr lang="en-US" sz="1800" dirty="0"/>
          </a:p>
        </p:txBody>
      </p:sp>
      <p:sp>
        <p:nvSpPr>
          <p:cNvPr id="24" name="Text 18"/>
          <p:cNvSpPr/>
          <p:nvPr/>
        </p:nvSpPr>
        <p:spPr>
          <a:xfrm>
            <a:off x="7406640" y="3474720"/>
            <a:ext cx="1828800" cy="1325880"/>
          </a:xfrm>
          <a:prstGeom prst="rect">
            <a:avLst/>
          </a:prstGeom>
          <a:noFill/>
          <a:ln/>
        </p:spPr>
        <p:txBody>
          <a:bodyPr wrap="square" lIns="0" tIns="0" rIns="0" bIns="0" rtlCol="0" anchor="t"/>
          <a:lstStyle/>
          <a:p>
            <a:pPr algn="ctr" indent="0" marL="0">
              <a:buNone/>
            </a:pPr>
            <a:r>
              <a:rPr lang="en-US" sz="1500" dirty="0">
                <a:solidFill>
                  <a:srgbClr val="5F7284"/>
                </a:solidFill>
                <a:latin typeface="Calibri" pitchFamily="34" charset="0"/>
                <a:ea typeface="Calibri" pitchFamily="34" charset="-122"/>
                <a:cs typeface="Calibri" pitchFamily="34" charset="-120"/>
              </a:rPr>
              <a:t>Written from subjects, if they're good</a:t>
            </a:r>
            <a:endParaRPr lang="en-US" sz="1500" dirty="0"/>
          </a:p>
        </p:txBody>
      </p:sp>
      <p:sp>
        <p:nvSpPr>
          <p:cNvPr id="25" name="Shape 19"/>
          <p:cNvSpPr/>
          <p:nvPr/>
        </p:nvSpPr>
        <p:spPr>
          <a:xfrm>
            <a:off x="9509760" y="1828800"/>
            <a:ext cx="2103120" cy="3108960"/>
          </a:xfrm>
          <a:prstGeom prst="roundRect">
            <a:avLst>
              <a:gd name="adj" fmla="val 3913"/>
            </a:avLst>
          </a:prstGeom>
          <a:solidFill>
            <a:srgbClr val="14233A"/>
          </a:solidFill>
          <a:ln/>
          <a:effectLst>
            <a:outerShdw sx="100000" sy="100000" kx="0" ky="0" algn="bl" rotWithShape="0" blurRad="88900" dist="38100" dir="5400000">
              <a:srgbClr val="000000">
                <a:alpha val="13000"/>
              </a:srgbClr>
            </a:outerShdw>
          </a:effectLst>
        </p:spPr>
      </p:sp>
      <p:sp>
        <p:nvSpPr>
          <p:cNvPr id="26" name="Shape 20"/>
          <p:cNvSpPr/>
          <p:nvPr/>
        </p:nvSpPr>
        <p:spPr>
          <a:xfrm>
            <a:off x="10232136" y="2103120"/>
            <a:ext cx="658368" cy="658368"/>
          </a:xfrm>
          <a:prstGeom prst="ellipse">
            <a:avLst/>
          </a:prstGeom>
          <a:solidFill>
            <a:srgbClr val="E8A33D"/>
          </a:solidFill>
          <a:ln/>
        </p:spPr>
      </p:sp>
      <p:pic>
        <p:nvPicPr>
          <p:cNvPr id="27" name="Image 4" descr="preencoded.png">    </p:cNvPr>
          <p:cNvPicPr>
            <a:picLocks noChangeAspect="1"/>
          </p:cNvPicPr>
          <p:nvPr/>
        </p:nvPicPr>
        <p:blipFill>
          <a:blip r:embed="rId5"/>
          <a:stretch>
            <a:fillRect/>
          </a:stretch>
        </p:blipFill>
        <p:spPr>
          <a:xfrm>
            <a:off x="10409895" y="2280879"/>
            <a:ext cx="302849" cy="302849"/>
          </a:xfrm>
          <a:prstGeom prst="rect">
            <a:avLst/>
          </a:prstGeom>
        </p:spPr>
      </p:pic>
      <p:sp>
        <p:nvSpPr>
          <p:cNvPr id="28" name="Text 21"/>
          <p:cNvSpPr/>
          <p:nvPr/>
        </p:nvSpPr>
        <p:spPr>
          <a:xfrm>
            <a:off x="9601200" y="2926080"/>
            <a:ext cx="19202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The newcomer</a:t>
            </a:r>
            <a:endParaRPr lang="en-US" sz="1800" dirty="0"/>
          </a:p>
        </p:txBody>
      </p:sp>
      <p:sp>
        <p:nvSpPr>
          <p:cNvPr id="29" name="Text 22"/>
          <p:cNvSpPr/>
          <p:nvPr/>
        </p:nvSpPr>
        <p:spPr>
          <a:xfrm>
            <a:off x="9646920" y="3474720"/>
            <a:ext cx="1828800" cy="1325880"/>
          </a:xfrm>
          <a:prstGeom prst="rect">
            <a:avLst/>
          </a:prstGeom>
          <a:noFill/>
          <a:ln/>
        </p:spPr>
        <p:txBody>
          <a:bodyPr wrap="square" lIns="0" tIns="0" rIns="0" bIns="0" rtlCol="0" anchor="t"/>
          <a:lstStyle/>
          <a:p>
            <a:pPr algn="ctr" indent="0" marL="0">
              <a:buNone/>
            </a:pPr>
            <a:r>
              <a:rPr lang="en-US" sz="1500" dirty="0">
                <a:solidFill>
                  <a:srgbClr val="CFE0E9"/>
                </a:solidFill>
                <a:latin typeface="Calibri" pitchFamily="34" charset="0"/>
                <a:ea typeface="Calibri" pitchFamily="34" charset="-122"/>
                <a:cs typeface="Calibri" pitchFamily="34" charset="-120"/>
              </a:rPr>
              <a:t>Reads your history to learn the project</a:t>
            </a:r>
            <a:endParaRPr lang="en-US" sz="1500" dirty="0"/>
          </a:p>
        </p:txBody>
      </p:sp>
      <p:sp>
        <p:nvSpPr>
          <p:cNvPr id="30" name="Shape 23"/>
          <p:cNvSpPr/>
          <p:nvPr/>
        </p:nvSpPr>
        <p:spPr>
          <a:xfrm>
            <a:off x="548640" y="5166360"/>
            <a:ext cx="11064240" cy="1005840"/>
          </a:xfrm>
          <a:prstGeom prst="roundRect">
            <a:avLst>
              <a:gd name="adj" fmla="val 8182"/>
            </a:avLst>
          </a:prstGeom>
          <a:solidFill>
            <a:srgbClr val="E8A33D"/>
          </a:solidFill>
          <a:ln/>
          <a:effectLst>
            <a:outerShdw sx="100000" sy="100000" kx="0" ky="0" algn="bl" rotWithShape="0" blurRad="88900" dist="38100" dir="5400000">
              <a:srgbClr val="000000">
                <a:alpha val="13000"/>
              </a:srgbClr>
            </a:outerShdw>
          </a:effectLst>
        </p:spPr>
      </p:sp>
      <p:sp>
        <p:nvSpPr>
          <p:cNvPr id="31" name="Text 24"/>
          <p:cNvSpPr/>
          <p:nvPr/>
        </p:nvSpPr>
        <p:spPr>
          <a:xfrm>
            <a:off x="868680" y="5166360"/>
            <a:ext cx="10424160" cy="1005840"/>
          </a:xfrm>
          <a:prstGeom prst="rect">
            <a:avLst/>
          </a:prstGeom>
          <a:noFill/>
          <a:ln/>
        </p:spPr>
        <p:txBody>
          <a:bodyPr wrap="square" lIns="0" tIns="0" rIns="0" bIns="0" rtlCol="0" anchor="ctr"/>
          <a:lstStyle/>
          <a:p>
            <a:pPr indent="0" marL="0">
              <a:lnSpc>
                <a:spcPct val="104000"/>
              </a:lnSpc>
              <a:buNone/>
            </a:pPr>
            <a:r>
              <a:rPr lang="en-US" sz="1650" b="1" dirty="0">
                <a:solidFill>
                  <a:srgbClr val="14233A"/>
                </a:solidFill>
                <a:latin typeface="Calibri" pitchFamily="34" charset="0"/>
                <a:ea typeface="Calibri" pitchFamily="34" charset="-122"/>
                <a:cs typeface="Calibri" pitchFamily="34" charset="-120"/>
              </a:rPr>
              <a:t>Your project will outlast your memory of it. Write each message for the contributor who joins next year, and for you in six months.</a:t>
            </a:r>
            <a:endParaRPr lang="en-US" sz="1650" dirty="0"/>
          </a:p>
        </p:txBody>
      </p:sp>
      <p:sp>
        <p:nvSpPr>
          <p:cNvPr id="32"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33"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QUESTION FROM THE DEMO</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Logical commits, then squash them?</a:t>
            </a:r>
            <a:endParaRPr lang="en-US" sz="3100" dirty="0"/>
          </a:p>
        </p:txBody>
      </p:sp>
      <p:sp>
        <p:nvSpPr>
          <p:cNvPr id="5" name="Shape 3"/>
          <p:cNvSpPr/>
          <p:nvPr/>
        </p:nvSpPr>
        <p:spPr>
          <a:xfrm>
            <a:off x="548640" y="1783080"/>
            <a:ext cx="5440680" cy="3246120"/>
          </a:xfrm>
          <a:prstGeom prst="roundRect">
            <a:avLst>
              <a:gd name="adj" fmla="val 253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01168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31626" y="2174626"/>
            <a:ext cx="277612" cy="277612"/>
          </a:xfrm>
          <a:prstGeom prst="rect">
            <a:avLst/>
          </a:prstGeom>
        </p:spPr>
      </p:pic>
      <p:sp>
        <p:nvSpPr>
          <p:cNvPr id="8" name="Text 5"/>
          <p:cNvSpPr/>
          <p:nvPr/>
        </p:nvSpPr>
        <p:spPr>
          <a:xfrm>
            <a:off x="1645920" y="1965960"/>
            <a:ext cx="4206240" cy="73152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The branch commits</a:t>
            </a:r>
            <a:endParaRPr lang="en-US" sz="1900" dirty="0"/>
          </a:p>
          <a:p>
            <a:pPr indent="0" marL="0">
              <a:buNone/>
            </a:pPr>
            <a:r>
              <a:rPr lang="en-US" sz="1600" i="1" dirty="0">
                <a:solidFill>
                  <a:srgbClr val="0E6E6D"/>
                </a:solidFill>
                <a:latin typeface="Calibri" pitchFamily="34" charset="0"/>
                <a:ea typeface="Calibri" pitchFamily="34" charset="-122"/>
                <a:cs typeface="Calibri" pitchFamily="34" charset="-120"/>
              </a:rPr>
              <a:t>serve the reviewer, during review</a:t>
            </a:r>
            <a:endParaRPr lang="en-US" sz="1900" dirty="0"/>
          </a:p>
        </p:txBody>
      </p:sp>
      <p:sp>
        <p:nvSpPr>
          <p:cNvPr id="9" name="Text 6"/>
          <p:cNvSpPr/>
          <p:nvPr/>
        </p:nvSpPr>
        <p:spPr>
          <a:xfrm>
            <a:off x="914400" y="2880360"/>
            <a:ext cx="4892040" cy="20116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1E2A36"/>
                </a:solidFill>
                <a:latin typeface="Calibri" pitchFamily="34" charset="0"/>
                <a:ea typeface="Calibri" pitchFamily="34" charset="-122"/>
                <a:cs typeface="Calibri" pitchFamily="34" charset="-120"/>
              </a:rPr>
              <a:t>Read the change one step at a time</a:t>
            </a:r>
            <a:endParaRPr lang="en-US" sz="1600" dirty="0"/>
          </a:p>
          <a:p>
            <a:pPr marL="203200" indent="-203200">
              <a:spcAft>
                <a:spcPts val="800"/>
              </a:spcAft>
              <a:buSzPct val="100000"/>
              <a:buChar char="•"/>
            </a:pPr>
            <a:r>
              <a:rPr lang="en-US" sz="1600" dirty="0">
                <a:solidFill>
                  <a:srgbClr val="1E2A36"/>
                </a:solidFill>
                <a:latin typeface="Calibri" pitchFamily="34" charset="0"/>
                <a:ea typeface="Calibri" pitchFamily="34" charset="-122"/>
                <a:cs typeface="Calibri" pitchFamily="34" charset="-120"/>
              </a:rPr>
              <a:t>See exactly what changed to answer a comment</a:t>
            </a:r>
            <a:endParaRPr lang="en-US" sz="1600" dirty="0"/>
          </a:p>
          <a:p>
            <a:pPr marL="203200" indent="-203200">
              <a:buSzPct val="100000"/>
              <a:buChar char="•"/>
            </a:pPr>
            <a:r>
              <a:rPr lang="en-US" sz="1600" dirty="0">
                <a:solidFill>
                  <a:srgbClr val="1E2A36"/>
                </a:solidFill>
                <a:latin typeface="Calibri" pitchFamily="34" charset="0"/>
                <a:ea typeface="Calibri" pitchFamily="34" charset="-122"/>
                <a:cs typeface="Calibri" pitchFamily="34" charset="-120"/>
              </a:rPr>
              <a:t>Stay in the pull request after the merge</a:t>
            </a:r>
            <a:endParaRPr lang="en-US" sz="1600" dirty="0"/>
          </a:p>
        </p:txBody>
      </p:sp>
      <p:sp>
        <p:nvSpPr>
          <p:cNvPr id="10" name="click-1"/>
          <p:cNvSpPr/>
          <p:nvPr/>
        </p:nvSpPr>
        <p:spPr>
          <a:xfrm>
            <a:off x="6172200" y="1783080"/>
            <a:ext cx="5440680" cy="3246120"/>
          </a:xfrm>
          <a:prstGeom prst="roundRect">
            <a:avLst>
              <a:gd name="adj" fmla="val 2535"/>
            </a:avLst>
          </a:prstGeom>
          <a:solidFill>
            <a:srgbClr val="14233A"/>
          </a:solidFill>
          <a:ln/>
          <a:effectLst>
            <a:outerShdw sx="100000" sy="100000" kx="0" ky="0" algn="bl" rotWithShape="0" blurRad="88900" dist="38100" dir="5400000">
              <a:srgbClr val="000000">
                <a:alpha val="13000"/>
              </a:srgbClr>
            </a:outerShdw>
          </a:effectLst>
        </p:spPr>
      </p:sp>
      <p:sp>
        <p:nvSpPr>
          <p:cNvPr id="11" name="click-1"/>
          <p:cNvSpPr/>
          <p:nvPr/>
        </p:nvSpPr>
        <p:spPr>
          <a:xfrm>
            <a:off x="6492240" y="2011680"/>
            <a:ext cx="603504" cy="603504"/>
          </a:xfrm>
          <a:prstGeom prst="ellipse">
            <a:avLst/>
          </a:prstGeom>
          <a:solidFill>
            <a:srgbClr val="E8A33D"/>
          </a:solidFill>
          <a:ln/>
        </p:spPr>
      </p:sp>
      <p:pic>
        <p:nvPicPr>
          <p:cNvPr id="12" name="click-1" descr="preencoded.png">    </p:cNvPr>
          <p:cNvPicPr>
            <a:picLocks noChangeAspect="1"/>
          </p:cNvPicPr>
          <p:nvPr/>
        </p:nvPicPr>
        <p:blipFill>
          <a:blip r:embed="rId2"/>
          <a:stretch>
            <a:fillRect/>
          </a:stretch>
        </p:blipFill>
        <p:spPr>
          <a:xfrm>
            <a:off x="6655186" y="2174626"/>
            <a:ext cx="277612" cy="277612"/>
          </a:xfrm>
          <a:prstGeom prst="rect">
            <a:avLst/>
          </a:prstGeom>
        </p:spPr>
      </p:pic>
      <p:sp>
        <p:nvSpPr>
          <p:cNvPr id="13" name="click-1"/>
          <p:cNvSpPr/>
          <p:nvPr/>
        </p:nvSpPr>
        <p:spPr>
          <a:xfrm>
            <a:off x="7269480" y="1965960"/>
            <a:ext cx="4206240" cy="7315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squash commit</a:t>
            </a:r>
            <a:endParaRPr lang="en-US" sz="1900" dirty="0"/>
          </a:p>
          <a:p>
            <a:pPr indent="0" marL="0">
              <a:buNone/>
            </a:pPr>
            <a:r>
              <a:rPr lang="en-US" sz="1600" i="1" dirty="0">
                <a:solidFill>
                  <a:srgbClr val="E8A33D"/>
                </a:solidFill>
                <a:latin typeface="Calibri" pitchFamily="34" charset="0"/>
                <a:ea typeface="Calibri" pitchFamily="34" charset="-122"/>
                <a:cs typeface="Calibri" pitchFamily="34" charset="-120"/>
              </a:rPr>
              <a:t>serves the maintainer, for years</a:t>
            </a:r>
            <a:endParaRPr lang="en-US" sz="1900" dirty="0"/>
          </a:p>
        </p:txBody>
      </p:sp>
      <p:sp>
        <p:nvSpPr>
          <p:cNvPr id="14" name="click-1"/>
          <p:cNvSpPr/>
          <p:nvPr/>
        </p:nvSpPr>
        <p:spPr>
          <a:xfrm>
            <a:off x="6537960" y="2880360"/>
            <a:ext cx="4892040" cy="20116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CFE0E9"/>
                </a:solidFill>
                <a:latin typeface="Calibri" pitchFamily="34" charset="0"/>
                <a:ea typeface="Calibri" pitchFamily="34" charset="-122"/>
                <a:cs typeface="Calibri" pitchFamily="34" charset="-120"/>
              </a:rPr>
              <a:t>It's what lands on main, so the seven rules apply here</a:t>
            </a:r>
            <a:endParaRPr lang="en-US" sz="1600" dirty="0"/>
          </a:p>
          <a:p>
            <a:pPr marL="203200" indent="-203200">
              <a:spcAft>
                <a:spcPts val="800"/>
              </a:spcAft>
              <a:buSzPct val="100000"/>
              <a:buChar char="•"/>
            </a:pPr>
            <a:r>
              <a:rPr lang="en-US" sz="1600" dirty="0">
                <a:solidFill>
                  <a:srgbClr val="CFE0E9"/>
                </a:solidFill>
                <a:latin typeface="Calibri" pitchFamily="34" charset="0"/>
                <a:ea typeface="Calibri" pitchFamily="34" charset="-122"/>
                <a:cs typeface="Calibri" pitchFamily="34" charset="-120"/>
              </a:rPr>
              <a:t>Subject: the pull request's title</a:t>
            </a:r>
            <a:endParaRPr lang="en-US" sz="1600" dirty="0"/>
          </a:p>
          <a:p>
            <a:pPr marL="203200" indent="-203200">
              <a:buSzPct val="100000"/>
              <a:buChar char="•"/>
            </a:pPr>
            <a:r>
              <a:rPr lang="en-US" sz="1600" dirty="0">
                <a:solidFill>
                  <a:srgbClr val="CFE0E9"/>
                </a:solidFill>
                <a:latin typeface="Calibri" pitchFamily="34" charset="0"/>
                <a:ea typeface="Calibri" pitchFamily="34" charset="-122"/>
                <a:cs typeface="Calibri" pitchFamily="34" charset="-120"/>
              </a:rPr>
              <a:t>Body: why the change exists, not a list of the steps</a:t>
            </a:r>
            <a:endParaRPr lang="en-US" sz="1600" dirty="0"/>
          </a:p>
        </p:txBody>
      </p:sp>
      <p:sp>
        <p:nvSpPr>
          <p:cNvPr id="15" name="click-2"/>
          <p:cNvSpPr/>
          <p:nvPr/>
        </p:nvSpPr>
        <p:spPr>
          <a:xfrm>
            <a:off x="548640" y="5257800"/>
            <a:ext cx="11064240" cy="914400"/>
          </a:xfrm>
          <a:prstGeom prst="roundRect">
            <a:avLst>
              <a:gd name="adj" fmla="val 9000"/>
            </a:avLst>
          </a:prstGeom>
          <a:solidFill>
            <a:srgbClr val="E8A33D"/>
          </a:solidFill>
          <a:ln/>
          <a:effectLst>
            <a:outerShdw sx="100000" sy="100000" kx="0" ky="0" algn="bl" rotWithShape="0" blurRad="88900" dist="38100" dir="5400000">
              <a:srgbClr val="000000">
                <a:alpha val="13000"/>
              </a:srgbClr>
            </a:outerShdw>
          </a:effectLst>
        </p:spPr>
      </p:sp>
      <p:sp>
        <p:nvSpPr>
          <p:cNvPr id="16" name="click-2"/>
          <p:cNvSpPr/>
          <p:nvPr/>
        </p:nvSpPr>
        <p:spPr>
          <a:xfrm>
            <a:off x="868680" y="5257800"/>
            <a:ext cx="10424160" cy="914400"/>
          </a:xfrm>
          <a:prstGeom prst="rect">
            <a:avLst/>
          </a:prstGeom>
          <a:noFill/>
          <a:ln/>
        </p:spPr>
        <p:txBody>
          <a:bodyPr wrap="square" lIns="0" tIns="0" rIns="0" bIns="0" rtlCol="0" anchor="ctr"/>
          <a:lstStyle/>
          <a:p>
            <a:pPr algn="ctr" indent="0" marL="0">
              <a:buNone/>
            </a:pPr>
            <a:r>
              <a:rPr lang="en-US" sz="1700" b="1" dirty="0">
                <a:solidFill>
                  <a:srgbClr val="14233A"/>
                </a:solidFill>
                <a:latin typeface="Calibri" pitchFamily="34" charset="0"/>
                <a:ea typeface="Calibri" pitchFamily="34" charset="-122"/>
                <a:cs typeface="Calibri" pitchFamily="34" charset="-120"/>
              </a:rPr>
              <a:t>If a pull request needs more than one line of history on main, it's more than one change.</a:t>
            </a:r>
            <a:endParaRPr lang="en-US" sz="170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0"/>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PULL REQUESTS · THE AUTHOR'S SIDE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Make it easy to review, or it won't really get reviewed</a:t>
            </a:r>
            <a:endParaRPr lang="en-US" sz="3100" dirty="0"/>
          </a:p>
        </p:txBody>
      </p:sp>
      <p:sp>
        <p:nvSpPr>
          <p:cNvPr id="5" name="Shape 3"/>
          <p:cNvSpPr/>
          <p:nvPr/>
        </p:nvSpPr>
        <p:spPr>
          <a:xfrm>
            <a:off x="548640" y="1828800"/>
            <a:ext cx="356616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03120"/>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95782" y="2275942"/>
            <a:ext cx="294437" cy="294437"/>
          </a:xfrm>
          <a:prstGeom prst="rect">
            <a:avLst/>
          </a:prstGeom>
        </p:spPr>
      </p:pic>
      <p:sp>
        <p:nvSpPr>
          <p:cNvPr id="8" name="Text 5"/>
          <p:cNvSpPr/>
          <p:nvPr/>
        </p:nvSpPr>
        <p:spPr>
          <a:xfrm>
            <a:off x="1645920" y="2103120"/>
            <a:ext cx="2286000" cy="64008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Small</a:t>
            </a:r>
            <a:endParaRPr lang="en-US" sz="2000" dirty="0"/>
          </a:p>
        </p:txBody>
      </p:sp>
      <p:sp>
        <p:nvSpPr>
          <p:cNvPr id="9" name="Text 6"/>
          <p:cNvSpPr/>
          <p:nvPr/>
        </p:nvSpPr>
        <p:spPr>
          <a:xfrm>
            <a:off x="822960" y="2971800"/>
            <a:ext cx="3017520" cy="2011680"/>
          </a:xfrm>
          <a:prstGeom prst="rect">
            <a:avLst/>
          </a:prstGeom>
          <a:noFill/>
          <a:ln/>
        </p:spPr>
        <p:txBody>
          <a:bodyPr wrap="square" lIns="0" tIns="0" rIns="0" bIns="0" rtlCol="0" anchor="t"/>
          <a:lstStyle/>
          <a:p>
            <a:pPr indent="0" marL="0">
              <a:lnSpc>
                <a:spcPct val="106000"/>
              </a:lnSpc>
              <a:buNone/>
            </a:pPr>
            <a:r>
              <a:rPr lang="en-US" sz="1600" dirty="0">
                <a:solidFill>
                  <a:srgbClr val="1E2A36"/>
                </a:solidFill>
                <a:latin typeface="Calibri" pitchFamily="34" charset="0"/>
                <a:ea typeface="Calibri" pitchFamily="34" charset="-122"/>
                <a:cs typeface="Calibri" pitchFamily="34" charset="-120"/>
              </a:rPr>
              <a:t>One logical change. Big pull requests get skimmed and approved; small ones get read.</a:t>
            </a:r>
            <a:endParaRPr lang="en-US" sz="1600" dirty="0"/>
          </a:p>
        </p:txBody>
      </p:sp>
      <p:sp>
        <p:nvSpPr>
          <p:cNvPr id="10" name="Shape 7"/>
          <p:cNvSpPr/>
          <p:nvPr/>
        </p:nvSpPr>
        <p:spPr>
          <a:xfrm>
            <a:off x="4297680" y="1828800"/>
            <a:ext cx="356616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572000" y="2103120"/>
            <a:ext cx="640080" cy="64008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744822" y="2275942"/>
            <a:ext cx="294437" cy="294437"/>
          </a:xfrm>
          <a:prstGeom prst="rect">
            <a:avLst/>
          </a:prstGeom>
        </p:spPr>
      </p:pic>
      <p:sp>
        <p:nvSpPr>
          <p:cNvPr id="13" name="Text 9"/>
          <p:cNvSpPr/>
          <p:nvPr/>
        </p:nvSpPr>
        <p:spPr>
          <a:xfrm>
            <a:off x="5394960" y="2103120"/>
            <a:ext cx="2286000" cy="64008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Described</a:t>
            </a:r>
            <a:endParaRPr lang="en-US" sz="2000" dirty="0"/>
          </a:p>
        </p:txBody>
      </p:sp>
      <p:sp>
        <p:nvSpPr>
          <p:cNvPr id="14" name="Text 10"/>
          <p:cNvSpPr/>
          <p:nvPr/>
        </p:nvSpPr>
        <p:spPr>
          <a:xfrm>
            <a:off x="4572000" y="2971800"/>
            <a:ext cx="3017520" cy="2011680"/>
          </a:xfrm>
          <a:prstGeom prst="rect">
            <a:avLst/>
          </a:prstGeom>
          <a:noFill/>
          <a:ln/>
        </p:spPr>
        <p:txBody>
          <a:bodyPr wrap="square" lIns="0" tIns="0" rIns="0" bIns="0" rtlCol="0" anchor="t"/>
          <a:lstStyle/>
          <a:p>
            <a:pPr indent="0" marL="0">
              <a:lnSpc>
                <a:spcPct val="106000"/>
              </a:lnSpc>
              <a:buNone/>
            </a:pPr>
            <a:r>
              <a:rPr lang="en-US" sz="1600" dirty="0">
                <a:solidFill>
                  <a:srgbClr val="1E2A36"/>
                </a:solidFill>
                <a:latin typeface="Calibri" pitchFamily="34" charset="0"/>
                <a:ea typeface="Calibri" pitchFamily="34" charset="-122"/>
                <a:cs typeface="Calibri" pitchFamily="34" charset="-120"/>
              </a:rPr>
              <a:t>Problem · approach · what to look at first. The description is for the reviewer, not for you.</a:t>
            </a:r>
            <a:endParaRPr lang="en-US" sz="1600" dirty="0"/>
          </a:p>
        </p:txBody>
      </p:sp>
      <p:sp>
        <p:nvSpPr>
          <p:cNvPr id="15" name="Shape 11"/>
          <p:cNvSpPr/>
          <p:nvPr/>
        </p:nvSpPr>
        <p:spPr>
          <a:xfrm>
            <a:off x="8046720" y="1828800"/>
            <a:ext cx="356616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321040" y="2103120"/>
            <a:ext cx="640080" cy="64008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493862" y="2275942"/>
            <a:ext cx="294437" cy="294437"/>
          </a:xfrm>
          <a:prstGeom prst="rect">
            <a:avLst/>
          </a:prstGeom>
        </p:spPr>
      </p:pic>
      <p:sp>
        <p:nvSpPr>
          <p:cNvPr id="18" name="Text 13"/>
          <p:cNvSpPr/>
          <p:nvPr/>
        </p:nvSpPr>
        <p:spPr>
          <a:xfrm>
            <a:off x="9144000" y="2103120"/>
            <a:ext cx="2286000" cy="64008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Self-reviewed</a:t>
            </a:r>
            <a:endParaRPr lang="en-US" sz="2000" dirty="0"/>
          </a:p>
        </p:txBody>
      </p:sp>
      <p:sp>
        <p:nvSpPr>
          <p:cNvPr id="19" name="Text 14"/>
          <p:cNvSpPr/>
          <p:nvPr/>
        </p:nvSpPr>
        <p:spPr>
          <a:xfrm>
            <a:off x="8321040" y="2971800"/>
            <a:ext cx="3017520" cy="2011680"/>
          </a:xfrm>
          <a:prstGeom prst="rect">
            <a:avLst/>
          </a:prstGeom>
          <a:noFill/>
          <a:ln/>
        </p:spPr>
        <p:txBody>
          <a:bodyPr wrap="square" lIns="0" tIns="0" rIns="0" bIns="0" rtlCol="0" anchor="t"/>
          <a:lstStyle/>
          <a:p>
            <a:pPr indent="0" marL="0">
              <a:lnSpc>
                <a:spcPct val="106000"/>
              </a:lnSpc>
              <a:buNone/>
            </a:pPr>
            <a:r>
              <a:rPr lang="en-US" sz="1600" dirty="0">
                <a:solidFill>
                  <a:srgbClr val="1E2A36"/>
                </a:solidFill>
                <a:latin typeface="Calibri" pitchFamily="34" charset="0"/>
                <a:ea typeface="Calibri" pitchFamily="34" charset="-122"/>
                <a:cs typeface="Calibri" pitchFamily="34" charset="-120"/>
              </a:rPr>
              <a:t>Read your own diff on GitHub before asking anyone else to. You'll find the first two comments yourself.</a:t>
            </a:r>
            <a:endParaRPr lang="en-US" sz="1600" dirty="0"/>
          </a:p>
        </p:txBody>
      </p:sp>
      <p:sp>
        <p:nvSpPr>
          <p:cNvPr id="20" name="Shape 15"/>
          <p:cNvSpPr/>
          <p:nvPr/>
        </p:nvSpPr>
        <p:spPr>
          <a:xfrm>
            <a:off x="548640" y="5349240"/>
            <a:ext cx="11064240" cy="822960"/>
          </a:xfrm>
          <a:prstGeom prst="roundRect">
            <a:avLst>
              <a:gd name="adj" fmla="val 10000"/>
            </a:avLst>
          </a:prstGeom>
          <a:solidFill>
            <a:srgbClr val="FBEEDA"/>
          </a:solidFill>
          <a:ln/>
          <a:effectLst>
            <a:outerShdw sx="100000" sy="100000" kx="0" ky="0" algn="bl" rotWithShape="0" blurRad="88900" dist="38100" dir="5400000">
              <a:srgbClr val="000000">
                <a:alpha val="13000"/>
              </a:srgbClr>
            </a:outerShdw>
          </a:effectLst>
        </p:spPr>
      </p:sp>
      <p:sp>
        <p:nvSpPr>
          <p:cNvPr id="21" name="Text 16"/>
          <p:cNvSpPr/>
          <p:nvPr/>
        </p:nvSpPr>
        <p:spPr>
          <a:xfrm>
            <a:off x="868680" y="5349240"/>
            <a:ext cx="10424160" cy="822960"/>
          </a:xfrm>
          <a:prstGeom prst="rect">
            <a:avLst/>
          </a:prstGeom>
          <a:noFill/>
          <a:ln/>
        </p:spPr>
        <p:txBody>
          <a:bodyPr wrap="square" lIns="0" tIns="0" rIns="0" bIns="0" rtlCol="0" anchor="ctr"/>
          <a:lstStyle/>
          <a:p>
            <a:pPr indent="0" marL="0">
              <a:buNone/>
            </a:pPr>
            <a:r>
              <a:rPr lang="en-US" sz="1600" dirty="0">
                <a:solidFill>
                  <a:srgbClr val="1E2A36"/>
                </a:solidFill>
                <a:latin typeface="Calibri" pitchFamily="34" charset="0"/>
                <a:ea typeface="Calibri" pitchFamily="34" charset="-122"/>
                <a:cs typeface="Calibri" pitchFamily="34" charset="-120"/>
              </a:rPr>
              <a:t>The demo's pull request said what it left out, too: category search. Saying what a change doesn't do keeps it small.</a:t>
            </a:r>
            <a:endParaRPr lang="en-US" sz="1600" dirty="0"/>
          </a:p>
        </p:txBody>
      </p:sp>
      <p:sp>
        <p:nvSpPr>
          <p:cNvPr id="22"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23"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CODE REVIEW · THE REVIEWER'S SIDE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Approve what makes the code healthier</a:t>
            </a:r>
            <a:endParaRPr lang="en-US" sz="3100" dirty="0"/>
          </a:p>
        </p:txBody>
      </p:sp>
      <p:sp>
        <p:nvSpPr>
          <p:cNvPr id="5" name="Shape 3"/>
          <p:cNvSpPr/>
          <p:nvPr/>
        </p:nvSpPr>
        <p:spPr>
          <a:xfrm>
            <a:off x="548640" y="1783080"/>
            <a:ext cx="5029200" cy="4389120"/>
          </a:xfrm>
          <a:prstGeom prst="roundRect">
            <a:avLst>
              <a:gd name="adj" fmla="val 1875"/>
            </a:avLst>
          </a:prstGeom>
          <a:solidFill>
            <a:srgbClr val="14233A"/>
          </a:solidFill>
          <a:ln/>
          <a:effectLst>
            <a:outerShdw sx="100000" sy="100000" kx="0" ky="0" algn="bl" rotWithShape="0" blurRad="88900" dist="38100" dir="5400000">
              <a:srgbClr val="000000">
                <a:alpha val="13000"/>
              </a:srgbClr>
            </a:outerShdw>
          </a:effectLst>
        </p:spPr>
      </p:sp>
      <p:sp>
        <p:nvSpPr>
          <p:cNvPr id="6" name="Text 4"/>
          <p:cNvSpPr/>
          <p:nvPr/>
        </p:nvSpPr>
        <p:spPr>
          <a:xfrm>
            <a:off x="868680" y="1965960"/>
            <a:ext cx="4480560" cy="457200"/>
          </a:xfrm>
          <a:prstGeom prst="rect">
            <a:avLst/>
          </a:prstGeom>
          <a:noFill/>
          <a:ln/>
        </p:spPr>
        <p:txBody>
          <a:bodyPr wrap="square" lIns="0" tIns="0" rIns="0" bIns="0" rtlCol="0" anchor="ctr"/>
          <a:lstStyle/>
          <a:p>
            <a:pPr indent="0" marL="0">
              <a:buNone/>
            </a:pPr>
            <a:r>
              <a:rPr lang="en-US" sz="1900" b="1" dirty="0">
                <a:solidFill>
                  <a:srgbClr val="E8A33D"/>
                </a:solidFill>
                <a:latin typeface="Calibri" pitchFamily="34" charset="0"/>
                <a:ea typeface="Calibri" pitchFamily="34" charset="-122"/>
                <a:cs typeface="Calibri" pitchFamily="34" charset="-120"/>
              </a:rPr>
              <a:t>The standard</a:t>
            </a:r>
            <a:endParaRPr lang="en-US" sz="1900" dirty="0"/>
          </a:p>
        </p:txBody>
      </p:sp>
      <p:sp>
        <p:nvSpPr>
          <p:cNvPr id="7" name="Text 5"/>
          <p:cNvSpPr/>
          <p:nvPr/>
        </p:nvSpPr>
        <p:spPr>
          <a:xfrm>
            <a:off x="868680" y="2560320"/>
            <a:ext cx="4434840" cy="3383280"/>
          </a:xfrm>
          <a:prstGeom prst="rect">
            <a:avLst/>
          </a:prstGeom>
          <a:noFill/>
          <a:ln/>
        </p:spPr>
        <p:txBody>
          <a:bodyPr wrap="square" lIns="0" tIns="0" rIns="0" bIns="0" rtlCol="0" anchor="t"/>
          <a:lstStyle/>
          <a:p>
            <a:pPr indent="0" marL="0">
              <a:lnSpc>
                <a:spcPct val="108000"/>
              </a:lnSpc>
              <a:buNone/>
            </a:pPr>
            <a:r>
              <a:rPr lang="en-US" sz="1650" dirty="0">
                <a:solidFill>
                  <a:srgbClr val="FFFFFF"/>
                </a:solidFill>
                <a:latin typeface="Calibri" pitchFamily="34" charset="0"/>
                <a:ea typeface="Calibri" pitchFamily="34" charset="-122"/>
                <a:cs typeface="Calibri" pitchFamily="34" charset="-120"/>
              </a:rPr>
              <a:t>Google's guide: a reviewer should favor approving a change once it definitely improves the overall health of the code, even if it isn't perfect. There is no perfect code, only better code.</a:t>
            </a:r>
            <a:endParaRPr lang="en-US" sz="1650" dirty="0"/>
          </a:p>
        </p:txBody>
      </p:sp>
      <p:sp>
        <p:nvSpPr>
          <p:cNvPr id="8" name="Text 6"/>
          <p:cNvSpPr/>
          <p:nvPr/>
        </p:nvSpPr>
        <p:spPr>
          <a:xfrm>
            <a:off x="5852160" y="1783080"/>
            <a:ext cx="5760720" cy="411480"/>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What to look at, most important first</a:t>
            </a:r>
            <a:endParaRPr lang="en-US" sz="1700" dirty="0"/>
          </a:p>
        </p:txBody>
      </p:sp>
      <p:sp>
        <p:nvSpPr>
          <p:cNvPr id="9" name="Shape 7"/>
          <p:cNvSpPr/>
          <p:nvPr/>
        </p:nvSpPr>
        <p:spPr>
          <a:xfrm>
            <a:off x="5852160" y="2286000"/>
            <a:ext cx="5760720" cy="548640"/>
          </a:xfrm>
          <a:prstGeom prst="roundRect">
            <a:avLst>
              <a:gd name="adj" fmla="val 15000"/>
            </a:avLst>
          </a:prstGeom>
          <a:solidFill>
            <a:srgbClr val="12908F"/>
          </a:solidFill>
          <a:ln/>
          <a:effectLst>
            <a:outerShdw sx="100000" sy="100000" kx="0" ky="0" algn="bl" rotWithShape="0" blurRad="88900" dist="38100" dir="5400000">
              <a:srgbClr val="000000">
                <a:alpha val="13000"/>
              </a:srgbClr>
            </a:outerShdw>
          </a:effectLst>
        </p:spPr>
      </p:sp>
      <p:sp>
        <p:nvSpPr>
          <p:cNvPr id="10" name="Text 8"/>
          <p:cNvSpPr/>
          <p:nvPr/>
        </p:nvSpPr>
        <p:spPr>
          <a:xfrm>
            <a:off x="6080760" y="2286000"/>
            <a:ext cx="5440680" cy="54864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Design: does this belong here, built this way?</a:t>
            </a:r>
            <a:endParaRPr lang="en-US" sz="1550" dirty="0"/>
          </a:p>
        </p:txBody>
      </p:sp>
      <p:sp>
        <p:nvSpPr>
          <p:cNvPr id="11" name="Shape 9"/>
          <p:cNvSpPr/>
          <p:nvPr/>
        </p:nvSpPr>
        <p:spPr>
          <a:xfrm>
            <a:off x="5852160" y="2944368"/>
            <a:ext cx="5440680" cy="548640"/>
          </a:xfrm>
          <a:prstGeom prst="roundRect">
            <a:avLst>
              <a:gd name="adj" fmla="val 15000"/>
            </a:avLst>
          </a:prstGeom>
          <a:solidFill>
            <a:srgbClr val="12908F"/>
          </a:solidFill>
          <a:ln/>
          <a:effectLst>
            <a:outerShdw sx="100000" sy="100000" kx="0" ky="0" algn="bl" rotWithShape="0" blurRad="88900" dist="38100" dir="5400000">
              <a:srgbClr val="000000">
                <a:alpha val="13000"/>
              </a:srgbClr>
            </a:outerShdw>
          </a:effectLst>
        </p:spPr>
      </p:sp>
      <p:sp>
        <p:nvSpPr>
          <p:cNvPr id="12" name="Text 10"/>
          <p:cNvSpPr/>
          <p:nvPr/>
        </p:nvSpPr>
        <p:spPr>
          <a:xfrm>
            <a:off x="6080760" y="2944368"/>
            <a:ext cx="5120640" cy="54864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Functionality: does it do what it says?</a:t>
            </a:r>
            <a:endParaRPr lang="en-US" sz="1550" dirty="0"/>
          </a:p>
        </p:txBody>
      </p:sp>
      <p:sp>
        <p:nvSpPr>
          <p:cNvPr id="13" name="Shape 11"/>
          <p:cNvSpPr/>
          <p:nvPr/>
        </p:nvSpPr>
        <p:spPr>
          <a:xfrm>
            <a:off x="5852160" y="3602736"/>
            <a:ext cx="51206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4" name="Text 12"/>
          <p:cNvSpPr/>
          <p:nvPr/>
        </p:nvSpPr>
        <p:spPr>
          <a:xfrm>
            <a:off x="6080760" y="3602736"/>
            <a:ext cx="480060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Complexity: could it be simpler?</a:t>
            </a:r>
            <a:endParaRPr lang="en-US" sz="1550" dirty="0"/>
          </a:p>
        </p:txBody>
      </p:sp>
      <p:sp>
        <p:nvSpPr>
          <p:cNvPr id="15" name="Shape 13"/>
          <p:cNvSpPr/>
          <p:nvPr/>
        </p:nvSpPr>
        <p:spPr>
          <a:xfrm>
            <a:off x="5852160" y="4261104"/>
            <a:ext cx="480060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6" name="Text 14"/>
          <p:cNvSpPr/>
          <p:nvPr/>
        </p:nvSpPr>
        <p:spPr>
          <a:xfrm>
            <a:off x="6080760" y="4261104"/>
            <a:ext cx="448056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Tests: do they test the behavior?</a:t>
            </a:r>
            <a:endParaRPr lang="en-US" sz="1550" dirty="0"/>
          </a:p>
        </p:txBody>
      </p:sp>
      <p:sp>
        <p:nvSpPr>
          <p:cNvPr id="17" name="Shape 15"/>
          <p:cNvSpPr/>
          <p:nvPr/>
        </p:nvSpPr>
        <p:spPr>
          <a:xfrm>
            <a:off x="5852160" y="4919472"/>
            <a:ext cx="448056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18" name="Text 16"/>
          <p:cNvSpPr/>
          <p:nvPr/>
        </p:nvSpPr>
        <p:spPr>
          <a:xfrm>
            <a:off x="6080760" y="4919472"/>
            <a:ext cx="416052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Naming: do names say what things are?</a:t>
            </a:r>
            <a:endParaRPr lang="en-US" sz="1550" dirty="0"/>
          </a:p>
        </p:txBody>
      </p:sp>
      <p:sp>
        <p:nvSpPr>
          <p:cNvPr id="19" name="Shape 17"/>
          <p:cNvSpPr/>
          <p:nvPr/>
        </p:nvSpPr>
        <p:spPr>
          <a:xfrm>
            <a:off x="5852160" y="5577840"/>
            <a:ext cx="416052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20" name="Text 18"/>
          <p:cNvSpPr/>
          <p:nvPr/>
        </p:nvSpPr>
        <p:spPr>
          <a:xfrm>
            <a:off x="6080760" y="5577840"/>
            <a:ext cx="3840480" cy="54864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Comments: do they say why?</a:t>
            </a:r>
            <a:endParaRPr lang="en-US" sz="1550" dirty="0"/>
          </a:p>
        </p:txBody>
      </p:sp>
      <p:sp>
        <p:nvSpPr>
          <p:cNvPr id="21" name="Text 19"/>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22"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CODE REVIEW · THE HUMAN SIDE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Review the code, not the coder</a:t>
            </a:r>
            <a:endParaRPr lang="en-US" sz="3100" dirty="0"/>
          </a:p>
        </p:txBody>
      </p:sp>
      <p:sp>
        <p:nvSpPr>
          <p:cNvPr id="5" name="Shape 3"/>
          <p:cNvSpPr/>
          <p:nvPr/>
        </p:nvSpPr>
        <p:spPr>
          <a:xfrm>
            <a:off x="548640" y="1783080"/>
            <a:ext cx="11064240" cy="896112"/>
          </a:xfrm>
          <a:prstGeom prst="roundRect">
            <a:avLst>
              <a:gd name="adj" fmla="val 9184"/>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868680" y="1783080"/>
            <a:ext cx="4206240" cy="896112"/>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Comment on the code, not the person</a:t>
            </a:r>
            <a:endParaRPr lang="en-US" sz="1700" dirty="0"/>
          </a:p>
        </p:txBody>
      </p:sp>
      <p:sp>
        <p:nvSpPr>
          <p:cNvPr id="7" name="Text 5"/>
          <p:cNvSpPr/>
          <p:nvPr/>
        </p:nvSpPr>
        <p:spPr>
          <a:xfrm>
            <a:off x="5212080" y="1783080"/>
            <a:ext cx="6172200" cy="896112"/>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"This loop loads every item" — not "you didn't think about performance"</a:t>
            </a:r>
            <a:endParaRPr lang="en-US" sz="1550" dirty="0"/>
          </a:p>
        </p:txBody>
      </p:sp>
      <p:sp>
        <p:nvSpPr>
          <p:cNvPr id="8" name="Shape 6"/>
          <p:cNvSpPr/>
          <p:nvPr/>
        </p:nvSpPr>
        <p:spPr>
          <a:xfrm>
            <a:off x="548640" y="2807208"/>
            <a:ext cx="11064240" cy="896112"/>
          </a:xfrm>
          <a:prstGeom prst="roundRect">
            <a:avLst>
              <a:gd name="adj" fmla="val 9184"/>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868680" y="2807208"/>
            <a:ext cx="4206240" cy="896112"/>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Ask rather than rule</a:t>
            </a:r>
            <a:endParaRPr lang="en-US" sz="1700" dirty="0"/>
          </a:p>
        </p:txBody>
      </p:sp>
      <p:sp>
        <p:nvSpPr>
          <p:cNvPr id="10" name="Text 8"/>
          <p:cNvSpPr/>
          <p:nvPr/>
        </p:nvSpPr>
        <p:spPr>
          <a:xfrm>
            <a:off x="5212080" y="2807208"/>
            <a:ext cx="6172200" cy="896112"/>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"Could this filter in the query instead?" invites a reason; a verdict invites a defense</a:t>
            </a:r>
            <a:endParaRPr lang="en-US" sz="1550" dirty="0"/>
          </a:p>
        </p:txBody>
      </p:sp>
      <p:sp>
        <p:nvSpPr>
          <p:cNvPr id="11" name="Shape 9"/>
          <p:cNvSpPr/>
          <p:nvPr/>
        </p:nvSpPr>
        <p:spPr>
          <a:xfrm>
            <a:off x="548640" y="3831336"/>
            <a:ext cx="11064240" cy="896112"/>
          </a:xfrm>
          <a:prstGeom prst="roundRect">
            <a:avLst>
              <a:gd name="adj" fmla="val 9184"/>
            </a:avLst>
          </a:prstGeom>
          <a:solidFill>
            <a:srgbClr val="F2F6F8"/>
          </a:solidFill>
          <a:ln/>
          <a:effectLst>
            <a:outerShdw sx="100000" sy="100000" kx="0" ky="0" algn="bl" rotWithShape="0" blurRad="88900" dist="38100" dir="5400000">
              <a:srgbClr val="000000">
                <a:alpha val="13000"/>
              </a:srgbClr>
            </a:outerShdw>
          </a:effectLst>
        </p:spPr>
      </p:sp>
      <p:sp>
        <p:nvSpPr>
          <p:cNvPr id="12" name="Text 10"/>
          <p:cNvSpPr/>
          <p:nvPr/>
        </p:nvSpPr>
        <p:spPr>
          <a:xfrm>
            <a:off x="868680" y="3831336"/>
            <a:ext cx="4206240" cy="896112"/>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Label the small stuff</a:t>
            </a:r>
            <a:endParaRPr lang="en-US" sz="1700" dirty="0"/>
          </a:p>
        </p:txBody>
      </p:sp>
      <p:sp>
        <p:nvSpPr>
          <p:cNvPr id="13" name="Text 11"/>
          <p:cNvSpPr/>
          <p:nvPr/>
        </p:nvSpPr>
        <p:spPr>
          <a:xfrm>
            <a:off x="5212080" y="3831336"/>
            <a:ext cx="6172200" cy="896112"/>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Start with "nit:" so the author knows it's optional</a:t>
            </a:r>
            <a:endParaRPr lang="en-US" sz="1550" dirty="0"/>
          </a:p>
        </p:txBody>
      </p:sp>
      <p:sp>
        <p:nvSpPr>
          <p:cNvPr id="14" name="Shape 12"/>
          <p:cNvSpPr/>
          <p:nvPr/>
        </p:nvSpPr>
        <p:spPr>
          <a:xfrm>
            <a:off x="548640" y="4855464"/>
            <a:ext cx="11064240" cy="896112"/>
          </a:xfrm>
          <a:prstGeom prst="roundRect">
            <a:avLst>
              <a:gd name="adj" fmla="val 9184"/>
            </a:avLst>
          </a:prstGeom>
          <a:solidFill>
            <a:srgbClr val="14233A"/>
          </a:solidFill>
          <a:ln/>
          <a:effectLst>
            <a:outerShdw sx="100000" sy="100000" kx="0" ky="0" algn="bl" rotWithShape="0" blurRad="88900" dist="38100" dir="5400000">
              <a:srgbClr val="000000">
                <a:alpha val="13000"/>
              </a:srgbClr>
            </a:outerShdw>
          </a:effectLst>
        </p:spPr>
      </p:sp>
      <p:sp>
        <p:nvSpPr>
          <p:cNvPr id="15" name="Text 13"/>
          <p:cNvSpPr/>
          <p:nvPr/>
        </p:nvSpPr>
        <p:spPr>
          <a:xfrm>
            <a:off x="868680" y="4855464"/>
            <a:ext cx="4206240" cy="896112"/>
          </a:xfrm>
          <a:prstGeom prst="rect">
            <a:avLst/>
          </a:prstGeom>
          <a:noFill/>
          <a:ln/>
        </p:spPr>
        <p:txBody>
          <a:bodyPr wrap="square" lIns="0" tIns="0" rIns="0" bIns="0"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The author answers every comment</a:t>
            </a:r>
            <a:endParaRPr lang="en-US" sz="1700" dirty="0"/>
          </a:p>
        </p:txBody>
      </p:sp>
      <p:sp>
        <p:nvSpPr>
          <p:cNvPr id="16" name="Text 14"/>
          <p:cNvSpPr/>
          <p:nvPr/>
        </p:nvSpPr>
        <p:spPr>
          <a:xfrm>
            <a:off x="5212080" y="4855464"/>
            <a:ext cx="6172200" cy="896112"/>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Fix it, or explain why not. Silence isn't an answer.</a:t>
            </a:r>
            <a:endParaRPr lang="en-US" sz="1550" dirty="0"/>
          </a:p>
        </p:txBody>
      </p:sp>
      <p:sp>
        <p:nvSpPr>
          <p:cNvPr id="17" name="Text 15"/>
          <p:cNvSpPr/>
          <p:nvPr/>
        </p:nvSpPr>
        <p:spPr>
          <a:xfrm>
            <a:off x="548640" y="5943600"/>
            <a:ext cx="11064240" cy="365760"/>
          </a:xfrm>
          <a:prstGeom prst="rect">
            <a:avLst/>
          </a:prstGeom>
          <a:noFill/>
          <a:ln/>
        </p:spPr>
        <p:txBody>
          <a:bodyPr wrap="square" lIns="0" tIns="0" rIns="0" bIns="0" rtlCol="0" anchor="ctr"/>
          <a:lstStyle/>
          <a:p>
            <a:pPr algn="ctr" indent="0" marL="0">
              <a:buNone/>
            </a:pPr>
            <a:r>
              <a:rPr lang="en-US" sz="1500" i="1" dirty="0">
                <a:solidFill>
                  <a:srgbClr val="5F7284"/>
                </a:solidFill>
                <a:latin typeface="Calibri" pitchFamily="34" charset="0"/>
                <a:ea typeface="Calibri" pitchFamily="34" charset="-122"/>
                <a:cs typeface="Calibri" pitchFamily="34" charset="-120"/>
              </a:rPr>
              <a:t>The same register as the proposal peer review in Session 8: same skill, new artifact.</a:t>
            </a:r>
            <a:endParaRPr lang="en-US" sz="1500" dirty="0"/>
          </a:p>
        </p:txBody>
      </p:sp>
      <p:sp>
        <p:nvSpPr>
          <p:cNvPr id="18"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9"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PRACTICE · IN PAIRS, 5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Review this change: write two comments</a:t>
            </a:r>
            <a:endParaRPr lang="en-US" sz="3100" dirty="0"/>
          </a:p>
        </p:txBody>
      </p:sp>
      <p:sp>
        <p:nvSpPr>
          <p:cNvPr id="5" name="Text 3"/>
          <p:cNvSpPr/>
          <p:nvPr/>
        </p:nvSpPr>
        <p:spPr>
          <a:xfrm>
            <a:off x="548640" y="1691640"/>
            <a:ext cx="11064240" cy="411480"/>
          </a:xfrm>
          <a:prstGeom prst="rect">
            <a:avLst/>
          </a:prstGeom>
          <a:noFill/>
          <a:ln/>
        </p:spPr>
        <p:txBody>
          <a:bodyPr wrap="square" lIns="0" tIns="0" rIns="0" bIns="0" rtlCol="0" anchor="ctr"/>
          <a:lstStyle/>
          <a:p>
            <a:pPr indent="0" marL="0">
              <a:buNone/>
            </a:pPr>
            <a:r>
              <a:rPr lang="en-US" sz="1600" b="1" dirty="0">
                <a:solidFill>
                  <a:srgbClr val="5F7284"/>
                </a:solidFill>
                <a:latin typeface="Calibri" pitchFamily="34" charset="0"/>
                <a:ea typeface="Calibri" pitchFamily="34" charset="-122"/>
                <a:cs typeface="Calibri" pitchFamily="34" charset="-120"/>
              </a:rPr>
              <a:t>Pull request: Show only the items in one bin</a:t>
            </a:r>
            <a:endParaRPr lang="en-US" sz="1600" dirty="0"/>
          </a:p>
        </p:txBody>
      </p:sp>
      <p:sp>
        <p:nvSpPr>
          <p:cNvPr id="6" name="Shape 4"/>
          <p:cNvSpPr/>
          <p:nvPr/>
        </p:nvSpPr>
        <p:spPr>
          <a:xfrm>
            <a:off x="548640" y="2148840"/>
            <a:ext cx="7223760" cy="3063240"/>
          </a:xfrm>
          <a:prstGeom prst="roundRect">
            <a:avLst>
              <a:gd name="adj" fmla="val 2388"/>
            </a:avLst>
          </a:prstGeom>
          <a:solidFill>
            <a:srgbClr val="1E3352"/>
          </a:solidFill>
          <a:ln/>
          <a:effectLst>
            <a:outerShdw sx="100000" sy="100000" kx="0" ky="0" algn="bl" rotWithShape="0" blurRad="88900" dist="38100" dir="5400000">
              <a:srgbClr val="000000">
                <a:alpha val="13000"/>
              </a:srgbClr>
            </a:outerShdw>
          </a:effectLst>
        </p:spPr>
      </p:sp>
      <p:sp>
        <p:nvSpPr>
          <p:cNvPr id="7" name="Text 5"/>
          <p:cNvSpPr/>
          <p:nvPr/>
        </p:nvSpPr>
        <p:spPr>
          <a:xfrm>
            <a:off x="822960" y="2313432"/>
            <a:ext cx="6675120" cy="2734056"/>
          </a:xfrm>
          <a:prstGeom prst="rect">
            <a:avLst/>
          </a:prstGeom>
          <a:noFill/>
          <a:ln/>
        </p:spPr>
        <p:txBody>
          <a:bodyPr wrap="square" lIns="0" tIns="0" rIns="0" bIns="0" rtlCol="0" anchor="t"/>
          <a:lstStyle/>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+def get(request):</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l = Item.objects.all()</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result = []</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 loop over the items</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for i in l:</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if i.bin.label == request.GET.get("bin"):</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result.append(i)</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return render(request, "catalog/item_list.html",</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                  {"items": result})</a:t>
            </a:r>
            <a:endParaRPr lang="en-US" sz="1500" dirty="0"/>
          </a:p>
        </p:txBody>
      </p:sp>
      <p:sp>
        <p:nvSpPr>
          <p:cNvPr id="8" name="Shape 6"/>
          <p:cNvSpPr/>
          <p:nvPr/>
        </p:nvSpPr>
        <p:spPr>
          <a:xfrm>
            <a:off x="8001000" y="2148840"/>
            <a:ext cx="3611880" cy="3063240"/>
          </a:xfrm>
          <a:prstGeom prst="roundRect">
            <a:avLst>
              <a:gd name="adj" fmla="val 2687"/>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8275320" y="2286000"/>
            <a:ext cx="3108960" cy="2788920"/>
          </a:xfrm>
          <a:prstGeom prst="rect">
            <a:avLst/>
          </a:prstGeom>
          <a:noFill/>
          <a:ln/>
        </p:spPr>
        <p:txBody>
          <a:bodyPr wrap="square" lIns="0" tIns="0" rIns="0" bIns="0" rtlCol="0" anchor="t"/>
          <a:lstStyle/>
          <a:p>
            <a:pPr indent="0" marL="0">
              <a:lnSpc>
                <a:spcPct val="106000"/>
              </a:lnSpc>
              <a:spcAft>
                <a:spcPts val="1200"/>
              </a:spcAft>
              <a:buNone/>
            </a:pPr>
            <a:r>
              <a:rPr lang="en-US" sz="1600" dirty="0">
                <a:solidFill>
                  <a:srgbClr val="1E2A36"/>
                </a:solidFill>
                <a:latin typeface="Calibri" pitchFamily="34" charset="0"/>
                <a:ea typeface="Calibri" pitchFamily="34" charset="-122"/>
                <a:cs typeface="Calibri" pitchFamily="34" charset="-120"/>
              </a:rPr>
              <a:t>Three problems are planted: one in the design, one in the naming, and one nit.</a:t>
            </a:r>
            <a:endParaRPr lang="en-US" sz="1600" dirty="0"/>
          </a:p>
          <a:p>
            <a:pPr indent="0" marL="0">
              <a:lnSpc>
                <a:spcPct val="106000"/>
              </a:lnSpc>
              <a:buNone/>
            </a:pPr>
            <a:r>
              <a:rPr lang="en-US" sz="1600" b="1" dirty="0">
                <a:solidFill>
                  <a:srgbClr val="1E2A36"/>
                </a:solidFill>
                <a:latin typeface="Calibri" pitchFamily="34" charset="0"/>
                <a:ea typeface="Calibri" pitchFamily="34" charset="-122"/>
                <a:cs typeface="Calibri" pitchFamily="34" charset="-120"/>
              </a:rPr>
              <a:t>Write two comments the way you'd want to receive them.</a:t>
            </a:r>
            <a:endParaRPr lang="en-US" sz="1600" dirty="0"/>
          </a:p>
        </p:txBody>
      </p:sp>
      <p:sp>
        <p:nvSpPr>
          <p:cNvPr id="10" name="Shape 8"/>
          <p:cNvSpPr/>
          <p:nvPr/>
        </p:nvSpPr>
        <p:spPr>
          <a:xfrm>
            <a:off x="548640" y="5440680"/>
            <a:ext cx="11064240" cy="731520"/>
          </a:xfrm>
          <a:prstGeom prst="roundRect">
            <a:avLst>
              <a:gd name="adj" fmla="val 11250"/>
            </a:avLst>
          </a:prstGeom>
          <a:solidFill>
            <a:srgbClr val="FBEEDA"/>
          </a:solidFill>
          <a:ln/>
          <a:effectLst>
            <a:outerShdw sx="100000" sy="100000" kx="0" ky="0" algn="bl" rotWithShape="0" blurRad="88900" dist="38100" dir="5400000">
              <a:srgbClr val="000000">
                <a:alpha val="13000"/>
              </a:srgbClr>
            </a:outerShdw>
          </a:effectLst>
        </p:spPr>
      </p:sp>
      <p:sp>
        <p:nvSpPr>
          <p:cNvPr id="11" name="Text 9"/>
          <p:cNvSpPr/>
          <p:nvPr/>
        </p:nvSpPr>
        <p:spPr>
          <a:xfrm>
            <a:off x="868680" y="5440680"/>
            <a:ext cx="10424160" cy="731520"/>
          </a:xfrm>
          <a:prstGeom prst="rect">
            <a:avLst/>
          </a:prstGeom>
          <a:noFill/>
          <a:ln/>
        </p:spPr>
        <p:txBody>
          <a:bodyPr wrap="square" lIns="0" tIns="0" rIns="0" bIns="0" rtlCol="0" anchor="ctr"/>
          <a:lstStyle/>
          <a:p>
            <a:pPr indent="0" marL="0">
              <a:buNone/>
            </a:pPr>
            <a:r>
              <a:rPr lang="en-US" sz="1550" dirty="0">
                <a:solidFill>
                  <a:srgbClr val="1E2A36"/>
                </a:solidFill>
                <a:latin typeface="Calibri" pitchFamily="34" charset="0"/>
                <a:ea typeface="Calibri" pitchFamily="34" charset="-122"/>
                <a:cs typeface="Calibri" pitchFamily="34" charset="-120"/>
              </a:rPr>
              <a:t>Order: design → functionality → complexity → tests → naming → comments.   Ask; don't rule.   Mark nits.</a:t>
            </a:r>
            <a:endParaRPr lang="en-US" sz="1550" dirty="0"/>
          </a:p>
        </p:txBody>
      </p:sp>
      <p:sp>
        <p:nvSpPr>
          <p:cNvPr id="12" name="Text 1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3"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DEBRIEF</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comments, in the register</a:t>
            </a:r>
            <a:endParaRPr lang="en-US" sz="3100" dirty="0"/>
          </a:p>
        </p:txBody>
      </p:sp>
      <p:sp>
        <p:nvSpPr>
          <p:cNvPr id="5" name="click-1"/>
          <p:cNvSpPr/>
          <p:nvPr/>
        </p:nvSpPr>
        <p:spPr>
          <a:xfrm>
            <a:off x="548640" y="1783080"/>
            <a:ext cx="11064240" cy="1280160"/>
          </a:xfrm>
          <a:prstGeom prst="roundRect">
            <a:avLst>
              <a:gd name="adj" fmla="val 6429"/>
            </a:avLst>
          </a:prstGeom>
          <a:solidFill>
            <a:srgbClr val="14233A"/>
          </a:solidFill>
          <a:ln/>
          <a:effectLst>
            <a:outerShdw sx="100000" sy="100000" kx="0" ky="0" algn="bl" rotWithShape="0" blurRad="88900" dist="38100" dir="5400000">
              <a:srgbClr val="000000">
                <a:alpha val="13000"/>
              </a:srgbClr>
            </a:outerShdw>
          </a:effectLst>
        </p:spPr>
      </p:sp>
      <p:sp>
        <p:nvSpPr>
          <p:cNvPr id="6" name="click-1"/>
          <p:cNvSpPr/>
          <p:nvPr/>
        </p:nvSpPr>
        <p:spPr>
          <a:xfrm>
            <a:off x="777240" y="2167128"/>
            <a:ext cx="1417320" cy="512064"/>
          </a:xfrm>
          <a:prstGeom prst="roundRect">
            <a:avLst>
              <a:gd name="adj" fmla="val 14286"/>
            </a:avLst>
          </a:prstGeom>
          <a:solidFill>
            <a:srgbClr val="E8A33D"/>
          </a:solidFill>
          <a:ln/>
        </p:spPr>
      </p:sp>
      <p:sp>
        <p:nvSpPr>
          <p:cNvPr id="7" name="click-1"/>
          <p:cNvSpPr/>
          <p:nvPr/>
        </p:nvSpPr>
        <p:spPr>
          <a:xfrm>
            <a:off x="777240" y="2167128"/>
            <a:ext cx="1417320" cy="512064"/>
          </a:xfrm>
          <a:prstGeom prst="rect">
            <a:avLst/>
          </a:prstGeom>
          <a:noFill/>
          <a:ln/>
        </p:spPr>
        <p:txBody>
          <a:bodyPr wrap="square" lIns="0" tIns="0" rIns="0" bIns="0" rtlCol="0" anchor="ctr"/>
          <a:lstStyle/>
          <a:p>
            <a:pPr algn="ctr" indent="0" marL="0">
              <a:buNone/>
            </a:pPr>
            <a:r>
              <a:rPr lang="en-US" sz="1500" b="1" dirty="0">
                <a:solidFill>
                  <a:srgbClr val="14233A"/>
                </a:solidFill>
                <a:latin typeface="Calibri" pitchFamily="34" charset="0"/>
                <a:ea typeface="Calibri" pitchFamily="34" charset="-122"/>
                <a:cs typeface="Calibri" pitchFamily="34" charset="-120"/>
              </a:rPr>
              <a:t>Design</a:t>
            </a:r>
            <a:endParaRPr lang="en-US" sz="1500" dirty="0"/>
          </a:p>
        </p:txBody>
      </p:sp>
      <p:sp>
        <p:nvSpPr>
          <p:cNvPr id="8" name="click-1"/>
          <p:cNvSpPr/>
          <p:nvPr/>
        </p:nvSpPr>
        <p:spPr>
          <a:xfrm>
            <a:off x="2468880" y="1783080"/>
            <a:ext cx="8915400" cy="1280160"/>
          </a:xfrm>
          <a:prstGeom prst="rect">
            <a:avLst/>
          </a:prstGeom>
          <a:noFill/>
          <a:ln/>
        </p:spPr>
        <p:txBody>
          <a:bodyPr wrap="square" lIns="0" tIns="0" rIns="0" bIns="0" rtlCol="0" anchor="ctr"/>
          <a:lstStyle/>
          <a:p>
            <a:pPr indent="0" marL="0">
              <a:lnSpc>
                <a:spcPct val="104000"/>
              </a:lnSpc>
              <a:buNone/>
            </a:pPr>
            <a:r>
              <a:rPr lang="en-US" sz="1600" dirty="0">
                <a:solidFill>
                  <a:srgbClr val="FFFFFF"/>
                </a:solidFill>
                <a:latin typeface="Calibri" pitchFamily="34" charset="0"/>
                <a:ea typeface="Calibri" pitchFamily="34" charset="-122"/>
                <a:cs typeface="Calibri" pitchFamily="34" charset="-120"/>
              </a:rPr>
              <a:t>This loads every item, then looks up each item's bin one at a time, so it gets slower as the catalog grows. Could we filter in the query instead, with Item.objects.filter(bin__label=label)?</a:t>
            </a:r>
            <a:endParaRPr lang="en-US" sz="1600" dirty="0"/>
          </a:p>
        </p:txBody>
      </p:sp>
      <p:sp>
        <p:nvSpPr>
          <p:cNvPr id="9" name="click-2"/>
          <p:cNvSpPr/>
          <p:nvPr/>
        </p:nvSpPr>
        <p:spPr>
          <a:xfrm>
            <a:off x="548640" y="3200400"/>
            <a:ext cx="11064240" cy="1280160"/>
          </a:xfrm>
          <a:prstGeom prst="roundRect">
            <a:avLst>
              <a:gd name="adj" fmla="val 6429"/>
            </a:avLst>
          </a:prstGeom>
          <a:solidFill>
            <a:srgbClr val="F2F6F8"/>
          </a:solidFill>
          <a:ln/>
          <a:effectLst>
            <a:outerShdw sx="100000" sy="100000" kx="0" ky="0" algn="bl" rotWithShape="0" blurRad="88900" dist="38100" dir="5400000">
              <a:srgbClr val="000000">
                <a:alpha val="13000"/>
              </a:srgbClr>
            </a:outerShdw>
          </a:effectLst>
        </p:spPr>
      </p:sp>
      <p:sp>
        <p:nvSpPr>
          <p:cNvPr id="10" name="click-2"/>
          <p:cNvSpPr/>
          <p:nvPr/>
        </p:nvSpPr>
        <p:spPr>
          <a:xfrm>
            <a:off x="777240" y="3584448"/>
            <a:ext cx="1417320" cy="512064"/>
          </a:xfrm>
          <a:prstGeom prst="roundRect">
            <a:avLst>
              <a:gd name="adj" fmla="val 14286"/>
            </a:avLst>
          </a:prstGeom>
          <a:solidFill>
            <a:srgbClr val="0E6E6D"/>
          </a:solidFill>
          <a:ln/>
        </p:spPr>
      </p:sp>
      <p:sp>
        <p:nvSpPr>
          <p:cNvPr id="11" name="click-2"/>
          <p:cNvSpPr/>
          <p:nvPr/>
        </p:nvSpPr>
        <p:spPr>
          <a:xfrm>
            <a:off x="777240" y="3584448"/>
            <a:ext cx="141732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Naming</a:t>
            </a:r>
            <a:endParaRPr lang="en-US" sz="1500" dirty="0"/>
          </a:p>
        </p:txBody>
      </p:sp>
      <p:sp>
        <p:nvSpPr>
          <p:cNvPr id="12" name="click-2"/>
          <p:cNvSpPr/>
          <p:nvPr/>
        </p:nvSpPr>
        <p:spPr>
          <a:xfrm>
            <a:off x="2468880" y="3200400"/>
            <a:ext cx="8915400" cy="1280160"/>
          </a:xfrm>
          <a:prstGeom prst="rect">
            <a:avLst/>
          </a:prstGeom>
          <a:noFill/>
          <a:ln/>
        </p:spPr>
        <p:txBody>
          <a:bodyPr wrap="square" lIns="0" tIns="0" rIns="0" bIns="0" rtlCol="0" anchor="ctr"/>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With get, l, and i, I have to read the whole function to know what each holds. Maybe items_in_bin and item?</a:t>
            </a:r>
            <a:endParaRPr lang="en-US" sz="1600" dirty="0"/>
          </a:p>
        </p:txBody>
      </p:sp>
      <p:sp>
        <p:nvSpPr>
          <p:cNvPr id="13" name="click-3"/>
          <p:cNvSpPr/>
          <p:nvPr/>
        </p:nvSpPr>
        <p:spPr>
          <a:xfrm>
            <a:off x="548640" y="4617720"/>
            <a:ext cx="11064240" cy="1280160"/>
          </a:xfrm>
          <a:prstGeom prst="roundRect">
            <a:avLst>
              <a:gd name="adj" fmla="val 6429"/>
            </a:avLst>
          </a:prstGeom>
          <a:solidFill>
            <a:srgbClr val="F2F6F8"/>
          </a:solidFill>
          <a:ln/>
          <a:effectLst>
            <a:outerShdw sx="100000" sy="100000" kx="0" ky="0" algn="bl" rotWithShape="0" blurRad="88900" dist="38100" dir="5400000">
              <a:srgbClr val="000000">
                <a:alpha val="13000"/>
              </a:srgbClr>
            </a:outerShdw>
          </a:effectLst>
        </p:spPr>
      </p:sp>
      <p:sp>
        <p:nvSpPr>
          <p:cNvPr id="14" name="click-3"/>
          <p:cNvSpPr/>
          <p:nvPr/>
        </p:nvSpPr>
        <p:spPr>
          <a:xfrm>
            <a:off x="777240" y="5001768"/>
            <a:ext cx="1417320" cy="512064"/>
          </a:xfrm>
          <a:prstGeom prst="roundRect">
            <a:avLst>
              <a:gd name="adj" fmla="val 14286"/>
            </a:avLst>
          </a:prstGeom>
          <a:solidFill>
            <a:srgbClr val="5F7284"/>
          </a:solidFill>
          <a:ln/>
        </p:spPr>
      </p:sp>
      <p:sp>
        <p:nvSpPr>
          <p:cNvPr id="15" name="click-3"/>
          <p:cNvSpPr/>
          <p:nvPr/>
        </p:nvSpPr>
        <p:spPr>
          <a:xfrm>
            <a:off x="777240" y="5001768"/>
            <a:ext cx="1417320"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Nit</a:t>
            </a:r>
            <a:endParaRPr lang="en-US" sz="1500" dirty="0"/>
          </a:p>
        </p:txBody>
      </p:sp>
      <p:sp>
        <p:nvSpPr>
          <p:cNvPr id="16" name="click-3"/>
          <p:cNvSpPr/>
          <p:nvPr/>
        </p:nvSpPr>
        <p:spPr>
          <a:xfrm>
            <a:off x="2468880" y="4617720"/>
            <a:ext cx="8915400" cy="1280160"/>
          </a:xfrm>
          <a:prstGeom prst="rect">
            <a:avLst/>
          </a:prstGeom>
          <a:noFill/>
          <a:ln/>
        </p:spPr>
        <p:txBody>
          <a:bodyPr wrap="square" lIns="0" tIns="0" rIns="0" bIns="0" rtlCol="0" anchor="ctr"/>
          <a:lstStyle/>
          <a:p>
            <a:pPr indent="0" marL="0">
              <a:lnSpc>
                <a:spcPct val="104000"/>
              </a:lnSpc>
              <a:buNone/>
            </a:pPr>
            <a:r>
              <a:rPr lang="en-US" sz="1600" dirty="0">
                <a:solidFill>
                  <a:srgbClr val="1E2A36"/>
                </a:solidFill>
                <a:latin typeface="Calibri" pitchFamily="34" charset="0"/>
                <a:ea typeface="Calibri" pitchFamily="34" charset="-122"/>
                <a:cs typeface="Calibri" pitchFamily="34" charset="-120"/>
              </a:rPr>
              <a:t>nit: this comment says what the next line already says. Fine to drop it.</a:t>
            </a:r>
            <a:endParaRPr lang="en-US" sz="1600" dirty="0"/>
          </a:p>
        </p:txBody>
      </p:sp>
      <p:sp>
        <p:nvSpPr>
          <p:cNvPr id="17" name="click-3"/>
          <p:cNvSpPr/>
          <p:nvPr/>
        </p:nvSpPr>
        <p:spPr>
          <a:xfrm>
            <a:off x="548640" y="5989320"/>
            <a:ext cx="11064240" cy="365760"/>
          </a:xfrm>
          <a:prstGeom prst="rect">
            <a:avLst/>
          </a:prstGeom>
          <a:noFill/>
          <a:ln/>
        </p:spPr>
        <p:txBody>
          <a:bodyPr wrap="square" lIns="0" tIns="0" rIns="0" bIns="0" rtlCol="0" anchor="ctr"/>
          <a:lstStyle/>
          <a:p>
            <a:pPr algn="ctr" indent="0" marL="0">
              <a:buNone/>
            </a:pPr>
            <a:r>
              <a:rPr lang="en-US" sz="1500" i="1" dirty="0">
                <a:solidFill>
                  <a:srgbClr val="5F7284"/>
                </a:solidFill>
                <a:latin typeface="Calibri" pitchFamily="34" charset="0"/>
                <a:ea typeface="Calibri" pitchFamily="34" charset="-122"/>
                <a:cs typeface="Calibri" pitchFamily="34" charset="-120"/>
              </a:rPr>
              <a:t>Each one: what I see, why it matters, a question or suggestion.</a:t>
            </a:r>
            <a:endParaRPr lang="en-US" sz="1500" dirty="0"/>
          </a:p>
        </p:txBody>
      </p:sp>
      <p:sp>
        <p:nvSpPr>
          <p:cNvPr id="18"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19"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6"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6" presetID="1"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WEDNESDAY: YOUR PROJECT'S STANDARDS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Decide these for your project, and write down why</a:t>
            </a:r>
            <a:endParaRPr lang="en-US" sz="3100" dirty="0"/>
          </a:p>
        </p:txBody>
      </p:sp>
      <p:sp>
        <p:nvSpPr>
          <p:cNvPr id="5" name="Text 3"/>
          <p:cNvSpPr/>
          <p:nvPr/>
        </p:nvSpPr>
        <p:spPr>
          <a:xfrm>
            <a:off x="868680" y="1691640"/>
            <a:ext cx="2560320" cy="320040"/>
          </a:xfrm>
          <a:prstGeom prst="rect">
            <a:avLst/>
          </a:prstGeom>
          <a:noFill/>
          <a:ln/>
        </p:spPr>
        <p:txBody>
          <a:bodyPr wrap="square" lIns="0" tIns="0" rIns="0" bIns="0" rtlCol="0" anchor="ctr"/>
          <a:lstStyle/>
          <a:p>
            <a:pPr indent="0" marL="0">
              <a:buNone/>
            </a:pPr>
            <a:r>
              <a:rPr lang="en-US" sz="1400" b="1" dirty="0">
                <a:solidFill>
                  <a:srgbClr val="5F7284"/>
                </a:solidFill>
                <a:latin typeface="Calibri" pitchFamily="34" charset="0"/>
                <a:ea typeface="Calibri" pitchFamily="34" charset="-122"/>
                <a:cs typeface="Calibri" pitchFamily="34" charset="-120"/>
              </a:rPr>
              <a:t>Decision</a:t>
            </a:r>
            <a:endParaRPr lang="en-US" sz="1400" dirty="0"/>
          </a:p>
        </p:txBody>
      </p:sp>
      <p:sp>
        <p:nvSpPr>
          <p:cNvPr id="6" name="Text 4"/>
          <p:cNvSpPr/>
          <p:nvPr/>
        </p:nvSpPr>
        <p:spPr>
          <a:xfrm>
            <a:off x="3520440" y="1691640"/>
            <a:ext cx="3840480" cy="320040"/>
          </a:xfrm>
          <a:prstGeom prst="rect">
            <a:avLst/>
          </a:prstGeom>
          <a:noFill/>
          <a:ln/>
        </p:spPr>
        <p:txBody>
          <a:bodyPr wrap="square" lIns="0" tIns="0" rIns="0" bIns="0" rtlCol="0" anchor="ctr"/>
          <a:lstStyle/>
          <a:p>
            <a:pPr indent="0" marL="0">
              <a:buNone/>
            </a:pPr>
            <a:r>
              <a:rPr lang="en-US" sz="1400" b="1" dirty="0">
                <a:solidFill>
                  <a:srgbClr val="5F7284"/>
                </a:solidFill>
                <a:latin typeface="Calibri" pitchFamily="34" charset="0"/>
                <a:ea typeface="Calibri" pitchFamily="34" charset="-122"/>
                <a:cs typeface="Calibri" pitchFamily="34" charset="-120"/>
              </a:rPr>
              <a:t>Suggested default</a:t>
            </a:r>
            <a:endParaRPr lang="en-US" sz="1400" dirty="0"/>
          </a:p>
        </p:txBody>
      </p:sp>
      <p:sp>
        <p:nvSpPr>
          <p:cNvPr id="7" name="Text 5"/>
          <p:cNvSpPr/>
          <p:nvPr/>
        </p:nvSpPr>
        <p:spPr>
          <a:xfrm>
            <a:off x="7498080" y="1691640"/>
            <a:ext cx="3931920" cy="320040"/>
          </a:xfrm>
          <a:prstGeom prst="rect">
            <a:avLst/>
          </a:prstGeom>
          <a:noFill/>
          <a:ln/>
        </p:spPr>
        <p:txBody>
          <a:bodyPr wrap="square" lIns="0" tIns="0" rIns="0" bIns="0" rtlCol="0" anchor="ctr"/>
          <a:lstStyle/>
          <a:p>
            <a:pPr indent="0" marL="0">
              <a:buNone/>
            </a:pPr>
            <a:r>
              <a:rPr lang="en-US" sz="1400" b="1" dirty="0">
                <a:solidFill>
                  <a:srgbClr val="5F7284"/>
                </a:solidFill>
                <a:latin typeface="Calibri" pitchFamily="34" charset="0"/>
                <a:ea typeface="Calibri" pitchFamily="34" charset="-122"/>
                <a:cs typeface="Calibri" pitchFamily="34" charset="-120"/>
              </a:rPr>
              <a:t>Why</a:t>
            </a:r>
            <a:endParaRPr lang="en-US" sz="1400" dirty="0"/>
          </a:p>
        </p:txBody>
      </p:sp>
      <p:sp>
        <p:nvSpPr>
          <p:cNvPr id="8" name="Shape 6"/>
          <p:cNvSpPr/>
          <p:nvPr/>
        </p:nvSpPr>
        <p:spPr>
          <a:xfrm>
            <a:off x="548640" y="2057400"/>
            <a:ext cx="11064240" cy="475488"/>
          </a:xfrm>
          <a:prstGeom prst="roundRect">
            <a:avLst>
              <a:gd name="adj" fmla="val 17308"/>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868680" y="2057400"/>
            <a:ext cx="256032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Branch names</a:t>
            </a:r>
            <a:endParaRPr lang="en-US" sz="1600" dirty="0"/>
          </a:p>
        </p:txBody>
      </p:sp>
      <p:sp>
        <p:nvSpPr>
          <p:cNvPr id="10" name="Text 8"/>
          <p:cNvSpPr/>
          <p:nvPr/>
        </p:nvSpPr>
        <p:spPr>
          <a:xfrm>
            <a:off x="3520440" y="2057400"/>
            <a:ext cx="3840480" cy="47548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type/short-description</a:t>
            </a:r>
            <a:endParaRPr lang="en-US" sz="1600" dirty="0"/>
          </a:p>
        </p:txBody>
      </p:sp>
      <p:sp>
        <p:nvSpPr>
          <p:cNvPr id="11" name="Text 9"/>
          <p:cNvSpPr/>
          <p:nvPr/>
        </p:nvSpPr>
        <p:spPr>
          <a:xfrm>
            <a:off x="7498080" y="2057400"/>
            <a:ext cx="3931920" cy="475488"/>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Scannable branch lists</a:t>
            </a:r>
            <a:endParaRPr lang="en-US" sz="1500" dirty="0"/>
          </a:p>
        </p:txBody>
      </p:sp>
      <p:sp>
        <p:nvSpPr>
          <p:cNvPr id="12" name="Shape 10"/>
          <p:cNvSpPr/>
          <p:nvPr/>
        </p:nvSpPr>
        <p:spPr>
          <a:xfrm>
            <a:off x="548640" y="2606040"/>
            <a:ext cx="11064240" cy="475488"/>
          </a:xfrm>
          <a:prstGeom prst="roundRect">
            <a:avLst>
              <a:gd name="adj" fmla="val 17308"/>
            </a:avLst>
          </a:prstGeom>
          <a:solidFill>
            <a:srgbClr val="FFFFFF"/>
          </a:solidFill>
          <a:ln/>
          <a:effectLst>
            <a:outerShdw sx="100000" sy="100000" kx="0" ky="0" algn="bl" rotWithShape="0" blurRad="88900" dist="38100" dir="5400000">
              <a:srgbClr val="000000">
                <a:alpha val="13000"/>
              </a:srgbClr>
            </a:outerShdw>
          </a:effectLst>
        </p:spPr>
      </p:sp>
      <p:sp>
        <p:nvSpPr>
          <p:cNvPr id="13" name="Text 11"/>
          <p:cNvSpPr/>
          <p:nvPr/>
        </p:nvSpPr>
        <p:spPr>
          <a:xfrm>
            <a:off x="868680" y="2606040"/>
            <a:ext cx="256032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Commit messages</a:t>
            </a:r>
            <a:endParaRPr lang="en-US" sz="1600" dirty="0"/>
          </a:p>
        </p:txBody>
      </p:sp>
      <p:sp>
        <p:nvSpPr>
          <p:cNvPr id="14" name="Text 12"/>
          <p:cNvSpPr/>
          <p:nvPr/>
        </p:nvSpPr>
        <p:spPr>
          <a:xfrm>
            <a:off x="3520440" y="2606040"/>
            <a:ext cx="3840480" cy="47548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The seven rules</a:t>
            </a:r>
            <a:endParaRPr lang="en-US" sz="1600" dirty="0"/>
          </a:p>
        </p:txBody>
      </p:sp>
      <p:sp>
        <p:nvSpPr>
          <p:cNvPr id="15" name="Text 13"/>
          <p:cNvSpPr/>
          <p:nvPr/>
        </p:nvSpPr>
        <p:spPr>
          <a:xfrm>
            <a:off x="7498080" y="2606040"/>
            <a:ext cx="3931920" cy="475488"/>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A readable log, and free release notes</a:t>
            </a:r>
            <a:endParaRPr lang="en-US" sz="1500" dirty="0"/>
          </a:p>
        </p:txBody>
      </p:sp>
      <p:sp>
        <p:nvSpPr>
          <p:cNvPr id="16" name="Shape 14"/>
          <p:cNvSpPr/>
          <p:nvPr/>
        </p:nvSpPr>
        <p:spPr>
          <a:xfrm>
            <a:off x="548640" y="3154680"/>
            <a:ext cx="11064240" cy="475488"/>
          </a:xfrm>
          <a:prstGeom prst="roundRect">
            <a:avLst>
              <a:gd name="adj" fmla="val 17308"/>
            </a:avLst>
          </a:prstGeom>
          <a:solidFill>
            <a:srgbClr val="F2F6F8"/>
          </a:solidFill>
          <a:ln/>
          <a:effectLst>
            <a:outerShdw sx="100000" sy="100000" kx="0" ky="0" algn="bl" rotWithShape="0" blurRad="88900" dist="38100" dir="5400000">
              <a:srgbClr val="000000">
                <a:alpha val="13000"/>
              </a:srgbClr>
            </a:outerShdw>
          </a:effectLst>
        </p:spPr>
      </p:sp>
      <p:sp>
        <p:nvSpPr>
          <p:cNvPr id="17" name="Text 15"/>
          <p:cNvSpPr/>
          <p:nvPr/>
        </p:nvSpPr>
        <p:spPr>
          <a:xfrm>
            <a:off x="868680" y="3154680"/>
            <a:ext cx="256032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PR size</a:t>
            </a:r>
            <a:endParaRPr lang="en-US" sz="1600" dirty="0"/>
          </a:p>
        </p:txBody>
      </p:sp>
      <p:sp>
        <p:nvSpPr>
          <p:cNvPr id="18" name="Text 16"/>
          <p:cNvSpPr/>
          <p:nvPr/>
        </p:nvSpPr>
        <p:spPr>
          <a:xfrm>
            <a:off x="3520440" y="3154680"/>
            <a:ext cx="3840480" cy="47548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One logical change</a:t>
            </a:r>
            <a:endParaRPr lang="en-US" sz="1600" dirty="0"/>
          </a:p>
        </p:txBody>
      </p:sp>
      <p:sp>
        <p:nvSpPr>
          <p:cNvPr id="19" name="Text 17"/>
          <p:cNvSpPr/>
          <p:nvPr/>
        </p:nvSpPr>
        <p:spPr>
          <a:xfrm>
            <a:off x="7498080" y="3154680"/>
            <a:ext cx="3931920" cy="475488"/>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Big PRs get skimmed, not reviewed</a:t>
            </a:r>
            <a:endParaRPr lang="en-US" sz="1500" dirty="0"/>
          </a:p>
        </p:txBody>
      </p:sp>
      <p:sp>
        <p:nvSpPr>
          <p:cNvPr id="20" name="Shape 18"/>
          <p:cNvSpPr/>
          <p:nvPr/>
        </p:nvSpPr>
        <p:spPr>
          <a:xfrm>
            <a:off x="548640" y="3703320"/>
            <a:ext cx="11064240" cy="475488"/>
          </a:xfrm>
          <a:prstGeom prst="roundRect">
            <a:avLst>
              <a:gd name="adj" fmla="val 17308"/>
            </a:avLst>
          </a:prstGeom>
          <a:solidFill>
            <a:srgbClr val="FFFFFF"/>
          </a:solidFill>
          <a:ln/>
          <a:effectLst>
            <a:outerShdw sx="100000" sy="100000" kx="0" ky="0" algn="bl" rotWithShape="0" blurRad="88900" dist="38100" dir="5400000">
              <a:srgbClr val="000000">
                <a:alpha val="13000"/>
              </a:srgbClr>
            </a:outerShdw>
          </a:effectLst>
        </p:spPr>
      </p:sp>
      <p:sp>
        <p:nvSpPr>
          <p:cNvPr id="21" name="Text 19"/>
          <p:cNvSpPr/>
          <p:nvPr/>
        </p:nvSpPr>
        <p:spPr>
          <a:xfrm>
            <a:off x="868680" y="3703320"/>
            <a:ext cx="256032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Review</a:t>
            </a:r>
            <a:endParaRPr lang="en-US" sz="1600" dirty="0"/>
          </a:p>
        </p:txBody>
      </p:sp>
      <p:sp>
        <p:nvSpPr>
          <p:cNvPr id="22" name="Text 20"/>
          <p:cNvSpPr/>
          <p:nvPr/>
        </p:nvSpPr>
        <p:spPr>
          <a:xfrm>
            <a:off x="3520440" y="3703320"/>
            <a:ext cx="3840480" cy="47548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One approval from a non-author</a:t>
            </a:r>
            <a:endParaRPr lang="en-US" sz="1600" dirty="0"/>
          </a:p>
        </p:txBody>
      </p:sp>
      <p:sp>
        <p:nvSpPr>
          <p:cNvPr id="23" name="Text 21"/>
          <p:cNvSpPr/>
          <p:nvPr/>
        </p:nvSpPr>
        <p:spPr>
          <a:xfrm>
            <a:off x="7498080" y="3703320"/>
            <a:ext cx="3931920" cy="475488"/>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A second reader is the point</a:t>
            </a:r>
            <a:endParaRPr lang="en-US" sz="1500" dirty="0"/>
          </a:p>
        </p:txBody>
      </p:sp>
      <p:sp>
        <p:nvSpPr>
          <p:cNvPr id="24" name="Shape 22"/>
          <p:cNvSpPr/>
          <p:nvPr/>
        </p:nvSpPr>
        <p:spPr>
          <a:xfrm>
            <a:off x="548640" y="4251960"/>
            <a:ext cx="11064240" cy="475488"/>
          </a:xfrm>
          <a:prstGeom prst="roundRect">
            <a:avLst>
              <a:gd name="adj" fmla="val 17308"/>
            </a:avLst>
          </a:prstGeom>
          <a:solidFill>
            <a:srgbClr val="F2F6F8"/>
          </a:solidFill>
          <a:ln/>
          <a:effectLst>
            <a:outerShdw sx="100000" sy="100000" kx="0" ky="0" algn="bl" rotWithShape="0" blurRad="88900" dist="38100" dir="5400000">
              <a:srgbClr val="000000">
                <a:alpha val="13000"/>
              </a:srgbClr>
            </a:outerShdw>
          </a:effectLst>
        </p:spPr>
      </p:sp>
      <p:sp>
        <p:nvSpPr>
          <p:cNvPr id="25" name="Text 23"/>
          <p:cNvSpPr/>
          <p:nvPr/>
        </p:nvSpPr>
        <p:spPr>
          <a:xfrm>
            <a:off x="868680" y="4251960"/>
            <a:ext cx="256032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Merge strategy</a:t>
            </a:r>
            <a:endParaRPr lang="en-US" sz="1600" dirty="0"/>
          </a:p>
        </p:txBody>
      </p:sp>
      <p:sp>
        <p:nvSpPr>
          <p:cNvPr id="26" name="Text 24"/>
          <p:cNvSpPr/>
          <p:nvPr/>
        </p:nvSpPr>
        <p:spPr>
          <a:xfrm>
            <a:off x="3520440" y="4251960"/>
            <a:ext cx="3840480" cy="47548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Squash and merge</a:t>
            </a:r>
            <a:endParaRPr lang="en-US" sz="1600" dirty="0"/>
          </a:p>
        </p:txBody>
      </p:sp>
      <p:sp>
        <p:nvSpPr>
          <p:cNvPr id="27" name="Text 25"/>
          <p:cNvSpPr/>
          <p:nvPr/>
        </p:nvSpPr>
        <p:spPr>
          <a:xfrm>
            <a:off x="7498080" y="4251960"/>
            <a:ext cx="3931920" cy="475488"/>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Linear main; the PR keeps the steps</a:t>
            </a:r>
            <a:endParaRPr lang="en-US" sz="1500" dirty="0"/>
          </a:p>
        </p:txBody>
      </p:sp>
      <p:sp>
        <p:nvSpPr>
          <p:cNvPr id="28" name="Shape 26"/>
          <p:cNvSpPr/>
          <p:nvPr/>
        </p:nvSpPr>
        <p:spPr>
          <a:xfrm>
            <a:off x="548640" y="4800600"/>
            <a:ext cx="11064240" cy="475488"/>
          </a:xfrm>
          <a:prstGeom prst="roundRect">
            <a:avLst>
              <a:gd name="adj" fmla="val 17308"/>
            </a:avLst>
          </a:prstGeom>
          <a:solidFill>
            <a:srgbClr val="FFFFFF"/>
          </a:solidFill>
          <a:ln/>
          <a:effectLst>
            <a:outerShdw sx="100000" sy="100000" kx="0" ky="0" algn="bl" rotWithShape="0" blurRad="88900" dist="38100" dir="5400000">
              <a:srgbClr val="000000">
                <a:alpha val="13000"/>
              </a:srgbClr>
            </a:outerShdw>
          </a:effectLst>
        </p:spPr>
      </p:sp>
      <p:sp>
        <p:nvSpPr>
          <p:cNvPr id="29" name="Text 27"/>
          <p:cNvSpPr/>
          <p:nvPr/>
        </p:nvSpPr>
        <p:spPr>
          <a:xfrm>
            <a:off x="868680" y="4800600"/>
            <a:ext cx="2560320" cy="475488"/>
          </a:xfrm>
          <a:prstGeom prst="rect">
            <a:avLst/>
          </a:prstGeom>
          <a:noFill/>
          <a:ln/>
        </p:spPr>
        <p:txBody>
          <a:bodyPr wrap="square" lIns="0" tIns="0" rIns="0" bIns="0" rtlCol="0" anchor="ctr"/>
          <a:lstStyle/>
          <a:p>
            <a:pPr indent="0" marL="0">
              <a:buNone/>
            </a:pPr>
            <a:r>
              <a:rPr lang="en-US" sz="1600" b="1" dirty="0">
                <a:solidFill>
                  <a:srgbClr val="1E2A36"/>
                </a:solidFill>
                <a:latin typeface="Calibri" pitchFamily="34" charset="0"/>
                <a:ea typeface="Calibri" pitchFamily="34" charset="-122"/>
                <a:cs typeface="Calibri" pitchFamily="34" charset="-120"/>
              </a:rPr>
              <a:t>"Done"</a:t>
            </a:r>
            <a:endParaRPr lang="en-US" sz="1600" dirty="0"/>
          </a:p>
        </p:txBody>
      </p:sp>
      <p:sp>
        <p:nvSpPr>
          <p:cNvPr id="30" name="Text 28"/>
          <p:cNvSpPr/>
          <p:nvPr/>
        </p:nvSpPr>
        <p:spPr>
          <a:xfrm>
            <a:off x="3520440" y="4800600"/>
            <a:ext cx="3840480" cy="475488"/>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Reviewed, merged, runs, docs updated</a:t>
            </a:r>
            <a:endParaRPr lang="en-US" sz="1600" dirty="0"/>
          </a:p>
        </p:txBody>
      </p:sp>
      <p:sp>
        <p:nvSpPr>
          <p:cNvPr id="31" name="Text 29"/>
          <p:cNvSpPr/>
          <p:nvPr/>
        </p:nvSpPr>
        <p:spPr>
          <a:xfrm>
            <a:off x="7498080" y="4800600"/>
            <a:ext cx="3931920" cy="475488"/>
          </a:xfrm>
          <a:prstGeom prst="rect">
            <a:avLst/>
          </a:prstGeom>
          <a:noFill/>
          <a:ln/>
        </p:spPr>
        <p:txBody>
          <a:bodyPr wrap="square" lIns="0" tIns="0" rIns="0" bIns="0" rtlCol="0" anchor="ctr"/>
          <a:lstStyle/>
          <a:p>
            <a:pPr indent="0" marL="0">
              <a:buNone/>
            </a:pPr>
            <a:r>
              <a:rPr lang="en-US" sz="1500" dirty="0">
                <a:solidFill>
                  <a:srgbClr val="5F7284"/>
                </a:solidFill>
                <a:latin typeface="Calibri" pitchFamily="34" charset="0"/>
                <a:ea typeface="Calibri" pitchFamily="34" charset="-122"/>
                <a:cs typeface="Calibri" pitchFamily="34" charset="-120"/>
              </a:rPr>
              <a:t>Not "done on my machine"</a:t>
            </a:r>
            <a:endParaRPr lang="en-US" sz="1500" dirty="0"/>
          </a:p>
        </p:txBody>
      </p:sp>
      <p:sp>
        <p:nvSpPr>
          <p:cNvPr id="32" name="Shape 30"/>
          <p:cNvSpPr/>
          <p:nvPr/>
        </p:nvSpPr>
        <p:spPr>
          <a:xfrm>
            <a:off x="548640" y="548640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33" name="Text 31"/>
          <p:cNvSpPr/>
          <p:nvPr/>
        </p:nvSpPr>
        <p:spPr>
          <a:xfrm>
            <a:off x="868680" y="5486400"/>
            <a:ext cx="10424160" cy="731520"/>
          </a:xfrm>
          <a:prstGeom prst="rect">
            <a:avLst/>
          </a:prstGeom>
          <a:noFill/>
          <a:ln/>
        </p:spPr>
        <p:txBody>
          <a:bodyPr wrap="square" lIns="0" tIns="0" rIns="0" bIns="0" rtlCol="0" anchor="ctr"/>
          <a:lstStyle/>
          <a:p>
            <a:pPr indent="0" marL="0">
              <a:buNone/>
            </a:pPr>
            <a:r>
              <a:rPr lang="en-US" sz="1550" b="1" dirty="0">
                <a:solidFill>
                  <a:srgbClr val="14233A"/>
                </a:solidFill>
                <a:latin typeface="Calibri" pitchFamily="34" charset="0"/>
                <a:ea typeface="Calibri" pitchFamily="34" charset="-122"/>
                <a:cs typeface="Calibri" pitchFamily="34" charset="-120"/>
              </a:rPr>
              <a:t>Suggestions, not rules: every one is your project's call. Choose differently, and write down why. It becomes CONTRIBUTING.md.</a:t>
            </a:r>
            <a:endParaRPr lang="en-US" sz="1550" dirty="0"/>
          </a:p>
        </p:txBody>
      </p:sp>
      <p:sp>
        <p:nvSpPr>
          <p:cNvPr id="34" name="Text 3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13 · Git for Maintainers</a:t>
            </a:r>
            <a:endParaRPr lang="en-US" sz="1000" dirty="0"/>
          </a:p>
        </p:txBody>
      </p:sp>
      <p:sp>
        <p:nvSpPr>
          <p:cNvPr id="35" name="Text 3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05156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261415"/>
            <a:ext cx="357530" cy="357530"/>
          </a:xfrm>
          <a:prstGeom prst="rect">
            <a:avLst/>
          </a:prstGeom>
        </p:spPr>
      </p:pic>
      <p:sp>
        <p:nvSpPr>
          <p:cNvPr id="5" name="Text 2"/>
          <p:cNvSpPr/>
          <p:nvPr/>
        </p:nvSpPr>
        <p:spPr>
          <a:xfrm>
            <a:off x="822960" y="1965960"/>
            <a:ext cx="10881360" cy="960120"/>
          </a:xfrm>
          <a:prstGeom prst="rect">
            <a:avLst/>
          </a:prstGeom>
          <a:noFill/>
          <a:ln/>
        </p:spPr>
        <p:txBody>
          <a:bodyPr wrap="square" lIns="0" tIns="0" rIns="0" bIns="0" rtlCol="0" anchor="ctr"/>
          <a:lstStyle/>
          <a:p>
            <a:pPr indent="0" marL="0">
              <a:lnSpc>
                <a:spcPct val="106000"/>
              </a:lnSpc>
              <a:buNone/>
            </a:pPr>
            <a:r>
              <a:rPr lang="en-US" sz="2700" b="1" i="1" dirty="0">
                <a:solidFill>
                  <a:srgbClr val="FFFFFF"/>
                </a:solidFill>
                <a:latin typeface="Cambria" pitchFamily="34" charset="0"/>
                <a:ea typeface="Cambria" pitchFamily="34" charset="-122"/>
                <a:cs typeface="Cambria" pitchFamily="34" charset="-120"/>
              </a:rPr>
              <a:t>The loop, the log, and the review are all governance, and you own it now.</a:t>
            </a:r>
            <a:endParaRPr lang="en-US" sz="2700" dirty="0"/>
          </a:p>
        </p:txBody>
      </p:sp>
      <p:sp>
        <p:nvSpPr>
          <p:cNvPr id="6" name="Text 3"/>
          <p:cNvSpPr/>
          <p:nvPr/>
        </p:nvSpPr>
        <p:spPr>
          <a:xfrm>
            <a:off x="841248" y="31089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WEDNESDAY, OCT 21</a:t>
            </a:r>
            <a:endParaRPr lang="en-US" sz="1400" dirty="0"/>
          </a:p>
        </p:txBody>
      </p:sp>
      <p:sp>
        <p:nvSpPr>
          <p:cNvPr id="7" name="Text 4"/>
          <p:cNvSpPr/>
          <p:nvPr/>
        </p:nvSpPr>
        <p:spPr>
          <a:xfrm>
            <a:off x="868680" y="3520440"/>
            <a:ext cx="10698480" cy="1783080"/>
          </a:xfrm>
          <a:prstGeom prst="rect">
            <a:avLst/>
          </a:prstGeom>
          <a:noFill/>
          <a:ln/>
        </p:spPr>
        <p:txBody>
          <a:bodyPr wrap="square" lIns="0" tIns="0" rIns="0" bIns="0" rtlCol="0" anchor="t"/>
          <a:lstStyle/>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Wednesday is a lab: bring a charged laptop with your dev environment running</a:t>
            </a:r>
            <a:endParaRPr lang="en-US" sz="1700" dirty="0"/>
          </a:p>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Make sure you can push to your project's repository, not just clone it</a:t>
            </a:r>
            <a:endParaRPr lang="en-US" sz="1700" dirty="0"/>
          </a:p>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Come ready to decide your project's six git standards</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Finish your design document revisions before class, not during the lab</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550" b="1" dirty="0">
                <a:solidFill>
                  <a:srgbClr val="14233A"/>
                </a:solidFill>
                <a:latin typeface="Calibri" pitchFamily="34" charset="0"/>
                <a:ea typeface="Calibri" pitchFamily="34" charset="-122"/>
                <a:cs typeface="Calibri" pitchFamily="34" charset="-120"/>
              </a:rPr>
              <a:t>CP5 (revised design doc) and CP6 (the git lab, done in class) are both due end of day Wednesday.</a:t>
            </a:r>
            <a:endParaRPr lang="en-US" sz="155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13 · Git for Maintainers</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13 — Git for Maintainers</dc:title>
  <dc:subject>PptxGenJS Presentation</dc:subject>
  <dc:creator>CS 301R</dc:creator>
  <cp:lastModifiedBy>CS 301R</cp:lastModifiedBy>
  <cp:revision>1</cp:revision>
  <dcterms:created xsi:type="dcterms:W3CDTF">2026-09-30T17:52:00Z</dcterms:created>
  <dcterms:modified xsi:type="dcterms:W3CDTF">2026-09-30T17:52:00Z</dcterms:modified>
</cp:coreProperties>
</file>