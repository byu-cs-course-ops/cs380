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day. Before class: the demo order and audit pairings on the board; the CP10 Scoring Sheet on a clipboard; Demo Feedback Sheets (two pages per student) and one Repo Audit Sheet per auditor on the front table. Open each project's cp10 tag URL from Canvas so you can confirm every tag exists before the first demo. Put the next slide up as students walk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up as students walk in. Ask for hands on each line. A project that isn't demo-ready burns a graded slot, and an auditor who can't clone costs another project its audit, so adjust the run of show now rather than finding out mid-rotation. If a tag is missing, the demo can still run, but say plainly that the grade reads the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The two highlighted blocks are CP10: the demo answers 'does it work?' and the audit answers 'could someone join?'. Those are the two things this course says a founded project must be. Both produce the most useful feedback you'll get before launch, and the last five minutes turn it into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Get every clone started before the first demo so slow wifi doesn't eat the audit block. The clone uses --branch cp10 so it checks out the tag, not main. Pairings are set now from who's actually here, with each project's repo URL beside it (from the CP10 submissions); point at the board. Say the two ground rules once: hard time boxes for demos, and docs-only audits. If a clone fails because a tag is missing, sort it out now, not at minute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between demos. The example claim is Prop Loft's, so nobody's project is on the screen. Score each demo live on the CP10 Scoring Sheet: Proves key claims, Demo readiness, and the audit later. Run a visible timer. The question register is the proof question from Session 20's review. A declared clip goes in the notes column, with whether the room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before the first demo. The question is the falsifier from Session 19 turned around: a demo proves a claim only if it could have failed. Prop Loft examples on both sides so nobody's project is on screen. Click for each column. Stress the third proven bullet: an honest 'not proven yet' counts in the presenter's favor on the rubric; a tour that implies more than the code does counts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before the first demo. Two pages each, one half per demo. Make it clear the peer sheets don't count toward the grade, which frees people to be honest. The example in the amber bar is the register you want: a specific observation tied to a claim. Collect nothing; the sheets go straight to the presenters.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the block. Every student is an auditor, so nobody watches their own repo; you're the only observer. Move between the four and repeat the hardest step yourself where a stall might be the auditor's rather than the repo's; that's what the Repo audit level rests on. Call time at 15 and 25. Thinking out loud helps you see where they 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Two and a half writing, the rest for the round. Hand back the audit sheets first if you've photographed them. Click for the prompt. Whatever students say, point out that it's never what the authors expected; that's why the audit exists. Anything on the list that won't get fixed before launch belongs in the known-issues log for CP11.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Say the one-liner. Students have now had the most useful feedback of the term; the next three weeks are about acting on it. Monday's session builds the contributor-readiness checklist out of what auditors tripped on today. Score the from-the-tag criteria (Technical coherence, Documentation and honesty, Individual contribution) from each cp10 tag after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Working and Joinable</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22 — progress demos and the repo audit</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Wednesday, November 18,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PREP CHECK · HANDS UP</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Ready to demo, ready to audit?</a:t>
            </a:r>
            <a:endParaRPr lang="en-US" sz="3200" dirty="0"/>
          </a:p>
        </p:txBody>
      </p:sp>
      <p:sp>
        <p:nvSpPr>
          <p:cNvPr id="6" name="Shape 4"/>
          <p:cNvSpPr/>
          <p:nvPr/>
        </p:nvSpPr>
        <p:spPr>
          <a:xfrm>
            <a:off x="548640" y="1783080"/>
            <a:ext cx="11064240" cy="896112"/>
          </a:xfrm>
          <a:prstGeom prst="roundRect">
            <a:avLst>
              <a:gd name="adj" fmla="val 9184"/>
            </a:avLst>
          </a:prstGeom>
          <a:solidFill>
            <a:srgbClr val="1E3352"/>
          </a:solidFill>
          <a:ln/>
          <a:effectLst>
            <a:outerShdw sx="100000" sy="100000" kx="0" ky="0" algn="bl" rotWithShape="0" blurRad="88900" dist="38100" dir="5400000">
              <a:srgbClr val="000000">
                <a:alpha val="13000"/>
              </a:srgbClr>
            </a:outerShdw>
          </a:effectLst>
        </p:spPr>
      </p:sp>
      <p:sp>
        <p:nvSpPr>
          <p:cNvPr id="7" name="Shape 5"/>
          <p:cNvSpPr/>
          <p:nvPr/>
        </p:nvSpPr>
        <p:spPr>
          <a:xfrm>
            <a:off x="777240" y="1965960"/>
            <a:ext cx="530352" cy="530352"/>
          </a:xfrm>
          <a:prstGeom prst="ellipse">
            <a:avLst/>
          </a:prstGeom>
          <a:solidFill>
            <a:srgbClr val="E8A33D"/>
          </a:solidFill>
          <a:ln/>
        </p:spPr>
      </p:sp>
      <p:pic>
        <p:nvPicPr>
          <p:cNvPr id="8" name="Image 0" descr="preencoded.png">    </p:cNvPr>
          <p:cNvPicPr>
            <a:picLocks noChangeAspect="1"/>
          </p:cNvPicPr>
          <p:nvPr/>
        </p:nvPicPr>
        <p:blipFill>
          <a:blip r:embed="rId1"/>
          <a:stretch>
            <a:fillRect/>
          </a:stretch>
        </p:blipFill>
        <p:spPr>
          <a:xfrm>
            <a:off x="920435" y="2109155"/>
            <a:ext cx="243962" cy="243962"/>
          </a:xfrm>
          <a:prstGeom prst="rect">
            <a:avLst/>
          </a:prstGeom>
        </p:spPr>
      </p:pic>
      <p:sp>
        <p:nvSpPr>
          <p:cNvPr id="9" name="Text 6"/>
          <p:cNvSpPr/>
          <p:nvPr/>
        </p:nvSpPr>
        <p:spPr>
          <a:xfrm>
            <a:off x="1554480" y="1783080"/>
            <a:ext cx="3383280" cy="896112"/>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cp10 tagged last night</a:t>
            </a:r>
            <a:endParaRPr lang="en-US" sz="1900" dirty="0"/>
          </a:p>
        </p:txBody>
      </p:sp>
      <p:sp>
        <p:nvSpPr>
          <p:cNvPr id="10" name="Text 7"/>
          <p:cNvSpPr/>
          <p:nvPr/>
        </p:nvSpPr>
        <p:spPr>
          <a:xfrm>
            <a:off x="4937760" y="1783080"/>
            <a:ext cx="6492240" cy="896112"/>
          </a:xfrm>
          <a:prstGeom prst="rect">
            <a:avLst/>
          </a:prstGeom>
          <a:noFill/>
          <a:ln/>
        </p:spPr>
        <p:txBody>
          <a:bodyPr wrap="square" lIns="0" tIns="0" rIns="0" bIns="0" rtlCol="0" anchor="ctr"/>
          <a:lstStyle/>
          <a:p>
            <a:pPr indent="0" marL="0">
              <a:buNone/>
            </a:pPr>
            <a:r>
              <a:rPr lang="en-US" sz="1650" dirty="0">
                <a:solidFill>
                  <a:srgbClr val="CFE0E9"/>
                </a:solidFill>
                <a:latin typeface="Calibri" pitchFamily="34" charset="0"/>
                <a:ea typeface="Calibri" pitchFamily="34" charset="-122"/>
                <a:cs typeface="Calibri" pitchFamily="34" charset="-120"/>
              </a:rPr>
              <a:t>The demo runs from it, your auditor clones it, grading reads it. This morning's pushes don't count.</a:t>
            </a:r>
            <a:endParaRPr lang="en-US" sz="1650" dirty="0"/>
          </a:p>
        </p:txBody>
      </p:sp>
      <p:sp>
        <p:nvSpPr>
          <p:cNvPr id="11" name="Shape 8"/>
          <p:cNvSpPr/>
          <p:nvPr/>
        </p:nvSpPr>
        <p:spPr>
          <a:xfrm>
            <a:off x="548640" y="2807208"/>
            <a:ext cx="11064240" cy="896112"/>
          </a:xfrm>
          <a:prstGeom prst="roundRect">
            <a:avLst>
              <a:gd name="adj" fmla="val 9184"/>
            </a:avLst>
          </a:prstGeom>
          <a:solidFill>
            <a:srgbClr val="1E3352"/>
          </a:solidFill>
          <a:ln/>
          <a:effectLst>
            <a:outerShdw sx="100000" sy="100000" kx="0" ky="0" algn="bl" rotWithShape="0" blurRad="88900" dist="38100" dir="5400000">
              <a:srgbClr val="000000">
                <a:alpha val="13000"/>
              </a:srgbClr>
            </a:outerShdw>
          </a:effectLst>
        </p:spPr>
      </p:sp>
      <p:sp>
        <p:nvSpPr>
          <p:cNvPr id="12" name="Shape 9"/>
          <p:cNvSpPr/>
          <p:nvPr/>
        </p:nvSpPr>
        <p:spPr>
          <a:xfrm>
            <a:off x="777240" y="2990088"/>
            <a:ext cx="530352" cy="530352"/>
          </a:xfrm>
          <a:prstGeom prst="ellipse">
            <a:avLst/>
          </a:prstGeom>
          <a:solidFill>
            <a:srgbClr val="E8A33D"/>
          </a:solidFill>
          <a:ln/>
        </p:spPr>
      </p:sp>
      <p:pic>
        <p:nvPicPr>
          <p:cNvPr id="13" name="Image 1" descr="preencoded.png">    </p:cNvPr>
          <p:cNvPicPr>
            <a:picLocks noChangeAspect="1"/>
          </p:cNvPicPr>
          <p:nvPr/>
        </p:nvPicPr>
        <p:blipFill>
          <a:blip r:embed="rId2"/>
          <a:stretch>
            <a:fillRect/>
          </a:stretch>
        </p:blipFill>
        <p:spPr>
          <a:xfrm>
            <a:off x="920435" y="3133283"/>
            <a:ext cx="243962" cy="243962"/>
          </a:xfrm>
          <a:prstGeom prst="rect">
            <a:avLst/>
          </a:prstGeom>
        </p:spPr>
      </p:pic>
      <p:sp>
        <p:nvSpPr>
          <p:cNvPr id="14" name="Text 10"/>
          <p:cNvSpPr/>
          <p:nvPr/>
        </p:nvSpPr>
        <p:spPr>
          <a:xfrm>
            <a:off x="1554480" y="2807208"/>
            <a:ext cx="3383280" cy="896112"/>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Fallback in pocket</a:t>
            </a:r>
            <a:endParaRPr lang="en-US" sz="1900" dirty="0"/>
          </a:p>
        </p:txBody>
      </p:sp>
      <p:sp>
        <p:nvSpPr>
          <p:cNvPr id="15" name="Text 11"/>
          <p:cNvSpPr/>
          <p:nvPr/>
        </p:nvSpPr>
        <p:spPr>
          <a:xfrm>
            <a:off x="4937760" y="2807208"/>
            <a:ext cx="6492240" cy="896112"/>
          </a:xfrm>
          <a:prstGeom prst="rect">
            <a:avLst/>
          </a:prstGeom>
          <a:noFill/>
          <a:ln/>
        </p:spPr>
        <p:txBody>
          <a:bodyPr wrap="square" lIns="0" tIns="0" rIns="0" bIns="0" rtlCol="0" anchor="ctr"/>
          <a:lstStyle/>
          <a:p>
            <a:pPr indent="0" marL="0">
              <a:buNone/>
            </a:pPr>
            <a:r>
              <a:rPr lang="en-US" sz="1650" dirty="0">
                <a:solidFill>
                  <a:srgbClr val="CFE0E9"/>
                </a:solidFill>
                <a:latin typeface="Calibri" pitchFamily="34" charset="0"/>
                <a:ea typeface="Calibri" pitchFamily="34" charset="-122"/>
                <a:cs typeface="Calibri" pitchFamily="34" charset="-120"/>
              </a:rPr>
              <a:t>Seed data or a local mode. A recorded clip only if declared, and it caps Demo readiness.</a:t>
            </a:r>
            <a:endParaRPr lang="en-US" sz="1650" dirty="0"/>
          </a:p>
        </p:txBody>
      </p:sp>
      <p:sp>
        <p:nvSpPr>
          <p:cNvPr id="16" name="Shape 12"/>
          <p:cNvSpPr/>
          <p:nvPr/>
        </p:nvSpPr>
        <p:spPr>
          <a:xfrm>
            <a:off x="548640" y="3831336"/>
            <a:ext cx="11064240" cy="896112"/>
          </a:xfrm>
          <a:prstGeom prst="roundRect">
            <a:avLst>
              <a:gd name="adj" fmla="val 9184"/>
            </a:avLst>
          </a:prstGeom>
          <a:solidFill>
            <a:srgbClr val="1E3352"/>
          </a:solidFill>
          <a:ln/>
          <a:effectLst>
            <a:outerShdw sx="100000" sy="100000" kx="0" ky="0" algn="bl" rotWithShape="0" blurRad="88900" dist="38100" dir="5400000">
              <a:srgbClr val="000000">
                <a:alpha val="13000"/>
              </a:srgbClr>
            </a:outerShdw>
          </a:effectLst>
        </p:spPr>
      </p:sp>
      <p:sp>
        <p:nvSpPr>
          <p:cNvPr id="17" name="Shape 13"/>
          <p:cNvSpPr/>
          <p:nvPr/>
        </p:nvSpPr>
        <p:spPr>
          <a:xfrm>
            <a:off x="777240" y="4014216"/>
            <a:ext cx="530352" cy="530352"/>
          </a:xfrm>
          <a:prstGeom prst="ellipse">
            <a:avLst/>
          </a:prstGeom>
          <a:solidFill>
            <a:srgbClr val="E8A33D"/>
          </a:solidFill>
          <a:ln/>
        </p:spPr>
      </p:sp>
      <p:pic>
        <p:nvPicPr>
          <p:cNvPr id="18" name="Image 2" descr="preencoded.png">    </p:cNvPr>
          <p:cNvPicPr>
            <a:picLocks noChangeAspect="1"/>
          </p:cNvPicPr>
          <p:nvPr/>
        </p:nvPicPr>
        <p:blipFill>
          <a:blip r:embed="rId3"/>
          <a:stretch>
            <a:fillRect/>
          </a:stretch>
        </p:blipFill>
        <p:spPr>
          <a:xfrm>
            <a:off x="920435" y="4157411"/>
            <a:ext cx="243962" cy="243962"/>
          </a:xfrm>
          <a:prstGeom prst="rect">
            <a:avLst/>
          </a:prstGeom>
        </p:spPr>
      </p:pic>
      <p:sp>
        <p:nvSpPr>
          <p:cNvPr id="19" name="Text 14"/>
          <p:cNvSpPr/>
          <p:nvPr/>
        </p:nvSpPr>
        <p:spPr>
          <a:xfrm>
            <a:off x="1554480" y="3831336"/>
            <a:ext cx="3383280" cy="896112"/>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You can clone right now</a:t>
            </a:r>
            <a:endParaRPr lang="en-US" sz="1900" dirty="0"/>
          </a:p>
        </p:txBody>
      </p:sp>
      <p:sp>
        <p:nvSpPr>
          <p:cNvPr id="20" name="Text 15"/>
          <p:cNvSpPr/>
          <p:nvPr/>
        </p:nvSpPr>
        <p:spPr>
          <a:xfrm>
            <a:off x="4937760" y="3831336"/>
            <a:ext cx="6492240" cy="896112"/>
          </a:xfrm>
          <a:prstGeom prst="rect">
            <a:avLst/>
          </a:prstGeom>
          <a:noFill/>
          <a:ln/>
        </p:spPr>
        <p:txBody>
          <a:bodyPr wrap="square" lIns="0" tIns="0" rIns="0" bIns="0" rtlCol="0" anchor="ctr"/>
          <a:lstStyle/>
          <a:p>
            <a:pPr indent="0" marL="0">
              <a:buNone/>
            </a:pPr>
            <a:r>
              <a:rPr lang="en-US" sz="1650" dirty="0">
                <a:solidFill>
                  <a:srgbClr val="CFE0E9"/>
                </a:solidFill>
                <a:latin typeface="Calibri" pitchFamily="34" charset="0"/>
                <a:ea typeface="Calibri" pitchFamily="34" charset="-122"/>
                <a:cs typeface="Calibri" pitchFamily="34" charset="-120"/>
              </a:rPr>
              <a:t>Laptop on the network, credentials working. Start the clone in a minute.</a:t>
            </a:r>
            <a:endParaRPr lang="en-US" sz="1650" dirty="0"/>
          </a:p>
        </p:txBody>
      </p:sp>
      <p:sp>
        <p:nvSpPr>
          <p:cNvPr id="21" name="Shape 16"/>
          <p:cNvSpPr/>
          <p:nvPr/>
        </p:nvSpPr>
        <p:spPr>
          <a:xfrm>
            <a:off x="548640" y="4855464"/>
            <a:ext cx="11064240" cy="896112"/>
          </a:xfrm>
          <a:prstGeom prst="roundRect">
            <a:avLst>
              <a:gd name="adj" fmla="val 9184"/>
            </a:avLst>
          </a:prstGeom>
          <a:solidFill>
            <a:srgbClr val="1E3352"/>
          </a:solidFill>
          <a:ln/>
          <a:effectLst>
            <a:outerShdw sx="100000" sy="100000" kx="0" ky="0" algn="bl" rotWithShape="0" blurRad="88900" dist="38100" dir="5400000">
              <a:srgbClr val="000000">
                <a:alpha val="13000"/>
              </a:srgbClr>
            </a:outerShdw>
          </a:effectLst>
        </p:spPr>
      </p:sp>
      <p:sp>
        <p:nvSpPr>
          <p:cNvPr id="22" name="Shape 17"/>
          <p:cNvSpPr/>
          <p:nvPr/>
        </p:nvSpPr>
        <p:spPr>
          <a:xfrm>
            <a:off x="777240" y="5038344"/>
            <a:ext cx="530352" cy="530352"/>
          </a:xfrm>
          <a:prstGeom prst="ellipse">
            <a:avLst/>
          </a:prstGeom>
          <a:solidFill>
            <a:srgbClr val="E8A33D"/>
          </a:solidFill>
          <a:ln/>
        </p:spPr>
      </p:sp>
      <p:pic>
        <p:nvPicPr>
          <p:cNvPr id="23" name="Image 3" descr="preencoded.png">    </p:cNvPr>
          <p:cNvPicPr>
            <a:picLocks noChangeAspect="1"/>
          </p:cNvPicPr>
          <p:nvPr/>
        </p:nvPicPr>
        <p:blipFill>
          <a:blip r:embed="rId4"/>
          <a:stretch>
            <a:fillRect/>
          </a:stretch>
        </p:blipFill>
        <p:spPr>
          <a:xfrm>
            <a:off x="920435" y="5181539"/>
            <a:ext cx="243962" cy="243962"/>
          </a:xfrm>
          <a:prstGeom prst="rect">
            <a:avLst/>
          </a:prstGeom>
        </p:spPr>
      </p:pic>
      <p:sp>
        <p:nvSpPr>
          <p:cNvPr id="24" name="Text 18"/>
          <p:cNvSpPr/>
          <p:nvPr/>
        </p:nvSpPr>
        <p:spPr>
          <a:xfrm>
            <a:off x="1554480" y="4855464"/>
            <a:ext cx="3383280" cy="896112"/>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CP9 submitted</a:t>
            </a:r>
            <a:endParaRPr lang="en-US" sz="1900" dirty="0"/>
          </a:p>
        </p:txBody>
      </p:sp>
      <p:sp>
        <p:nvSpPr>
          <p:cNvPr id="25" name="Text 19"/>
          <p:cNvSpPr/>
          <p:nvPr/>
        </p:nvSpPr>
        <p:spPr>
          <a:xfrm>
            <a:off x="4937760" y="4855464"/>
            <a:ext cx="6492240" cy="896112"/>
          </a:xfrm>
          <a:prstGeom prst="rect">
            <a:avLst/>
          </a:prstGeom>
          <a:noFill/>
          <a:ln/>
        </p:spPr>
        <p:txBody>
          <a:bodyPr wrap="square" lIns="0" tIns="0" rIns="0" bIns="0" rtlCol="0" anchor="ctr"/>
          <a:lstStyle/>
          <a:p>
            <a:pPr indent="0" marL="0">
              <a:buNone/>
            </a:pPr>
            <a:r>
              <a:rPr lang="en-US" sz="1650" dirty="0">
                <a:solidFill>
                  <a:srgbClr val="CFE0E9"/>
                </a:solidFill>
                <a:latin typeface="Calibri" pitchFamily="34" charset="0"/>
                <a:ea typeface="Calibri" pitchFamily="34" charset="-122"/>
                <a:cs typeface="Calibri" pitchFamily="34" charset="-120"/>
              </a:rPr>
              <a:t>It was due before class, not during it.</a:t>
            </a:r>
            <a:endParaRPr lang="en-US" sz="1650" dirty="0"/>
          </a:p>
        </p:txBody>
      </p:sp>
      <p:sp>
        <p:nvSpPr>
          <p:cNvPr id="26" name="Text 20"/>
          <p:cNvSpPr/>
          <p:nvPr/>
        </p:nvSpPr>
        <p:spPr>
          <a:xfrm>
            <a:off x="548640" y="5897880"/>
            <a:ext cx="11064240" cy="457200"/>
          </a:xfrm>
          <a:prstGeom prst="rect">
            <a:avLst/>
          </a:prstGeom>
          <a:noFill/>
          <a:ln/>
        </p:spPr>
        <p:txBody>
          <a:bodyPr wrap="square" lIns="0" tIns="0" rIns="0" bIns="0" rtlCol="0" anchor="ctr"/>
          <a:lstStyle/>
          <a:p>
            <a:pPr indent="0" marL="0">
              <a:buNone/>
            </a:pPr>
            <a:r>
              <a:rPr lang="en-US" sz="1600" b="1" i="1" dirty="0">
                <a:solidFill>
                  <a:srgbClr val="E8A33D"/>
                </a:solidFill>
                <a:latin typeface="Calibri" pitchFamily="34" charset="0"/>
                <a:ea typeface="Calibri" pitchFamily="34" charset="-122"/>
                <a:cs typeface="Calibri" pitchFamily="34" charset="-120"/>
              </a:rPr>
              <a:t>Nothing here is fixable at minute 30. That's why we ask at minute 1.</a:t>
            </a:r>
            <a:endParaRPr lang="en-US" sz="1600" dirty="0"/>
          </a:p>
        </p:txBody>
      </p:sp>
      <p:sp>
        <p:nvSpPr>
          <p:cNvPr id="27" name="Text 2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22 · Demos &amp; Audit</a:t>
            </a:r>
            <a:endParaRPr lang="en-US" sz="1000" dirty="0"/>
          </a:p>
        </p:txBody>
      </p:sp>
      <p:sp>
        <p:nvSpPr>
          <p:cNvPr id="28"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TODAY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Two questions: does it work, and could someone join?</a:t>
            </a:r>
            <a:endParaRPr lang="en-US" sz="3100" dirty="0"/>
          </a:p>
        </p:txBody>
      </p:sp>
      <p:sp>
        <p:nvSpPr>
          <p:cNvPr id="5" name="Shape 3"/>
          <p:cNvSpPr/>
          <p:nvPr/>
        </p:nvSpPr>
        <p:spPr>
          <a:xfrm>
            <a:off x="548640" y="1828800"/>
            <a:ext cx="11064240" cy="713232"/>
          </a:xfrm>
          <a:prstGeom prst="roundRect">
            <a:avLst>
              <a:gd name="adj" fmla="val 11538"/>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1947672"/>
            <a:ext cx="475488" cy="47548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33054" y="2076054"/>
            <a:ext cx="218724" cy="218724"/>
          </a:xfrm>
          <a:prstGeom prst="rect">
            <a:avLst/>
          </a:prstGeom>
        </p:spPr>
      </p:pic>
      <p:sp>
        <p:nvSpPr>
          <p:cNvPr id="8" name="Text 5"/>
          <p:cNvSpPr/>
          <p:nvPr/>
        </p:nvSpPr>
        <p:spPr>
          <a:xfrm>
            <a:off x="1508760" y="1828800"/>
            <a:ext cx="8229600" cy="71323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Setup: start cloning your partner's cp10</a:t>
            </a:r>
            <a:endParaRPr lang="en-US" sz="1800" dirty="0"/>
          </a:p>
        </p:txBody>
      </p:sp>
      <p:sp>
        <p:nvSpPr>
          <p:cNvPr id="9" name="Text 6"/>
          <p:cNvSpPr/>
          <p:nvPr/>
        </p:nvSpPr>
        <p:spPr>
          <a:xfrm>
            <a:off x="9692640" y="1828800"/>
            <a:ext cx="1645920" cy="71323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3 min</a:t>
            </a:r>
            <a:endParaRPr lang="en-US" sz="1600" dirty="0"/>
          </a:p>
        </p:txBody>
      </p:sp>
      <p:sp>
        <p:nvSpPr>
          <p:cNvPr id="10" name="Shape 7"/>
          <p:cNvSpPr/>
          <p:nvPr/>
        </p:nvSpPr>
        <p:spPr>
          <a:xfrm>
            <a:off x="548640" y="2670048"/>
            <a:ext cx="11064240" cy="713232"/>
          </a:xfrm>
          <a:prstGeom prst="roundRect">
            <a:avLst>
              <a:gd name="adj" fmla="val 11538"/>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804672" y="2788920"/>
            <a:ext cx="475488" cy="475488"/>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933054" y="2917302"/>
            <a:ext cx="218724" cy="218724"/>
          </a:xfrm>
          <a:prstGeom prst="rect">
            <a:avLst/>
          </a:prstGeom>
        </p:spPr>
      </p:pic>
      <p:sp>
        <p:nvSpPr>
          <p:cNvPr id="13" name="Text 9"/>
          <p:cNvSpPr/>
          <p:nvPr/>
        </p:nvSpPr>
        <p:spPr>
          <a:xfrm>
            <a:off x="1508760" y="2670048"/>
            <a:ext cx="8229600" cy="71323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Progress demos, whole room</a:t>
            </a:r>
            <a:endParaRPr lang="en-US" sz="1800" dirty="0"/>
          </a:p>
        </p:txBody>
      </p:sp>
      <p:sp>
        <p:nvSpPr>
          <p:cNvPr id="14" name="Text 10"/>
          <p:cNvSpPr/>
          <p:nvPr/>
        </p:nvSpPr>
        <p:spPr>
          <a:xfrm>
            <a:off x="9692640" y="2670048"/>
            <a:ext cx="1645920" cy="713232"/>
          </a:xfrm>
          <a:prstGeom prst="rect">
            <a:avLst/>
          </a:prstGeom>
          <a:noFill/>
          <a:ln/>
        </p:spPr>
        <p:txBody>
          <a:bodyPr wrap="square" lIns="0" tIns="0" rIns="0" bIns="0" rtlCol="0" anchor="ctr"/>
          <a:lstStyle/>
          <a:p>
            <a:pPr algn="r" indent="0" marL="0">
              <a:buNone/>
            </a:pPr>
            <a:r>
              <a:rPr lang="en-US" sz="1600" b="1" dirty="0">
                <a:solidFill>
                  <a:srgbClr val="E8A33D"/>
                </a:solidFill>
                <a:latin typeface="Calibri" pitchFamily="34" charset="0"/>
                <a:ea typeface="Calibri" pitchFamily="34" charset="-122"/>
                <a:cs typeface="Calibri" pitchFamily="34" charset="-120"/>
              </a:rPr>
              <a:t>36 min</a:t>
            </a:r>
            <a:endParaRPr lang="en-US" sz="1600" dirty="0"/>
          </a:p>
        </p:txBody>
      </p:sp>
      <p:sp>
        <p:nvSpPr>
          <p:cNvPr id="15" name="Shape 11"/>
          <p:cNvSpPr/>
          <p:nvPr/>
        </p:nvSpPr>
        <p:spPr>
          <a:xfrm>
            <a:off x="548640" y="3511296"/>
            <a:ext cx="11064240" cy="713232"/>
          </a:xfrm>
          <a:prstGeom prst="roundRect">
            <a:avLst>
              <a:gd name="adj" fmla="val 11538"/>
            </a:avLst>
          </a:prstGeom>
          <a:solidFill>
            <a:srgbClr val="14233A"/>
          </a:solidFill>
          <a:ln/>
          <a:effectLst>
            <a:outerShdw sx="100000" sy="100000" kx="0" ky="0" algn="bl" rotWithShape="0" blurRad="88900" dist="38100" dir="5400000">
              <a:srgbClr val="000000">
                <a:alpha val="13000"/>
              </a:srgbClr>
            </a:outerShdw>
          </a:effectLst>
        </p:spPr>
      </p:sp>
      <p:sp>
        <p:nvSpPr>
          <p:cNvPr id="16" name="Shape 12"/>
          <p:cNvSpPr/>
          <p:nvPr/>
        </p:nvSpPr>
        <p:spPr>
          <a:xfrm>
            <a:off x="804672" y="3630168"/>
            <a:ext cx="475488" cy="475488"/>
          </a:xfrm>
          <a:prstGeom prst="ellipse">
            <a:avLst/>
          </a:prstGeom>
          <a:solidFill>
            <a:srgbClr val="E8A33D"/>
          </a:solidFill>
          <a:ln/>
        </p:spPr>
      </p:sp>
      <p:pic>
        <p:nvPicPr>
          <p:cNvPr id="17" name="Image 2" descr="preencoded.png">    </p:cNvPr>
          <p:cNvPicPr>
            <a:picLocks noChangeAspect="1"/>
          </p:cNvPicPr>
          <p:nvPr/>
        </p:nvPicPr>
        <p:blipFill>
          <a:blip r:embed="rId3"/>
          <a:stretch>
            <a:fillRect/>
          </a:stretch>
        </p:blipFill>
        <p:spPr>
          <a:xfrm>
            <a:off x="933054" y="3758550"/>
            <a:ext cx="218724" cy="218724"/>
          </a:xfrm>
          <a:prstGeom prst="rect">
            <a:avLst/>
          </a:prstGeom>
        </p:spPr>
      </p:pic>
      <p:sp>
        <p:nvSpPr>
          <p:cNvPr id="18" name="Text 13"/>
          <p:cNvSpPr/>
          <p:nvPr/>
        </p:nvSpPr>
        <p:spPr>
          <a:xfrm>
            <a:off x="1508760" y="3511296"/>
            <a:ext cx="8229600" cy="71323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Repo audits, everyone at once</a:t>
            </a:r>
            <a:endParaRPr lang="en-US" sz="1800" dirty="0"/>
          </a:p>
        </p:txBody>
      </p:sp>
      <p:sp>
        <p:nvSpPr>
          <p:cNvPr id="19" name="Text 14"/>
          <p:cNvSpPr/>
          <p:nvPr/>
        </p:nvSpPr>
        <p:spPr>
          <a:xfrm>
            <a:off x="9692640" y="3511296"/>
            <a:ext cx="1645920" cy="713232"/>
          </a:xfrm>
          <a:prstGeom prst="rect">
            <a:avLst/>
          </a:prstGeom>
          <a:noFill/>
          <a:ln/>
        </p:spPr>
        <p:txBody>
          <a:bodyPr wrap="square" lIns="0" tIns="0" rIns="0" bIns="0" rtlCol="0" anchor="ctr"/>
          <a:lstStyle/>
          <a:p>
            <a:pPr algn="r" indent="0" marL="0">
              <a:buNone/>
            </a:pPr>
            <a:r>
              <a:rPr lang="en-US" sz="1600" b="1" dirty="0">
                <a:solidFill>
                  <a:srgbClr val="E8A33D"/>
                </a:solidFill>
                <a:latin typeface="Calibri" pitchFamily="34" charset="0"/>
                <a:ea typeface="Calibri" pitchFamily="34" charset="-122"/>
                <a:cs typeface="Calibri" pitchFamily="34" charset="-120"/>
              </a:rPr>
              <a:t>30 min</a:t>
            </a:r>
            <a:endParaRPr lang="en-US" sz="1600" dirty="0"/>
          </a:p>
        </p:txBody>
      </p:sp>
      <p:sp>
        <p:nvSpPr>
          <p:cNvPr id="20" name="Shape 15"/>
          <p:cNvSpPr/>
          <p:nvPr/>
        </p:nvSpPr>
        <p:spPr>
          <a:xfrm>
            <a:off x="548640" y="4352544"/>
            <a:ext cx="11064240" cy="713232"/>
          </a:xfrm>
          <a:prstGeom prst="roundRect">
            <a:avLst>
              <a:gd name="adj" fmla="val 11538"/>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804672" y="4471416"/>
            <a:ext cx="475488" cy="475488"/>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33054" y="4599798"/>
            <a:ext cx="218724" cy="218724"/>
          </a:xfrm>
          <a:prstGeom prst="rect">
            <a:avLst/>
          </a:prstGeom>
        </p:spPr>
      </p:pic>
      <p:sp>
        <p:nvSpPr>
          <p:cNvPr id="23" name="Text 17"/>
          <p:cNvSpPr/>
          <p:nvPr/>
        </p:nvSpPr>
        <p:spPr>
          <a:xfrm>
            <a:off x="1508760" y="4352544"/>
            <a:ext cx="8229600" cy="71323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Debrief: your top-five fix list</a:t>
            </a:r>
            <a:endParaRPr lang="en-US" sz="1800" dirty="0"/>
          </a:p>
        </p:txBody>
      </p:sp>
      <p:sp>
        <p:nvSpPr>
          <p:cNvPr id="24" name="Text 18"/>
          <p:cNvSpPr/>
          <p:nvPr/>
        </p:nvSpPr>
        <p:spPr>
          <a:xfrm>
            <a:off x="9692640" y="4352544"/>
            <a:ext cx="1645920" cy="71323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4 min</a:t>
            </a:r>
            <a:endParaRPr lang="en-US" sz="1600" dirty="0"/>
          </a:p>
        </p:txBody>
      </p:sp>
      <p:sp>
        <p:nvSpPr>
          <p:cNvPr id="25" name="Shape 19"/>
          <p:cNvSpPr/>
          <p:nvPr/>
        </p:nvSpPr>
        <p:spPr>
          <a:xfrm>
            <a:off x="548640" y="5193792"/>
            <a:ext cx="11064240" cy="713232"/>
          </a:xfrm>
          <a:prstGeom prst="roundRect">
            <a:avLst>
              <a:gd name="adj" fmla="val 11538"/>
            </a:avLst>
          </a:prstGeom>
          <a:solidFill>
            <a:srgbClr val="F2F6F8"/>
          </a:solidFill>
          <a:ln/>
          <a:effectLst>
            <a:outerShdw sx="100000" sy="100000" kx="0" ky="0" algn="bl" rotWithShape="0" blurRad="88900" dist="38100" dir="5400000">
              <a:srgbClr val="000000">
                <a:alpha val="13000"/>
              </a:srgbClr>
            </a:outerShdw>
          </a:effectLst>
        </p:spPr>
      </p:sp>
      <p:sp>
        <p:nvSpPr>
          <p:cNvPr id="26" name="Shape 20"/>
          <p:cNvSpPr/>
          <p:nvPr/>
        </p:nvSpPr>
        <p:spPr>
          <a:xfrm>
            <a:off x="804672" y="5312664"/>
            <a:ext cx="475488" cy="475488"/>
          </a:xfrm>
          <a:prstGeom prst="ellipse">
            <a:avLst/>
          </a:prstGeom>
          <a:solidFill>
            <a:srgbClr val="12908F"/>
          </a:solidFill>
          <a:ln/>
        </p:spPr>
      </p:sp>
      <p:pic>
        <p:nvPicPr>
          <p:cNvPr id="27" name="Image 4" descr="preencoded.png">    </p:cNvPr>
          <p:cNvPicPr>
            <a:picLocks noChangeAspect="1"/>
          </p:cNvPicPr>
          <p:nvPr/>
        </p:nvPicPr>
        <p:blipFill>
          <a:blip r:embed="rId5"/>
          <a:stretch>
            <a:fillRect/>
          </a:stretch>
        </p:blipFill>
        <p:spPr>
          <a:xfrm>
            <a:off x="933054" y="5441046"/>
            <a:ext cx="218724" cy="218724"/>
          </a:xfrm>
          <a:prstGeom prst="rect">
            <a:avLst/>
          </a:prstGeom>
        </p:spPr>
      </p:pic>
      <p:sp>
        <p:nvSpPr>
          <p:cNvPr id="28" name="Text 21"/>
          <p:cNvSpPr/>
          <p:nvPr/>
        </p:nvSpPr>
        <p:spPr>
          <a:xfrm>
            <a:off x="1508760" y="5193792"/>
            <a:ext cx="8229600" cy="71323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road to launch</a:t>
            </a:r>
            <a:endParaRPr lang="en-US" sz="1800" dirty="0"/>
          </a:p>
        </p:txBody>
      </p:sp>
      <p:sp>
        <p:nvSpPr>
          <p:cNvPr id="29" name="Text 22"/>
          <p:cNvSpPr/>
          <p:nvPr/>
        </p:nvSpPr>
        <p:spPr>
          <a:xfrm>
            <a:off x="9692640" y="5193792"/>
            <a:ext cx="1645920" cy="71323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2 min</a:t>
            </a:r>
            <a:endParaRPr lang="en-US" sz="1600" dirty="0"/>
          </a:p>
        </p:txBody>
      </p:sp>
      <p:sp>
        <p:nvSpPr>
          <p:cNvPr id="30" name="Text 2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22 · Demos &amp; Audit</a:t>
            </a:r>
            <a:endParaRPr lang="en-US" sz="1000" dirty="0"/>
          </a:p>
        </p:txBody>
      </p:sp>
      <p:sp>
        <p:nvSpPr>
          <p:cNvPr id="31" name="Text 2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SETUP · 3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Start your partner's clone now, then leave it running</a:t>
            </a:r>
            <a:endParaRPr lang="en-US" sz="3100" dirty="0"/>
          </a:p>
        </p:txBody>
      </p:sp>
      <p:sp>
        <p:nvSpPr>
          <p:cNvPr id="5" name="Shape 3"/>
          <p:cNvSpPr/>
          <p:nvPr/>
        </p:nvSpPr>
        <p:spPr>
          <a:xfrm>
            <a:off x="548640" y="1783080"/>
            <a:ext cx="11064240" cy="1280160"/>
          </a:xfrm>
          <a:prstGeom prst="roundRect">
            <a:avLst>
              <a:gd name="adj" fmla="val 5714"/>
            </a:avLst>
          </a:prstGeom>
          <a:solidFill>
            <a:srgbClr val="1E3352"/>
          </a:solidFill>
          <a:ln/>
          <a:effectLst>
            <a:outerShdw sx="100000" sy="100000" kx="0" ky="0" algn="bl" rotWithShape="0" blurRad="88900" dist="38100" dir="5400000">
              <a:srgbClr val="000000">
                <a:alpha val="13000"/>
              </a:srgbClr>
            </a:outerShdw>
          </a:effectLst>
        </p:spPr>
      </p:sp>
      <p:sp>
        <p:nvSpPr>
          <p:cNvPr id="6" name="Text 4"/>
          <p:cNvSpPr/>
          <p:nvPr/>
        </p:nvSpPr>
        <p:spPr>
          <a:xfrm>
            <a:off x="822960" y="1947672"/>
            <a:ext cx="10515600" cy="950976"/>
          </a:xfrm>
          <a:prstGeom prst="rect">
            <a:avLst/>
          </a:prstGeom>
          <a:noFill/>
          <a:ln/>
        </p:spPr>
        <p:txBody>
          <a:bodyPr wrap="square" lIns="0" tIns="0" rIns="0" bIns="0" rtlCol="0" anchor="t"/>
          <a:lstStyle/>
          <a:p>
            <a:pPr indent="0" marL="0">
              <a:lnSpc>
                <a:spcPct val="105000"/>
              </a:lnSpc>
              <a:buNone/>
            </a:pPr>
            <a:r>
              <a:rPr lang="en-US" sz="1500" dirty="0">
                <a:solidFill>
                  <a:srgbClr val="9FB4C7"/>
                </a:solidFill>
                <a:latin typeface="Consolas" pitchFamily="34" charset="0"/>
                <a:ea typeface="Consolas" pitchFamily="34" charset="-122"/>
                <a:cs typeface="Consolas" pitchFamily="34" charset="-120"/>
              </a:rPr>
              <a:t># in a new folder; their repo URL is on the board</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clone --branch cp10 https://github.com/THEIR-ORG/THEIR-REPO.git</a:t>
            </a:r>
            <a:endParaRPr lang="en-US" sz="1500" dirty="0"/>
          </a:p>
        </p:txBody>
      </p:sp>
      <p:sp>
        <p:nvSpPr>
          <p:cNvPr id="7" name="Shape 5"/>
          <p:cNvSpPr/>
          <p:nvPr/>
        </p:nvSpPr>
        <p:spPr>
          <a:xfrm>
            <a:off x="548640" y="3337560"/>
            <a:ext cx="11064240" cy="822960"/>
          </a:xfrm>
          <a:prstGeom prst="roundRect">
            <a:avLst>
              <a:gd name="adj" fmla="val 10000"/>
            </a:avLst>
          </a:prstGeom>
          <a:solidFill>
            <a:srgbClr val="F2F6F8"/>
          </a:solidFill>
          <a:ln/>
          <a:effectLst>
            <a:outerShdw sx="100000" sy="100000" kx="0" ky="0" algn="bl" rotWithShape="0" blurRad="88900" dist="38100" dir="5400000">
              <a:srgbClr val="000000">
                <a:alpha val="13000"/>
              </a:srgbClr>
            </a:outerShdw>
          </a:effectLst>
        </p:spPr>
      </p:sp>
      <p:sp>
        <p:nvSpPr>
          <p:cNvPr id="8" name="Shape 6"/>
          <p:cNvSpPr/>
          <p:nvPr/>
        </p:nvSpPr>
        <p:spPr>
          <a:xfrm>
            <a:off x="777240" y="3511296"/>
            <a:ext cx="475488" cy="475488"/>
          </a:xfrm>
          <a:prstGeom prst="ellipse">
            <a:avLst/>
          </a:prstGeom>
          <a:solidFill>
            <a:srgbClr val="12908F"/>
          </a:solidFill>
          <a:ln/>
        </p:spPr>
      </p:sp>
      <p:sp>
        <p:nvSpPr>
          <p:cNvPr id="9" name="Text 7"/>
          <p:cNvSpPr/>
          <p:nvPr/>
        </p:nvSpPr>
        <p:spPr>
          <a:xfrm>
            <a:off x="777240" y="351129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1463040" y="3337560"/>
            <a:ext cx="9966960" cy="822960"/>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Demo order, audit pairings, and repo URLs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are on the board. Find your slot, your partner, and their URL.</a:t>
            </a:r>
            <a:endParaRPr lang="en-US" sz="1700" dirty="0"/>
          </a:p>
        </p:txBody>
      </p:sp>
      <p:sp>
        <p:nvSpPr>
          <p:cNvPr id="11" name="Shape 9"/>
          <p:cNvSpPr/>
          <p:nvPr/>
        </p:nvSpPr>
        <p:spPr>
          <a:xfrm>
            <a:off x="548640" y="4297680"/>
            <a:ext cx="11064240" cy="822960"/>
          </a:xfrm>
          <a:prstGeom prst="roundRect">
            <a:avLst>
              <a:gd name="adj" fmla="val 10000"/>
            </a:avLst>
          </a:prstGeom>
          <a:solidFill>
            <a:srgbClr val="F2F6F8"/>
          </a:solidFill>
          <a:ln/>
          <a:effectLst>
            <a:outerShdw sx="100000" sy="100000" kx="0" ky="0" algn="bl" rotWithShape="0" blurRad="88900" dist="38100" dir="5400000">
              <a:srgbClr val="000000">
                <a:alpha val="13000"/>
              </a:srgbClr>
            </a:outerShdw>
          </a:effectLst>
        </p:spPr>
      </p:sp>
      <p:sp>
        <p:nvSpPr>
          <p:cNvPr id="12" name="Shape 10"/>
          <p:cNvSpPr/>
          <p:nvPr/>
        </p:nvSpPr>
        <p:spPr>
          <a:xfrm>
            <a:off x="777240" y="4471416"/>
            <a:ext cx="475488" cy="475488"/>
          </a:xfrm>
          <a:prstGeom prst="ellipse">
            <a:avLst/>
          </a:prstGeom>
          <a:solidFill>
            <a:srgbClr val="12908F"/>
          </a:solidFill>
          <a:ln/>
        </p:spPr>
      </p:sp>
      <p:sp>
        <p:nvSpPr>
          <p:cNvPr id="13" name="Text 11"/>
          <p:cNvSpPr/>
          <p:nvPr/>
        </p:nvSpPr>
        <p:spPr>
          <a:xfrm>
            <a:off x="777240" y="447141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1463040" y="4297680"/>
            <a:ext cx="9966960" cy="822960"/>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Demos are time-boxed hard.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Six minutes of demo, two of questions, one to change presenters. Running long takes someone else's time.</a:t>
            </a:r>
            <a:endParaRPr lang="en-US" sz="1700" dirty="0"/>
          </a:p>
        </p:txBody>
      </p:sp>
      <p:sp>
        <p:nvSpPr>
          <p:cNvPr id="15" name="Shape 13"/>
          <p:cNvSpPr/>
          <p:nvPr/>
        </p:nvSpPr>
        <p:spPr>
          <a:xfrm>
            <a:off x="548640" y="5257800"/>
            <a:ext cx="11064240" cy="822960"/>
          </a:xfrm>
          <a:prstGeom prst="roundRect">
            <a:avLst>
              <a:gd name="adj" fmla="val 10000"/>
            </a:avLst>
          </a:prstGeom>
          <a:solidFill>
            <a:srgbClr val="F2F6F8"/>
          </a:solidFill>
          <a:ln/>
          <a:effectLst>
            <a:outerShdw sx="100000" sy="100000" kx="0" ky="0" algn="bl" rotWithShape="0" blurRad="88900" dist="38100" dir="5400000">
              <a:srgbClr val="000000">
                <a:alpha val="13000"/>
              </a:srgbClr>
            </a:outerShdw>
          </a:effectLst>
        </p:spPr>
      </p:sp>
      <p:sp>
        <p:nvSpPr>
          <p:cNvPr id="16" name="Shape 14"/>
          <p:cNvSpPr/>
          <p:nvPr/>
        </p:nvSpPr>
        <p:spPr>
          <a:xfrm>
            <a:off x="777240" y="5431536"/>
            <a:ext cx="475488" cy="475488"/>
          </a:xfrm>
          <a:prstGeom prst="ellipse">
            <a:avLst/>
          </a:prstGeom>
          <a:solidFill>
            <a:srgbClr val="12908F"/>
          </a:solidFill>
          <a:ln/>
        </p:spPr>
      </p:sp>
      <p:sp>
        <p:nvSpPr>
          <p:cNvPr id="17" name="Text 15"/>
          <p:cNvSpPr/>
          <p:nvPr/>
        </p:nvSpPr>
        <p:spPr>
          <a:xfrm>
            <a:off x="777240" y="543153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1463040" y="5257800"/>
            <a:ext cx="9966960" cy="822960"/>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The audit runs from the docs alone.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Everyone audits at once, so there's no one to ask. That's the point.</a:t>
            </a:r>
            <a:endParaRPr lang="en-US" sz="1700" dirty="0"/>
          </a:p>
        </p:txBody>
      </p:sp>
      <p:sp>
        <p:nvSpPr>
          <p:cNvPr id="19" name="Text 1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22 · Demos &amp; Audit</a:t>
            </a:r>
            <a:endParaRPr lang="en-US" sz="1000" dirty="0"/>
          </a:p>
        </p:txBody>
      </p:sp>
      <p:sp>
        <p:nvSpPr>
          <p:cNvPr id="20" name="Text 1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PROGRESS DEMOS · 6 MIN + 2 MIN QUESTIONS + 1 TO SWAP</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Prove it, don't just show it</a:t>
            </a:r>
            <a:endParaRPr lang="en-US" sz="3100" dirty="0"/>
          </a:p>
        </p:txBody>
      </p:sp>
      <p:sp>
        <p:nvSpPr>
          <p:cNvPr id="5" name="Shape 3"/>
          <p:cNvSpPr/>
          <p:nvPr/>
        </p:nvSpPr>
        <p:spPr>
          <a:xfrm>
            <a:off x="548640" y="1783080"/>
            <a:ext cx="11064240" cy="786384"/>
          </a:xfrm>
          <a:prstGeom prst="roundRect">
            <a:avLst>
              <a:gd name="adj" fmla="val 10465"/>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938528"/>
            <a:ext cx="475488" cy="475488"/>
          </a:xfrm>
          <a:prstGeom prst="ellipse">
            <a:avLst/>
          </a:prstGeom>
          <a:solidFill>
            <a:srgbClr val="12908F"/>
          </a:solidFill>
          <a:ln/>
        </p:spPr>
      </p:sp>
      <p:sp>
        <p:nvSpPr>
          <p:cNvPr id="7" name="Text 5"/>
          <p:cNvSpPr/>
          <p:nvPr/>
        </p:nvSpPr>
        <p:spPr>
          <a:xfrm>
            <a:off x="777240" y="193852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463040" y="1783080"/>
            <a:ext cx="9966960" cy="786384"/>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Open with the claim.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"V1 proves a volunteer can find an item and check it out." One sentence, first.</a:t>
            </a:r>
            <a:endParaRPr lang="en-US" sz="1700" dirty="0"/>
          </a:p>
        </p:txBody>
      </p:sp>
      <p:sp>
        <p:nvSpPr>
          <p:cNvPr id="9" name="Shape 7"/>
          <p:cNvSpPr/>
          <p:nvPr/>
        </p:nvSpPr>
        <p:spPr>
          <a:xfrm>
            <a:off x="548640" y="2679192"/>
            <a:ext cx="11064240" cy="786384"/>
          </a:xfrm>
          <a:prstGeom prst="roundRect">
            <a:avLst>
              <a:gd name="adj" fmla="val 10465"/>
            </a:avLst>
          </a:prstGeom>
          <a:solidFill>
            <a:srgbClr val="F2F6F8"/>
          </a:solidFill>
          <a:ln/>
          <a:effectLst>
            <a:outerShdw sx="100000" sy="100000" kx="0" ky="0" algn="bl" rotWithShape="0" blurRad="88900" dist="38100" dir="5400000">
              <a:srgbClr val="000000">
                <a:alpha val="13000"/>
              </a:srgbClr>
            </a:outerShdw>
          </a:effectLst>
        </p:spPr>
      </p:sp>
      <p:sp>
        <p:nvSpPr>
          <p:cNvPr id="10" name="Shape 8"/>
          <p:cNvSpPr/>
          <p:nvPr/>
        </p:nvSpPr>
        <p:spPr>
          <a:xfrm>
            <a:off x="777240" y="2834640"/>
            <a:ext cx="475488" cy="475488"/>
          </a:xfrm>
          <a:prstGeom prst="ellipse">
            <a:avLst/>
          </a:prstGeom>
          <a:solidFill>
            <a:srgbClr val="12908F"/>
          </a:solidFill>
          <a:ln/>
        </p:spPr>
      </p:sp>
      <p:sp>
        <p:nvSpPr>
          <p:cNvPr id="11" name="Text 9"/>
          <p:cNvSpPr/>
          <p:nvPr/>
        </p:nvSpPr>
        <p:spPr>
          <a:xfrm>
            <a:off x="777240" y="283464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463040" y="2679192"/>
            <a:ext cx="9966960" cy="786384"/>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Walk the slice.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End to end, live, from the tag, on real data. The path in your slice statement.</a:t>
            </a:r>
            <a:endParaRPr lang="en-US" sz="1700" dirty="0"/>
          </a:p>
        </p:txBody>
      </p:sp>
      <p:sp>
        <p:nvSpPr>
          <p:cNvPr id="13" name="Shape 11"/>
          <p:cNvSpPr/>
          <p:nvPr/>
        </p:nvSpPr>
        <p:spPr>
          <a:xfrm>
            <a:off x="548640" y="3575304"/>
            <a:ext cx="11064240" cy="786384"/>
          </a:xfrm>
          <a:prstGeom prst="roundRect">
            <a:avLst>
              <a:gd name="adj" fmla="val 10465"/>
            </a:avLst>
          </a:prstGeom>
          <a:solidFill>
            <a:srgbClr val="F2F6F8"/>
          </a:solidFill>
          <a:ln/>
          <a:effectLst>
            <a:outerShdw sx="100000" sy="100000" kx="0" ky="0" algn="bl" rotWithShape="0" blurRad="88900" dist="38100" dir="5400000">
              <a:srgbClr val="000000">
                <a:alpha val="13000"/>
              </a:srgbClr>
            </a:outerShdw>
          </a:effectLst>
        </p:spPr>
      </p:sp>
      <p:sp>
        <p:nvSpPr>
          <p:cNvPr id="14" name="Shape 12"/>
          <p:cNvSpPr/>
          <p:nvPr/>
        </p:nvSpPr>
        <p:spPr>
          <a:xfrm>
            <a:off x="777240" y="3730752"/>
            <a:ext cx="475488" cy="475488"/>
          </a:xfrm>
          <a:prstGeom prst="ellipse">
            <a:avLst/>
          </a:prstGeom>
          <a:solidFill>
            <a:srgbClr val="12908F"/>
          </a:solidFill>
          <a:ln/>
        </p:spPr>
      </p:sp>
      <p:sp>
        <p:nvSpPr>
          <p:cNvPr id="15" name="Text 13"/>
          <p:cNvSpPr/>
          <p:nvPr/>
        </p:nvSpPr>
        <p:spPr>
          <a:xfrm>
            <a:off x="777240" y="3730752"/>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463040" y="3575304"/>
            <a:ext cx="9966960" cy="786384"/>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Name one honest edge.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Something that doesn't work yet, said before anyone has to ask.</a:t>
            </a:r>
            <a:endParaRPr lang="en-US" sz="1700" dirty="0"/>
          </a:p>
        </p:txBody>
      </p:sp>
      <p:sp>
        <p:nvSpPr>
          <p:cNvPr id="17" name="Shape 15"/>
          <p:cNvSpPr/>
          <p:nvPr/>
        </p:nvSpPr>
        <p:spPr>
          <a:xfrm>
            <a:off x="548640" y="4471416"/>
            <a:ext cx="11064240" cy="786384"/>
          </a:xfrm>
          <a:prstGeom prst="roundRect">
            <a:avLst>
              <a:gd name="adj" fmla="val 10465"/>
            </a:avLst>
          </a:prstGeom>
          <a:solidFill>
            <a:srgbClr val="F2F6F8"/>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4626864"/>
            <a:ext cx="475488" cy="475488"/>
          </a:xfrm>
          <a:prstGeom prst="ellipse">
            <a:avLst/>
          </a:prstGeom>
          <a:solidFill>
            <a:srgbClr val="12908F"/>
          </a:solidFill>
          <a:ln/>
        </p:spPr>
      </p:sp>
      <p:sp>
        <p:nvSpPr>
          <p:cNvPr id="19" name="Text 17"/>
          <p:cNvSpPr/>
          <p:nvPr/>
        </p:nvSpPr>
        <p:spPr>
          <a:xfrm>
            <a:off x="777240" y="4626864"/>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0" name="Text 18"/>
          <p:cNvSpPr/>
          <p:nvPr/>
        </p:nvSpPr>
        <p:spPr>
          <a:xfrm>
            <a:off x="1463040" y="4471416"/>
            <a:ext cx="9966960" cy="786384"/>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If it breaks.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Run your fallback calmly. No restarts, no apologizing for the rest of the demo.</a:t>
            </a:r>
            <a:endParaRPr lang="en-US" sz="1700" dirty="0"/>
          </a:p>
        </p:txBody>
      </p:sp>
      <p:sp>
        <p:nvSpPr>
          <p:cNvPr id="21" name="Shape 19"/>
          <p:cNvSpPr/>
          <p:nvPr/>
        </p:nvSpPr>
        <p:spPr>
          <a:xfrm>
            <a:off x="548640" y="5440680"/>
            <a:ext cx="11064240" cy="731520"/>
          </a:xfrm>
          <a:prstGeom prst="roundRect">
            <a:avLst>
              <a:gd name="adj" fmla="val 11250"/>
            </a:avLst>
          </a:prstGeom>
          <a:solidFill>
            <a:srgbClr val="14233A"/>
          </a:solidFill>
          <a:ln/>
          <a:effectLst>
            <a:outerShdw sx="100000" sy="100000" kx="0" ky="0" algn="bl" rotWithShape="0" blurRad="88900" dist="38100" dir="5400000">
              <a:srgbClr val="000000">
                <a:alpha val="13000"/>
              </a:srgbClr>
            </a:outerShdw>
          </a:effectLst>
        </p:spPr>
      </p:sp>
      <p:sp>
        <p:nvSpPr>
          <p:cNvPr id="22" name="Text 20"/>
          <p:cNvSpPr/>
          <p:nvPr/>
        </p:nvSpPr>
        <p:spPr>
          <a:xfrm>
            <a:off x="868680" y="5440680"/>
            <a:ext cx="10424160" cy="731520"/>
          </a:xfrm>
          <a:prstGeom prst="rect">
            <a:avLst/>
          </a:prstGeom>
          <a:noFill/>
          <a:ln/>
        </p:spPr>
        <p:txBody>
          <a:bodyPr wrap="square" lIns="0" tIns="0" rIns="0" bIns="0" rtlCol="0" anchor="ctr"/>
          <a:lstStyle/>
          <a:p>
            <a:pPr indent="0" marL="0">
              <a:buNone/>
            </a:pPr>
            <a:r>
              <a:rPr lang="en-US" sz="1800" b="1" dirty="0">
                <a:solidFill>
                  <a:srgbClr val="E8A33D"/>
                </a:solidFill>
                <a:latin typeface="Calibri" pitchFamily="34" charset="0"/>
                <a:ea typeface="Calibri" pitchFamily="34" charset="-122"/>
                <a:cs typeface="Calibri" pitchFamily="34" charset="-120"/>
              </a:rPr>
              <a:t>Questions (2 min):  </a:t>
            </a:r>
            <a:pPr indent="0" marL="0">
              <a:buNone/>
            </a:pPr>
            <a:r>
              <a:rPr lang="en-US" sz="1800" dirty="0">
                <a:solidFill>
                  <a:srgbClr val="FFFFFF"/>
                </a:solidFill>
                <a:latin typeface="Calibri" pitchFamily="34" charset="0"/>
                <a:ea typeface="Calibri" pitchFamily="34" charset="-122"/>
                <a:cs typeface="Calibri" pitchFamily="34" charset="-120"/>
              </a:rPr>
              <a:t>"Did that prove it, or show it?" Asked kindly, answered directly.</a:t>
            </a:r>
            <a:endParaRPr lang="en-US" sz="1800" dirty="0"/>
          </a:p>
        </p:txBody>
      </p:sp>
      <p:sp>
        <p:nvSpPr>
          <p:cNvPr id="23" name="Text 2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22 · Demos &amp; Audit</a:t>
            </a:r>
            <a:endParaRPr lang="en-US" sz="1000" dirty="0"/>
          </a:p>
        </p:txBody>
      </p:sp>
      <p:sp>
        <p:nvSpPr>
          <p:cNvPr id="24"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PROVEN OR SHOWN?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One question tells them apart</a:t>
            </a:r>
            <a:endParaRPr lang="en-US" sz="3100" dirty="0"/>
          </a:p>
        </p:txBody>
      </p:sp>
      <p:sp>
        <p:nvSpPr>
          <p:cNvPr id="5" name="Shape 3"/>
          <p:cNvSpPr/>
          <p:nvPr/>
        </p:nvSpPr>
        <p:spPr>
          <a:xfrm>
            <a:off x="548640" y="1783080"/>
            <a:ext cx="11064240" cy="1051560"/>
          </a:xfrm>
          <a:prstGeom prst="roundRect">
            <a:avLst>
              <a:gd name="adj" fmla="val 7826"/>
            </a:avLst>
          </a:prstGeom>
          <a:solidFill>
            <a:srgbClr val="14233A"/>
          </a:solidFill>
          <a:ln/>
          <a:effectLst>
            <a:outerShdw sx="100000" sy="100000" kx="0" ky="0" algn="bl" rotWithShape="0" blurRad="88900" dist="38100" dir="5400000">
              <a:srgbClr val="000000">
                <a:alpha val="13000"/>
              </a:srgbClr>
            </a:outerShdw>
          </a:effectLst>
        </p:spPr>
      </p:sp>
      <p:sp>
        <p:nvSpPr>
          <p:cNvPr id="6" name="Text 4"/>
          <p:cNvSpPr/>
          <p:nvPr/>
        </p:nvSpPr>
        <p:spPr>
          <a:xfrm>
            <a:off x="868680" y="1783080"/>
            <a:ext cx="10424160" cy="10515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If the claim were false, would the demo have looked different?  </a:t>
            </a:r>
            <a:pPr indent="0" marL="0">
              <a:buNone/>
            </a:pPr>
            <a:r>
              <a:rPr lang="en-US" sz="1900" b="1" dirty="0">
                <a:solidFill>
                  <a:srgbClr val="E8A33D"/>
                </a:solidFill>
                <a:latin typeface="Calibri" pitchFamily="34" charset="0"/>
                <a:ea typeface="Calibri" pitchFamily="34" charset="-122"/>
                <a:cs typeface="Calibri" pitchFamily="34" charset="-120"/>
              </a:rPr>
              <a:t>Yes: proven.  No: only shown.</a:t>
            </a:r>
            <a:endParaRPr lang="en-US" sz="1900" dirty="0"/>
          </a:p>
        </p:txBody>
      </p:sp>
      <p:sp>
        <p:nvSpPr>
          <p:cNvPr id="7" name="click-1"/>
          <p:cNvSpPr/>
          <p:nvPr/>
        </p:nvSpPr>
        <p:spPr>
          <a:xfrm>
            <a:off x="548640" y="3063240"/>
            <a:ext cx="5440680" cy="3108960"/>
          </a:xfrm>
          <a:prstGeom prst="roundRect">
            <a:avLst>
              <a:gd name="adj" fmla="val 2647"/>
            </a:avLst>
          </a:prstGeom>
          <a:solidFill>
            <a:srgbClr val="EAF4EE"/>
          </a:solidFill>
          <a:ln/>
          <a:effectLst>
            <a:outerShdw sx="100000" sy="100000" kx="0" ky="0" algn="bl" rotWithShape="0" blurRad="88900" dist="38100" dir="5400000">
              <a:srgbClr val="000000">
                <a:alpha val="13000"/>
              </a:srgbClr>
            </a:outerShdw>
          </a:effectLst>
        </p:spPr>
      </p:sp>
      <p:sp>
        <p:nvSpPr>
          <p:cNvPr id="8" name="click-1"/>
          <p:cNvSpPr/>
          <p:nvPr/>
        </p:nvSpPr>
        <p:spPr>
          <a:xfrm>
            <a:off x="822960" y="3200400"/>
            <a:ext cx="4937760" cy="365760"/>
          </a:xfrm>
          <a:prstGeom prst="rect">
            <a:avLst/>
          </a:prstGeom>
          <a:noFill/>
          <a:ln/>
        </p:spPr>
        <p:txBody>
          <a:bodyPr wrap="square" lIns="0" tIns="0" rIns="0" bIns="0" rtlCol="0" anchor="ctr"/>
          <a:lstStyle/>
          <a:p>
            <a:pPr indent="0" marL="0">
              <a:buNone/>
            </a:pPr>
            <a:r>
              <a:rPr lang="en-US" sz="1500" b="1" spc="200" kern="0" dirty="0">
                <a:solidFill>
                  <a:srgbClr val="3E9C6B"/>
                </a:solidFill>
                <a:latin typeface="Calibri" pitchFamily="34" charset="0"/>
                <a:ea typeface="Calibri" pitchFamily="34" charset="-122"/>
                <a:cs typeface="Calibri" pitchFamily="34" charset="-120"/>
              </a:rPr>
              <a:t>PROVEN</a:t>
            </a:r>
            <a:endParaRPr lang="en-US" sz="1500" dirty="0"/>
          </a:p>
        </p:txBody>
      </p:sp>
      <p:sp>
        <p:nvSpPr>
          <p:cNvPr id="9" name="click-1"/>
          <p:cNvSpPr/>
          <p:nvPr/>
        </p:nvSpPr>
        <p:spPr>
          <a:xfrm>
            <a:off x="822960" y="3611880"/>
            <a:ext cx="4937760" cy="2468880"/>
          </a:xfrm>
          <a:prstGeom prst="rect">
            <a:avLst/>
          </a:prstGeom>
          <a:noFill/>
          <a:ln/>
        </p:spPr>
        <p:txBody>
          <a:bodyPr wrap="square" lIns="0" tIns="0" rIns="0" bIns="0" rtlCol="0" anchor="t"/>
          <a:lstStyle/>
          <a:p>
            <a:pPr marL="203200" indent="-203200">
              <a:lnSpc>
                <a:spcPct val="104000"/>
              </a:lnSpc>
              <a:spcAft>
                <a:spcPts val="800"/>
              </a:spcAft>
              <a:buSzPct val="100000"/>
              <a:buChar char="•"/>
            </a:pPr>
            <a:r>
              <a:rPr lang="en-US" sz="1650" dirty="0">
                <a:solidFill>
                  <a:srgbClr val="1E2A36"/>
                </a:solidFill>
                <a:latin typeface="Calibri" pitchFamily="34" charset="0"/>
                <a:ea typeface="Calibri" pitchFamily="34" charset="-122"/>
                <a:cs typeface="Calibri" pitchFamily="34" charset="-120"/>
              </a:rPr>
              <a:t>Real code, real data, live: the search finds the item, checkout saves, the list now says who has it</a:t>
            </a:r>
            <a:endParaRPr lang="en-US" sz="1650" dirty="0"/>
          </a:p>
          <a:p>
            <a:pPr marL="203200" indent="-203200">
              <a:lnSpc>
                <a:spcPct val="104000"/>
              </a:lnSpc>
              <a:spcAft>
                <a:spcPts val="800"/>
              </a:spcAft>
              <a:buSzPct val="100000"/>
              <a:buChar char="•"/>
            </a:pPr>
            <a:r>
              <a:rPr lang="en-US" sz="1650" dirty="0">
                <a:solidFill>
                  <a:srgbClr val="1E2A36"/>
                </a:solidFill>
                <a:latin typeface="Calibri" pitchFamily="34" charset="0"/>
                <a:ea typeface="Calibri" pitchFamily="34" charset="-122"/>
                <a:cs typeface="Calibri" pitchFamily="34" charset="-120"/>
              </a:rPr>
              <a:t>It could have failed in front of you: a second checkout of the same item is refused</a:t>
            </a:r>
            <a:endParaRPr lang="en-US" sz="1650" dirty="0"/>
          </a:p>
          <a:p>
            <a:pPr marL="203200" indent="-203200">
              <a:lnSpc>
                <a:spcPct val="104000"/>
              </a:lnSpc>
              <a:spcAft>
                <a:spcPts val="800"/>
              </a:spcAft>
              <a:buSzPct val="100000"/>
              <a:buChar char="•"/>
            </a:pPr>
            <a:r>
              <a:rPr lang="en-US" sz="1650" dirty="0">
                <a:solidFill>
                  <a:srgbClr val="1E2A36"/>
                </a:solidFill>
                <a:latin typeface="Calibri" pitchFamily="34" charset="0"/>
                <a:ea typeface="Calibri" pitchFamily="34" charset="-122"/>
                <a:cs typeface="Calibri" pitchFamily="34" charset="-120"/>
              </a:rPr>
              <a:t>Not proven, and said so: "we haven't put it in front of a wardrobe lead yet"</a:t>
            </a:r>
            <a:endParaRPr lang="en-US" sz="1650" dirty="0"/>
          </a:p>
        </p:txBody>
      </p:sp>
      <p:sp>
        <p:nvSpPr>
          <p:cNvPr id="10" name="click-2"/>
          <p:cNvSpPr/>
          <p:nvPr/>
        </p:nvSpPr>
        <p:spPr>
          <a:xfrm>
            <a:off x="6172200" y="3063240"/>
            <a:ext cx="5440680" cy="3108960"/>
          </a:xfrm>
          <a:prstGeom prst="roundRect">
            <a:avLst>
              <a:gd name="adj" fmla="val 2647"/>
            </a:avLst>
          </a:prstGeom>
          <a:solidFill>
            <a:srgbClr val="FBECE8"/>
          </a:solidFill>
          <a:ln/>
          <a:effectLst>
            <a:outerShdw sx="100000" sy="100000" kx="0" ky="0" algn="bl" rotWithShape="0" blurRad="88900" dist="38100" dir="5400000">
              <a:srgbClr val="000000">
                <a:alpha val="13000"/>
              </a:srgbClr>
            </a:outerShdw>
          </a:effectLst>
        </p:spPr>
      </p:sp>
      <p:sp>
        <p:nvSpPr>
          <p:cNvPr id="11" name="click-2"/>
          <p:cNvSpPr/>
          <p:nvPr/>
        </p:nvSpPr>
        <p:spPr>
          <a:xfrm>
            <a:off x="6446520" y="3200400"/>
            <a:ext cx="4937760" cy="365760"/>
          </a:xfrm>
          <a:prstGeom prst="rect">
            <a:avLst/>
          </a:prstGeom>
          <a:noFill/>
          <a:ln/>
        </p:spPr>
        <p:txBody>
          <a:bodyPr wrap="square" lIns="0" tIns="0" rIns="0" bIns="0" rtlCol="0" anchor="ctr"/>
          <a:lstStyle/>
          <a:p>
            <a:pPr indent="0" marL="0">
              <a:buNone/>
            </a:pPr>
            <a:r>
              <a:rPr lang="en-US" sz="1500" b="1" spc="200" kern="0" dirty="0">
                <a:solidFill>
                  <a:srgbClr val="D9614C"/>
                </a:solidFill>
                <a:latin typeface="Calibri" pitchFamily="34" charset="0"/>
                <a:ea typeface="Calibri" pitchFamily="34" charset="-122"/>
                <a:cs typeface="Calibri" pitchFamily="34" charset="-120"/>
              </a:rPr>
              <a:t>ONLY SHOWN</a:t>
            </a:r>
            <a:endParaRPr lang="en-US" sz="1500" dirty="0"/>
          </a:p>
        </p:txBody>
      </p:sp>
      <p:sp>
        <p:nvSpPr>
          <p:cNvPr id="12" name="click-2"/>
          <p:cNvSpPr/>
          <p:nvPr/>
        </p:nvSpPr>
        <p:spPr>
          <a:xfrm>
            <a:off x="6446520" y="3611880"/>
            <a:ext cx="4937760" cy="2468880"/>
          </a:xfrm>
          <a:prstGeom prst="rect">
            <a:avLst/>
          </a:prstGeom>
          <a:noFill/>
          <a:ln/>
        </p:spPr>
        <p:txBody>
          <a:bodyPr wrap="square" lIns="0" tIns="0" rIns="0" bIns="0" rtlCol="0" anchor="t"/>
          <a:lstStyle/>
          <a:p>
            <a:pPr marL="203200" indent="-203200">
              <a:lnSpc>
                <a:spcPct val="104000"/>
              </a:lnSpc>
              <a:spcAft>
                <a:spcPts val="800"/>
              </a:spcAft>
              <a:buSzPct val="100000"/>
              <a:buChar char="•"/>
            </a:pPr>
            <a:r>
              <a:rPr lang="en-US" sz="1650" dirty="0">
                <a:solidFill>
                  <a:srgbClr val="1E2A36"/>
                </a:solidFill>
                <a:latin typeface="Calibri" pitchFamily="34" charset="0"/>
                <a:ea typeface="Calibri" pitchFamily="34" charset="-122"/>
                <a:cs typeface="Calibri" pitchFamily="34" charset="-120"/>
              </a:rPr>
              <a:t>A screen with hardcoded data, or screenshots of what it will do</a:t>
            </a:r>
            <a:endParaRPr lang="en-US" sz="1650" dirty="0"/>
          </a:p>
          <a:p>
            <a:pPr marL="203200" indent="-203200">
              <a:lnSpc>
                <a:spcPct val="104000"/>
              </a:lnSpc>
              <a:spcAft>
                <a:spcPts val="800"/>
              </a:spcAft>
              <a:buSzPct val="100000"/>
              <a:buChar char="•"/>
            </a:pPr>
            <a:r>
              <a:rPr lang="en-US" sz="1650" dirty="0">
                <a:solidFill>
                  <a:srgbClr val="1E2A36"/>
                </a:solidFill>
                <a:latin typeface="Calibri" pitchFamily="34" charset="0"/>
                <a:ea typeface="Calibri" pitchFamily="34" charset="-122"/>
                <a:cs typeface="Calibri" pitchFamily="34" charset="-120"/>
              </a:rPr>
              <a:t>"And then this would save to the database"</a:t>
            </a:r>
            <a:endParaRPr lang="en-US" sz="1650" dirty="0"/>
          </a:p>
          <a:p>
            <a:pPr marL="203200" indent="-203200">
              <a:lnSpc>
                <a:spcPct val="104000"/>
              </a:lnSpc>
              <a:spcAft>
                <a:spcPts val="800"/>
              </a:spcAft>
              <a:buSzPct val="100000"/>
              <a:buChar char="•"/>
            </a:pPr>
            <a:r>
              <a:rPr lang="en-US" sz="1650" dirty="0">
                <a:solidFill>
                  <a:srgbClr val="1E2A36"/>
                </a:solidFill>
                <a:latin typeface="Calibri" pitchFamily="34" charset="0"/>
                <a:ea typeface="Calibri" pitchFamily="34" charset="-122"/>
                <a:cs typeface="Calibri" pitchFamily="34" charset="-120"/>
              </a:rPr>
              <a:t>Ten screens toured, nothing connected behind them</a:t>
            </a:r>
            <a:endParaRPr lang="en-US" sz="1650" dirty="0"/>
          </a:p>
        </p:txBody>
      </p:sp>
      <p:sp>
        <p:nvSpPr>
          <p:cNvPr id="13" name="Text 1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22 · Demos &amp; Audit</a:t>
            </a:r>
            <a:endParaRPr lang="en-US" sz="1000" dirty="0"/>
          </a:p>
        </p:txBody>
      </p:sp>
      <p:sp>
        <p:nvSpPr>
          <p:cNvPr id="14"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4" presetID="1"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WHILE YOU WATCH</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One Demo Feedback Sheet per demo</a:t>
            </a:r>
            <a:endParaRPr lang="en-US" sz="3100" dirty="0"/>
          </a:p>
        </p:txBody>
      </p:sp>
      <p:sp>
        <p:nvSpPr>
          <p:cNvPr id="5" name="Shape 3"/>
          <p:cNvSpPr/>
          <p:nvPr/>
        </p:nvSpPr>
        <p:spPr>
          <a:xfrm>
            <a:off x="548640" y="1783080"/>
            <a:ext cx="69494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731520" y="1783080"/>
            <a:ext cx="365760" cy="749808"/>
          </a:xfrm>
          <a:prstGeom prst="rect">
            <a:avLst/>
          </a:prstGeom>
          <a:noFill/>
          <a:ln/>
        </p:spPr>
        <p:txBody>
          <a:bodyPr wrap="square" lIns="0" tIns="0" rIns="0" bIns="0" rtlCol="0" anchor="ctr"/>
          <a:lstStyle/>
          <a:p>
            <a:pPr indent="0" marL="0">
              <a:buNone/>
            </a:pPr>
            <a:r>
              <a:rPr lang="en-US" sz="2000" b="1" dirty="0">
                <a:solidFill>
                  <a:srgbClr val="12908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188720" y="1783080"/>
            <a:ext cx="6172200" cy="74980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The claim</a:t>
            </a:r>
            <a:endParaRPr lang="en-US" sz="1700" dirty="0"/>
          </a:p>
          <a:p>
            <a:pPr indent="0" marL="0">
              <a:buNone/>
            </a:pPr>
            <a:r>
              <a:rPr lang="en-US" sz="1500" dirty="0">
                <a:solidFill>
                  <a:srgbClr val="5F7284"/>
                </a:solidFill>
                <a:latin typeface="Calibri" pitchFamily="34" charset="0"/>
                <a:ea typeface="Calibri" pitchFamily="34" charset="-122"/>
                <a:cs typeface="Calibri" pitchFamily="34" charset="-120"/>
              </a:rPr>
              <a:t>What did the demo set out to prove?</a:t>
            </a:r>
            <a:endParaRPr lang="en-US" sz="1700" dirty="0"/>
          </a:p>
        </p:txBody>
      </p:sp>
      <p:sp>
        <p:nvSpPr>
          <p:cNvPr id="8" name="Shape 6"/>
          <p:cNvSpPr/>
          <p:nvPr/>
        </p:nvSpPr>
        <p:spPr>
          <a:xfrm>
            <a:off x="548640" y="2651760"/>
            <a:ext cx="69494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9" name="Text 7"/>
          <p:cNvSpPr/>
          <p:nvPr/>
        </p:nvSpPr>
        <p:spPr>
          <a:xfrm>
            <a:off x="731520" y="2651760"/>
            <a:ext cx="365760" cy="749808"/>
          </a:xfrm>
          <a:prstGeom prst="rect">
            <a:avLst/>
          </a:prstGeom>
          <a:noFill/>
          <a:ln/>
        </p:spPr>
        <p:txBody>
          <a:bodyPr wrap="square" lIns="0" tIns="0" rIns="0" bIns="0" rtlCol="0" anchor="ctr"/>
          <a:lstStyle/>
          <a:p>
            <a:pPr indent="0" marL="0">
              <a:buNone/>
            </a:pPr>
            <a:r>
              <a:rPr lang="en-US" sz="2000" b="1" dirty="0">
                <a:solidFill>
                  <a:srgbClr val="12908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188720" y="2651760"/>
            <a:ext cx="6172200" cy="74980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Proof</a:t>
            </a:r>
            <a:endParaRPr lang="en-US" sz="1700" dirty="0"/>
          </a:p>
          <a:p>
            <a:pPr indent="0" marL="0">
              <a:buNone/>
            </a:pPr>
            <a:r>
              <a:rPr lang="en-US" sz="1500" dirty="0">
                <a:solidFill>
                  <a:srgbClr val="5F7284"/>
                </a:solidFill>
                <a:latin typeface="Calibri" pitchFamily="34" charset="0"/>
                <a:ea typeface="Calibri" pitchFamily="34" charset="-122"/>
                <a:cs typeface="Calibri" pitchFamily="34" charset="-120"/>
              </a:rPr>
              <a:t>Proven or only shown? Would it have looked different if the claim were false?</a:t>
            </a:r>
            <a:endParaRPr lang="en-US" sz="1700" dirty="0"/>
          </a:p>
        </p:txBody>
      </p:sp>
      <p:sp>
        <p:nvSpPr>
          <p:cNvPr id="11" name="Shape 9"/>
          <p:cNvSpPr/>
          <p:nvPr/>
        </p:nvSpPr>
        <p:spPr>
          <a:xfrm>
            <a:off x="548640" y="3520440"/>
            <a:ext cx="69494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2" name="Text 10"/>
          <p:cNvSpPr/>
          <p:nvPr/>
        </p:nvSpPr>
        <p:spPr>
          <a:xfrm>
            <a:off x="731520" y="3520440"/>
            <a:ext cx="365760" cy="749808"/>
          </a:xfrm>
          <a:prstGeom prst="rect">
            <a:avLst/>
          </a:prstGeom>
          <a:noFill/>
          <a:ln/>
        </p:spPr>
        <p:txBody>
          <a:bodyPr wrap="square" lIns="0" tIns="0" rIns="0" bIns="0" rtlCol="0" anchor="ctr"/>
          <a:lstStyle/>
          <a:p>
            <a:pPr indent="0" marL="0">
              <a:buNone/>
            </a:pPr>
            <a:r>
              <a:rPr lang="en-US" sz="2000" b="1" dirty="0">
                <a:solidFill>
                  <a:srgbClr val="12908F"/>
                </a:solidFill>
                <a:latin typeface="Calibri" pitchFamily="34" charset="0"/>
                <a:ea typeface="Calibri" pitchFamily="34" charset="-122"/>
                <a:cs typeface="Calibri" pitchFamily="34" charset="-120"/>
              </a:rPr>
              <a:t>3</a:t>
            </a:r>
            <a:endParaRPr lang="en-US" sz="2000" dirty="0"/>
          </a:p>
        </p:txBody>
      </p:sp>
      <p:sp>
        <p:nvSpPr>
          <p:cNvPr id="13" name="Text 11"/>
          <p:cNvSpPr/>
          <p:nvPr/>
        </p:nvSpPr>
        <p:spPr>
          <a:xfrm>
            <a:off x="1188720" y="3520440"/>
            <a:ext cx="6172200" cy="74980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The walk</a:t>
            </a:r>
            <a:endParaRPr lang="en-US" sz="1700" dirty="0"/>
          </a:p>
          <a:p>
            <a:pPr indent="0" marL="0">
              <a:buNone/>
            </a:pPr>
            <a:r>
              <a:rPr lang="en-US" sz="1500" dirty="0">
                <a:solidFill>
                  <a:srgbClr val="5F7284"/>
                </a:solidFill>
                <a:latin typeface="Calibri" pitchFamily="34" charset="0"/>
                <a:ea typeface="Calibri" pitchFamily="34" charset="-122"/>
                <a:cs typeface="Calibri" pitchFamily="34" charset="-120"/>
              </a:rPr>
              <a:t>Did the slice walk end to end? An honest edge? In the time box?</a:t>
            </a:r>
            <a:endParaRPr lang="en-US" sz="1700" dirty="0"/>
          </a:p>
        </p:txBody>
      </p:sp>
      <p:sp>
        <p:nvSpPr>
          <p:cNvPr id="14" name="Shape 12"/>
          <p:cNvSpPr/>
          <p:nvPr/>
        </p:nvSpPr>
        <p:spPr>
          <a:xfrm>
            <a:off x="548640" y="4389120"/>
            <a:ext cx="69494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5" name="Text 13"/>
          <p:cNvSpPr/>
          <p:nvPr/>
        </p:nvSpPr>
        <p:spPr>
          <a:xfrm>
            <a:off x="731520" y="4389120"/>
            <a:ext cx="365760" cy="749808"/>
          </a:xfrm>
          <a:prstGeom prst="rect">
            <a:avLst/>
          </a:prstGeom>
          <a:noFill/>
          <a:ln/>
        </p:spPr>
        <p:txBody>
          <a:bodyPr wrap="square" lIns="0" tIns="0" rIns="0" bIns="0" rtlCol="0" anchor="ctr"/>
          <a:lstStyle/>
          <a:p>
            <a:pPr indent="0" marL="0">
              <a:buNone/>
            </a:pPr>
            <a:r>
              <a:rPr lang="en-US" sz="2000" b="1" dirty="0">
                <a:solidFill>
                  <a:srgbClr val="12908F"/>
                </a:solidFill>
                <a:latin typeface="Calibri" pitchFamily="34" charset="0"/>
                <a:ea typeface="Calibri" pitchFamily="34" charset="-122"/>
                <a:cs typeface="Calibri" pitchFamily="34" charset="-120"/>
              </a:rPr>
              <a:t>4</a:t>
            </a:r>
            <a:endParaRPr lang="en-US" sz="2000" dirty="0"/>
          </a:p>
        </p:txBody>
      </p:sp>
      <p:sp>
        <p:nvSpPr>
          <p:cNvPr id="16" name="Text 14"/>
          <p:cNvSpPr/>
          <p:nvPr/>
        </p:nvSpPr>
        <p:spPr>
          <a:xfrm>
            <a:off x="1188720" y="4389120"/>
            <a:ext cx="6172200" cy="74980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Your question</a:t>
            </a:r>
            <a:endParaRPr lang="en-US" sz="1700" dirty="0"/>
          </a:p>
          <a:p>
            <a:pPr indent="0" marL="0">
              <a:buNone/>
            </a:pPr>
            <a:r>
              <a:rPr lang="en-US" sz="1500" dirty="0">
                <a:solidFill>
                  <a:srgbClr val="5F7284"/>
                </a:solidFill>
                <a:latin typeface="Calibri" pitchFamily="34" charset="0"/>
                <a:ea typeface="Calibri" pitchFamily="34" charset="-122"/>
                <a:cs typeface="Calibri" pitchFamily="34" charset="-120"/>
              </a:rPr>
              <a:t>The one the demo left open</a:t>
            </a:r>
            <a:endParaRPr lang="en-US" sz="1700" dirty="0"/>
          </a:p>
        </p:txBody>
      </p:sp>
      <p:sp>
        <p:nvSpPr>
          <p:cNvPr id="17" name="Shape 15"/>
          <p:cNvSpPr/>
          <p:nvPr/>
        </p:nvSpPr>
        <p:spPr>
          <a:xfrm>
            <a:off x="7772400" y="1783080"/>
            <a:ext cx="3840480" cy="3355848"/>
          </a:xfrm>
          <a:prstGeom prst="roundRect">
            <a:avLst>
              <a:gd name="adj" fmla="val 2452"/>
            </a:avLst>
          </a:prstGeom>
          <a:solidFill>
            <a:srgbClr val="14233A"/>
          </a:solidFill>
          <a:ln/>
          <a:effectLst>
            <a:outerShdw sx="100000" sy="100000" kx="0" ky="0" algn="bl" rotWithShape="0" blurRad="88900" dist="38100" dir="5400000">
              <a:srgbClr val="000000">
                <a:alpha val="13000"/>
              </a:srgbClr>
            </a:outerShdw>
          </a:effectLst>
        </p:spPr>
      </p:sp>
      <p:sp>
        <p:nvSpPr>
          <p:cNvPr id="18" name="Text 16"/>
          <p:cNvSpPr/>
          <p:nvPr/>
        </p:nvSpPr>
        <p:spPr>
          <a:xfrm>
            <a:off x="8046720" y="1783080"/>
            <a:ext cx="3383280" cy="3355848"/>
          </a:xfrm>
          <a:prstGeom prst="rect">
            <a:avLst/>
          </a:prstGeom>
          <a:noFill/>
          <a:ln/>
        </p:spPr>
        <p:txBody>
          <a:bodyPr wrap="square" lIns="0" tIns="0" rIns="0" bIns="0" rtlCol="0" anchor="ctr"/>
          <a:lstStyle/>
          <a:p>
            <a:pPr indent="0" marL="0">
              <a:lnSpc>
                <a:spcPct val="106000"/>
              </a:lnSpc>
              <a:buNone/>
            </a:pPr>
            <a:r>
              <a:rPr lang="en-US" sz="1700" b="1" dirty="0">
                <a:solidFill>
                  <a:srgbClr val="E8A33D"/>
                </a:solidFill>
                <a:latin typeface="Calibri" pitchFamily="34" charset="0"/>
                <a:ea typeface="Calibri" pitchFamily="34" charset="-122"/>
                <a:cs typeface="Calibri" pitchFamily="34" charset="-120"/>
              </a:rPr>
              <a:t>Feedback, not a grade</a:t>
            </a:r>
            <a:endParaRPr lang="en-US" sz="1700" dirty="0"/>
          </a:p>
          <a:p>
            <a:pPr indent="0" marL="0">
              <a:lnSpc>
                <a:spcPct val="106000"/>
              </a:lnSpc>
              <a:buNone/>
            </a:pPr>
            <a:r>
              <a:rPr lang="en-US" sz="1700" dirty="0">
                <a:solidFill>
                  <a:srgbClr val="CFE0E9"/>
                </a:solidFill>
                <a:latin typeface="Calibri" pitchFamily="34" charset="0"/>
                <a:ea typeface="Calibri" pitchFamily="34" charset="-122"/>
                <a:cs typeface="Calibri" pitchFamily="34" charset="-120"/>
              </a:rPr>
              <a:t>I score the demos. Your sheet is for the presenter: hand it over when their questions end. It goes into their fix list.</a:t>
            </a:r>
            <a:endParaRPr lang="en-US" sz="1700" dirty="0"/>
          </a:p>
        </p:txBody>
      </p:sp>
      <p:sp>
        <p:nvSpPr>
          <p:cNvPr id="19" name="Shape 17"/>
          <p:cNvSpPr/>
          <p:nvPr/>
        </p:nvSpPr>
        <p:spPr>
          <a:xfrm>
            <a:off x="548640" y="5394960"/>
            <a:ext cx="11064240" cy="777240"/>
          </a:xfrm>
          <a:prstGeom prst="roundRect">
            <a:avLst>
              <a:gd name="adj" fmla="val 10588"/>
            </a:avLst>
          </a:prstGeom>
          <a:solidFill>
            <a:srgbClr val="E8A33D"/>
          </a:solidFill>
          <a:ln/>
          <a:effectLst>
            <a:outerShdw sx="100000" sy="100000" kx="0" ky="0" algn="bl" rotWithShape="0" blurRad="88900" dist="38100" dir="5400000">
              <a:srgbClr val="000000">
                <a:alpha val="13000"/>
              </a:srgbClr>
            </a:outerShdw>
          </a:effectLst>
        </p:spPr>
      </p:sp>
      <p:sp>
        <p:nvSpPr>
          <p:cNvPr id="20" name="Text 18"/>
          <p:cNvSpPr/>
          <p:nvPr/>
        </p:nvSpPr>
        <p:spPr>
          <a:xfrm>
            <a:off x="868680" y="5394960"/>
            <a:ext cx="10424160" cy="77724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Specific and kind. "The checkout worked, but I never saw it marked out" beats "nice job."</a:t>
            </a:r>
            <a:endParaRPr lang="en-US" sz="1700" dirty="0"/>
          </a:p>
        </p:txBody>
      </p:sp>
      <p:sp>
        <p:nvSpPr>
          <p:cNvPr id="21" name="Text 1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22 · Demos &amp; Audit</a:t>
            </a:r>
            <a:endParaRPr lang="en-US" sz="1000" dirty="0"/>
          </a:p>
        </p:txBody>
      </p:sp>
      <p:sp>
        <p:nvSpPr>
          <p:cNvPr id="22" name="Text 2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REPO AUDIT · 30 MIN · EVERYONE AT ONCE</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Audit your partner while they audit you</a:t>
            </a:r>
            <a:endParaRPr lang="en-US" sz="3200" dirty="0"/>
          </a:p>
        </p:txBody>
      </p:sp>
      <p:sp>
        <p:nvSpPr>
          <p:cNvPr id="6" name="Shape 4"/>
          <p:cNvSpPr/>
          <p:nvPr/>
        </p:nvSpPr>
        <p:spPr>
          <a:xfrm>
            <a:off x="548640" y="1783080"/>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7" name="Text 5"/>
          <p:cNvSpPr/>
          <p:nvPr/>
        </p:nvSpPr>
        <p:spPr>
          <a:xfrm>
            <a:off x="777240" y="1783080"/>
            <a:ext cx="365760" cy="731520"/>
          </a:xfrm>
          <a:prstGeom prst="rect">
            <a:avLst/>
          </a:prstGeom>
          <a:noFill/>
          <a:ln/>
        </p:spPr>
        <p:txBody>
          <a:bodyPr wrap="square" lIns="0" tIns="0" rIns="0" bIns="0" rtlCol="0" anchor="ctr"/>
          <a:lstStyle/>
          <a:p>
            <a:pPr indent="0" marL="0">
              <a:buNone/>
            </a:pPr>
            <a:r>
              <a:rPr lang="en-US" sz="2000" b="1" dirty="0">
                <a:solidFill>
                  <a:srgbClr val="E8A33D"/>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234440" y="1783080"/>
            <a:ext cx="265176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Get it running</a:t>
            </a:r>
            <a:endParaRPr lang="en-US" sz="1800" dirty="0"/>
          </a:p>
        </p:txBody>
      </p:sp>
      <p:sp>
        <p:nvSpPr>
          <p:cNvPr id="9" name="Text 7"/>
          <p:cNvSpPr/>
          <p:nvPr/>
        </p:nvSpPr>
        <p:spPr>
          <a:xfrm>
            <a:off x="3886200" y="1783080"/>
            <a:ext cx="7543800" cy="731520"/>
          </a:xfrm>
          <a:prstGeom prst="rect">
            <a:avLst/>
          </a:prstGeom>
          <a:noFill/>
          <a:ln/>
        </p:spPr>
        <p:txBody>
          <a:bodyPr wrap="square" lIns="0" tIns="0" rIns="0" bIns="0" rtlCol="0" anchor="ctr"/>
          <a:lstStyle/>
          <a:p>
            <a:pPr indent="0" marL="0">
              <a:buNone/>
            </a:pPr>
            <a:r>
              <a:rPr lang="en-US" sz="1600" dirty="0">
                <a:solidFill>
                  <a:srgbClr val="CFE0E9"/>
                </a:solidFill>
                <a:latin typeface="Calibri" pitchFamily="34" charset="0"/>
                <a:ea typeface="Calibri" pitchFamily="34" charset="-122"/>
                <a:cs typeface="Calibri" pitchFamily="34" charset="-120"/>
              </a:rPr>
              <a:t>From their README, exactly as written. Each step: as written, a guess, wrong or missing, or couldn't.</a:t>
            </a:r>
            <a:endParaRPr lang="en-US" sz="1600" dirty="0"/>
          </a:p>
        </p:txBody>
      </p:sp>
      <p:sp>
        <p:nvSpPr>
          <p:cNvPr id="10" name="Shape 8"/>
          <p:cNvSpPr/>
          <p:nvPr/>
        </p:nvSpPr>
        <p:spPr>
          <a:xfrm>
            <a:off x="548640" y="2624328"/>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11" name="Text 9"/>
          <p:cNvSpPr/>
          <p:nvPr/>
        </p:nvSpPr>
        <p:spPr>
          <a:xfrm>
            <a:off x="777240" y="2624328"/>
            <a:ext cx="365760" cy="731520"/>
          </a:xfrm>
          <a:prstGeom prst="rect">
            <a:avLst/>
          </a:prstGeom>
          <a:noFill/>
          <a:ln/>
        </p:spPr>
        <p:txBody>
          <a:bodyPr wrap="square" lIns="0" tIns="0" rIns="0" bIns="0" rtlCol="0" anchor="ctr"/>
          <a:lstStyle/>
          <a:p>
            <a:pPr indent="0" marL="0">
              <a:buNone/>
            </a:pPr>
            <a:r>
              <a:rPr lang="en-US" sz="2000" b="1" dirty="0">
                <a:solidFill>
                  <a:srgbClr val="E8A33D"/>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1234440" y="2624328"/>
            <a:ext cx="265176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Find your way</a:t>
            </a:r>
            <a:endParaRPr lang="en-US" sz="1800" dirty="0"/>
          </a:p>
        </p:txBody>
      </p:sp>
      <p:sp>
        <p:nvSpPr>
          <p:cNvPr id="13" name="Text 11"/>
          <p:cNvSpPr/>
          <p:nvPr/>
        </p:nvSpPr>
        <p:spPr>
          <a:xfrm>
            <a:off x="3886200" y="2624328"/>
            <a:ext cx="7543800" cy="731520"/>
          </a:xfrm>
          <a:prstGeom prst="rect">
            <a:avLst/>
          </a:prstGeom>
          <a:noFill/>
          <a:ln/>
        </p:spPr>
        <p:txBody>
          <a:bodyPr wrap="square" lIns="0" tIns="0" rIns="0" bIns="0" rtlCol="0" anchor="ctr"/>
          <a:lstStyle/>
          <a:p>
            <a:pPr indent="0" marL="0">
              <a:buNone/>
            </a:pPr>
            <a:r>
              <a:rPr lang="en-US" sz="1600" dirty="0">
                <a:solidFill>
                  <a:srgbClr val="CFE0E9"/>
                </a:solidFill>
                <a:latin typeface="Calibri" pitchFamily="34" charset="0"/>
                <a:ea typeface="Calibri" pitchFamily="34" charset="-122"/>
                <a:cs typeface="Calibri" pitchFamily="34" charset="-120"/>
              </a:rPr>
              <a:t>Say what it is; pick a good first issue and find the code you'd change.</a:t>
            </a:r>
            <a:endParaRPr lang="en-US" sz="1600" dirty="0"/>
          </a:p>
        </p:txBody>
      </p:sp>
      <p:sp>
        <p:nvSpPr>
          <p:cNvPr id="14" name="Shape 12"/>
          <p:cNvSpPr/>
          <p:nvPr/>
        </p:nvSpPr>
        <p:spPr>
          <a:xfrm>
            <a:off x="548640" y="3465576"/>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15" name="Text 13"/>
          <p:cNvSpPr/>
          <p:nvPr/>
        </p:nvSpPr>
        <p:spPr>
          <a:xfrm>
            <a:off x="777240" y="3465576"/>
            <a:ext cx="365760" cy="731520"/>
          </a:xfrm>
          <a:prstGeom prst="rect">
            <a:avLst/>
          </a:prstGeom>
          <a:noFill/>
          <a:ln/>
        </p:spPr>
        <p:txBody>
          <a:bodyPr wrap="square" lIns="0" tIns="0" rIns="0" bIns="0" rtlCol="0" anchor="ctr"/>
          <a:lstStyle/>
          <a:p>
            <a:pPr indent="0" marL="0">
              <a:buNone/>
            </a:pPr>
            <a:r>
              <a:rPr lang="en-US" sz="2000" b="1" dirty="0">
                <a:solidFill>
                  <a:srgbClr val="E8A33D"/>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1234440" y="3465576"/>
            <a:ext cx="265176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Read the history</a:t>
            </a:r>
            <a:endParaRPr lang="en-US" sz="1800" dirty="0"/>
          </a:p>
        </p:txBody>
      </p:sp>
      <p:sp>
        <p:nvSpPr>
          <p:cNvPr id="17" name="Text 15"/>
          <p:cNvSpPr/>
          <p:nvPr/>
        </p:nvSpPr>
        <p:spPr>
          <a:xfrm>
            <a:off x="3886200" y="3465576"/>
            <a:ext cx="7543800" cy="731520"/>
          </a:xfrm>
          <a:prstGeom prst="rect">
            <a:avLst/>
          </a:prstGeom>
          <a:noFill/>
          <a:ln/>
        </p:spPr>
        <p:txBody>
          <a:bodyPr wrap="square" lIns="0" tIns="0" rIns="0" bIns="0" rtlCol="0" anchor="ctr"/>
          <a:lstStyle/>
          <a:p>
            <a:pPr indent="0" marL="0">
              <a:buNone/>
            </a:pPr>
            <a:r>
              <a:rPr lang="en-US" sz="1600" dirty="0">
                <a:solidFill>
                  <a:srgbClr val="CFE0E9"/>
                </a:solidFill>
                <a:latin typeface="Calibri" pitchFamily="34" charset="0"/>
                <a:ea typeface="Calibri" pitchFamily="34" charset="-122"/>
                <a:cs typeface="Calibri" pitchFamily="34" charset="-120"/>
              </a:rPr>
              <a:t>Commit log, pull requests, board, known issues, where to ask.</a:t>
            </a:r>
            <a:endParaRPr lang="en-US" sz="1600" dirty="0"/>
          </a:p>
        </p:txBody>
      </p:sp>
      <p:sp>
        <p:nvSpPr>
          <p:cNvPr id="18" name="Shape 16"/>
          <p:cNvSpPr/>
          <p:nvPr/>
        </p:nvSpPr>
        <p:spPr>
          <a:xfrm>
            <a:off x="548640" y="4306824"/>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19" name="Text 17"/>
          <p:cNvSpPr/>
          <p:nvPr/>
        </p:nvSpPr>
        <p:spPr>
          <a:xfrm>
            <a:off x="777240" y="4306824"/>
            <a:ext cx="365760" cy="731520"/>
          </a:xfrm>
          <a:prstGeom prst="rect">
            <a:avLst/>
          </a:prstGeom>
          <a:noFill/>
          <a:ln/>
        </p:spPr>
        <p:txBody>
          <a:bodyPr wrap="square" lIns="0" tIns="0" rIns="0" bIns="0" rtlCol="0" anchor="ctr"/>
          <a:lstStyle/>
          <a:p>
            <a:pPr indent="0" marL="0">
              <a:buNone/>
            </a:pPr>
            <a:r>
              <a:rPr lang="en-US" sz="2000" b="1" dirty="0">
                <a:solidFill>
                  <a:srgbClr val="E8A33D"/>
                </a:solidFill>
                <a:latin typeface="Calibri" pitchFamily="34" charset="0"/>
                <a:ea typeface="Calibri" pitchFamily="34" charset="-122"/>
                <a:cs typeface="Calibri" pitchFamily="34" charset="-120"/>
              </a:rPr>
              <a:t>4</a:t>
            </a:r>
            <a:endParaRPr lang="en-US" sz="2000" dirty="0"/>
          </a:p>
        </p:txBody>
      </p:sp>
      <p:sp>
        <p:nvSpPr>
          <p:cNvPr id="20" name="Text 18"/>
          <p:cNvSpPr/>
          <p:nvPr/>
        </p:nvSpPr>
        <p:spPr>
          <a:xfrm>
            <a:off x="1234440" y="4306824"/>
            <a:ext cx="265176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 every stall</a:t>
            </a:r>
            <a:endParaRPr lang="en-US" sz="1800" dirty="0"/>
          </a:p>
        </p:txBody>
      </p:sp>
      <p:sp>
        <p:nvSpPr>
          <p:cNvPr id="21" name="Text 19"/>
          <p:cNvSpPr/>
          <p:nvPr/>
        </p:nvSpPr>
        <p:spPr>
          <a:xfrm>
            <a:off x="3886200" y="4306824"/>
            <a:ext cx="7543800" cy="731520"/>
          </a:xfrm>
          <a:prstGeom prst="rect">
            <a:avLst/>
          </a:prstGeom>
          <a:noFill/>
          <a:ln/>
        </p:spPr>
        <p:txBody>
          <a:bodyPr wrap="square" lIns="0" tIns="0" rIns="0" bIns="0" rtlCol="0" anchor="ctr"/>
          <a:lstStyle/>
          <a:p>
            <a:pPr indent="0" marL="0">
              <a:buNone/>
            </a:pPr>
            <a:r>
              <a:rPr lang="en-US" sz="1600" dirty="0">
                <a:solidFill>
                  <a:srgbClr val="CFE0E9"/>
                </a:solidFill>
                <a:latin typeface="Calibri" pitchFamily="34" charset="0"/>
                <a:ea typeface="Calibri" pitchFamily="34" charset="-122"/>
                <a:cs typeface="Calibri" pitchFamily="34" charset="-120"/>
              </a:rPr>
              <a:t>The step, the exact error or confusing line, what you did. Number it.</a:t>
            </a:r>
            <a:endParaRPr lang="en-US" sz="1600" dirty="0"/>
          </a:p>
        </p:txBody>
      </p:sp>
      <p:sp>
        <p:nvSpPr>
          <p:cNvPr id="22" name="Shape 20"/>
          <p:cNvSpPr/>
          <p:nvPr/>
        </p:nvSpPr>
        <p:spPr>
          <a:xfrm>
            <a:off x="548640" y="5257800"/>
            <a:ext cx="11064240" cy="914400"/>
          </a:xfrm>
          <a:prstGeom prst="roundRect">
            <a:avLst>
              <a:gd name="adj" fmla="val 9000"/>
            </a:avLst>
          </a:prstGeom>
          <a:solidFill>
            <a:srgbClr val="E8A33D"/>
          </a:solidFill>
          <a:ln/>
          <a:effectLst>
            <a:outerShdw sx="100000" sy="100000" kx="0" ky="0" algn="bl" rotWithShape="0" blurRad="88900" dist="38100" dir="5400000">
              <a:srgbClr val="000000">
                <a:alpha val="13000"/>
              </a:srgbClr>
            </a:outerShdw>
          </a:effectLst>
        </p:spPr>
      </p:sp>
      <p:sp>
        <p:nvSpPr>
          <p:cNvPr id="23" name="Text 21"/>
          <p:cNvSpPr/>
          <p:nvPr/>
        </p:nvSpPr>
        <p:spPr>
          <a:xfrm>
            <a:off x="868680" y="5257800"/>
            <a:ext cx="10424160" cy="914400"/>
          </a:xfrm>
          <a:prstGeom prst="rect">
            <a:avLst/>
          </a:prstGeom>
          <a:noFill/>
          <a:ln/>
        </p:spPr>
        <p:txBody>
          <a:bodyPr wrap="square" lIns="0" tIns="0" rIns="0" bIns="0" rtlCol="0" anchor="ctr"/>
          <a:lstStyle/>
          <a:p>
            <a:pPr indent="0" marL="0">
              <a:lnSpc>
                <a:spcPct val="104000"/>
              </a:lnSpc>
              <a:buNone/>
            </a:pPr>
            <a:r>
              <a:rPr lang="en-US" sz="1650" b="1" dirty="0">
                <a:solidFill>
                  <a:srgbClr val="14233A"/>
                </a:solidFill>
                <a:latin typeface="Calibri" pitchFamily="34" charset="0"/>
                <a:ea typeface="Calibri" pitchFamily="34" charset="-122"/>
                <a:cs typeface="Calibri" pitchFamily="34" charset="-120"/>
              </a:rPr>
              <a:t>Docs alone, out loud, every stall written down.  </a:t>
            </a:r>
            <a:pPr indent="0" marL="0">
              <a:lnSpc>
                <a:spcPct val="104000"/>
              </a:lnSpc>
              <a:buNone/>
            </a:pPr>
            <a:r>
              <a:rPr lang="en-US" sz="1650" dirty="0">
                <a:solidFill>
                  <a:srgbClr val="14233A"/>
                </a:solidFill>
                <a:latin typeface="Calibri" pitchFamily="34" charset="0"/>
                <a:ea typeface="Calibri" pitchFamily="34" charset="-122"/>
                <a:cs typeface="Calibri" pitchFamily="34" charset="-120"/>
              </a:rPr>
              <a:t>Facts, not a score. Sign it and hand it to me; I photograph it and give it to the authors.</a:t>
            </a:r>
            <a:endParaRPr lang="en-US" sz="1650" dirty="0"/>
          </a:p>
        </p:txBody>
      </p:sp>
      <p:sp>
        <p:nvSpPr>
          <p:cNvPr id="24" name="Text 2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22 · Demos &amp; Audit</a:t>
            </a:r>
            <a:endParaRPr lang="en-US" sz="1000" dirty="0"/>
          </a:p>
        </p:txBody>
      </p:sp>
      <p:sp>
        <p:nvSpPr>
          <p:cNvPr id="25" name="Text 2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DEBRIEF · 4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Turn what you got today into a top-five fix list</a:t>
            </a:r>
            <a:endParaRPr lang="en-US" sz="3100" dirty="0"/>
          </a:p>
        </p:txBody>
      </p:sp>
      <p:sp>
        <p:nvSpPr>
          <p:cNvPr id="5" name="Shape 3"/>
          <p:cNvSpPr/>
          <p:nvPr/>
        </p:nvSpPr>
        <p:spPr>
          <a:xfrm>
            <a:off x="548640" y="1783080"/>
            <a:ext cx="5440680" cy="2377440"/>
          </a:xfrm>
          <a:prstGeom prst="roundRect">
            <a:avLst>
              <a:gd name="adj" fmla="val 3462"/>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822960" y="1783080"/>
            <a:ext cx="4937760" cy="2377440"/>
          </a:xfrm>
          <a:prstGeom prst="rect">
            <a:avLst/>
          </a:prstGeom>
          <a:noFill/>
          <a:ln/>
        </p:spPr>
        <p:txBody>
          <a:bodyPr wrap="square" lIns="0" tIns="0" rIns="0" bIns="0" rtlCol="0" anchor="ctr"/>
          <a:lstStyle/>
          <a:p>
            <a:pPr indent="0" marL="0">
              <a:lnSpc>
                <a:spcPct val="105000"/>
              </a:lnSpc>
              <a:buNone/>
            </a:pPr>
            <a:r>
              <a:rPr lang="en-US" sz="1700" b="1" dirty="0">
                <a:solidFill>
                  <a:srgbClr val="0E6E6D"/>
                </a:solidFill>
                <a:latin typeface="Calibri" pitchFamily="34" charset="0"/>
                <a:ea typeface="Calibri" pitchFamily="34" charset="-122"/>
                <a:cs typeface="Calibri" pitchFamily="34" charset="-120"/>
              </a:rPr>
              <a:t>From your audit sheet</a:t>
            </a:r>
            <a:endParaRPr lang="en-US" sz="1700" dirty="0"/>
          </a:p>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Every stall your auditor logged, and the one thing that most stopped them</a:t>
            </a:r>
            <a:endParaRPr lang="en-US" sz="1700" dirty="0"/>
          </a:p>
          <a:p>
            <a:pPr indent="0" marL="0">
              <a:lnSpc>
                <a:spcPct val="105000"/>
              </a:lnSpc>
              <a:buNone/>
            </a:pPr>
            <a:r>
              <a:rPr lang="en-US" sz="800" dirty="0">
                <a:solidFill>
                  <a:srgbClr val="000000"/>
                </a:solidFill>
                <a:latin typeface="Calibri" pitchFamily="34" charset="0"/>
                <a:ea typeface="Calibri" pitchFamily="34" charset="-122"/>
                <a:cs typeface="Calibri" pitchFamily="34" charset="-120"/>
              </a:rPr>
              <a:t> </a:t>
            </a:r>
            <a:endParaRPr lang="en-US" sz="1700" dirty="0"/>
          </a:p>
          <a:p>
            <a:pPr indent="0" marL="0">
              <a:lnSpc>
                <a:spcPct val="105000"/>
              </a:lnSpc>
              <a:buNone/>
            </a:pPr>
            <a:r>
              <a:rPr lang="en-US" sz="1700" b="1" dirty="0">
                <a:solidFill>
                  <a:srgbClr val="0E6E6D"/>
                </a:solidFill>
                <a:latin typeface="Calibri" pitchFamily="34" charset="0"/>
                <a:ea typeface="Calibri" pitchFamily="34" charset="-122"/>
                <a:cs typeface="Calibri" pitchFamily="34" charset="-120"/>
              </a:rPr>
              <a:t>From the demo feedback</a:t>
            </a:r>
            <a:endParaRPr lang="en-US" sz="1700" dirty="0"/>
          </a:p>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What wasn't proven, and the questions people still had</a:t>
            </a:r>
            <a:endParaRPr lang="en-US" sz="1700" dirty="0"/>
          </a:p>
        </p:txBody>
      </p:sp>
      <p:sp>
        <p:nvSpPr>
          <p:cNvPr id="7" name="Shape 5"/>
          <p:cNvSpPr/>
          <p:nvPr/>
        </p:nvSpPr>
        <p:spPr>
          <a:xfrm>
            <a:off x="6172200" y="1783080"/>
            <a:ext cx="5440680" cy="2377440"/>
          </a:xfrm>
          <a:prstGeom prst="roundRect">
            <a:avLst>
              <a:gd name="adj" fmla="val 3462"/>
            </a:avLst>
          </a:prstGeom>
          <a:solidFill>
            <a:srgbClr val="14233A"/>
          </a:solidFill>
          <a:ln/>
          <a:effectLst>
            <a:outerShdw sx="100000" sy="100000" kx="0" ky="0" algn="bl" rotWithShape="0" blurRad="88900" dist="38100" dir="5400000">
              <a:srgbClr val="000000">
                <a:alpha val="13000"/>
              </a:srgbClr>
            </a:outerShdw>
          </a:effectLst>
        </p:spPr>
      </p:sp>
      <p:sp>
        <p:nvSpPr>
          <p:cNvPr id="8" name="Text 6"/>
          <p:cNvSpPr/>
          <p:nvPr/>
        </p:nvSpPr>
        <p:spPr>
          <a:xfrm>
            <a:off x="6446520" y="1783080"/>
            <a:ext cx="4937760" cy="2377440"/>
          </a:xfrm>
          <a:prstGeom prst="rect">
            <a:avLst/>
          </a:prstGeom>
          <a:noFill/>
          <a:ln/>
        </p:spPr>
        <p:txBody>
          <a:bodyPr wrap="square" lIns="0" tIns="0" rIns="0" bIns="0" rtlCol="0" anchor="ctr"/>
          <a:lstStyle/>
          <a:p>
            <a:pPr indent="0" marL="0">
              <a:lnSpc>
                <a:spcPct val="106000"/>
              </a:lnSpc>
              <a:buNone/>
            </a:pPr>
            <a:r>
              <a:rPr lang="en-US" sz="1700" b="1" dirty="0">
                <a:solidFill>
                  <a:srgbClr val="E8A33D"/>
                </a:solidFill>
                <a:latin typeface="Calibri" pitchFamily="34" charset="0"/>
                <a:ea typeface="Calibri" pitchFamily="34" charset="-122"/>
                <a:cs typeface="Calibri" pitchFamily="34" charset="-120"/>
              </a:rPr>
              <a:t>Rank by launch impact</a:t>
            </a:r>
            <a:endParaRPr lang="en-US" sz="1700" dirty="0"/>
          </a:p>
          <a:p>
            <a:pPr indent="0" marL="0">
              <a:lnSpc>
                <a:spcPct val="106000"/>
              </a:lnSpc>
              <a:buNone/>
            </a:pPr>
            <a:r>
              <a:rPr lang="en-US" sz="1700" dirty="0">
                <a:solidFill>
                  <a:srgbClr val="FFFFFF"/>
                </a:solidFill>
                <a:latin typeface="Calibri" pitchFamily="34" charset="0"/>
                <a:ea typeface="Calibri" pitchFamily="34" charset="-122"/>
                <a:cs typeface="Calibri" pitchFamily="34" charset="-120"/>
              </a:rPr>
              <a:t>What would stop a newcomer from joining, or a user from getting through? Those go first. Bring the list Monday: it's the studio agenda until launch.</a:t>
            </a:r>
            <a:endParaRPr lang="en-US" sz="1700" dirty="0"/>
          </a:p>
        </p:txBody>
      </p:sp>
      <p:sp>
        <p:nvSpPr>
          <p:cNvPr id="9" name="click-1"/>
          <p:cNvSpPr/>
          <p:nvPr/>
        </p:nvSpPr>
        <p:spPr>
          <a:xfrm>
            <a:off x="548640" y="4434840"/>
            <a:ext cx="11064240" cy="1188720"/>
          </a:xfrm>
          <a:prstGeom prst="roundRect">
            <a:avLst>
              <a:gd name="adj" fmla="val 6923"/>
            </a:avLst>
          </a:prstGeom>
          <a:solidFill>
            <a:srgbClr val="E8A33D"/>
          </a:solidFill>
          <a:ln/>
          <a:effectLst>
            <a:outerShdw sx="100000" sy="100000" kx="0" ky="0" algn="bl" rotWithShape="0" blurRad="88900" dist="38100" dir="5400000">
              <a:srgbClr val="000000">
                <a:alpha val="13000"/>
              </a:srgbClr>
            </a:outerShdw>
          </a:effectLst>
        </p:spPr>
      </p:sp>
      <p:sp>
        <p:nvSpPr>
          <p:cNvPr id="10" name="click-1"/>
          <p:cNvSpPr/>
          <p:nvPr/>
        </p:nvSpPr>
        <p:spPr>
          <a:xfrm>
            <a:off x="868680" y="4434840"/>
            <a:ext cx="10424160" cy="1188720"/>
          </a:xfrm>
          <a:prstGeom prst="rect">
            <a:avLst/>
          </a:prstGeom>
          <a:noFill/>
          <a:ln/>
        </p:spPr>
        <p:txBody>
          <a:bodyPr wrap="square" lIns="0" tIns="0" rIns="0" bIns="0" rtlCol="0" anchor="ctr"/>
          <a:lstStyle/>
          <a:p>
            <a:pPr indent="0" marL="0">
              <a:buNone/>
            </a:pPr>
            <a:r>
              <a:rPr lang="en-US" sz="1900" b="1" dirty="0">
                <a:solidFill>
                  <a:srgbClr val="14233A"/>
                </a:solidFill>
                <a:latin typeface="Calibri" pitchFamily="34" charset="0"/>
                <a:ea typeface="Calibri" pitchFamily="34" charset="-122"/>
                <a:cs typeface="Calibri" pitchFamily="34" charset="-120"/>
              </a:rPr>
              <a:t>Round the room: what was the most surprising thing a stranger tripped on?</a:t>
            </a:r>
            <a:endParaRPr lang="en-US" sz="1900" dirty="0"/>
          </a:p>
        </p:txBody>
      </p:sp>
      <p:sp>
        <p:nvSpPr>
          <p:cNvPr id="11" name="Text 9"/>
          <p:cNvSpPr/>
          <p:nvPr/>
        </p:nvSpPr>
        <p:spPr>
          <a:xfrm>
            <a:off x="548640" y="5852160"/>
            <a:ext cx="11064240" cy="365760"/>
          </a:xfrm>
          <a:prstGeom prst="rect">
            <a:avLst/>
          </a:prstGeom>
          <a:noFill/>
          <a:ln/>
        </p:spPr>
        <p:txBody>
          <a:bodyPr wrap="square" lIns="0" tIns="0" rIns="0" bIns="0" rtlCol="0" anchor="ctr"/>
          <a:lstStyle/>
          <a:p>
            <a:pPr indent="0" marL="0">
              <a:buNone/>
            </a:pPr>
            <a:r>
              <a:rPr lang="en-US" sz="1700" b="1" i="1" dirty="0">
                <a:solidFill>
                  <a:srgbClr val="0E6E6D"/>
                </a:solidFill>
                <a:latin typeface="Calibri" pitchFamily="34" charset="0"/>
                <a:ea typeface="Calibri" pitchFamily="34" charset="-122"/>
                <a:cs typeface="Calibri" pitchFamily="34" charset="-120"/>
              </a:rPr>
              <a:t>Whatever you don't fix gets written down in your known issues.</a:t>
            </a:r>
            <a:endParaRPr lang="en-US" sz="1700" dirty="0"/>
          </a:p>
        </p:txBody>
      </p:sp>
      <p:sp>
        <p:nvSpPr>
          <p:cNvPr id="12" name="Text 1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22 · Demos &amp; Audit</a:t>
            </a:r>
            <a:endParaRPr lang="en-US" sz="1000" dirty="0"/>
          </a:p>
        </p:txBody>
      </p:sp>
      <p:sp>
        <p:nvSpPr>
          <p:cNvPr id="13" name="Text 1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914400"/>
            <a:ext cx="777240" cy="77724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32815" y="1124255"/>
            <a:ext cx="357530" cy="357530"/>
          </a:xfrm>
          <a:prstGeom prst="rect">
            <a:avLst/>
          </a:prstGeom>
        </p:spPr>
      </p:pic>
      <p:sp>
        <p:nvSpPr>
          <p:cNvPr id="5" name="Text 2"/>
          <p:cNvSpPr/>
          <p:nvPr/>
        </p:nvSpPr>
        <p:spPr>
          <a:xfrm>
            <a:off x="822960" y="1828800"/>
            <a:ext cx="10881360" cy="914400"/>
          </a:xfrm>
          <a:prstGeom prst="rect">
            <a:avLst/>
          </a:prstGeom>
          <a:noFill/>
          <a:ln/>
        </p:spPr>
        <p:txBody>
          <a:bodyPr wrap="square" lIns="0" tIns="0" rIns="0" bIns="0" rtlCol="0" anchor="ctr"/>
          <a:lstStyle/>
          <a:p>
            <a:pPr indent="0" marL="0">
              <a:buNone/>
            </a:pPr>
            <a:r>
              <a:rPr lang="en-US" sz="2600" b="1" i="1" dirty="0">
                <a:solidFill>
                  <a:srgbClr val="FFFFFF"/>
                </a:solidFill>
                <a:latin typeface="Cambria" pitchFamily="34" charset="0"/>
                <a:ea typeface="Cambria" pitchFamily="34" charset="-122"/>
                <a:cs typeface="Cambria" pitchFamily="34" charset="-120"/>
              </a:rPr>
              <a:t>The audit sheet is a gift. The fix list is the plan.</a:t>
            </a:r>
            <a:endParaRPr lang="en-US" sz="2600" dirty="0"/>
          </a:p>
        </p:txBody>
      </p:sp>
      <p:sp>
        <p:nvSpPr>
          <p:cNvPr id="6" name="Text 3"/>
          <p:cNvSpPr/>
          <p:nvPr/>
        </p:nvSpPr>
        <p:spPr>
          <a:xfrm>
            <a:off x="841248" y="292608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THE ROAD TO LAUNCH</a:t>
            </a:r>
            <a:endParaRPr lang="en-US" sz="1400" dirty="0"/>
          </a:p>
        </p:txBody>
      </p:sp>
      <p:sp>
        <p:nvSpPr>
          <p:cNvPr id="7" name="Text 4"/>
          <p:cNvSpPr/>
          <p:nvPr/>
        </p:nvSpPr>
        <p:spPr>
          <a:xfrm>
            <a:off x="868680" y="3310128"/>
            <a:ext cx="10698480" cy="196596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CBD8E6"/>
                </a:solidFill>
                <a:latin typeface="Calibri" pitchFamily="34" charset="0"/>
                <a:ea typeface="Calibri" pitchFamily="34" charset="-122"/>
                <a:cs typeface="Calibri" pitchFamily="34" charset="-120"/>
              </a:rPr>
              <a:t>Monday, Nov 23: contributor readiness, the last teaching session before launch work</a:t>
            </a:r>
            <a:endParaRPr lang="en-US" sz="1700" dirty="0"/>
          </a:p>
          <a:p>
            <a:pPr marL="203200" indent="-203200">
              <a:spcAft>
                <a:spcPts val="600"/>
              </a:spcAft>
              <a:buSzPct val="100000"/>
              <a:buChar char="•"/>
            </a:pPr>
            <a:r>
              <a:rPr lang="en-US" sz="1700" dirty="0">
                <a:solidFill>
                  <a:srgbClr val="CBD8E6"/>
                </a:solidFill>
                <a:latin typeface="Calibri" pitchFamily="34" charset="0"/>
                <a:ea typeface="Calibri" pitchFamily="34" charset="-122"/>
                <a:cs typeface="Calibri" pitchFamily="34" charset="-120"/>
              </a:rPr>
              <a:t>Wednesday, Nov 25: no class (Thanksgiving)</a:t>
            </a:r>
            <a:endParaRPr lang="en-US" sz="1700" dirty="0"/>
          </a:p>
          <a:p>
            <a:pPr marL="203200" indent="-203200">
              <a:spcAft>
                <a:spcPts val="600"/>
              </a:spcAft>
              <a:buSzPct val="100000"/>
              <a:buChar char="•"/>
            </a:pPr>
            <a:r>
              <a:rPr lang="en-US" sz="1700" dirty="0">
                <a:solidFill>
                  <a:srgbClr val="CBD8E6"/>
                </a:solidFill>
                <a:latin typeface="Calibri" pitchFamily="34" charset="0"/>
                <a:ea typeface="Calibri" pitchFamily="34" charset="-122"/>
                <a:cs typeface="Calibri" pitchFamily="34" charset="-120"/>
              </a:rPr>
              <a:t>Week 13: retrospective and the launch package (CP11, Dec 2)</a:t>
            </a:r>
            <a:endParaRPr lang="en-US" sz="1700" dirty="0"/>
          </a:p>
          <a:p>
            <a:pPr marL="203200" indent="-203200">
              <a:buSzPct val="100000"/>
              <a:buChar char="•"/>
            </a:pPr>
            <a:r>
              <a:rPr lang="en-US" sz="1700" dirty="0">
                <a:solidFill>
                  <a:srgbClr val="CBD8E6"/>
                </a:solidFill>
                <a:latin typeface="Calibri" pitchFamily="34" charset="0"/>
                <a:ea typeface="Calibri" pitchFamily="34" charset="-122"/>
                <a:cs typeface="Calibri" pitchFamily="34" charset="-120"/>
              </a:rPr>
              <a:t>Week 14: dry run and final studio. Then Demo Day, in finals week.</a:t>
            </a:r>
            <a:endParaRPr lang="en-US" sz="1700" dirty="0"/>
          </a:p>
        </p:txBody>
      </p:sp>
      <p:sp>
        <p:nvSpPr>
          <p:cNvPr id="8" name="Shape 5"/>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9" name="Text 6"/>
          <p:cNvSpPr/>
          <p:nvPr/>
        </p:nvSpPr>
        <p:spPr>
          <a:xfrm>
            <a:off x="822960" y="5440680"/>
            <a:ext cx="10515600" cy="731520"/>
          </a:xfrm>
          <a:prstGeom prst="rect">
            <a:avLst/>
          </a:prstGeom>
          <a:noFill/>
          <a:ln/>
        </p:spPr>
        <p:txBody>
          <a:bodyPr wrap="square" lIns="0" tIns="0" rIns="0" bIns="0" rtlCol="0" anchor="ctr"/>
          <a:lstStyle/>
          <a:p>
            <a:pPr algn="ctr" indent="0" marL="0">
              <a:buNone/>
            </a:pPr>
            <a:r>
              <a:rPr lang="en-US" sz="1600" b="1" dirty="0">
                <a:solidFill>
                  <a:srgbClr val="14233A"/>
                </a:solidFill>
                <a:latin typeface="Calibri" pitchFamily="34" charset="0"/>
                <a:ea typeface="Calibri" pitchFamily="34" charset="-122"/>
                <a:cs typeface="Calibri" pitchFamily="34" charset="-120"/>
              </a:rPr>
              <a:t>Before Monday: your top-five fix list, written and ranked. Happy Thanksgiving.</a:t>
            </a:r>
            <a:endParaRPr lang="en-US" sz="1600" dirty="0"/>
          </a:p>
        </p:txBody>
      </p:sp>
      <p:sp>
        <p:nvSpPr>
          <p:cNvPr id="10" name="Text 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22 · Demos &amp; Audit</a:t>
            </a:r>
            <a:endParaRPr lang="en-US" sz="1000" dirty="0"/>
          </a:p>
        </p:txBody>
      </p:sp>
      <p:sp>
        <p:nvSpPr>
          <p:cNvPr id="11" name="Text 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22 — Demos &amp; Audit</dc:title>
  <dc:subject>PptxGenJS Presentation</dc:subject>
  <dc:creator>CS 301R</dc:creator>
  <cp:lastModifiedBy>CS 301R</cp:lastModifiedBy>
  <cp:revision>1</cp:revision>
  <dcterms:created xsi:type="dcterms:W3CDTF">2026-10-30T23:22:06Z</dcterms:created>
  <dcterms:modified xsi:type="dcterms:W3CDTF">2026-10-30T23:22:06Z</dcterms:modified>
</cp:coreProperties>
</file>