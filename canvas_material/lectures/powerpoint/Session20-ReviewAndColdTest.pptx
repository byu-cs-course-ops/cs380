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61520" cy="6858000"/>
  <p:notesSz cx="6858000" cy="1216152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class: the review sheets printed, one per pairing, and pairings on the board. Open Prop Loft's docs/setup.md at the session-20 tag in a tab. Check the night before which projects have a setup-guide PR open; anyone without one still cold-tests, on whatever the README says, and writes the guide tonight. Laptops required. The MVP Plan revision is due end of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Two halves. The review is familiar by now, so it runs fast. The highlighted row is the reason today needs the room: a cold test only works with someone else at the keyboard and the author kept out of it. Nobody writes their guide in class; it was due on a PR before you walked in. If the review runs long, take time from it, never from the cold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minutes. Both halves of today are things an author can't check alone: you can't review your own plan with fresh eyes, and you can't follow your own guide as a stranger. Click: write the arithmetic on the board. Seven days, and the last one is a freeze, because the cp10 tag goes up the night before. Everything in today's review is judged against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to set up, then run the clock out loud. Most of you are solo, so pairing is founder with review partner. Writing before talking matters: a reviewer who talks first reviews what they remember, not what's on the page. Click: no revision block in class anymore. The sheet goes home with the authors, and the revised plan is due end of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Ninety seconds, one click per question. Scope: ask what they would cut first, because a reviewer naming the cut makes it easy for the author to accept. Proof: the most common gap is a demo that tours screens instead of walking the claims in rank order. Risk: the next slide. The bottom line matters: a plan that needs its author to explain it isn't finished.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Ninety seconds. These are patterns for the reviewer to look for in the plan's fallback line. Seed data and local mode are the real fallbacks; they make the live demo survivable. The clip is in red on purpose: it's allowed, but declared in advance, and it costs a level on Demo readiness unless the failure was the room's. Click: the fallback isn't pessimism; it's craft.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as the review closes. The revision used to happen in class; it's homework now, so say what a revision is: at least one thing moved or tightened. The navy box answers the question students ask: yes, this one is graded. The Canvas entry is complete or incomplete, but the plan is scored once, from tonight's version, inside CP10. Later amendments change what the demo is judged against, not this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Ninety seconds. Read the left column and ask for hands: who has one of these on their own machine right now? Everyone does. Click: that's why a cold reader is the only real test. Second click: the general point. Nobody files an issue saying your setup broke; they close the tab. In this course the same guide is followed cold at the audit next Wednesday, for a grade. Today is the practice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You read this on the Session 20 page before writing, so this is a reminder, not a lesson. Each row shows the part and Prop Loft's version of it. The ones students skip: versions, because their version works for them; and When a step fails, because they fixed those failures and forgot. If you hit a failure while writing, that's the entry.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open the real file in the tab if you can. Left: one step, one command, and a You should see after a step that could fail without saying so. Click: put checkpoints where a reader can't tell, not after every line. Right: a failure entry. Second click: it starts with the error text exactly as the terminal prints it, because that's what a stuck reader searches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minutes, timed. Authors mark their own guide against the five, honestly; a missing part found now is cheaper than one the partner finds. One fix only: the cold test starts in four minutes, and the point is to test the guide as it is. Anyone without a guide on a PR: your partner tests your README instead, and you write the guide tonight. Make sure branch names are exchanged before the clock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for the whole block. Both partners test at once, so everyone is a reader and an author. Fresh clone is the bar, not a clean machine. Circulate; the most common failure is a prerequisite the author forgot they had. Nobody watches their own guide being run, because everyone is busy running someone else's; the rule is not to lean over and ask. The five-minute rule keeps a bad step from eating the block; a guide nobody can finish in thirty minutes is a finding, not the reader's failure. Call time at 15 and 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before the block starts or at the first check-in. The example is invented, in a stack none of you use, so nobody's guide is on the screen. Click: the four habits. These issues are good technical writing in miniature, and they count for both of you: CP9 accepts the issues your cold tester filed and your replies to them. A one-line issue that says step 3 broke is a missed portfolio piece.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and nobody fixes anything in class: there isn't time, and a rushed fix is how a guide gets a second bug. Reading all the issues first matters, because three issues often trace to one missing line. The fixes go first in Ready, ahead of new features, because the audit follows this guide next Wednesday. Closed issues are evidence, so don't delete or hide them; the auditor next week sees a guide that was tested and fixed. Click: go round the room, one project at a time, and ask the three questions. Anyone missing one leaves with a specific thing to do tonight.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Say the one-liner. Tonight is the plan; the guide can wait until the weekend, but not past Monday, because Monday reruns the fresh clone on main. Rehearse the demo path on main, not on your branch: that's what the cp10 tag will hold. CP9 is quality-graded and due the same day as the demo, so the portfolio goes together this weekend, not Tuesday 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9966960" y="-1280160"/>
            <a:ext cx="3840480" cy="3840480"/>
          </a:xfrm>
          <a:prstGeom prst="ellipse">
            <a:avLst/>
          </a:prstGeom>
          <a:solidFill>
            <a:srgbClr val="1C3252"/>
          </a:solidFill>
          <a:ln/>
        </p:spPr>
      </p:sp>
      <p:sp>
        <p:nvSpPr>
          <p:cNvPr id="3" name="Shape 1"/>
          <p:cNvSpPr/>
          <p:nvPr/>
        </p:nvSpPr>
        <p:spPr>
          <a:xfrm>
            <a:off x="10972800" y="4663440"/>
            <a:ext cx="2743200" cy="2743200"/>
          </a:xfrm>
          <a:prstGeom prst="ellipse">
            <a:avLst/>
          </a:prstGeom>
          <a:solidFill>
            <a:srgbClr val="1C3252"/>
          </a:solidFill>
          <a:ln/>
        </p:spPr>
      </p:sp>
      <p:sp>
        <p:nvSpPr>
          <p:cNvPr id="4" name="Shape 2"/>
          <p:cNvSpPr/>
          <p:nvPr/>
        </p:nvSpPr>
        <p:spPr>
          <a:xfrm>
            <a:off x="822960" y="1325880"/>
            <a:ext cx="914400" cy="914400"/>
          </a:xfrm>
          <a:prstGeom prst="ellipse">
            <a:avLst/>
          </a:prstGeom>
          <a:solidFill>
            <a:srgbClr val="E8A33D"/>
          </a:solidFill>
          <a:ln/>
        </p:spPr>
      </p:sp>
      <p:pic>
        <p:nvPicPr>
          <p:cNvPr id="5" name="Image 0" descr="preencoded.png">    </p:cNvPr>
          <p:cNvPicPr>
            <a:picLocks noChangeAspect="1"/>
          </p:cNvPicPr>
          <p:nvPr/>
        </p:nvPicPr>
        <p:blipFill>
          <a:blip r:embed="rId1"/>
          <a:stretch>
            <a:fillRect/>
          </a:stretch>
        </p:blipFill>
        <p:spPr>
          <a:xfrm>
            <a:off x="1069848" y="1572768"/>
            <a:ext cx="420624" cy="420624"/>
          </a:xfrm>
          <a:prstGeom prst="rect">
            <a:avLst/>
          </a:prstGeom>
        </p:spPr>
      </p:pic>
      <p:sp>
        <p:nvSpPr>
          <p:cNvPr id="6" name="Text 3"/>
          <p:cNvSpPr/>
          <p:nvPr/>
        </p:nvSpPr>
        <p:spPr>
          <a:xfrm>
            <a:off x="841248" y="2514600"/>
            <a:ext cx="10058400" cy="320040"/>
          </a:xfrm>
          <a:prstGeom prst="rect">
            <a:avLst/>
          </a:prstGeom>
          <a:noFill/>
          <a:ln/>
        </p:spPr>
        <p:txBody>
          <a:bodyPr wrap="square" lIns="0" tIns="0" rIns="0" bIns="0" rtlCol="0" anchor="ctr"/>
          <a:lstStyle/>
          <a:p>
            <a:pPr indent="0" marL="0">
              <a:buNone/>
            </a:pPr>
            <a:r>
              <a:rPr lang="en-US" sz="1500" b="1" spc="200" kern="0" dirty="0">
                <a:solidFill>
                  <a:srgbClr val="9FB4C7"/>
                </a:solidFill>
                <a:latin typeface="Calibri" pitchFamily="34" charset="0"/>
                <a:ea typeface="Calibri" pitchFamily="34" charset="-122"/>
                <a:cs typeface="Calibri" pitchFamily="34" charset="-120"/>
              </a:rPr>
              <a:t>CS 301R · SOFTWARE ENGINEERING STUDIO I</a:t>
            </a:r>
            <a:endParaRPr lang="en-US" sz="1500" dirty="0"/>
          </a:p>
        </p:txBody>
      </p:sp>
      <p:sp>
        <p:nvSpPr>
          <p:cNvPr id="7" name="Text 4"/>
          <p:cNvSpPr/>
          <p:nvPr/>
        </p:nvSpPr>
        <p:spPr>
          <a:xfrm>
            <a:off x="822960" y="2880360"/>
            <a:ext cx="11064240" cy="118872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A Promise, Then a Stranger</a:t>
            </a:r>
            <a:endParaRPr lang="en-US" sz="4200" dirty="0"/>
          </a:p>
        </p:txBody>
      </p:sp>
      <p:sp>
        <p:nvSpPr>
          <p:cNvPr id="8" name="Text 5"/>
          <p:cNvSpPr/>
          <p:nvPr/>
        </p:nvSpPr>
        <p:spPr>
          <a:xfrm>
            <a:off x="841248" y="4297680"/>
            <a:ext cx="10058400" cy="822960"/>
          </a:xfrm>
          <a:prstGeom prst="rect">
            <a:avLst/>
          </a:prstGeom>
          <a:noFill/>
          <a:ln/>
        </p:spPr>
        <p:txBody>
          <a:bodyPr wrap="square" lIns="0" tIns="0" rIns="0" bIns="0" rtlCol="0" anchor="ctr"/>
          <a:lstStyle/>
          <a:p>
            <a:pPr indent="0" marL="0">
              <a:lnSpc>
                <a:spcPct val="120000"/>
              </a:lnSpc>
              <a:buNone/>
            </a:pPr>
            <a:r>
              <a:rPr lang="en-US" sz="1900" b="1" dirty="0">
                <a:solidFill>
                  <a:srgbClr val="E8A33D"/>
                </a:solidFill>
                <a:latin typeface="Calibri" pitchFamily="34" charset="0"/>
                <a:ea typeface="Calibri" pitchFamily="34" charset="-122"/>
                <a:cs typeface="Calibri" pitchFamily="34" charset="-120"/>
              </a:rPr>
              <a:t>Session 20 — MVP-plan review and the setup guide's cold test</a:t>
            </a:r>
            <a:endParaRPr lang="en-US" sz="1900" dirty="0"/>
          </a:p>
          <a:p>
            <a:pPr indent="0" marL="0">
              <a:lnSpc>
                <a:spcPct val="120000"/>
              </a:lnSpc>
              <a:buNone/>
            </a:pPr>
            <a:r>
              <a:rPr lang="en-US" sz="1900" dirty="0">
                <a:solidFill>
                  <a:srgbClr val="9FB4C7"/>
                </a:solidFill>
                <a:latin typeface="Calibri" pitchFamily="34" charset="0"/>
                <a:ea typeface="Calibri" pitchFamily="34" charset="-122"/>
                <a:cs typeface="Calibri" pitchFamily="34" charset="-120"/>
              </a:rPr>
              <a:t>Wednesday, November 11, 2026</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TODAY</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One outside read, then a stranger runs your guide</a:t>
            </a:r>
            <a:endParaRPr lang="en-US" sz="3100" dirty="0"/>
          </a:p>
        </p:txBody>
      </p:sp>
      <p:sp>
        <p:nvSpPr>
          <p:cNvPr id="5" name="Shape 3"/>
          <p:cNvSpPr/>
          <p:nvPr/>
        </p:nvSpPr>
        <p:spPr>
          <a:xfrm>
            <a:off x="548640" y="1828800"/>
            <a:ext cx="11064240" cy="713232"/>
          </a:xfrm>
          <a:prstGeom prst="roundRect">
            <a:avLst>
              <a:gd name="adj" fmla="val 11538"/>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804672" y="1947672"/>
            <a:ext cx="475488" cy="475488"/>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933054" y="2076054"/>
            <a:ext cx="218724" cy="218724"/>
          </a:xfrm>
          <a:prstGeom prst="rect">
            <a:avLst/>
          </a:prstGeom>
        </p:spPr>
      </p:pic>
      <p:sp>
        <p:nvSpPr>
          <p:cNvPr id="8" name="Text 5"/>
          <p:cNvSpPr/>
          <p:nvPr/>
        </p:nvSpPr>
        <p:spPr>
          <a:xfrm>
            <a:off x="1508760" y="1828800"/>
            <a:ext cx="8229600" cy="713232"/>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The plan is a promise; the guide needs a stranger</a:t>
            </a:r>
            <a:endParaRPr lang="en-US" sz="1800" dirty="0"/>
          </a:p>
        </p:txBody>
      </p:sp>
      <p:sp>
        <p:nvSpPr>
          <p:cNvPr id="9" name="Text 6"/>
          <p:cNvSpPr/>
          <p:nvPr/>
        </p:nvSpPr>
        <p:spPr>
          <a:xfrm>
            <a:off x="9692640" y="1828800"/>
            <a:ext cx="1645920" cy="713232"/>
          </a:xfrm>
          <a:prstGeom prst="rect">
            <a:avLst/>
          </a:prstGeom>
          <a:noFill/>
          <a:ln/>
        </p:spPr>
        <p:txBody>
          <a:bodyPr wrap="square" lIns="0" tIns="0" rIns="0" bIns="0" rtlCol="0" anchor="ctr"/>
          <a:lstStyle/>
          <a:p>
            <a:pPr algn="r" indent="0" marL="0">
              <a:buNone/>
            </a:pPr>
            <a:r>
              <a:rPr lang="en-US" sz="1600" b="1" dirty="0">
                <a:solidFill>
                  <a:srgbClr val="5F7284"/>
                </a:solidFill>
                <a:latin typeface="Calibri" pitchFamily="34" charset="0"/>
                <a:ea typeface="Calibri" pitchFamily="34" charset="-122"/>
                <a:cs typeface="Calibri" pitchFamily="34" charset="-120"/>
              </a:rPr>
              <a:t>4 min</a:t>
            </a:r>
            <a:endParaRPr lang="en-US" sz="1600" dirty="0"/>
          </a:p>
        </p:txBody>
      </p:sp>
      <p:sp>
        <p:nvSpPr>
          <p:cNvPr id="10" name="Shape 7"/>
          <p:cNvSpPr/>
          <p:nvPr/>
        </p:nvSpPr>
        <p:spPr>
          <a:xfrm>
            <a:off x="548640" y="2670048"/>
            <a:ext cx="11064240" cy="713232"/>
          </a:xfrm>
          <a:prstGeom prst="roundRect">
            <a:avLst>
              <a:gd name="adj" fmla="val 11538"/>
            </a:avLst>
          </a:prstGeom>
          <a:solidFill>
            <a:srgbClr val="F2F6F8"/>
          </a:solidFill>
          <a:ln/>
          <a:effectLst>
            <a:outerShdw sx="100000" sy="100000" kx="0" ky="0" algn="bl" rotWithShape="0" blurRad="88900" dist="38100" dir="5400000">
              <a:srgbClr val="000000">
                <a:alpha val="13000"/>
              </a:srgbClr>
            </a:outerShdw>
          </a:effectLst>
        </p:spPr>
      </p:sp>
      <p:sp>
        <p:nvSpPr>
          <p:cNvPr id="11" name="Shape 8"/>
          <p:cNvSpPr/>
          <p:nvPr/>
        </p:nvSpPr>
        <p:spPr>
          <a:xfrm>
            <a:off x="804672" y="2788920"/>
            <a:ext cx="475488" cy="475488"/>
          </a:xfrm>
          <a:prstGeom prst="ellipse">
            <a:avLst/>
          </a:prstGeom>
          <a:solidFill>
            <a:srgbClr val="12908F"/>
          </a:solidFill>
          <a:ln/>
        </p:spPr>
      </p:sp>
      <p:pic>
        <p:nvPicPr>
          <p:cNvPr id="12" name="Image 1" descr="preencoded.png">    </p:cNvPr>
          <p:cNvPicPr>
            <a:picLocks noChangeAspect="1"/>
          </p:cNvPicPr>
          <p:nvPr/>
        </p:nvPicPr>
        <p:blipFill>
          <a:blip r:embed="rId2"/>
          <a:stretch>
            <a:fillRect/>
          </a:stretch>
        </p:blipFill>
        <p:spPr>
          <a:xfrm>
            <a:off x="933054" y="2917302"/>
            <a:ext cx="218724" cy="218724"/>
          </a:xfrm>
          <a:prstGeom prst="rect">
            <a:avLst/>
          </a:prstGeom>
        </p:spPr>
      </p:pic>
      <p:sp>
        <p:nvSpPr>
          <p:cNvPr id="13" name="Text 9"/>
          <p:cNvSpPr/>
          <p:nvPr/>
        </p:nvSpPr>
        <p:spPr>
          <a:xfrm>
            <a:off x="1508760" y="2670048"/>
            <a:ext cx="8229600" cy="713232"/>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MVP-plan review: three questions, project to project</a:t>
            </a:r>
            <a:endParaRPr lang="en-US" sz="1800" dirty="0"/>
          </a:p>
        </p:txBody>
      </p:sp>
      <p:sp>
        <p:nvSpPr>
          <p:cNvPr id="14" name="Text 10"/>
          <p:cNvSpPr/>
          <p:nvPr/>
        </p:nvSpPr>
        <p:spPr>
          <a:xfrm>
            <a:off x="9692640" y="2670048"/>
            <a:ext cx="1645920" cy="713232"/>
          </a:xfrm>
          <a:prstGeom prst="rect">
            <a:avLst/>
          </a:prstGeom>
          <a:noFill/>
          <a:ln/>
        </p:spPr>
        <p:txBody>
          <a:bodyPr wrap="square" lIns="0" tIns="0" rIns="0" bIns="0" rtlCol="0" anchor="ctr"/>
          <a:lstStyle/>
          <a:p>
            <a:pPr algn="r" indent="0" marL="0">
              <a:buNone/>
            </a:pPr>
            <a:r>
              <a:rPr lang="en-US" sz="1600" b="1" dirty="0">
                <a:solidFill>
                  <a:srgbClr val="5F7284"/>
                </a:solidFill>
                <a:latin typeface="Calibri" pitchFamily="34" charset="0"/>
                <a:ea typeface="Calibri" pitchFamily="34" charset="-122"/>
                <a:cs typeface="Calibri" pitchFamily="34" charset="-120"/>
              </a:rPr>
              <a:t>24 min</a:t>
            </a:r>
            <a:endParaRPr lang="en-US" sz="1600" dirty="0"/>
          </a:p>
        </p:txBody>
      </p:sp>
      <p:sp>
        <p:nvSpPr>
          <p:cNvPr id="15" name="Shape 11"/>
          <p:cNvSpPr/>
          <p:nvPr/>
        </p:nvSpPr>
        <p:spPr>
          <a:xfrm>
            <a:off x="548640" y="3511296"/>
            <a:ext cx="11064240" cy="713232"/>
          </a:xfrm>
          <a:prstGeom prst="roundRect">
            <a:avLst>
              <a:gd name="adj" fmla="val 11538"/>
            </a:avLst>
          </a:prstGeom>
          <a:solidFill>
            <a:srgbClr val="F2F6F8"/>
          </a:solidFill>
          <a:ln/>
          <a:effectLst>
            <a:outerShdw sx="100000" sy="100000" kx="0" ky="0" algn="bl" rotWithShape="0" blurRad="88900" dist="38100" dir="5400000">
              <a:srgbClr val="000000">
                <a:alpha val="13000"/>
              </a:srgbClr>
            </a:outerShdw>
          </a:effectLst>
        </p:spPr>
      </p:sp>
      <p:sp>
        <p:nvSpPr>
          <p:cNvPr id="16" name="Shape 12"/>
          <p:cNvSpPr/>
          <p:nvPr/>
        </p:nvSpPr>
        <p:spPr>
          <a:xfrm>
            <a:off x="804672" y="3630168"/>
            <a:ext cx="475488" cy="475488"/>
          </a:xfrm>
          <a:prstGeom prst="ellipse">
            <a:avLst/>
          </a:prstGeom>
          <a:solidFill>
            <a:srgbClr val="12908F"/>
          </a:solidFill>
          <a:ln/>
        </p:spPr>
      </p:sp>
      <p:pic>
        <p:nvPicPr>
          <p:cNvPr id="17" name="Image 2" descr="preencoded.png">    </p:cNvPr>
          <p:cNvPicPr>
            <a:picLocks noChangeAspect="1"/>
          </p:cNvPicPr>
          <p:nvPr/>
        </p:nvPicPr>
        <p:blipFill>
          <a:blip r:embed="rId3"/>
          <a:stretch>
            <a:fillRect/>
          </a:stretch>
        </p:blipFill>
        <p:spPr>
          <a:xfrm>
            <a:off x="933054" y="3758550"/>
            <a:ext cx="218724" cy="218724"/>
          </a:xfrm>
          <a:prstGeom prst="rect">
            <a:avLst/>
          </a:prstGeom>
        </p:spPr>
      </p:pic>
      <p:sp>
        <p:nvSpPr>
          <p:cNvPr id="18" name="Text 13"/>
          <p:cNvSpPr/>
          <p:nvPr/>
        </p:nvSpPr>
        <p:spPr>
          <a:xfrm>
            <a:off x="1508760" y="3511296"/>
            <a:ext cx="8229600" cy="713232"/>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Your setup guide against the five parts</a:t>
            </a:r>
            <a:endParaRPr lang="en-US" sz="1800" dirty="0"/>
          </a:p>
        </p:txBody>
      </p:sp>
      <p:sp>
        <p:nvSpPr>
          <p:cNvPr id="19" name="Text 14"/>
          <p:cNvSpPr/>
          <p:nvPr/>
        </p:nvSpPr>
        <p:spPr>
          <a:xfrm>
            <a:off x="9692640" y="3511296"/>
            <a:ext cx="1645920" cy="713232"/>
          </a:xfrm>
          <a:prstGeom prst="rect">
            <a:avLst/>
          </a:prstGeom>
          <a:noFill/>
          <a:ln/>
        </p:spPr>
        <p:txBody>
          <a:bodyPr wrap="square" lIns="0" tIns="0" rIns="0" bIns="0" rtlCol="0" anchor="ctr"/>
          <a:lstStyle/>
          <a:p>
            <a:pPr algn="r" indent="0" marL="0">
              <a:buNone/>
            </a:pPr>
            <a:r>
              <a:rPr lang="en-US" sz="1600" b="1" dirty="0">
                <a:solidFill>
                  <a:srgbClr val="5F7284"/>
                </a:solidFill>
                <a:latin typeface="Calibri" pitchFamily="34" charset="0"/>
                <a:ea typeface="Calibri" pitchFamily="34" charset="-122"/>
                <a:cs typeface="Calibri" pitchFamily="34" charset="-120"/>
              </a:rPr>
              <a:t>7 min</a:t>
            </a:r>
            <a:endParaRPr lang="en-US" sz="1600" dirty="0"/>
          </a:p>
        </p:txBody>
      </p:sp>
      <p:sp>
        <p:nvSpPr>
          <p:cNvPr id="20" name="Shape 15"/>
          <p:cNvSpPr/>
          <p:nvPr/>
        </p:nvSpPr>
        <p:spPr>
          <a:xfrm>
            <a:off x="548640" y="4352544"/>
            <a:ext cx="11064240" cy="713232"/>
          </a:xfrm>
          <a:prstGeom prst="roundRect">
            <a:avLst>
              <a:gd name="adj" fmla="val 11538"/>
            </a:avLst>
          </a:prstGeom>
          <a:solidFill>
            <a:srgbClr val="14233A"/>
          </a:solidFill>
          <a:ln/>
          <a:effectLst>
            <a:outerShdw sx="100000" sy="100000" kx="0" ky="0" algn="bl" rotWithShape="0" blurRad="88900" dist="38100" dir="5400000">
              <a:srgbClr val="000000">
                <a:alpha val="13000"/>
              </a:srgbClr>
            </a:outerShdw>
          </a:effectLst>
        </p:spPr>
      </p:sp>
      <p:sp>
        <p:nvSpPr>
          <p:cNvPr id="21" name="Shape 16"/>
          <p:cNvSpPr/>
          <p:nvPr/>
        </p:nvSpPr>
        <p:spPr>
          <a:xfrm>
            <a:off x="804672" y="4471416"/>
            <a:ext cx="475488" cy="475488"/>
          </a:xfrm>
          <a:prstGeom prst="ellipse">
            <a:avLst/>
          </a:prstGeom>
          <a:solidFill>
            <a:srgbClr val="E8A33D"/>
          </a:solidFill>
          <a:ln/>
        </p:spPr>
      </p:sp>
      <p:pic>
        <p:nvPicPr>
          <p:cNvPr id="22" name="Image 3" descr="preencoded.png">    </p:cNvPr>
          <p:cNvPicPr>
            <a:picLocks noChangeAspect="1"/>
          </p:cNvPicPr>
          <p:nvPr/>
        </p:nvPicPr>
        <p:blipFill>
          <a:blip r:embed="rId4"/>
          <a:stretch>
            <a:fillRect/>
          </a:stretch>
        </p:blipFill>
        <p:spPr>
          <a:xfrm>
            <a:off x="933054" y="4599798"/>
            <a:ext cx="218724" cy="218724"/>
          </a:xfrm>
          <a:prstGeom prst="rect">
            <a:avLst/>
          </a:prstGeom>
        </p:spPr>
      </p:pic>
      <p:sp>
        <p:nvSpPr>
          <p:cNvPr id="23" name="Text 17"/>
          <p:cNvSpPr/>
          <p:nvPr/>
        </p:nvSpPr>
        <p:spPr>
          <a:xfrm>
            <a:off x="1508760" y="4352544"/>
            <a:ext cx="8229600" cy="713232"/>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The cold test: your partner follows your guide</a:t>
            </a:r>
            <a:endParaRPr lang="en-US" sz="1800" dirty="0"/>
          </a:p>
        </p:txBody>
      </p:sp>
      <p:sp>
        <p:nvSpPr>
          <p:cNvPr id="24" name="Text 18"/>
          <p:cNvSpPr/>
          <p:nvPr/>
        </p:nvSpPr>
        <p:spPr>
          <a:xfrm>
            <a:off x="9692640" y="4352544"/>
            <a:ext cx="1645920" cy="713232"/>
          </a:xfrm>
          <a:prstGeom prst="rect">
            <a:avLst/>
          </a:prstGeom>
          <a:noFill/>
          <a:ln/>
        </p:spPr>
        <p:txBody>
          <a:bodyPr wrap="square" lIns="0" tIns="0" rIns="0" bIns="0" rtlCol="0" anchor="ctr"/>
          <a:lstStyle/>
          <a:p>
            <a:pPr algn="r" indent="0" marL="0">
              <a:buNone/>
            </a:pPr>
            <a:r>
              <a:rPr lang="en-US" sz="1600" b="1" dirty="0">
                <a:solidFill>
                  <a:srgbClr val="E8A33D"/>
                </a:solidFill>
                <a:latin typeface="Calibri" pitchFamily="34" charset="0"/>
                <a:ea typeface="Calibri" pitchFamily="34" charset="-122"/>
                <a:cs typeface="Calibri" pitchFamily="34" charset="-120"/>
              </a:rPr>
              <a:t>30 min</a:t>
            </a:r>
            <a:endParaRPr lang="en-US" sz="1600" dirty="0"/>
          </a:p>
        </p:txBody>
      </p:sp>
      <p:sp>
        <p:nvSpPr>
          <p:cNvPr id="25" name="Shape 19"/>
          <p:cNvSpPr/>
          <p:nvPr/>
        </p:nvSpPr>
        <p:spPr>
          <a:xfrm>
            <a:off x="548640" y="5193792"/>
            <a:ext cx="11064240" cy="713232"/>
          </a:xfrm>
          <a:prstGeom prst="roundRect">
            <a:avLst>
              <a:gd name="adj" fmla="val 11538"/>
            </a:avLst>
          </a:prstGeom>
          <a:solidFill>
            <a:srgbClr val="F2F6F8"/>
          </a:solidFill>
          <a:ln/>
          <a:effectLst>
            <a:outerShdw sx="100000" sy="100000" kx="0" ky="0" algn="bl" rotWithShape="0" blurRad="88900" dist="38100" dir="5400000">
              <a:srgbClr val="000000">
                <a:alpha val="13000"/>
              </a:srgbClr>
            </a:outerShdw>
          </a:effectLst>
        </p:spPr>
      </p:sp>
      <p:sp>
        <p:nvSpPr>
          <p:cNvPr id="26" name="Shape 20"/>
          <p:cNvSpPr/>
          <p:nvPr/>
        </p:nvSpPr>
        <p:spPr>
          <a:xfrm>
            <a:off x="804672" y="5312664"/>
            <a:ext cx="475488" cy="475488"/>
          </a:xfrm>
          <a:prstGeom prst="ellipse">
            <a:avLst/>
          </a:prstGeom>
          <a:solidFill>
            <a:srgbClr val="12908F"/>
          </a:solidFill>
          <a:ln/>
        </p:spPr>
      </p:sp>
      <p:pic>
        <p:nvPicPr>
          <p:cNvPr id="27" name="Image 4" descr="preencoded.png">    </p:cNvPr>
          <p:cNvPicPr>
            <a:picLocks noChangeAspect="1"/>
          </p:cNvPicPr>
          <p:nvPr/>
        </p:nvPicPr>
        <p:blipFill>
          <a:blip r:embed="rId5"/>
          <a:stretch>
            <a:fillRect/>
          </a:stretch>
        </p:blipFill>
        <p:spPr>
          <a:xfrm>
            <a:off x="933054" y="5441046"/>
            <a:ext cx="218724" cy="218724"/>
          </a:xfrm>
          <a:prstGeom prst="rect">
            <a:avLst/>
          </a:prstGeom>
        </p:spPr>
      </p:pic>
      <p:sp>
        <p:nvSpPr>
          <p:cNvPr id="28" name="Text 21"/>
          <p:cNvSpPr/>
          <p:nvPr/>
        </p:nvSpPr>
        <p:spPr>
          <a:xfrm>
            <a:off x="1508760" y="5193792"/>
            <a:ext cx="8229600" cy="713232"/>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Read it back, and the week ahead</a:t>
            </a:r>
            <a:endParaRPr lang="en-US" sz="1800" dirty="0"/>
          </a:p>
        </p:txBody>
      </p:sp>
      <p:sp>
        <p:nvSpPr>
          <p:cNvPr id="29" name="Text 22"/>
          <p:cNvSpPr/>
          <p:nvPr/>
        </p:nvSpPr>
        <p:spPr>
          <a:xfrm>
            <a:off x="9692640" y="5193792"/>
            <a:ext cx="1645920" cy="713232"/>
          </a:xfrm>
          <a:prstGeom prst="rect">
            <a:avLst/>
          </a:prstGeom>
          <a:noFill/>
          <a:ln/>
        </p:spPr>
        <p:txBody>
          <a:bodyPr wrap="square" lIns="0" tIns="0" rIns="0" bIns="0" rtlCol="0" anchor="ctr"/>
          <a:lstStyle/>
          <a:p>
            <a:pPr algn="r" indent="0" marL="0">
              <a:buNone/>
            </a:pPr>
            <a:r>
              <a:rPr lang="en-US" sz="1600" b="1" dirty="0">
                <a:solidFill>
                  <a:srgbClr val="5F7284"/>
                </a:solidFill>
                <a:latin typeface="Calibri" pitchFamily="34" charset="0"/>
                <a:ea typeface="Calibri" pitchFamily="34" charset="-122"/>
                <a:cs typeface="Calibri" pitchFamily="34" charset="-120"/>
              </a:rPr>
              <a:t>10 min</a:t>
            </a:r>
            <a:endParaRPr lang="en-US" sz="1600" dirty="0"/>
          </a:p>
        </p:txBody>
      </p:sp>
      <p:sp>
        <p:nvSpPr>
          <p:cNvPr id="30" name="Text 23"/>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20 · Review &amp; Cold Test</a:t>
            </a:r>
            <a:endParaRPr lang="en-US" sz="1000" dirty="0"/>
          </a:p>
        </p:txBody>
      </p:sp>
      <p:sp>
        <p:nvSpPr>
          <p:cNvPr id="31" name="Text 24"/>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WHY TODAY</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Two things you can't check yourself</a:t>
            </a:r>
            <a:endParaRPr lang="en-US" sz="3100" dirty="0"/>
          </a:p>
        </p:txBody>
      </p:sp>
      <p:sp>
        <p:nvSpPr>
          <p:cNvPr id="5" name="Shape 3"/>
          <p:cNvSpPr/>
          <p:nvPr/>
        </p:nvSpPr>
        <p:spPr>
          <a:xfrm>
            <a:off x="548640" y="1828800"/>
            <a:ext cx="5440680" cy="2514600"/>
          </a:xfrm>
          <a:prstGeom prst="roundRect">
            <a:avLst>
              <a:gd name="adj" fmla="val 3273"/>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822960" y="2057400"/>
            <a:ext cx="594360" cy="594360"/>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983437" y="2217877"/>
            <a:ext cx="273406" cy="273406"/>
          </a:xfrm>
          <a:prstGeom prst="rect">
            <a:avLst/>
          </a:prstGeom>
        </p:spPr>
      </p:pic>
      <p:sp>
        <p:nvSpPr>
          <p:cNvPr id="8" name="Text 5"/>
          <p:cNvSpPr/>
          <p:nvPr/>
        </p:nvSpPr>
        <p:spPr>
          <a:xfrm>
            <a:off x="1600200" y="2057400"/>
            <a:ext cx="4206240" cy="594360"/>
          </a:xfrm>
          <a:prstGeom prst="rect">
            <a:avLst/>
          </a:prstGeom>
          <a:noFill/>
          <a:ln/>
        </p:spPr>
        <p:txBody>
          <a:bodyPr wrap="square" lIns="0" tIns="0" rIns="0" bIns="0" rtlCol="0" anchor="ctr"/>
          <a:lstStyle/>
          <a:p>
            <a:pPr indent="0" marL="0">
              <a:buNone/>
            </a:pPr>
            <a:r>
              <a:rPr lang="en-US" sz="2000" b="1" dirty="0">
                <a:solidFill>
                  <a:srgbClr val="0E6E6D"/>
                </a:solidFill>
                <a:latin typeface="Calibri" pitchFamily="34" charset="0"/>
                <a:ea typeface="Calibri" pitchFamily="34" charset="-122"/>
                <a:cs typeface="Calibri" pitchFamily="34" charset="-120"/>
              </a:rPr>
              <a:t>Your MVP Plan</a:t>
            </a:r>
            <a:endParaRPr lang="en-US" sz="2000" dirty="0"/>
          </a:p>
        </p:txBody>
      </p:sp>
      <p:sp>
        <p:nvSpPr>
          <p:cNvPr id="9" name="Text 6"/>
          <p:cNvSpPr/>
          <p:nvPr/>
        </p:nvSpPr>
        <p:spPr>
          <a:xfrm>
            <a:off x="822960" y="2788920"/>
            <a:ext cx="4892040" cy="1417320"/>
          </a:xfrm>
          <a:prstGeom prst="rect">
            <a:avLst/>
          </a:prstGeom>
          <a:noFill/>
          <a:ln/>
        </p:spPr>
        <p:txBody>
          <a:bodyPr wrap="square" lIns="0" tIns="0" rIns="0" bIns="0" rtlCol="0" anchor="t"/>
          <a:lstStyle/>
          <a:p>
            <a:pPr indent="0" marL="0">
              <a:lnSpc>
                <a:spcPct val="105000"/>
              </a:lnSpc>
              <a:buNone/>
            </a:pPr>
            <a:r>
              <a:rPr lang="en-US" sz="1700" dirty="0">
                <a:solidFill>
                  <a:srgbClr val="1E2A36"/>
                </a:solidFill>
                <a:latin typeface="Calibri" pitchFamily="34" charset="0"/>
                <a:ea typeface="Calibri" pitchFamily="34" charset="-122"/>
                <a:cs typeface="Calibri" pitchFamily="34" charset="-120"/>
              </a:rPr>
              <a:t>A one-page promise: what's in, what's deferred, the risk it retires, and the demo. Get an outside read before you're bound by it, while changing it is cheap.</a:t>
            </a:r>
            <a:endParaRPr lang="en-US" sz="1700" dirty="0"/>
          </a:p>
        </p:txBody>
      </p:sp>
      <p:sp>
        <p:nvSpPr>
          <p:cNvPr id="10" name="Shape 7"/>
          <p:cNvSpPr/>
          <p:nvPr/>
        </p:nvSpPr>
        <p:spPr>
          <a:xfrm>
            <a:off x="6172200" y="1828800"/>
            <a:ext cx="5440680" cy="2514600"/>
          </a:xfrm>
          <a:prstGeom prst="roundRect">
            <a:avLst>
              <a:gd name="adj" fmla="val 3273"/>
            </a:avLst>
          </a:prstGeom>
          <a:solidFill>
            <a:srgbClr val="F2F6F8"/>
          </a:solidFill>
          <a:ln/>
          <a:effectLst>
            <a:outerShdw sx="100000" sy="100000" kx="0" ky="0" algn="bl" rotWithShape="0" blurRad="88900" dist="38100" dir="5400000">
              <a:srgbClr val="000000">
                <a:alpha val="13000"/>
              </a:srgbClr>
            </a:outerShdw>
          </a:effectLst>
        </p:spPr>
      </p:sp>
      <p:sp>
        <p:nvSpPr>
          <p:cNvPr id="11" name="Shape 8"/>
          <p:cNvSpPr/>
          <p:nvPr/>
        </p:nvSpPr>
        <p:spPr>
          <a:xfrm>
            <a:off x="6446520" y="2057400"/>
            <a:ext cx="594360" cy="594360"/>
          </a:xfrm>
          <a:prstGeom prst="ellipse">
            <a:avLst/>
          </a:prstGeom>
          <a:solidFill>
            <a:srgbClr val="12908F"/>
          </a:solidFill>
          <a:ln/>
        </p:spPr>
      </p:sp>
      <p:pic>
        <p:nvPicPr>
          <p:cNvPr id="12" name="Image 1" descr="preencoded.png">    </p:cNvPr>
          <p:cNvPicPr>
            <a:picLocks noChangeAspect="1"/>
          </p:cNvPicPr>
          <p:nvPr/>
        </p:nvPicPr>
        <p:blipFill>
          <a:blip r:embed="rId2"/>
          <a:stretch>
            <a:fillRect/>
          </a:stretch>
        </p:blipFill>
        <p:spPr>
          <a:xfrm>
            <a:off x="6606997" y="2217877"/>
            <a:ext cx="273406" cy="273406"/>
          </a:xfrm>
          <a:prstGeom prst="rect">
            <a:avLst/>
          </a:prstGeom>
        </p:spPr>
      </p:pic>
      <p:sp>
        <p:nvSpPr>
          <p:cNvPr id="13" name="Text 9"/>
          <p:cNvSpPr/>
          <p:nvPr/>
        </p:nvSpPr>
        <p:spPr>
          <a:xfrm>
            <a:off x="7223760" y="2057400"/>
            <a:ext cx="4206240" cy="594360"/>
          </a:xfrm>
          <a:prstGeom prst="rect">
            <a:avLst/>
          </a:prstGeom>
          <a:noFill/>
          <a:ln/>
        </p:spPr>
        <p:txBody>
          <a:bodyPr wrap="square" lIns="0" tIns="0" rIns="0" bIns="0" rtlCol="0" anchor="ctr"/>
          <a:lstStyle/>
          <a:p>
            <a:pPr indent="0" marL="0">
              <a:buNone/>
            </a:pPr>
            <a:r>
              <a:rPr lang="en-US" sz="2000" b="1" dirty="0">
                <a:solidFill>
                  <a:srgbClr val="0E6E6D"/>
                </a:solidFill>
                <a:latin typeface="Calibri" pitchFamily="34" charset="0"/>
                <a:ea typeface="Calibri" pitchFamily="34" charset="-122"/>
                <a:cs typeface="Calibri" pitchFamily="34" charset="-120"/>
              </a:rPr>
              <a:t>Your setup guide</a:t>
            </a:r>
            <a:endParaRPr lang="en-US" sz="2000" dirty="0"/>
          </a:p>
        </p:txBody>
      </p:sp>
      <p:sp>
        <p:nvSpPr>
          <p:cNvPr id="14" name="Text 10"/>
          <p:cNvSpPr/>
          <p:nvPr/>
        </p:nvSpPr>
        <p:spPr>
          <a:xfrm>
            <a:off x="6446520" y="2788920"/>
            <a:ext cx="4892040" cy="1417320"/>
          </a:xfrm>
          <a:prstGeom prst="rect">
            <a:avLst/>
          </a:prstGeom>
          <a:noFill/>
          <a:ln/>
        </p:spPr>
        <p:txBody>
          <a:bodyPr wrap="square" lIns="0" tIns="0" rIns="0" bIns="0" rtlCol="0" anchor="t"/>
          <a:lstStyle/>
          <a:p>
            <a:pPr indent="0" marL="0">
              <a:lnSpc>
                <a:spcPct val="105000"/>
              </a:lnSpc>
              <a:buNone/>
            </a:pPr>
            <a:r>
              <a:rPr lang="en-US" sz="1700" dirty="0">
                <a:solidFill>
                  <a:srgbClr val="1E2A36"/>
                </a:solidFill>
                <a:latin typeface="Calibri" pitchFamily="34" charset="0"/>
                <a:ea typeface="Calibri" pitchFamily="34" charset="-122"/>
                <a:cs typeface="Calibri" pitchFamily="34" charset="-120"/>
              </a:rPr>
              <a:t>Instructions only a stranger can test. Your machine already has everything the guide forgot. Today one follows it, a week before the audit.</a:t>
            </a:r>
            <a:endParaRPr lang="en-US" sz="1700" dirty="0"/>
          </a:p>
        </p:txBody>
      </p:sp>
      <p:sp>
        <p:nvSpPr>
          <p:cNvPr id="15" name="click-1"/>
          <p:cNvSpPr/>
          <p:nvPr/>
        </p:nvSpPr>
        <p:spPr>
          <a:xfrm>
            <a:off x="548640" y="4709160"/>
            <a:ext cx="11064240" cy="868680"/>
          </a:xfrm>
          <a:prstGeom prst="roundRect">
            <a:avLst>
              <a:gd name="adj" fmla="val 9474"/>
            </a:avLst>
          </a:prstGeom>
          <a:solidFill>
            <a:srgbClr val="E8A33D"/>
          </a:solidFill>
          <a:ln/>
          <a:effectLst>
            <a:outerShdw sx="100000" sy="100000" kx="0" ky="0" algn="bl" rotWithShape="0" blurRad="88900" dist="38100" dir="5400000">
              <a:srgbClr val="000000">
                <a:alpha val="13000"/>
              </a:srgbClr>
            </a:outerShdw>
          </a:effectLst>
        </p:spPr>
      </p:sp>
      <p:sp>
        <p:nvSpPr>
          <p:cNvPr id="16" name="click-1"/>
          <p:cNvSpPr/>
          <p:nvPr/>
        </p:nvSpPr>
        <p:spPr>
          <a:xfrm>
            <a:off x="868680" y="4709160"/>
            <a:ext cx="10424160" cy="868680"/>
          </a:xfrm>
          <a:prstGeom prst="rect">
            <a:avLst/>
          </a:prstGeom>
          <a:noFill/>
          <a:ln/>
        </p:spPr>
        <p:txBody>
          <a:bodyPr wrap="square" lIns="0" tIns="0" rIns="0" bIns="0" rtlCol="0" anchor="ctr"/>
          <a:lstStyle/>
          <a:p>
            <a:pPr indent="0" marL="0">
              <a:lnSpc>
                <a:spcPct val="104000"/>
              </a:lnSpc>
              <a:buNone/>
            </a:pPr>
            <a:r>
              <a:rPr lang="en-US" sz="1700" b="1" dirty="0">
                <a:solidFill>
                  <a:srgbClr val="14233A"/>
                </a:solidFill>
                <a:latin typeface="Calibri" pitchFamily="34" charset="0"/>
                <a:ea typeface="Calibri" pitchFamily="34" charset="-122"/>
                <a:cs typeface="Calibri" pitchFamily="34" charset="-120"/>
              </a:rPr>
              <a:t>What's demoed on Wednesday, Nov 18 is what exists on main by Tuesday night.</a:t>
            </a:r>
            <a:endParaRPr lang="en-US" sz="1700" dirty="0"/>
          </a:p>
        </p:txBody>
      </p:sp>
      <p:sp>
        <p:nvSpPr>
          <p:cNvPr id="17" name="Text 13"/>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20 · Review &amp; Cold Test</a:t>
            </a:r>
            <a:endParaRPr lang="en-US" sz="1000" dirty="0"/>
          </a:p>
        </p:txBody>
      </p:sp>
      <p:sp>
        <p:nvSpPr>
          <p:cNvPr id="18" name="Text 14"/>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3</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15"/>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MVP-PLAN REVIEW · 24 MIN</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Swap plans with your partner project</a:t>
            </a:r>
            <a:endParaRPr lang="en-US" sz="3100" dirty="0"/>
          </a:p>
        </p:txBody>
      </p:sp>
      <p:sp>
        <p:nvSpPr>
          <p:cNvPr id="5" name="Shape 3"/>
          <p:cNvSpPr/>
          <p:nvPr/>
        </p:nvSpPr>
        <p:spPr>
          <a:xfrm>
            <a:off x="548640" y="1828800"/>
            <a:ext cx="2615184" cy="2377440"/>
          </a:xfrm>
          <a:prstGeom prst="roundRect">
            <a:avLst>
              <a:gd name="adj" fmla="val 3462"/>
            </a:avLst>
          </a:prstGeom>
          <a:solidFill>
            <a:srgbClr val="F2F6F8"/>
          </a:solidFill>
          <a:ln/>
          <a:effectLst>
            <a:outerShdw sx="100000" sy="100000" kx="0" ky="0" algn="bl" rotWithShape="0" blurRad="88900" dist="38100" dir="5400000">
              <a:srgbClr val="000000">
                <a:alpha val="13000"/>
              </a:srgbClr>
            </a:outerShdw>
          </a:effectLst>
        </p:spPr>
      </p:sp>
      <p:sp>
        <p:nvSpPr>
          <p:cNvPr id="6" name="Text 4"/>
          <p:cNvSpPr/>
          <p:nvPr/>
        </p:nvSpPr>
        <p:spPr>
          <a:xfrm>
            <a:off x="777240" y="1965960"/>
            <a:ext cx="2194560" cy="411480"/>
          </a:xfrm>
          <a:prstGeom prst="rect">
            <a:avLst/>
          </a:prstGeom>
          <a:noFill/>
          <a:ln/>
        </p:spPr>
        <p:txBody>
          <a:bodyPr wrap="square" lIns="0" tIns="0" rIns="0" bIns="0" rtlCol="0" anchor="ctr"/>
          <a:lstStyle/>
          <a:p>
            <a:pPr indent="0" marL="0">
              <a:buNone/>
            </a:pPr>
            <a:r>
              <a:rPr lang="en-US" sz="1600" b="1" dirty="0">
                <a:solidFill>
                  <a:srgbClr val="12908F"/>
                </a:solidFill>
                <a:latin typeface="Calibri" pitchFamily="34" charset="0"/>
                <a:ea typeface="Calibri" pitchFamily="34" charset="-122"/>
                <a:cs typeface="Calibri" pitchFamily="34" charset="-120"/>
              </a:rPr>
              <a:t>5 min</a:t>
            </a:r>
            <a:endParaRPr lang="en-US" sz="1600" dirty="0"/>
          </a:p>
        </p:txBody>
      </p:sp>
      <p:sp>
        <p:nvSpPr>
          <p:cNvPr id="7" name="Text 5"/>
          <p:cNvSpPr/>
          <p:nvPr/>
        </p:nvSpPr>
        <p:spPr>
          <a:xfrm>
            <a:off x="777240" y="2377440"/>
            <a:ext cx="2194560" cy="502920"/>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Read</a:t>
            </a:r>
            <a:endParaRPr lang="en-US" sz="1900" dirty="0"/>
          </a:p>
        </p:txBody>
      </p:sp>
      <p:sp>
        <p:nvSpPr>
          <p:cNvPr id="8" name="Text 6"/>
          <p:cNvSpPr/>
          <p:nvPr/>
        </p:nvSpPr>
        <p:spPr>
          <a:xfrm>
            <a:off x="777240" y="2926080"/>
            <a:ext cx="2194560" cy="1188720"/>
          </a:xfrm>
          <a:prstGeom prst="rect">
            <a:avLst/>
          </a:prstGeom>
          <a:noFill/>
          <a:ln/>
        </p:spPr>
        <p:txBody>
          <a:bodyPr wrap="square" lIns="0" tIns="0" rIns="0" bIns="0" rtlCol="0" anchor="t"/>
          <a:lstStyle/>
          <a:p>
            <a:pPr indent="0" marL="0">
              <a:buNone/>
            </a:pPr>
            <a:r>
              <a:rPr lang="en-US" sz="1600" dirty="0">
                <a:solidFill>
                  <a:srgbClr val="5F7284"/>
                </a:solidFill>
                <a:latin typeface="Calibri" pitchFamily="34" charset="0"/>
                <a:ea typeface="Calibri" pitchFamily="34" charset="-122"/>
                <a:cs typeface="Calibri" pitchFamily="34" charset="-120"/>
              </a:rPr>
              <a:t>Their plan, all of it, before you write anything</a:t>
            </a:r>
            <a:endParaRPr lang="en-US" sz="1600" dirty="0"/>
          </a:p>
        </p:txBody>
      </p:sp>
      <p:sp>
        <p:nvSpPr>
          <p:cNvPr id="9" name="Shape 7"/>
          <p:cNvSpPr/>
          <p:nvPr/>
        </p:nvSpPr>
        <p:spPr>
          <a:xfrm>
            <a:off x="3364992" y="1828800"/>
            <a:ext cx="2615184" cy="2377440"/>
          </a:xfrm>
          <a:prstGeom prst="roundRect">
            <a:avLst>
              <a:gd name="adj" fmla="val 3462"/>
            </a:avLst>
          </a:prstGeom>
          <a:solidFill>
            <a:srgbClr val="F2F6F8"/>
          </a:solidFill>
          <a:ln/>
          <a:effectLst>
            <a:outerShdw sx="100000" sy="100000" kx="0" ky="0" algn="bl" rotWithShape="0" blurRad="88900" dist="38100" dir="5400000">
              <a:srgbClr val="000000">
                <a:alpha val="13000"/>
              </a:srgbClr>
            </a:outerShdw>
          </a:effectLst>
        </p:spPr>
      </p:sp>
      <p:sp>
        <p:nvSpPr>
          <p:cNvPr id="10" name="Text 8"/>
          <p:cNvSpPr/>
          <p:nvPr/>
        </p:nvSpPr>
        <p:spPr>
          <a:xfrm>
            <a:off x="3593592" y="1965960"/>
            <a:ext cx="2194560" cy="411480"/>
          </a:xfrm>
          <a:prstGeom prst="rect">
            <a:avLst/>
          </a:prstGeom>
          <a:noFill/>
          <a:ln/>
        </p:spPr>
        <p:txBody>
          <a:bodyPr wrap="square" lIns="0" tIns="0" rIns="0" bIns="0" rtlCol="0" anchor="ctr"/>
          <a:lstStyle/>
          <a:p>
            <a:pPr indent="0" marL="0">
              <a:buNone/>
            </a:pPr>
            <a:r>
              <a:rPr lang="en-US" sz="1600" b="1" dirty="0">
                <a:solidFill>
                  <a:srgbClr val="12908F"/>
                </a:solidFill>
                <a:latin typeface="Calibri" pitchFamily="34" charset="0"/>
                <a:ea typeface="Calibri" pitchFamily="34" charset="-122"/>
                <a:cs typeface="Calibri" pitchFamily="34" charset="-120"/>
              </a:rPr>
              <a:t>5 min</a:t>
            </a:r>
            <a:endParaRPr lang="en-US" sz="1600" dirty="0"/>
          </a:p>
        </p:txBody>
      </p:sp>
      <p:sp>
        <p:nvSpPr>
          <p:cNvPr id="11" name="Text 9"/>
          <p:cNvSpPr/>
          <p:nvPr/>
        </p:nvSpPr>
        <p:spPr>
          <a:xfrm>
            <a:off x="3593592" y="2377440"/>
            <a:ext cx="2194560" cy="502920"/>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Write</a:t>
            </a:r>
            <a:endParaRPr lang="en-US" sz="1900" dirty="0"/>
          </a:p>
        </p:txBody>
      </p:sp>
      <p:sp>
        <p:nvSpPr>
          <p:cNvPr id="12" name="Text 10"/>
          <p:cNvSpPr/>
          <p:nvPr/>
        </p:nvSpPr>
        <p:spPr>
          <a:xfrm>
            <a:off x="3593592" y="2926080"/>
            <a:ext cx="2194560" cy="1188720"/>
          </a:xfrm>
          <a:prstGeom prst="rect">
            <a:avLst/>
          </a:prstGeom>
          <a:noFill/>
          <a:ln/>
        </p:spPr>
        <p:txBody>
          <a:bodyPr wrap="square" lIns="0" tIns="0" rIns="0" bIns="0" rtlCol="0" anchor="t"/>
          <a:lstStyle/>
          <a:p>
            <a:pPr indent="0" marL="0">
              <a:buNone/>
            </a:pPr>
            <a:r>
              <a:rPr lang="en-US" sz="1600" dirty="0">
                <a:solidFill>
                  <a:srgbClr val="5F7284"/>
                </a:solidFill>
                <a:latin typeface="Calibri" pitchFamily="34" charset="0"/>
                <a:ea typeface="Calibri" pitchFamily="34" charset="-122"/>
                <a:cs typeface="Calibri" pitchFamily="34" charset="-120"/>
              </a:rPr>
              <a:t>Three answers on the review sheet: scope, proof, risk</a:t>
            </a:r>
            <a:endParaRPr lang="en-US" sz="1600" dirty="0"/>
          </a:p>
        </p:txBody>
      </p:sp>
      <p:sp>
        <p:nvSpPr>
          <p:cNvPr id="13" name="Shape 11"/>
          <p:cNvSpPr/>
          <p:nvPr/>
        </p:nvSpPr>
        <p:spPr>
          <a:xfrm>
            <a:off x="6181344" y="1828800"/>
            <a:ext cx="2615184" cy="2377440"/>
          </a:xfrm>
          <a:prstGeom prst="roundRect">
            <a:avLst>
              <a:gd name="adj" fmla="val 3462"/>
            </a:avLst>
          </a:prstGeom>
          <a:solidFill>
            <a:srgbClr val="E4EEF1"/>
          </a:solidFill>
          <a:ln/>
          <a:effectLst>
            <a:outerShdw sx="100000" sy="100000" kx="0" ky="0" algn="bl" rotWithShape="0" blurRad="88900" dist="38100" dir="5400000">
              <a:srgbClr val="000000">
                <a:alpha val="13000"/>
              </a:srgbClr>
            </a:outerShdw>
          </a:effectLst>
        </p:spPr>
      </p:sp>
      <p:sp>
        <p:nvSpPr>
          <p:cNvPr id="14" name="Text 12"/>
          <p:cNvSpPr/>
          <p:nvPr/>
        </p:nvSpPr>
        <p:spPr>
          <a:xfrm>
            <a:off x="6409944" y="1965960"/>
            <a:ext cx="2194560" cy="411480"/>
          </a:xfrm>
          <a:prstGeom prst="rect">
            <a:avLst/>
          </a:prstGeom>
          <a:noFill/>
          <a:ln/>
        </p:spPr>
        <p:txBody>
          <a:bodyPr wrap="square" lIns="0" tIns="0" rIns="0" bIns="0" rtlCol="0" anchor="ctr"/>
          <a:lstStyle/>
          <a:p>
            <a:pPr indent="0" marL="0">
              <a:buNone/>
            </a:pPr>
            <a:r>
              <a:rPr lang="en-US" sz="1600" b="1" dirty="0">
                <a:solidFill>
                  <a:srgbClr val="12908F"/>
                </a:solidFill>
                <a:latin typeface="Calibri" pitchFamily="34" charset="0"/>
                <a:ea typeface="Calibri" pitchFamily="34" charset="-122"/>
                <a:cs typeface="Calibri" pitchFamily="34" charset="-120"/>
              </a:rPr>
              <a:t>7 min</a:t>
            </a:r>
            <a:endParaRPr lang="en-US" sz="1600" dirty="0"/>
          </a:p>
        </p:txBody>
      </p:sp>
      <p:sp>
        <p:nvSpPr>
          <p:cNvPr id="15" name="Text 13"/>
          <p:cNvSpPr/>
          <p:nvPr/>
        </p:nvSpPr>
        <p:spPr>
          <a:xfrm>
            <a:off x="6409944" y="2377440"/>
            <a:ext cx="2194560" cy="502920"/>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Talk: you → them</a:t>
            </a:r>
            <a:endParaRPr lang="en-US" sz="1900" dirty="0"/>
          </a:p>
        </p:txBody>
      </p:sp>
      <p:sp>
        <p:nvSpPr>
          <p:cNvPr id="16" name="Text 14"/>
          <p:cNvSpPr/>
          <p:nvPr/>
        </p:nvSpPr>
        <p:spPr>
          <a:xfrm>
            <a:off x="6409944" y="2926080"/>
            <a:ext cx="2194560" cy="1188720"/>
          </a:xfrm>
          <a:prstGeom prst="rect">
            <a:avLst/>
          </a:prstGeom>
          <a:noFill/>
          <a:ln/>
        </p:spPr>
        <p:txBody>
          <a:bodyPr wrap="square" lIns="0" tIns="0" rIns="0" bIns="0" rtlCol="0" anchor="t"/>
          <a:lstStyle/>
          <a:p>
            <a:pPr indent="0" marL="0">
              <a:buNone/>
            </a:pPr>
            <a:r>
              <a:rPr lang="en-US" sz="1600" dirty="0">
                <a:solidFill>
                  <a:srgbClr val="5F7284"/>
                </a:solidFill>
                <a:latin typeface="Calibri" pitchFamily="34" charset="0"/>
                <a:ea typeface="Calibri" pitchFamily="34" charset="-122"/>
                <a:cs typeface="Calibri" pitchFamily="34" charset="-120"/>
              </a:rPr>
              <a:t>Go through your sheet; the authors take notes</a:t>
            </a:r>
            <a:endParaRPr lang="en-US" sz="1600" dirty="0"/>
          </a:p>
        </p:txBody>
      </p:sp>
      <p:sp>
        <p:nvSpPr>
          <p:cNvPr id="17" name="Shape 15"/>
          <p:cNvSpPr/>
          <p:nvPr/>
        </p:nvSpPr>
        <p:spPr>
          <a:xfrm>
            <a:off x="8997696" y="1828800"/>
            <a:ext cx="2615184" cy="2377440"/>
          </a:xfrm>
          <a:prstGeom prst="roundRect">
            <a:avLst>
              <a:gd name="adj" fmla="val 3462"/>
            </a:avLst>
          </a:prstGeom>
          <a:solidFill>
            <a:srgbClr val="E4EEF1"/>
          </a:solidFill>
          <a:ln/>
          <a:effectLst>
            <a:outerShdw sx="100000" sy="100000" kx="0" ky="0" algn="bl" rotWithShape="0" blurRad="88900" dist="38100" dir="5400000">
              <a:srgbClr val="000000">
                <a:alpha val="13000"/>
              </a:srgbClr>
            </a:outerShdw>
          </a:effectLst>
        </p:spPr>
      </p:sp>
      <p:sp>
        <p:nvSpPr>
          <p:cNvPr id="18" name="Text 16"/>
          <p:cNvSpPr/>
          <p:nvPr/>
        </p:nvSpPr>
        <p:spPr>
          <a:xfrm>
            <a:off x="9226296" y="1965960"/>
            <a:ext cx="2194560" cy="411480"/>
          </a:xfrm>
          <a:prstGeom prst="rect">
            <a:avLst/>
          </a:prstGeom>
          <a:noFill/>
          <a:ln/>
        </p:spPr>
        <p:txBody>
          <a:bodyPr wrap="square" lIns="0" tIns="0" rIns="0" bIns="0" rtlCol="0" anchor="ctr"/>
          <a:lstStyle/>
          <a:p>
            <a:pPr indent="0" marL="0">
              <a:buNone/>
            </a:pPr>
            <a:r>
              <a:rPr lang="en-US" sz="1600" b="1" dirty="0">
                <a:solidFill>
                  <a:srgbClr val="12908F"/>
                </a:solidFill>
                <a:latin typeface="Calibri" pitchFamily="34" charset="0"/>
                <a:ea typeface="Calibri" pitchFamily="34" charset="-122"/>
                <a:cs typeface="Calibri" pitchFamily="34" charset="-120"/>
              </a:rPr>
              <a:t>7 min</a:t>
            </a:r>
            <a:endParaRPr lang="en-US" sz="1600" dirty="0"/>
          </a:p>
        </p:txBody>
      </p:sp>
      <p:sp>
        <p:nvSpPr>
          <p:cNvPr id="19" name="Text 17"/>
          <p:cNvSpPr/>
          <p:nvPr/>
        </p:nvSpPr>
        <p:spPr>
          <a:xfrm>
            <a:off x="9226296" y="2377440"/>
            <a:ext cx="2194560" cy="502920"/>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Talk: them → you</a:t>
            </a:r>
            <a:endParaRPr lang="en-US" sz="1900" dirty="0"/>
          </a:p>
        </p:txBody>
      </p:sp>
      <p:sp>
        <p:nvSpPr>
          <p:cNvPr id="20" name="Text 18"/>
          <p:cNvSpPr/>
          <p:nvPr/>
        </p:nvSpPr>
        <p:spPr>
          <a:xfrm>
            <a:off x="9226296" y="2926080"/>
            <a:ext cx="2194560" cy="1188720"/>
          </a:xfrm>
          <a:prstGeom prst="rect">
            <a:avLst/>
          </a:prstGeom>
          <a:noFill/>
          <a:ln/>
        </p:spPr>
        <p:txBody>
          <a:bodyPr wrap="square" lIns="0" tIns="0" rIns="0" bIns="0" rtlCol="0" anchor="t"/>
          <a:lstStyle/>
          <a:p>
            <a:pPr indent="0" marL="0">
              <a:buNone/>
            </a:pPr>
            <a:r>
              <a:rPr lang="en-US" sz="1600" dirty="0">
                <a:solidFill>
                  <a:srgbClr val="5F7284"/>
                </a:solidFill>
                <a:latin typeface="Calibri" pitchFamily="34" charset="0"/>
                <a:ea typeface="Calibri" pitchFamily="34" charset="-122"/>
                <a:cs typeface="Calibri" pitchFamily="34" charset="-120"/>
              </a:rPr>
              <a:t>Swap; hand the sheet to the authors at the end</a:t>
            </a:r>
            <a:endParaRPr lang="en-US" sz="1600" dirty="0"/>
          </a:p>
        </p:txBody>
      </p:sp>
      <p:sp>
        <p:nvSpPr>
          <p:cNvPr id="21" name="Shape 19"/>
          <p:cNvSpPr/>
          <p:nvPr/>
        </p:nvSpPr>
        <p:spPr>
          <a:xfrm>
            <a:off x="548640" y="4526280"/>
            <a:ext cx="11064240" cy="731520"/>
          </a:xfrm>
          <a:prstGeom prst="roundRect">
            <a:avLst>
              <a:gd name="adj" fmla="val 11250"/>
            </a:avLst>
          </a:prstGeom>
          <a:solidFill>
            <a:srgbClr val="F2F6F8"/>
          </a:solidFill>
          <a:ln/>
          <a:effectLst>
            <a:outerShdw sx="100000" sy="100000" kx="0" ky="0" algn="bl" rotWithShape="0" blurRad="88900" dist="38100" dir="5400000">
              <a:srgbClr val="000000">
                <a:alpha val="13000"/>
              </a:srgbClr>
            </a:outerShdw>
          </a:effectLst>
        </p:spPr>
      </p:sp>
      <p:sp>
        <p:nvSpPr>
          <p:cNvPr id="22" name="Text 20"/>
          <p:cNvSpPr/>
          <p:nvPr/>
        </p:nvSpPr>
        <p:spPr>
          <a:xfrm>
            <a:off x="868680" y="4526280"/>
            <a:ext cx="10424160" cy="731520"/>
          </a:xfrm>
          <a:prstGeom prst="rect">
            <a:avLst/>
          </a:prstGeom>
          <a:noFill/>
          <a:ln/>
        </p:spPr>
        <p:txBody>
          <a:bodyPr wrap="square" lIns="0" tIns="0" rIns="0" bIns="0" rtlCol="0" anchor="ctr"/>
          <a:lstStyle/>
          <a:p>
            <a:pPr indent="0" marL="0">
              <a:lnSpc>
                <a:spcPct val="104000"/>
              </a:lnSpc>
              <a:buNone/>
            </a:pPr>
            <a:r>
              <a:rPr lang="en-US" sz="1700" b="1" dirty="0">
                <a:solidFill>
                  <a:srgbClr val="0E6E6D"/>
                </a:solidFill>
                <a:latin typeface="Calibri" pitchFamily="34" charset="0"/>
                <a:ea typeface="Calibri" pitchFamily="34" charset="-122"/>
                <a:cs typeface="Calibri" pitchFamily="34" charset="-120"/>
              </a:rPr>
              <a:t>Same register as always:  </a:t>
            </a:r>
            <a:pPr indent="0" marL="0">
              <a:lnSpc>
                <a:spcPct val="104000"/>
              </a:lnSpc>
              <a:buNone/>
            </a:pPr>
            <a:r>
              <a:rPr lang="en-US" sz="1700" dirty="0">
                <a:solidFill>
                  <a:srgbClr val="1E2A36"/>
                </a:solidFill>
                <a:latin typeface="Calibri" pitchFamily="34" charset="0"/>
                <a:ea typeface="Calibri" pitchFamily="34" charset="-122"/>
                <a:cs typeface="Calibri" pitchFamily="34" charset="-120"/>
              </a:rPr>
              <a:t>specific, tied to the criteria, kind. Name the line, not the vibe.</a:t>
            </a:r>
            <a:endParaRPr lang="en-US" sz="1700" dirty="0"/>
          </a:p>
        </p:txBody>
      </p:sp>
      <p:sp>
        <p:nvSpPr>
          <p:cNvPr id="23" name="click-1"/>
          <p:cNvSpPr/>
          <p:nvPr/>
        </p:nvSpPr>
        <p:spPr>
          <a:xfrm>
            <a:off x="548640" y="5440680"/>
            <a:ext cx="11064240" cy="731520"/>
          </a:xfrm>
          <a:prstGeom prst="roundRect">
            <a:avLst>
              <a:gd name="adj" fmla="val 11250"/>
            </a:avLst>
          </a:prstGeom>
          <a:solidFill>
            <a:srgbClr val="14233A"/>
          </a:solidFill>
          <a:ln/>
          <a:effectLst>
            <a:outerShdw sx="100000" sy="100000" kx="0" ky="0" algn="bl" rotWithShape="0" blurRad="88900" dist="38100" dir="5400000">
              <a:srgbClr val="000000">
                <a:alpha val="13000"/>
              </a:srgbClr>
            </a:outerShdw>
          </a:effectLst>
        </p:spPr>
      </p:sp>
      <p:sp>
        <p:nvSpPr>
          <p:cNvPr id="24" name="click-1"/>
          <p:cNvSpPr/>
          <p:nvPr/>
        </p:nvSpPr>
        <p:spPr>
          <a:xfrm>
            <a:off x="868680" y="5440680"/>
            <a:ext cx="10424160" cy="731520"/>
          </a:xfrm>
          <a:prstGeom prst="rect">
            <a:avLst/>
          </a:prstGeom>
          <a:noFill/>
          <a:ln/>
        </p:spPr>
        <p:txBody>
          <a:bodyPr wrap="square" lIns="0" tIns="0" rIns="0" bIns="0" rtlCol="0" anchor="ctr"/>
          <a:lstStyle/>
          <a:p>
            <a:pPr indent="0" marL="0">
              <a:lnSpc>
                <a:spcPct val="104000"/>
              </a:lnSpc>
              <a:buNone/>
            </a:pPr>
            <a:r>
              <a:rPr lang="en-US" sz="1700" b="1" dirty="0">
                <a:solidFill>
                  <a:srgbClr val="E8A33D"/>
                </a:solidFill>
                <a:latin typeface="Calibri" pitchFamily="34" charset="0"/>
                <a:ea typeface="Calibri" pitchFamily="34" charset="-122"/>
                <a:cs typeface="Calibri" pitchFamily="34" charset="-120"/>
              </a:rPr>
              <a:t>Authors:  </a:t>
            </a:r>
            <a:pPr indent="0" marL="0">
              <a:lnSpc>
                <a:spcPct val="104000"/>
              </a:lnSpc>
              <a:buNone/>
            </a:pPr>
            <a:r>
              <a:rPr lang="en-US" sz="1700" dirty="0">
                <a:solidFill>
                  <a:srgbClr val="FFFFFF"/>
                </a:solidFill>
                <a:latin typeface="Calibri" pitchFamily="34" charset="0"/>
                <a:ea typeface="Calibri" pitchFamily="34" charset="-122"/>
                <a:cs typeface="Calibri" pitchFamily="34" charset="-120"/>
              </a:rPr>
              <a:t>you keep the sheet. You revise after class, not now; the revision is due tonight.</a:t>
            </a:r>
            <a:endParaRPr lang="en-US" sz="1700" dirty="0"/>
          </a:p>
        </p:txBody>
      </p:sp>
      <p:sp>
        <p:nvSpPr>
          <p:cNvPr id="25" name="Text 23"/>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20 · Review &amp; Cold Test</a:t>
            </a:r>
            <a:endParaRPr lang="en-US" sz="1000" dirty="0"/>
          </a:p>
        </p:txBody>
      </p:sp>
      <p:sp>
        <p:nvSpPr>
          <p:cNvPr id="26" name="Text 24"/>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4</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23"/>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THE REVIEW SHEET</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Three questions, answered in writing</a:t>
            </a:r>
            <a:endParaRPr lang="en-US" sz="3100" dirty="0"/>
          </a:p>
        </p:txBody>
      </p:sp>
      <p:sp>
        <p:nvSpPr>
          <p:cNvPr id="5" name="click-1"/>
          <p:cNvSpPr/>
          <p:nvPr/>
        </p:nvSpPr>
        <p:spPr>
          <a:xfrm>
            <a:off x="548640" y="1828800"/>
            <a:ext cx="11064240" cy="1097280"/>
          </a:xfrm>
          <a:prstGeom prst="roundRect">
            <a:avLst>
              <a:gd name="adj" fmla="val 7500"/>
            </a:avLst>
          </a:prstGeom>
          <a:solidFill>
            <a:srgbClr val="F2F6F8"/>
          </a:solidFill>
          <a:ln/>
          <a:effectLst>
            <a:outerShdw sx="100000" sy="100000" kx="0" ky="0" algn="bl" rotWithShape="0" blurRad="88900" dist="38100" dir="5400000">
              <a:srgbClr val="000000">
                <a:alpha val="13000"/>
              </a:srgbClr>
            </a:outerShdw>
          </a:effectLst>
        </p:spPr>
      </p:sp>
      <p:sp>
        <p:nvSpPr>
          <p:cNvPr id="6" name="click-1"/>
          <p:cNvSpPr/>
          <p:nvPr/>
        </p:nvSpPr>
        <p:spPr>
          <a:xfrm>
            <a:off x="777240" y="2139696"/>
            <a:ext cx="475488" cy="475488"/>
          </a:xfrm>
          <a:prstGeom prst="ellipse">
            <a:avLst/>
          </a:prstGeom>
          <a:solidFill>
            <a:srgbClr val="12908F"/>
          </a:solidFill>
          <a:ln/>
        </p:spPr>
      </p:sp>
      <p:sp>
        <p:nvSpPr>
          <p:cNvPr id="7" name="click-1"/>
          <p:cNvSpPr/>
          <p:nvPr/>
        </p:nvSpPr>
        <p:spPr>
          <a:xfrm>
            <a:off x="777240" y="2139696"/>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click-1"/>
          <p:cNvSpPr/>
          <p:nvPr/>
        </p:nvSpPr>
        <p:spPr>
          <a:xfrm>
            <a:off x="1463040" y="1828800"/>
            <a:ext cx="9966960" cy="1097280"/>
          </a:xfrm>
          <a:prstGeom prst="rect">
            <a:avLst/>
          </a:prstGeom>
          <a:noFill/>
          <a:ln/>
        </p:spPr>
        <p:txBody>
          <a:bodyPr wrap="square" lIns="0" tIns="0" rIns="0" bIns="0" rtlCol="0" anchor="ctr"/>
          <a:lstStyle/>
          <a:p>
            <a:pPr indent="0" marL="0">
              <a:lnSpc>
                <a:spcPct val="104000"/>
              </a:lnSpc>
              <a:buNone/>
            </a:pPr>
            <a:r>
              <a:rPr lang="en-US" sz="1700" b="1" dirty="0">
                <a:solidFill>
                  <a:srgbClr val="1E2A36"/>
                </a:solidFill>
                <a:latin typeface="Calibri" pitchFamily="34" charset="0"/>
                <a:ea typeface="Calibri" pitchFamily="34" charset="-122"/>
                <a:cs typeface="Calibri" pitchFamily="34" charset="-120"/>
              </a:rPr>
              <a:t>Scope:  </a:t>
            </a:r>
            <a:pPr indent="0" marL="0">
              <a:lnSpc>
                <a:spcPct val="104000"/>
              </a:lnSpc>
              <a:buNone/>
            </a:pPr>
            <a:r>
              <a:rPr lang="en-US" sz="1700" dirty="0">
                <a:solidFill>
                  <a:srgbClr val="5F7284"/>
                </a:solidFill>
                <a:latin typeface="Calibri" pitchFamily="34" charset="0"/>
                <a:ea typeface="Calibri" pitchFamily="34" charset="-122"/>
                <a:cs typeface="Calibri" pitchFamily="34" charset="-120"/>
              </a:rPr>
              <a:t>does the "in" list actually fit the days left? What would you cut first?</a:t>
            </a:r>
            <a:endParaRPr lang="en-US" sz="1700" dirty="0"/>
          </a:p>
        </p:txBody>
      </p:sp>
      <p:sp>
        <p:nvSpPr>
          <p:cNvPr id="9" name="click-2"/>
          <p:cNvSpPr/>
          <p:nvPr/>
        </p:nvSpPr>
        <p:spPr>
          <a:xfrm>
            <a:off x="548640" y="3108960"/>
            <a:ext cx="11064240" cy="1097280"/>
          </a:xfrm>
          <a:prstGeom prst="roundRect">
            <a:avLst>
              <a:gd name="adj" fmla="val 7500"/>
            </a:avLst>
          </a:prstGeom>
          <a:solidFill>
            <a:srgbClr val="F2F6F8"/>
          </a:solidFill>
          <a:ln/>
          <a:effectLst>
            <a:outerShdw sx="100000" sy="100000" kx="0" ky="0" algn="bl" rotWithShape="0" blurRad="88900" dist="38100" dir="5400000">
              <a:srgbClr val="000000">
                <a:alpha val="13000"/>
              </a:srgbClr>
            </a:outerShdw>
          </a:effectLst>
        </p:spPr>
      </p:sp>
      <p:sp>
        <p:nvSpPr>
          <p:cNvPr id="10" name="click-2"/>
          <p:cNvSpPr/>
          <p:nvPr/>
        </p:nvSpPr>
        <p:spPr>
          <a:xfrm>
            <a:off x="777240" y="3419856"/>
            <a:ext cx="475488" cy="475488"/>
          </a:xfrm>
          <a:prstGeom prst="ellipse">
            <a:avLst/>
          </a:prstGeom>
          <a:solidFill>
            <a:srgbClr val="12908F"/>
          </a:solidFill>
          <a:ln/>
        </p:spPr>
      </p:sp>
      <p:sp>
        <p:nvSpPr>
          <p:cNvPr id="11" name="click-2"/>
          <p:cNvSpPr/>
          <p:nvPr/>
        </p:nvSpPr>
        <p:spPr>
          <a:xfrm>
            <a:off x="777240" y="3419856"/>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click-2"/>
          <p:cNvSpPr/>
          <p:nvPr/>
        </p:nvSpPr>
        <p:spPr>
          <a:xfrm>
            <a:off x="1463040" y="3108960"/>
            <a:ext cx="9966960" cy="1097280"/>
          </a:xfrm>
          <a:prstGeom prst="rect">
            <a:avLst/>
          </a:prstGeom>
          <a:noFill/>
          <a:ln/>
        </p:spPr>
        <p:txBody>
          <a:bodyPr wrap="square" lIns="0" tIns="0" rIns="0" bIns="0" rtlCol="0" anchor="ctr"/>
          <a:lstStyle/>
          <a:p>
            <a:pPr indent="0" marL="0">
              <a:lnSpc>
                <a:spcPct val="104000"/>
              </a:lnSpc>
              <a:buNone/>
            </a:pPr>
            <a:r>
              <a:rPr lang="en-US" sz="1700" b="1" dirty="0">
                <a:solidFill>
                  <a:srgbClr val="1E2A36"/>
                </a:solidFill>
                <a:latin typeface="Calibri" pitchFamily="34" charset="0"/>
                <a:ea typeface="Calibri" pitchFamily="34" charset="-122"/>
                <a:cs typeface="Calibri" pitchFamily="34" charset="-120"/>
              </a:rPr>
              <a:t>Proof:  </a:t>
            </a:r>
            <a:pPr indent="0" marL="0">
              <a:lnSpc>
                <a:spcPct val="104000"/>
              </a:lnSpc>
              <a:buNone/>
            </a:pPr>
            <a:r>
              <a:rPr lang="en-US" sz="1700" dirty="0">
                <a:solidFill>
                  <a:srgbClr val="5F7284"/>
                </a:solidFill>
                <a:latin typeface="Calibri" pitchFamily="34" charset="0"/>
                <a:ea typeface="Calibri" pitchFamily="34" charset="-122"/>
                <a:cs typeface="Calibri" pitchFamily="34" charset="-120"/>
              </a:rPr>
              <a:t>does the demo plan prove the plan's claims (need, technical, usability), or does it just show screens?</a:t>
            </a:r>
            <a:endParaRPr lang="en-US" sz="1700" dirty="0"/>
          </a:p>
        </p:txBody>
      </p:sp>
      <p:sp>
        <p:nvSpPr>
          <p:cNvPr id="13" name="click-3"/>
          <p:cNvSpPr/>
          <p:nvPr/>
        </p:nvSpPr>
        <p:spPr>
          <a:xfrm>
            <a:off x="548640" y="4389120"/>
            <a:ext cx="11064240" cy="1097280"/>
          </a:xfrm>
          <a:prstGeom prst="roundRect">
            <a:avLst>
              <a:gd name="adj" fmla="val 7500"/>
            </a:avLst>
          </a:prstGeom>
          <a:solidFill>
            <a:srgbClr val="F2F6F8"/>
          </a:solidFill>
          <a:ln/>
          <a:effectLst>
            <a:outerShdw sx="100000" sy="100000" kx="0" ky="0" algn="bl" rotWithShape="0" blurRad="88900" dist="38100" dir="5400000">
              <a:srgbClr val="000000">
                <a:alpha val="13000"/>
              </a:srgbClr>
            </a:outerShdw>
          </a:effectLst>
        </p:spPr>
      </p:sp>
      <p:sp>
        <p:nvSpPr>
          <p:cNvPr id="14" name="click-3"/>
          <p:cNvSpPr/>
          <p:nvPr/>
        </p:nvSpPr>
        <p:spPr>
          <a:xfrm>
            <a:off x="777240" y="4700016"/>
            <a:ext cx="475488" cy="475488"/>
          </a:xfrm>
          <a:prstGeom prst="ellipse">
            <a:avLst/>
          </a:prstGeom>
          <a:solidFill>
            <a:srgbClr val="12908F"/>
          </a:solidFill>
          <a:ln/>
        </p:spPr>
      </p:sp>
      <p:sp>
        <p:nvSpPr>
          <p:cNvPr id="15" name="click-3"/>
          <p:cNvSpPr/>
          <p:nvPr/>
        </p:nvSpPr>
        <p:spPr>
          <a:xfrm>
            <a:off x="777240" y="4700016"/>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6" name="click-3"/>
          <p:cNvSpPr/>
          <p:nvPr/>
        </p:nvSpPr>
        <p:spPr>
          <a:xfrm>
            <a:off x="1463040" y="4389120"/>
            <a:ext cx="9966960" cy="1097280"/>
          </a:xfrm>
          <a:prstGeom prst="rect">
            <a:avLst/>
          </a:prstGeom>
          <a:noFill/>
          <a:ln/>
        </p:spPr>
        <p:txBody>
          <a:bodyPr wrap="square" lIns="0" tIns="0" rIns="0" bIns="0" rtlCol="0" anchor="ctr"/>
          <a:lstStyle/>
          <a:p>
            <a:pPr indent="0" marL="0">
              <a:lnSpc>
                <a:spcPct val="104000"/>
              </a:lnSpc>
              <a:buNone/>
            </a:pPr>
            <a:r>
              <a:rPr lang="en-US" sz="1700" b="1" dirty="0">
                <a:solidFill>
                  <a:srgbClr val="1E2A36"/>
                </a:solidFill>
                <a:latin typeface="Calibri" pitchFamily="34" charset="0"/>
                <a:ea typeface="Calibri" pitchFamily="34" charset="-122"/>
                <a:cs typeface="Calibri" pitchFamily="34" charset="-120"/>
              </a:rPr>
              <a:t>Risk:  </a:t>
            </a:r>
            <a:pPr indent="0" marL="0">
              <a:lnSpc>
                <a:spcPct val="104000"/>
              </a:lnSpc>
              <a:buNone/>
            </a:pPr>
            <a:r>
              <a:rPr lang="en-US" sz="1700" dirty="0">
                <a:solidFill>
                  <a:srgbClr val="5F7284"/>
                </a:solidFill>
                <a:latin typeface="Calibri" pitchFamily="34" charset="0"/>
                <a:ea typeface="Calibri" pitchFamily="34" charset="-122"/>
                <a:cs typeface="Calibri" pitchFamily="34" charset="-120"/>
              </a:rPr>
              <a:t>what's most likely to go wrong in the demo itself, and is there a fallback?</a:t>
            </a:r>
            <a:endParaRPr lang="en-US" sz="1700" dirty="0"/>
          </a:p>
        </p:txBody>
      </p:sp>
      <p:sp>
        <p:nvSpPr>
          <p:cNvPr id="17" name="Text 15"/>
          <p:cNvSpPr/>
          <p:nvPr/>
        </p:nvSpPr>
        <p:spPr>
          <a:xfrm>
            <a:off x="548640" y="5715000"/>
            <a:ext cx="11064240" cy="457200"/>
          </a:xfrm>
          <a:prstGeom prst="rect">
            <a:avLst/>
          </a:prstGeom>
          <a:noFill/>
          <a:ln/>
        </p:spPr>
        <p:txBody>
          <a:bodyPr wrap="square" lIns="0" tIns="0" rIns="0" bIns="0" rtlCol="0" anchor="ctr"/>
          <a:lstStyle/>
          <a:p>
            <a:pPr indent="0" marL="0">
              <a:buNone/>
            </a:pPr>
            <a:r>
              <a:rPr lang="en-US" sz="1700" b="1" i="1" dirty="0">
                <a:solidFill>
                  <a:srgbClr val="0E6E6D"/>
                </a:solidFill>
                <a:latin typeface="Calibri" pitchFamily="34" charset="0"/>
                <a:ea typeface="Calibri" pitchFamily="34" charset="-122"/>
                <a:cs typeface="Calibri" pitchFamily="34" charset="-120"/>
              </a:rPr>
              <a:t>If you can't answer one from the page, that's your answer: the plan doesn't say.</a:t>
            </a:r>
            <a:endParaRPr lang="en-US" sz="1700" dirty="0"/>
          </a:p>
        </p:txBody>
      </p:sp>
      <p:sp>
        <p:nvSpPr>
          <p:cNvPr id="18" name="Text 16"/>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20 · Review &amp; Cold Test</a:t>
            </a:r>
            <a:endParaRPr lang="en-US" sz="1000" dirty="0"/>
          </a:p>
        </p:txBody>
      </p:sp>
      <p:sp>
        <p:nvSpPr>
          <p:cNvPr id="19" name="Text 17"/>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5</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6" presetID="1" presetClass="entr" presetSubtype="0"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6" presetID="1" presetClass="entr" presetSubtype="0" fill="hold" grpId="0" nodeType="clickEffect">
                                  <p:stCondLst>
                                    <p:cond delay="0"/>
                                  </p:stCondLst>
                                  <p:childTnLst>
                                    <p:set>
                                      <p:cBhvr>
                                        <p:cTn id="25" dur="1" fill="hold">
                                          <p:stCondLst>
                                            <p:cond delay="0"/>
                                          </p:stCondLst>
                                        </p:cTn>
                                        <p:tgtEl>
                                          <p:spTgt spid="1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1"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THE RISK QUESTION</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Demos fail for boring reasons. Stage the fallback.</a:t>
            </a:r>
            <a:endParaRPr lang="en-US" sz="3100" dirty="0"/>
          </a:p>
        </p:txBody>
      </p:sp>
      <p:sp>
        <p:nvSpPr>
          <p:cNvPr id="5" name="Shape 3"/>
          <p:cNvSpPr/>
          <p:nvPr/>
        </p:nvSpPr>
        <p:spPr>
          <a:xfrm>
            <a:off x="548640" y="1828800"/>
            <a:ext cx="3566160" cy="2743200"/>
          </a:xfrm>
          <a:prstGeom prst="roundRect">
            <a:avLst>
              <a:gd name="adj" fmla="val 3000"/>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822960" y="2057400"/>
            <a:ext cx="594360" cy="594360"/>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983437" y="2217877"/>
            <a:ext cx="273406" cy="273406"/>
          </a:xfrm>
          <a:prstGeom prst="rect">
            <a:avLst/>
          </a:prstGeom>
        </p:spPr>
      </p:pic>
      <p:sp>
        <p:nvSpPr>
          <p:cNvPr id="8" name="Text 5"/>
          <p:cNvSpPr/>
          <p:nvPr/>
        </p:nvSpPr>
        <p:spPr>
          <a:xfrm>
            <a:off x="1554480" y="2057400"/>
            <a:ext cx="2468880" cy="594360"/>
          </a:xfrm>
          <a:prstGeom prst="rect">
            <a:avLst/>
          </a:prstGeom>
          <a:noFill/>
          <a:ln/>
        </p:spPr>
        <p:txBody>
          <a:bodyPr wrap="square" lIns="0" tIns="0" rIns="0" bIns="0" rtlCol="0" anchor="ctr"/>
          <a:lstStyle/>
          <a:p>
            <a:pPr indent="0" marL="0">
              <a:buNone/>
            </a:pPr>
            <a:r>
              <a:rPr lang="en-US" sz="2000" b="1" dirty="0">
                <a:solidFill>
                  <a:srgbClr val="0E6E6D"/>
                </a:solidFill>
                <a:latin typeface="Calibri" pitchFamily="34" charset="0"/>
                <a:ea typeface="Calibri" pitchFamily="34" charset="-122"/>
                <a:cs typeface="Calibri" pitchFamily="34" charset="-120"/>
              </a:rPr>
              <a:t>Seed data</a:t>
            </a:r>
            <a:endParaRPr lang="en-US" sz="2000" dirty="0"/>
          </a:p>
        </p:txBody>
      </p:sp>
      <p:sp>
        <p:nvSpPr>
          <p:cNvPr id="9" name="Text 6"/>
          <p:cNvSpPr/>
          <p:nvPr/>
        </p:nvSpPr>
        <p:spPr>
          <a:xfrm>
            <a:off x="822960" y="2834640"/>
            <a:ext cx="3017520" cy="1600200"/>
          </a:xfrm>
          <a:prstGeom prst="rect">
            <a:avLst/>
          </a:prstGeom>
          <a:noFill/>
          <a:ln/>
        </p:spPr>
        <p:txBody>
          <a:bodyPr wrap="square" lIns="0" tIns="0" rIns="0" bIns="0" rtlCol="0" anchor="t"/>
          <a:lstStyle/>
          <a:p>
            <a:pPr indent="0" marL="0">
              <a:lnSpc>
                <a:spcPct val="105000"/>
              </a:lnSpc>
              <a:buNone/>
            </a:pPr>
            <a:r>
              <a:rPr lang="en-US" sz="1700" dirty="0">
                <a:solidFill>
                  <a:srgbClr val="1E2A36"/>
                </a:solidFill>
                <a:latin typeface="Calibri" pitchFamily="34" charset="0"/>
                <a:ea typeface="Calibri" pitchFamily="34" charset="-122"/>
                <a:cs typeface="Calibri" pitchFamily="34" charset="-120"/>
              </a:rPr>
              <a:t>An empty database demos nothing. Script the data, and rerun it before you present.</a:t>
            </a:r>
            <a:endParaRPr lang="en-US" sz="1700" dirty="0"/>
          </a:p>
        </p:txBody>
      </p:sp>
      <p:sp>
        <p:nvSpPr>
          <p:cNvPr id="10" name="Shape 7"/>
          <p:cNvSpPr/>
          <p:nvPr/>
        </p:nvSpPr>
        <p:spPr>
          <a:xfrm>
            <a:off x="4297680" y="1828800"/>
            <a:ext cx="3566160" cy="2743200"/>
          </a:xfrm>
          <a:prstGeom prst="roundRect">
            <a:avLst>
              <a:gd name="adj" fmla="val 3000"/>
            </a:avLst>
          </a:prstGeom>
          <a:solidFill>
            <a:srgbClr val="F2F6F8"/>
          </a:solidFill>
          <a:ln/>
          <a:effectLst>
            <a:outerShdw sx="100000" sy="100000" kx="0" ky="0" algn="bl" rotWithShape="0" blurRad="88900" dist="38100" dir="5400000">
              <a:srgbClr val="000000">
                <a:alpha val="13000"/>
              </a:srgbClr>
            </a:outerShdw>
          </a:effectLst>
        </p:spPr>
      </p:sp>
      <p:sp>
        <p:nvSpPr>
          <p:cNvPr id="11" name="Shape 8"/>
          <p:cNvSpPr/>
          <p:nvPr/>
        </p:nvSpPr>
        <p:spPr>
          <a:xfrm>
            <a:off x="4572000" y="2057400"/>
            <a:ext cx="594360" cy="594360"/>
          </a:xfrm>
          <a:prstGeom prst="ellipse">
            <a:avLst/>
          </a:prstGeom>
          <a:solidFill>
            <a:srgbClr val="12908F"/>
          </a:solidFill>
          <a:ln/>
        </p:spPr>
      </p:sp>
      <p:pic>
        <p:nvPicPr>
          <p:cNvPr id="12" name="Image 1" descr="preencoded.png">    </p:cNvPr>
          <p:cNvPicPr>
            <a:picLocks noChangeAspect="1"/>
          </p:cNvPicPr>
          <p:nvPr/>
        </p:nvPicPr>
        <p:blipFill>
          <a:blip r:embed="rId2"/>
          <a:stretch>
            <a:fillRect/>
          </a:stretch>
        </p:blipFill>
        <p:spPr>
          <a:xfrm>
            <a:off x="4732477" y="2217877"/>
            <a:ext cx="273406" cy="273406"/>
          </a:xfrm>
          <a:prstGeom prst="rect">
            <a:avLst/>
          </a:prstGeom>
        </p:spPr>
      </p:pic>
      <p:sp>
        <p:nvSpPr>
          <p:cNvPr id="13" name="Text 9"/>
          <p:cNvSpPr/>
          <p:nvPr/>
        </p:nvSpPr>
        <p:spPr>
          <a:xfrm>
            <a:off x="5303520" y="2057400"/>
            <a:ext cx="2468880" cy="594360"/>
          </a:xfrm>
          <a:prstGeom prst="rect">
            <a:avLst/>
          </a:prstGeom>
          <a:noFill/>
          <a:ln/>
        </p:spPr>
        <p:txBody>
          <a:bodyPr wrap="square" lIns="0" tIns="0" rIns="0" bIns="0" rtlCol="0" anchor="ctr"/>
          <a:lstStyle/>
          <a:p>
            <a:pPr indent="0" marL="0">
              <a:buNone/>
            </a:pPr>
            <a:r>
              <a:rPr lang="en-US" sz="2000" b="1" dirty="0">
                <a:solidFill>
                  <a:srgbClr val="0E6E6D"/>
                </a:solidFill>
                <a:latin typeface="Calibri" pitchFamily="34" charset="0"/>
                <a:ea typeface="Calibri" pitchFamily="34" charset="-122"/>
                <a:cs typeface="Calibri" pitchFamily="34" charset="-120"/>
              </a:rPr>
              <a:t>Local mode</a:t>
            </a:r>
            <a:endParaRPr lang="en-US" sz="2000" dirty="0"/>
          </a:p>
        </p:txBody>
      </p:sp>
      <p:sp>
        <p:nvSpPr>
          <p:cNvPr id="14" name="Text 10"/>
          <p:cNvSpPr/>
          <p:nvPr/>
        </p:nvSpPr>
        <p:spPr>
          <a:xfrm>
            <a:off x="4572000" y="2834640"/>
            <a:ext cx="3017520" cy="1600200"/>
          </a:xfrm>
          <a:prstGeom prst="rect">
            <a:avLst/>
          </a:prstGeom>
          <a:noFill/>
          <a:ln/>
        </p:spPr>
        <p:txBody>
          <a:bodyPr wrap="square" lIns="0" tIns="0" rIns="0" bIns="0" rtlCol="0" anchor="t"/>
          <a:lstStyle/>
          <a:p>
            <a:pPr indent="0" marL="0">
              <a:lnSpc>
                <a:spcPct val="105000"/>
              </a:lnSpc>
              <a:buNone/>
            </a:pPr>
            <a:r>
              <a:rPr lang="en-US" sz="1700" dirty="0">
                <a:solidFill>
                  <a:srgbClr val="1E2A36"/>
                </a:solidFill>
                <a:latin typeface="Calibri" pitchFamily="34" charset="0"/>
                <a:ea typeface="Calibri" pitchFamily="34" charset="-122"/>
                <a:cs typeface="Calibri" pitchFamily="34" charset="-120"/>
              </a:rPr>
              <a:t>No wifi, no outside service, no login that can expire mid-demo.</a:t>
            </a:r>
            <a:endParaRPr lang="en-US" sz="1700" dirty="0"/>
          </a:p>
        </p:txBody>
      </p:sp>
      <p:sp>
        <p:nvSpPr>
          <p:cNvPr id="15" name="Shape 11"/>
          <p:cNvSpPr/>
          <p:nvPr/>
        </p:nvSpPr>
        <p:spPr>
          <a:xfrm>
            <a:off x="8046720" y="1828800"/>
            <a:ext cx="3566160" cy="2743200"/>
          </a:xfrm>
          <a:prstGeom prst="roundRect">
            <a:avLst>
              <a:gd name="adj" fmla="val 3000"/>
            </a:avLst>
          </a:prstGeom>
          <a:solidFill>
            <a:srgbClr val="FBECE8"/>
          </a:solidFill>
          <a:ln/>
          <a:effectLst>
            <a:outerShdw sx="100000" sy="100000" kx="0" ky="0" algn="bl" rotWithShape="0" blurRad="88900" dist="38100" dir="5400000">
              <a:srgbClr val="000000">
                <a:alpha val="13000"/>
              </a:srgbClr>
            </a:outerShdw>
          </a:effectLst>
        </p:spPr>
      </p:sp>
      <p:sp>
        <p:nvSpPr>
          <p:cNvPr id="16" name="Shape 12"/>
          <p:cNvSpPr/>
          <p:nvPr/>
        </p:nvSpPr>
        <p:spPr>
          <a:xfrm>
            <a:off x="8321040" y="2057400"/>
            <a:ext cx="594360" cy="594360"/>
          </a:xfrm>
          <a:prstGeom prst="ellipse">
            <a:avLst/>
          </a:prstGeom>
          <a:solidFill>
            <a:srgbClr val="D9614C"/>
          </a:solidFill>
          <a:ln/>
        </p:spPr>
      </p:sp>
      <p:pic>
        <p:nvPicPr>
          <p:cNvPr id="17" name="Image 2" descr="preencoded.png">    </p:cNvPr>
          <p:cNvPicPr>
            <a:picLocks noChangeAspect="1"/>
          </p:cNvPicPr>
          <p:nvPr/>
        </p:nvPicPr>
        <p:blipFill>
          <a:blip r:embed="rId3"/>
          <a:stretch>
            <a:fillRect/>
          </a:stretch>
        </p:blipFill>
        <p:spPr>
          <a:xfrm>
            <a:off x="8481517" y="2217877"/>
            <a:ext cx="273406" cy="273406"/>
          </a:xfrm>
          <a:prstGeom prst="rect">
            <a:avLst/>
          </a:prstGeom>
        </p:spPr>
      </p:pic>
      <p:sp>
        <p:nvSpPr>
          <p:cNvPr id="18" name="Text 13"/>
          <p:cNvSpPr/>
          <p:nvPr/>
        </p:nvSpPr>
        <p:spPr>
          <a:xfrm>
            <a:off x="9052560" y="2057400"/>
            <a:ext cx="2468880" cy="594360"/>
          </a:xfrm>
          <a:prstGeom prst="rect">
            <a:avLst/>
          </a:prstGeom>
          <a:noFill/>
          <a:ln/>
        </p:spPr>
        <p:txBody>
          <a:bodyPr wrap="square" lIns="0" tIns="0" rIns="0" bIns="0" rtlCol="0" anchor="ctr"/>
          <a:lstStyle/>
          <a:p>
            <a:pPr indent="0" marL="0">
              <a:buNone/>
            </a:pPr>
            <a:r>
              <a:rPr lang="en-US" sz="2000" b="1" dirty="0">
                <a:solidFill>
                  <a:srgbClr val="D9614C"/>
                </a:solidFill>
                <a:latin typeface="Calibri" pitchFamily="34" charset="0"/>
                <a:ea typeface="Calibri" pitchFamily="34" charset="-122"/>
                <a:cs typeface="Calibri" pitchFamily="34" charset="-120"/>
              </a:rPr>
              <a:t>Recorded clip</a:t>
            </a:r>
            <a:endParaRPr lang="en-US" sz="2000" dirty="0"/>
          </a:p>
        </p:txBody>
      </p:sp>
      <p:sp>
        <p:nvSpPr>
          <p:cNvPr id="19" name="Text 14"/>
          <p:cNvSpPr/>
          <p:nvPr/>
        </p:nvSpPr>
        <p:spPr>
          <a:xfrm>
            <a:off x="8321040" y="2834640"/>
            <a:ext cx="3017520" cy="1600200"/>
          </a:xfrm>
          <a:prstGeom prst="rect">
            <a:avLst/>
          </a:prstGeom>
          <a:noFill/>
          <a:ln/>
        </p:spPr>
        <p:txBody>
          <a:bodyPr wrap="square" lIns="0" tIns="0" rIns="0" bIns="0" rtlCol="0" anchor="t"/>
          <a:lstStyle/>
          <a:p>
            <a:pPr indent="0" marL="0">
              <a:lnSpc>
                <a:spcPct val="105000"/>
              </a:lnSpc>
              <a:buNone/>
            </a:pPr>
            <a:r>
              <a:rPr lang="en-US" sz="1700" dirty="0">
                <a:solidFill>
                  <a:srgbClr val="1E2A36"/>
                </a:solidFill>
                <a:latin typeface="Calibri" pitchFamily="34" charset="0"/>
                <a:ea typeface="Calibri" pitchFamily="34" charset="-122"/>
                <a:cs typeface="Calibri" pitchFamily="34" charset="-120"/>
              </a:rPr>
              <a:t>A declared last resort. Using it caps Demo readiness at Proficient, unless the room failed.</a:t>
            </a:r>
            <a:endParaRPr lang="en-US" sz="1700" dirty="0"/>
          </a:p>
        </p:txBody>
      </p:sp>
      <p:sp>
        <p:nvSpPr>
          <p:cNvPr id="20" name="click-1"/>
          <p:cNvSpPr/>
          <p:nvPr/>
        </p:nvSpPr>
        <p:spPr>
          <a:xfrm>
            <a:off x="548640" y="4892040"/>
            <a:ext cx="11064240" cy="868680"/>
          </a:xfrm>
          <a:prstGeom prst="roundRect">
            <a:avLst>
              <a:gd name="adj" fmla="val 9474"/>
            </a:avLst>
          </a:prstGeom>
          <a:solidFill>
            <a:srgbClr val="E8A33D"/>
          </a:solidFill>
          <a:ln/>
          <a:effectLst>
            <a:outerShdw sx="100000" sy="100000" kx="0" ky="0" algn="bl" rotWithShape="0" blurRad="88900" dist="38100" dir="5400000">
              <a:srgbClr val="000000">
                <a:alpha val="13000"/>
              </a:srgbClr>
            </a:outerShdw>
          </a:effectLst>
        </p:spPr>
      </p:sp>
      <p:sp>
        <p:nvSpPr>
          <p:cNvPr id="21" name="click-1"/>
          <p:cNvSpPr/>
          <p:nvPr/>
        </p:nvSpPr>
        <p:spPr>
          <a:xfrm>
            <a:off x="868680" y="4892040"/>
            <a:ext cx="10424160" cy="868680"/>
          </a:xfrm>
          <a:prstGeom prst="rect">
            <a:avLst/>
          </a:prstGeom>
          <a:noFill/>
          <a:ln/>
        </p:spPr>
        <p:txBody>
          <a:bodyPr wrap="square" lIns="0" tIns="0" rIns="0" bIns="0" rtlCol="0" anchor="ctr"/>
          <a:lstStyle/>
          <a:p>
            <a:pPr indent="0" marL="0">
              <a:lnSpc>
                <a:spcPct val="104000"/>
              </a:lnSpc>
              <a:buNone/>
            </a:pPr>
            <a:r>
              <a:rPr lang="en-US" sz="1700" b="1" dirty="0">
                <a:solidFill>
                  <a:srgbClr val="14233A"/>
                </a:solidFill>
                <a:latin typeface="Calibri" pitchFamily="34" charset="0"/>
                <a:ea typeface="Calibri" pitchFamily="34" charset="-122"/>
                <a:cs typeface="Calibri" pitchFamily="34" charset="-120"/>
              </a:rPr>
              <a:t>Wifi, login state, an empty database: stage a fallback for all three before Tuesday night.</a:t>
            </a:r>
            <a:endParaRPr lang="en-US" sz="1700" dirty="0"/>
          </a:p>
        </p:txBody>
      </p:sp>
      <p:sp>
        <p:nvSpPr>
          <p:cNvPr id="22" name="Text 17"/>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20 · Review &amp; Cold Test</a:t>
            </a:r>
            <a:endParaRPr lang="en-US" sz="1000" dirty="0"/>
          </a:p>
        </p:txBody>
      </p:sp>
      <p:sp>
        <p:nvSpPr>
          <p:cNvPr id="23" name="Text 18"/>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6</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20"/>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AFTER CLASS, TONIGHT</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Revise the plan from the sheet</a:t>
            </a:r>
            <a:endParaRPr lang="en-US" sz="3100" dirty="0"/>
          </a:p>
        </p:txBody>
      </p:sp>
      <p:sp>
        <p:nvSpPr>
          <p:cNvPr id="5" name="Shape 3"/>
          <p:cNvSpPr/>
          <p:nvPr/>
        </p:nvSpPr>
        <p:spPr>
          <a:xfrm>
            <a:off x="548640" y="1828800"/>
            <a:ext cx="11064240" cy="777240"/>
          </a:xfrm>
          <a:prstGeom prst="roundRect">
            <a:avLst>
              <a:gd name="adj" fmla="val 10588"/>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777240" y="1956816"/>
            <a:ext cx="521208" cy="521208"/>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917966" y="2097542"/>
            <a:ext cx="239756" cy="239756"/>
          </a:xfrm>
          <a:prstGeom prst="rect">
            <a:avLst/>
          </a:prstGeom>
        </p:spPr>
      </p:pic>
      <p:sp>
        <p:nvSpPr>
          <p:cNvPr id="8" name="Text 5"/>
          <p:cNvSpPr/>
          <p:nvPr/>
        </p:nvSpPr>
        <p:spPr>
          <a:xfrm>
            <a:off x="1508760" y="1828800"/>
            <a:ext cx="9921240" cy="777240"/>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Move one thing to deferred  </a:t>
            </a:r>
            <a:pPr indent="0" marL="0">
              <a:buNone/>
            </a:pPr>
            <a:r>
              <a:rPr lang="en-US" sz="1700" dirty="0">
                <a:solidFill>
                  <a:srgbClr val="5F7284"/>
                </a:solidFill>
                <a:latin typeface="Calibri" pitchFamily="34" charset="0"/>
                <a:ea typeface="Calibri" pitchFamily="34" charset="-122"/>
                <a:cs typeface="Calibri" pitchFamily="34" charset="-120"/>
              </a:rPr>
              <a:t>If your reviewer named a cut, take it or say in the plan why not</a:t>
            </a:r>
            <a:endParaRPr lang="en-US" sz="1700" dirty="0"/>
          </a:p>
        </p:txBody>
      </p:sp>
      <p:sp>
        <p:nvSpPr>
          <p:cNvPr id="9" name="Shape 6"/>
          <p:cNvSpPr/>
          <p:nvPr/>
        </p:nvSpPr>
        <p:spPr>
          <a:xfrm>
            <a:off x="548640" y="2743200"/>
            <a:ext cx="11064240" cy="777240"/>
          </a:xfrm>
          <a:prstGeom prst="roundRect">
            <a:avLst>
              <a:gd name="adj" fmla="val 10588"/>
            </a:avLst>
          </a:prstGeom>
          <a:solidFill>
            <a:srgbClr val="F2F6F8"/>
          </a:solidFill>
          <a:ln/>
          <a:effectLst>
            <a:outerShdw sx="100000" sy="100000" kx="0" ky="0" algn="bl" rotWithShape="0" blurRad="88900" dist="38100" dir="5400000">
              <a:srgbClr val="000000">
                <a:alpha val="13000"/>
              </a:srgbClr>
            </a:outerShdw>
          </a:effectLst>
        </p:spPr>
      </p:sp>
      <p:sp>
        <p:nvSpPr>
          <p:cNvPr id="10" name="Shape 7"/>
          <p:cNvSpPr/>
          <p:nvPr/>
        </p:nvSpPr>
        <p:spPr>
          <a:xfrm>
            <a:off x="777240" y="2871216"/>
            <a:ext cx="521208" cy="521208"/>
          </a:xfrm>
          <a:prstGeom prst="ellipse">
            <a:avLst/>
          </a:prstGeom>
          <a:solidFill>
            <a:srgbClr val="12908F"/>
          </a:solidFill>
          <a:ln/>
        </p:spPr>
      </p:sp>
      <p:pic>
        <p:nvPicPr>
          <p:cNvPr id="11" name="Image 1" descr="preencoded.png">    </p:cNvPr>
          <p:cNvPicPr>
            <a:picLocks noChangeAspect="1"/>
          </p:cNvPicPr>
          <p:nvPr/>
        </p:nvPicPr>
        <p:blipFill>
          <a:blip r:embed="rId2"/>
          <a:stretch>
            <a:fillRect/>
          </a:stretch>
        </p:blipFill>
        <p:spPr>
          <a:xfrm>
            <a:off x="917966" y="3011942"/>
            <a:ext cx="239756" cy="239756"/>
          </a:xfrm>
          <a:prstGeom prst="rect">
            <a:avLst/>
          </a:prstGeom>
        </p:spPr>
      </p:pic>
      <p:sp>
        <p:nvSpPr>
          <p:cNvPr id="12" name="Text 8"/>
          <p:cNvSpPr/>
          <p:nvPr/>
        </p:nvSpPr>
        <p:spPr>
          <a:xfrm>
            <a:off x="1508760" y="2743200"/>
            <a:ext cx="9921240" cy="777240"/>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Tighten the demo script  </a:t>
            </a:r>
            <a:pPr indent="0" marL="0">
              <a:buNone/>
            </a:pPr>
            <a:r>
              <a:rPr lang="en-US" sz="1700" dirty="0">
                <a:solidFill>
                  <a:srgbClr val="5F7284"/>
                </a:solidFill>
                <a:latin typeface="Calibri" pitchFamily="34" charset="0"/>
                <a:ea typeface="Calibri" pitchFamily="34" charset="-122"/>
                <a:cs typeface="Calibri" pitchFamily="34" charset="-120"/>
              </a:rPr>
              <a:t>Three lines, the claims in rank order, nothing that only shows a screen</a:t>
            </a:r>
            <a:endParaRPr lang="en-US" sz="1700" dirty="0"/>
          </a:p>
        </p:txBody>
      </p:sp>
      <p:sp>
        <p:nvSpPr>
          <p:cNvPr id="13" name="Shape 9"/>
          <p:cNvSpPr/>
          <p:nvPr/>
        </p:nvSpPr>
        <p:spPr>
          <a:xfrm>
            <a:off x="548640" y="3657600"/>
            <a:ext cx="11064240" cy="777240"/>
          </a:xfrm>
          <a:prstGeom prst="roundRect">
            <a:avLst>
              <a:gd name="adj" fmla="val 10588"/>
            </a:avLst>
          </a:prstGeom>
          <a:solidFill>
            <a:srgbClr val="F2F6F8"/>
          </a:solidFill>
          <a:ln/>
          <a:effectLst>
            <a:outerShdw sx="100000" sy="100000" kx="0" ky="0" algn="bl" rotWithShape="0" blurRad="88900" dist="38100" dir="5400000">
              <a:srgbClr val="000000">
                <a:alpha val="13000"/>
              </a:srgbClr>
            </a:outerShdw>
          </a:effectLst>
        </p:spPr>
      </p:sp>
      <p:sp>
        <p:nvSpPr>
          <p:cNvPr id="14" name="Shape 10"/>
          <p:cNvSpPr/>
          <p:nvPr/>
        </p:nvSpPr>
        <p:spPr>
          <a:xfrm>
            <a:off x="777240" y="3785616"/>
            <a:ext cx="521208" cy="521208"/>
          </a:xfrm>
          <a:prstGeom prst="ellipse">
            <a:avLst/>
          </a:prstGeom>
          <a:solidFill>
            <a:srgbClr val="12908F"/>
          </a:solidFill>
          <a:ln/>
        </p:spPr>
      </p:sp>
      <p:pic>
        <p:nvPicPr>
          <p:cNvPr id="15" name="Image 2" descr="preencoded.png">    </p:cNvPr>
          <p:cNvPicPr>
            <a:picLocks noChangeAspect="1"/>
          </p:cNvPicPr>
          <p:nvPr/>
        </p:nvPicPr>
        <p:blipFill>
          <a:blip r:embed="rId3"/>
          <a:stretch>
            <a:fillRect/>
          </a:stretch>
        </p:blipFill>
        <p:spPr>
          <a:xfrm>
            <a:off x="917966" y="3926342"/>
            <a:ext cx="239756" cy="239756"/>
          </a:xfrm>
          <a:prstGeom prst="rect">
            <a:avLst/>
          </a:prstGeom>
        </p:spPr>
      </p:pic>
      <p:sp>
        <p:nvSpPr>
          <p:cNvPr id="16" name="Text 11"/>
          <p:cNvSpPr/>
          <p:nvPr/>
        </p:nvSpPr>
        <p:spPr>
          <a:xfrm>
            <a:off x="1508760" y="3657600"/>
            <a:ext cx="9921240" cy="777240"/>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Add the fallback  </a:t>
            </a:r>
            <a:pPr indent="0" marL="0">
              <a:buNone/>
            </a:pPr>
            <a:r>
              <a:rPr lang="en-US" sz="1700" dirty="0">
                <a:solidFill>
                  <a:srgbClr val="5F7284"/>
                </a:solidFill>
                <a:latin typeface="Calibri" pitchFamily="34" charset="0"/>
                <a:ea typeface="Calibri" pitchFamily="34" charset="-122"/>
                <a:cs typeface="Calibri" pitchFamily="34" charset="-120"/>
              </a:rPr>
              <a:t>Seed data ready, local mode tested; the clip only if declared</a:t>
            </a:r>
            <a:endParaRPr lang="en-US" sz="1700" dirty="0"/>
          </a:p>
        </p:txBody>
      </p:sp>
      <p:sp>
        <p:nvSpPr>
          <p:cNvPr id="17" name="Shape 12"/>
          <p:cNvSpPr/>
          <p:nvPr/>
        </p:nvSpPr>
        <p:spPr>
          <a:xfrm>
            <a:off x="548640" y="4754880"/>
            <a:ext cx="11064240" cy="1371600"/>
          </a:xfrm>
          <a:prstGeom prst="roundRect">
            <a:avLst>
              <a:gd name="adj" fmla="val 6000"/>
            </a:avLst>
          </a:prstGeom>
          <a:solidFill>
            <a:srgbClr val="14233A"/>
          </a:solidFill>
          <a:ln/>
          <a:effectLst>
            <a:outerShdw sx="100000" sy="100000" kx="0" ky="0" algn="bl" rotWithShape="0" blurRad="88900" dist="38100" dir="5400000">
              <a:srgbClr val="000000">
                <a:alpha val="13000"/>
              </a:srgbClr>
            </a:outerShdw>
          </a:effectLst>
        </p:spPr>
      </p:sp>
      <p:sp>
        <p:nvSpPr>
          <p:cNvPr id="18" name="Text 13"/>
          <p:cNvSpPr/>
          <p:nvPr/>
        </p:nvSpPr>
        <p:spPr>
          <a:xfrm>
            <a:off x="868680" y="4754880"/>
            <a:ext cx="10424160" cy="1371600"/>
          </a:xfrm>
          <a:prstGeom prst="rect">
            <a:avLst/>
          </a:prstGeom>
          <a:noFill/>
          <a:ln/>
        </p:spPr>
        <p:txBody>
          <a:bodyPr wrap="square" lIns="0" tIns="0" rIns="0" bIns="0" rtlCol="0" anchor="ctr"/>
          <a:lstStyle/>
          <a:p>
            <a:pPr indent="0" marL="0">
              <a:lnSpc>
                <a:spcPct val="105000"/>
              </a:lnSpc>
              <a:buNone/>
            </a:pPr>
            <a:r>
              <a:rPr lang="en-US" sz="1700" b="1" dirty="0">
                <a:solidFill>
                  <a:srgbClr val="E8A33D"/>
                </a:solidFill>
                <a:latin typeface="Calibri" pitchFamily="34" charset="0"/>
                <a:ea typeface="Calibri" pitchFamily="34" charset="-122"/>
                <a:cs typeface="Calibri" pitchFamily="34" charset="-120"/>
              </a:rPr>
              <a:t>Due end of day: </a:t>
            </a:r>
            <a:pPr indent="0" marL="0">
              <a:lnSpc>
                <a:spcPct val="105000"/>
              </a:lnSpc>
              <a:buNone/>
            </a:pPr>
            <a:r>
              <a:rPr lang="en-US" sz="1700" b="1" dirty="0">
                <a:solidFill>
                  <a:srgbClr val="FFFFFF"/>
                </a:solidFill>
                <a:latin typeface="Calibri" pitchFamily="34" charset="0"/>
                <a:ea typeface="Calibri" pitchFamily="34" charset="-122"/>
                <a:cs typeface="Calibri" pitchFamily="34" charset="-120"/>
              </a:rPr>
              <a:t>the URL of docs/mvp-plan.md on main. </a:t>
            </a:r>
            <a:pPr indent="0" marL="0">
              <a:lnSpc>
                <a:spcPct val="105000"/>
              </a:lnSpc>
              <a:buNone/>
            </a:pPr>
            <a:r>
              <a:rPr lang="en-US" sz="1700" dirty="0">
                <a:solidFill>
                  <a:srgbClr val="CBD8E6"/>
                </a:solidFill>
                <a:latin typeface="Calibri" pitchFamily="34" charset="0"/>
                <a:ea typeface="Calibri" pitchFamily="34" charset="-122"/>
                <a:cs typeface="Calibri" pitchFamily="34" charset="-120"/>
              </a:rPr>
              <a:t>This is the version scored, as CP10's MVP plan quality criterion. Change it later if you must, visibly: the demo is judged against the plan as amended.</a:t>
            </a:r>
            <a:endParaRPr lang="en-US" sz="1700" dirty="0"/>
          </a:p>
        </p:txBody>
      </p:sp>
      <p:sp>
        <p:nvSpPr>
          <p:cNvPr id="19" name="Text 14"/>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20 · Review &amp; Cold Test</a:t>
            </a:r>
            <a:endParaRPr lang="en-US" sz="1000" dirty="0"/>
          </a:p>
        </p:txBody>
      </p:sp>
      <p:sp>
        <p:nvSpPr>
          <p:cNvPr id="20" name="Text 15"/>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THE SETUP GUIDE</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You are the worst tester of your own instructions</a:t>
            </a:r>
            <a:endParaRPr lang="en-US" sz="3100" dirty="0"/>
          </a:p>
        </p:txBody>
      </p:sp>
      <p:sp>
        <p:nvSpPr>
          <p:cNvPr id="5" name="Text 3"/>
          <p:cNvSpPr/>
          <p:nvPr/>
        </p:nvSpPr>
        <p:spPr>
          <a:xfrm>
            <a:off x="548640" y="1783080"/>
            <a:ext cx="5486400" cy="320040"/>
          </a:xfrm>
          <a:prstGeom prst="rect">
            <a:avLst/>
          </a:prstGeom>
          <a:noFill/>
          <a:ln/>
        </p:spPr>
        <p:txBody>
          <a:bodyPr wrap="square" lIns="0" tIns="0" rIns="0" bIns="0" rtlCol="0" anchor="ctr"/>
          <a:lstStyle/>
          <a:p>
            <a:pPr indent="0" marL="0">
              <a:buNone/>
            </a:pPr>
            <a:r>
              <a:rPr lang="en-US" sz="1400" b="1" spc="200" kern="0" dirty="0">
                <a:solidFill>
                  <a:srgbClr val="5F7284"/>
                </a:solidFill>
                <a:latin typeface="Calibri" pitchFamily="34" charset="0"/>
                <a:ea typeface="Calibri" pitchFamily="34" charset="-122"/>
                <a:cs typeface="Calibri" pitchFamily="34" charset="-120"/>
              </a:rPr>
              <a:t>YOUR MACHINE HIDES THINGS</a:t>
            </a:r>
            <a:endParaRPr lang="en-US" sz="1400" dirty="0"/>
          </a:p>
        </p:txBody>
      </p:sp>
      <p:sp>
        <p:nvSpPr>
          <p:cNvPr id="6" name="Shape 4"/>
          <p:cNvSpPr/>
          <p:nvPr/>
        </p:nvSpPr>
        <p:spPr>
          <a:xfrm>
            <a:off x="548640" y="2194560"/>
            <a:ext cx="6035040" cy="603504"/>
          </a:xfrm>
          <a:prstGeom prst="roundRect">
            <a:avLst>
              <a:gd name="adj" fmla="val 13636"/>
            </a:avLst>
          </a:prstGeom>
          <a:solidFill>
            <a:srgbClr val="F2F6F8"/>
          </a:solidFill>
          <a:ln/>
          <a:effectLst>
            <a:outerShdw sx="100000" sy="100000" kx="0" ky="0" algn="bl" rotWithShape="0" blurRad="88900" dist="38100" dir="5400000">
              <a:srgbClr val="000000">
                <a:alpha val="13000"/>
              </a:srgbClr>
            </a:outerShdw>
          </a:effectLst>
        </p:spPr>
      </p:sp>
      <p:sp>
        <p:nvSpPr>
          <p:cNvPr id="7" name="Text 5"/>
          <p:cNvSpPr/>
          <p:nvPr/>
        </p:nvSpPr>
        <p:spPr>
          <a:xfrm>
            <a:off x="822960" y="2194560"/>
            <a:ext cx="5669280" cy="603504"/>
          </a:xfrm>
          <a:prstGeom prst="rect">
            <a:avLst/>
          </a:prstGeom>
          <a:noFill/>
          <a:ln/>
        </p:spPr>
        <p:txBody>
          <a:bodyPr wrap="square" lIns="0" tIns="0" rIns="0" bIns="0" rtlCol="0" anchor="ctr"/>
          <a:lstStyle/>
          <a:p>
            <a:pPr indent="0" marL="0">
              <a:buNone/>
            </a:pPr>
            <a:r>
              <a:rPr lang="en-US" sz="1700" dirty="0">
                <a:solidFill>
                  <a:srgbClr val="1E2A36"/>
                </a:solidFill>
                <a:latin typeface="Calibri" pitchFamily="34" charset="0"/>
                <a:ea typeface="Calibri" pitchFamily="34" charset="-122"/>
                <a:cs typeface="Calibri" pitchFamily="34" charset="-120"/>
              </a:rPr>
              <a:t>The environment variable you set three weeks ago</a:t>
            </a:r>
            <a:endParaRPr lang="en-US" sz="1700" dirty="0"/>
          </a:p>
        </p:txBody>
      </p:sp>
      <p:sp>
        <p:nvSpPr>
          <p:cNvPr id="8" name="Shape 6"/>
          <p:cNvSpPr/>
          <p:nvPr/>
        </p:nvSpPr>
        <p:spPr>
          <a:xfrm>
            <a:off x="548640" y="2907792"/>
            <a:ext cx="6035040" cy="603504"/>
          </a:xfrm>
          <a:prstGeom prst="roundRect">
            <a:avLst>
              <a:gd name="adj" fmla="val 13636"/>
            </a:avLst>
          </a:prstGeom>
          <a:solidFill>
            <a:srgbClr val="F2F6F8"/>
          </a:solidFill>
          <a:ln/>
          <a:effectLst>
            <a:outerShdw sx="100000" sy="100000" kx="0" ky="0" algn="bl" rotWithShape="0" blurRad="88900" dist="38100" dir="5400000">
              <a:srgbClr val="000000">
                <a:alpha val="13000"/>
              </a:srgbClr>
            </a:outerShdw>
          </a:effectLst>
        </p:spPr>
      </p:sp>
      <p:sp>
        <p:nvSpPr>
          <p:cNvPr id="9" name="Text 7"/>
          <p:cNvSpPr/>
          <p:nvPr/>
        </p:nvSpPr>
        <p:spPr>
          <a:xfrm>
            <a:off x="822960" y="2907792"/>
            <a:ext cx="5669280" cy="603504"/>
          </a:xfrm>
          <a:prstGeom prst="rect">
            <a:avLst/>
          </a:prstGeom>
          <a:noFill/>
          <a:ln/>
        </p:spPr>
        <p:txBody>
          <a:bodyPr wrap="square" lIns="0" tIns="0" rIns="0" bIns="0" rtlCol="0" anchor="ctr"/>
          <a:lstStyle/>
          <a:p>
            <a:pPr indent="0" marL="0">
              <a:buNone/>
            </a:pPr>
            <a:r>
              <a:rPr lang="en-US" sz="1700" dirty="0">
                <a:solidFill>
                  <a:srgbClr val="1E2A36"/>
                </a:solidFill>
                <a:latin typeface="Calibri" pitchFamily="34" charset="0"/>
                <a:ea typeface="Calibri" pitchFamily="34" charset="-122"/>
                <a:cs typeface="Calibri" pitchFamily="34" charset="-120"/>
              </a:rPr>
              <a:t>The tool you installed for another class and forgot</a:t>
            </a:r>
            <a:endParaRPr lang="en-US" sz="1700" dirty="0"/>
          </a:p>
        </p:txBody>
      </p:sp>
      <p:sp>
        <p:nvSpPr>
          <p:cNvPr id="10" name="Shape 8"/>
          <p:cNvSpPr/>
          <p:nvPr/>
        </p:nvSpPr>
        <p:spPr>
          <a:xfrm>
            <a:off x="548640" y="3621024"/>
            <a:ext cx="6035040" cy="603504"/>
          </a:xfrm>
          <a:prstGeom prst="roundRect">
            <a:avLst>
              <a:gd name="adj" fmla="val 13636"/>
            </a:avLst>
          </a:prstGeom>
          <a:solidFill>
            <a:srgbClr val="F2F6F8"/>
          </a:solidFill>
          <a:ln/>
          <a:effectLst>
            <a:outerShdw sx="100000" sy="100000" kx="0" ky="0" algn="bl" rotWithShape="0" blurRad="88900" dist="38100" dir="5400000">
              <a:srgbClr val="000000">
                <a:alpha val="13000"/>
              </a:srgbClr>
            </a:outerShdw>
          </a:effectLst>
        </p:spPr>
      </p:sp>
      <p:sp>
        <p:nvSpPr>
          <p:cNvPr id="11" name="Text 9"/>
          <p:cNvSpPr/>
          <p:nvPr/>
        </p:nvSpPr>
        <p:spPr>
          <a:xfrm>
            <a:off x="822960" y="3621024"/>
            <a:ext cx="5669280" cy="603504"/>
          </a:xfrm>
          <a:prstGeom prst="rect">
            <a:avLst/>
          </a:prstGeom>
          <a:noFill/>
          <a:ln/>
        </p:spPr>
        <p:txBody>
          <a:bodyPr wrap="square" lIns="0" tIns="0" rIns="0" bIns="0" rtlCol="0" anchor="ctr"/>
          <a:lstStyle/>
          <a:p>
            <a:pPr indent="0" marL="0">
              <a:buNone/>
            </a:pPr>
            <a:r>
              <a:rPr lang="en-US" sz="1700" dirty="0">
                <a:solidFill>
                  <a:srgbClr val="1E2A36"/>
                </a:solidFill>
                <a:latin typeface="Calibri" pitchFamily="34" charset="0"/>
                <a:ea typeface="Calibri" pitchFamily="34" charset="-122"/>
                <a:cs typeface="Calibri" pitchFamily="34" charset="-120"/>
              </a:rPr>
              <a:t>The .env file and the database that already exist</a:t>
            </a:r>
            <a:endParaRPr lang="en-US" sz="1700" dirty="0"/>
          </a:p>
        </p:txBody>
      </p:sp>
      <p:sp>
        <p:nvSpPr>
          <p:cNvPr id="12" name="Shape 10"/>
          <p:cNvSpPr/>
          <p:nvPr/>
        </p:nvSpPr>
        <p:spPr>
          <a:xfrm>
            <a:off x="548640" y="4334256"/>
            <a:ext cx="6035040" cy="603504"/>
          </a:xfrm>
          <a:prstGeom prst="roundRect">
            <a:avLst>
              <a:gd name="adj" fmla="val 13636"/>
            </a:avLst>
          </a:prstGeom>
          <a:solidFill>
            <a:srgbClr val="F2F6F8"/>
          </a:solidFill>
          <a:ln/>
          <a:effectLst>
            <a:outerShdw sx="100000" sy="100000" kx="0" ky="0" algn="bl" rotWithShape="0" blurRad="88900" dist="38100" dir="5400000">
              <a:srgbClr val="000000">
                <a:alpha val="13000"/>
              </a:srgbClr>
            </a:outerShdw>
          </a:effectLst>
        </p:spPr>
      </p:sp>
      <p:sp>
        <p:nvSpPr>
          <p:cNvPr id="13" name="Text 11"/>
          <p:cNvSpPr/>
          <p:nvPr/>
        </p:nvSpPr>
        <p:spPr>
          <a:xfrm>
            <a:off x="822960" y="4334256"/>
            <a:ext cx="5669280" cy="603504"/>
          </a:xfrm>
          <a:prstGeom prst="rect">
            <a:avLst/>
          </a:prstGeom>
          <a:noFill/>
          <a:ln/>
        </p:spPr>
        <p:txBody>
          <a:bodyPr wrap="square" lIns="0" tIns="0" rIns="0" bIns="0" rtlCol="0" anchor="ctr"/>
          <a:lstStyle/>
          <a:p>
            <a:pPr indent="0" marL="0">
              <a:buNone/>
            </a:pPr>
            <a:r>
              <a:rPr lang="en-US" sz="1700" dirty="0">
                <a:solidFill>
                  <a:srgbClr val="1E2A36"/>
                </a:solidFill>
                <a:latin typeface="Calibri" pitchFamily="34" charset="0"/>
                <a:ea typeface="Calibri" pitchFamily="34" charset="-122"/>
                <a:cs typeface="Calibri" pitchFamily="34" charset="-120"/>
              </a:rPr>
              <a:t>The step you do without thinking, so you never wrote it</a:t>
            </a:r>
            <a:endParaRPr lang="en-US" sz="1700" dirty="0"/>
          </a:p>
        </p:txBody>
      </p:sp>
      <p:sp>
        <p:nvSpPr>
          <p:cNvPr id="14" name="click-1"/>
          <p:cNvSpPr/>
          <p:nvPr/>
        </p:nvSpPr>
        <p:spPr>
          <a:xfrm>
            <a:off x="6903720" y="2194560"/>
            <a:ext cx="4709160" cy="2743200"/>
          </a:xfrm>
          <a:prstGeom prst="roundRect">
            <a:avLst>
              <a:gd name="adj" fmla="val 3000"/>
            </a:avLst>
          </a:prstGeom>
          <a:solidFill>
            <a:srgbClr val="14233A"/>
          </a:solidFill>
          <a:ln/>
          <a:effectLst>
            <a:outerShdw sx="100000" sy="100000" kx="0" ky="0" algn="bl" rotWithShape="0" blurRad="88900" dist="38100" dir="5400000">
              <a:srgbClr val="000000">
                <a:alpha val="13000"/>
              </a:srgbClr>
            </a:outerShdw>
          </a:effectLst>
        </p:spPr>
      </p:sp>
      <p:sp>
        <p:nvSpPr>
          <p:cNvPr id="15" name="click-1"/>
          <p:cNvSpPr/>
          <p:nvPr/>
        </p:nvSpPr>
        <p:spPr>
          <a:xfrm>
            <a:off x="7178040" y="2423160"/>
            <a:ext cx="594360" cy="594360"/>
          </a:xfrm>
          <a:prstGeom prst="ellipse">
            <a:avLst/>
          </a:prstGeom>
          <a:solidFill>
            <a:srgbClr val="E8A33D"/>
          </a:solidFill>
          <a:ln/>
        </p:spPr>
      </p:sp>
      <p:pic>
        <p:nvPicPr>
          <p:cNvPr id="16" name="click-1" descr="preencoded.png">    </p:cNvPr>
          <p:cNvPicPr>
            <a:picLocks noChangeAspect="1"/>
          </p:cNvPicPr>
          <p:nvPr/>
        </p:nvPicPr>
        <p:blipFill>
          <a:blip r:embed="rId1"/>
          <a:stretch>
            <a:fillRect/>
          </a:stretch>
        </p:blipFill>
        <p:spPr>
          <a:xfrm>
            <a:off x="7338517" y="2583637"/>
            <a:ext cx="273406" cy="273406"/>
          </a:xfrm>
          <a:prstGeom prst="rect">
            <a:avLst/>
          </a:prstGeom>
        </p:spPr>
      </p:pic>
      <p:sp>
        <p:nvSpPr>
          <p:cNvPr id="17" name="click-1"/>
          <p:cNvSpPr/>
          <p:nvPr/>
        </p:nvSpPr>
        <p:spPr>
          <a:xfrm>
            <a:off x="7909560" y="2423160"/>
            <a:ext cx="3566160" cy="594360"/>
          </a:xfrm>
          <a:prstGeom prst="rect">
            <a:avLst/>
          </a:prstGeom>
          <a:noFill/>
          <a:ln/>
        </p:spPr>
        <p:txBody>
          <a:bodyPr wrap="square" lIns="0" tIns="0" rIns="0" bIns="0" rtlCol="0" anchor="ctr"/>
          <a:lstStyle/>
          <a:p>
            <a:pPr indent="0" marL="0">
              <a:buNone/>
            </a:pPr>
            <a:r>
              <a:rPr lang="en-US" sz="1900" b="1" dirty="0">
                <a:solidFill>
                  <a:srgbClr val="E8A33D"/>
                </a:solidFill>
                <a:latin typeface="Calibri" pitchFamily="34" charset="0"/>
                <a:ea typeface="Calibri" pitchFamily="34" charset="-122"/>
                <a:cs typeface="Calibri" pitchFamily="34" charset="-120"/>
              </a:rPr>
              <a:t>A stranger has none of it</a:t>
            </a:r>
            <a:endParaRPr lang="en-US" sz="1900" dirty="0"/>
          </a:p>
        </p:txBody>
      </p:sp>
      <p:sp>
        <p:nvSpPr>
          <p:cNvPr id="18" name="click-1"/>
          <p:cNvSpPr/>
          <p:nvPr/>
        </p:nvSpPr>
        <p:spPr>
          <a:xfrm>
            <a:off x="7178040" y="3200400"/>
            <a:ext cx="4206240" cy="1600200"/>
          </a:xfrm>
          <a:prstGeom prst="rect">
            <a:avLst/>
          </a:prstGeom>
          <a:noFill/>
          <a:ln/>
        </p:spPr>
        <p:txBody>
          <a:bodyPr wrap="square" lIns="0" tIns="0" rIns="0" bIns="0" rtlCol="0" anchor="t"/>
          <a:lstStyle/>
          <a:p>
            <a:pPr indent="0" marL="0">
              <a:lnSpc>
                <a:spcPct val="105000"/>
              </a:lnSpc>
              <a:buNone/>
            </a:pPr>
            <a:r>
              <a:rPr lang="en-US" sz="1700" dirty="0">
                <a:solidFill>
                  <a:srgbClr val="FFFFFF"/>
                </a:solidFill>
                <a:latin typeface="Calibri" pitchFamily="34" charset="0"/>
                <a:ea typeface="Calibri" pitchFamily="34" charset="-122"/>
                <a:cs typeface="Calibri" pitchFamily="34" charset="-120"/>
              </a:rPr>
              <a:t>So the first stranger to follow your guide finds, in fifteen minutes, what five rereads by you will miss.</a:t>
            </a:r>
            <a:endParaRPr lang="en-US" sz="1700" dirty="0"/>
          </a:p>
        </p:txBody>
      </p:sp>
      <p:sp>
        <p:nvSpPr>
          <p:cNvPr id="19" name="click-2"/>
          <p:cNvSpPr/>
          <p:nvPr/>
        </p:nvSpPr>
        <p:spPr>
          <a:xfrm>
            <a:off x="548640" y="5349240"/>
            <a:ext cx="11064240" cy="822960"/>
          </a:xfrm>
          <a:prstGeom prst="roundRect">
            <a:avLst>
              <a:gd name="adj" fmla="val 10000"/>
            </a:avLst>
          </a:prstGeom>
          <a:solidFill>
            <a:srgbClr val="E8A33D"/>
          </a:solidFill>
          <a:ln/>
          <a:effectLst>
            <a:outerShdw sx="100000" sy="100000" kx="0" ky="0" algn="bl" rotWithShape="0" blurRad="88900" dist="38100" dir="5400000">
              <a:srgbClr val="000000">
                <a:alpha val="13000"/>
              </a:srgbClr>
            </a:outerShdw>
          </a:effectLst>
        </p:spPr>
      </p:sp>
      <p:sp>
        <p:nvSpPr>
          <p:cNvPr id="20" name="click-2"/>
          <p:cNvSpPr/>
          <p:nvPr/>
        </p:nvSpPr>
        <p:spPr>
          <a:xfrm>
            <a:off x="868680" y="5349240"/>
            <a:ext cx="10424160" cy="822960"/>
          </a:xfrm>
          <a:prstGeom prst="rect">
            <a:avLst/>
          </a:prstGeom>
          <a:noFill/>
          <a:ln/>
        </p:spPr>
        <p:txBody>
          <a:bodyPr wrap="square" lIns="0" tIns="0" rIns="0" bIns="0" rtlCol="0" anchor="ctr"/>
          <a:lstStyle/>
          <a:p>
            <a:pPr indent="0" marL="0">
              <a:lnSpc>
                <a:spcPct val="104000"/>
              </a:lnSpc>
              <a:buNone/>
            </a:pPr>
            <a:r>
              <a:rPr lang="en-US" sz="1700" b="1" dirty="0">
                <a:solidFill>
                  <a:srgbClr val="14233A"/>
                </a:solidFill>
                <a:latin typeface="Calibri" pitchFamily="34" charset="0"/>
                <a:ea typeface="Calibri" pitchFamily="34" charset="-122"/>
                <a:cs typeface="Calibri" pitchFamily="34" charset="-120"/>
              </a:rPr>
              <a:t>On any project, the setup guide is the first thing a contributor tries. If it fails, most leave without telling you.</a:t>
            </a:r>
            <a:endParaRPr lang="en-US" sz="1700" dirty="0"/>
          </a:p>
        </p:txBody>
      </p:sp>
      <p:sp>
        <p:nvSpPr>
          <p:cNvPr id="21" name="Text 18"/>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20 · Review &amp; Cold Test</a:t>
            </a:r>
            <a:endParaRPr lang="en-US" sz="1000" dirty="0"/>
          </a:p>
        </p:txBody>
      </p:sp>
      <p:sp>
        <p:nvSpPr>
          <p:cNvPr id="22" name="Text 19"/>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8</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14"/>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15"/>
                                        </p:tgtEl>
                                        <p:attrNameLst>
                                          <p:attrName>style.visibility</p:attrName>
                                        </p:attrNameLst>
                                      </p:cBhvr>
                                      <p:to>
                                        <p:strVal val="visible"/>
                                      </p:to>
                                    </p:set>
                                  </p:childTnLst>
                                </p:cTn>
                              </p:par>
                              <p:par>
                                <p:cTn id="10" presetID="1"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1" dur="1" fill="hold">
                                          <p:stCondLst>
                                            <p:cond delay="0"/>
                                          </p:stCondLst>
                                        </p:cTn>
                                        <p:tgtEl>
                                          <p:spTgt spid="17"/>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3"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8" presetID="1" presetClass="entr" presetSubtype="0" fill="hold" grpId="0" nodeType="clickEffect">
                                  <p:stCondLst>
                                    <p:cond delay="0"/>
                                  </p:stCondLst>
                                  <p:childTnLst>
                                    <p:set>
                                      <p:cBhvr>
                                        <p:cTn id="17" dur="1" fill="hold">
                                          <p:stCondLst>
                                            <p:cond delay="0"/>
                                          </p:stCondLst>
                                        </p:cTn>
                                        <p:tgtEl>
                                          <p:spTgt spid="1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19"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7" grpId="0" animBg="1"/>
      <p:bldP spid="18" grpId="0" animBg="1"/>
      <p:bldP spid="19" grpId="0" animBg="1"/>
      <p:bldP spid="2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WHAT A GUIDE NEEDS</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Five parts, each shown in Prop Loft's guide</a:t>
            </a:r>
            <a:endParaRPr lang="en-US" sz="3100" dirty="0"/>
          </a:p>
        </p:txBody>
      </p:sp>
      <p:sp>
        <p:nvSpPr>
          <p:cNvPr id="5" name="Shape 3"/>
          <p:cNvSpPr/>
          <p:nvPr/>
        </p:nvSpPr>
        <p:spPr>
          <a:xfrm>
            <a:off x="548640" y="1783080"/>
            <a:ext cx="11064240" cy="749808"/>
          </a:xfrm>
          <a:prstGeom prst="roundRect">
            <a:avLst>
              <a:gd name="adj" fmla="val 10976"/>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777240" y="1920240"/>
            <a:ext cx="475488" cy="475488"/>
          </a:xfrm>
          <a:prstGeom prst="ellipse">
            <a:avLst/>
          </a:prstGeom>
          <a:solidFill>
            <a:srgbClr val="12908F"/>
          </a:solidFill>
          <a:ln/>
        </p:spPr>
      </p:sp>
      <p:sp>
        <p:nvSpPr>
          <p:cNvPr id="7" name="Text 5"/>
          <p:cNvSpPr/>
          <p:nvPr/>
        </p:nvSpPr>
        <p:spPr>
          <a:xfrm>
            <a:off x="777240" y="1920240"/>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1463040" y="1783080"/>
            <a:ext cx="9966960" cy="749808"/>
          </a:xfrm>
          <a:prstGeom prst="rect">
            <a:avLst/>
          </a:prstGeom>
          <a:noFill/>
          <a:ln/>
        </p:spPr>
        <p:txBody>
          <a:bodyPr wrap="square" lIns="0" tIns="0" rIns="0" bIns="0" rtlCol="0" anchor="ctr"/>
          <a:lstStyle/>
          <a:p>
            <a:pPr indent="0" marL="0">
              <a:lnSpc>
                <a:spcPct val="104000"/>
              </a:lnSpc>
              <a:buNone/>
            </a:pPr>
            <a:r>
              <a:rPr lang="en-US" sz="1700" b="1" dirty="0">
                <a:solidFill>
                  <a:srgbClr val="1E2A36"/>
                </a:solidFill>
                <a:latin typeface="Calibri" pitchFamily="34" charset="0"/>
                <a:ea typeface="Calibri" pitchFamily="34" charset="-122"/>
                <a:cs typeface="Calibri" pitchFamily="34" charset="-120"/>
              </a:rPr>
              <a:t>Prerequisites, with versions:  </a:t>
            </a:r>
            <a:pPr indent="0" marL="0">
              <a:lnSpc>
                <a:spcPct val="104000"/>
              </a:lnSpc>
              <a:buNone/>
            </a:pPr>
            <a:r>
              <a:rPr lang="en-US" sz="1700" dirty="0">
                <a:solidFill>
                  <a:srgbClr val="5F7284"/>
                </a:solidFill>
                <a:latin typeface="Calibri" pitchFamily="34" charset="0"/>
                <a:ea typeface="Calibri" pitchFamily="34" charset="-122"/>
                <a:cs typeface="Calibri" pitchFamily="34" charset="-120"/>
              </a:rPr>
              <a:t>Python 3.12 or newer · check: python --version · a link to install it</a:t>
            </a:r>
            <a:endParaRPr lang="en-US" sz="1700" dirty="0"/>
          </a:p>
        </p:txBody>
      </p:sp>
      <p:sp>
        <p:nvSpPr>
          <p:cNvPr id="9" name="Shape 7"/>
          <p:cNvSpPr/>
          <p:nvPr/>
        </p:nvSpPr>
        <p:spPr>
          <a:xfrm>
            <a:off x="548640" y="2651760"/>
            <a:ext cx="11064240" cy="749808"/>
          </a:xfrm>
          <a:prstGeom prst="roundRect">
            <a:avLst>
              <a:gd name="adj" fmla="val 10976"/>
            </a:avLst>
          </a:prstGeom>
          <a:solidFill>
            <a:srgbClr val="F2F6F8"/>
          </a:solidFill>
          <a:ln/>
          <a:effectLst>
            <a:outerShdw sx="100000" sy="100000" kx="0" ky="0" algn="bl" rotWithShape="0" blurRad="88900" dist="38100" dir="5400000">
              <a:srgbClr val="000000">
                <a:alpha val="13000"/>
              </a:srgbClr>
            </a:outerShdw>
          </a:effectLst>
        </p:spPr>
      </p:sp>
      <p:sp>
        <p:nvSpPr>
          <p:cNvPr id="10" name="Shape 8"/>
          <p:cNvSpPr/>
          <p:nvPr/>
        </p:nvSpPr>
        <p:spPr>
          <a:xfrm>
            <a:off x="777240" y="2788920"/>
            <a:ext cx="475488" cy="475488"/>
          </a:xfrm>
          <a:prstGeom prst="ellipse">
            <a:avLst/>
          </a:prstGeom>
          <a:solidFill>
            <a:srgbClr val="12908F"/>
          </a:solidFill>
          <a:ln/>
        </p:spPr>
      </p:sp>
      <p:sp>
        <p:nvSpPr>
          <p:cNvPr id="11" name="Text 9"/>
          <p:cNvSpPr/>
          <p:nvPr/>
        </p:nvSpPr>
        <p:spPr>
          <a:xfrm>
            <a:off x="777240" y="2788920"/>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10"/>
          <p:cNvSpPr/>
          <p:nvPr/>
        </p:nvSpPr>
        <p:spPr>
          <a:xfrm>
            <a:off x="1463040" y="2651760"/>
            <a:ext cx="9966960" cy="749808"/>
          </a:xfrm>
          <a:prstGeom prst="rect">
            <a:avLst/>
          </a:prstGeom>
          <a:noFill/>
          <a:ln/>
        </p:spPr>
        <p:txBody>
          <a:bodyPr wrap="square" lIns="0" tIns="0" rIns="0" bIns="0" rtlCol="0" anchor="ctr"/>
          <a:lstStyle/>
          <a:p>
            <a:pPr indent="0" marL="0">
              <a:lnSpc>
                <a:spcPct val="104000"/>
              </a:lnSpc>
              <a:buNone/>
            </a:pPr>
            <a:r>
              <a:rPr lang="en-US" sz="1700" b="1" dirty="0">
                <a:solidFill>
                  <a:srgbClr val="1E2A36"/>
                </a:solidFill>
                <a:latin typeface="Calibri" pitchFamily="34" charset="0"/>
                <a:ea typeface="Calibri" pitchFamily="34" charset="-122"/>
                <a:cs typeface="Calibri" pitchFamily="34" charset="-120"/>
              </a:rPr>
              <a:t>Numbered steps, one command each:  </a:t>
            </a:r>
            <a:pPr indent="0" marL="0">
              <a:lnSpc>
                <a:spcPct val="104000"/>
              </a:lnSpc>
              <a:buNone/>
            </a:pPr>
            <a:r>
              <a:rPr lang="en-US" sz="1700" dirty="0">
                <a:solidFill>
                  <a:srgbClr val="5F7284"/>
                </a:solidFill>
                <a:latin typeface="Calibri" pitchFamily="34" charset="0"/>
                <a:ea typeface="Calibri" pitchFamily="34" charset="-122"/>
                <a:cs typeface="Calibri" pitchFamily="34" charset="-120"/>
              </a:rPr>
              <a:t>Copy, paste, run. No "set up the database as usual."</a:t>
            </a:r>
            <a:endParaRPr lang="en-US" sz="1700" dirty="0"/>
          </a:p>
        </p:txBody>
      </p:sp>
      <p:sp>
        <p:nvSpPr>
          <p:cNvPr id="13" name="Shape 11"/>
          <p:cNvSpPr/>
          <p:nvPr/>
        </p:nvSpPr>
        <p:spPr>
          <a:xfrm>
            <a:off x="548640" y="3520440"/>
            <a:ext cx="11064240" cy="749808"/>
          </a:xfrm>
          <a:prstGeom prst="roundRect">
            <a:avLst>
              <a:gd name="adj" fmla="val 10976"/>
            </a:avLst>
          </a:prstGeom>
          <a:solidFill>
            <a:srgbClr val="F2F6F8"/>
          </a:solidFill>
          <a:ln/>
          <a:effectLst>
            <a:outerShdw sx="100000" sy="100000" kx="0" ky="0" algn="bl" rotWithShape="0" blurRad="88900" dist="38100" dir="5400000">
              <a:srgbClr val="000000">
                <a:alpha val="13000"/>
              </a:srgbClr>
            </a:outerShdw>
          </a:effectLst>
        </p:spPr>
      </p:sp>
      <p:sp>
        <p:nvSpPr>
          <p:cNvPr id="14" name="Shape 12"/>
          <p:cNvSpPr/>
          <p:nvPr/>
        </p:nvSpPr>
        <p:spPr>
          <a:xfrm>
            <a:off x="777240" y="3657600"/>
            <a:ext cx="475488" cy="475488"/>
          </a:xfrm>
          <a:prstGeom prst="ellipse">
            <a:avLst/>
          </a:prstGeom>
          <a:solidFill>
            <a:srgbClr val="12908F"/>
          </a:solidFill>
          <a:ln/>
        </p:spPr>
      </p:sp>
      <p:sp>
        <p:nvSpPr>
          <p:cNvPr id="15" name="Text 13"/>
          <p:cNvSpPr/>
          <p:nvPr/>
        </p:nvSpPr>
        <p:spPr>
          <a:xfrm>
            <a:off x="777240" y="3657600"/>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6" name="Text 14"/>
          <p:cNvSpPr/>
          <p:nvPr/>
        </p:nvSpPr>
        <p:spPr>
          <a:xfrm>
            <a:off x="1463040" y="3520440"/>
            <a:ext cx="9966960" cy="749808"/>
          </a:xfrm>
          <a:prstGeom prst="rect">
            <a:avLst/>
          </a:prstGeom>
          <a:noFill/>
          <a:ln/>
        </p:spPr>
        <p:txBody>
          <a:bodyPr wrap="square" lIns="0" tIns="0" rIns="0" bIns="0" rtlCol="0" anchor="ctr"/>
          <a:lstStyle/>
          <a:p>
            <a:pPr indent="0" marL="0">
              <a:lnSpc>
                <a:spcPct val="104000"/>
              </a:lnSpc>
              <a:buNone/>
            </a:pPr>
            <a:r>
              <a:rPr lang="en-US" sz="1700" b="1" dirty="0">
                <a:solidFill>
                  <a:srgbClr val="1E2A36"/>
                </a:solidFill>
                <a:latin typeface="Calibri" pitchFamily="34" charset="0"/>
                <a:ea typeface="Calibri" pitchFamily="34" charset="-122"/>
                <a:cs typeface="Calibri" pitchFamily="34" charset="-120"/>
              </a:rPr>
              <a:t>"You should see…" checkpoints:  </a:t>
            </a:r>
            <a:pPr indent="0" marL="0">
              <a:lnSpc>
                <a:spcPct val="104000"/>
              </a:lnSpc>
              <a:buNone/>
            </a:pPr>
            <a:r>
              <a:rPr lang="en-US" sz="1700" dirty="0">
                <a:solidFill>
                  <a:srgbClr val="5F7284"/>
                </a:solidFill>
                <a:latin typeface="Calibri" pitchFamily="34" charset="0"/>
                <a:ea typeface="Calibri" pitchFamily="34" charset="-122"/>
                <a:cs typeface="Calibri" pitchFamily="34" charset="-120"/>
              </a:rPr>
              <a:t>(.venv) at the start of your prompt; each migration ending in OK</a:t>
            </a:r>
            <a:endParaRPr lang="en-US" sz="1700" dirty="0"/>
          </a:p>
        </p:txBody>
      </p:sp>
      <p:sp>
        <p:nvSpPr>
          <p:cNvPr id="17" name="Shape 15"/>
          <p:cNvSpPr/>
          <p:nvPr/>
        </p:nvSpPr>
        <p:spPr>
          <a:xfrm>
            <a:off x="548640" y="4389120"/>
            <a:ext cx="11064240" cy="749808"/>
          </a:xfrm>
          <a:prstGeom prst="roundRect">
            <a:avLst>
              <a:gd name="adj" fmla="val 10976"/>
            </a:avLst>
          </a:prstGeom>
          <a:solidFill>
            <a:srgbClr val="F2F6F8"/>
          </a:solidFill>
          <a:ln/>
          <a:effectLst>
            <a:outerShdw sx="100000" sy="100000" kx="0" ky="0" algn="bl" rotWithShape="0" blurRad="88900" dist="38100" dir="5400000">
              <a:srgbClr val="000000">
                <a:alpha val="13000"/>
              </a:srgbClr>
            </a:outerShdw>
          </a:effectLst>
        </p:spPr>
      </p:sp>
      <p:sp>
        <p:nvSpPr>
          <p:cNvPr id="18" name="Shape 16"/>
          <p:cNvSpPr/>
          <p:nvPr/>
        </p:nvSpPr>
        <p:spPr>
          <a:xfrm>
            <a:off x="777240" y="4526280"/>
            <a:ext cx="475488" cy="475488"/>
          </a:xfrm>
          <a:prstGeom prst="ellipse">
            <a:avLst/>
          </a:prstGeom>
          <a:solidFill>
            <a:srgbClr val="12908F"/>
          </a:solidFill>
          <a:ln/>
        </p:spPr>
      </p:sp>
      <p:sp>
        <p:nvSpPr>
          <p:cNvPr id="19" name="Text 17"/>
          <p:cNvSpPr/>
          <p:nvPr/>
        </p:nvSpPr>
        <p:spPr>
          <a:xfrm>
            <a:off x="777240" y="4526280"/>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0" name="Text 18"/>
          <p:cNvSpPr/>
          <p:nvPr/>
        </p:nvSpPr>
        <p:spPr>
          <a:xfrm>
            <a:off x="1463040" y="4389120"/>
            <a:ext cx="9966960" cy="749808"/>
          </a:xfrm>
          <a:prstGeom prst="rect">
            <a:avLst/>
          </a:prstGeom>
          <a:noFill/>
          <a:ln/>
        </p:spPr>
        <p:txBody>
          <a:bodyPr wrap="square" lIns="0" tIns="0" rIns="0" bIns="0" rtlCol="0" anchor="ctr"/>
          <a:lstStyle/>
          <a:p>
            <a:pPr indent="0" marL="0">
              <a:lnSpc>
                <a:spcPct val="104000"/>
              </a:lnSpc>
              <a:buNone/>
            </a:pPr>
            <a:r>
              <a:rPr lang="en-US" sz="1700" b="1" dirty="0">
                <a:solidFill>
                  <a:srgbClr val="1E2A36"/>
                </a:solidFill>
                <a:latin typeface="Calibri" pitchFamily="34" charset="0"/>
                <a:ea typeface="Calibri" pitchFamily="34" charset="-122"/>
                <a:cs typeface="Calibri" pitchFamily="34" charset="-120"/>
              </a:rPr>
              <a:t>How to run the tests:  </a:t>
            </a:r>
            <a:pPr indent="0" marL="0">
              <a:lnSpc>
                <a:spcPct val="104000"/>
              </a:lnSpc>
              <a:buNone/>
            </a:pPr>
            <a:r>
              <a:rPr lang="en-US" sz="1700" dirty="0">
                <a:solidFill>
                  <a:srgbClr val="5F7284"/>
                </a:solidFill>
                <a:latin typeface="Calibri" pitchFamily="34" charset="0"/>
                <a:ea typeface="Calibri" pitchFamily="34" charset="-122"/>
                <a:cs typeface="Calibri" pitchFamily="34" charset="-120"/>
              </a:rPr>
              <a:t>python manage.py test, and what passing looks like: OK</a:t>
            </a:r>
            <a:endParaRPr lang="en-US" sz="1700" dirty="0"/>
          </a:p>
        </p:txBody>
      </p:sp>
      <p:sp>
        <p:nvSpPr>
          <p:cNvPr id="21" name="Shape 19"/>
          <p:cNvSpPr/>
          <p:nvPr/>
        </p:nvSpPr>
        <p:spPr>
          <a:xfrm>
            <a:off x="548640" y="5257800"/>
            <a:ext cx="11064240" cy="749808"/>
          </a:xfrm>
          <a:prstGeom prst="roundRect">
            <a:avLst>
              <a:gd name="adj" fmla="val 10976"/>
            </a:avLst>
          </a:prstGeom>
          <a:solidFill>
            <a:srgbClr val="F2F6F8"/>
          </a:solidFill>
          <a:ln/>
          <a:effectLst>
            <a:outerShdw sx="100000" sy="100000" kx="0" ky="0" algn="bl" rotWithShape="0" blurRad="88900" dist="38100" dir="5400000">
              <a:srgbClr val="000000">
                <a:alpha val="13000"/>
              </a:srgbClr>
            </a:outerShdw>
          </a:effectLst>
        </p:spPr>
      </p:sp>
      <p:sp>
        <p:nvSpPr>
          <p:cNvPr id="22" name="Shape 20"/>
          <p:cNvSpPr/>
          <p:nvPr/>
        </p:nvSpPr>
        <p:spPr>
          <a:xfrm>
            <a:off x="777240" y="5394960"/>
            <a:ext cx="475488" cy="475488"/>
          </a:xfrm>
          <a:prstGeom prst="ellipse">
            <a:avLst/>
          </a:prstGeom>
          <a:solidFill>
            <a:srgbClr val="12908F"/>
          </a:solidFill>
          <a:ln/>
        </p:spPr>
      </p:sp>
      <p:sp>
        <p:nvSpPr>
          <p:cNvPr id="23" name="Text 21"/>
          <p:cNvSpPr/>
          <p:nvPr/>
        </p:nvSpPr>
        <p:spPr>
          <a:xfrm>
            <a:off x="777240" y="5394960"/>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4" name="Text 22"/>
          <p:cNvSpPr/>
          <p:nvPr/>
        </p:nvSpPr>
        <p:spPr>
          <a:xfrm>
            <a:off x="1463040" y="5257800"/>
            <a:ext cx="9966960" cy="749808"/>
          </a:xfrm>
          <a:prstGeom prst="rect">
            <a:avLst/>
          </a:prstGeom>
          <a:noFill/>
          <a:ln/>
        </p:spPr>
        <p:txBody>
          <a:bodyPr wrap="square" lIns="0" tIns="0" rIns="0" bIns="0" rtlCol="0" anchor="ctr"/>
          <a:lstStyle/>
          <a:p>
            <a:pPr indent="0" marL="0">
              <a:lnSpc>
                <a:spcPct val="104000"/>
              </a:lnSpc>
              <a:buNone/>
            </a:pPr>
            <a:r>
              <a:rPr lang="en-US" sz="1700" b="1" dirty="0">
                <a:solidFill>
                  <a:srgbClr val="1E2A36"/>
                </a:solidFill>
                <a:latin typeface="Calibri" pitchFamily="34" charset="0"/>
                <a:ea typeface="Calibri" pitchFamily="34" charset="-122"/>
                <a:cs typeface="Calibri" pitchFamily="34" charset="-120"/>
              </a:rPr>
              <a:t>When a step fails:  </a:t>
            </a:r>
            <a:pPr indent="0" marL="0">
              <a:lnSpc>
                <a:spcPct val="104000"/>
              </a:lnSpc>
              <a:buNone/>
            </a:pPr>
            <a:r>
              <a:rPr lang="en-US" sz="1700" dirty="0">
                <a:solidFill>
                  <a:srgbClr val="5F7284"/>
                </a:solidFill>
                <a:latin typeface="Calibri" pitchFamily="34" charset="0"/>
                <a:ea typeface="Calibri" pitchFamily="34" charset="-122"/>
                <a:cs typeface="Calibri" pitchFamily="34" charset="-120"/>
              </a:rPr>
              <a:t>KeyError: 'DJANGO_SECRET_KEY' → your .env is missing or its key is empty</a:t>
            </a:r>
            <a:endParaRPr lang="en-US" sz="1700" dirty="0"/>
          </a:p>
        </p:txBody>
      </p:sp>
      <p:sp>
        <p:nvSpPr>
          <p:cNvPr id="25" name="Text 23"/>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20 · Review &amp; Cold Test</a:t>
            </a:r>
            <a:endParaRPr lang="en-US" sz="1000" dirty="0"/>
          </a:p>
        </p:txBody>
      </p:sp>
      <p:sp>
        <p:nvSpPr>
          <p:cNvPr id="26" name="Text 24"/>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PROP LOFT · DOCS/SETUP.MD · SESSION-20</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Two habits worth copying</a:t>
            </a:r>
            <a:endParaRPr lang="en-US" sz="3100" dirty="0"/>
          </a:p>
        </p:txBody>
      </p:sp>
      <p:sp>
        <p:nvSpPr>
          <p:cNvPr id="5" name="Shape 3"/>
          <p:cNvSpPr/>
          <p:nvPr/>
        </p:nvSpPr>
        <p:spPr>
          <a:xfrm>
            <a:off x="548640" y="1783080"/>
            <a:ext cx="5440680" cy="2514600"/>
          </a:xfrm>
          <a:prstGeom prst="roundRect">
            <a:avLst>
              <a:gd name="adj" fmla="val 2909"/>
            </a:avLst>
          </a:prstGeom>
          <a:solidFill>
            <a:srgbClr val="1E3352"/>
          </a:solidFill>
          <a:ln/>
          <a:effectLst>
            <a:outerShdw sx="100000" sy="100000" kx="0" ky="0" algn="bl" rotWithShape="0" blurRad="88900" dist="38100" dir="5400000">
              <a:srgbClr val="000000">
                <a:alpha val="13000"/>
              </a:srgbClr>
            </a:outerShdw>
          </a:effectLst>
        </p:spPr>
      </p:sp>
      <p:sp>
        <p:nvSpPr>
          <p:cNvPr id="6" name="Text 4"/>
          <p:cNvSpPr/>
          <p:nvPr/>
        </p:nvSpPr>
        <p:spPr>
          <a:xfrm>
            <a:off x="822960" y="1947672"/>
            <a:ext cx="4892040" cy="2185416"/>
          </a:xfrm>
          <a:prstGeom prst="rect">
            <a:avLst/>
          </a:prstGeom>
          <a:noFill/>
          <a:ln/>
        </p:spPr>
        <p:txBody>
          <a:bodyPr wrap="square" lIns="0" tIns="0" rIns="0" bIns="0" rtlCol="0" anchor="t"/>
          <a:lstStyle/>
          <a:p>
            <a:pPr indent="0" marL="0">
              <a:lnSpc>
                <a:spcPct val="105000"/>
              </a:lnSpc>
              <a:buNone/>
            </a:pPr>
            <a:r>
              <a:rPr lang="en-US" sz="1500" dirty="0">
                <a:solidFill>
                  <a:srgbClr val="9FB4C7"/>
                </a:solidFill>
                <a:latin typeface="Consolas" pitchFamily="34" charset="0"/>
                <a:ea typeface="Consolas" pitchFamily="34" charset="-122"/>
                <a:cs typeface="Consolas" pitchFamily="34" charset="-120"/>
              </a:rPr>
              <a:t>### 5. Create the database</a:t>
            </a:r>
            <a:endParaRPr lang="en-US" sz="1500" dirty="0"/>
          </a:p>
          <a:p>
            <a:pPr indent="0" marL="0">
              <a:lnSpc>
                <a:spcPct val="105000"/>
              </a:lnSpc>
              <a:buNone/>
            </a:pPr>
            <a:r>
              <a:rPr lang="en-US" sz="1500" dirty="0">
                <a:solidFill>
                  <a:srgbClr val="E8EEF3"/>
                </a:solidFill>
                <a:latin typeface="Consolas" pitchFamily="34" charset="0"/>
                <a:ea typeface="Consolas" pitchFamily="34" charset="-122"/>
                <a:cs typeface="Consolas" pitchFamily="34" charset="-120"/>
              </a:rPr>
              <a:t> </a:t>
            </a:r>
            <a:endParaRPr lang="en-US" sz="1500" dirty="0"/>
          </a:p>
          <a:p>
            <a:pPr indent="0" marL="0">
              <a:lnSpc>
                <a:spcPct val="105000"/>
              </a:lnSpc>
              <a:buNone/>
            </a:pPr>
            <a:r>
              <a:rPr lang="en-US" sz="1500" dirty="0">
                <a:solidFill>
                  <a:srgbClr val="E8EEF3"/>
                </a:solidFill>
                <a:latin typeface="Consolas" pitchFamily="34" charset="0"/>
                <a:ea typeface="Consolas" pitchFamily="34" charset="-122"/>
                <a:cs typeface="Consolas" pitchFamily="34" charset="-120"/>
              </a:rPr>
              <a:t>python manage.py migrate</a:t>
            </a:r>
            <a:endParaRPr lang="en-US" sz="1500" dirty="0"/>
          </a:p>
          <a:p>
            <a:pPr indent="0" marL="0">
              <a:lnSpc>
                <a:spcPct val="105000"/>
              </a:lnSpc>
              <a:buNone/>
            </a:pPr>
            <a:r>
              <a:rPr lang="en-US" sz="1500" dirty="0">
                <a:solidFill>
                  <a:srgbClr val="E8EEF3"/>
                </a:solidFill>
                <a:latin typeface="Consolas" pitchFamily="34" charset="0"/>
                <a:ea typeface="Consolas" pitchFamily="34" charset="-122"/>
                <a:cs typeface="Consolas" pitchFamily="34" charset="-120"/>
              </a:rPr>
              <a:t> </a:t>
            </a:r>
            <a:endParaRPr lang="en-US" sz="1500" dirty="0"/>
          </a:p>
          <a:p>
            <a:pPr indent="0" marL="0">
              <a:lnSpc>
                <a:spcPct val="105000"/>
              </a:lnSpc>
              <a:buNone/>
            </a:pPr>
            <a:r>
              <a:rPr lang="en-US" sz="1500" dirty="0">
                <a:solidFill>
                  <a:srgbClr val="9FE0B5"/>
                </a:solidFill>
                <a:latin typeface="Consolas" pitchFamily="34" charset="0"/>
                <a:ea typeface="Consolas" pitchFamily="34" charset="-122"/>
                <a:cs typeface="Consolas" pitchFamily="34" charset="-120"/>
              </a:rPr>
              <a:t>You should see a list of migrations,</a:t>
            </a:r>
            <a:endParaRPr lang="en-US" sz="1500" dirty="0"/>
          </a:p>
          <a:p>
            <a:pPr indent="0" marL="0">
              <a:lnSpc>
                <a:spcPct val="105000"/>
              </a:lnSpc>
              <a:buNone/>
            </a:pPr>
            <a:r>
              <a:rPr lang="en-US" sz="1500" dirty="0">
                <a:solidFill>
                  <a:srgbClr val="9FE0B5"/>
                </a:solidFill>
                <a:latin typeface="Consolas" pitchFamily="34" charset="0"/>
                <a:ea typeface="Consolas" pitchFamily="34" charset="-122"/>
                <a:cs typeface="Consolas" pitchFamily="34" charset="-120"/>
              </a:rPr>
              <a:t>each ending in OK, with</a:t>
            </a:r>
            <a:endParaRPr lang="en-US" sz="1500" dirty="0"/>
          </a:p>
          <a:p>
            <a:pPr indent="0" marL="0">
              <a:lnSpc>
                <a:spcPct val="105000"/>
              </a:lnSpc>
              <a:buNone/>
            </a:pPr>
            <a:r>
              <a:rPr lang="en-US" sz="1500" dirty="0">
                <a:solidFill>
                  <a:srgbClr val="9FE0B5"/>
                </a:solidFill>
                <a:latin typeface="Consolas" pitchFamily="34" charset="0"/>
                <a:ea typeface="Consolas" pitchFamily="34" charset="-122"/>
                <a:cs typeface="Consolas" pitchFamily="34" charset="-120"/>
              </a:rPr>
              <a:t>catalog.0001_initial among them.</a:t>
            </a:r>
            <a:endParaRPr lang="en-US" sz="1500" dirty="0"/>
          </a:p>
        </p:txBody>
      </p:sp>
      <p:sp>
        <p:nvSpPr>
          <p:cNvPr id="7" name="Shape 5"/>
          <p:cNvSpPr/>
          <p:nvPr/>
        </p:nvSpPr>
        <p:spPr>
          <a:xfrm>
            <a:off x="6172200" y="1783080"/>
            <a:ext cx="5440680" cy="2514600"/>
          </a:xfrm>
          <a:prstGeom prst="roundRect">
            <a:avLst>
              <a:gd name="adj" fmla="val 2909"/>
            </a:avLst>
          </a:prstGeom>
          <a:solidFill>
            <a:srgbClr val="1E3352"/>
          </a:solidFill>
          <a:ln/>
          <a:effectLst>
            <a:outerShdw sx="100000" sy="100000" kx="0" ky="0" algn="bl" rotWithShape="0" blurRad="88900" dist="38100" dir="5400000">
              <a:srgbClr val="000000">
                <a:alpha val="13000"/>
              </a:srgbClr>
            </a:outerShdw>
          </a:effectLst>
        </p:spPr>
      </p:sp>
      <p:sp>
        <p:nvSpPr>
          <p:cNvPr id="8" name="Text 6"/>
          <p:cNvSpPr/>
          <p:nvPr/>
        </p:nvSpPr>
        <p:spPr>
          <a:xfrm>
            <a:off x="6446520" y="1947672"/>
            <a:ext cx="4892040" cy="2185416"/>
          </a:xfrm>
          <a:prstGeom prst="rect">
            <a:avLst/>
          </a:prstGeom>
          <a:noFill/>
          <a:ln/>
        </p:spPr>
        <p:txBody>
          <a:bodyPr wrap="square" lIns="0" tIns="0" rIns="0" bIns="0" rtlCol="0" anchor="t"/>
          <a:lstStyle/>
          <a:p>
            <a:pPr indent="0" marL="0">
              <a:lnSpc>
                <a:spcPct val="105000"/>
              </a:lnSpc>
              <a:buNone/>
            </a:pPr>
            <a:r>
              <a:rPr lang="en-US" sz="1500" dirty="0">
                <a:solidFill>
                  <a:srgbClr val="9FB4C7"/>
                </a:solidFill>
                <a:latin typeface="Consolas" pitchFamily="34" charset="0"/>
                <a:ea typeface="Consolas" pitchFamily="34" charset="-122"/>
                <a:cs typeface="Consolas" pitchFamily="34" charset="-120"/>
              </a:rPr>
              <a:t>## When a step fails</a:t>
            </a:r>
            <a:endParaRPr lang="en-US" sz="1500" dirty="0"/>
          </a:p>
          <a:p>
            <a:pPr indent="0" marL="0">
              <a:lnSpc>
                <a:spcPct val="105000"/>
              </a:lnSpc>
              <a:buNone/>
            </a:pPr>
            <a:r>
              <a:rPr lang="en-US" sz="1500" dirty="0">
                <a:solidFill>
                  <a:srgbClr val="E8EEF3"/>
                </a:solidFill>
                <a:latin typeface="Consolas" pitchFamily="34" charset="0"/>
                <a:ea typeface="Consolas" pitchFamily="34" charset="-122"/>
                <a:cs typeface="Consolas" pitchFamily="34" charset="-120"/>
              </a:rPr>
              <a:t> </a:t>
            </a:r>
            <a:endParaRPr lang="en-US" sz="1500" dirty="0"/>
          </a:p>
          <a:p>
            <a:pPr indent="0" marL="0">
              <a:lnSpc>
                <a:spcPct val="105000"/>
              </a:lnSpc>
              <a:buNone/>
            </a:pPr>
            <a:r>
              <a:rPr lang="en-US" sz="1500" dirty="0">
                <a:solidFill>
                  <a:srgbClr val="F4A99A"/>
                </a:solidFill>
                <a:latin typeface="Consolas" pitchFamily="34" charset="0"/>
                <a:ea typeface="Consolas" pitchFamily="34" charset="-122"/>
                <a:cs typeface="Consolas" pitchFamily="34" charset="-120"/>
              </a:rPr>
              <a:t>KeyError: 'DJANGO_SECRET_KEY'</a:t>
            </a:r>
            <a:endParaRPr lang="en-US" sz="1500" dirty="0"/>
          </a:p>
          <a:p>
            <a:pPr indent="0" marL="0">
              <a:lnSpc>
                <a:spcPct val="105000"/>
              </a:lnSpc>
              <a:buNone/>
            </a:pPr>
            <a:r>
              <a:rPr lang="en-US" sz="1500" dirty="0">
                <a:solidFill>
                  <a:srgbClr val="E8EEF3"/>
                </a:solidFill>
                <a:latin typeface="Consolas" pitchFamily="34" charset="0"/>
                <a:ea typeface="Consolas" pitchFamily="34" charset="-122"/>
                <a:cs typeface="Consolas" pitchFamily="34" charset="-120"/>
              </a:rPr>
              <a:t>at the end of a long error, on any</a:t>
            </a:r>
            <a:endParaRPr lang="en-US" sz="1500" dirty="0"/>
          </a:p>
          <a:p>
            <a:pPr indent="0" marL="0">
              <a:lnSpc>
                <a:spcPct val="105000"/>
              </a:lnSpc>
              <a:buNone/>
            </a:pPr>
            <a:r>
              <a:rPr lang="en-US" sz="1500" dirty="0">
                <a:solidFill>
                  <a:srgbClr val="E8EEF3"/>
                </a:solidFill>
                <a:latin typeface="Consolas" pitchFamily="34" charset="0"/>
                <a:ea typeface="Consolas" pitchFamily="34" charset="-122"/>
                <a:cs typeface="Consolas" pitchFamily="34" charset="-120"/>
              </a:rPr>
              <a:t>manage.py command.</a:t>
            </a:r>
            <a:endParaRPr lang="en-US" sz="1500" dirty="0"/>
          </a:p>
          <a:p>
            <a:pPr indent="0" marL="0">
              <a:lnSpc>
                <a:spcPct val="105000"/>
              </a:lnSpc>
              <a:buNone/>
            </a:pPr>
            <a:r>
              <a:rPr lang="en-US" sz="1500" dirty="0">
                <a:solidFill>
                  <a:srgbClr val="E8EEF3"/>
                </a:solidFill>
                <a:latin typeface="Consolas" pitchFamily="34" charset="0"/>
                <a:ea typeface="Consolas" pitchFamily="34" charset="-122"/>
                <a:cs typeface="Consolas" pitchFamily="34" charset="-120"/>
              </a:rPr>
              <a:t>Django can't find your settings file.</a:t>
            </a:r>
            <a:endParaRPr lang="en-US" sz="1500" dirty="0"/>
          </a:p>
          <a:p>
            <a:pPr indent="0" marL="0">
              <a:lnSpc>
                <a:spcPct val="105000"/>
              </a:lnSpc>
              <a:buNone/>
            </a:pPr>
            <a:r>
              <a:rPr lang="en-US" sz="1500" dirty="0">
                <a:solidFill>
                  <a:srgbClr val="E8EEF3"/>
                </a:solidFill>
                <a:latin typeface="Consolas" pitchFamily="34" charset="0"/>
                <a:ea typeface="Consolas" pitchFamily="34" charset="-122"/>
                <a:cs typeface="Consolas" pitchFamily="34" charset="-120"/>
              </a:rPr>
              <a:t>Make sure .env exists …</a:t>
            </a:r>
            <a:endParaRPr lang="en-US" sz="1500" dirty="0"/>
          </a:p>
        </p:txBody>
      </p:sp>
      <p:sp>
        <p:nvSpPr>
          <p:cNvPr id="9" name="click-1"/>
          <p:cNvSpPr/>
          <p:nvPr/>
        </p:nvSpPr>
        <p:spPr>
          <a:xfrm>
            <a:off x="548640" y="4526280"/>
            <a:ext cx="5440680" cy="1645920"/>
          </a:xfrm>
          <a:prstGeom prst="roundRect">
            <a:avLst>
              <a:gd name="adj" fmla="val 5000"/>
            </a:avLst>
          </a:prstGeom>
          <a:solidFill>
            <a:srgbClr val="F2F6F8"/>
          </a:solidFill>
          <a:ln/>
          <a:effectLst>
            <a:outerShdw sx="100000" sy="100000" kx="0" ky="0" algn="bl" rotWithShape="0" blurRad="88900" dist="38100" dir="5400000">
              <a:srgbClr val="000000">
                <a:alpha val="13000"/>
              </a:srgbClr>
            </a:outerShdw>
          </a:effectLst>
        </p:spPr>
      </p:sp>
      <p:sp>
        <p:nvSpPr>
          <p:cNvPr id="10" name="click-1"/>
          <p:cNvSpPr/>
          <p:nvPr/>
        </p:nvSpPr>
        <p:spPr>
          <a:xfrm>
            <a:off x="822960" y="4526280"/>
            <a:ext cx="4937760" cy="1645920"/>
          </a:xfrm>
          <a:prstGeom prst="rect">
            <a:avLst/>
          </a:prstGeom>
          <a:noFill/>
          <a:ln/>
        </p:spPr>
        <p:txBody>
          <a:bodyPr wrap="square" lIns="0" tIns="0" rIns="0" bIns="0" rtlCol="0" anchor="ctr"/>
          <a:lstStyle/>
          <a:p>
            <a:pPr indent="0" marL="0">
              <a:lnSpc>
                <a:spcPct val="105000"/>
              </a:lnSpc>
              <a:buNone/>
            </a:pPr>
            <a:r>
              <a:rPr lang="en-US" sz="1700" b="1" dirty="0">
                <a:solidFill>
                  <a:srgbClr val="0E6E6D"/>
                </a:solidFill>
                <a:latin typeface="Calibri" pitchFamily="34" charset="0"/>
                <a:ea typeface="Calibri" pitchFamily="34" charset="-122"/>
                <a:cs typeface="Calibri" pitchFamily="34" charset="-120"/>
              </a:rPr>
              <a:t>Checkpoints go where it fails silently</a:t>
            </a:r>
            <a:endParaRPr lang="en-US" sz="1700" dirty="0"/>
          </a:p>
          <a:p>
            <a:pPr indent="0" marL="0">
              <a:lnSpc>
                <a:spcPct val="105000"/>
              </a:lnSpc>
              <a:buNone/>
            </a:pPr>
            <a:r>
              <a:rPr lang="en-US" sz="1700" dirty="0">
                <a:solidFill>
                  <a:srgbClr val="1E2A36"/>
                </a:solidFill>
                <a:latin typeface="Calibri" pitchFamily="34" charset="0"/>
                <a:ea typeface="Calibri" pitchFamily="34" charset="-122"/>
                <a:cs typeface="Calibri" pitchFamily="34" charset="-120"/>
              </a:rPr>
              <a:t>Not after every step. After the ones where a reader can't tell whether it worked.</a:t>
            </a:r>
            <a:endParaRPr lang="en-US" sz="1700" dirty="0"/>
          </a:p>
        </p:txBody>
      </p:sp>
      <p:sp>
        <p:nvSpPr>
          <p:cNvPr id="11" name="click-2"/>
          <p:cNvSpPr/>
          <p:nvPr/>
        </p:nvSpPr>
        <p:spPr>
          <a:xfrm>
            <a:off x="6172200" y="4526280"/>
            <a:ext cx="5440680" cy="1645920"/>
          </a:xfrm>
          <a:prstGeom prst="roundRect">
            <a:avLst>
              <a:gd name="adj" fmla="val 5000"/>
            </a:avLst>
          </a:prstGeom>
          <a:solidFill>
            <a:srgbClr val="F2F6F8"/>
          </a:solidFill>
          <a:ln/>
          <a:effectLst>
            <a:outerShdw sx="100000" sy="100000" kx="0" ky="0" algn="bl" rotWithShape="0" blurRad="88900" dist="38100" dir="5400000">
              <a:srgbClr val="000000">
                <a:alpha val="13000"/>
              </a:srgbClr>
            </a:outerShdw>
          </a:effectLst>
        </p:spPr>
      </p:sp>
      <p:sp>
        <p:nvSpPr>
          <p:cNvPr id="12" name="click-2"/>
          <p:cNvSpPr/>
          <p:nvPr/>
        </p:nvSpPr>
        <p:spPr>
          <a:xfrm>
            <a:off x="6446520" y="4526280"/>
            <a:ext cx="4937760" cy="1645920"/>
          </a:xfrm>
          <a:prstGeom prst="rect">
            <a:avLst/>
          </a:prstGeom>
          <a:noFill/>
          <a:ln/>
        </p:spPr>
        <p:txBody>
          <a:bodyPr wrap="square" lIns="0" tIns="0" rIns="0" bIns="0" rtlCol="0" anchor="ctr"/>
          <a:lstStyle/>
          <a:p>
            <a:pPr indent="0" marL="0">
              <a:lnSpc>
                <a:spcPct val="105000"/>
              </a:lnSpc>
              <a:buNone/>
            </a:pPr>
            <a:r>
              <a:rPr lang="en-US" sz="1700" b="1" dirty="0">
                <a:solidFill>
                  <a:srgbClr val="0E6E6D"/>
                </a:solidFill>
                <a:latin typeface="Calibri" pitchFamily="34" charset="0"/>
                <a:ea typeface="Calibri" pitchFamily="34" charset="-122"/>
                <a:cs typeface="Calibri" pitchFamily="34" charset="-120"/>
              </a:rPr>
              <a:t>Lead with the exact error text</a:t>
            </a:r>
            <a:endParaRPr lang="en-US" sz="1700" dirty="0"/>
          </a:p>
          <a:p>
            <a:pPr indent="0" marL="0">
              <a:lnSpc>
                <a:spcPct val="105000"/>
              </a:lnSpc>
              <a:buNone/>
            </a:pPr>
            <a:r>
              <a:rPr lang="en-US" sz="1700" dirty="0">
                <a:solidFill>
                  <a:srgbClr val="1E2A36"/>
                </a:solidFill>
                <a:latin typeface="Calibri" pitchFamily="34" charset="0"/>
                <a:ea typeface="Calibri" pitchFamily="34" charset="-122"/>
                <a:cs typeface="Calibri" pitchFamily="34" charset="-120"/>
              </a:rPr>
              <a:t>It's what the reader pastes into a search, or into a find on this page.</a:t>
            </a:r>
            <a:endParaRPr lang="en-US" sz="1700" dirty="0"/>
          </a:p>
        </p:txBody>
      </p:sp>
      <p:sp>
        <p:nvSpPr>
          <p:cNvPr id="13" name="Text 11"/>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20 · Review &amp; Cold Test</a:t>
            </a:r>
            <a:endParaRPr lang="en-US" sz="1000" dirty="0"/>
          </a:p>
        </p:txBody>
      </p:sp>
      <p:sp>
        <p:nvSpPr>
          <p:cNvPr id="14" name="Text 12"/>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10</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9"/>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2" presetID="1"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3"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0424160" y="-1188720"/>
            <a:ext cx="3291840" cy="3291840"/>
          </a:xfrm>
          <a:prstGeom prst="ellipse">
            <a:avLst/>
          </a:prstGeom>
          <a:solidFill>
            <a:srgbClr val="1C3252"/>
          </a:solidFill>
          <a:ln/>
        </p:spPr>
      </p:sp>
      <p:sp>
        <p:nvSpPr>
          <p:cNvPr id="3" name="Shape 1"/>
          <p:cNvSpPr/>
          <p:nvPr/>
        </p:nvSpPr>
        <p:spPr>
          <a:xfrm>
            <a:off x="566928" y="548640"/>
            <a:ext cx="137160" cy="137160"/>
          </a:xfrm>
          <a:prstGeom prst="ellipse">
            <a:avLst/>
          </a:prstGeom>
          <a:solidFill>
            <a:srgbClr val="E8A33D"/>
          </a:solidFill>
          <a:ln/>
        </p:spPr>
      </p:sp>
      <p:sp>
        <p:nvSpPr>
          <p:cNvPr id="4" name="Text 2"/>
          <p:cNvSpPr/>
          <p:nvPr/>
        </p:nvSpPr>
        <p:spPr>
          <a:xfrm>
            <a:off x="795528" y="457200"/>
            <a:ext cx="10515600" cy="310896"/>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SELF-CHECK · 4 MIN</a:t>
            </a:r>
            <a:endParaRPr lang="en-US" sz="1400" dirty="0"/>
          </a:p>
        </p:txBody>
      </p:sp>
      <p:sp>
        <p:nvSpPr>
          <p:cNvPr id="5" name="Text 3"/>
          <p:cNvSpPr/>
          <p:nvPr/>
        </p:nvSpPr>
        <p:spPr>
          <a:xfrm>
            <a:off x="548640" y="822960"/>
            <a:ext cx="1106424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Your guide against the five parts</a:t>
            </a:r>
            <a:endParaRPr lang="en-US" sz="3200" dirty="0"/>
          </a:p>
        </p:txBody>
      </p:sp>
      <p:sp>
        <p:nvSpPr>
          <p:cNvPr id="6" name="Shape 4"/>
          <p:cNvSpPr/>
          <p:nvPr/>
        </p:nvSpPr>
        <p:spPr>
          <a:xfrm>
            <a:off x="548640" y="1783080"/>
            <a:ext cx="6583680" cy="512064"/>
          </a:xfrm>
          <a:prstGeom prst="roundRect">
            <a:avLst>
              <a:gd name="adj" fmla="val 16071"/>
            </a:avLst>
          </a:prstGeom>
          <a:solidFill>
            <a:srgbClr val="1E3352"/>
          </a:solidFill>
          <a:ln/>
          <a:effectLst>
            <a:outerShdw sx="100000" sy="100000" kx="0" ky="0" algn="bl" rotWithShape="0" blurRad="88900" dist="38100" dir="5400000">
              <a:srgbClr val="000000">
                <a:alpha val="13000"/>
              </a:srgbClr>
            </a:outerShdw>
          </a:effectLst>
        </p:spPr>
      </p:sp>
      <p:sp>
        <p:nvSpPr>
          <p:cNvPr id="7" name="Shape 5"/>
          <p:cNvSpPr/>
          <p:nvPr/>
        </p:nvSpPr>
        <p:spPr>
          <a:xfrm>
            <a:off x="777240" y="1901952"/>
            <a:ext cx="274320" cy="274320"/>
          </a:xfrm>
          <a:prstGeom prst="rect">
            <a:avLst/>
          </a:prstGeom>
          <a:solidFill>
            <a:srgbClr val="1E3352"/>
          </a:solidFill>
          <a:ln w="25400">
            <a:solidFill>
              <a:srgbClr val="E8A33D"/>
            </a:solidFill>
            <a:prstDash val="solid"/>
          </a:ln>
        </p:spPr>
      </p:sp>
      <p:sp>
        <p:nvSpPr>
          <p:cNvPr id="8" name="Text 6"/>
          <p:cNvSpPr/>
          <p:nvPr/>
        </p:nvSpPr>
        <p:spPr>
          <a:xfrm>
            <a:off x="1280160" y="1783080"/>
            <a:ext cx="5669280" cy="512064"/>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Prerequisites, with versions</a:t>
            </a:r>
            <a:endParaRPr lang="en-US" sz="1700" dirty="0"/>
          </a:p>
        </p:txBody>
      </p:sp>
      <p:sp>
        <p:nvSpPr>
          <p:cNvPr id="9" name="Shape 7"/>
          <p:cNvSpPr/>
          <p:nvPr/>
        </p:nvSpPr>
        <p:spPr>
          <a:xfrm>
            <a:off x="548640" y="2404872"/>
            <a:ext cx="6583680" cy="512064"/>
          </a:xfrm>
          <a:prstGeom prst="roundRect">
            <a:avLst>
              <a:gd name="adj" fmla="val 16071"/>
            </a:avLst>
          </a:prstGeom>
          <a:solidFill>
            <a:srgbClr val="1E3352"/>
          </a:solidFill>
          <a:ln/>
          <a:effectLst>
            <a:outerShdw sx="100000" sy="100000" kx="0" ky="0" algn="bl" rotWithShape="0" blurRad="88900" dist="38100" dir="5400000">
              <a:srgbClr val="000000">
                <a:alpha val="13000"/>
              </a:srgbClr>
            </a:outerShdw>
          </a:effectLst>
        </p:spPr>
      </p:sp>
      <p:sp>
        <p:nvSpPr>
          <p:cNvPr id="10" name="Shape 8"/>
          <p:cNvSpPr/>
          <p:nvPr/>
        </p:nvSpPr>
        <p:spPr>
          <a:xfrm>
            <a:off x="777240" y="2523744"/>
            <a:ext cx="274320" cy="274320"/>
          </a:xfrm>
          <a:prstGeom prst="rect">
            <a:avLst/>
          </a:prstGeom>
          <a:solidFill>
            <a:srgbClr val="1E3352"/>
          </a:solidFill>
          <a:ln w="25400">
            <a:solidFill>
              <a:srgbClr val="E8A33D"/>
            </a:solidFill>
            <a:prstDash val="solid"/>
          </a:ln>
        </p:spPr>
      </p:sp>
      <p:sp>
        <p:nvSpPr>
          <p:cNvPr id="11" name="Text 9"/>
          <p:cNvSpPr/>
          <p:nvPr/>
        </p:nvSpPr>
        <p:spPr>
          <a:xfrm>
            <a:off x="1280160" y="2404872"/>
            <a:ext cx="5669280" cy="512064"/>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Numbered steps, one command each</a:t>
            </a:r>
            <a:endParaRPr lang="en-US" sz="1700" dirty="0"/>
          </a:p>
        </p:txBody>
      </p:sp>
      <p:sp>
        <p:nvSpPr>
          <p:cNvPr id="12" name="Shape 10"/>
          <p:cNvSpPr/>
          <p:nvPr/>
        </p:nvSpPr>
        <p:spPr>
          <a:xfrm>
            <a:off x="548640" y="3026664"/>
            <a:ext cx="6583680" cy="512064"/>
          </a:xfrm>
          <a:prstGeom prst="roundRect">
            <a:avLst>
              <a:gd name="adj" fmla="val 16071"/>
            </a:avLst>
          </a:prstGeom>
          <a:solidFill>
            <a:srgbClr val="1E3352"/>
          </a:solidFill>
          <a:ln/>
          <a:effectLst>
            <a:outerShdw sx="100000" sy="100000" kx="0" ky="0" algn="bl" rotWithShape="0" blurRad="88900" dist="38100" dir="5400000">
              <a:srgbClr val="000000">
                <a:alpha val="13000"/>
              </a:srgbClr>
            </a:outerShdw>
          </a:effectLst>
        </p:spPr>
      </p:sp>
      <p:sp>
        <p:nvSpPr>
          <p:cNvPr id="13" name="Shape 11"/>
          <p:cNvSpPr/>
          <p:nvPr/>
        </p:nvSpPr>
        <p:spPr>
          <a:xfrm>
            <a:off x="777240" y="3145536"/>
            <a:ext cx="274320" cy="274320"/>
          </a:xfrm>
          <a:prstGeom prst="rect">
            <a:avLst/>
          </a:prstGeom>
          <a:solidFill>
            <a:srgbClr val="1E3352"/>
          </a:solidFill>
          <a:ln w="25400">
            <a:solidFill>
              <a:srgbClr val="E8A33D"/>
            </a:solidFill>
            <a:prstDash val="solid"/>
          </a:ln>
        </p:spPr>
      </p:sp>
      <p:sp>
        <p:nvSpPr>
          <p:cNvPr id="14" name="Text 12"/>
          <p:cNvSpPr/>
          <p:nvPr/>
        </p:nvSpPr>
        <p:spPr>
          <a:xfrm>
            <a:off x="1280160" y="3026664"/>
            <a:ext cx="5669280" cy="512064"/>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"You should see…" checkpoints</a:t>
            </a:r>
            <a:endParaRPr lang="en-US" sz="1700" dirty="0"/>
          </a:p>
        </p:txBody>
      </p:sp>
      <p:sp>
        <p:nvSpPr>
          <p:cNvPr id="15" name="Shape 13"/>
          <p:cNvSpPr/>
          <p:nvPr/>
        </p:nvSpPr>
        <p:spPr>
          <a:xfrm>
            <a:off x="548640" y="3648456"/>
            <a:ext cx="6583680" cy="512064"/>
          </a:xfrm>
          <a:prstGeom prst="roundRect">
            <a:avLst>
              <a:gd name="adj" fmla="val 16071"/>
            </a:avLst>
          </a:prstGeom>
          <a:solidFill>
            <a:srgbClr val="1E3352"/>
          </a:solidFill>
          <a:ln/>
          <a:effectLst>
            <a:outerShdw sx="100000" sy="100000" kx="0" ky="0" algn="bl" rotWithShape="0" blurRad="88900" dist="38100" dir="5400000">
              <a:srgbClr val="000000">
                <a:alpha val="13000"/>
              </a:srgbClr>
            </a:outerShdw>
          </a:effectLst>
        </p:spPr>
      </p:sp>
      <p:sp>
        <p:nvSpPr>
          <p:cNvPr id="16" name="Shape 14"/>
          <p:cNvSpPr/>
          <p:nvPr/>
        </p:nvSpPr>
        <p:spPr>
          <a:xfrm>
            <a:off x="777240" y="3767328"/>
            <a:ext cx="274320" cy="274320"/>
          </a:xfrm>
          <a:prstGeom prst="rect">
            <a:avLst/>
          </a:prstGeom>
          <a:solidFill>
            <a:srgbClr val="1E3352"/>
          </a:solidFill>
          <a:ln w="25400">
            <a:solidFill>
              <a:srgbClr val="E8A33D"/>
            </a:solidFill>
            <a:prstDash val="solid"/>
          </a:ln>
        </p:spPr>
      </p:sp>
      <p:sp>
        <p:nvSpPr>
          <p:cNvPr id="17" name="Text 15"/>
          <p:cNvSpPr/>
          <p:nvPr/>
        </p:nvSpPr>
        <p:spPr>
          <a:xfrm>
            <a:off x="1280160" y="3648456"/>
            <a:ext cx="5669280" cy="512064"/>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How to run the tests</a:t>
            </a:r>
            <a:endParaRPr lang="en-US" sz="1700" dirty="0"/>
          </a:p>
        </p:txBody>
      </p:sp>
      <p:sp>
        <p:nvSpPr>
          <p:cNvPr id="18" name="Shape 16"/>
          <p:cNvSpPr/>
          <p:nvPr/>
        </p:nvSpPr>
        <p:spPr>
          <a:xfrm>
            <a:off x="548640" y="4270248"/>
            <a:ext cx="6583680" cy="512064"/>
          </a:xfrm>
          <a:prstGeom prst="roundRect">
            <a:avLst>
              <a:gd name="adj" fmla="val 16071"/>
            </a:avLst>
          </a:prstGeom>
          <a:solidFill>
            <a:srgbClr val="1E3352"/>
          </a:solidFill>
          <a:ln/>
          <a:effectLst>
            <a:outerShdw sx="100000" sy="100000" kx="0" ky="0" algn="bl" rotWithShape="0" blurRad="88900" dist="38100" dir="5400000">
              <a:srgbClr val="000000">
                <a:alpha val="13000"/>
              </a:srgbClr>
            </a:outerShdw>
          </a:effectLst>
        </p:spPr>
      </p:sp>
      <p:sp>
        <p:nvSpPr>
          <p:cNvPr id="19" name="Shape 17"/>
          <p:cNvSpPr/>
          <p:nvPr/>
        </p:nvSpPr>
        <p:spPr>
          <a:xfrm>
            <a:off x="777240" y="4389120"/>
            <a:ext cx="274320" cy="274320"/>
          </a:xfrm>
          <a:prstGeom prst="rect">
            <a:avLst/>
          </a:prstGeom>
          <a:solidFill>
            <a:srgbClr val="1E3352"/>
          </a:solidFill>
          <a:ln w="25400">
            <a:solidFill>
              <a:srgbClr val="E8A33D"/>
            </a:solidFill>
            <a:prstDash val="solid"/>
          </a:ln>
        </p:spPr>
      </p:sp>
      <p:sp>
        <p:nvSpPr>
          <p:cNvPr id="20" name="Text 18"/>
          <p:cNvSpPr/>
          <p:nvPr/>
        </p:nvSpPr>
        <p:spPr>
          <a:xfrm>
            <a:off x="1280160" y="4270248"/>
            <a:ext cx="5669280" cy="512064"/>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When a step fails</a:t>
            </a:r>
            <a:endParaRPr lang="en-US" sz="1700" dirty="0"/>
          </a:p>
        </p:txBody>
      </p:sp>
      <p:sp>
        <p:nvSpPr>
          <p:cNvPr id="21" name="Shape 19"/>
          <p:cNvSpPr/>
          <p:nvPr/>
        </p:nvSpPr>
        <p:spPr>
          <a:xfrm>
            <a:off x="7406640" y="1783080"/>
            <a:ext cx="4206240" cy="2999232"/>
          </a:xfrm>
          <a:prstGeom prst="roundRect">
            <a:avLst>
              <a:gd name="adj" fmla="val 2744"/>
            </a:avLst>
          </a:prstGeom>
          <a:solidFill>
            <a:srgbClr val="1E3352"/>
          </a:solidFill>
          <a:ln/>
          <a:effectLst>
            <a:outerShdw sx="100000" sy="100000" kx="0" ky="0" algn="bl" rotWithShape="0" blurRad="88900" dist="38100" dir="5400000">
              <a:srgbClr val="000000">
                <a:alpha val="13000"/>
              </a:srgbClr>
            </a:outerShdw>
          </a:effectLst>
        </p:spPr>
      </p:sp>
      <p:sp>
        <p:nvSpPr>
          <p:cNvPr id="22" name="Text 20"/>
          <p:cNvSpPr/>
          <p:nvPr/>
        </p:nvSpPr>
        <p:spPr>
          <a:xfrm>
            <a:off x="7680960" y="1783080"/>
            <a:ext cx="3749040" cy="2999232"/>
          </a:xfrm>
          <a:prstGeom prst="rect">
            <a:avLst/>
          </a:prstGeom>
          <a:noFill/>
          <a:ln/>
        </p:spPr>
        <p:txBody>
          <a:bodyPr wrap="square" lIns="0" tIns="0" rIns="0" bIns="0" rtlCol="0" anchor="ctr"/>
          <a:lstStyle/>
          <a:p>
            <a:pPr indent="0" marL="0">
              <a:lnSpc>
                <a:spcPct val="106000"/>
              </a:lnSpc>
              <a:buNone/>
            </a:pPr>
            <a:r>
              <a:rPr lang="en-US" sz="1700" b="1" dirty="0">
                <a:solidFill>
                  <a:srgbClr val="E8A33D"/>
                </a:solidFill>
                <a:latin typeface="Calibri" pitchFamily="34" charset="0"/>
                <a:ea typeface="Calibri" pitchFamily="34" charset="-122"/>
                <a:cs typeface="Calibri" pitchFamily="34" charset="-120"/>
              </a:rPr>
              <a:t>Then fix one</a:t>
            </a:r>
            <a:endParaRPr lang="en-US" sz="1700" dirty="0"/>
          </a:p>
          <a:p>
            <a:pPr indent="0" marL="0">
              <a:lnSpc>
                <a:spcPct val="106000"/>
              </a:lnSpc>
              <a:buNone/>
            </a:pPr>
            <a:r>
              <a:rPr lang="en-US" sz="1700" dirty="0">
                <a:solidFill>
                  <a:srgbClr val="CFE0E9"/>
                </a:solidFill>
                <a:latin typeface="Calibri" pitchFamily="34" charset="0"/>
                <a:ea typeface="Calibri" pitchFamily="34" charset="-122"/>
                <a:cs typeface="Calibri" pitchFamily="34" charset="-120"/>
              </a:rPr>
              <a:t>The missing part you can fix in two minutes, on the PR. Usually a version or a You should see.</a:t>
            </a:r>
            <a:endParaRPr lang="en-US" sz="1700" dirty="0"/>
          </a:p>
        </p:txBody>
      </p:sp>
      <p:sp>
        <p:nvSpPr>
          <p:cNvPr id="23" name="Shape 21"/>
          <p:cNvSpPr/>
          <p:nvPr/>
        </p:nvSpPr>
        <p:spPr>
          <a:xfrm>
            <a:off x="548640" y="5166360"/>
            <a:ext cx="11064240" cy="960120"/>
          </a:xfrm>
          <a:prstGeom prst="roundRect">
            <a:avLst>
              <a:gd name="adj" fmla="val 8571"/>
            </a:avLst>
          </a:prstGeom>
          <a:solidFill>
            <a:srgbClr val="E8A33D"/>
          </a:solidFill>
          <a:ln/>
          <a:effectLst>
            <a:outerShdw sx="100000" sy="100000" kx="0" ky="0" algn="bl" rotWithShape="0" blurRad="88900" dist="38100" dir="5400000">
              <a:srgbClr val="000000">
                <a:alpha val="13000"/>
              </a:srgbClr>
            </a:outerShdw>
          </a:effectLst>
        </p:spPr>
      </p:sp>
      <p:sp>
        <p:nvSpPr>
          <p:cNvPr id="24" name="Text 22"/>
          <p:cNvSpPr/>
          <p:nvPr/>
        </p:nvSpPr>
        <p:spPr>
          <a:xfrm>
            <a:off x="868680" y="5166360"/>
            <a:ext cx="10424160" cy="960120"/>
          </a:xfrm>
          <a:prstGeom prst="rect">
            <a:avLst/>
          </a:prstGeom>
          <a:noFill/>
          <a:ln/>
        </p:spPr>
        <p:txBody>
          <a:bodyPr wrap="square" lIns="0" tIns="0" rIns="0" bIns="0" rtlCol="0" anchor="ctr"/>
          <a:lstStyle/>
          <a:p>
            <a:pPr indent="0" marL="0">
              <a:buNone/>
            </a:pPr>
            <a:r>
              <a:rPr lang="en-US" sz="1700" b="1" dirty="0">
                <a:solidFill>
                  <a:srgbClr val="14233A"/>
                </a:solidFill>
                <a:latin typeface="Calibri" pitchFamily="34" charset="0"/>
                <a:ea typeface="Calibri" pitchFamily="34" charset="-122"/>
                <a:cs typeface="Calibri" pitchFamily="34" charset="-120"/>
              </a:rPr>
              <a:t>README's quickstart: the short version, with a link to the guide. Then send your partner the repo URL and the branch.</a:t>
            </a:r>
            <a:endParaRPr lang="en-US" sz="1700" dirty="0"/>
          </a:p>
        </p:txBody>
      </p:sp>
      <p:sp>
        <p:nvSpPr>
          <p:cNvPr id="25" name="Text 23"/>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7E92A8"/>
                </a:solidFill>
                <a:latin typeface="Calibri" pitchFamily="34" charset="0"/>
                <a:ea typeface="Calibri" pitchFamily="34" charset="-122"/>
                <a:cs typeface="Calibri" pitchFamily="34" charset="-120"/>
              </a:rPr>
              <a:t>CS 301R · Session 20 · Review &amp; Cold Test</a:t>
            </a:r>
            <a:endParaRPr lang="en-US" sz="1000" dirty="0"/>
          </a:p>
        </p:txBody>
      </p:sp>
      <p:sp>
        <p:nvSpPr>
          <p:cNvPr id="26" name="Text 24"/>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7E92A8"/>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0424160" y="-1188720"/>
            <a:ext cx="3291840" cy="3291840"/>
          </a:xfrm>
          <a:prstGeom prst="ellipse">
            <a:avLst/>
          </a:prstGeom>
          <a:solidFill>
            <a:srgbClr val="1C3252"/>
          </a:solidFill>
          <a:ln/>
        </p:spPr>
      </p:sp>
      <p:sp>
        <p:nvSpPr>
          <p:cNvPr id="3" name="Shape 1"/>
          <p:cNvSpPr/>
          <p:nvPr/>
        </p:nvSpPr>
        <p:spPr>
          <a:xfrm>
            <a:off x="566928" y="548640"/>
            <a:ext cx="137160" cy="137160"/>
          </a:xfrm>
          <a:prstGeom prst="ellipse">
            <a:avLst/>
          </a:prstGeom>
          <a:solidFill>
            <a:srgbClr val="E8A33D"/>
          </a:solidFill>
          <a:ln/>
        </p:spPr>
      </p:sp>
      <p:sp>
        <p:nvSpPr>
          <p:cNvPr id="4" name="Text 2"/>
          <p:cNvSpPr/>
          <p:nvPr/>
        </p:nvSpPr>
        <p:spPr>
          <a:xfrm>
            <a:off x="795528" y="457200"/>
            <a:ext cx="10515600" cy="310896"/>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THE COLD TEST · 30 MIN</a:t>
            </a:r>
            <a:endParaRPr lang="en-US" sz="1400" dirty="0"/>
          </a:p>
        </p:txBody>
      </p:sp>
      <p:sp>
        <p:nvSpPr>
          <p:cNvPr id="5" name="Text 3"/>
          <p:cNvSpPr/>
          <p:nvPr/>
        </p:nvSpPr>
        <p:spPr>
          <a:xfrm>
            <a:off x="548640" y="822960"/>
            <a:ext cx="1106424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Follow your partner's guide, exactly as written</a:t>
            </a:r>
            <a:endParaRPr lang="en-US" sz="3200" dirty="0"/>
          </a:p>
        </p:txBody>
      </p:sp>
      <p:sp>
        <p:nvSpPr>
          <p:cNvPr id="6" name="Shape 4"/>
          <p:cNvSpPr/>
          <p:nvPr/>
        </p:nvSpPr>
        <p:spPr>
          <a:xfrm>
            <a:off x="548640" y="1783080"/>
            <a:ext cx="11064240" cy="713232"/>
          </a:xfrm>
          <a:prstGeom prst="roundRect">
            <a:avLst>
              <a:gd name="adj" fmla="val 11538"/>
            </a:avLst>
          </a:prstGeom>
          <a:solidFill>
            <a:srgbClr val="1E3352"/>
          </a:solidFill>
          <a:ln/>
          <a:effectLst>
            <a:outerShdw sx="100000" sy="100000" kx="0" ky="0" algn="bl" rotWithShape="0" blurRad="88900" dist="38100" dir="5400000">
              <a:srgbClr val="000000">
                <a:alpha val="13000"/>
              </a:srgbClr>
            </a:outerShdw>
          </a:effectLst>
        </p:spPr>
      </p:sp>
      <p:sp>
        <p:nvSpPr>
          <p:cNvPr id="7" name="Shape 5"/>
          <p:cNvSpPr/>
          <p:nvPr/>
        </p:nvSpPr>
        <p:spPr>
          <a:xfrm>
            <a:off x="777240" y="1901952"/>
            <a:ext cx="475488" cy="475488"/>
          </a:xfrm>
          <a:prstGeom prst="ellipse">
            <a:avLst/>
          </a:prstGeom>
          <a:solidFill>
            <a:srgbClr val="E8A33D"/>
          </a:solidFill>
          <a:ln/>
        </p:spPr>
      </p:sp>
      <p:pic>
        <p:nvPicPr>
          <p:cNvPr id="8" name="Image 0" descr="preencoded.png">    </p:cNvPr>
          <p:cNvPicPr>
            <a:picLocks noChangeAspect="1"/>
          </p:cNvPicPr>
          <p:nvPr/>
        </p:nvPicPr>
        <p:blipFill>
          <a:blip r:embed="rId1"/>
          <a:stretch>
            <a:fillRect/>
          </a:stretch>
        </p:blipFill>
        <p:spPr>
          <a:xfrm>
            <a:off x="905622" y="2030334"/>
            <a:ext cx="218724" cy="218724"/>
          </a:xfrm>
          <a:prstGeom prst="rect">
            <a:avLst/>
          </a:prstGeom>
        </p:spPr>
      </p:pic>
      <p:sp>
        <p:nvSpPr>
          <p:cNvPr id="9" name="Text 6"/>
          <p:cNvSpPr/>
          <p:nvPr/>
        </p:nvSpPr>
        <p:spPr>
          <a:xfrm>
            <a:off x="1463040" y="1783080"/>
            <a:ext cx="2651760" cy="713232"/>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Fresh clone</a:t>
            </a:r>
            <a:endParaRPr lang="en-US" sz="1800" dirty="0"/>
          </a:p>
        </p:txBody>
      </p:sp>
      <p:sp>
        <p:nvSpPr>
          <p:cNvPr id="10" name="Text 7"/>
          <p:cNvSpPr/>
          <p:nvPr/>
        </p:nvSpPr>
        <p:spPr>
          <a:xfrm>
            <a:off x="4114800" y="1783080"/>
            <a:ext cx="7315200" cy="713232"/>
          </a:xfrm>
          <a:prstGeom prst="rect">
            <a:avLst/>
          </a:prstGeom>
          <a:noFill/>
          <a:ln/>
        </p:spPr>
        <p:txBody>
          <a:bodyPr wrap="square" lIns="0" tIns="0" rIns="0" bIns="0" rtlCol="0" anchor="ctr"/>
          <a:lstStyle/>
          <a:p>
            <a:pPr indent="0" marL="0">
              <a:buNone/>
            </a:pPr>
            <a:r>
              <a:rPr lang="en-US" sz="1600" dirty="0">
                <a:solidFill>
                  <a:srgbClr val="CFE0E9"/>
                </a:solidFill>
                <a:latin typeface="Calibri" pitchFamily="34" charset="0"/>
                <a:ea typeface="Calibri" pitchFamily="34" charset="-122"/>
                <a:cs typeface="Calibri" pitchFamily="34" charset="-120"/>
              </a:rPr>
              <a:t>Of the guide's branch, in a new folder. Keep tools you already have; install nothing the guide doesn't say to.</a:t>
            </a:r>
            <a:endParaRPr lang="en-US" sz="1600" dirty="0"/>
          </a:p>
        </p:txBody>
      </p:sp>
      <p:sp>
        <p:nvSpPr>
          <p:cNvPr id="11" name="Shape 8"/>
          <p:cNvSpPr/>
          <p:nvPr/>
        </p:nvSpPr>
        <p:spPr>
          <a:xfrm>
            <a:off x="548640" y="2606040"/>
            <a:ext cx="11064240" cy="713232"/>
          </a:xfrm>
          <a:prstGeom prst="roundRect">
            <a:avLst>
              <a:gd name="adj" fmla="val 11538"/>
            </a:avLst>
          </a:prstGeom>
          <a:solidFill>
            <a:srgbClr val="1E3352"/>
          </a:solidFill>
          <a:ln/>
          <a:effectLst>
            <a:outerShdw sx="100000" sy="100000" kx="0" ky="0" algn="bl" rotWithShape="0" blurRad="88900" dist="38100" dir="5400000">
              <a:srgbClr val="000000">
                <a:alpha val="13000"/>
              </a:srgbClr>
            </a:outerShdw>
          </a:effectLst>
        </p:spPr>
      </p:sp>
      <p:sp>
        <p:nvSpPr>
          <p:cNvPr id="12" name="Shape 9"/>
          <p:cNvSpPr/>
          <p:nvPr/>
        </p:nvSpPr>
        <p:spPr>
          <a:xfrm>
            <a:off x="777240" y="2724912"/>
            <a:ext cx="475488" cy="475488"/>
          </a:xfrm>
          <a:prstGeom prst="ellipse">
            <a:avLst/>
          </a:prstGeom>
          <a:solidFill>
            <a:srgbClr val="E8A33D"/>
          </a:solidFill>
          <a:ln/>
        </p:spPr>
      </p:sp>
      <p:pic>
        <p:nvPicPr>
          <p:cNvPr id="13" name="Image 1" descr="preencoded.png">    </p:cNvPr>
          <p:cNvPicPr>
            <a:picLocks noChangeAspect="1"/>
          </p:cNvPicPr>
          <p:nvPr/>
        </p:nvPicPr>
        <p:blipFill>
          <a:blip r:embed="rId2"/>
          <a:stretch>
            <a:fillRect/>
          </a:stretch>
        </p:blipFill>
        <p:spPr>
          <a:xfrm>
            <a:off x="905622" y="2853294"/>
            <a:ext cx="218724" cy="218724"/>
          </a:xfrm>
          <a:prstGeom prst="rect">
            <a:avLst/>
          </a:prstGeom>
        </p:spPr>
      </p:pic>
      <p:sp>
        <p:nvSpPr>
          <p:cNvPr id="14" name="Text 10"/>
          <p:cNvSpPr/>
          <p:nvPr/>
        </p:nvSpPr>
        <p:spPr>
          <a:xfrm>
            <a:off x="1463040" y="2606040"/>
            <a:ext cx="2651760" cy="713232"/>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Exactly as written</a:t>
            </a:r>
            <a:endParaRPr lang="en-US" sz="1800" dirty="0"/>
          </a:p>
        </p:txBody>
      </p:sp>
      <p:sp>
        <p:nvSpPr>
          <p:cNvPr id="15" name="Text 11"/>
          <p:cNvSpPr/>
          <p:nvPr/>
        </p:nvSpPr>
        <p:spPr>
          <a:xfrm>
            <a:off x="4114800" y="2606040"/>
            <a:ext cx="7315200" cy="713232"/>
          </a:xfrm>
          <a:prstGeom prst="rect">
            <a:avLst/>
          </a:prstGeom>
          <a:noFill/>
          <a:ln/>
        </p:spPr>
        <p:txBody>
          <a:bodyPr wrap="square" lIns="0" tIns="0" rIns="0" bIns="0" rtlCol="0" anchor="ctr"/>
          <a:lstStyle/>
          <a:p>
            <a:pPr indent="0" marL="0">
              <a:buNone/>
            </a:pPr>
            <a:r>
              <a:rPr lang="en-US" sz="1600" dirty="0">
                <a:solidFill>
                  <a:srgbClr val="CFE0E9"/>
                </a:solidFill>
                <a:latin typeface="Calibri" pitchFamily="34" charset="0"/>
                <a:ea typeface="Calibri" pitchFamily="34" charset="-122"/>
                <a:cs typeface="Calibri" pitchFamily="34" charset="-120"/>
              </a:rPr>
              <a:t>Don't fill gaps from what you know. A gap you fill quietly is one the next reader falls into.</a:t>
            </a:r>
            <a:endParaRPr lang="en-US" sz="1600" dirty="0"/>
          </a:p>
        </p:txBody>
      </p:sp>
      <p:sp>
        <p:nvSpPr>
          <p:cNvPr id="16" name="Shape 12"/>
          <p:cNvSpPr/>
          <p:nvPr/>
        </p:nvSpPr>
        <p:spPr>
          <a:xfrm>
            <a:off x="548640" y="3429000"/>
            <a:ext cx="11064240" cy="713232"/>
          </a:xfrm>
          <a:prstGeom prst="roundRect">
            <a:avLst>
              <a:gd name="adj" fmla="val 11538"/>
            </a:avLst>
          </a:prstGeom>
          <a:solidFill>
            <a:srgbClr val="1E3352"/>
          </a:solidFill>
          <a:ln/>
          <a:effectLst>
            <a:outerShdw sx="100000" sy="100000" kx="0" ky="0" algn="bl" rotWithShape="0" blurRad="88900" dist="38100" dir="5400000">
              <a:srgbClr val="000000">
                <a:alpha val="13000"/>
              </a:srgbClr>
            </a:outerShdw>
          </a:effectLst>
        </p:spPr>
      </p:sp>
      <p:sp>
        <p:nvSpPr>
          <p:cNvPr id="17" name="Shape 13"/>
          <p:cNvSpPr/>
          <p:nvPr/>
        </p:nvSpPr>
        <p:spPr>
          <a:xfrm>
            <a:off x="777240" y="3547872"/>
            <a:ext cx="475488" cy="475488"/>
          </a:xfrm>
          <a:prstGeom prst="ellipse">
            <a:avLst/>
          </a:prstGeom>
          <a:solidFill>
            <a:srgbClr val="E8A33D"/>
          </a:solidFill>
          <a:ln/>
        </p:spPr>
      </p:sp>
      <p:pic>
        <p:nvPicPr>
          <p:cNvPr id="18" name="Image 2" descr="preencoded.png">    </p:cNvPr>
          <p:cNvPicPr>
            <a:picLocks noChangeAspect="1"/>
          </p:cNvPicPr>
          <p:nvPr/>
        </p:nvPicPr>
        <p:blipFill>
          <a:blip r:embed="rId3"/>
          <a:stretch>
            <a:fillRect/>
          </a:stretch>
        </p:blipFill>
        <p:spPr>
          <a:xfrm>
            <a:off x="905622" y="3676254"/>
            <a:ext cx="218724" cy="218724"/>
          </a:xfrm>
          <a:prstGeom prst="rect">
            <a:avLst/>
          </a:prstGeom>
        </p:spPr>
      </p:pic>
      <p:sp>
        <p:nvSpPr>
          <p:cNvPr id="19" name="Text 14"/>
          <p:cNvSpPr/>
          <p:nvPr/>
        </p:nvSpPr>
        <p:spPr>
          <a:xfrm>
            <a:off x="1463040" y="3429000"/>
            <a:ext cx="2651760" cy="713232"/>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Don't ask the author</a:t>
            </a:r>
            <a:endParaRPr lang="en-US" sz="1800" dirty="0"/>
          </a:p>
        </p:txBody>
      </p:sp>
      <p:sp>
        <p:nvSpPr>
          <p:cNvPr id="20" name="Text 15"/>
          <p:cNvSpPr/>
          <p:nvPr/>
        </p:nvSpPr>
        <p:spPr>
          <a:xfrm>
            <a:off x="4114800" y="3429000"/>
            <a:ext cx="7315200" cy="713232"/>
          </a:xfrm>
          <a:prstGeom prst="rect">
            <a:avLst/>
          </a:prstGeom>
          <a:noFill/>
          <a:ln/>
        </p:spPr>
        <p:txBody>
          <a:bodyPr wrap="square" lIns="0" tIns="0" rIns="0" bIns="0" rtlCol="0" anchor="ctr"/>
          <a:lstStyle/>
          <a:p>
            <a:pPr indent="0" marL="0">
              <a:buNone/>
            </a:pPr>
            <a:r>
              <a:rPr lang="en-US" sz="1600" dirty="0">
                <a:solidFill>
                  <a:srgbClr val="CFE0E9"/>
                </a:solidFill>
                <a:latin typeface="Calibri" pitchFamily="34" charset="0"/>
                <a:ea typeface="Calibri" pitchFamily="34" charset="-122"/>
                <a:cs typeface="Calibri" pitchFamily="34" charset="-120"/>
              </a:rPr>
              <a:t>They're running your guide right now. Questions go in an issue, unless the 5-minute rule below applies.</a:t>
            </a:r>
            <a:endParaRPr lang="en-US" sz="1600" dirty="0"/>
          </a:p>
        </p:txBody>
      </p:sp>
      <p:sp>
        <p:nvSpPr>
          <p:cNvPr id="21" name="Shape 16"/>
          <p:cNvSpPr/>
          <p:nvPr/>
        </p:nvSpPr>
        <p:spPr>
          <a:xfrm>
            <a:off x="548640" y="4251960"/>
            <a:ext cx="11064240" cy="713232"/>
          </a:xfrm>
          <a:prstGeom prst="roundRect">
            <a:avLst>
              <a:gd name="adj" fmla="val 11538"/>
            </a:avLst>
          </a:prstGeom>
          <a:solidFill>
            <a:srgbClr val="1E3352"/>
          </a:solidFill>
          <a:ln/>
          <a:effectLst>
            <a:outerShdw sx="100000" sy="100000" kx="0" ky="0" algn="bl" rotWithShape="0" blurRad="88900" dist="38100" dir="5400000">
              <a:srgbClr val="000000">
                <a:alpha val="13000"/>
              </a:srgbClr>
            </a:outerShdw>
          </a:effectLst>
        </p:spPr>
      </p:sp>
      <p:sp>
        <p:nvSpPr>
          <p:cNvPr id="22" name="Shape 17"/>
          <p:cNvSpPr/>
          <p:nvPr/>
        </p:nvSpPr>
        <p:spPr>
          <a:xfrm>
            <a:off x="777240" y="4370832"/>
            <a:ext cx="475488" cy="475488"/>
          </a:xfrm>
          <a:prstGeom prst="ellipse">
            <a:avLst/>
          </a:prstGeom>
          <a:solidFill>
            <a:srgbClr val="E8A33D"/>
          </a:solidFill>
          <a:ln/>
        </p:spPr>
      </p:sp>
      <p:pic>
        <p:nvPicPr>
          <p:cNvPr id="23" name="Image 3" descr="preencoded.png">    </p:cNvPr>
          <p:cNvPicPr>
            <a:picLocks noChangeAspect="1"/>
          </p:cNvPicPr>
          <p:nvPr/>
        </p:nvPicPr>
        <p:blipFill>
          <a:blip r:embed="rId4"/>
          <a:stretch>
            <a:fillRect/>
          </a:stretch>
        </p:blipFill>
        <p:spPr>
          <a:xfrm>
            <a:off x="905622" y="4499214"/>
            <a:ext cx="218724" cy="218724"/>
          </a:xfrm>
          <a:prstGeom prst="rect">
            <a:avLst/>
          </a:prstGeom>
        </p:spPr>
      </p:pic>
      <p:sp>
        <p:nvSpPr>
          <p:cNvPr id="24" name="Text 18"/>
          <p:cNvSpPr/>
          <p:nvPr/>
        </p:nvSpPr>
        <p:spPr>
          <a:xfrm>
            <a:off x="1463040" y="4251960"/>
            <a:ext cx="2651760" cy="713232"/>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Every stumble → an issue</a:t>
            </a:r>
            <a:endParaRPr lang="en-US" sz="1800" dirty="0"/>
          </a:p>
        </p:txBody>
      </p:sp>
      <p:sp>
        <p:nvSpPr>
          <p:cNvPr id="25" name="Text 19"/>
          <p:cNvSpPr/>
          <p:nvPr/>
        </p:nvSpPr>
        <p:spPr>
          <a:xfrm>
            <a:off x="4114800" y="4251960"/>
            <a:ext cx="7315200" cy="713232"/>
          </a:xfrm>
          <a:prstGeom prst="rect">
            <a:avLst/>
          </a:prstGeom>
          <a:noFill/>
          <a:ln/>
        </p:spPr>
        <p:txBody>
          <a:bodyPr wrap="square" lIns="0" tIns="0" rIns="0" bIns="0" rtlCol="0" anchor="ctr"/>
          <a:lstStyle/>
          <a:p>
            <a:pPr indent="0" marL="0">
              <a:buNone/>
            </a:pPr>
            <a:r>
              <a:rPr lang="en-US" sz="1600" dirty="0">
                <a:solidFill>
                  <a:srgbClr val="CFE0E9"/>
                </a:solidFill>
                <a:latin typeface="Calibri" pitchFamily="34" charset="0"/>
                <a:ea typeface="Calibri" pitchFamily="34" charset="-122"/>
                <a:cs typeface="Calibri" pitchFamily="34" charset="-120"/>
              </a:rPr>
              <a:t>On the author's repo, through their bug template, naming the step.</a:t>
            </a:r>
            <a:endParaRPr lang="en-US" sz="1600" dirty="0"/>
          </a:p>
        </p:txBody>
      </p:sp>
      <p:sp>
        <p:nvSpPr>
          <p:cNvPr id="26" name="Shape 20"/>
          <p:cNvSpPr/>
          <p:nvPr/>
        </p:nvSpPr>
        <p:spPr>
          <a:xfrm>
            <a:off x="548640" y="5257800"/>
            <a:ext cx="11064240" cy="914400"/>
          </a:xfrm>
          <a:prstGeom prst="roundRect">
            <a:avLst>
              <a:gd name="adj" fmla="val 9000"/>
            </a:avLst>
          </a:prstGeom>
          <a:solidFill>
            <a:srgbClr val="E8A33D"/>
          </a:solidFill>
          <a:ln/>
          <a:effectLst>
            <a:outerShdw sx="100000" sy="100000" kx="0" ky="0" algn="bl" rotWithShape="0" blurRad="88900" dist="38100" dir="5400000">
              <a:srgbClr val="000000">
                <a:alpha val="13000"/>
              </a:srgbClr>
            </a:outerShdw>
          </a:effectLst>
        </p:spPr>
      </p:sp>
      <p:sp>
        <p:nvSpPr>
          <p:cNvPr id="27" name="Text 21"/>
          <p:cNvSpPr/>
          <p:nvPr/>
        </p:nvSpPr>
        <p:spPr>
          <a:xfrm>
            <a:off x="868680" y="5257800"/>
            <a:ext cx="10424160" cy="914400"/>
          </a:xfrm>
          <a:prstGeom prst="rect">
            <a:avLst/>
          </a:prstGeom>
          <a:noFill/>
          <a:ln/>
        </p:spPr>
        <p:txBody>
          <a:bodyPr wrap="square" lIns="0" tIns="0" rIns="0" bIns="0" rtlCol="0" anchor="ctr"/>
          <a:lstStyle/>
          <a:p>
            <a:pPr indent="0" marL="0">
              <a:lnSpc>
                <a:spcPct val="104000"/>
              </a:lnSpc>
              <a:buNone/>
            </a:pPr>
            <a:r>
              <a:rPr lang="en-US" sz="1650" b="1" dirty="0">
                <a:solidFill>
                  <a:srgbClr val="14233A"/>
                </a:solidFill>
                <a:latin typeface="Calibri" pitchFamily="34" charset="0"/>
                <a:ea typeface="Calibri" pitchFamily="34" charset="-122"/>
                <a:cs typeface="Calibri" pitchFamily="34" charset="-120"/>
              </a:rPr>
              <a:t>Stuck 5 minutes on one step?  </a:t>
            </a:r>
            <a:pPr indent="0" marL="0">
              <a:lnSpc>
                <a:spcPct val="104000"/>
              </a:lnSpc>
              <a:buNone/>
            </a:pPr>
            <a:r>
              <a:rPr lang="en-US" sz="1650" dirty="0">
                <a:solidFill>
                  <a:srgbClr val="14233A"/>
                </a:solidFill>
                <a:latin typeface="Calibri" pitchFamily="34" charset="0"/>
                <a:ea typeface="Calibri" pitchFamily="34" charset="-122"/>
                <a:cs typeface="Calibri" pitchFamily="34" charset="-120"/>
              </a:rPr>
              <a:t>File the issue, ask the author for just enough to get past it, and say in the issue that you needed help.</a:t>
            </a:r>
            <a:endParaRPr lang="en-US" sz="1650" dirty="0"/>
          </a:p>
        </p:txBody>
      </p:sp>
      <p:sp>
        <p:nvSpPr>
          <p:cNvPr id="28" name="Text 22"/>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7E92A8"/>
                </a:solidFill>
                <a:latin typeface="Calibri" pitchFamily="34" charset="0"/>
                <a:ea typeface="Calibri" pitchFamily="34" charset="-122"/>
                <a:cs typeface="Calibri" pitchFamily="34" charset="-120"/>
              </a:rPr>
              <a:t>CS 301R · Session 20 · Review &amp; Cold Test</a:t>
            </a:r>
            <a:endParaRPr lang="en-US" sz="1000" dirty="0"/>
          </a:p>
        </p:txBody>
      </p:sp>
      <p:sp>
        <p:nvSpPr>
          <p:cNvPr id="29" name="Text 23"/>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7E92A8"/>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FILING WHAT YOU HIT</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An issue the author can fix without asking you anything</a:t>
            </a:r>
            <a:endParaRPr lang="en-US" sz="3100" dirty="0"/>
          </a:p>
        </p:txBody>
      </p:sp>
      <p:sp>
        <p:nvSpPr>
          <p:cNvPr id="5" name="Shape 3"/>
          <p:cNvSpPr/>
          <p:nvPr/>
        </p:nvSpPr>
        <p:spPr>
          <a:xfrm>
            <a:off x="548640" y="1783080"/>
            <a:ext cx="6400800" cy="3657600"/>
          </a:xfrm>
          <a:prstGeom prst="roundRect">
            <a:avLst>
              <a:gd name="adj" fmla="val 2000"/>
            </a:avLst>
          </a:prstGeom>
          <a:solidFill>
            <a:srgbClr val="1E3352"/>
          </a:solidFill>
          <a:ln/>
          <a:effectLst>
            <a:outerShdw sx="100000" sy="100000" kx="0" ky="0" algn="bl" rotWithShape="0" blurRad="88900" dist="38100" dir="5400000">
              <a:srgbClr val="000000">
                <a:alpha val="13000"/>
              </a:srgbClr>
            </a:outerShdw>
          </a:effectLst>
        </p:spPr>
      </p:sp>
      <p:sp>
        <p:nvSpPr>
          <p:cNvPr id="6" name="Text 4"/>
          <p:cNvSpPr/>
          <p:nvPr/>
        </p:nvSpPr>
        <p:spPr>
          <a:xfrm>
            <a:off x="822960" y="1947672"/>
            <a:ext cx="5852160" cy="3328416"/>
          </a:xfrm>
          <a:prstGeom prst="rect">
            <a:avLst/>
          </a:prstGeom>
          <a:noFill/>
          <a:ln/>
        </p:spPr>
        <p:txBody>
          <a:bodyPr wrap="square" lIns="0" tIns="0" rIns="0" bIns="0" rtlCol="0" anchor="t"/>
          <a:lstStyle/>
          <a:p>
            <a:pPr indent="0" marL="0">
              <a:lnSpc>
                <a:spcPct val="105000"/>
              </a:lnSpc>
              <a:buNone/>
            </a:pPr>
            <a:r>
              <a:rPr lang="en-US" sz="1500" dirty="0">
                <a:solidFill>
                  <a:srgbClr val="FFFFFF"/>
                </a:solidFill>
                <a:latin typeface="Consolas" pitchFamily="34" charset="0"/>
                <a:ea typeface="Consolas" pitchFamily="34" charset="-122"/>
                <a:cs typeface="Consolas" pitchFamily="34" charset="-120"/>
              </a:rPr>
              <a:t>Title: Step 3 fails: npm install needs Node 20</a:t>
            </a:r>
            <a:endParaRPr lang="en-US" sz="1500" dirty="0"/>
          </a:p>
          <a:p>
            <a:pPr indent="0" marL="0">
              <a:lnSpc>
                <a:spcPct val="105000"/>
              </a:lnSpc>
              <a:buNone/>
            </a:pPr>
            <a:r>
              <a:rPr lang="en-US" sz="1500" dirty="0">
                <a:solidFill>
                  <a:srgbClr val="E8EEF3"/>
                </a:solidFill>
                <a:latin typeface="Consolas" pitchFamily="34" charset="0"/>
                <a:ea typeface="Consolas" pitchFamily="34" charset="-122"/>
                <a:cs typeface="Consolas" pitchFamily="34" charset="-120"/>
              </a:rPr>
              <a:t> </a:t>
            </a:r>
            <a:endParaRPr lang="en-US" sz="1500" dirty="0"/>
          </a:p>
          <a:p>
            <a:pPr indent="0" marL="0">
              <a:lnSpc>
                <a:spcPct val="105000"/>
              </a:lnSpc>
              <a:buNone/>
            </a:pPr>
            <a:r>
              <a:rPr lang="en-US" sz="1500" dirty="0">
                <a:solidFill>
                  <a:srgbClr val="E8EEF3"/>
                </a:solidFill>
                <a:latin typeface="Consolas" pitchFamily="34" charset="0"/>
                <a:ea typeface="Consolas" pitchFamily="34" charset="-122"/>
                <a:cs typeface="Consolas" pitchFamily="34" charset="-120"/>
              </a:rPr>
              <a:t>Step:     3, Install the dependencies</a:t>
            </a:r>
            <a:endParaRPr lang="en-US" sz="1500" dirty="0"/>
          </a:p>
          <a:p>
            <a:pPr indent="0" marL="0">
              <a:lnSpc>
                <a:spcPct val="105000"/>
              </a:lnSpc>
              <a:buNone/>
            </a:pPr>
            <a:r>
              <a:rPr lang="en-US" sz="1500" dirty="0">
                <a:solidFill>
                  <a:srgbClr val="E8EEF3"/>
                </a:solidFill>
                <a:latin typeface="Consolas" pitchFamily="34" charset="0"/>
                <a:ea typeface="Consolas" pitchFamily="34" charset="-122"/>
                <a:cs typeface="Consolas" pitchFamily="34" charset="-120"/>
              </a:rPr>
              <a:t>Did:      ran npm install, as written</a:t>
            </a:r>
            <a:endParaRPr lang="en-US" sz="1500" dirty="0"/>
          </a:p>
          <a:p>
            <a:pPr indent="0" marL="0">
              <a:lnSpc>
                <a:spcPct val="105000"/>
              </a:lnSpc>
              <a:buNone/>
            </a:pPr>
            <a:r>
              <a:rPr lang="en-US" sz="1500" dirty="0">
                <a:solidFill>
                  <a:srgbClr val="F4A99A"/>
                </a:solidFill>
                <a:latin typeface="Consolas" pitchFamily="34" charset="0"/>
                <a:ea typeface="Consolas" pitchFamily="34" charset="-122"/>
                <a:cs typeface="Consolas" pitchFamily="34" charset="-120"/>
              </a:rPr>
              <a:t>Saw:      EBADENGINE Unsupported engine</a:t>
            </a:r>
            <a:endParaRPr lang="en-US" sz="1500" dirty="0"/>
          </a:p>
          <a:p>
            <a:pPr indent="0" marL="0">
              <a:lnSpc>
                <a:spcPct val="105000"/>
              </a:lnSpc>
              <a:buNone/>
            </a:pPr>
            <a:r>
              <a:rPr lang="en-US" sz="1500" dirty="0">
                <a:solidFill>
                  <a:srgbClr val="F4A99A"/>
                </a:solidFill>
                <a:latin typeface="Consolas" pitchFamily="34" charset="0"/>
                <a:ea typeface="Consolas" pitchFamily="34" charset="-122"/>
                <a:cs typeface="Consolas" pitchFamily="34" charset="-120"/>
              </a:rPr>
              <a:t>          required: node &gt;=20, current 18.19</a:t>
            </a:r>
            <a:endParaRPr lang="en-US" sz="1500" dirty="0"/>
          </a:p>
          <a:p>
            <a:pPr indent="0" marL="0">
              <a:lnSpc>
                <a:spcPct val="105000"/>
              </a:lnSpc>
              <a:buNone/>
            </a:pPr>
            <a:r>
              <a:rPr lang="en-US" sz="1500" dirty="0">
                <a:solidFill>
                  <a:srgbClr val="E8EEF3"/>
                </a:solidFill>
                <a:latin typeface="Consolas" pitchFamily="34" charset="0"/>
                <a:ea typeface="Consolas" pitchFamily="34" charset="-122"/>
                <a:cs typeface="Consolas" pitchFamily="34" charset="-120"/>
              </a:rPr>
              <a:t>Expected: it to install. Prerequisites</a:t>
            </a:r>
            <a:endParaRPr lang="en-US" sz="1500" dirty="0"/>
          </a:p>
          <a:p>
            <a:pPr indent="0" marL="0">
              <a:lnSpc>
                <a:spcPct val="105000"/>
              </a:lnSpc>
              <a:buNone/>
            </a:pPr>
            <a:r>
              <a:rPr lang="en-US" sz="1500" dirty="0">
                <a:solidFill>
                  <a:srgbClr val="E8EEF3"/>
                </a:solidFill>
                <a:latin typeface="Consolas" pitchFamily="34" charset="0"/>
                <a:ea typeface="Consolas" pitchFamily="34" charset="-122"/>
                <a:cs typeface="Consolas" pitchFamily="34" charset="-120"/>
              </a:rPr>
              <a:t>          doesn't name a Node version.</a:t>
            </a:r>
            <a:endParaRPr lang="en-US" sz="1500" dirty="0"/>
          </a:p>
          <a:p>
            <a:pPr indent="0" marL="0">
              <a:lnSpc>
                <a:spcPct val="105000"/>
              </a:lnSpc>
              <a:buNone/>
            </a:pPr>
            <a:r>
              <a:rPr lang="en-US" sz="1500" dirty="0">
                <a:solidFill>
                  <a:srgbClr val="9FB4C7"/>
                </a:solidFill>
                <a:latin typeface="Consolas" pitchFamily="34" charset="0"/>
                <a:ea typeface="Consolas" pitchFamily="34" charset="-122"/>
                <a:cs typeface="Consolas" pitchFamily="34" charset="-120"/>
              </a:rPr>
              <a:t>Help:     asked the author which version</a:t>
            </a:r>
            <a:endParaRPr lang="en-US" sz="1500" dirty="0"/>
          </a:p>
        </p:txBody>
      </p:sp>
      <p:sp>
        <p:nvSpPr>
          <p:cNvPr id="7" name="Text 5"/>
          <p:cNvSpPr/>
          <p:nvPr/>
        </p:nvSpPr>
        <p:spPr>
          <a:xfrm>
            <a:off x="548640" y="5532120"/>
            <a:ext cx="6400800" cy="365760"/>
          </a:xfrm>
          <a:prstGeom prst="rect">
            <a:avLst/>
          </a:prstGeom>
          <a:noFill/>
          <a:ln/>
        </p:spPr>
        <p:txBody>
          <a:bodyPr wrap="square" lIns="0" tIns="0" rIns="0" bIns="0" rtlCol="0" anchor="ctr"/>
          <a:lstStyle/>
          <a:p>
            <a:pPr indent="0" marL="0">
              <a:buNone/>
            </a:pPr>
            <a:r>
              <a:rPr lang="en-US" sz="1400" i="1" dirty="0">
                <a:solidFill>
                  <a:srgbClr val="5F7284"/>
                </a:solidFill>
                <a:latin typeface="Calibri" pitchFamily="34" charset="0"/>
                <a:ea typeface="Calibri" pitchFamily="34" charset="-122"/>
                <a:cs typeface="Calibri" pitchFamily="34" charset="-120"/>
              </a:rPr>
              <a:t>An example, not from a real project</a:t>
            </a:r>
            <a:endParaRPr lang="en-US" sz="1400" dirty="0"/>
          </a:p>
        </p:txBody>
      </p:sp>
      <p:sp>
        <p:nvSpPr>
          <p:cNvPr id="8" name="click-1"/>
          <p:cNvSpPr/>
          <p:nvPr/>
        </p:nvSpPr>
        <p:spPr>
          <a:xfrm>
            <a:off x="7178040" y="1783080"/>
            <a:ext cx="4434840" cy="804672"/>
          </a:xfrm>
          <a:prstGeom prst="roundRect">
            <a:avLst>
              <a:gd name="adj" fmla="val 10227"/>
            </a:avLst>
          </a:prstGeom>
          <a:solidFill>
            <a:srgbClr val="F2F6F8"/>
          </a:solidFill>
          <a:ln/>
          <a:effectLst>
            <a:outerShdw sx="100000" sy="100000" kx="0" ky="0" algn="bl" rotWithShape="0" blurRad="88900" dist="38100" dir="5400000">
              <a:srgbClr val="000000">
                <a:alpha val="13000"/>
              </a:srgbClr>
            </a:outerShdw>
          </a:effectLst>
        </p:spPr>
      </p:sp>
      <p:sp>
        <p:nvSpPr>
          <p:cNvPr id="9" name="click-1"/>
          <p:cNvSpPr/>
          <p:nvPr/>
        </p:nvSpPr>
        <p:spPr>
          <a:xfrm>
            <a:off x="7406640" y="1783080"/>
            <a:ext cx="4069080" cy="804672"/>
          </a:xfrm>
          <a:prstGeom prst="rect">
            <a:avLst/>
          </a:prstGeom>
          <a:noFill/>
          <a:ln/>
        </p:spPr>
        <p:txBody>
          <a:bodyPr wrap="square" lIns="0" tIns="0" rIns="0" bIns="0" rtlCol="0" anchor="ctr"/>
          <a:lstStyle/>
          <a:p>
            <a:pPr indent="0" marL="0">
              <a:buNone/>
            </a:pPr>
            <a:r>
              <a:rPr lang="en-US" sz="1700" b="1" dirty="0">
                <a:solidFill>
                  <a:srgbClr val="0E6E6D"/>
                </a:solidFill>
                <a:latin typeface="Calibri" pitchFamily="34" charset="0"/>
                <a:ea typeface="Calibri" pitchFamily="34" charset="-122"/>
                <a:cs typeface="Calibri" pitchFamily="34" charset="-120"/>
              </a:rPr>
              <a:t>Name the step</a:t>
            </a:r>
            <a:endParaRPr lang="en-US" sz="1700" dirty="0"/>
          </a:p>
          <a:p>
            <a:pPr indent="0" marL="0">
              <a:buNone/>
            </a:pPr>
            <a:r>
              <a:rPr lang="en-US" sz="1500" dirty="0">
                <a:solidFill>
                  <a:srgbClr val="1E2A36"/>
                </a:solidFill>
                <a:latin typeface="Calibri" pitchFamily="34" charset="0"/>
                <a:ea typeface="Calibri" pitchFamily="34" charset="-122"/>
                <a:cs typeface="Calibri" pitchFamily="34" charset="-120"/>
              </a:rPr>
              <a:t>by number, so the fix lands in the right place</a:t>
            </a:r>
            <a:endParaRPr lang="en-US" sz="1700" dirty="0"/>
          </a:p>
        </p:txBody>
      </p:sp>
      <p:sp>
        <p:nvSpPr>
          <p:cNvPr id="10" name="click-1"/>
          <p:cNvSpPr/>
          <p:nvPr/>
        </p:nvSpPr>
        <p:spPr>
          <a:xfrm>
            <a:off x="7178040" y="2715768"/>
            <a:ext cx="4434840" cy="804672"/>
          </a:xfrm>
          <a:prstGeom prst="roundRect">
            <a:avLst>
              <a:gd name="adj" fmla="val 10227"/>
            </a:avLst>
          </a:prstGeom>
          <a:solidFill>
            <a:srgbClr val="F2F6F8"/>
          </a:solidFill>
          <a:ln/>
          <a:effectLst>
            <a:outerShdw sx="100000" sy="100000" kx="0" ky="0" algn="bl" rotWithShape="0" blurRad="88900" dist="38100" dir="5400000">
              <a:srgbClr val="000000">
                <a:alpha val="13000"/>
              </a:srgbClr>
            </a:outerShdw>
          </a:effectLst>
        </p:spPr>
      </p:sp>
      <p:sp>
        <p:nvSpPr>
          <p:cNvPr id="11" name="click-1"/>
          <p:cNvSpPr/>
          <p:nvPr/>
        </p:nvSpPr>
        <p:spPr>
          <a:xfrm>
            <a:off x="7406640" y="2715768"/>
            <a:ext cx="4069080" cy="804672"/>
          </a:xfrm>
          <a:prstGeom prst="rect">
            <a:avLst/>
          </a:prstGeom>
          <a:noFill/>
          <a:ln/>
        </p:spPr>
        <p:txBody>
          <a:bodyPr wrap="square" lIns="0" tIns="0" rIns="0" bIns="0" rtlCol="0" anchor="ctr"/>
          <a:lstStyle/>
          <a:p>
            <a:pPr indent="0" marL="0">
              <a:buNone/>
            </a:pPr>
            <a:r>
              <a:rPr lang="en-US" sz="1700" b="1" dirty="0">
                <a:solidFill>
                  <a:srgbClr val="0E6E6D"/>
                </a:solidFill>
                <a:latin typeface="Calibri" pitchFamily="34" charset="0"/>
                <a:ea typeface="Calibri" pitchFamily="34" charset="-122"/>
                <a:cs typeface="Calibri" pitchFamily="34" charset="-120"/>
              </a:rPr>
              <a:t>Paste the exact output</a:t>
            </a:r>
            <a:endParaRPr lang="en-US" sz="1700" dirty="0"/>
          </a:p>
          <a:p>
            <a:pPr indent="0" marL="0">
              <a:buNone/>
            </a:pPr>
            <a:r>
              <a:rPr lang="en-US" sz="1500" dirty="0">
                <a:solidFill>
                  <a:srgbClr val="1E2A36"/>
                </a:solidFill>
                <a:latin typeface="Calibri" pitchFamily="34" charset="0"/>
                <a:ea typeface="Calibri" pitchFamily="34" charset="-122"/>
                <a:cs typeface="Calibri" pitchFamily="34" charset="-120"/>
              </a:rPr>
              <a:t>not "it errored"</a:t>
            </a:r>
            <a:endParaRPr lang="en-US" sz="1700" dirty="0"/>
          </a:p>
        </p:txBody>
      </p:sp>
      <p:sp>
        <p:nvSpPr>
          <p:cNvPr id="12" name="click-1"/>
          <p:cNvSpPr/>
          <p:nvPr/>
        </p:nvSpPr>
        <p:spPr>
          <a:xfrm>
            <a:off x="7178040" y="3648456"/>
            <a:ext cx="4434840" cy="804672"/>
          </a:xfrm>
          <a:prstGeom prst="roundRect">
            <a:avLst>
              <a:gd name="adj" fmla="val 10227"/>
            </a:avLst>
          </a:prstGeom>
          <a:solidFill>
            <a:srgbClr val="F2F6F8"/>
          </a:solidFill>
          <a:ln/>
          <a:effectLst>
            <a:outerShdw sx="100000" sy="100000" kx="0" ky="0" algn="bl" rotWithShape="0" blurRad="88900" dist="38100" dir="5400000">
              <a:srgbClr val="000000">
                <a:alpha val="13000"/>
              </a:srgbClr>
            </a:outerShdw>
          </a:effectLst>
        </p:spPr>
      </p:sp>
      <p:sp>
        <p:nvSpPr>
          <p:cNvPr id="13" name="click-1"/>
          <p:cNvSpPr/>
          <p:nvPr/>
        </p:nvSpPr>
        <p:spPr>
          <a:xfrm>
            <a:off x="7406640" y="3648456"/>
            <a:ext cx="4069080" cy="804672"/>
          </a:xfrm>
          <a:prstGeom prst="rect">
            <a:avLst/>
          </a:prstGeom>
          <a:noFill/>
          <a:ln/>
        </p:spPr>
        <p:txBody>
          <a:bodyPr wrap="square" lIns="0" tIns="0" rIns="0" bIns="0" rtlCol="0" anchor="ctr"/>
          <a:lstStyle/>
          <a:p>
            <a:pPr indent="0" marL="0">
              <a:buNone/>
            </a:pPr>
            <a:r>
              <a:rPr lang="en-US" sz="1700" b="1" dirty="0">
                <a:solidFill>
                  <a:srgbClr val="0E6E6D"/>
                </a:solidFill>
                <a:latin typeface="Calibri" pitchFamily="34" charset="0"/>
                <a:ea typeface="Calibri" pitchFamily="34" charset="-122"/>
                <a:cs typeface="Calibri" pitchFamily="34" charset="-120"/>
              </a:rPr>
              <a:t>Say what you expected</a:t>
            </a:r>
            <a:endParaRPr lang="en-US" sz="1700" dirty="0"/>
          </a:p>
          <a:p>
            <a:pPr indent="0" marL="0">
              <a:buNone/>
            </a:pPr>
            <a:r>
              <a:rPr lang="en-US" sz="1500" dirty="0">
                <a:solidFill>
                  <a:srgbClr val="1E2A36"/>
                </a:solidFill>
                <a:latin typeface="Calibri" pitchFamily="34" charset="0"/>
                <a:ea typeface="Calibri" pitchFamily="34" charset="-122"/>
                <a:cs typeface="Calibri" pitchFamily="34" charset="-120"/>
              </a:rPr>
              <a:t>that's the missing line in the guide</a:t>
            </a:r>
            <a:endParaRPr lang="en-US" sz="1700" dirty="0"/>
          </a:p>
        </p:txBody>
      </p:sp>
      <p:sp>
        <p:nvSpPr>
          <p:cNvPr id="14" name="click-1"/>
          <p:cNvSpPr/>
          <p:nvPr/>
        </p:nvSpPr>
        <p:spPr>
          <a:xfrm>
            <a:off x="7178040" y="4581144"/>
            <a:ext cx="4434840" cy="804672"/>
          </a:xfrm>
          <a:prstGeom prst="roundRect">
            <a:avLst>
              <a:gd name="adj" fmla="val 10227"/>
            </a:avLst>
          </a:prstGeom>
          <a:solidFill>
            <a:srgbClr val="F2F6F8"/>
          </a:solidFill>
          <a:ln/>
          <a:effectLst>
            <a:outerShdw sx="100000" sy="100000" kx="0" ky="0" algn="bl" rotWithShape="0" blurRad="88900" dist="38100" dir="5400000">
              <a:srgbClr val="000000">
                <a:alpha val="13000"/>
              </a:srgbClr>
            </a:outerShdw>
          </a:effectLst>
        </p:spPr>
      </p:sp>
      <p:sp>
        <p:nvSpPr>
          <p:cNvPr id="15" name="click-1"/>
          <p:cNvSpPr/>
          <p:nvPr/>
        </p:nvSpPr>
        <p:spPr>
          <a:xfrm>
            <a:off x="7406640" y="4581144"/>
            <a:ext cx="4069080" cy="804672"/>
          </a:xfrm>
          <a:prstGeom prst="rect">
            <a:avLst/>
          </a:prstGeom>
          <a:noFill/>
          <a:ln/>
        </p:spPr>
        <p:txBody>
          <a:bodyPr wrap="square" lIns="0" tIns="0" rIns="0" bIns="0" rtlCol="0" anchor="ctr"/>
          <a:lstStyle/>
          <a:p>
            <a:pPr indent="0" marL="0">
              <a:buNone/>
            </a:pPr>
            <a:r>
              <a:rPr lang="en-US" sz="1700" b="1" dirty="0">
                <a:solidFill>
                  <a:srgbClr val="0E6E6D"/>
                </a:solidFill>
                <a:latin typeface="Calibri" pitchFamily="34" charset="0"/>
                <a:ea typeface="Calibri" pitchFamily="34" charset="-122"/>
                <a:cs typeface="Calibri" pitchFamily="34" charset="-120"/>
              </a:rPr>
              <a:t>Note any help you needed</a:t>
            </a:r>
            <a:endParaRPr lang="en-US" sz="1700" dirty="0"/>
          </a:p>
          <a:p>
            <a:pPr indent="0" marL="0">
              <a:buNone/>
            </a:pPr>
            <a:r>
              <a:rPr lang="en-US" sz="1500" dirty="0">
                <a:solidFill>
                  <a:srgbClr val="1E2A36"/>
                </a:solidFill>
                <a:latin typeface="Calibri" pitchFamily="34" charset="0"/>
                <a:ea typeface="Calibri" pitchFamily="34" charset="-122"/>
                <a:cs typeface="Calibri" pitchFamily="34" charset="-120"/>
              </a:rPr>
              <a:t>that step isn't fixed until nobody does</a:t>
            </a:r>
            <a:endParaRPr lang="en-US" sz="1700" dirty="0"/>
          </a:p>
        </p:txBody>
      </p:sp>
      <p:sp>
        <p:nvSpPr>
          <p:cNvPr id="16" name="Text 14"/>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20 · Review &amp; Cold Test</a:t>
            </a:r>
            <a:endParaRPr lang="en-US" sz="1000" dirty="0"/>
          </a:p>
        </p:txBody>
      </p:sp>
      <p:sp>
        <p:nvSpPr>
          <p:cNvPr id="17" name="Text 15"/>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13</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8"/>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3" dur="1" fill="hold">
                                          <p:stCondLst>
                                            <p:cond delay="0"/>
                                          </p:stCondLst>
                                        </p:cTn>
                                        <p:tgtEl>
                                          <p:spTgt spid="12"/>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READ IT BACK · 5 MIN</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Read now. Fix before Monday.</a:t>
            </a:r>
            <a:endParaRPr lang="en-US" sz="3100" dirty="0"/>
          </a:p>
        </p:txBody>
      </p:sp>
      <p:sp>
        <p:nvSpPr>
          <p:cNvPr id="5" name="Shape 3"/>
          <p:cNvSpPr/>
          <p:nvPr/>
        </p:nvSpPr>
        <p:spPr>
          <a:xfrm>
            <a:off x="548640" y="1828800"/>
            <a:ext cx="11064240" cy="868680"/>
          </a:xfrm>
          <a:prstGeom prst="roundRect">
            <a:avLst>
              <a:gd name="adj" fmla="val 9474"/>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777240" y="2025396"/>
            <a:ext cx="475488" cy="475488"/>
          </a:xfrm>
          <a:prstGeom prst="ellipse">
            <a:avLst/>
          </a:prstGeom>
          <a:solidFill>
            <a:srgbClr val="12908F"/>
          </a:solidFill>
          <a:ln/>
        </p:spPr>
      </p:sp>
      <p:sp>
        <p:nvSpPr>
          <p:cNvPr id="7" name="Text 5"/>
          <p:cNvSpPr/>
          <p:nvPr/>
        </p:nvSpPr>
        <p:spPr>
          <a:xfrm>
            <a:off x="777240" y="2025396"/>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1463040" y="1828800"/>
            <a:ext cx="9966960" cy="868680"/>
          </a:xfrm>
          <a:prstGeom prst="rect">
            <a:avLst/>
          </a:prstGeom>
          <a:noFill/>
          <a:ln/>
        </p:spPr>
        <p:txBody>
          <a:bodyPr wrap="square" lIns="0" tIns="0" rIns="0" bIns="0" rtlCol="0" anchor="ctr"/>
          <a:lstStyle/>
          <a:p>
            <a:pPr indent="0" marL="0">
              <a:lnSpc>
                <a:spcPct val="104000"/>
              </a:lnSpc>
              <a:buNone/>
            </a:pPr>
            <a:r>
              <a:rPr lang="en-US" sz="1700" b="1" dirty="0">
                <a:solidFill>
                  <a:srgbClr val="1E2A36"/>
                </a:solidFill>
                <a:latin typeface="Calibri" pitchFamily="34" charset="0"/>
                <a:ea typeface="Calibri" pitchFamily="34" charset="-122"/>
                <a:cs typeface="Calibri" pitchFamily="34" charset="-120"/>
              </a:rPr>
              <a:t>Read every issue,  </a:t>
            </a:r>
            <a:pPr indent="0" marL="0">
              <a:lnSpc>
                <a:spcPct val="104000"/>
              </a:lnSpc>
              <a:buNone/>
            </a:pPr>
            <a:r>
              <a:rPr lang="en-US" sz="1700" dirty="0">
                <a:solidFill>
                  <a:srgbClr val="5F7284"/>
                </a:solidFill>
                <a:latin typeface="Calibri" pitchFamily="34" charset="0"/>
                <a:ea typeface="Calibri" pitchFamily="34" charset="-122"/>
                <a:cs typeface="Calibri" pitchFamily="34" charset="-120"/>
              </a:rPr>
              <a:t>all of them, before you plan a single fix.</a:t>
            </a:r>
            <a:endParaRPr lang="en-US" sz="1700" dirty="0"/>
          </a:p>
        </p:txBody>
      </p:sp>
      <p:sp>
        <p:nvSpPr>
          <p:cNvPr id="9" name="Shape 7"/>
          <p:cNvSpPr/>
          <p:nvPr/>
        </p:nvSpPr>
        <p:spPr>
          <a:xfrm>
            <a:off x="548640" y="2834640"/>
            <a:ext cx="11064240" cy="868680"/>
          </a:xfrm>
          <a:prstGeom prst="roundRect">
            <a:avLst>
              <a:gd name="adj" fmla="val 9474"/>
            </a:avLst>
          </a:prstGeom>
          <a:solidFill>
            <a:srgbClr val="F2F6F8"/>
          </a:solidFill>
          <a:ln/>
          <a:effectLst>
            <a:outerShdw sx="100000" sy="100000" kx="0" ky="0" algn="bl" rotWithShape="0" blurRad="88900" dist="38100" dir="5400000">
              <a:srgbClr val="000000">
                <a:alpha val="13000"/>
              </a:srgbClr>
            </a:outerShdw>
          </a:effectLst>
        </p:spPr>
      </p:sp>
      <p:sp>
        <p:nvSpPr>
          <p:cNvPr id="10" name="Shape 8"/>
          <p:cNvSpPr/>
          <p:nvPr/>
        </p:nvSpPr>
        <p:spPr>
          <a:xfrm>
            <a:off x="777240" y="3031236"/>
            <a:ext cx="475488" cy="475488"/>
          </a:xfrm>
          <a:prstGeom prst="ellipse">
            <a:avLst/>
          </a:prstGeom>
          <a:solidFill>
            <a:srgbClr val="12908F"/>
          </a:solidFill>
          <a:ln/>
        </p:spPr>
      </p:sp>
      <p:sp>
        <p:nvSpPr>
          <p:cNvPr id="11" name="Text 9"/>
          <p:cNvSpPr/>
          <p:nvPr/>
        </p:nvSpPr>
        <p:spPr>
          <a:xfrm>
            <a:off x="777240" y="3031236"/>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10"/>
          <p:cNvSpPr/>
          <p:nvPr/>
        </p:nvSpPr>
        <p:spPr>
          <a:xfrm>
            <a:off x="1463040" y="2834640"/>
            <a:ext cx="9966960" cy="868680"/>
          </a:xfrm>
          <a:prstGeom prst="rect">
            <a:avLst/>
          </a:prstGeom>
          <a:noFill/>
          <a:ln/>
        </p:spPr>
        <p:txBody>
          <a:bodyPr wrap="square" lIns="0" tIns="0" rIns="0" bIns="0" rtlCol="0" anchor="ctr"/>
          <a:lstStyle/>
          <a:p>
            <a:pPr indent="0" marL="0">
              <a:lnSpc>
                <a:spcPct val="104000"/>
              </a:lnSpc>
              <a:buNone/>
            </a:pPr>
            <a:r>
              <a:rPr lang="en-US" sz="1700" b="1" dirty="0">
                <a:solidFill>
                  <a:srgbClr val="1E2A36"/>
                </a:solidFill>
                <a:latin typeface="Calibri" pitchFamily="34" charset="0"/>
                <a:ea typeface="Calibri" pitchFamily="34" charset="-122"/>
                <a:cs typeface="Calibri" pitchFamily="34" charset="-120"/>
              </a:rPr>
              <a:t>Group them by cause.  </a:t>
            </a:r>
            <a:pPr indent="0" marL="0">
              <a:lnSpc>
                <a:spcPct val="104000"/>
              </a:lnSpc>
              <a:buNone/>
            </a:pPr>
            <a:r>
              <a:rPr lang="en-US" sz="1700" dirty="0">
                <a:solidFill>
                  <a:srgbClr val="5F7284"/>
                </a:solidFill>
                <a:latin typeface="Calibri" pitchFamily="34" charset="0"/>
                <a:ea typeface="Calibri" pitchFamily="34" charset="-122"/>
                <a:cs typeface="Calibri" pitchFamily="34" charset="-120"/>
              </a:rPr>
              <a:t>Several often share one, usually a missing prerequisite or a step you do without thinking.</a:t>
            </a:r>
            <a:endParaRPr lang="en-US" sz="1700" dirty="0"/>
          </a:p>
        </p:txBody>
      </p:sp>
      <p:sp>
        <p:nvSpPr>
          <p:cNvPr id="13" name="Shape 11"/>
          <p:cNvSpPr/>
          <p:nvPr/>
        </p:nvSpPr>
        <p:spPr>
          <a:xfrm>
            <a:off x="548640" y="3840480"/>
            <a:ext cx="11064240" cy="868680"/>
          </a:xfrm>
          <a:prstGeom prst="roundRect">
            <a:avLst>
              <a:gd name="adj" fmla="val 9474"/>
            </a:avLst>
          </a:prstGeom>
          <a:solidFill>
            <a:srgbClr val="F2F6F8"/>
          </a:solidFill>
          <a:ln/>
          <a:effectLst>
            <a:outerShdw sx="100000" sy="100000" kx="0" ky="0" algn="bl" rotWithShape="0" blurRad="88900" dist="38100" dir="5400000">
              <a:srgbClr val="000000">
                <a:alpha val="13000"/>
              </a:srgbClr>
            </a:outerShdw>
          </a:effectLst>
        </p:spPr>
      </p:sp>
      <p:sp>
        <p:nvSpPr>
          <p:cNvPr id="14" name="Shape 12"/>
          <p:cNvSpPr/>
          <p:nvPr/>
        </p:nvSpPr>
        <p:spPr>
          <a:xfrm>
            <a:off x="777240" y="4037076"/>
            <a:ext cx="475488" cy="475488"/>
          </a:xfrm>
          <a:prstGeom prst="ellipse">
            <a:avLst/>
          </a:prstGeom>
          <a:solidFill>
            <a:srgbClr val="12908F"/>
          </a:solidFill>
          <a:ln/>
        </p:spPr>
      </p:sp>
      <p:sp>
        <p:nvSpPr>
          <p:cNvPr id="15" name="Text 13"/>
          <p:cNvSpPr/>
          <p:nvPr/>
        </p:nvSpPr>
        <p:spPr>
          <a:xfrm>
            <a:off x="777240" y="4037076"/>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6" name="Text 14"/>
          <p:cNvSpPr/>
          <p:nvPr/>
        </p:nvSpPr>
        <p:spPr>
          <a:xfrm>
            <a:off x="1463040" y="3840480"/>
            <a:ext cx="9966960" cy="868680"/>
          </a:xfrm>
          <a:prstGeom prst="rect">
            <a:avLst/>
          </a:prstGeom>
          <a:noFill/>
          <a:ln/>
        </p:spPr>
        <p:txBody>
          <a:bodyPr wrap="square" lIns="0" tIns="0" rIns="0" bIns="0" rtlCol="0" anchor="ctr"/>
          <a:lstStyle/>
          <a:p>
            <a:pPr indent="0" marL="0">
              <a:lnSpc>
                <a:spcPct val="104000"/>
              </a:lnSpc>
              <a:buNone/>
            </a:pPr>
            <a:r>
              <a:rPr lang="en-US" sz="1700" b="1" dirty="0">
                <a:solidFill>
                  <a:srgbClr val="1E2A36"/>
                </a:solidFill>
                <a:latin typeface="Calibri" pitchFamily="34" charset="0"/>
                <a:ea typeface="Calibri" pitchFamily="34" charset="-122"/>
                <a:cs typeface="Calibri" pitchFamily="34" charset="-120"/>
              </a:rPr>
              <a:t>Put them at the top of Ready.  </a:t>
            </a:r>
            <a:pPr indent="0" marL="0">
              <a:lnSpc>
                <a:spcPct val="104000"/>
              </a:lnSpc>
              <a:buNone/>
            </a:pPr>
            <a:r>
              <a:rPr lang="en-US" sz="1700" dirty="0">
                <a:solidFill>
                  <a:srgbClr val="5F7284"/>
                </a:solidFill>
                <a:latin typeface="Calibri" pitchFamily="34" charset="0"/>
                <a:ea typeface="Calibri" pitchFamily="34" charset="-122"/>
                <a:cs typeface="Calibri" pitchFamily="34" charset="-120"/>
              </a:rPr>
              <a:t>Fix, merge, and close before Monday. Leave the closed issues visible; they're the record of the fix.</a:t>
            </a:r>
            <a:endParaRPr lang="en-US" sz="1700" dirty="0"/>
          </a:p>
        </p:txBody>
      </p:sp>
      <p:sp>
        <p:nvSpPr>
          <p:cNvPr id="17" name="click-1"/>
          <p:cNvSpPr/>
          <p:nvPr/>
        </p:nvSpPr>
        <p:spPr>
          <a:xfrm>
            <a:off x="548640" y="4983480"/>
            <a:ext cx="11064240" cy="1188720"/>
          </a:xfrm>
          <a:prstGeom prst="roundRect">
            <a:avLst>
              <a:gd name="adj" fmla="val 6923"/>
            </a:avLst>
          </a:prstGeom>
          <a:solidFill>
            <a:srgbClr val="14233A"/>
          </a:solidFill>
          <a:ln/>
          <a:effectLst>
            <a:outerShdw sx="100000" sy="100000" kx="0" ky="0" algn="bl" rotWithShape="0" blurRad="88900" dist="38100" dir="5400000">
              <a:srgbClr val="000000">
                <a:alpha val="13000"/>
              </a:srgbClr>
            </a:outerShdw>
          </a:effectLst>
        </p:spPr>
      </p:sp>
      <p:sp>
        <p:nvSpPr>
          <p:cNvPr id="18" name="click-1"/>
          <p:cNvSpPr/>
          <p:nvPr/>
        </p:nvSpPr>
        <p:spPr>
          <a:xfrm>
            <a:off x="868680" y="4983480"/>
            <a:ext cx="10424160" cy="1188720"/>
          </a:xfrm>
          <a:prstGeom prst="rect">
            <a:avLst/>
          </a:prstGeom>
          <a:noFill/>
          <a:ln/>
        </p:spPr>
        <p:txBody>
          <a:bodyPr wrap="square" lIns="0" tIns="0" rIns="0" bIns="0" rtlCol="0" anchor="ctr"/>
          <a:lstStyle/>
          <a:p>
            <a:pPr indent="0" marL="0">
              <a:buNone/>
            </a:pPr>
            <a:r>
              <a:rPr lang="en-US" sz="1800" b="1" dirty="0">
                <a:solidFill>
                  <a:srgbClr val="E8A33D"/>
                </a:solidFill>
                <a:latin typeface="Calibri" pitchFamily="34" charset="0"/>
                <a:ea typeface="Calibri" pitchFamily="34" charset="-122"/>
                <a:cs typeface="Calibri" pitchFamily="34" charset="-120"/>
              </a:rPr>
              <a:t>Exit check, out loud:  </a:t>
            </a:r>
            <a:pPr indent="0" marL="0">
              <a:buNone/>
            </a:pPr>
            <a:r>
              <a:rPr lang="en-US" sz="1800" dirty="0">
                <a:solidFill>
                  <a:srgbClr val="FFFFFF"/>
                </a:solidFill>
                <a:latin typeface="Calibri" pitchFamily="34" charset="0"/>
                <a:ea typeface="Calibri" pitchFamily="34" charset="-122"/>
                <a:cs typeface="Calibri" pitchFamily="34" charset="-120"/>
              </a:rPr>
              <a:t>review sheet in hand? Setup guide on a PR? Cold-test issues filed, both directions?</a:t>
            </a:r>
            <a:endParaRPr lang="en-US" sz="1800" dirty="0"/>
          </a:p>
        </p:txBody>
      </p:sp>
      <p:sp>
        <p:nvSpPr>
          <p:cNvPr id="19" name="Text 17"/>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20 · Review &amp; Cold Test</a:t>
            </a:r>
            <a:endParaRPr lang="en-US" sz="1000" dirty="0"/>
          </a:p>
        </p:txBody>
      </p:sp>
      <p:sp>
        <p:nvSpPr>
          <p:cNvPr id="20" name="Text 18"/>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14</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6" presetID="1" presetClass="entr" presetSubtype="0" fill="hold" grpId="0" nodeType="clickEffect">
                                  <p:stCondLst>
                                    <p:cond delay="0"/>
                                  </p:stCondLst>
                                  <p:childTnLst>
                                    <p:set>
                                      <p:cBhvr>
                                        <p:cTn id="5" dur="1" fill="hold">
                                          <p:stCondLst>
                                            <p:cond delay="0"/>
                                          </p:stCondLst>
                                        </p:cTn>
                                        <p:tgtEl>
                                          <p:spTgt spid="17"/>
                                        </p:tgtEl>
                                        <p:attrNameLst>
                                          <p:attrName>style.visibility</p:attrName>
                                        </p:attrNameLst>
                                      </p:cBhvr>
                                      <p:to>
                                        <p:strVal val="visible"/>
                                      </p:to>
                                    </p:set>
                                  </p:childTnLst>
                                </p:cTn>
                              </p:par>
                              <p:par>
                                <p:cTn id="8" presetID="1" presetClass="entr" presetSubtype="0" fill="hold" grpId="0" nodeType="withEffect">
                                  <p:stCondLst>
                                    <p:cond delay="0"/>
                                  </p:stCondLst>
                                  <p:childTnLst>
                                    <p:set>
                                      <p:cBhvr>
                                        <p:cTn id="7"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188720" y="4754880"/>
            <a:ext cx="3291840" cy="3291840"/>
          </a:xfrm>
          <a:prstGeom prst="ellipse">
            <a:avLst/>
          </a:prstGeom>
          <a:solidFill>
            <a:srgbClr val="1C3252"/>
          </a:solidFill>
          <a:ln/>
        </p:spPr>
      </p:sp>
      <p:sp>
        <p:nvSpPr>
          <p:cNvPr id="3" name="Shape 1"/>
          <p:cNvSpPr/>
          <p:nvPr/>
        </p:nvSpPr>
        <p:spPr>
          <a:xfrm>
            <a:off x="822960" y="914400"/>
            <a:ext cx="777240" cy="777240"/>
          </a:xfrm>
          <a:prstGeom prst="ellipse">
            <a:avLst/>
          </a:prstGeom>
          <a:solidFill>
            <a:srgbClr val="E8A33D"/>
          </a:solidFill>
          <a:ln/>
        </p:spPr>
      </p:sp>
      <p:pic>
        <p:nvPicPr>
          <p:cNvPr id="4" name="Image 0" descr="preencoded.png">    </p:cNvPr>
          <p:cNvPicPr>
            <a:picLocks noChangeAspect="1"/>
          </p:cNvPicPr>
          <p:nvPr/>
        </p:nvPicPr>
        <p:blipFill>
          <a:blip r:embed="rId1"/>
          <a:stretch>
            <a:fillRect/>
          </a:stretch>
        </p:blipFill>
        <p:spPr>
          <a:xfrm>
            <a:off x="1032815" y="1124255"/>
            <a:ext cx="357530" cy="357530"/>
          </a:xfrm>
          <a:prstGeom prst="rect">
            <a:avLst/>
          </a:prstGeom>
        </p:spPr>
      </p:pic>
      <p:sp>
        <p:nvSpPr>
          <p:cNvPr id="5" name="Text 2"/>
          <p:cNvSpPr/>
          <p:nvPr/>
        </p:nvSpPr>
        <p:spPr>
          <a:xfrm>
            <a:off x="822960" y="1828800"/>
            <a:ext cx="10881360" cy="960120"/>
          </a:xfrm>
          <a:prstGeom prst="rect">
            <a:avLst/>
          </a:prstGeom>
          <a:noFill/>
          <a:ln/>
        </p:spPr>
        <p:txBody>
          <a:bodyPr wrap="square" lIns="0" tIns="0" rIns="0" bIns="0" rtlCol="0" anchor="ctr"/>
          <a:lstStyle/>
          <a:p>
            <a:pPr indent="0" marL="0">
              <a:lnSpc>
                <a:spcPct val="106000"/>
              </a:lnSpc>
              <a:buNone/>
            </a:pPr>
            <a:r>
              <a:rPr lang="en-US" sz="2500" b="1" i="1" dirty="0">
                <a:solidFill>
                  <a:srgbClr val="FFFFFF"/>
                </a:solidFill>
                <a:latin typeface="Cambria" pitchFamily="34" charset="0"/>
                <a:ea typeface="Cambria" pitchFamily="34" charset="-122"/>
                <a:cs typeface="Cambria" pitchFamily="34" charset="-120"/>
              </a:rPr>
              <a:t>A plan someone else has questioned. A guide someone else has followed.</a:t>
            </a:r>
            <a:endParaRPr lang="en-US" sz="2500" dirty="0"/>
          </a:p>
        </p:txBody>
      </p:sp>
      <p:sp>
        <p:nvSpPr>
          <p:cNvPr id="6" name="Text 3"/>
          <p:cNvSpPr/>
          <p:nvPr/>
        </p:nvSpPr>
        <p:spPr>
          <a:xfrm>
            <a:off x="841248" y="2971800"/>
            <a:ext cx="10058400" cy="320040"/>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THE WEEK AHEAD</a:t>
            </a:r>
            <a:endParaRPr lang="en-US" sz="1400" dirty="0"/>
          </a:p>
        </p:txBody>
      </p:sp>
      <p:sp>
        <p:nvSpPr>
          <p:cNvPr id="7" name="Text 4"/>
          <p:cNvSpPr/>
          <p:nvPr/>
        </p:nvSpPr>
        <p:spPr>
          <a:xfrm>
            <a:off x="868680" y="3364992"/>
            <a:ext cx="10698480" cy="1920240"/>
          </a:xfrm>
          <a:prstGeom prst="rect">
            <a:avLst/>
          </a:prstGeom>
          <a:noFill/>
          <a:ln/>
        </p:spPr>
        <p:txBody>
          <a:bodyPr wrap="square" lIns="0" tIns="0" rIns="0" bIns="0" rtlCol="0" anchor="t"/>
          <a:lstStyle/>
          <a:p>
            <a:pPr marL="203200" indent="-203200">
              <a:spcAft>
                <a:spcPts val="700"/>
              </a:spcAft>
              <a:buSzPct val="100000"/>
              <a:buChar char="•"/>
            </a:pPr>
            <a:r>
              <a:rPr lang="en-US" sz="1700" b="1" dirty="0">
                <a:solidFill>
                  <a:srgbClr val="FFFFFF"/>
                </a:solidFill>
                <a:latin typeface="Calibri" pitchFamily="34" charset="0"/>
                <a:ea typeface="Calibri" pitchFamily="34" charset="-122"/>
                <a:cs typeface="Calibri" pitchFamily="34" charset="-120"/>
              </a:rPr>
              <a:t>Tonight: revise the MVP Plan and submit its URL on main</a:t>
            </a:r>
            <a:endParaRPr lang="en-US" sz="1700" dirty="0"/>
          </a:p>
          <a:p>
            <a:pPr marL="203200" indent="-203200">
              <a:spcAft>
                <a:spcPts val="700"/>
              </a:spcAft>
              <a:buSzPct val="100000"/>
              <a:buChar char="•"/>
            </a:pPr>
            <a:r>
              <a:rPr lang="en-US" sz="1700" dirty="0">
                <a:solidFill>
                  <a:srgbClr val="CBD8E6"/>
                </a:solidFill>
                <a:latin typeface="Calibri" pitchFamily="34" charset="0"/>
                <a:ea typeface="Calibri" pitchFamily="34" charset="-122"/>
                <a:cs typeface="Calibri" pitchFamily="34" charset="-120"/>
              </a:rPr>
              <a:t>Before Monday: fix and merge the guide, close its issues; walk your slice on main and file every break</a:t>
            </a:r>
            <a:endParaRPr lang="en-US" sz="1700" dirty="0"/>
          </a:p>
          <a:p>
            <a:pPr marL="203200" indent="-203200">
              <a:buSzPct val="100000"/>
              <a:buChar char="•"/>
            </a:pPr>
            <a:r>
              <a:rPr lang="en-US" sz="1700" dirty="0">
                <a:solidFill>
                  <a:srgbClr val="CBD8E6"/>
                </a:solidFill>
                <a:latin typeface="Calibri" pitchFamily="34" charset="0"/>
                <a:ea typeface="Calibri" pitchFamily="34" charset="-122"/>
                <a:cs typeface="Calibri" pitchFamily="34" charset="-120"/>
              </a:rPr>
              <a:t>Monday, Nov 16: check-in and troubleshooting. We rerun the fresh clone on main. Bring problems, not polish.</a:t>
            </a:r>
            <a:endParaRPr lang="en-US" sz="1700" dirty="0"/>
          </a:p>
        </p:txBody>
      </p:sp>
      <p:sp>
        <p:nvSpPr>
          <p:cNvPr id="8" name="Shape 5"/>
          <p:cNvSpPr/>
          <p:nvPr/>
        </p:nvSpPr>
        <p:spPr>
          <a:xfrm>
            <a:off x="548640" y="5440680"/>
            <a:ext cx="11064240" cy="731520"/>
          </a:xfrm>
          <a:prstGeom prst="roundRect">
            <a:avLst>
              <a:gd name="adj" fmla="val 11250"/>
            </a:avLst>
          </a:prstGeom>
          <a:solidFill>
            <a:srgbClr val="E8A33D"/>
          </a:solidFill>
          <a:ln/>
          <a:effectLst>
            <a:outerShdw sx="100000" sy="100000" kx="0" ky="0" algn="bl" rotWithShape="0" blurRad="88900" dist="38100" dir="5400000">
              <a:srgbClr val="000000">
                <a:alpha val="13000"/>
              </a:srgbClr>
            </a:outerShdw>
          </a:effectLst>
        </p:spPr>
      </p:sp>
      <p:sp>
        <p:nvSpPr>
          <p:cNvPr id="9" name="Text 6"/>
          <p:cNvSpPr/>
          <p:nvPr/>
        </p:nvSpPr>
        <p:spPr>
          <a:xfrm>
            <a:off x="822960" y="5440680"/>
            <a:ext cx="10515600" cy="731520"/>
          </a:xfrm>
          <a:prstGeom prst="rect">
            <a:avLst/>
          </a:prstGeom>
          <a:noFill/>
          <a:ln/>
        </p:spPr>
        <p:txBody>
          <a:bodyPr wrap="square" lIns="0" tIns="0" rIns="0" bIns="0" rtlCol="0" anchor="ctr"/>
          <a:lstStyle/>
          <a:p>
            <a:pPr algn="ctr" indent="0" marL="0">
              <a:buNone/>
            </a:pPr>
            <a:r>
              <a:rPr lang="en-US" sz="1600" b="1" dirty="0">
                <a:solidFill>
                  <a:srgbClr val="14233A"/>
                </a:solidFill>
                <a:latin typeface="Calibri" pitchFamily="34" charset="0"/>
                <a:ea typeface="Calibri" pitchFamily="34" charset="-122"/>
                <a:cs typeface="Calibri" pitchFamily="34" charset="-120"/>
              </a:rPr>
              <a:t>Wednesday, Nov 18: CP10 demo + repo audit, and CP9 is due. Build the portfolio this weekend.</a:t>
            </a:r>
            <a:endParaRPr lang="en-US" sz="1600" dirty="0"/>
          </a:p>
        </p:txBody>
      </p:sp>
      <p:sp>
        <p:nvSpPr>
          <p:cNvPr id="10" name="Text 7"/>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7E92A8"/>
                </a:solidFill>
                <a:latin typeface="Calibri" pitchFamily="34" charset="0"/>
                <a:ea typeface="Calibri" pitchFamily="34" charset="-122"/>
                <a:cs typeface="Calibri" pitchFamily="34" charset="-120"/>
              </a:rPr>
              <a:t>CS 301R · Session 20 · Review &amp; Cold Test</a:t>
            </a:r>
            <a:endParaRPr lang="en-US" sz="1000" dirty="0"/>
          </a:p>
        </p:txBody>
      </p:sp>
      <p:sp>
        <p:nvSpPr>
          <p:cNvPr id="11" name="Text 8"/>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7E92A8"/>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301R — Session 20 — Review &amp; Cold Test</dc:title>
  <dc:subject>PptxGenJS Presentation</dc:subject>
  <dc:creator>CS 301R</dc:creator>
  <cp:lastModifiedBy>CS 301R</cp:lastModifiedBy>
  <cp:revision>1</cp:revision>
  <dcterms:created xsi:type="dcterms:W3CDTF">2026-10-30T18:37:14Z</dcterms:created>
  <dcterms:modified xsi:type="dcterms:W3CDTF">2026-10-30T18:37:14Z</dcterms:modified>
</cp:coreProperties>
</file>