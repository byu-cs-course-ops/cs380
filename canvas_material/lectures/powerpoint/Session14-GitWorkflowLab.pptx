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lab day: the slides are signposts, not a lecture. Put slide 2 (the prep check) up as students walk in and leave the title for the deck file only. Everything students need is on the Canvas page Git Workflow Lab Guide, linked from the Session 14 page; the slides mirror its four parts so a student who glances up knows where the room is. Before class: confirm every solo founder knows their review partner, and have the CP6 rubric open in a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up as they walk in. Hands up for each item; a yes/no each. Item 2 is the one that matters: anyone who can't push gets fixed first, by you or a TA, right now. The guide's Before-you-start section has `git push --dry-run` to check it. Solo founders whose partner isn't a collaborator yet can add them in a minute. Anyone still blocked pairs with their reviewer for the solo legs and runs their own loop after class. Item 4 is a nudge, not a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 changes are trivial on purpose: when the change takes two minutes, all the attention goes to the process, and the process is what's graded. Say plainly that CP6 is read from the repository, so everything they do today is the submission. Get every laptop onto the lab guide before moving on; the slides that follow are signposts for the room, and the guide is what they work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 common failure is two people both waiting to be told who reviews whom. Have each team say its round-robin order out loud, and have each solo founder point at their partner. Every pull request merged today needs an approval from someone who didn't write it: that's the lab's rule, because the review is graded, not necessarily the project's rule. Projects set their own in Part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a minute; the guide has the details for each. Every task works from what's already in the repo: README, LICENSE, .gitignore, and the design doc. Stress the two hands-off items. Editing design.md today collides with their own CP5 revisions, and anyone who touches the status line will break the conflict recipe in Part 3. If a team has more members than tasks, two can take task D on different parts of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Why an issue first: on a real project, the issue announces work before anyone starts, so two people don't fix the same thing, and it records why the change was wanted. Click once for the amber card, and say it plainly: you are not teaching issue anatomy today. Let them write it cold. Monday (Session 15 §4) you'll pull up one or two of these and hold them against the anatomy, and each project rereads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most of Part 1 and circulate. Spot-critique commit messages live, against the seven rules: run the 'If applied, this commit will ___' test out loud at a few laptops. Watch for -m one-liners with no body; the guide shows how to amend before pushing. Watch for students on main who forgot to branch; the guide's troubleshooting section covers it. By minute 25 every author should have requested a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minutes on this slide and the next. The rubber stamp is the failure to watch for: 'LGTM!' alone scores Developing at best, so push reviewers to find something real, and a question counts. Authors: every comment gets an answer, even 'fixed in 3f2a91c.' After a fix, the author re-requests review. The approval rule on the bottom card is the lab's rule because the review is graded; projects set their own in Part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squash-message edit once on the projector if several students reach it together: GitHub prefills the message, and the move is to keep the title as subject and a short why, and delete what was only for the reviewer. The amber card answers the question someone will ask: does squashing destroy what's graded? No. The commits and the review stay in the pull request, and that's where CP6 grading reads them. Make sure each student sees their issue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minutes for the recipe, the resolution, and the debrief. Teams pick two members; solo founders play both A and B, and must create B's branch from main, not from A's branch. The one way this fails is ordering: if A merges before B branches, there's no conflict. If a README has no status line, use the first sentence of its description; all that matters is the same line. A's PR still needs a quick approval before it merges.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click, ask the room what the right resolution is. The reflex is to keep HEAD, B's own version, which silently throws away A's news. Click to show the resolution that keeps both. On the command line, not GitHub's web editor: they need the version that works when the conflict is too big for the browser. Rebase is a fine project choice later, but it needs a force-push and erases the merge commit, so not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inside Part 3's twelve. Let a couple of projects answer before the click: small change, one clear purpose each side, a message saying why. Click and land it. Then connect it forward: the conflicts that hurt are big branches that lived for two weeks and did five things. The build phase starts soon, and the habit that prevents those is the one they're practicing now: small pull requests, merged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Monday's table again; the guide's Part 4 adds alternatives and a file skeleton. Defaults are suggestions: a project choosing merge commits or two approvals is fine with a reason written down. Push for the reason line on every decision. The standards go in through the loop like any change, and the pull request must follow the rules it adds. Before anyone leaves, skim each project's file and flag anything unworkable, like a required approval on a solo repo with no partner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of the wrap. Everything is graded from the repository, so the submission is just the repo URL plus these links; the guide's Before-you-leave checklist is the same list. CP5's revision is due end of day too, and should go in through the loop now that the loop is law. Mention the portfolio (CP9): today's pull request description and the review they wrote are the first candidates, so tell them to save the links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one-liner: the loop is now how the project works, through Demo Day, and the git history is the evidence of who did what. Preview Monday: the front door a stranger walks through. Tell them their starter issues will be held up against the issue anatomy, so nobody should go back and polish them tonight; the cold version is the useful one. The standards file graduates into CONTRIBUTING.md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Run the Loop, Set Your Standards</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14 — git workflow lab</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Wednesday, October 21,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PREP CHECK · HANDS UP</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Before we start: four yeses</a:t>
            </a:r>
            <a:endParaRPr lang="en-US" sz="3100" dirty="0"/>
          </a:p>
        </p:txBody>
      </p:sp>
      <p:sp>
        <p:nvSpPr>
          <p:cNvPr id="5" name="Shape 3"/>
          <p:cNvSpPr/>
          <p:nvPr/>
        </p:nvSpPr>
        <p:spPr>
          <a:xfrm>
            <a:off x="548640" y="1783080"/>
            <a:ext cx="11064240" cy="841248"/>
          </a:xfrm>
          <a:prstGeom prst="roundRect">
            <a:avLst>
              <a:gd name="adj" fmla="val 9783"/>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04672" y="1911096"/>
            <a:ext cx="585216" cy="585216"/>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62680" y="2069104"/>
            <a:ext cx="269199" cy="269199"/>
          </a:xfrm>
          <a:prstGeom prst="rect">
            <a:avLst/>
          </a:prstGeom>
        </p:spPr>
      </p:pic>
      <p:sp>
        <p:nvSpPr>
          <p:cNvPr id="8" name="Text 5"/>
          <p:cNvSpPr/>
          <p:nvPr/>
        </p:nvSpPr>
        <p:spPr>
          <a:xfrm>
            <a:off x="1600200" y="1783080"/>
            <a:ext cx="4480560" cy="84124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Laptop charged, dev environment runs</a:t>
            </a:r>
            <a:endParaRPr lang="en-US" sz="1800" dirty="0"/>
          </a:p>
        </p:txBody>
      </p:sp>
      <p:sp>
        <p:nvSpPr>
          <p:cNvPr id="9" name="Text 6"/>
          <p:cNvSpPr/>
          <p:nvPr/>
        </p:nvSpPr>
        <p:spPr>
          <a:xfrm>
            <a:off x="6172200" y="1783080"/>
            <a:ext cx="5257800" cy="841248"/>
          </a:xfrm>
          <a:prstGeom prst="rect">
            <a:avLst/>
          </a:prstGeom>
          <a:noFill/>
          <a:ln/>
        </p:spPr>
        <p:txBody>
          <a:bodyPr wrap="square" lIns="0" tIns="0" rIns="0" bIns="0" rtlCol="0" anchor="ctr"/>
          <a:lstStyle/>
          <a:p>
            <a:pPr indent="0" marL="0">
              <a:buNone/>
            </a:pPr>
            <a:r>
              <a:rPr lang="en-US" sz="1550" dirty="0">
                <a:solidFill>
                  <a:srgbClr val="5F7284"/>
                </a:solidFill>
                <a:latin typeface="Calibri" pitchFamily="34" charset="0"/>
                <a:ea typeface="Calibri" pitchFamily="34" charset="-122"/>
                <a:cs typeface="Calibri" pitchFamily="34" charset="-120"/>
              </a:rPr>
              <a:t>You'll be in a terminal for an hour.</a:t>
            </a:r>
            <a:endParaRPr lang="en-US" sz="1550" dirty="0"/>
          </a:p>
        </p:txBody>
      </p:sp>
      <p:sp>
        <p:nvSpPr>
          <p:cNvPr id="10" name="Shape 7"/>
          <p:cNvSpPr/>
          <p:nvPr/>
        </p:nvSpPr>
        <p:spPr>
          <a:xfrm>
            <a:off x="548640" y="2743200"/>
            <a:ext cx="11064240" cy="841248"/>
          </a:xfrm>
          <a:prstGeom prst="roundRect">
            <a:avLst>
              <a:gd name="adj" fmla="val 9783"/>
            </a:avLst>
          </a:prstGeom>
          <a:solidFill>
            <a:srgbClr val="FBEEDA"/>
          </a:solidFill>
          <a:ln/>
          <a:effectLst>
            <a:outerShdw sx="100000" sy="100000" kx="0" ky="0" algn="bl" rotWithShape="0" blurRad="88900" dist="38100" dir="5400000">
              <a:srgbClr val="000000">
                <a:alpha val="13000"/>
              </a:srgbClr>
            </a:outerShdw>
          </a:effectLst>
        </p:spPr>
      </p:sp>
      <p:sp>
        <p:nvSpPr>
          <p:cNvPr id="11" name="Shape 8"/>
          <p:cNvSpPr/>
          <p:nvPr/>
        </p:nvSpPr>
        <p:spPr>
          <a:xfrm>
            <a:off x="804672" y="2871216"/>
            <a:ext cx="585216" cy="585216"/>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962680" y="3029224"/>
            <a:ext cx="269199" cy="269199"/>
          </a:xfrm>
          <a:prstGeom prst="rect">
            <a:avLst/>
          </a:prstGeom>
        </p:spPr>
      </p:pic>
      <p:sp>
        <p:nvSpPr>
          <p:cNvPr id="13" name="Text 9"/>
          <p:cNvSpPr/>
          <p:nvPr/>
        </p:nvSpPr>
        <p:spPr>
          <a:xfrm>
            <a:off x="1600200" y="2743200"/>
            <a:ext cx="4480560" cy="84124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You can push to your project's repo</a:t>
            </a:r>
            <a:endParaRPr lang="en-US" sz="1800" dirty="0"/>
          </a:p>
        </p:txBody>
      </p:sp>
      <p:sp>
        <p:nvSpPr>
          <p:cNvPr id="14" name="Text 10"/>
          <p:cNvSpPr/>
          <p:nvPr/>
        </p:nvSpPr>
        <p:spPr>
          <a:xfrm>
            <a:off x="6172200" y="2743200"/>
            <a:ext cx="5257800" cy="841248"/>
          </a:xfrm>
          <a:prstGeom prst="rect">
            <a:avLst/>
          </a:prstGeom>
          <a:noFill/>
          <a:ln/>
        </p:spPr>
        <p:txBody>
          <a:bodyPr wrap="square" lIns="0" tIns="0" rIns="0" bIns="0" rtlCol="0" anchor="ctr"/>
          <a:lstStyle/>
          <a:p>
            <a:pPr indent="0" marL="0">
              <a:buNone/>
            </a:pPr>
            <a:r>
              <a:rPr lang="en-US" sz="1550" dirty="0">
                <a:solidFill>
                  <a:srgbClr val="5F7284"/>
                </a:solidFill>
                <a:latin typeface="Calibri" pitchFamily="34" charset="0"/>
                <a:ea typeface="Calibri" pitchFamily="34" charset="-122"/>
                <a:cs typeface="Calibri" pitchFamily="34" charset="-120"/>
              </a:rPr>
              <a:t>Not just clone. Solo: your review partner is added as a collaborator.</a:t>
            </a:r>
            <a:endParaRPr lang="en-US" sz="1550" dirty="0"/>
          </a:p>
        </p:txBody>
      </p:sp>
      <p:sp>
        <p:nvSpPr>
          <p:cNvPr id="15" name="Shape 11"/>
          <p:cNvSpPr/>
          <p:nvPr/>
        </p:nvSpPr>
        <p:spPr>
          <a:xfrm>
            <a:off x="548640" y="3703320"/>
            <a:ext cx="11064240" cy="841248"/>
          </a:xfrm>
          <a:prstGeom prst="roundRect">
            <a:avLst>
              <a:gd name="adj" fmla="val 9783"/>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04672" y="3831336"/>
            <a:ext cx="585216" cy="585216"/>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62680" y="3989344"/>
            <a:ext cx="269199" cy="269199"/>
          </a:xfrm>
          <a:prstGeom prst="rect">
            <a:avLst/>
          </a:prstGeom>
        </p:spPr>
      </p:pic>
      <p:sp>
        <p:nvSpPr>
          <p:cNvPr id="18" name="Text 13"/>
          <p:cNvSpPr/>
          <p:nvPr/>
        </p:nvSpPr>
        <p:spPr>
          <a:xfrm>
            <a:off x="1600200" y="3703320"/>
            <a:ext cx="4480560" cy="84124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Leanings on the six standards</a:t>
            </a:r>
            <a:endParaRPr lang="en-US" sz="1800" dirty="0"/>
          </a:p>
        </p:txBody>
      </p:sp>
      <p:sp>
        <p:nvSpPr>
          <p:cNvPr id="19" name="Text 14"/>
          <p:cNvSpPr/>
          <p:nvPr/>
        </p:nvSpPr>
        <p:spPr>
          <a:xfrm>
            <a:off x="6172200" y="3703320"/>
            <a:ext cx="5257800" cy="841248"/>
          </a:xfrm>
          <a:prstGeom prst="rect">
            <a:avLst/>
          </a:prstGeom>
          <a:noFill/>
          <a:ln/>
        </p:spPr>
        <p:txBody>
          <a:bodyPr wrap="square" lIns="0" tIns="0" rIns="0" bIns="0" rtlCol="0" anchor="ctr"/>
          <a:lstStyle/>
          <a:p>
            <a:pPr indent="0" marL="0">
              <a:buNone/>
            </a:pPr>
            <a:r>
              <a:rPr lang="en-US" sz="1550" dirty="0">
                <a:solidFill>
                  <a:srgbClr val="5F7284"/>
                </a:solidFill>
                <a:latin typeface="Calibri" pitchFamily="34" charset="0"/>
                <a:ea typeface="Calibri" pitchFamily="34" charset="-122"/>
                <a:cs typeface="Calibri" pitchFamily="34" charset="-120"/>
              </a:rPr>
              <a:t>Branch names, commits, PR size, review, merge, "done." Part 4 of the guide.</a:t>
            </a:r>
            <a:endParaRPr lang="en-US" sz="1550" dirty="0"/>
          </a:p>
        </p:txBody>
      </p:sp>
      <p:sp>
        <p:nvSpPr>
          <p:cNvPr id="20" name="Shape 15"/>
          <p:cNvSpPr/>
          <p:nvPr/>
        </p:nvSpPr>
        <p:spPr>
          <a:xfrm>
            <a:off x="548640" y="4663440"/>
            <a:ext cx="11064240" cy="841248"/>
          </a:xfrm>
          <a:prstGeom prst="roundRect">
            <a:avLst>
              <a:gd name="adj" fmla="val 9783"/>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804672" y="4791456"/>
            <a:ext cx="585216" cy="585216"/>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962680" y="4949464"/>
            <a:ext cx="269199" cy="269199"/>
          </a:xfrm>
          <a:prstGeom prst="rect">
            <a:avLst/>
          </a:prstGeom>
        </p:spPr>
      </p:pic>
      <p:sp>
        <p:nvSpPr>
          <p:cNvPr id="23" name="Text 17"/>
          <p:cNvSpPr/>
          <p:nvPr/>
        </p:nvSpPr>
        <p:spPr>
          <a:xfrm>
            <a:off x="1600200" y="4663440"/>
            <a:ext cx="4480560" cy="84124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Design doc revisions done or nearly</a:t>
            </a:r>
            <a:endParaRPr lang="en-US" sz="1800" dirty="0"/>
          </a:p>
        </p:txBody>
      </p:sp>
      <p:sp>
        <p:nvSpPr>
          <p:cNvPr id="24" name="Text 18"/>
          <p:cNvSpPr/>
          <p:nvPr/>
        </p:nvSpPr>
        <p:spPr>
          <a:xfrm>
            <a:off x="6172200" y="4663440"/>
            <a:ext cx="5257800" cy="841248"/>
          </a:xfrm>
          <a:prstGeom prst="rect">
            <a:avLst/>
          </a:prstGeom>
          <a:noFill/>
          <a:ln/>
        </p:spPr>
        <p:txBody>
          <a:bodyPr wrap="square" lIns="0" tIns="0" rIns="0" bIns="0" rtlCol="0" anchor="ctr"/>
          <a:lstStyle/>
          <a:p>
            <a:pPr indent="0" marL="0">
              <a:buNone/>
            </a:pPr>
            <a:r>
              <a:rPr lang="en-US" sz="1550" dirty="0">
                <a:solidFill>
                  <a:srgbClr val="5F7284"/>
                </a:solidFill>
                <a:latin typeface="Calibri" pitchFamily="34" charset="0"/>
                <a:ea typeface="Calibri" pitchFamily="34" charset="-122"/>
                <a:cs typeface="Calibri" pitchFamily="34" charset="-120"/>
              </a:rPr>
              <a:t>It's due end of today. Lab time isn't revision time.</a:t>
            </a:r>
            <a:endParaRPr lang="en-US" sz="1550" dirty="0"/>
          </a:p>
        </p:txBody>
      </p:sp>
      <p:sp>
        <p:nvSpPr>
          <p:cNvPr id="25" name="Text 19"/>
          <p:cNvSpPr/>
          <p:nvPr/>
        </p:nvSpPr>
        <p:spPr>
          <a:xfrm>
            <a:off x="548640" y="5715000"/>
            <a:ext cx="11064240" cy="457200"/>
          </a:xfrm>
          <a:prstGeom prst="rect">
            <a:avLst/>
          </a:prstGeom>
          <a:noFill/>
          <a:ln/>
        </p:spPr>
        <p:txBody>
          <a:bodyPr wrap="square" lIns="0" tIns="0" rIns="0" bIns="0" rtlCol="0" anchor="ctr"/>
          <a:lstStyle/>
          <a:p>
            <a:pPr algn="ctr" indent="0" marL="0">
              <a:buNone/>
            </a:pPr>
            <a:r>
              <a:rPr lang="en-US" sz="1600" b="1" i="1" dirty="0">
                <a:solidFill>
                  <a:srgbClr val="D9614C"/>
                </a:solidFill>
                <a:latin typeface="Calibri" pitchFamily="34" charset="0"/>
                <a:ea typeface="Calibri" pitchFamily="34" charset="-122"/>
                <a:cs typeface="Calibri" pitchFamily="34" charset="-120"/>
              </a:rPr>
              <a:t>No push access? Fix it in the next five minutes, not at minute forty. A blocked author blocks their reviewer too.</a:t>
            </a:r>
            <a:endParaRPr lang="en-US" sz="1600" dirty="0"/>
          </a:p>
        </p:txBody>
      </p:sp>
      <p:sp>
        <p:nvSpPr>
          <p:cNvPr id="26"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14 · Git Workflow Lab</a:t>
            </a:r>
            <a:endParaRPr lang="en-US" sz="1000" dirty="0"/>
          </a:p>
        </p:txBody>
      </p:sp>
      <p:sp>
        <p:nvSpPr>
          <p:cNvPr id="27"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TODAY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Everyone drives the loop, once, for real</a:t>
            </a:r>
            <a:endParaRPr lang="en-US" sz="3100" dirty="0"/>
          </a:p>
        </p:txBody>
      </p:sp>
      <p:sp>
        <p:nvSpPr>
          <p:cNvPr id="5" name="Shape 3"/>
          <p:cNvSpPr/>
          <p:nvPr/>
        </p:nvSpPr>
        <p:spPr>
          <a:xfrm>
            <a:off x="548640" y="178308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04672" y="1883664"/>
            <a:ext cx="548640" cy="54864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52805" y="2031797"/>
            <a:ext cx="252374" cy="252374"/>
          </a:xfrm>
          <a:prstGeom prst="rect">
            <a:avLst/>
          </a:prstGeom>
        </p:spPr>
      </p:pic>
      <p:sp>
        <p:nvSpPr>
          <p:cNvPr id="8" name="Text 5"/>
          <p:cNvSpPr/>
          <p:nvPr/>
        </p:nvSpPr>
        <p:spPr>
          <a:xfrm>
            <a:off x="1536192" y="1783080"/>
            <a:ext cx="813816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Part 1 · Your change: issue → branch → commit → pull request</a:t>
            </a:r>
            <a:endParaRPr lang="en-US" sz="1800" dirty="0"/>
          </a:p>
        </p:txBody>
      </p:sp>
      <p:sp>
        <p:nvSpPr>
          <p:cNvPr id="9" name="Text 6"/>
          <p:cNvSpPr/>
          <p:nvPr/>
        </p:nvSpPr>
        <p:spPr>
          <a:xfrm>
            <a:off x="9692640" y="1783080"/>
            <a:ext cx="1645920" cy="749808"/>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25 min</a:t>
            </a:r>
            <a:endParaRPr lang="en-US" sz="1600" dirty="0"/>
          </a:p>
        </p:txBody>
      </p:sp>
      <p:sp>
        <p:nvSpPr>
          <p:cNvPr id="10" name="Shape 7"/>
          <p:cNvSpPr/>
          <p:nvPr/>
        </p:nvSpPr>
        <p:spPr>
          <a:xfrm>
            <a:off x="548640" y="2633472"/>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804672" y="2734056"/>
            <a:ext cx="548640" cy="54864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952805" y="2882189"/>
            <a:ext cx="252374" cy="252374"/>
          </a:xfrm>
          <a:prstGeom prst="rect">
            <a:avLst/>
          </a:prstGeom>
        </p:spPr>
      </p:pic>
      <p:sp>
        <p:nvSpPr>
          <p:cNvPr id="13" name="Text 9"/>
          <p:cNvSpPr/>
          <p:nvPr/>
        </p:nvSpPr>
        <p:spPr>
          <a:xfrm>
            <a:off x="1536192" y="2633472"/>
            <a:ext cx="813816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Part 2 · The second reader: review, respond, merge</a:t>
            </a:r>
            <a:endParaRPr lang="en-US" sz="1800" dirty="0"/>
          </a:p>
        </p:txBody>
      </p:sp>
      <p:sp>
        <p:nvSpPr>
          <p:cNvPr id="14" name="Text 10"/>
          <p:cNvSpPr/>
          <p:nvPr/>
        </p:nvSpPr>
        <p:spPr>
          <a:xfrm>
            <a:off x="9692640" y="2633472"/>
            <a:ext cx="1645920" cy="749808"/>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15 min</a:t>
            </a:r>
            <a:endParaRPr lang="en-US" sz="1600" dirty="0"/>
          </a:p>
        </p:txBody>
      </p:sp>
      <p:sp>
        <p:nvSpPr>
          <p:cNvPr id="15" name="Shape 11"/>
          <p:cNvSpPr/>
          <p:nvPr/>
        </p:nvSpPr>
        <p:spPr>
          <a:xfrm>
            <a:off x="548640" y="3483864"/>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04672" y="3584448"/>
            <a:ext cx="548640" cy="548640"/>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52805" y="3732581"/>
            <a:ext cx="252374" cy="252374"/>
          </a:xfrm>
          <a:prstGeom prst="rect">
            <a:avLst/>
          </a:prstGeom>
        </p:spPr>
      </p:pic>
      <p:sp>
        <p:nvSpPr>
          <p:cNvPr id="18" name="Text 13"/>
          <p:cNvSpPr/>
          <p:nvPr/>
        </p:nvSpPr>
        <p:spPr>
          <a:xfrm>
            <a:off x="1536192" y="3483864"/>
            <a:ext cx="813816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Part 3 · A merge conflict, on purpose</a:t>
            </a:r>
            <a:endParaRPr lang="en-US" sz="1800" dirty="0"/>
          </a:p>
        </p:txBody>
      </p:sp>
      <p:sp>
        <p:nvSpPr>
          <p:cNvPr id="19" name="Text 14"/>
          <p:cNvSpPr/>
          <p:nvPr/>
        </p:nvSpPr>
        <p:spPr>
          <a:xfrm>
            <a:off x="9692640" y="3483864"/>
            <a:ext cx="1645920" cy="749808"/>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12 min</a:t>
            </a:r>
            <a:endParaRPr lang="en-US" sz="1600" dirty="0"/>
          </a:p>
        </p:txBody>
      </p:sp>
      <p:sp>
        <p:nvSpPr>
          <p:cNvPr id="20" name="Shape 15"/>
          <p:cNvSpPr/>
          <p:nvPr/>
        </p:nvSpPr>
        <p:spPr>
          <a:xfrm>
            <a:off x="548640" y="4334256"/>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804672" y="4434840"/>
            <a:ext cx="548640" cy="548640"/>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952805" y="4582973"/>
            <a:ext cx="252374" cy="252374"/>
          </a:xfrm>
          <a:prstGeom prst="rect">
            <a:avLst/>
          </a:prstGeom>
        </p:spPr>
      </p:pic>
      <p:sp>
        <p:nvSpPr>
          <p:cNvPr id="23" name="Text 17"/>
          <p:cNvSpPr/>
          <p:nvPr/>
        </p:nvSpPr>
        <p:spPr>
          <a:xfrm>
            <a:off x="1536192" y="4334256"/>
            <a:ext cx="813816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Part 4 · Your project's git standards, written and merged</a:t>
            </a:r>
            <a:endParaRPr lang="en-US" sz="1800" dirty="0"/>
          </a:p>
        </p:txBody>
      </p:sp>
      <p:sp>
        <p:nvSpPr>
          <p:cNvPr id="24" name="Text 18"/>
          <p:cNvSpPr/>
          <p:nvPr/>
        </p:nvSpPr>
        <p:spPr>
          <a:xfrm>
            <a:off x="9692640" y="4334256"/>
            <a:ext cx="1645920" cy="749808"/>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12 min</a:t>
            </a:r>
            <a:endParaRPr lang="en-US" sz="1600" dirty="0"/>
          </a:p>
        </p:txBody>
      </p:sp>
      <p:sp>
        <p:nvSpPr>
          <p:cNvPr id="25" name="Shape 19"/>
          <p:cNvSpPr/>
          <p:nvPr/>
        </p:nvSpPr>
        <p:spPr>
          <a:xfrm>
            <a:off x="548640" y="5303520"/>
            <a:ext cx="11064240" cy="868680"/>
          </a:xfrm>
          <a:prstGeom prst="roundRect">
            <a:avLst>
              <a:gd name="adj" fmla="val 9474"/>
            </a:avLst>
          </a:prstGeom>
          <a:solidFill>
            <a:srgbClr val="14233A"/>
          </a:solidFill>
          <a:ln/>
          <a:effectLst>
            <a:outerShdw sx="100000" sy="100000" kx="0" ky="0" algn="bl" rotWithShape="0" blurRad="88900" dist="38100" dir="5400000">
              <a:srgbClr val="000000">
                <a:alpha val="13000"/>
              </a:srgbClr>
            </a:outerShdw>
          </a:effectLst>
        </p:spPr>
      </p:sp>
      <p:sp>
        <p:nvSpPr>
          <p:cNvPr id="26" name="Text 20"/>
          <p:cNvSpPr/>
          <p:nvPr/>
        </p:nvSpPr>
        <p:spPr>
          <a:xfrm>
            <a:off x="868680" y="5303520"/>
            <a:ext cx="10424160" cy="868680"/>
          </a:xfrm>
          <a:prstGeom prst="rect">
            <a:avLst/>
          </a:prstGeom>
          <a:noFill/>
          <a:ln/>
        </p:spPr>
        <p:txBody>
          <a:bodyPr wrap="square" lIns="0" tIns="0" rIns="0" bIns="0" rtlCol="0" anchor="ctr"/>
          <a:lstStyle/>
          <a:p>
            <a:pPr indent="0" marL="0">
              <a:buNone/>
            </a:pPr>
            <a:r>
              <a:rPr lang="en-US" sz="1700" b="1" dirty="0">
                <a:solidFill>
                  <a:srgbClr val="E8A33D"/>
                </a:solidFill>
                <a:latin typeface="Calibri" pitchFamily="34" charset="0"/>
                <a:ea typeface="Calibri" pitchFamily="34" charset="-122"/>
                <a:cs typeface="Calibri" pitchFamily="34" charset="-120"/>
              </a:rPr>
              <a:t>Open the lab guide now: </a:t>
            </a:r>
            <a:pPr indent="0" marL="0">
              <a:buNone/>
            </a:pPr>
            <a:r>
              <a:rPr lang="en-US" sz="1700" dirty="0">
                <a:solidFill>
                  <a:srgbClr val="FFFFFF"/>
                </a:solidFill>
                <a:latin typeface="Calibri" pitchFamily="34" charset="0"/>
                <a:ea typeface="Calibri" pitchFamily="34" charset="-122"/>
                <a:cs typeface="Calibri" pitchFamily="34" charset="-120"/>
              </a:rPr>
              <a:t>Canvas → Session 14 → Git Workflow Lab Guide. Every command is there to copy.</a:t>
            </a:r>
            <a:endParaRPr lang="en-US" sz="1700" dirty="0"/>
          </a:p>
        </p:txBody>
      </p:sp>
      <p:sp>
        <p:nvSpPr>
          <p:cNvPr id="27" name="Text 2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14 · Git Workflow Lab</a:t>
            </a:r>
            <a:endParaRPr lang="en-US" sz="1000" dirty="0"/>
          </a:p>
        </p:txBody>
      </p:sp>
      <p:sp>
        <p:nvSpPr>
          <p:cNvPr id="28"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WHO DOES WHAT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Settle this out loud before anyone opens a pull request</a:t>
            </a:r>
            <a:endParaRPr lang="en-US" sz="3100" dirty="0"/>
          </a:p>
        </p:txBody>
      </p:sp>
      <p:sp>
        <p:nvSpPr>
          <p:cNvPr id="5" name="Shape 3"/>
          <p:cNvSpPr/>
          <p:nvPr/>
        </p:nvSpPr>
        <p:spPr>
          <a:xfrm>
            <a:off x="548640" y="1783080"/>
            <a:ext cx="5440680" cy="4343400"/>
          </a:xfrm>
          <a:prstGeom prst="roundRect">
            <a:avLst>
              <a:gd name="adj" fmla="val 1895"/>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548640" y="1783080"/>
            <a:ext cx="5440680" cy="91440"/>
          </a:xfrm>
          <a:prstGeom prst="rect">
            <a:avLst/>
          </a:prstGeom>
          <a:solidFill>
            <a:srgbClr val="12908F"/>
          </a:solidFill>
          <a:ln/>
        </p:spPr>
      </p:sp>
      <p:sp>
        <p:nvSpPr>
          <p:cNvPr id="7" name="Text 5"/>
          <p:cNvSpPr/>
          <p:nvPr/>
        </p:nvSpPr>
        <p:spPr>
          <a:xfrm>
            <a:off x="868680" y="2011680"/>
            <a:ext cx="4846320" cy="457200"/>
          </a:xfrm>
          <a:prstGeom prst="rect">
            <a:avLst/>
          </a:prstGeom>
          <a:noFill/>
          <a:ln/>
        </p:spPr>
        <p:txBody>
          <a:bodyPr wrap="square" lIns="0" tIns="0" rIns="0" bIns="0" rtlCol="0" anchor="ctr"/>
          <a:lstStyle/>
          <a:p>
            <a:pPr indent="0" marL="0">
              <a:buNone/>
            </a:pPr>
            <a:r>
              <a:rPr lang="en-US" sz="2100" b="1" dirty="0">
                <a:solidFill>
                  <a:srgbClr val="1E2A36"/>
                </a:solidFill>
                <a:latin typeface="Cambria" pitchFamily="34" charset="0"/>
                <a:ea typeface="Cambria" pitchFamily="34" charset="-122"/>
                <a:cs typeface="Cambria" pitchFamily="34" charset="-120"/>
              </a:rPr>
              <a:t>On a team</a:t>
            </a:r>
            <a:endParaRPr lang="en-US" sz="2100" dirty="0"/>
          </a:p>
        </p:txBody>
      </p:sp>
      <p:sp>
        <p:nvSpPr>
          <p:cNvPr id="8" name="Text 6"/>
          <p:cNvSpPr/>
          <p:nvPr/>
        </p:nvSpPr>
        <p:spPr>
          <a:xfrm>
            <a:off x="868680" y="2606040"/>
            <a:ext cx="4846320" cy="310896"/>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Each member</a:t>
            </a:r>
            <a:endParaRPr lang="en-US" sz="1600" dirty="0"/>
          </a:p>
        </p:txBody>
      </p:sp>
      <p:sp>
        <p:nvSpPr>
          <p:cNvPr id="9" name="Text 7"/>
          <p:cNvSpPr/>
          <p:nvPr/>
        </p:nvSpPr>
        <p:spPr>
          <a:xfrm>
            <a:off x="868680" y="2916936"/>
            <a:ext cx="4846320" cy="45720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one starter task, a different one each</a:t>
            </a:r>
            <a:endParaRPr lang="en-US" sz="1600" dirty="0"/>
          </a:p>
        </p:txBody>
      </p:sp>
      <p:sp>
        <p:nvSpPr>
          <p:cNvPr id="10" name="Text 8"/>
          <p:cNvSpPr/>
          <p:nvPr/>
        </p:nvSpPr>
        <p:spPr>
          <a:xfrm>
            <a:off x="868680" y="3456432"/>
            <a:ext cx="4846320" cy="310896"/>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Reviews</a:t>
            </a:r>
            <a:endParaRPr lang="en-US" sz="1600" dirty="0"/>
          </a:p>
        </p:txBody>
      </p:sp>
      <p:sp>
        <p:nvSpPr>
          <p:cNvPr id="11" name="Text 9"/>
          <p:cNvSpPr/>
          <p:nvPr/>
        </p:nvSpPr>
        <p:spPr>
          <a:xfrm>
            <a:off x="868680" y="3767328"/>
            <a:ext cx="4846320" cy="45720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round-robin: everyone reviews exactly one teammate's PR</a:t>
            </a:r>
            <a:endParaRPr lang="en-US" sz="1600" dirty="0"/>
          </a:p>
        </p:txBody>
      </p:sp>
      <p:sp>
        <p:nvSpPr>
          <p:cNvPr id="12" name="Text 10"/>
          <p:cNvSpPr/>
          <p:nvPr/>
        </p:nvSpPr>
        <p:spPr>
          <a:xfrm>
            <a:off x="868680" y="4306824"/>
            <a:ext cx="4846320" cy="310896"/>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The conflict</a:t>
            </a:r>
            <a:endParaRPr lang="en-US" sz="1600" dirty="0"/>
          </a:p>
        </p:txBody>
      </p:sp>
      <p:sp>
        <p:nvSpPr>
          <p:cNvPr id="13" name="Text 11"/>
          <p:cNvSpPr/>
          <p:nvPr/>
        </p:nvSpPr>
        <p:spPr>
          <a:xfrm>
            <a:off x="868680" y="4617720"/>
            <a:ext cx="4846320" cy="45720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two members play A and B; the rest watch</a:t>
            </a:r>
            <a:endParaRPr lang="en-US" sz="1600" dirty="0"/>
          </a:p>
        </p:txBody>
      </p:sp>
      <p:sp>
        <p:nvSpPr>
          <p:cNvPr id="14" name="Text 12"/>
          <p:cNvSpPr/>
          <p:nvPr/>
        </p:nvSpPr>
        <p:spPr>
          <a:xfrm>
            <a:off x="868680" y="5157216"/>
            <a:ext cx="4846320" cy="310896"/>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The standards</a:t>
            </a:r>
            <a:endParaRPr lang="en-US" sz="1600" dirty="0"/>
          </a:p>
        </p:txBody>
      </p:sp>
      <p:sp>
        <p:nvSpPr>
          <p:cNvPr id="15" name="Text 13"/>
          <p:cNvSpPr/>
          <p:nvPr/>
        </p:nvSpPr>
        <p:spPr>
          <a:xfrm>
            <a:off x="868680" y="5468112"/>
            <a:ext cx="4846320" cy="45720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the whole team decides; one member opens the PR</a:t>
            </a:r>
            <a:endParaRPr lang="en-US" sz="1600" dirty="0"/>
          </a:p>
        </p:txBody>
      </p:sp>
      <p:sp>
        <p:nvSpPr>
          <p:cNvPr id="16" name="Shape 14"/>
          <p:cNvSpPr/>
          <p:nvPr/>
        </p:nvSpPr>
        <p:spPr>
          <a:xfrm>
            <a:off x="6172200" y="1783080"/>
            <a:ext cx="5440680" cy="4343400"/>
          </a:xfrm>
          <a:prstGeom prst="roundRect">
            <a:avLst>
              <a:gd name="adj" fmla="val 1895"/>
            </a:avLst>
          </a:prstGeom>
          <a:solidFill>
            <a:srgbClr val="F2F6F8"/>
          </a:solidFill>
          <a:ln/>
          <a:effectLst>
            <a:outerShdw sx="100000" sy="100000" kx="0" ky="0" algn="bl" rotWithShape="0" blurRad="88900" dist="38100" dir="5400000">
              <a:srgbClr val="000000">
                <a:alpha val="13000"/>
              </a:srgbClr>
            </a:outerShdw>
          </a:effectLst>
        </p:spPr>
      </p:sp>
      <p:sp>
        <p:nvSpPr>
          <p:cNvPr id="17" name="Shape 15"/>
          <p:cNvSpPr/>
          <p:nvPr/>
        </p:nvSpPr>
        <p:spPr>
          <a:xfrm>
            <a:off x="6172200" y="1783080"/>
            <a:ext cx="5440680" cy="91440"/>
          </a:xfrm>
          <a:prstGeom prst="rect">
            <a:avLst/>
          </a:prstGeom>
          <a:solidFill>
            <a:srgbClr val="E8A33D"/>
          </a:solidFill>
          <a:ln/>
        </p:spPr>
      </p:sp>
      <p:sp>
        <p:nvSpPr>
          <p:cNvPr id="18" name="Text 16"/>
          <p:cNvSpPr/>
          <p:nvPr/>
        </p:nvSpPr>
        <p:spPr>
          <a:xfrm>
            <a:off x="6492240" y="2011680"/>
            <a:ext cx="4846320" cy="457200"/>
          </a:xfrm>
          <a:prstGeom prst="rect">
            <a:avLst/>
          </a:prstGeom>
          <a:noFill/>
          <a:ln/>
        </p:spPr>
        <p:txBody>
          <a:bodyPr wrap="square" lIns="0" tIns="0" rIns="0" bIns="0" rtlCol="0" anchor="ctr"/>
          <a:lstStyle/>
          <a:p>
            <a:pPr indent="0" marL="0">
              <a:buNone/>
            </a:pPr>
            <a:r>
              <a:rPr lang="en-US" sz="2100" b="1" dirty="0">
                <a:solidFill>
                  <a:srgbClr val="1E2A36"/>
                </a:solidFill>
                <a:latin typeface="Cambria" pitchFamily="34" charset="0"/>
                <a:ea typeface="Cambria" pitchFamily="34" charset="-122"/>
                <a:cs typeface="Cambria" pitchFamily="34" charset="-120"/>
              </a:rPr>
              <a:t>Solo</a:t>
            </a:r>
            <a:endParaRPr lang="en-US" sz="2100" dirty="0"/>
          </a:p>
        </p:txBody>
      </p:sp>
      <p:sp>
        <p:nvSpPr>
          <p:cNvPr id="19" name="Text 17"/>
          <p:cNvSpPr/>
          <p:nvPr/>
        </p:nvSpPr>
        <p:spPr>
          <a:xfrm>
            <a:off x="6492240" y="2606040"/>
            <a:ext cx="4846320" cy="310896"/>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You</a:t>
            </a:r>
            <a:endParaRPr lang="en-US" sz="1600" dirty="0"/>
          </a:p>
        </p:txBody>
      </p:sp>
      <p:sp>
        <p:nvSpPr>
          <p:cNvPr id="20" name="Text 18"/>
          <p:cNvSpPr/>
          <p:nvPr/>
        </p:nvSpPr>
        <p:spPr>
          <a:xfrm>
            <a:off x="6492240" y="2916936"/>
            <a:ext cx="4846320" cy="45720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one starter task (a second if you finish early)</a:t>
            </a:r>
            <a:endParaRPr lang="en-US" sz="1600" dirty="0"/>
          </a:p>
        </p:txBody>
      </p:sp>
      <p:sp>
        <p:nvSpPr>
          <p:cNvPr id="21" name="Text 19"/>
          <p:cNvSpPr/>
          <p:nvPr/>
        </p:nvSpPr>
        <p:spPr>
          <a:xfrm>
            <a:off x="6492240" y="3456432"/>
            <a:ext cx="4846320" cy="310896"/>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Reviews</a:t>
            </a:r>
            <a:endParaRPr lang="en-US" sz="1600" dirty="0"/>
          </a:p>
        </p:txBody>
      </p:sp>
      <p:sp>
        <p:nvSpPr>
          <p:cNvPr id="22" name="Text 20"/>
          <p:cNvSpPr/>
          <p:nvPr/>
        </p:nvSpPr>
        <p:spPr>
          <a:xfrm>
            <a:off x="6492240" y="3767328"/>
            <a:ext cx="4846320" cy="45720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your review partner reviews yours; you review theirs</a:t>
            </a:r>
            <a:endParaRPr lang="en-US" sz="1600" dirty="0"/>
          </a:p>
        </p:txBody>
      </p:sp>
      <p:sp>
        <p:nvSpPr>
          <p:cNvPr id="23" name="Text 21"/>
          <p:cNvSpPr/>
          <p:nvPr/>
        </p:nvSpPr>
        <p:spPr>
          <a:xfrm>
            <a:off x="6492240" y="4306824"/>
            <a:ext cx="4846320" cy="310896"/>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The conflict</a:t>
            </a:r>
            <a:endParaRPr lang="en-US" sz="1600" dirty="0"/>
          </a:p>
        </p:txBody>
      </p:sp>
      <p:sp>
        <p:nvSpPr>
          <p:cNvPr id="24" name="Text 22"/>
          <p:cNvSpPr/>
          <p:nvPr/>
        </p:nvSpPr>
        <p:spPr>
          <a:xfrm>
            <a:off x="6492240" y="4617720"/>
            <a:ext cx="4846320" cy="45720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you are both A and B</a:t>
            </a:r>
            <a:endParaRPr lang="en-US" sz="1600" dirty="0"/>
          </a:p>
        </p:txBody>
      </p:sp>
      <p:sp>
        <p:nvSpPr>
          <p:cNvPr id="25" name="Text 23"/>
          <p:cNvSpPr/>
          <p:nvPr/>
        </p:nvSpPr>
        <p:spPr>
          <a:xfrm>
            <a:off x="6492240" y="5157216"/>
            <a:ext cx="4846320" cy="310896"/>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The standards</a:t>
            </a:r>
            <a:endParaRPr lang="en-US" sz="1600" dirty="0"/>
          </a:p>
        </p:txBody>
      </p:sp>
      <p:sp>
        <p:nvSpPr>
          <p:cNvPr id="26" name="Text 24"/>
          <p:cNvSpPr/>
          <p:nvPr/>
        </p:nvSpPr>
        <p:spPr>
          <a:xfrm>
            <a:off x="6492240" y="5468112"/>
            <a:ext cx="4846320" cy="45720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you decide; your partner reviews the PR</a:t>
            </a:r>
            <a:endParaRPr lang="en-US" sz="1600" dirty="0"/>
          </a:p>
        </p:txBody>
      </p:sp>
      <p:sp>
        <p:nvSpPr>
          <p:cNvPr id="27" name="Text 2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14 · Git Workflow Lab</a:t>
            </a:r>
            <a:endParaRPr lang="en-US" sz="1000" dirty="0"/>
          </a:p>
        </p:txBody>
      </p:sp>
      <p:sp>
        <p:nvSpPr>
          <p:cNvPr id="28" name="Text 2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PART 1 · PICK A STARTER TASK</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Small, real, and something your repo actually needs</a:t>
            </a:r>
            <a:endParaRPr lang="en-US" sz="3100" dirty="0"/>
          </a:p>
        </p:txBody>
      </p:sp>
      <p:sp>
        <p:nvSpPr>
          <p:cNvPr id="5" name="Shape 3"/>
          <p:cNvSpPr/>
          <p:nvPr/>
        </p:nvSpPr>
        <p:spPr>
          <a:xfrm>
            <a:off x="9646920" y="347472"/>
            <a:ext cx="1965960" cy="420624"/>
          </a:xfrm>
          <a:prstGeom prst="roundRect">
            <a:avLst>
              <a:gd name="adj" fmla="val 17391"/>
            </a:avLst>
          </a:prstGeom>
          <a:solidFill>
            <a:srgbClr val="14233A"/>
          </a:solidFill>
          <a:ln/>
        </p:spPr>
      </p:sp>
      <p:sp>
        <p:nvSpPr>
          <p:cNvPr id="6" name="Text 4"/>
          <p:cNvSpPr/>
          <p:nvPr/>
        </p:nvSpPr>
        <p:spPr>
          <a:xfrm>
            <a:off x="9646920" y="347472"/>
            <a:ext cx="1965960" cy="420624"/>
          </a:xfrm>
          <a:prstGeom prst="rect">
            <a:avLst/>
          </a:prstGeom>
          <a:noFill/>
          <a:ln/>
        </p:spPr>
        <p:txBody>
          <a:bodyPr wrap="square" lIns="0" tIns="0" rIns="0" bIns="0" rtlCol="0" anchor="ctr"/>
          <a:lstStyle/>
          <a:p>
            <a:pPr algn="ctr" indent="0" marL="0">
              <a:buNone/>
            </a:pPr>
            <a:r>
              <a:rPr lang="en-US" sz="1400" b="1" dirty="0">
                <a:solidFill>
                  <a:srgbClr val="E8A33D"/>
                </a:solidFill>
                <a:latin typeface="Calibri" pitchFamily="34" charset="0"/>
                <a:ea typeface="Calibri" pitchFamily="34" charset="-122"/>
                <a:cs typeface="Calibri" pitchFamily="34" charset="-120"/>
              </a:rPr>
              <a:t>Part 1 · 25 min</a:t>
            </a:r>
            <a:endParaRPr lang="en-US" sz="1400" dirty="0"/>
          </a:p>
        </p:txBody>
      </p:sp>
      <p:sp>
        <p:nvSpPr>
          <p:cNvPr id="7" name="Shape 5"/>
          <p:cNvSpPr/>
          <p:nvPr/>
        </p:nvSpPr>
        <p:spPr>
          <a:xfrm>
            <a:off x="548640" y="1783080"/>
            <a:ext cx="7315200" cy="585216"/>
          </a:xfrm>
          <a:prstGeom prst="roundRect">
            <a:avLst>
              <a:gd name="adj" fmla="val 14063"/>
            </a:avLst>
          </a:prstGeom>
          <a:solidFill>
            <a:srgbClr val="F2F6F8"/>
          </a:solidFill>
          <a:ln/>
          <a:effectLst>
            <a:outerShdw sx="100000" sy="100000" kx="0" ky="0" algn="bl" rotWithShape="0" blurRad="88900" dist="38100" dir="5400000">
              <a:srgbClr val="000000">
                <a:alpha val="13000"/>
              </a:srgbClr>
            </a:outerShdw>
          </a:effectLst>
        </p:spPr>
      </p:sp>
      <p:sp>
        <p:nvSpPr>
          <p:cNvPr id="8" name="Text 6"/>
          <p:cNvSpPr/>
          <p:nvPr/>
        </p:nvSpPr>
        <p:spPr>
          <a:xfrm>
            <a:off x="685800" y="1783080"/>
            <a:ext cx="502920" cy="585216"/>
          </a:xfrm>
          <a:prstGeom prst="rect">
            <a:avLst/>
          </a:prstGeom>
          <a:noFill/>
          <a:ln/>
        </p:spPr>
        <p:txBody>
          <a:bodyPr wrap="square" lIns="0" tIns="0" rIns="0" bIns="0" rtlCol="0" anchor="ctr"/>
          <a:lstStyle/>
          <a:p>
            <a:pPr algn="ctr" indent="0" marL="0">
              <a:buNone/>
            </a:pPr>
            <a:r>
              <a:rPr lang="en-US" sz="2200" b="1" dirty="0">
                <a:solidFill>
                  <a:srgbClr val="12908F"/>
                </a:solidFill>
                <a:latin typeface="Cambria" pitchFamily="34" charset="0"/>
                <a:ea typeface="Cambria" pitchFamily="34" charset="-122"/>
                <a:cs typeface="Cambria" pitchFamily="34" charset="-120"/>
              </a:rPr>
              <a:t>A</a:t>
            </a:r>
            <a:endParaRPr lang="en-US" sz="2200" dirty="0"/>
          </a:p>
        </p:txBody>
      </p:sp>
      <p:sp>
        <p:nvSpPr>
          <p:cNvPr id="9" name="Text 7"/>
          <p:cNvSpPr/>
          <p:nvPr/>
        </p:nvSpPr>
        <p:spPr>
          <a:xfrm>
            <a:off x="1280160" y="1783080"/>
            <a:ext cx="301752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Point readers to the design</a:t>
            </a:r>
            <a:endParaRPr lang="en-US" sz="1650" dirty="0"/>
          </a:p>
        </p:txBody>
      </p:sp>
      <p:sp>
        <p:nvSpPr>
          <p:cNvPr id="10" name="Text 8"/>
          <p:cNvSpPr/>
          <p:nvPr/>
        </p:nvSpPr>
        <p:spPr>
          <a:xfrm>
            <a:off x="4343400" y="1783080"/>
            <a:ext cx="3429000" cy="585216"/>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README: link docs/design.md</a:t>
            </a:r>
            <a:endParaRPr lang="en-US" sz="1500" dirty="0"/>
          </a:p>
        </p:txBody>
      </p:sp>
      <p:sp>
        <p:nvSpPr>
          <p:cNvPr id="11" name="Shape 9"/>
          <p:cNvSpPr/>
          <p:nvPr/>
        </p:nvSpPr>
        <p:spPr>
          <a:xfrm>
            <a:off x="548640" y="2459736"/>
            <a:ext cx="7315200" cy="585216"/>
          </a:xfrm>
          <a:prstGeom prst="roundRect">
            <a:avLst>
              <a:gd name="adj" fmla="val 14063"/>
            </a:avLst>
          </a:prstGeom>
          <a:solidFill>
            <a:srgbClr val="F2F6F8"/>
          </a:solidFill>
          <a:ln/>
          <a:effectLst>
            <a:outerShdw sx="100000" sy="100000" kx="0" ky="0" algn="bl" rotWithShape="0" blurRad="88900" dist="38100" dir="5400000">
              <a:srgbClr val="000000">
                <a:alpha val="13000"/>
              </a:srgbClr>
            </a:outerShdw>
          </a:effectLst>
        </p:spPr>
      </p:sp>
      <p:sp>
        <p:nvSpPr>
          <p:cNvPr id="12" name="Text 10"/>
          <p:cNvSpPr/>
          <p:nvPr/>
        </p:nvSpPr>
        <p:spPr>
          <a:xfrm>
            <a:off x="685800" y="2459736"/>
            <a:ext cx="502920" cy="585216"/>
          </a:xfrm>
          <a:prstGeom prst="rect">
            <a:avLst/>
          </a:prstGeom>
          <a:noFill/>
          <a:ln/>
        </p:spPr>
        <p:txBody>
          <a:bodyPr wrap="square" lIns="0" tIns="0" rIns="0" bIns="0" rtlCol="0" anchor="ctr"/>
          <a:lstStyle/>
          <a:p>
            <a:pPr algn="ctr" indent="0" marL="0">
              <a:buNone/>
            </a:pPr>
            <a:r>
              <a:rPr lang="en-US" sz="2200" b="1" dirty="0">
                <a:solidFill>
                  <a:srgbClr val="12908F"/>
                </a:solidFill>
                <a:latin typeface="Cambria" pitchFamily="34" charset="0"/>
                <a:ea typeface="Cambria" pitchFamily="34" charset="-122"/>
                <a:cs typeface="Cambria" pitchFamily="34" charset="-120"/>
              </a:rPr>
              <a:t>B</a:t>
            </a:r>
            <a:endParaRPr lang="en-US" sz="2200" dirty="0"/>
          </a:p>
        </p:txBody>
      </p:sp>
      <p:sp>
        <p:nvSpPr>
          <p:cNvPr id="13" name="Text 11"/>
          <p:cNvSpPr/>
          <p:nvPr/>
        </p:nvSpPr>
        <p:spPr>
          <a:xfrm>
            <a:off x="1280160" y="2459736"/>
            <a:ext cx="301752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Say what the license means</a:t>
            </a:r>
            <a:endParaRPr lang="en-US" sz="1650" dirty="0"/>
          </a:p>
        </p:txBody>
      </p:sp>
      <p:sp>
        <p:nvSpPr>
          <p:cNvPr id="14" name="Text 12"/>
          <p:cNvSpPr/>
          <p:nvPr/>
        </p:nvSpPr>
        <p:spPr>
          <a:xfrm>
            <a:off x="4343400" y="2459736"/>
            <a:ext cx="3429000" cy="585216"/>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README: a License section</a:t>
            </a:r>
            <a:endParaRPr lang="en-US" sz="1500" dirty="0"/>
          </a:p>
        </p:txBody>
      </p:sp>
      <p:sp>
        <p:nvSpPr>
          <p:cNvPr id="15" name="Shape 13"/>
          <p:cNvSpPr/>
          <p:nvPr/>
        </p:nvSpPr>
        <p:spPr>
          <a:xfrm>
            <a:off x="548640" y="3136392"/>
            <a:ext cx="7315200" cy="585216"/>
          </a:xfrm>
          <a:prstGeom prst="roundRect">
            <a:avLst>
              <a:gd name="adj" fmla="val 14063"/>
            </a:avLst>
          </a:prstGeom>
          <a:solidFill>
            <a:srgbClr val="F2F6F8"/>
          </a:solidFill>
          <a:ln/>
          <a:effectLst>
            <a:outerShdw sx="100000" sy="100000" kx="0" ky="0" algn="bl" rotWithShape="0" blurRad="88900" dist="38100" dir="5400000">
              <a:srgbClr val="000000">
                <a:alpha val="13000"/>
              </a:srgbClr>
            </a:outerShdw>
          </a:effectLst>
        </p:spPr>
      </p:sp>
      <p:sp>
        <p:nvSpPr>
          <p:cNvPr id="16" name="Text 14"/>
          <p:cNvSpPr/>
          <p:nvPr/>
        </p:nvSpPr>
        <p:spPr>
          <a:xfrm>
            <a:off x="685800" y="3136392"/>
            <a:ext cx="502920" cy="585216"/>
          </a:xfrm>
          <a:prstGeom prst="rect">
            <a:avLst/>
          </a:prstGeom>
          <a:noFill/>
          <a:ln/>
        </p:spPr>
        <p:txBody>
          <a:bodyPr wrap="square" lIns="0" tIns="0" rIns="0" bIns="0" rtlCol="0" anchor="ctr"/>
          <a:lstStyle/>
          <a:p>
            <a:pPr algn="ctr" indent="0" marL="0">
              <a:buNone/>
            </a:pPr>
            <a:r>
              <a:rPr lang="en-US" sz="2200" b="1" dirty="0">
                <a:solidFill>
                  <a:srgbClr val="12908F"/>
                </a:solidFill>
                <a:latin typeface="Cambria" pitchFamily="34" charset="0"/>
                <a:ea typeface="Cambria" pitchFamily="34" charset="-122"/>
                <a:cs typeface="Cambria" pitchFamily="34" charset="-120"/>
              </a:rPr>
              <a:t>C</a:t>
            </a:r>
            <a:endParaRPr lang="en-US" sz="2200" dirty="0"/>
          </a:p>
        </p:txBody>
      </p:sp>
      <p:sp>
        <p:nvSpPr>
          <p:cNvPr id="17" name="Text 15"/>
          <p:cNvSpPr/>
          <p:nvPr/>
        </p:nvSpPr>
        <p:spPr>
          <a:xfrm>
            <a:off x="1280160" y="3136392"/>
            <a:ext cx="301752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Keep secrets out</a:t>
            </a:r>
            <a:endParaRPr lang="en-US" sz="1650" dirty="0"/>
          </a:p>
        </p:txBody>
      </p:sp>
      <p:sp>
        <p:nvSpPr>
          <p:cNvPr id="18" name="Text 16"/>
          <p:cNvSpPr/>
          <p:nvPr/>
        </p:nvSpPr>
        <p:spPr>
          <a:xfrm>
            <a:off x="4343400" y="3136392"/>
            <a:ext cx="3429000" cy="585216"/>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.gitignore: .env, editor, OS files</a:t>
            </a:r>
            <a:endParaRPr lang="en-US" sz="1500" dirty="0"/>
          </a:p>
        </p:txBody>
      </p:sp>
      <p:sp>
        <p:nvSpPr>
          <p:cNvPr id="19" name="Shape 17"/>
          <p:cNvSpPr/>
          <p:nvPr/>
        </p:nvSpPr>
        <p:spPr>
          <a:xfrm>
            <a:off x="548640" y="3813048"/>
            <a:ext cx="7315200" cy="585216"/>
          </a:xfrm>
          <a:prstGeom prst="roundRect">
            <a:avLst>
              <a:gd name="adj" fmla="val 14063"/>
            </a:avLst>
          </a:prstGeom>
          <a:solidFill>
            <a:srgbClr val="F2F6F8"/>
          </a:solidFill>
          <a:ln/>
          <a:effectLst>
            <a:outerShdw sx="100000" sy="100000" kx="0" ky="0" algn="bl" rotWithShape="0" blurRad="88900" dist="38100" dir="5400000">
              <a:srgbClr val="000000">
                <a:alpha val="13000"/>
              </a:srgbClr>
            </a:outerShdw>
          </a:effectLst>
        </p:spPr>
      </p:sp>
      <p:sp>
        <p:nvSpPr>
          <p:cNvPr id="20" name="Text 18"/>
          <p:cNvSpPr/>
          <p:nvPr/>
        </p:nvSpPr>
        <p:spPr>
          <a:xfrm>
            <a:off x="685800" y="3813048"/>
            <a:ext cx="502920" cy="585216"/>
          </a:xfrm>
          <a:prstGeom prst="rect">
            <a:avLst/>
          </a:prstGeom>
          <a:noFill/>
          <a:ln/>
        </p:spPr>
        <p:txBody>
          <a:bodyPr wrap="square" lIns="0" tIns="0" rIns="0" bIns="0" rtlCol="0" anchor="ctr"/>
          <a:lstStyle/>
          <a:p>
            <a:pPr algn="ctr" indent="0" marL="0">
              <a:buNone/>
            </a:pPr>
            <a:r>
              <a:rPr lang="en-US" sz="2200" b="1" dirty="0">
                <a:solidFill>
                  <a:srgbClr val="12908F"/>
                </a:solidFill>
                <a:latin typeface="Cambria" pitchFamily="34" charset="0"/>
                <a:ea typeface="Cambria" pitchFamily="34" charset="-122"/>
                <a:cs typeface="Cambria" pitchFamily="34" charset="-120"/>
              </a:rPr>
              <a:t>D</a:t>
            </a:r>
            <a:endParaRPr lang="en-US" sz="2200" dirty="0"/>
          </a:p>
        </p:txBody>
      </p:sp>
      <p:sp>
        <p:nvSpPr>
          <p:cNvPr id="21" name="Text 19"/>
          <p:cNvSpPr/>
          <p:nvPr/>
        </p:nvSpPr>
        <p:spPr>
          <a:xfrm>
            <a:off x="1280160" y="3813048"/>
            <a:ext cx="301752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Fix what's wrong in the README</a:t>
            </a:r>
            <a:endParaRPr lang="en-US" sz="1650" dirty="0"/>
          </a:p>
        </p:txBody>
      </p:sp>
      <p:sp>
        <p:nvSpPr>
          <p:cNvPr id="22" name="Text 20"/>
          <p:cNvSpPr/>
          <p:nvPr/>
        </p:nvSpPr>
        <p:spPr>
          <a:xfrm>
            <a:off x="4343400" y="3813048"/>
            <a:ext cx="3429000" cy="585216"/>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a typo, dead link, stale sentence</a:t>
            </a:r>
            <a:endParaRPr lang="en-US" sz="1500" dirty="0"/>
          </a:p>
        </p:txBody>
      </p:sp>
      <p:sp>
        <p:nvSpPr>
          <p:cNvPr id="23" name="Shape 21"/>
          <p:cNvSpPr/>
          <p:nvPr/>
        </p:nvSpPr>
        <p:spPr>
          <a:xfrm>
            <a:off x="548640" y="4489704"/>
            <a:ext cx="7315200" cy="585216"/>
          </a:xfrm>
          <a:prstGeom prst="roundRect">
            <a:avLst>
              <a:gd name="adj" fmla="val 14063"/>
            </a:avLst>
          </a:prstGeom>
          <a:solidFill>
            <a:srgbClr val="F2F6F8"/>
          </a:solidFill>
          <a:ln/>
          <a:effectLst>
            <a:outerShdw sx="100000" sy="100000" kx="0" ky="0" algn="bl" rotWithShape="0" blurRad="88900" dist="38100" dir="5400000">
              <a:srgbClr val="000000">
                <a:alpha val="13000"/>
              </a:srgbClr>
            </a:outerShdw>
          </a:effectLst>
        </p:spPr>
      </p:sp>
      <p:sp>
        <p:nvSpPr>
          <p:cNvPr id="24" name="Text 22"/>
          <p:cNvSpPr/>
          <p:nvPr/>
        </p:nvSpPr>
        <p:spPr>
          <a:xfrm>
            <a:off x="685800" y="4489704"/>
            <a:ext cx="502920" cy="585216"/>
          </a:xfrm>
          <a:prstGeom prst="rect">
            <a:avLst/>
          </a:prstGeom>
          <a:noFill/>
          <a:ln/>
        </p:spPr>
        <p:txBody>
          <a:bodyPr wrap="square" lIns="0" tIns="0" rIns="0" bIns="0" rtlCol="0" anchor="ctr"/>
          <a:lstStyle/>
          <a:p>
            <a:pPr algn="ctr" indent="0" marL="0">
              <a:buNone/>
            </a:pPr>
            <a:r>
              <a:rPr lang="en-US" sz="2200" b="1" dirty="0">
                <a:solidFill>
                  <a:srgbClr val="12908F"/>
                </a:solidFill>
                <a:latin typeface="Cambria" pitchFamily="34" charset="0"/>
                <a:ea typeface="Cambria" pitchFamily="34" charset="-122"/>
                <a:cs typeface="Cambria" pitchFamily="34" charset="-120"/>
              </a:rPr>
              <a:t>E</a:t>
            </a:r>
            <a:endParaRPr lang="en-US" sz="2200" dirty="0"/>
          </a:p>
        </p:txBody>
      </p:sp>
      <p:sp>
        <p:nvSpPr>
          <p:cNvPr id="25" name="Text 23"/>
          <p:cNvSpPr/>
          <p:nvPr/>
        </p:nvSpPr>
        <p:spPr>
          <a:xfrm>
            <a:off x="1280160" y="4489704"/>
            <a:ext cx="301752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Map the docs folder</a:t>
            </a:r>
            <a:endParaRPr lang="en-US" sz="1650" dirty="0"/>
          </a:p>
        </p:txBody>
      </p:sp>
      <p:sp>
        <p:nvSpPr>
          <p:cNvPr id="26" name="Text 24"/>
          <p:cNvSpPr/>
          <p:nvPr/>
        </p:nvSpPr>
        <p:spPr>
          <a:xfrm>
            <a:off x="4343400" y="4489704"/>
            <a:ext cx="3429000" cy="585216"/>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docs/README.md: what's in docs/</a:t>
            </a:r>
            <a:endParaRPr lang="en-US" sz="1500" dirty="0"/>
          </a:p>
        </p:txBody>
      </p:sp>
      <p:sp>
        <p:nvSpPr>
          <p:cNvPr id="27" name="Shape 25"/>
          <p:cNvSpPr/>
          <p:nvPr/>
        </p:nvSpPr>
        <p:spPr>
          <a:xfrm>
            <a:off x="8092440" y="1783080"/>
            <a:ext cx="3520440" cy="3291840"/>
          </a:xfrm>
          <a:prstGeom prst="roundRect">
            <a:avLst>
              <a:gd name="adj" fmla="val 2500"/>
            </a:avLst>
          </a:prstGeom>
          <a:solidFill>
            <a:srgbClr val="FBECE8"/>
          </a:solidFill>
          <a:ln/>
          <a:effectLst>
            <a:outerShdw sx="100000" sy="100000" kx="0" ky="0" algn="bl" rotWithShape="0" blurRad="88900" dist="38100" dir="5400000">
              <a:srgbClr val="000000">
                <a:alpha val="13000"/>
              </a:srgbClr>
            </a:outerShdw>
          </a:effectLst>
        </p:spPr>
      </p:sp>
      <p:sp>
        <p:nvSpPr>
          <p:cNvPr id="28" name="Text 26"/>
          <p:cNvSpPr/>
          <p:nvPr/>
        </p:nvSpPr>
        <p:spPr>
          <a:xfrm>
            <a:off x="8366760" y="1920240"/>
            <a:ext cx="3017520" cy="411480"/>
          </a:xfrm>
          <a:prstGeom prst="rect">
            <a:avLst/>
          </a:prstGeom>
          <a:noFill/>
          <a:ln/>
        </p:spPr>
        <p:txBody>
          <a:bodyPr wrap="square" lIns="0" tIns="0" rIns="0" bIns="0" rtlCol="0" anchor="ctr"/>
          <a:lstStyle/>
          <a:p>
            <a:pPr indent="0" marL="0">
              <a:buNone/>
            </a:pPr>
            <a:r>
              <a:rPr lang="en-US" sz="1900" b="1" dirty="0">
                <a:solidFill>
                  <a:srgbClr val="D9614C"/>
                </a:solidFill>
                <a:latin typeface="Cambria" pitchFamily="34" charset="0"/>
                <a:ea typeface="Cambria" pitchFamily="34" charset="-122"/>
                <a:cs typeface="Cambria" pitchFamily="34" charset="-120"/>
              </a:rPr>
              <a:t>Hands off today</a:t>
            </a:r>
            <a:endParaRPr lang="en-US" sz="1900" dirty="0"/>
          </a:p>
        </p:txBody>
      </p:sp>
      <p:sp>
        <p:nvSpPr>
          <p:cNvPr id="29" name="Text 27"/>
          <p:cNvSpPr/>
          <p:nvPr/>
        </p:nvSpPr>
        <p:spPr>
          <a:xfrm>
            <a:off x="8366760" y="2423160"/>
            <a:ext cx="3017520" cy="2514600"/>
          </a:xfrm>
          <a:prstGeom prst="rect">
            <a:avLst/>
          </a:prstGeom>
          <a:noFill/>
          <a:ln/>
        </p:spPr>
        <p:txBody>
          <a:bodyPr wrap="square" lIns="0" tIns="0" rIns="0" bIns="0" rtlCol="0" anchor="t"/>
          <a:lstStyle/>
          <a:p>
            <a:pPr indent="0" marL="0">
              <a:buNone/>
            </a:pPr>
            <a:r>
              <a:rPr lang="en-US" sz="1600" b="1" dirty="0">
                <a:solidFill>
                  <a:srgbClr val="1E2A36"/>
                </a:solidFill>
                <a:latin typeface="Calibri" pitchFamily="34" charset="0"/>
                <a:ea typeface="Calibri" pitchFamily="34" charset="-122"/>
                <a:cs typeface="Calibri" pitchFamily="34" charset="-120"/>
              </a:rPr>
              <a:t>docs/design.md</a:t>
            </a:r>
            <a:endParaRPr lang="en-US" sz="1600" dirty="0"/>
          </a:p>
          <a:p>
            <a:pPr indent="0" marL="0">
              <a:spcAft>
                <a:spcPts val="1000"/>
              </a:spcAft>
              <a:buNone/>
            </a:pPr>
            <a:r>
              <a:rPr lang="en-US" sz="1600" dirty="0">
                <a:solidFill>
                  <a:srgbClr val="1E2A36"/>
                </a:solidFill>
                <a:latin typeface="Calibri" pitchFamily="34" charset="0"/>
                <a:ea typeface="Calibri" pitchFamily="34" charset="-122"/>
                <a:cs typeface="Calibri" pitchFamily="34" charset="-120"/>
              </a:rPr>
              <a:t>Your revisions are their own work, due today.</a:t>
            </a:r>
            <a:endParaRPr lang="en-US" sz="1600" dirty="0"/>
          </a:p>
          <a:p>
            <a:pPr indent="0" marL="0">
              <a:buNone/>
            </a:pPr>
            <a:r>
              <a:rPr lang="en-US" sz="1600" b="1" dirty="0">
                <a:solidFill>
                  <a:srgbClr val="1E2A36"/>
                </a:solidFill>
                <a:latin typeface="Calibri" pitchFamily="34" charset="0"/>
                <a:ea typeface="Calibri" pitchFamily="34" charset="-122"/>
                <a:cs typeface="Calibri" pitchFamily="34" charset="-120"/>
              </a:rPr>
              <a:t>The README status line</a:t>
            </a:r>
            <a:endParaRPr lang="en-US" sz="1600" dirty="0"/>
          </a:p>
          <a:p>
            <a:pPr indent="0" marL="0">
              <a:buNone/>
            </a:pPr>
            <a:r>
              <a:rPr lang="en-US" sz="1600" dirty="0">
                <a:solidFill>
                  <a:srgbClr val="1E2A36"/>
                </a:solidFill>
                <a:latin typeface="Calibri" pitchFamily="34" charset="0"/>
                <a:ea typeface="Calibri" pitchFamily="34" charset="-122"/>
                <a:cs typeface="Calibri" pitchFamily="34" charset="-120"/>
              </a:rPr>
              <a:t>Part 3's conflict needs it untouched.</a:t>
            </a:r>
            <a:endParaRPr lang="en-US" sz="1600" dirty="0"/>
          </a:p>
        </p:txBody>
      </p:sp>
      <p:sp>
        <p:nvSpPr>
          <p:cNvPr id="30" name="Text 28"/>
          <p:cNvSpPr/>
          <p:nvPr/>
        </p:nvSpPr>
        <p:spPr>
          <a:xfrm>
            <a:off x="548640" y="5349240"/>
            <a:ext cx="11064240" cy="731520"/>
          </a:xfrm>
          <a:prstGeom prst="rect">
            <a:avLst/>
          </a:prstGeom>
          <a:noFill/>
          <a:ln/>
        </p:spPr>
        <p:txBody>
          <a:bodyPr wrap="square" lIns="0" tIns="0" rIns="0" bIns="0" rtlCol="0" anchor="ctr"/>
          <a:lstStyle/>
          <a:p>
            <a:pPr indent="0" marL="0">
              <a:buNone/>
            </a:pPr>
            <a:r>
              <a:rPr lang="en-US" sz="1600" i="1" dirty="0">
                <a:solidFill>
                  <a:srgbClr val="5F7284"/>
                </a:solidFill>
                <a:latin typeface="Calibri" pitchFamily="34" charset="0"/>
                <a:ea typeface="Calibri" pitchFamily="34" charset="-122"/>
                <a:cs typeface="Calibri" pitchFamily="34" charset="-120"/>
              </a:rPr>
              <a:t>On a team, each member picks a different task. Done early? Take a second one around the loop.</a:t>
            </a:r>
            <a:endParaRPr lang="en-US" sz="1600" dirty="0"/>
          </a:p>
        </p:txBody>
      </p:sp>
      <p:sp>
        <p:nvSpPr>
          <p:cNvPr id="31" name="Text 2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14 · Git Workflow Lab</a:t>
            </a:r>
            <a:endParaRPr lang="en-US" sz="1000" dirty="0"/>
          </a:p>
        </p:txBody>
      </p:sp>
      <p:sp>
        <p:nvSpPr>
          <p:cNvPr id="32" name="Text 3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PART 1 · STEP 2</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Before you change anything, say what you're going to change</a:t>
            </a:r>
            <a:endParaRPr lang="en-US" sz="3100" dirty="0"/>
          </a:p>
        </p:txBody>
      </p:sp>
      <p:sp>
        <p:nvSpPr>
          <p:cNvPr id="5" name="Shape 3"/>
          <p:cNvSpPr/>
          <p:nvPr/>
        </p:nvSpPr>
        <p:spPr>
          <a:xfrm>
            <a:off x="9646920" y="347472"/>
            <a:ext cx="1965960" cy="420624"/>
          </a:xfrm>
          <a:prstGeom prst="roundRect">
            <a:avLst>
              <a:gd name="adj" fmla="val 17391"/>
            </a:avLst>
          </a:prstGeom>
          <a:solidFill>
            <a:srgbClr val="14233A"/>
          </a:solidFill>
          <a:ln/>
        </p:spPr>
      </p:sp>
      <p:sp>
        <p:nvSpPr>
          <p:cNvPr id="6" name="Text 4"/>
          <p:cNvSpPr/>
          <p:nvPr/>
        </p:nvSpPr>
        <p:spPr>
          <a:xfrm>
            <a:off x="9646920" y="347472"/>
            <a:ext cx="1965960" cy="420624"/>
          </a:xfrm>
          <a:prstGeom prst="rect">
            <a:avLst/>
          </a:prstGeom>
          <a:noFill/>
          <a:ln/>
        </p:spPr>
        <p:txBody>
          <a:bodyPr wrap="square" lIns="0" tIns="0" rIns="0" bIns="0" rtlCol="0" anchor="ctr"/>
          <a:lstStyle/>
          <a:p>
            <a:pPr algn="ctr" indent="0" marL="0">
              <a:buNone/>
            </a:pPr>
            <a:r>
              <a:rPr lang="en-US" sz="1400" b="1" dirty="0">
                <a:solidFill>
                  <a:srgbClr val="E8A33D"/>
                </a:solidFill>
                <a:latin typeface="Calibri" pitchFamily="34" charset="0"/>
                <a:ea typeface="Calibri" pitchFamily="34" charset="-122"/>
                <a:cs typeface="Calibri" pitchFamily="34" charset="-120"/>
              </a:rPr>
              <a:t>Part 1 · 25 min</a:t>
            </a:r>
            <a:endParaRPr lang="en-US" sz="1400" dirty="0"/>
          </a:p>
        </p:txBody>
      </p:sp>
      <p:sp>
        <p:nvSpPr>
          <p:cNvPr id="7" name="Shape 5"/>
          <p:cNvSpPr/>
          <p:nvPr/>
        </p:nvSpPr>
        <p:spPr>
          <a:xfrm>
            <a:off x="685800" y="1874520"/>
            <a:ext cx="685800" cy="685800"/>
          </a:xfrm>
          <a:prstGeom prst="ellipse">
            <a:avLst/>
          </a:prstGeom>
          <a:solidFill>
            <a:srgbClr val="12908F"/>
          </a:solidFill>
          <a:ln/>
        </p:spPr>
      </p:sp>
      <p:pic>
        <p:nvPicPr>
          <p:cNvPr id="8" name="Image 0" descr="preencoded.png">    </p:cNvPr>
          <p:cNvPicPr>
            <a:picLocks noChangeAspect="1"/>
          </p:cNvPicPr>
          <p:nvPr/>
        </p:nvPicPr>
        <p:blipFill>
          <a:blip r:embed="rId1"/>
          <a:stretch>
            <a:fillRect/>
          </a:stretch>
        </p:blipFill>
        <p:spPr>
          <a:xfrm>
            <a:off x="870966" y="2059686"/>
            <a:ext cx="315468" cy="315468"/>
          </a:xfrm>
          <a:prstGeom prst="rect">
            <a:avLst/>
          </a:prstGeom>
        </p:spPr>
      </p:pic>
      <p:sp>
        <p:nvSpPr>
          <p:cNvPr id="9" name="Text 6"/>
          <p:cNvSpPr/>
          <p:nvPr/>
        </p:nvSpPr>
        <p:spPr>
          <a:xfrm>
            <a:off x="1600200" y="1874520"/>
            <a:ext cx="9875520" cy="685800"/>
          </a:xfrm>
          <a:prstGeom prst="rect">
            <a:avLst/>
          </a:prstGeom>
          <a:noFill/>
          <a:ln/>
        </p:spPr>
        <p:txBody>
          <a:bodyPr wrap="square" lIns="0" tIns="0" rIns="0" bIns="0" rtlCol="0" anchor="ctr"/>
          <a:lstStyle/>
          <a:p>
            <a:pPr indent="0" marL="0">
              <a:buNone/>
            </a:pPr>
            <a:r>
              <a:rPr lang="en-US" sz="2400" b="1" dirty="0">
                <a:solidFill>
                  <a:srgbClr val="1E2A36"/>
                </a:solidFill>
                <a:latin typeface="Cambria" pitchFamily="34" charset="0"/>
                <a:ea typeface="Cambria" pitchFamily="34" charset="-122"/>
                <a:cs typeface="Cambria" pitchFamily="34" charset="-120"/>
              </a:rPr>
              <a:t>File an issue for your task</a:t>
            </a:r>
            <a:endParaRPr lang="en-US" sz="2400" dirty="0"/>
          </a:p>
        </p:txBody>
      </p:sp>
      <p:sp>
        <p:nvSpPr>
          <p:cNvPr id="10" name="Text 7"/>
          <p:cNvSpPr/>
          <p:nvPr/>
        </p:nvSpPr>
        <p:spPr>
          <a:xfrm>
            <a:off x="1600200" y="2697480"/>
            <a:ext cx="9875520" cy="1600200"/>
          </a:xfrm>
          <a:prstGeom prst="rect">
            <a:avLst/>
          </a:prstGeom>
          <a:noFill/>
          <a:ln/>
        </p:spPr>
        <p:txBody>
          <a:bodyPr wrap="square" lIns="0" tIns="0" rIns="0" bIns="0" rtlCol="0" anchor="t"/>
          <a:lstStyle/>
          <a:p>
            <a:pPr indent="0" marL="0">
              <a:spcAft>
                <a:spcPts val="600"/>
              </a:spcAft>
              <a:buNone/>
            </a:pPr>
            <a:r>
              <a:rPr lang="en-US" sz="1700" b="1" dirty="0">
                <a:solidFill>
                  <a:srgbClr val="0E6E6D"/>
                </a:solidFill>
                <a:latin typeface="Calibri" pitchFamily="34" charset="0"/>
                <a:ea typeface="Calibri" pitchFamily="34" charset="-122"/>
                <a:cs typeface="Calibri" pitchFamily="34" charset="-120"/>
              </a:rPr>
              <a:t>Title: </a:t>
            </a:r>
            <a:pPr indent="0" marL="0">
              <a:spcAft>
                <a:spcPts val="600"/>
              </a:spcAft>
              <a:buNone/>
            </a:pPr>
            <a:r>
              <a:rPr lang="en-US" sz="1700" dirty="0">
                <a:solidFill>
                  <a:srgbClr val="1E2A36"/>
                </a:solidFill>
                <a:latin typeface="Calibri" pitchFamily="34" charset="0"/>
                <a:ea typeface="Calibri" pitchFamily="34" charset="-122"/>
                <a:cs typeface="Calibri" pitchFamily="34" charset="-120"/>
              </a:rPr>
              <a:t>what needs doing, in a few words</a:t>
            </a:r>
            <a:endParaRPr lang="en-US" sz="1700" dirty="0"/>
          </a:p>
          <a:p>
            <a:pPr indent="0" marL="0">
              <a:spcAft>
                <a:spcPts val="600"/>
              </a:spcAft>
              <a:buNone/>
            </a:pPr>
            <a:r>
              <a:rPr lang="en-US" sz="1700" b="1" dirty="0">
                <a:solidFill>
                  <a:srgbClr val="0E6E6D"/>
                </a:solidFill>
                <a:latin typeface="Calibri" pitchFamily="34" charset="0"/>
                <a:ea typeface="Calibri" pitchFamily="34" charset="-122"/>
                <a:cs typeface="Calibri" pitchFamily="34" charset="-120"/>
              </a:rPr>
              <a:t>Description: </a:t>
            </a:r>
            <a:pPr indent="0" marL="0">
              <a:spcAft>
                <a:spcPts val="600"/>
              </a:spcAft>
              <a:buNone/>
            </a:pPr>
            <a:r>
              <a:rPr lang="en-US" sz="1700" dirty="0">
                <a:solidFill>
                  <a:srgbClr val="1E2A36"/>
                </a:solidFill>
                <a:latin typeface="Calibri" pitchFamily="34" charset="0"/>
                <a:ea typeface="Calibri" pitchFamily="34" charset="-122"/>
                <a:cs typeface="Calibri" pitchFamily="34" charset="-120"/>
              </a:rPr>
              <a:t>what's wrong or missing now, and why it matters</a:t>
            </a:r>
            <a:endParaRPr lang="en-US" sz="1700" dirty="0"/>
          </a:p>
          <a:p>
            <a:pPr indent="0" marL="0">
              <a:spcAft>
                <a:spcPts val="600"/>
              </a:spcAft>
              <a:buNone/>
            </a:pPr>
            <a:r>
              <a:rPr lang="en-US" sz="1700" b="1" dirty="0">
                <a:solidFill>
                  <a:srgbClr val="0E6E6D"/>
                </a:solidFill>
                <a:latin typeface="Calibri" pitchFamily="34" charset="0"/>
                <a:ea typeface="Calibri" pitchFamily="34" charset="-122"/>
                <a:cs typeface="Calibri" pitchFamily="34" charset="-120"/>
              </a:rPr>
              <a:t>Assignee: </a:t>
            </a:r>
            <a:pPr indent="0" marL="0">
              <a:spcAft>
                <a:spcPts val="600"/>
              </a:spcAft>
              <a:buNone/>
            </a:pPr>
            <a:r>
              <a:rPr lang="en-US" sz="1700" dirty="0">
                <a:solidFill>
                  <a:srgbClr val="1E2A36"/>
                </a:solidFill>
                <a:latin typeface="Calibri" pitchFamily="34" charset="0"/>
                <a:ea typeface="Calibri" pitchFamily="34" charset="-122"/>
                <a:cs typeface="Calibri" pitchFamily="34" charset="-120"/>
              </a:rPr>
              <a:t>yourself, so nobody else picks it up</a:t>
            </a:r>
            <a:endParaRPr lang="en-US" sz="1700" dirty="0"/>
          </a:p>
          <a:p>
            <a:pPr indent="0" marL="0">
              <a:spcAft>
                <a:spcPts val="600"/>
              </a:spcAft>
              <a:buNone/>
            </a:pPr>
            <a:r>
              <a:rPr lang="en-US" sz="1700" b="1" dirty="0">
                <a:solidFill>
                  <a:srgbClr val="0E6E6D"/>
                </a:solidFill>
                <a:latin typeface="Calibri" pitchFamily="34" charset="0"/>
                <a:ea typeface="Calibri" pitchFamily="34" charset="-122"/>
                <a:cs typeface="Calibri" pitchFamily="34" charset="-120"/>
              </a:rPr>
              <a:t>Note the number. </a:t>
            </a:r>
            <a:pPr indent="0" marL="0">
              <a:spcAft>
                <a:spcPts val="600"/>
              </a:spcAft>
              <a:buNone/>
            </a:pPr>
            <a:r>
              <a:rPr lang="en-US" sz="1700" dirty="0">
                <a:solidFill>
                  <a:srgbClr val="1E2A36"/>
                </a:solidFill>
                <a:latin typeface="Calibri" pitchFamily="34" charset="0"/>
                <a:ea typeface="Calibri" pitchFamily="34" charset="-122"/>
                <a:cs typeface="Calibri" pitchFamily="34" charset="-120"/>
              </a:rPr>
              <a:t>Your pull request will close it.</a:t>
            </a:r>
            <a:endParaRPr lang="en-US" sz="1700" dirty="0"/>
          </a:p>
        </p:txBody>
      </p:sp>
      <p:sp>
        <p:nvSpPr>
          <p:cNvPr id="11" name="click-1"/>
          <p:cNvSpPr/>
          <p:nvPr/>
        </p:nvSpPr>
        <p:spPr>
          <a:xfrm>
            <a:off x="548640" y="4572000"/>
            <a:ext cx="11064240" cy="1554480"/>
          </a:xfrm>
          <a:prstGeom prst="roundRect">
            <a:avLst>
              <a:gd name="adj" fmla="val 5294"/>
            </a:avLst>
          </a:prstGeom>
          <a:solidFill>
            <a:srgbClr val="FBEEDA"/>
          </a:solidFill>
          <a:ln/>
          <a:effectLst>
            <a:outerShdw sx="100000" sy="100000" kx="0" ky="0" algn="bl" rotWithShape="0" blurRad="88900" dist="38100" dir="5400000">
              <a:srgbClr val="000000">
                <a:alpha val="13000"/>
              </a:srgbClr>
            </a:outerShdw>
          </a:effectLst>
        </p:spPr>
      </p:sp>
      <p:sp>
        <p:nvSpPr>
          <p:cNvPr id="12" name="click-1"/>
          <p:cNvSpPr/>
          <p:nvPr/>
        </p:nvSpPr>
        <p:spPr>
          <a:xfrm>
            <a:off x="868680" y="4572000"/>
            <a:ext cx="10424160" cy="1554480"/>
          </a:xfrm>
          <a:prstGeom prst="rect">
            <a:avLst/>
          </a:prstGeom>
          <a:noFill/>
          <a:ln/>
        </p:spPr>
        <p:txBody>
          <a:bodyPr wrap="square" lIns="0" tIns="0" rIns="0" bIns="0" rtlCol="0" anchor="ctr"/>
          <a:lstStyle/>
          <a:p>
            <a:pPr indent="0" marL="0">
              <a:spcAft>
                <a:spcPts val="600"/>
              </a:spcAft>
              <a:buNone/>
            </a:pPr>
            <a:r>
              <a:rPr lang="en-US" sz="1700" b="1" dirty="0">
                <a:solidFill>
                  <a:srgbClr val="14233A"/>
                </a:solidFill>
                <a:latin typeface="Calibri" pitchFamily="34" charset="0"/>
                <a:ea typeface="Calibri" pitchFamily="34" charset="-122"/>
                <a:cs typeface="Calibri" pitchFamily="34" charset="-120"/>
              </a:rPr>
              <a:t>No template. Write it however you think a good issue for your project should read.</a:t>
            </a:r>
            <a:endParaRPr lang="en-US" sz="1700" dirty="0"/>
          </a:p>
          <a:p>
            <a:pPr indent="0" marL="0">
              <a:spcAft>
                <a:spcPts val="600"/>
              </a:spcAft>
              <a:buNone/>
            </a:pPr>
            <a:r>
              <a:rPr lang="en-US" sz="1700" dirty="0">
                <a:solidFill>
                  <a:srgbClr val="14233A"/>
                </a:solidFill>
                <a:latin typeface="Calibri" pitchFamily="34" charset="0"/>
                <a:ea typeface="Calibri" pitchFamily="34" charset="-122"/>
                <a:cs typeface="Calibri" pitchFamily="34" charset="-120"/>
              </a:rPr>
              <a:t>How to write a good issue is Monday's topic, and the ones you file today are what we'll hold up against it.</a:t>
            </a:r>
            <a:endParaRPr lang="en-US" sz="1700" dirty="0"/>
          </a:p>
        </p:txBody>
      </p:sp>
      <p:sp>
        <p:nvSpPr>
          <p:cNvPr id="13" name="Text 1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14 · Git Workflow Lab</a:t>
            </a:r>
            <a:endParaRPr lang="en-US" sz="1000" dirty="0"/>
          </a:p>
        </p:txBody>
      </p:sp>
      <p:sp>
        <p:nvSpPr>
          <p:cNvPr id="14" name="Text 1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PART 1 · STEPS 3–7</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Branch, commit, push, open the pull request</a:t>
            </a:r>
            <a:endParaRPr lang="en-US" sz="3100" dirty="0"/>
          </a:p>
        </p:txBody>
      </p:sp>
      <p:sp>
        <p:nvSpPr>
          <p:cNvPr id="5" name="Shape 3"/>
          <p:cNvSpPr/>
          <p:nvPr/>
        </p:nvSpPr>
        <p:spPr>
          <a:xfrm>
            <a:off x="9646920" y="347472"/>
            <a:ext cx="1965960" cy="420624"/>
          </a:xfrm>
          <a:prstGeom prst="roundRect">
            <a:avLst>
              <a:gd name="adj" fmla="val 17391"/>
            </a:avLst>
          </a:prstGeom>
          <a:solidFill>
            <a:srgbClr val="14233A"/>
          </a:solidFill>
          <a:ln/>
        </p:spPr>
      </p:sp>
      <p:sp>
        <p:nvSpPr>
          <p:cNvPr id="6" name="Text 4"/>
          <p:cNvSpPr/>
          <p:nvPr/>
        </p:nvSpPr>
        <p:spPr>
          <a:xfrm>
            <a:off x="9646920" y="347472"/>
            <a:ext cx="1965960" cy="420624"/>
          </a:xfrm>
          <a:prstGeom prst="rect">
            <a:avLst/>
          </a:prstGeom>
          <a:noFill/>
          <a:ln/>
        </p:spPr>
        <p:txBody>
          <a:bodyPr wrap="square" lIns="0" tIns="0" rIns="0" bIns="0" rtlCol="0" anchor="ctr"/>
          <a:lstStyle/>
          <a:p>
            <a:pPr algn="ctr" indent="0" marL="0">
              <a:buNone/>
            </a:pPr>
            <a:r>
              <a:rPr lang="en-US" sz="1400" b="1" dirty="0">
                <a:solidFill>
                  <a:srgbClr val="E8A33D"/>
                </a:solidFill>
                <a:latin typeface="Calibri" pitchFamily="34" charset="0"/>
                <a:ea typeface="Calibri" pitchFamily="34" charset="-122"/>
                <a:cs typeface="Calibri" pitchFamily="34" charset="-120"/>
              </a:rPr>
              <a:t>Part 1 · 25 min</a:t>
            </a:r>
            <a:endParaRPr lang="en-US" sz="1400" dirty="0"/>
          </a:p>
        </p:txBody>
      </p:sp>
      <p:sp>
        <p:nvSpPr>
          <p:cNvPr id="7" name="Shape 5"/>
          <p:cNvSpPr/>
          <p:nvPr/>
        </p:nvSpPr>
        <p:spPr>
          <a:xfrm>
            <a:off x="548640" y="1783080"/>
            <a:ext cx="5760720" cy="4343400"/>
          </a:xfrm>
          <a:prstGeom prst="roundRect">
            <a:avLst>
              <a:gd name="adj" fmla="val 1684"/>
            </a:avLst>
          </a:prstGeom>
          <a:solidFill>
            <a:srgbClr val="1E3352"/>
          </a:solidFill>
          <a:ln/>
          <a:effectLst>
            <a:outerShdw sx="100000" sy="100000" kx="0" ky="0" algn="bl" rotWithShape="0" blurRad="88900" dist="38100" dir="5400000">
              <a:srgbClr val="000000">
                <a:alpha val="13000"/>
              </a:srgbClr>
            </a:outerShdw>
          </a:effectLst>
        </p:spPr>
      </p:sp>
      <p:sp>
        <p:nvSpPr>
          <p:cNvPr id="8" name="Text 6"/>
          <p:cNvSpPr/>
          <p:nvPr/>
        </p:nvSpPr>
        <p:spPr>
          <a:xfrm>
            <a:off x="822960" y="1947672"/>
            <a:ext cx="5212080" cy="4014216"/>
          </a:xfrm>
          <a:prstGeom prst="rect">
            <a:avLst/>
          </a:prstGeom>
          <a:noFill/>
          <a:ln/>
        </p:spPr>
        <p:txBody>
          <a:bodyPr wrap="square" lIns="0" tIns="0" rIns="0" bIns="0" rtlCol="0" anchor="t"/>
          <a:lstStyle/>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git switch main</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git pull</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git switch -c docs/link-design-doc</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9FB4C7"/>
                </a:solidFill>
                <a:latin typeface="Consolas" pitchFamily="34" charset="0"/>
                <a:ea typeface="Consolas" pitchFamily="34" charset="-122"/>
                <a:cs typeface="Consolas" pitchFamily="34" charset="-120"/>
              </a:rPr>
              <a:t># make the change, then look at it</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git status</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git diff</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git add README.md</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git commit        # no -m: write a body</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git log -1</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git push -u origin docs/link-design-doc</a:t>
            </a:r>
            <a:endParaRPr lang="en-US" sz="1500" dirty="0"/>
          </a:p>
        </p:txBody>
      </p:sp>
      <p:sp>
        <p:nvSpPr>
          <p:cNvPr id="9" name="Shape 7"/>
          <p:cNvSpPr/>
          <p:nvPr/>
        </p:nvSpPr>
        <p:spPr>
          <a:xfrm>
            <a:off x="6537960" y="1783080"/>
            <a:ext cx="5074920" cy="4343400"/>
          </a:xfrm>
          <a:prstGeom prst="roundRect">
            <a:avLst>
              <a:gd name="adj" fmla="val 1895"/>
            </a:avLst>
          </a:prstGeom>
          <a:solidFill>
            <a:srgbClr val="F2F6F8"/>
          </a:solidFill>
          <a:ln/>
          <a:effectLst>
            <a:outerShdw sx="100000" sy="100000" kx="0" ky="0" algn="bl" rotWithShape="0" blurRad="88900" dist="38100" dir="5400000">
              <a:srgbClr val="000000">
                <a:alpha val="13000"/>
              </a:srgbClr>
            </a:outerShdw>
          </a:effectLst>
        </p:spPr>
      </p:sp>
      <p:sp>
        <p:nvSpPr>
          <p:cNvPr id="10" name="Text 8"/>
          <p:cNvSpPr/>
          <p:nvPr/>
        </p:nvSpPr>
        <p:spPr>
          <a:xfrm>
            <a:off x="6812280" y="1920240"/>
            <a:ext cx="4572000" cy="411480"/>
          </a:xfrm>
          <a:prstGeom prst="rect">
            <a:avLst/>
          </a:prstGeom>
          <a:noFill/>
          <a:ln/>
        </p:spPr>
        <p:txBody>
          <a:bodyPr wrap="square" lIns="0" tIns="0" rIns="0" bIns="0" rtlCol="0" anchor="ctr"/>
          <a:lstStyle/>
          <a:p>
            <a:pPr indent="0" marL="0">
              <a:buNone/>
            </a:pPr>
            <a:r>
              <a:rPr lang="en-US" sz="1900" b="1" dirty="0">
                <a:solidFill>
                  <a:srgbClr val="1E2A36"/>
                </a:solidFill>
                <a:latin typeface="Cambria" pitchFamily="34" charset="0"/>
                <a:ea typeface="Cambria" pitchFamily="34" charset="-122"/>
                <a:cs typeface="Cambria" pitchFamily="34" charset="-120"/>
              </a:rPr>
              <a:t>The pull request description</a:t>
            </a:r>
            <a:endParaRPr lang="en-US" sz="1900" dirty="0"/>
          </a:p>
        </p:txBody>
      </p:sp>
      <p:sp>
        <p:nvSpPr>
          <p:cNvPr id="11" name="Text 9"/>
          <p:cNvSpPr/>
          <p:nvPr/>
        </p:nvSpPr>
        <p:spPr>
          <a:xfrm>
            <a:off x="6812280" y="2423160"/>
            <a:ext cx="4572000" cy="2743200"/>
          </a:xfrm>
          <a:prstGeom prst="rect">
            <a:avLst/>
          </a:prstGeom>
          <a:noFill/>
          <a:ln/>
        </p:spPr>
        <p:txBody>
          <a:bodyPr wrap="square" lIns="0" tIns="0" rIns="0" bIns="0" rtlCol="0" anchor="t"/>
          <a:lstStyle/>
          <a:p>
            <a:pPr indent="0" marL="0">
              <a:buNone/>
            </a:pPr>
            <a:r>
              <a:rPr lang="en-US" sz="1600" b="1" dirty="0">
                <a:solidFill>
                  <a:srgbClr val="0E6E6D"/>
                </a:solidFill>
                <a:latin typeface="Calibri" pitchFamily="34" charset="0"/>
                <a:ea typeface="Calibri" pitchFamily="34" charset="-122"/>
                <a:cs typeface="Calibri" pitchFamily="34" charset="-120"/>
              </a:rPr>
              <a:t>Problem</a:t>
            </a:r>
            <a:endParaRPr lang="en-US" sz="1600" dirty="0"/>
          </a:p>
          <a:p>
            <a:pPr indent="0" marL="0">
              <a:spcAft>
                <a:spcPts val="800"/>
              </a:spcAft>
              <a:buNone/>
            </a:pPr>
            <a:r>
              <a:rPr lang="en-US" sz="1600" dirty="0">
                <a:solidFill>
                  <a:srgbClr val="5F7284"/>
                </a:solidFill>
                <a:latin typeface="Calibri" pitchFamily="34" charset="0"/>
                <a:ea typeface="Calibri" pitchFamily="34" charset="-122"/>
                <a:cs typeface="Calibri" pitchFamily="34" charset="-120"/>
              </a:rPr>
              <a:t>what's wrong or missing now</a:t>
            </a:r>
            <a:endParaRPr lang="en-US" sz="1600" dirty="0"/>
          </a:p>
          <a:p>
            <a:pPr indent="0" marL="0">
              <a:buNone/>
            </a:pPr>
            <a:r>
              <a:rPr lang="en-US" sz="1600" b="1" dirty="0">
                <a:solidFill>
                  <a:srgbClr val="0E6E6D"/>
                </a:solidFill>
                <a:latin typeface="Calibri" pitchFamily="34" charset="0"/>
                <a:ea typeface="Calibri" pitchFamily="34" charset="-122"/>
                <a:cs typeface="Calibri" pitchFamily="34" charset="-120"/>
              </a:rPr>
              <a:t>Approach</a:t>
            </a:r>
            <a:endParaRPr lang="en-US" sz="1600" dirty="0"/>
          </a:p>
          <a:p>
            <a:pPr indent="0" marL="0">
              <a:spcAft>
                <a:spcPts val="800"/>
              </a:spcAft>
              <a:buNone/>
            </a:pPr>
            <a:r>
              <a:rPr lang="en-US" sz="1600" dirty="0">
                <a:solidFill>
                  <a:srgbClr val="5F7284"/>
                </a:solidFill>
                <a:latin typeface="Calibri" pitchFamily="34" charset="0"/>
                <a:ea typeface="Calibri" pitchFamily="34" charset="-122"/>
                <a:cs typeface="Calibri" pitchFamily="34" charset="-120"/>
              </a:rPr>
              <a:t>what this change does, and doesn't</a:t>
            </a:r>
            <a:endParaRPr lang="en-US" sz="1600" dirty="0"/>
          </a:p>
          <a:p>
            <a:pPr indent="0" marL="0">
              <a:buNone/>
            </a:pPr>
            <a:r>
              <a:rPr lang="en-US" sz="1600" b="1" dirty="0">
                <a:solidFill>
                  <a:srgbClr val="0E6E6D"/>
                </a:solidFill>
                <a:latin typeface="Calibri" pitchFamily="34" charset="0"/>
                <a:ea typeface="Calibri" pitchFamily="34" charset="-122"/>
                <a:cs typeface="Calibri" pitchFamily="34" charset="-120"/>
              </a:rPr>
              <a:t>What to look at first</a:t>
            </a:r>
            <a:endParaRPr lang="en-US" sz="1600" dirty="0"/>
          </a:p>
          <a:p>
            <a:pPr indent="0" marL="0">
              <a:spcAft>
                <a:spcPts val="800"/>
              </a:spcAft>
              <a:buNone/>
            </a:pPr>
            <a:r>
              <a:rPr lang="en-US" sz="1600" dirty="0">
                <a:solidFill>
                  <a:srgbClr val="5F7284"/>
                </a:solidFill>
                <a:latin typeface="Calibri" pitchFamily="34" charset="0"/>
                <a:ea typeface="Calibri" pitchFamily="34" charset="-122"/>
                <a:cs typeface="Calibri" pitchFamily="34" charset="-120"/>
              </a:rPr>
              <a:t>where the reviewer should start</a:t>
            </a:r>
            <a:endParaRPr lang="en-US" sz="1600" dirty="0"/>
          </a:p>
          <a:p>
            <a:pPr indent="0" marL="0">
              <a:buNone/>
            </a:pPr>
            <a:r>
              <a:rPr lang="en-US" sz="1600" b="1" dirty="0">
                <a:solidFill>
                  <a:srgbClr val="1E2A36"/>
                </a:solidFill>
                <a:latin typeface="Consolas" pitchFamily="34" charset="0"/>
                <a:ea typeface="Consolas" pitchFamily="34" charset="-122"/>
                <a:cs typeface="Consolas" pitchFamily="34" charset="-120"/>
              </a:rPr>
              <a:t>Closes #3</a:t>
            </a:r>
            <a:endParaRPr lang="en-US" sz="1600" dirty="0"/>
          </a:p>
          <a:p>
            <a:pPr indent="0" marL="0">
              <a:buNone/>
            </a:pPr>
            <a:r>
              <a:rPr lang="en-US" sz="1600" dirty="0">
                <a:solidFill>
                  <a:srgbClr val="5F7284"/>
                </a:solidFill>
                <a:latin typeface="Calibri" pitchFamily="34" charset="0"/>
                <a:ea typeface="Calibri" pitchFamily="34" charset="-122"/>
                <a:cs typeface="Calibri" pitchFamily="34" charset="-120"/>
              </a:rPr>
              <a:t>links the issue; the merge closes it</a:t>
            </a:r>
            <a:endParaRPr lang="en-US" sz="1600" dirty="0"/>
          </a:p>
        </p:txBody>
      </p:sp>
      <p:sp>
        <p:nvSpPr>
          <p:cNvPr id="12" name="Text 10"/>
          <p:cNvSpPr/>
          <p:nvPr/>
        </p:nvSpPr>
        <p:spPr>
          <a:xfrm>
            <a:off x="6812280" y="5349240"/>
            <a:ext cx="4572000" cy="640080"/>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Then request your reviewer: the gear next to Reviewers.</a:t>
            </a:r>
            <a:endParaRPr lang="en-US" sz="1600" dirty="0"/>
          </a:p>
        </p:txBody>
      </p:sp>
      <p:sp>
        <p:nvSpPr>
          <p:cNvPr id="13" name="Text 1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14 · Git Workflow Lab</a:t>
            </a:r>
            <a:endParaRPr lang="en-US" sz="1000" dirty="0"/>
          </a:p>
        </p:txBody>
      </p:sp>
      <p:sp>
        <p:nvSpPr>
          <p:cNvPr id="14"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PART 2 · THE SECOND READER</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Review, respond, and only then merge</a:t>
            </a:r>
            <a:endParaRPr lang="en-US" sz="3100" dirty="0"/>
          </a:p>
        </p:txBody>
      </p:sp>
      <p:sp>
        <p:nvSpPr>
          <p:cNvPr id="5" name="Shape 3"/>
          <p:cNvSpPr/>
          <p:nvPr/>
        </p:nvSpPr>
        <p:spPr>
          <a:xfrm>
            <a:off x="9646920" y="347472"/>
            <a:ext cx="1965960" cy="420624"/>
          </a:xfrm>
          <a:prstGeom prst="roundRect">
            <a:avLst>
              <a:gd name="adj" fmla="val 17391"/>
            </a:avLst>
          </a:prstGeom>
          <a:solidFill>
            <a:srgbClr val="14233A"/>
          </a:solidFill>
          <a:ln/>
        </p:spPr>
      </p:sp>
      <p:sp>
        <p:nvSpPr>
          <p:cNvPr id="6" name="Text 4"/>
          <p:cNvSpPr/>
          <p:nvPr/>
        </p:nvSpPr>
        <p:spPr>
          <a:xfrm>
            <a:off x="9646920" y="347472"/>
            <a:ext cx="1965960" cy="420624"/>
          </a:xfrm>
          <a:prstGeom prst="rect">
            <a:avLst/>
          </a:prstGeom>
          <a:noFill/>
          <a:ln/>
        </p:spPr>
        <p:txBody>
          <a:bodyPr wrap="square" lIns="0" tIns="0" rIns="0" bIns="0" rtlCol="0" anchor="ctr"/>
          <a:lstStyle/>
          <a:p>
            <a:pPr algn="ctr" indent="0" marL="0">
              <a:buNone/>
            </a:pPr>
            <a:r>
              <a:rPr lang="en-US" sz="1400" b="1" dirty="0">
                <a:solidFill>
                  <a:srgbClr val="E8A33D"/>
                </a:solidFill>
                <a:latin typeface="Calibri" pitchFamily="34" charset="0"/>
                <a:ea typeface="Calibri" pitchFamily="34" charset="-122"/>
                <a:cs typeface="Calibri" pitchFamily="34" charset="-120"/>
              </a:rPr>
              <a:t>Part 2 · 15 min</a:t>
            </a:r>
            <a:endParaRPr lang="en-US" sz="1400" dirty="0"/>
          </a:p>
        </p:txBody>
      </p:sp>
      <p:sp>
        <p:nvSpPr>
          <p:cNvPr id="7" name="Shape 5"/>
          <p:cNvSpPr/>
          <p:nvPr/>
        </p:nvSpPr>
        <p:spPr>
          <a:xfrm>
            <a:off x="548640" y="1783080"/>
            <a:ext cx="5440680" cy="3154680"/>
          </a:xfrm>
          <a:prstGeom prst="roundRect">
            <a:avLst>
              <a:gd name="adj" fmla="val 2609"/>
            </a:avLst>
          </a:prstGeom>
          <a:solidFill>
            <a:srgbClr val="F2F6F8"/>
          </a:solidFill>
          <a:ln/>
          <a:effectLst>
            <a:outerShdw sx="100000" sy="100000" kx="0" ky="0" algn="bl" rotWithShape="0" blurRad="88900" dist="38100" dir="5400000">
              <a:srgbClr val="000000">
                <a:alpha val="13000"/>
              </a:srgbClr>
            </a:outerShdw>
          </a:effectLst>
        </p:spPr>
      </p:sp>
      <p:sp>
        <p:nvSpPr>
          <p:cNvPr id="8" name="Shape 6"/>
          <p:cNvSpPr/>
          <p:nvPr/>
        </p:nvSpPr>
        <p:spPr>
          <a:xfrm>
            <a:off x="548640" y="1783080"/>
            <a:ext cx="5440680" cy="91440"/>
          </a:xfrm>
          <a:prstGeom prst="rect">
            <a:avLst/>
          </a:prstGeom>
          <a:solidFill>
            <a:srgbClr val="12908F"/>
          </a:solidFill>
          <a:ln/>
        </p:spPr>
      </p:sp>
      <p:sp>
        <p:nvSpPr>
          <p:cNvPr id="9" name="Text 7"/>
          <p:cNvSpPr/>
          <p:nvPr/>
        </p:nvSpPr>
        <p:spPr>
          <a:xfrm>
            <a:off x="868680" y="2011680"/>
            <a:ext cx="4846320" cy="457200"/>
          </a:xfrm>
          <a:prstGeom prst="rect">
            <a:avLst/>
          </a:prstGeom>
          <a:noFill/>
          <a:ln/>
        </p:spPr>
        <p:txBody>
          <a:bodyPr wrap="square" lIns="0" tIns="0" rIns="0" bIns="0" rtlCol="0" anchor="ctr"/>
          <a:lstStyle/>
          <a:p>
            <a:pPr indent="0" marL="0">
              <a:buNone/>
            </a:pPr>
            <a:r>
              <a:rPr lang="en-US" sz="2100" b="1" dirty="0">
                <a:solidFill>
                  <a:srgbClr val="1E2A36"/>
                </a:solidFill>
                <a:latin typeface="Cambria" pitchFamily="34" charset="0"/>
                <a:ea typeface="Cambria" pitchFamily="34" charset="-122"/>
                <a:cs typeface="Cambria" pitchFamily="34" charset="-120"/>
              </a:rPr>
              <a:t>As the reviewer</a:t>
            </a:r>
            <a:endParaRPr lang="en-US" sz="2100" dirty="0"/>
          </a:p>
        </p:txBody>
      </p:sp>
      <p:sp>
        <p:nvSpPr>
          <p:cNvPr id="10" name="Text 8"/>
          <p:cNvSpPr/>
          <p:nvPr/>
        </p:nvSpPr>
        <p:spPr>
          <a:xfrm>
            <a:off x="868680" y="2560320"/>
            <a:ext cx="4846320" cy="228600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1E2A36"/>
                </a:solidFill>
                <a:latin typeface="Calibri" pitchFamily="34" charset="0"/>
                <a:ea typeface="Calibri" pitchFamily="34" charset="-122"/>
                <a:cs typeface="Calibri" pitchFamily="34" charset="-120"/>
              </a:rPr>
              <a:t>Files changed → the blue + on a line → Start a review</a:t>
            </a:r>
            <a:endParaRPr lang="en-US" sz="1700" dirty="0"/>
          </a:p>
          <a:p>
            <a:pPr marL="203200" indent="-203200">
              <a:spcAft>
                <a:spcPts val="800"/>
              </a:spcAft>
              <a:buSzPct val="100000"/>
              <a:buChar char="•"/>
            </a:pPr>
            <a:r>
              <a:rPr lang="en-US" sz="1700" dirty="0">
                <a:solidFill>
                  <a:srgbClr val="1E2A36"/>
                </a:solidFill>
                <a:latin typeface="Calibri" pitchFamily="34" charset="0"/>
                <a:ea typeface="Calibri" pitchFamily="34" charset="-122"/>
                <a:cs typeface="Calibri" pitchFamily="34" charset="-120"/>
              </a:rPr>
              <a:t>At least two comments, one substantive; mark nitpicks "nit:"</a:t>
            </a:r>
            <a:endParaRPr lang="en-US" sz="1700" dirty="0"/>
          </a:p>
          <a:p>
            <a:pPr marL="203200" indent="-203200">
              <a:spcAft>
                <a:spcPts val="800"/>
              </a:spcAft>
              <a:buSzPct val="100000"/>
              <a:buChar char="•"/>
            </a:pPr>
            <a:r>
              <a:rPr lang="en-US" sz="1700" dirty="0">
                <a:solidFill>
                  <a:srgbClr val="1E2A36"/>
                </a:solidFill>
                <a:latin typeface="Calibri" pitchFamily="34" charset="0"/>
                <a:ea typeface="Calibri" pitchFamily="34" charset="-122"/>
                <a:cs typeface="Calibri" pitchFamily="34" charset="-120"/>
              </a:rPr>
              <a:t>What I see · why it matters · a question or suggestion</a:t>
            </a:r>
            <a:endParaRPr lang="en-US" sz="1700" dirty="0"/>
          </a:p>
          <a:p>
            <a:pPr marL="203200" indent="-203200">
              <a:spcAft>
                <a:spcPts val="800"/>
              </a:spcAft>
              <a:buSzPct val="100000"/>
              <a:buChar char="•"/>
            </a:pPr>
            <a:r>
              <a:rPr lang="en-US" sz="1700" dirty="0">
                <a:solidFill>
                  <a:srgbClr val="1E2A36"/>
                </a:solidFill>
                <a:latin typeface="Calibri" pitchFamily="34" charset="0"/>
                <a:ea typeface="Calibri" pitchFamily="34" charset="-122"/>
                <a:cs typeface="Calibri" pitchFamily="34" charset="-120"/>
              </a:rPr>
              <a:t>Finish: Approve, Request changes, or Comment</a:t>
            </a:r>
            <a:endParaRPr lang="en-US" sz="1700" dirty="0"/>
          </a:p>
        </p:txBody>
      </p:sp>
      <p:sp>
        <p:nvSpPr>
          <p:cNvPr id="11" name="Shape 9"/>
          <p:cNvSpPr/>
          <p:nvPr/>
        </p:nvSpPr>
        <p:spPr>
          <a:xfrm>
            <a:off x="6172200" y="1783080"/>
            <a:ext cx="5440680" cy="3154680"/>
          </a:xfrm>
          <a:prstGeom prst="roundRect">
            <a:avLst>
              <a:gd name="adj" fmla="val 2609"/>
            </a:avLst>
          </a:prstGeom>
          <a:solidFill>
            <a:srgbClr val="F2F6F8"/>
          </a:solidFill>
          <a:ln/>
          <a:effectLst>
            <a:outerShdw sx="100000" sy="100000" kx="0" ky="0" algn="bl" rotWithShape="0" blurRad="88900" dist="38100" dir="5400000">
              <a:srgbClr val="000000">
                <a:alpha val="13000"/>
              </a:srgbClr>
            </a:outerShdw>
          </a:effectLst>
        </p:spPr>
      </p:sp>
      <p:sp>
        <p:nvSpPr>
          <p:cNvPr id="12" name="Shape 10"/>
          <p:cNvSpPr/>
          <p:nvPr/>
        </p:nvSpPr>
        <p:spPr>
          <a:xfrm>
            <a:off x="6172200" y="1783080"/>
            <a:ext cx="5440680" cy="91440"/>
          </a:xfrm>
          <a:prstGeom prst="rect">
            <a:avLst/>
          </a:prstGeom>
          <a:solidFill>
            <a:srgbClr val="E8A33D"/>
          </a:solidFill>
          <a:ln/>
        </p:spPr>
      </p:sp>
      <p:sp>
        <p:nvSpPr>
          <p:cNvPr id="13" name="Text 11"/>
          <p:cNvSpPr/>
          <p:nvPr/>
        </p:nvSpPr>
        <p:spPr>
          <a:xfrm>
            <a:off x="6492240" y="2011680"/>
            <a:ext cx="4846320" cy="457200"/>
          </a:xfrm>
          <a:prstGeom prst="rect">
            <a:avLst/>
          </a:prstGeom>
          <a:noFill/>
          <a:ln/>
        </p:spPr>
        <p:txBody>
          <a:bodyPr wrap="square" lIns="0" tIns="0" rIns="0" bIns="0" rtlCol="0" anchor="ctr"/>
          <a:lstStyle/>
          <a:p>
            <a:pPr indent="0" marL="0">
              <a:buNone/>
            </a:pPr>
            <a:r>
              <a:rPr lang="en-US" sz="2100" b="1" dirty="0">
                <a:solidFill>
                  <a:srgbClr val="1E2A36"/>
                </a:solidFill>
                <a:latin typeface="Cambria" pitchFamily="34" charset="0"/>
                <a:ea typeface="Cambria" pitchFamily="34" charset="-122"/>
                <a:cs typeface="Cambria" pitchFamily="34" charset="-120"/>
              </a:rPr>
              <a:t>As the author</a:t>
            </a:r>
            <a:endParaRPr lang="en-US" sz="2100" dirty="0"/>
          </a:p>
        </p:txBody>
      </p:sp>
      <p:sp>
        <p:nvSpPr>
          <p:cNvPr id="14" name="Text 12"/>
          <p:cNvSpPr/>
          <p:nvPr/>
        </p:nvSpPr>
        <p:spPr>
          <a:xfrm>
            <a:off x="6492240" y="2560320"/>
            <a:ext cx="4846320" cy="228600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1E2A36"/>
                </a:solidFill>
                <a:latin typeface="Calibri" pitchFamily="34" charset="0"/>
                <a:ea typeface="Calibri" pitchFamily="34" charset="-122"/>
                <a:cs typeface="Calibri" pitchFamily="34" charset="-120"/>
              </a:rPr>
              <a:t>Respond to every comment</a:t>
            </a:r>
            <a:endParaRPr lang="en-US" sz="1700" dirty="0"/>
          </a:p>
          <a:p>
            <a:pPr marL="203200" indent="-203200">
              <a:spcAft>
                <a:spcPts val="800"/>
              </a:spcAft>
              <a:buSzPct val="100000"/>
              <a:buChar char="•"/>
            </a:pPr>
            <a:r>
              <a:rPr lang="en-US" sz="1700" dirty="0">
                <a:solidFill>
                  <a:srgbClr val="1E2A36"/>
                </a:solidFill>
                <a:latin typeface="Calibri" pitchFamily="34" charset="0"/>
                <a:ea typeface="Calibri" pitchFamily="34" charset="-122"/>
                <a:cs typeface="Calibri" pitchFamily="34" charset="-120"/>
              </a:rPr>
              <a:t>Agree → fix it on the same branch, push, reply, resolve</a:t>
            </a:r>
            <a:endParaRPr lang="en-US" sz="1700" dirty="0"/>
          </a:p>
          <a:p>
            <a:pPr marL="203200" indent="-203200">
              <a:spcAft>
                <a:spcPts val="800"/>
              </a:spcAft>
              <a:buSzPct val="100000"/>
              <a:buChar char="•"/>
            </a:pPr>
            <a:r>
              <a:rPr lang="en-US" sz="1700" dirty="0">
                <a:solidFill>
                  <a:srgbClr val="1E2A36"/>
                </a:solidFill>
                <a:latin typeface="Calibri" pitchFamily="34" charset="0"/>
                <a:ea typeface="Calibri" pitchFamily="34" charset="-122"/>
                <a:cs typeface="Calibri" pitchFamily="34" charset="-120"/>
              </a:rPr>
              <a:t>Disagree → say why, politely</a:t>
            </a:r>
            <a:endParaRPr lang="en-US" sz="1700" dirty="0"/>
          </a:p>
          <a:p>
            <a:pPr marL="203200" indent="-203200">
              <a:spcAft>
                <a:spcPts val="800"/>
              </a:spcAft>
              <a:buSzPct val="100000"/>
              <a:buChar char="•"/>
            </a:pPr>
            <a:r>
              <a:rPr lang="en-US" sz="1700" dirty="0">
                <a:solidFill>
                  <a:srgbClr val="1E2A36"/>
                </a:solidFill>
                <a:latin typeface="Calibri" pitchFamily="34" charset="0"/>
                <a:ea typeface="Calibri" pitchFamily="34" charset="-122"/>
                <a:cs typeface="Calibri" pitchFamily="34" charset="-120"/>
              </a:rPr>
              <a:t>Good point, different change → open an issue, link it</a:t>
            </a:r>
            <a:endParaRPr lang="en-US" sz="1700" dirty="0"/>
          </a:p>
        </p:txBody>
      </p:sp>
      <p:sp>
        <p:nvSpPr>
          <p:cNvPr id="15" name="Shape 13"/>
          <p:cNvSpPr/>
          <p:nvPr/>
        </p:nvSpPr>
        <p:spPr>
          <a:xfrm>
            <a:off x="548640" y="5166360"/>
            <a:ext cx="11064240" cy="868680"/>
          </a:xfrm>
          <a:prstGeom prst="roundRect">
            <a:avLst>
              <a:gd name="adj" fmla="val 9474"/>
            </a:avLst>
          </a:prstGeom>
          <a:solidFill>
            <a:srgbClr val="14233A"/>
          </a:solidFill>
          <a:ln/>
          <a:effectLst>
            <a:outerShdw sx="100000" sy="100000" kx="0" ky="0" algn="bl" rotWithShape="0" blurRad="88900" dist="38100" dir="5400000">
              <a:srgbClr val="000000">
                <a:alpha val="13000"/>
              </a:srgbClr>
            </a:outerShdw>
          </a:effectLst>
        </p:spPr>
      </p:sp>
      <p:sp>
        <p:nvSpPr>
          <p:cNvPr id="16" name="Text 14"/>
          <p:cNvSpPr/>
          <p:nvPr/>
        </p:nvSpPr>
        <p:spPr>
          <a:xfrm>
            <a:off x="868680" y="5212080"/>
            <a:ext cx="1042416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Today's rule: nothing merges without an approval from someone who didn't write it.</a:t>
            </a:r>
            <a:endParaRPr lang="en-US" sz="1700" dirty="0"/>
          </a:p>
        </p:txBody>
      </p:sp>
      <p:sp>
        <p:nvSpPr>
          <p:cNvPr id="17" name="Text 1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14 · Git Workflow Lab</a:t>
            </a:r>
            <a:endParaRPr lang="en-US" sz="1000" dirty="0"/>
          </a:p>
        </p:txBody>
      </p:sp>
      <p:sp>
        <p:nvSpPr>
          <p:cNvPr id="18" name="Text 1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PART 2 · MERGE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Squash, write the message the history keeps, clean up</a:t>
            </a:r>
            <a:endParaRPr lang="en-US" sz="3100" dirty="0"/>
          </a:p>
        </p:txBody>
      </p:sp>
      <p:sp>
        <p:nvSpPr>
          <p:cNvPr id="5" name="Shape 3"/>
          <p:cNvSpPr/>
          <p:nvPr/>
        </p:nvSpPr>
        <p:spPr>
          <a:xfrm>
            <a:off x="9646920" y="347472"/>
            <a:ext cx="1965960" cy="420624"/>
          </a:xfrm>
          <a:prstGeom prst="roundRect">
            <a:avLst>
              <a:gd name="adj" fmla="val 17391"/>
            </a:avLst>
          </a:prstGeom>
          <a:solidFill>
            <a:srgbClr val="14233A"/>
          </a:solidFill>
          <a:ln/>
        </p:spPr>
      </p:sp>
      <p:sp>
        <p:nvSpPr>
          <p:cNvPr id="6" name="Text 4"/>
          <p:cNvSpPr/>
          <p:nvPr/>
        </p:nvSpPr>
        <p:spPr>
          <a:xfrm>
            <a:off x="9646920" y="347472"/>
            <a:ext cx="1965960" cy="420624"/>
          </a:xfrm>
          <a:prstGeom prst="rect">
            <a:avLst/>
          </a:prstGeom>
          <a:noFill/>
          <a:ln/>
        </p:spPr>
        <p:txBody>
          <a:bodyPr wrap="square" lIns="0" tIns="0" rIns="0" bIns="0" rtlCol="0" anchor="ctr"/>
          <a:lstStyle/>
          <a:p>
            <a:pPr algn="ctr" indent="0" marL="0">
              <a:buNone/>
            </a:pPr>
            <a:r>
              <a:rPr lang="en-US" sz="1400" b="1" dirty="0">
                <a:solidFill>
                  <a:srgbClr val="E8A33D"/>
                </a:solidFill>
                <a:latin typeface="Calibri" pitchFamily="34" charset="0"/>
                <a:ea typeface="Calibri" pitchFamily="34" charset="-122"/>
                <a:cs typeface="Calibri" pitchFamily="34" charset="-120"/>
              </a:rPr>
              <a:t>Part 2 · 15 min</a:t>
            </a:r>
            <a:endParaRPr lang="en-US" sz="1400" dirty="0"/>
          </a:p>
        </p:txBody>
      </p:sp>
      <p:sp>
        <p:nvSpPr>
          <p:cNvPr id="7" name="Shape 5"/>
          <p:cNvSpPr/>
          <p:nvPr/>
        </p:nvSpPr>
        <p:spPr>
          <a:xfrm>
            <a:off x="548640" y="1783080"/>
            <a:ext cx="548640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8" name="Text 6"/>
          <p:cNvSpPr/>
          <p:nvPr/>
        </p:nvSpPr>
        <p:spPr>
          <a:xfrm>
            <a:off x="685800" y="1783080"/>
            <a:ext cx="548640" cy="914400"/>
          </a:xfrm>
          <a:prstGeom prst="rect">
            <a:avLst/>
          </a:prstGeom>
          <a:noFill/>
          <a:ln/>
        </p:spPr>
        <p:txBody>
          <a:bodyPr wrap="square" lIns="0" tIns="0" rIns="0" bIns="0" rtlCol="0" anchor="ctr"/>
          <a:lstStyle/>
          <a:p>
            <a:pPr algn="ctr" indent="0" marL="0">
              <a:buNone/>
            </a:pPr>
            <a:r>
              <a:rPr lang="en-US" sz="2400" b="1" dirty="0">
                <a:solidFill>
                  <a:srgbClr val="12908F"/>
                </a:solidFill>
                <a:latin typeface="Cambria" pitchFamily="34" charset="0"/>
                <a:ea typeface="Cambria" pitchFamily="34" charset="-122"/>
                <a:cs typeface="Cambria" pitchFamily="34" charset="-120"/>
              </a:rPr>
              <a:t>1</a:t>
            </a:r>
            <a:endParaRPr lang="en-US" sz="2400" dirty="0"/>
          </a:p>
        </p:txBody>
      </p:sp>
      <p:sp>
        <p:nvSpPr>
          <p:cNvPr id="9" name="Text 7"/>
          <p:cNvSpPr/>
          <p:nvPr/>
        </p:nvSpPr>
        <p:spPr>
          <a:xfrm>
            <a:off x="1325880" y="1783080"/>
            <a:ext cx="4572000" cy="91440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Squash and merge</a:t>
            </a:r>
            <a:endParaRPr lang="en-US" sz="1700" dirty="0"/>
          </a:p>
          <a:p>
            <a:pPr indent="0" marL="0">
              <a:buNone/>
            </a:pPr>
            <a:r>
              <a:rPr lang="en-US" sz="1500" dirty="0">
                <a:solidFill>
                  <a:srgbClr val="5F7284"/>
                </a:solidFill>
                <a:latin typeface="Calibri" pitchFamily="34" charset="0"/>
                <a:ea typeface="Calibri" pitchFamily="34" charset="-122"/>
                <a:cs typeface="Calibri" pitchFamily="34" charset="-120"/>
              </a:rPr>
              <a:t>the suggested default; your project decides in Part 4</a:t>
            </a:r>
            <a:endParaRPr lang="en-US" sz="1700" dirty="0"/>
          </a:p>
        </p:txBody>
      </p:sp>
      <p:sp>
        <p:nvSpPr>
          <p:cNvPr id="10" name="Shape 8"/>
          <p:cNvSpPr/>
          <p:nvPr/>
        </p:nvSpPr>
        <p:spPr>
          <a:xfrm>
            <a:off x="548640" y="2807208"/>
            <a:ext cx="548640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11" name="Text 9"/>
          <p:cNvSpPr/>
          <p:nvPr/>
        </p:nvSpPr>
        <p:spPr>
          <a:xfrm>
            <a:off x="685800" y="2807208"/>
            <a:ext cx="548640" cy="914400"/>
          </a:xfrm>
          <a:prstGeom prst="rect">
            <a:avLst/>
          </a:prstGeom>
          <a:noFill/>
          <a:ln/>
        </p:spPr>
        <p:txBody>
          <a:bodyPr wrap="square" lIns="0" tIns="0" rIns="0" bIns="0" rtlCol="0" anchor="ctr"/>
          <a:lstStyle/>
          <a:p>
            <a:pPr algn="ctr" indent="0" marL="0">
              <a:buNone/>
            </a:pPr>
            <a:r>
              <a:rPr lang="en-US" sz="2400" b="1" dirty="0">
                <a:solidFill>
                  <a:srgbClr val="12908F"/>
                </a:solidFill>
                <a:latin typeface="Cambria" pitchFamily="34" charset="0"/>
                <a:ea typeface="Cambria" pitchFamily="34" charset="-122"/>
                <a:cs typeface="Cambria" pitchFamily="34" charset="-120"/>
              </a:rPr>
              <a:t>2</a:t>
            </a:r>
            <a:endParaRPr lang="en-US" sz="2400" dirty="0"/>
          </a:p>
        </p:txBody>
      </p:sp>
      <p:sp>
        <p:nvSpPr>
          <p:cNvPr id="12" name="Text 10"/>
          <p:cNvSpPr/>
          <p:nvPr/>
        </p:nvSpPr>
        <p:spPr>
          <a:xfrm>
            <a:off x="1325880" y="2807208"/>
            <a:ext cx="4572000" cy="91440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Edit the message</a:t>
            </a:r>
            <a:endParaRPr lang="en-US" sz="1700" dirty="0"/>
          </a:p>
          <a:p>
            <a:pPr indent="0" marL="0">
              <a:buNone/>
            </a:pPr>
            <a:r>
              <a:rPr lang="en-US" sz="1500" dirty="0">
                <a:solidFill>
                  <a:srgbClr val="5F7284"/>
                </a:solidFill>
                <a:latin typeface="Calibri" pitchFamily="34" charset="0"/>
                <a:ea typeface="Calibri" pitchFamily="34" charset="-122"/>
                <a:cs typeface="Calibri" pitchFamily="34" charset="-120"/>
              </a:rPr>
              <a:t>PR title as subject; a short why; cut the reviewer-only parts</a:t>
            </a:r>
            <a:endParaRPr lang="en-US" sz="1700" dirty="0"/>
          </a:p>
        </p:txBody>
      </p:sp>
      <p:sp>
        <p:nvSpPr>
          <p:cNvPr id="13" name="Shape 11"/>
          <p:cNvSpPr/>
          <p:nvPr/>
        </p:nvSpPr>
        <p:spPr>
          <a:xfrm>
            <a:off x="548640" y="3831336"/>
            <a:ext cx="548640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14" name="Text 12"/>
          <p:cNvSpPr/>
          <p:nvPr/>
        </p:nvSpPr>
        <p:spPr>
          <a:xfrm>
            <a:off x="685800" y="3831336"/>
            <a:ext cx="548640" cy="914400"/>
          </a:xfrm>
          <a:prstGeom prst="rect">
            <a:avLst/>
          </a:prstGeom>
          <a:noFill/>
          <a:ln/>
        </p:spPr>
        <p:txBody>
          <a:bodyPr wrap="square" lIns="0" tIns="0" rIns="0" bIns="0" rtlCol="0" anchor="ctr"/>
          <a:lstStyle/>
          <a:p>
            <a:pPr algn="ctr" indent="0" marL="0">
              <a:buNone/>
            </a:pPr>
            <a:r>
              <a:rPr lang="en-US" sz="2400" b="1" dirty="0">
                <a:solidFill>
                  <a:srgbClr val="12908F"/>
                </a:solidFill>
                <a:latin typeface="Cambria" pitchFamily="34" charset="0"/>
                <a:ea typeface="Cambria" pitchFamily="34" charset="-122"/>
                <a:cs typeface="Cambria" pitchFamily="34" charset="-120"/>
              </a:rPr>
              <a:t>3</a:t>
            </a:r>
            <a:endParaRPr lang="en-US" sz="2400" dirty="0"/>
          </a:p>
        </p:txBody>
      </p:sp>
      <p:sp>
        <p:nvSpPr>
          <p:cNvPr id="15" name="Text 13"/>
          <p:cNvSpPr/>
          <p:nvPr/>
        </p:nvSpPr>
        <p:spPr>
          <a:xfrm>
            <a:off x="1325880" y="3831336"/>
            <a:ext cx="4572000" cy="91440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Delete branch</a:t>
            </a:r>
            <a:endParaRPr lang="en-US" sz="1700" dirty="0"/>
          </a:p>
          <a:p>
            <a:pPr indent="0" marL="0">
              <a:buNone/>
            </a:pPr>
            <a:r>
              <a:rPr lang="en-US" sz="1500" dirty="0">
                <a:solidFill>
                  <a:srgbClr val="5F7284"/>
                </a:solidFill>
                <a:latin typeface="Calibri" pitchFamily="34" charset="0"/>
                <a:ea typeface="Calibri" pitchFamily="34" charset="-122"/>
                <a:cs typeface="Calibri" pitchFamily="34" charset="-120"/>
              </a:rPr>
              <a:t>and check that the issue closed itself</a:t>
            </a:r>
            <a:endParaRPr lang="en-US" sz="1700" dirty="0"/>
          </a:p>
        </p:txBody>
      </p:sp>
      <p:sp>
        <p:nvSpPr>
          <p:cNvPr id="16" name="Shape 14"/>
          <p:cNvSpPr/>
          <p:nvPr/>
        </p:nvSpPr>
        <p:spPr>
          <a:xfrm>
            <a:off x="6263640" y="1783080"/>
            <a:ext cx="5349240" cy="2148840"/>
          </a:xfrm>
          <a:prstGeom prst="roundRect">
            <a:avLst>
              <a:gd name="adj" fmla="val 3404"/>
            </a:avLst>
          </a:prstGeom>
          <a:solidFill>
            <a:srgbClr val="1E3352"/>
          </a:solidFill>
          <a:ln/>
          <a:effectLst>
            <a:outerShdw sx="100000" sy="100000" kx="0" ky="0" algn="bl" rotWithShape="0" blurRad="88900" dist="38100" dir="5400000">
              <a:srgbClr val="000000">
                <a:alpha val="13000"/>
              </a:srgbClr>
            </a:outerShdw>
          </a:effectLst>
        </p:spPr>
      </p:sp>
      <p:sp>
        <p:nvSpPr>
          <p:cNvPr id="17" name="Text 15"/>
          <p:cNvSpPr/>
          <p:nvPr/>
        </p:nvSpPr>
        <p:spPr>
          <a:xfrm>
            <a:off x="6537960" y="1947672"/>
            <a:ext cx="4800600" cy="1819656"/>
          </a:xfrm>
          <a:prstGeom prst="rect">
            <a:avLst/>
          </a:prstGeom>
          <a:noFill/>
          <a:ln/>
        </p:spPr>
        <p:txBody>
          <a:bodyPr wrap="square" lIns="0" tIns="0" rIns="0" bIns="0" rtlCol="0" anchor="t"/>
          <a:lstStyle/>
          <a:p>
            <a:pPr indent="0" marL="0">
              <a:lnSpc>
                <a:spcPct val="105000"/>
              </a:lnSpc>
              <a:buNone/>
            </a:pPr>
            <a:r>
              <a:rPr lang="en-US" sz="1600" dirty="0">
                <a:solidFill>
                  <a:srgbClr val="9FB4C7"/>
                </a:solidFill>
                <a:latin typeface="Consolas" pitchFamily="34" charset="0"/>
                <a:ea typeface="Consolas" pitchFamily="34" charset="-122"/>
                <a:cs typeface="Consolas" pitchFamily="34" charset="-120"/>
              </a:rPr>
              <a:t># back on your machine</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git switch main</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git pull</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git log --oneline -5</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git branch -D docs/link-design-doc</a:t>
            </a:r>
            <a:endParaRPr lang="en-US" sz="1600" dirty="0"/>
          </a:p>
        </p:txBody>
      </p:sp>
      <p:sp>
        <p:nvSpPr>
          <p:cNvPr id="18" name="Text 16"/>
          <p:cNvSpPr/>
          <p:nvPr/>
        </p:nvSpPr>
        <p:spPr>
          <a:xfrm>
            <a:off x="6263640" y="4114800"/>
            <a:ext cx="5349240" cy="777240"/>
          </a:xfrm>
          <a:prstGeom prst="rect">
            <a:avLst/>
          </a:prstGeom>
          <a:noFill/>
          <a:ln/>
        </p:spPr>
        <p:txBody>
          <a:bodyPr wrap="square" lIns="0" tIns="0" rIns="0" bIns="0" rtlCol="0" anchor="t"/>
          <a:lstStyle/>
          <a:p>
            <a:pPr indent="0" marL="0">
              <a:buNone/>
            </a:pPr>
            <a:r>
              <a:rPr lang="en-US" sz="1500" i="1" dirty="0">
                <a:solidFill>
                  <a:srgbClr val="5F7284"/>
                </a:solidFill>
                <a:latin typeface="Calibri" pitchFamily="34" charset="0"/>
                <a:ea typeface="Calibri" pitchFamily="34" charset="-122"/>
                <a:cs typeface="Calibri" pitchFamily="34" charset="-120"/>
              </a:rPr>
              <a:t>Why -D? After a squash, main doesn't hold your branch's commits, so git can't tell it merged.</a:t>
            </a:r>
            <a:endParaRPr lang="en-US" sz="1500" dirty="0"/>
          </a:p>
        </p:txBody>
      </p:sp>
      <p:sp>
        <p:nvSpPr>
          <p:cNvPr id="19" name="Shape 17"/>
          <p:cNvSpPr/>
          <p:nvPr/>
        </p:nvSpPr>
        <p:spPr>
          <a:xfrm>
            <a:off x="548640" y="4937760"/>
            <a:ext cx="5486400" cy="1188720"/>
          </a:xfrm>
          <a:prstGeom prst="roundRect">
            <a:avLst>
              <a:gd name="adj" fmla="val 6923"/>
            </a:avLst>
          </a:prstGeom>
          <a:solidFill>
            <a:srgbClr val="FBEEDA"/>
          </a:solidFill>
          <a:ln/>
          <a:effectLst>
            <a:outerShdw sx="100000" sy="100000" kx="0" ky="0" algn="bl" rotWithShape="0" blurRad="88900" dist="38100" dir="5400000">
              <a:srgbClr val="000000">
                <a:alpha val="13000"/>
              </a:srgbClr>
            </a:outerShdw>
          </a:effectLst>
        </p:spPr>
      </p:sp>
      <p:sp>
        <p:nvSpPr>
          <p:cNvPr id="20" name="Text 18"/>
          <p:cNvSpPr/>
          <p:nvPr/>
        </p:nvSpPr>
        <p:spPr>
          <a:xfrm>
            <a:off x="822960" y="4937760"/>
            <a:ext cx="5029200" cy="1188720"/>
          </a:xfrm>
          <a:prstGeom prst="rect">
            <a:avLst/>
          </a:prstGeom>
          <a:noFill/>
          <a:ln/>
        </p:spPr>
        <p:txBody>
          <a:bodyPr wrap="square" lIns="0" tIns="0" rIns="0" bIns="0" rtlCol="0" anchor="ctr"/>
          <a:lstStyle/>
          <a:p>
            <a:pPr indent="0" marL="0">
              <a:buNone/>
            </a:pPr>
            <a:r>
              <a:rPr lang="en-US" sz="1600" b="1" dirty="0">
                <a:solidFill>
                  <a:srgbClr val="14233A"/>
                </a:solidFill>
                <a:latin typeface="Calibri" pitchFamily="34" charset="0"/>
                <a:ea typeface="Calibri" pitchFamily="34" charset="-122"/>
                <a:cs typeface="Calibri" pitchFamily="34" charset="-120"/>
              </a:rPr>
              <a:t>Your branch's commits, the review, and every reply stay in the pull request. That's where the evidence lives.</a:t>
            </a:r>
            <a:endParaRPr lang="en-US" sz="1600" dirty="0"/>
          </a:p>
        </p:txBody>
      </p:sp>
      <p:sp>
        <p:nvSpPr>
          <p:cNvPr id="21" name="Text 1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14 · Git Workflow Lab</a:t>
            </a:r>
            <a:endParaRPr lang="en-US" sz="1000" dirty="0"/>
          </a:p>
        </p:txBody>
      </p:sp>
      <p:sp>
        <p:nvSpPr>
          <p:cNvPr id="22" name="Text 2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PART 3 · A MERGE CONFLICT, ON PURPOSE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Two changes to the same line: the README status line</a:t>
            </a:r>
            <a:endParaRPr lang="en-US" sz="3100" dirty="0"/>
          </a:p>
        </p:txBody>
      </p:sp>
      <p:sp>
        <p:nvSpPr>
          <p:cNvPr id="5" name="Shape 3"/>
          <p:cNvSpPr/>
          <p:nvPr/>
        </p:nvSpPr>
        <p:spPr>
          <a:xfrm>
            <a:off x="9646920" y="347472"/>
            <a:ext cx="1965960" cy="420624"/>
          </a:xfrm>
          <a:prstGeom prst="roundRect">
            <a:avLst>
              <a:gd name="adj" fmla="val 17391"/>
            </a:avLst>
          </a:prstGeom>
          <a:solidFill>
            <a:srgbClr val="14233A"/>
          </a:solidFill>
          <a:ln/>
        </p:spPr>
      </p:sp>
      <p:sp>
        <p:nvSpPr>
          <p:cNvPr id="6" name="Text 4"/>
          <p:cNvSpPr/>
          <p:nvPr/>
        </p:nvSpPr>
        <p:spPr>
          <a:xfrm>
            <a:off x="9646920" y="347472"/>
            <a:ext cx="1965960" cy="420624"/>
          </a:xfrm>
          <a:prstGeom prst="rect">
            <a:avLst/>
          </a:prstGeom>
          <a:noFill/>
          <a:ln/>
        </p:spPr>
        <p:txBody>
          <a:bodyPr wrap="square" lIns="0" tIns="0" rIns="0" bIns="0" rtlCol="0" anchor="ctr"/>
          <a:lstStyle/>
          <a:p>
            <a:pPr algn="ctr" indent="0" marL="0">
              <a:buNone/>
            </a:pPr>
            <a:r>
              <a:rPr lang="en-US" sz="1400" b="1" dirty="0">
                <a:solidFill>
                  <a:srgbClr val="E8A33D"/>
                </a:solidFill>
                <a:latin typeface="Calibri" pitchFamily="34" charset="0"/>
                <a:ea typeface="Calibri" pitchFamily="34" charset="-122"/>
                <a:cs typeface="Calibri" pitchFamily="34" charset="-120"/>
              </a:rPr>
              <a:t>Part 3 · 12 min</a:t>
            </a:r>
            <a:endParaRPr lang="en-US" sz="1400" dirty="0"/>
          </a:p>
        </p:txBody>
      </p:sp>
      <p:sp>
        <p:nvSpPr>
          <p:cNvPr id="7" name="Text 5"/>
          <p:cNvSpPr/>
          <p:nvPr/>
        </p:nvSpPr>
        <p:spPr>
          <a:xfrm>
            <a:off x="548640" y="1691640"/>
            <a:ext cx="11064240" cy="411480"/>
          </a:xfrm>
          <a:prstGeom prst="rect">
            <a:avLst/>
          </a:prstGeom>
          <a:noFill/>
          <a:ln/>
        </p:spPr>
        <p:txBody>
          <a:bodyPr wrap="square" lIns="0" tIns="0" rIns="0" bIns="0" rtlCol="0" anchor="ctr"/>
          <a:lstStyle/>
          <a:p>
            <a:pPr indent="0" marL="0">
              <a:buNone/>
            </a:pPr>
            <a:r>
              <a:rPr lang="en-US" sz="1800" b="1" dirty="0">
                <a:solidFill>
                  <a:srgbClr val="D9614C"/>
                </a:solidFill>
                <a:latin typeface="Calibri" pitchFamily="34" charset="0"/>
                <a:ea typeface="Calibri" pitchFamily="34" charset="-122"/>
                <a:cs typeface="Calibri" pitchFamily="34" charset="-120"/>
              </a:rPr>
              <a:t>Both branch from the same main, before either merges.</a:t>
            </a:r>
            <a:endParaRPr lang="en-US" sz="1800" dirty="0"/>
          </a:p>
        </p:txBody>
      </p:sp>
      <p:sp>
        <p:nvSpPr>
          <p:cNvPr id="8" name="Shape 6"/>
          <p:cNvSpPr/>
          <p:nvPr/>
        </p:nvSpPr>
        <p:spPr>
          <a:xfrm>
            <a:off x="548640" y="2240280"/>
            <a:ext cx="11064240" cy="1325880"/>
          </a:xfrm>
          <a:prstGeom prst="roundRect">
            <a:avLst>
              <a:gd name="adj" fmla="val 6207"/>
            </a:avLst>
          </a:prstGeom>
          <a:solidFill>
            <a:srgbClr val="F2F6F8"/>
          </a:solidFill>
          <a:ln/>
          <a:effectLst>
            <a:outerShdw sx="100000" sy="100000" kx="0" ky="0" algn="bl" rotWithShape="0" blurRad="88900" dist="38100" dir="5400000">
              <a:srgbClr val="000000">
                <a:alpha val="13000"/>
              </a:srgbClr>
            </a:outerShdw>
          </a:effectLst>
        </p:spPr>
      </p:sp>
      <p:sp>
        <p:nvSpPr>
          <p:cNvPr id="9" name="Shape 7"/>
          <p:cNvSpPr/>
          <p:nvPr/>
        </p:nvSpPr>
        <p:spPr>
          <a:xfrm>
            <a:off x="777240" y="2583180"/>
            <a:ext cx="640080" cy="640080"/>
          </a:xfrm>
          <a:prstGeom prst="ellipse">
            <a:avLst/>
          </a:prstGeom>
          <a:solidFill>
            <a:srgbClr val="12908F"/>
          </a:solidFill>
          <a:ln/>
        </p:spPr>
      </p:sp>
      <p:sp>
        <p:nvSpPr>
          <p:cNvPr id="10" name="Text 8"/>
          <p:cNvSpPr/>
          <p:nvPr/>
        </p:nvSpPr>
        <p:spPr>
          <a:xfrm>
            <a:off x="777240" y="25831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a:t>
            </a:r>
            <a:endParaRPr lang="en-US" sz="2400" dirty="0"/>
          </a:p>
        </p:txBody>
      </p:sp>
      <p:sp>
        <p:nvSpPr>
          <p:cNvPr id="11" name="Text 9"/>
          <p:cNvSpPr/>
          <p:nvPr/>
        </p:nvSpPr>
        <p:spPr>
          <a:xfrm>
            <a:off x="1645920" y="2377440"/>
            <a:ext cx="9784080" cy="45720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A branches </a:t>
            </a:r>
            <a:pPr indent="0" marL="0">
              <a:buNone/>
            </a:pPr>
            <a:r>
              <a:rPr lang="en-US" sz="1700" b="1" dirty="0">
                <a:solidFill>
                  <a:srgbClr val="0E6E6D"/>
                </a:solidFill>
                <a:latin typeface="Consolas" pitchFamily="34" charset="0"/>
                <a:ea typeface="Consolas" pitchFamily="34" charset="-122"/>
                <a:cs typeface="Consolas" pitchFamily="34" charset="-120"/>
              </a:rPr>
              <a:t>docs/status-design-complete</a:t>
            </a:r>
            <a:endParaRPr lang="en-US" sz="1700" dirty="0"/>
          </a:p>
        </p:txBody>
      </p:sp>
      <p:sp>
        <p:nvSpPr>
          <p:cNvPr id="12" name="Text 10"/>
          <p:cNvSpPr/>
          <p:nvPr/>
        </p:nvSpPr>
        <p:spPr>
          <a:xfrm>
            <a:off x="1645920" y="2880360"/>
            <a:ext cx="9784080" cy="502920"/>
          </a:xfrm>
          <a:prstGeom prst="rect">
            <a:avLst/>
          </a:prstGeom>
          <a:noFill/>
          <a:ln/>
        </p:spPr>
        <p:txBody>
          <a:bodyPr wrap="square" lIns="0" tIns="0" rIns="0" bIns="0" rtlCol="0" anchor="ctr"/>
          <a:lstStyle/>
          <a:p>
            <a:pPr indent="0" marL="0">
              <a:buNone/>
            </a:pPr>
            <a:r>
              <a:rPr lang="en-US" sz="1500" dirty="0">
                <a:solidFill>
                  <a:srgbClr val="1E2A36"/>
                </a:solidFill>
                <a:latin typeface="Consolas" pitchFamily="34" charset="0"/>
                <a:ea typeface="Consolas" pitchFamily="34" charset="-122"/>
                <a:cs typeface="Consolas" pitchFamily="34" charset="-120"/>
              </a:rPr>
              <a:t>**Status:** Design complete; building the first version.</a:t>
            </a:r>
            <a:endParaRPr lang="en-US" sz="1500" dirty="0"/>
          </a:p>
        </p:txBody>
      </p:sp>
      <p:sp>
        <p:nvSpPr>
          <p:cNvPr id="13" name="Shape 11"/>
          <p:cNvSpPr/>
          <p:nvPr/>
        </p:nvSpPr>
        <p:spPr>
          <a:xfrm>
            <a:off x="548640" y="3703320"/>
            <a:ext cx="11064240" cy="1325880"/>
          </a:xfrm>
          <a:prstGeom prst="roundRect">
            <a:avLst>
              <a:gd name="adj" fmla="val 6207"/>
            </a:avLst>
          </a:prstGeom>
          <a:solidFill>
            <a:srgbClr val="F2F6F8"/>
          </a:solidFill>
          <a:ln/>
          <a:effectLst>
            <a:outerShdw sx="100000" sy="100000" kx="0" ky="0" algn="bl" rotWithShape="0" blurRad="88900" dist="38100" dir="5400000">
              <a:srgbClr val="000000">
                <a:alpha val="13000"/>
              </a:srgbClr>
            </a:outerShdw>
          </a:effectLst>
        </p:spPr>
      </p:sp>
      <p:sp>
        <p:nvSpPr>
          <p:cNvPr id="14" name="Shape 12"/>
          <p:cNvSpPr/>
          <p:nvPr/>
        </p:nvSpPr>
        <p:spPr>
          <a:xfrm>
            <a:off x="777240" y="4046220"/>
            <a:ext cx="640080" cy="640080"/>
          </a:xfrm>
          <a:prstGeom prst="ellipse">
            <a:avLst/>
          </a:prstGeom>
          <a:solidFill>
            <a:srgbClr val="E8A33D"/>
          </a:solidFill>
          <a:ln/>
        </p:spPr>
      </p:sp>
      <p:sp>
        <p:nvSpPr>
          <p:cNvPr id="15" name="Text 13"/>
          <p:cNvSpPr/>
          <p:nvPr/>
        </p:nvSpPr>
        <p:spPr>
          <a:xfrm>
            <a:off x="777240" y="4046220"/>
            <a:ext cx="640080" cy="640080"/>
          </a:xfrm>
          <a:prstGeom prst="rect">
            <a:avLst/>
          </a:prstGeom>
          <a:noFill/>
          <a:ln/>
        </p:spPr>
        <p:txBody>
          <a:bodyPr wrap="square" lIns="0" tIns="0" rIns="0" bIns="0" rtlCol="0" anchor="ctr"/>
          <a:lstStyle/>
          <a:p>
            <a:pPr algn="ctr" indent="0" marL="0">
              <a:buNone/>
            </a:pPr>
            <a:r>
              <a:rPr lang="en-US" sz="2400" b="1" dirty="0">
                <a:solidFill>
                  <a:srgbClr val="14233A"/>
                </a:solidFill>
                <a:latin typeface="Cambria" pitchFamily="34" charset="0"/>
                <a:ea typeface="Cambria" pitchFamily="34" charset="-122"/>
                <a:cs typeface="Cambria" pitchFamily="34" charset="-120"/>
              </a:rPr>
              <a:t>B</a:t>
            </a:r>
            <a:endParaRPr lang="en-US" sz="2400" dirty="0"/>
          </a:p>
        </p:txBody>
      </p:sp>
      <p:sp>
        <p:nvSpPr>
          <p:cNvPr id="16" name="Text 14"/>
          <p:cNvSpPr/>
          <p:nvPr/>
        </p:nvSpPr>
        <p:spPr>
          <a:xfrm>
            <a:off x="1645920" y="3840480"/>
            <a:ext cx="9784080" cy="45720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B branches </a:t>
            </a:r>
            <a:pPr indent="0" marL="0">
              <a:buNone/>
            </a:pPr>
            <a:r>
              <a:rPr lang="en-US" sz="1700" b="1" dirty="0">
                <a:solidFill>
                  <a:srgbClr val="0E6E6D"/>
                </a:solidFill>
                <a:latin typeface="Consolas" pitchFamily="34" charset="0"/>
                <a:ea typeface="Consolas" pitchFamily="34" charset="-122"/>
                <a:cs typeface="Consolas" pitchFamily="34" charset="-120"/>
              </a:rPr>
              <a:t>docs/status-issue-link</a:t>
            </a:r>
            <a:endParaRPr lang="en-US" sz="1700" dirty="0"/>
          </a:p>
        </p:txBody>
      </p:sp>
      <p:sp>
        <p:nvSpPr>
          <p:cNvPr id="17" name="Text 15"/>
          <p:cNvSpPr/>
          <p:nvPr/>
        </p:nvSpPr>
        <p:spPr>
          <a:xfrm>
            <a:off x="1645920" y="4343400"/>
            <a:ext cx="9784080" cy="502920"/>
          </a:xfrm>
          <a:prstGeom prst="rect">
            <a:avLst/>
          </a:prstGeom>
          <a:noFill/>
          <a:ln/>
        </p:spPr>
        <p:txBody>
          <a:bodyPr wrap="square" lIns="0" tIns="0" rIns="0" bIns="0" rtlCol="0" anchor="ctr"/>
          <a:lstStyle/>
          <a:p>
            <a:pPr indent="0" marL="0">
              <a:buNone/>
            </a:pPr>
            <a:r>
              <a:rPr lang="en-US" sz="1500" dirty="0">
                <a:solidFill>
                  <a:srgbClr val="1E2A36"/>
                </a:solidFill>
                <a:latin typeface="Consolas" pitchFamily="34" charset="0"/>
                <a:ea typeface="Consolas" pitchFamily="34" charset="-122"/>
                <a:cs typeface="Consolas" pitchFamily="34" charset="-120"/>
              </a:rPr>
              <a:t>**Status:** Design in progress. Questions or ideas? [Open an issue](../../issues).</a:t>
            </a:r>
            <a:endParaRPr lang="en-US" sz="1500" dirty="0"/>
          </a:p>
        </p:txBody>
      </p:sp>
      <p:sp>
        <p:nvSpPr>
          <p:cNvPr id="18" name="Shape 16"/>
          <p:cNvSpPr/>
          <p:nvPr/>
        </p:nvSpPr>
        <p:spPr>
          <a:xfrm>
            <a:off x="548640" y="5303520"/>
            <a:ext cx="11064240" cy="868680"/>
          </a:xfrm>
          <a:prstGeom prst="roundRect">
            <a:avLst>
              <a:gd name="adj" fmla="val 9474"/>
            </a:avLst>
          </a:prstGeom>
          <a:solidFill>
            <a:srgbClr val="14233A"/>
          </a:solidFill>
          <a:ln/>
          <a:effectLst>
            <a:outerShdw sx="100000" sy="100000" kx="0" ky="0" algn="bl" rotWithShape="0" blurRad="88900" dist="38100" dir="5400000">
              <a:srgbClr val="000000">
                <a:alpha val="13000"/>
              </a:srgbClr>
            </a:outerShdw>
          </a:effectLst>
        </p:spPr>
      </p:sp>
      <p:sp>
        <p:nvSpPr>
          <p:cNvPr id="19" name="Text 17"/>
          <p:cNvSpPr/>
          <p:nvPr/>
        </p:nvSpPr>
        <p:spPr>
          <a:xfrm>
            <a:off x="868680" y="5303520"/>
            <a:ext cx="10424160" cy="8686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Both push and open pull requests. Merge A's. Now B's says: "This branch has conflicts."</a:t>
            </a:r>
            <a:endParaRPr lang="en-US" sz="1700" dirty="0"/>
          </a:p>
        </p:txBody>
      </p:sp>
      <p:sp>
        <p:nvSpPr>
          <p:cNvPr id="20" name="Text 1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14 · Git Workflow Lab</a:t>
            </a:r>
            <a:endParaRPr lang="en-US" sz="1000" dirty="0"/>
          </a:p>
        </p:txBody>
      </p:sp>
      <p:sp>
        <p:nvSpPr>
          <p:cNvPr id="21" name="Text 1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PART 3 · B RESOLVES IT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Read both sides. Keep what each change was for.</a:t>
            </a:r>
            <a:endParaRPr lang="en-US" sz="3100" dirty="0"/>
          </a:p>
        </p:txBody>
      </p:sp>
      <p:sp>
        <p:nvSpPr>
          <p:cNvPr id="5" name="Shape 3"/>
          <p:cNvSpPr/>
          <p:nvPr/>
        </p:nvSpPr>
        <p:spPr>
          <a:xfrm>
            <a:off x="9646920" y="347472"/>
            <a:ext cx="1965960" cy="420624"/>
          </a:xfrm>
          <a:prstGeom prst="roundRect">
            <a:avLst>
              <a:gd name="adj" fmla="val 17391"/>
            </a:avLst>
          </a:prstGeom>
          <a:solidFill>
            <a:srgbClr val="14233A"/>
          </a:solidFill>
          <a:ln/>
        </p:spPr>
      </p:sp>
      <p:sp>
        <p:nvSpPr>
          <p:cNvPr id="6" name="Text 4"/>
          <p:cNvSpPr/>
          <p:nvPr/>
        </p:nvSpPr>
        <p:spPr>
          <a:xfrm>
            <a:off x="9646920" y="347472"/>
            <a:ext cx="1965960" cy="420624"/>
          </a:xfrm>
          <a:prstGeom prst="rect">
            <a:avLst/>
          </a:prstGeom>
          <a:noFill/>
          <a:ln/>
        </p:spPr>
        <p:txBody>
          <a:bodyPr wrap="square" lIns="0" tIns="0" rIns="0" bIns="0" rtlCol="0" anchor="ctr"/>
          <a:lstStyle/>
          <a:p>
            <a:pPr algn="ctr" indent="0" marL="0">
              <a:buNone/>
            </a:pPr>
            <a:r>
              <a:rPr lang="en-US" sz="1400" b="1" dirty="0">
                <a:solidFill>
                  <a:srgbClr val="E8A33D"/>
                </a:solidFill>
                <a:latin typeface="Calibri" pitchFamily="34" charset="0"/>
                <a:ea typeface="Calibri" pitchFamily="34" charset="-122"/>
                <a:cs typeface="Calibri" pitchFamily="34" charset="-120"/>
              </a:rPr>
              <a:t>Part 3 · 12 min</a:t>
            </a:r>
            <a:endParaRPr lang="en-US" sz="1400" dirty="0"/>
          </a:p>
        </p:txBody>
      </p:sp>
      <p:sp>
        <p:nvSpPr>
          <p:cNvPr id="7" name="Shape 5"/>
          <p:cNvSpPr/>
          <p:nvPr/>
        </p:nvSpPr>
        <p:spPr>
          <a:xfrm>
            <a:off x="548640" y="1783080"/>
            <a:ext cx="4206240" cy="2011680"/>
          </a:xfrm>
          <a:prstGeom prst="roundRect">
            <a:avLst>
              <a:gd name="adj" fmla="val 3636"/>
            </a:avLst>
          </a:prstGeom>
          <a:solidFill>
            <a:srgbClr val="1E3352"/>
          </a:solidFill>
          <a:ln/>
          <a:effectLst>
            <a:outerShdw sx="100000" sy="100000" kx="0" ky="0" algn="bl" rotWithShape="0" blurRad="88900" dist="38100" dir="5400000">
              <a:srgbClr val="000000">
                <a:alpha val="13000"/>
              </a:srgbClr>
            </a:outerShdw>
          </a:effectLst>
        </p:spPr>
      </p:sp>
      <p:sp>
        <p:nvSpPr>
          <p:cNvPr id="8" name="Text 6"/>
          <p:cNvSpPr/>
          <p:nvPr/>
        </p:nvSpPr>
        <p:spPr>
          <a:xfrm>
            <a:off x="822960" y="1947672"/>
            <a:ext cx="3657600" cy="1682496"/>
          </a:xfrm>
          <a:prstGeom prst="rect">
            <a:avLst/>
          </a:prstGeom>
          <a:noFill/>
          <a:ln/>
        </p:spPr>
        <p:txBody>
          <a:bodyPr wrap="square" lIns="0" tIns="0" rIns="0" bIns="0" rtlCol="0" anchor="t"/>
          <a:lstStyle/>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git switch docs/status-issue-link</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git fetch origin</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git merge origin/main</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git status</a:t>
            </a:r>
            <a:endParaRPr lang="en-US" sz="1500" dirty="0"/>
          </a:p>
        </p:txBody>
      </p:sp>
      <p:sp>
        <p:nvSpPr>
          <p:cNvPr id="9" name="Shape 7"/>
          <p:cNvSpPr/>
          <p:nvPr/>
        </p:nvSpPr>
        <p:spPr>
          <a:xfrm>
            <a:off x="4983480" y="1783080"/>
            <a:ext cx="6629400" cy="2011680"/>
          </a:xfrm>
          <a:prstGeom prst="roundRect">
            <a:avLst>
              <a:gd name="adj" fmla="val 3636"/>
            </a:avLst>
          </a:prstGeom>
          <a:solidFill>
            <a:srgbClr val="1E3352"/>
          </a:solidFill>
          <a:ln/>
          <a:effectLst>
            <a:outerShdw sx="100000" sy="100000" kx="0" ky="0" algn="bl" rotWithShape="0" blurRad="88900" dist="38100" dir="5400000">
              <a:srgbClr val="000000">
                <a:alpha val="13000"/>
              </a:srgbClr>
            </a:outerShdw>
          </a:effectLst>
        </p:spPr>
      </p:sp>
      <p:sp>
        <p:nvSpPr>
          <p:cNvPr id="10" name="Text 8"/>
          <p:cNvSpPr/>
          <p:nvPr/>
        </p:nvSpPr>
        <p:spPr>
          <a:xfrm>
            <a:off x="5257800" y="1947672"/>
            <a:ext cx="6080760" cy="1682496"/>
          </a:xfrm>
          <a:prstGeom prst="rect">
            <a:avLst/>
          </a:prstGeom>
          <a:noFill/>
          <a:ln/>
        </p:spPr>
        <p:txBody>
          <a:bodyPr wrap="square" lIns="0" tIns="0" rIns="0" bIns="0" rtlCol="0" anchor="t"/>
          <a:lstStyle/>
          <a:p>
            <a:pPr indent="0" marL="0">
              <a:lnSpc>
                <a:spcPct val="105000"/>
              </a:lnSpc>
              <a:buNone/>
            </a:pPr>
            <a:r>
              <a:rPr lang="en-US" sz="1450" dirty="0">
                <a:solidFill>
                  <a:srgbClr val="E8A33D"/>
                </a:solidFill>
                <a:latin typeface="Consolas" pitchFamily="34" charset="0"/>
                <a:ea typeface="Consolas" pitchFamily="34" charset="-122"/>
                <a:cs typeface="Consolas" pitchFamily="34" charset="-120"/>
              </a:rPr>
              <a:t>&lt;&lt;&lt;&lt;&lt;&lt;&lt; HEAD</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**Status:** Design in progress. Questions</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or ideas? [Open an issue](../../issues).</a:t>
            </a:r>
            <a:endParaRPr lang="en-US" sz="1450" dirty="0"/>
          </a:p>
          <a:p>
            <a:pPr indent="0" marL="0">
              <a:lnSpc>
                <a:spcPct val="105000"/>
              </a:lnSpc>
              <a:buNone/>
            </a:pPr>
            <a:r>
              <a:rPr lang="en-US" sz="1450" dirty="0">
                <a:solidFill>
                  <a:srgbClr val="E8A33D"/>
                </a:solidFill>
                <a:latin typeface="Consolas" pitchFamily="34" charset="0"/>
                <a:ea typeface="Consolas" pitchFamily="34" charset="-122"/>
                <a:cs typeface="Consolas" pitchFamily="34" charset="-120"/>
              </a:rPr>
              <a:t>=======</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**Status:** Design complete; building the first version.</a:t>
            </a:r>
            <a:endParaRPr lang="en-US" sz="1450" dirty="0"/>
          </a:p>
          <a:p>
            <a:pPr indent="0" marL="0">
              <a:lnSpc>
                <a:spcPct val="105000"/>
              </a:lnSpc>
              <a:buNone/>
            </a:pPr>
            <a:r>
              <a:rPr lang="en-US" sz="1450" dirty="0">
                <a:solidFill>
                  <a:srgbClr val="E8A33D"/>
                </a:solidFill>
                <a:latin typeface="Consolas" pitchFamily="34" charset="0"/>
                <a:ea typeface="Consolas" pitchFamily="34" charset="-122"/>
                <a:cs typeface="Consolas" pitchFamily="34" charset="-120"/>
              </a:rPr>
              <a:t>&gt;&gt;&gt;&gt;&gt;&gt;&gt; origin/main</a:t>
            </a:r>
            <a:endParaRPr lang="en-US" sz="1450" dirty="0"/>
          </a:p>
        </p:txBody>
      </p:sp>
      <p:sp>
        <p:nvSpPr>
          <p:cNvPr id="11" name="click-1"/>
          <p:cNvSpPr/>
          <p:nvPr/>
        </p:nvSpPr>
        <p:spPr>
          <a:xfrm>
            <a:off x="548640" y="3931920"/>
            <a:ext cx="11064240" cy="868680"/>
          </a:xfrm>
          <a:prstGeom prst="roundRect">
            <a:avLst>
              <a:gd name="adj" fmla="val 9474"/>
            </a:avLst>
          </a:prstGeom>
          <a:solidFill>
            <a:srgbClr val="EAF4EE"/>
          </a:solidFill>
          <a:ln/>
          <a:effectLst>
            <a:outerShdw sx="100000" sy="100000" kx="0" ky="0" algn="bl" rotWithShape="0" blurRad="88900" dist="38100" dir="5400000">
              <a:srgbClr val="000000">
                <a:alpha val="13000"/>
              </a:srgbClr>
            </a:outerShdw>
          </a:effectLst>
        </p:spPr>
      </p:sp>
      <p:sp>
        <p:nvSpPr>
          <p:cNvPr id="12" name="click-1"/>
          <p:cNvSpPr/>
          <p:nvPr/>
        </p:nvSpPr>
        <p:spPr>
          <a:xfrm>
            <a:off x="822960" y="3931920"/>
            <a:ext cx="10515600" cy="868680"/>
          </a:xfrm>
          <a:prstGeom prst="rect">
            <a:avLst/>
          </a:prstGeom>
          <a:noFill/>
          <a:ln/>
        </p:spPr>
        <p:txBody>
          <a:bodyPr wrap="square" lIns="0" tIns="0" rIns="0" bIns="0" rtlCol="0" anchor="ctr"/>
          <a:lstStyle/>
          <a:p>
            <a:pPr indent="0" marL="0">
              <a:buNone/>
            </a:pPr>
            <a:r>
              <a:rPr lang="en-US" sz="1600" b="1" dirty="0">
                <a:solidFill>
                  <a:srgbClr val="3E9C6B"/>
                </a:solidFill>
                <a:latin typeface="Calibri" pitchFamily="34" charset="0"/>
                <a:ea typeface="Calibri" pitchFamily="34" charset="-122"/>
                <a:cs typeface="Calibri" pitchFamily="34" charset="-120"/>
              </a:rPr>
              <a:t>Resolved:  </a:t>
            </a:r>
            <a:pPr indent="0" marL="0">
              <a:buNone/>
            </a:pPr>
            <a:r>
              <a:rPr lang="en-US" sz="1450" dirty="0">
                <a:solidFill>
                  <a:srgbClr val="1E2A36"/>
                </a:solidFill>
                <a:latin typeface="Consolas" pitchFamily="34" charset="0"/>
                <a:ea typeface="Consolas" pitchFamily="34" charset="-122"/>
                <a:cs typeface="Consolas" pitchFamily="34" charset="-120"/>
              </a:rPr>
              <a:t>**Status:** Design complete; building the first version. Questions or ideas? [Open an issue](../../issues).</a:t>
            </a:r>
            <a:endParaRPr lang="en-US" sz="1600" dirty="0"/>
          </a:p>
        </p:txBody>
      </p:sp>
      <p:sp>
        <p:nvSpPr>
          <p:cNvPr id="13" name="click-1"/>
          <p:cNvSpPr/>
          <p:nvPr/>
        </p:nvSpPr>
        <p:spPr>
          <a:xfrm>
            <a:off x="548640" y="4937760"/>
            <a:ext cx="5120640" cy="1280160"/>
          </a:xfrm>
          <a:prstGeom prst="roundRect">
            <a:avLst>
              <a:gd name="adj" fmla="val 5714"/>
            </a:avLst>
          </a:prstGeom>
          <a:solidFill>
            <a:srgbClr val="1E3352"/>
          </a:solidFill>
          <a:ln/>
          <a:effectLst>
            <a:outerShdw sx="100000" sy="100000" kx="0" ky="0" algn="bl" rotWithShape="0" blurRad="88900" dist="38100" dir="5400000">
              <a:srgbClr val="000000">
                <a:alpha val="13000"/>
              </a:srgbClr>
            </a:outerShdw>
          </a:effectLst>
        </p:spPr>
      </p:sp>
      <p:sp>
        <p:nvSpPr>
          <p:cNvPr id="14" name="click-1"/>
          <p:cNvSpPr/>
          <p:nvPr/>
        </p:nvSpPr>
        <p:spPr>
          <a:xfrm>
            <a:off x="822960" y="5102352"/>
            <a:ext cx="4572000" cy="950976"/>
          </a:xfrm>
          <a:prstGeom prst="rect">
            <a:avLst/>
          </a:prstGeom>
          <a:noFill/>
          <a:ln/>
        </p:spPr>
        <p:txBody>
          <a:bodyPr wrap="square" lIns="0" tIns="0" rIns="0" bIns="0" rtlCol="0" anchor="t"/>
          <a:lstStyle/>
          <a:p>
            <a:pPr indent="0" marL="0">
              <a:lnSpc>
                <a:spcPct val="105000"/>
              </a:lnSpc>
              <a:buNone/>
            </a:pPr>
            <a:r>
              <a:rPr lang="en-US" sz="1500" dirty="0">
                <a:solidFill>
                  <a:srgbClr val="9FB4C7"/>
                </a:solidFill>
                <a:latin typeface="Consolas" pitchFamily="34" charset="0"/>
                <a:ea typeface="Consolas" pitchFamily="34" charset="-122"/>
                <a:cs typeface="Consolas" pitchFamily="34" charset="-120"/>
              </a:rPr>
              <a:t># delete all three markers, save</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git add README.md</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git commit &amp;&amp; git push</a:t>
            </a:r>
            <a:endParaRPr lang="en-US" sz="1500" dirty="0"/>
          </a:p>
        </p:txBody>
      </p:sp>
      <p:sp>
        <p:nvSpPr>
          <p:cNvPr id="15" name="click-1"/>
          <p:cNvSpPr/>
          <p:nvPr/>
        </p:nvSpPr>
        <p:spPr>
          <a:xfrm>
            <a:off x="5897880" y="4937760"/>
            <a:ext cx="5715000" cy="1280160"/>
          </a:xfrm>
          <a:prstGeom prst="rect">
            <a:avLst/>
          </a:prstGeom>
          <a:noFill/>
          <a:ln/>
        </p:spPr>
        <p:txBody>
          <a:bodyPr wrap="square" lIns="0" tIns="0" rIns="0" bIns="0" rtlCol="0" anchor="ctr"/>
          <a:lstStyle/>
          <a:p>
            <a:pPr indent="0" marL="0">
              <a:spcAft>
                <a:spcPts val="600"/>
              </a:spcAft>
              <a:buNone/>
            </a:pPr>
            <a:r>
              <a:rPr lang="en-US" sz="1550" i="1" dirty="0">
                <a:solidFill>
                  <a:srgbClr val="5F7284"/>
                </a:solidFill>
                <a:latin typeface="Calibri" pitchFamily="34" charset="0"/>
                <a:ea typeface="Calibri" pitchFamily="34" charset="-122"/>
                <a:cs typeface="Calibri" pitchFamily="34" charset="-120"/>
              </a:rPr>
              <a:t>Merge, not rebase, today: the merge commit is the evidence.</a:t>
            </a:r>
            <a:endParaRPr lang="en-US" sz="1550" dirty="0"/>
          </a:p>
          <a:p>
            <a:pPr indent="0" marL="0">
              <a:buNone/>
            </a:pPr>
            <a:r>
              <a:rPr lang="en-US" sz="1550" i="1" dirty="0">
                <a:solidFill>
                  <a:srgbClr val="5F7284"/>
                </a:solidFill>
                <a:latin typeface="Calibri" pitchFamily="34" charset="0"/>
                <a:ea typeface="Calibri" pitchFamily="34" charset="-122"/>
                <a:cs typeface="Calibri" pitchFamily="34" charset="-120"/>
              </a:rPr>
              <a:t>Stuck? </a:t>
            </a:r>
            <a:pPr indent="0" marL="0">
              <a:buNone/>
            </a:pPr>
            <a:r>
              <a:rPr lang="en-US" sz="1550" i="1" dirty="0">
                <a:solidFill>
                  <a:srgbClr val="1E2A36"/>
                </a:solidFill>
                <a:latin typeface="Consolas" pitchFamily="34" charset="0"/>
                <a:ea typeface="Consolas" pitchFamily="34" charset="-122"/>
                <a:cs typeface="Consolas" pitchFamily="34" charset="-120"/>
              </a:rPr>
              <a:t>git merge --abort</a:t>
            </a:r>
            <a:pPr indent="0" marL="0">
              <a:buNone/>
            </a:pPr>
            <a:r>
              <a:rPr lang="en-US" sz="1550" i="1" dirty="0">
                <a:solidFill>
                  <a:srgbClr val="5F7284"/>
                </a:solidFill>
                <a:latin typeface="Calibri" pitchFamily="34" charset="0"/>
                <a:ea typeface="Calibri" pitchFamily="34" charset="-122"/>
                <a:cs typeface="Calibri" pitchFamily="34" charset="-120"/>
              </a:rPr>
              <a:t> starts over.</a:t>
            </a:r>
            <a:endParaRPr lang="en-US" sz="1550" dirty="0"/>
          </a:p>
        </p:txBody>
      </p:sp>
      <p:sp>
        <p:nvSpPr>
          <p:cNvPr id="16"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14 · Git Workflow Lab</a:t>
            </a:r>
            <a:endParaRPr lang="en-US" sz="1000" dirty="0"/>
          </a:p>
        </p:txBody>
      </p:sp>
      <p:sp>
        <p:nvSpPr>
          <p:cNvPr id="17"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822960" y="1188720"/>
            <a:ext cx="777240" cy="77724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32815" y="1398575"/>
            <a:ext cx="357530" cy="357530"/>
          </a:xfrm>
          <a:prstGeom prst="rect">
            <a:avLst/>
          </a:prstGeom>
        </p:spPr>
      </p:pic>
      <p:sp>
        <p:nvSpPr>
          <p:cNvPr id="5" name="Text 2"/>
          <p:cNvSpPr/>
          <p:nvPr/>
        </p:nvSpPr>
        <p:spPr>
          <a:xfrm>
            <a:off x="822960" y="2194560"/>
            <a:ext cx="1088136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made that conflict easy?</a:t>
            </a:r>
            <a:endParaRPr lang="en-US" sz="3200" dirty="0"/>
          </a:p>
        </p:txBody>
      </p:sp>
      <p:sp>
        <p:nvSpPr>
          <p:cNvPr id="6" name="Text 3"/>
          <p:cNvSpPr/>
          <p:nvPr/>
        </p:nvSpPr>
        <p:spPr>
          <a:xfrm>
            <a:off x="841248" y="3017520"/>
            <a:ext cx="10515600" cy="457200"/>
          </a:xfrm>
          <a:prstGeom prst="rect">
            <a:avLst/>
          </a:prstGeom>
          <a:noFill/>
          <a:ln/>
        </p:spPr>
        <p:txBody>
          <a:bodyPr wrap="square" lIns="0" tIns="0" rIns="0" bIns="0" rtlCol="0" anchor="ctr"/>
          <a:lstStyle/>
          <a:p>
            <a:pPr indent="0" marL="0">
              <a:buNone/>
            </a:pPr>
            <a:r>
              <a:rPr lang="en-US" sz="1800" dirty="0">
                <a:solidFill>
                  <a:srgbClr val="CBD8E6"/>
                </a:solidFill>
                <a:latin typeface="Calibri" pitchFamily="34" charset="0"/>
                <a:ea typeface="Calibri" pitchFamily="34" charset="-122"/>
                <a:cs typeface="Calibri" pitchFamily="34" charset="-120"/>
              </a:rPr>
              <a:t>Talk it over with your team, or with your review partner.</a:t>
            </a:r>
            <a:endParaRPr lang="en-US" sz="1800" dirty="0"/>
          </a:p>
        </p:txBody>
      </p:sp>
      <p:sp>
        <p:nvSpPr>
          <p:cNvPr id="7" name="click-1"/>
          <p:cNvSpPr/>
          <p:nvPr/>
        </p:nvSpPr>
        <p:spPr>
          <a:xfrm>
            <a:off x="548640" y="4023360"/>
            <a:ext cx="11064240" cy="1600200"/>
          </a:xfrm>
          <a:prstGeom prst="roundRect">
            <a:avLst>
              <a:gd name="adj" fmla="val 5143"/>
            </a:avLst>
          </a:prstGeom>
          <a:solidFill>
            <a:srgbClr val="1E3352"/>
          </a:solidFill>
          <a:ln/>
          <a:effectLst>
            <a:outerShdw sx="100000" sy="100000" kx="0" ky="0" algn="bl" rotWithShape="0" blurRad="88900" dist="38100" dir="5400000">
              <a:srgbClr val="000000">
                <a:alpha val="13000"/>
              </a:srgbClr>
            </a:outerShdw>
          </a:effectLst>
        </p:spPr>
      </p:sp>
      <p:sp>
        <p:nvSpPr>
          <p:cNvPr id="8" name="click-1"/>
          <p:cNvSpPr/>
          <p:nvPr/>
        </p:nvSpPr>
        <p:spPr>
          <a:xfrm>
            <a:off x="868680" y="4023360"/>
            <a:ext cx="10424160" cy="1600200"/>
          </a:xfrm>
          <a:prstGeom prst="rect">
            <a:avLst/>
          </a:prstGeom>
          <a:noFill/>
          <a:ln/>
        </p:spPr>
        <p:txBody>
          <a:bodyPr wrap="square" lIns="0" tIns="0" rIns="0" bIns="0" rtlCol="0" anchor="ctr"/>
          <a:lstStyle/>
          <a:p>
            <a:pPr indent="0" marL="0">
              <a:spcAft>
                <a:spcPts val="600"/>
              </a:spcAft>
              <a:buNone/>
            </a:pPr>
            <a:r>
              <a:rPr lang="en-US" sz="1800" b="1" dirty="0">
                <a:solidFill>
                  <a:srgbClr val="E8A33D"/>
                </a:solidFill>
                <a:latin typeface="Calibri" pitchFamily="34" charset="0"/>
                <a:ea typeface="Calibri" pitchFamily="34" charset="-122"/>
                <a:cs typeface="Calibri" pitchFamily="34" charset="-120"/>
              </a:rPr>
              <a:t>Each change was small, did one thing, and said why.</a:t>
            </a:r>
            <a:endParaRPr lang="en-US" sz="1800" dirty="0"/>
          </a:p>
          <a:p>
            <a:pPr indent="0" marL="0">
              <a:spcAft>
                <a:spcPts val="600"/>
              </a:spcAft>
              <a:buNone/>
            </a:pPr>
            <a:r>
              <a:rPr lang="en-US" sz="1800" dirty="0">
                <a:solidFill>
                  <a:srgbClr val="FFFFFF"/>
                </a:solidFill>
                <a:latin typeface="Calibri" pitchFamily="34" charset="0"/>
                <a:ea typeface="Calibri" pitchFamily="34" charset="-122"/>
                <a:cs typeface="Calibri" pitchFamily="34" charset="-120"/>
              </a:rPr>
              <a:t>Conflicts are cheap when changes are small and the people making them communicate. That's the whole lesson, and it's why the loop insists on small pull requests.</a:t>
            </a:r>
            <a:endParaRPr lang="en-US" sz="1800" dirty="0"/>
          </a:p>
        </p:txBody>
      </p:sp>
      <p:sp>
        <p:nvSpPr>
          <p:cNvPr id="9" name="Text 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14 · Git Workflow Lab</a:t>
            </a:r>
            <a:endParaRPr lang="en-US" sz="1000" dirty="0"/>
          </a:p>
        </p:txBody>
      </p:sp>
      <p:sp>
        <p:nvSpPr>
          <p:cNvPr id="10" name="Text 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12</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PART 4 · YOUR PROJECT'S GIT STANDARDS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Decide, write down why, and ship it through the loop</a:t>
            </a:r>
            <a:endParaRPr lang="en-US" sz="3100" dirty="0"/>
          </a:p>
        </p:txBody>
      </p:sp>
      <p:sp>
        <p:nvSpPr>
          <p:cNvPr id="5" name="Shape 3"/>
          <p:cNvSpPr/>
          <p:nvPr/>
        </p:nvSpPr>
        <p:spPr>
          <a:xfrm>
            <a:off x="9646920" y="347472"/>
            <a:ext cx="1965960" cy="420624"/>
          </a:xfrm>
          <a:prstGeom prst="roundRect">
            <a:avLst>
              <a:gd name="adj" fmla="val 17391"/>
            </a:avLst>
          </a:prstGeom>
          <a:solidFill>
            <a:srgbClr val="14233A"/>
          </a:solidFill>
          <a:ln/>
        </p:spPr>
      </p:sp>
      <p:sp>
        <p:nvSpPr>
          <p:cNvPr id="6" name="Text 4"/>
          <p:cNvSpPr/>
          <p:nvPr/>
        </p:nvSpPr>
        <p:spPr>
          <a:xfrm>
            <a:off x="9646920" y="347472"/>
            <a:ext cx="1965960" cy="420624"/>
          </a:xfrm>
          <a:prstGeom prst="rect">
            <a:avLst/>
          </a:prstGeom>
          <a:noFill/>
          <a:ln/>
        </p:spPr>
        <p:txBody>
          <a:bodyPr wrap="square" lIns="0" tIns="0" rIns="0" bIns="0" rtlCol="0" anchor="ctr"/>
          <a:lstStyle/>
          <a:p>
            <a:pPr algn="ctr" indent="0" marL="0">
              <a:buNone/>
            </a:pPr>
            <a:r>
              <a:rPr lang="en-US" sz="1400" b="1" dirty="0">
                <a:solidFill>
                  <a:srgbClr val="E8A33D"/>
                </a:solidFill>
                <a:latin typeface="Calibri" pitchFamily="34" charset="0"/>
                <a:ea typeface="Calibri" pitchFamily="34" charset="-122"/>
                <a:cs typeface="Calibri" pitchFamily="34" charset="-120"/>
              </a:rPr>
              <a:t>Part 4 · 12 min</a:t>
            </a:r>
            <a:endParaRPr lang="en-US" sz="1400" dirty="0"/>
          </a:p>
        </p:txBody>
      </p:sp>
      <p:sp>
        <p:nvSpPr>
          <p:cNvPr id="7" name="Text 5"/>
          <p:cNvSpPr/>
          <p:nvPr/>
        </p:nvSpPr>
        <p:spPr>
          <a:xfrm>
            <a:off x="868680" y="1691640"/>
            <a:ext cx="2560320" cy="320040"/>
          </a:xfrm>
          <a:prstGeom prst="rect">
            <a:avLst/>
          </a:prstGeom>
          <a:noFill/>
          <a:ln/>
        </p:spPr>
        <p:txBody>
          <a:bodyPr wrap="square" lIns="0" tIns="0" rIns="0" bIns="0" rtlCol="0" anchor="ctr"/>
          <a:lstStyle/>
          <a:p>
            <a:pPr indent="0" marL="0">
              <a:buNone/>
            </a:pPr>
            <a:r>
              <a:rPr lang="en-US" sz="1400" b="1" dirty="0">
                <a:solidFill>
                  <a:srgbClr val="5F7284"/>
                </a:solidFill>
                <a:latin typeface="Calibri" pitchFamily="34" charset="0"/>
                <a:ea typeface="Calibri" pitchFamily="34" charset="-122"/>
                <a:cs typeface="Calibri" pitchFamily="34" charset="-120"/>
              </a:rPr>
              <a:t>Decision</a:t>
            </a:r>
            <a:endParaRPr lang="en-US" sz="1400" dirty="0"/>
          </a:p>
        </p:txBody>
      </p:sp>
      <p:sp>
        <p:nvSpPr>
          <p:cNvPr id="8" name="Text 6"/>
          <p:cNvSpPr/>
          <p:nvPr/>
        </p:nvSpPr>
        <p:spPr>
          <a:xfrm>
            <a:off x="3520440" y="1691640"/>
            <a:ext cx="3840480" cy="320040"/>
          </a:xfrm>
          <a:prstGeom prst="rect">
            <a:avLst/>
          </a:prstGeom>
          <a:noFill/>
          <a:ln/>
        </p:spPr>
        <p:txBody>
          <a:bodyPr wrap="square" lIns="0" tIns="0" rIns="0" bIns="0" rtlCol="0" anchor="ctr"/>
          <a:lstStyle/>
          <a:p>
            <a:pPr indent="0" marL="0">
              <a:buNone/>
            </a:pPr>
            <a:r>
              <a:rPr lang="en-US" sz="1400" b="1" dirty="0">
                <a:solidFill>
                  <a:srgbClr val="5F7284"/>
                </a:solidFill>
                <a:latin typeface="Calibri" pitchFamily="34" charset="0"/>
                <a:ea typeface="Calibri" pitchFamily="34" charset="-122"/>
                <a:cs typeface="Calibri" pitchFamily="34" charset="-120"/>
              </a:rPr>
              <a:t>Suggested default</a:t>
            </a:r>
            <a:endParaRPr lang="en-US" sz="1400" dirty="0"/>
          </a:p>
        </p:txBody>
      </p:sp>
      <p:sp>
        <p:nvSpPr>
          <p:cNvPr id="9" name="Text 7"/>
          <p:cNvSpPr/>
          <p:nvPr/>
        </p:nvSpPr>
        <p:spPr>
          <a:xfrm>
            <a:off x="7498080" y="1691640"/>
            <a:ext cx="3931920" cy="320040"/>
          </a:xfrm>
          <a:prstGeom prst="rect">
            <a:avLst/>
          </a:prstGeom>
          <a:noFill/>
          <a:ln/>
        </p:spPr>
        <p:txBody>
          <a:bodyPr wrap="square" lIns="0" tIns="0" rIns="0" bIns="0" rtlCol="0" anchor="ctr"/>
          <a:lstStyle/>
          <a:p>
            <a:pPr indent="0" marL="0">
              <a:buNone/>
            </a:pPr>
            <a:r>
              <a:rPr lang="en-US" sz="1400" b="1" dirty="0">
                <a:solidFill>
                  <a:srgbClr val="5F7284"/>
                </a:solidFill>
                <a:latin typeface="Calibri" pitchFamily="34" charset="0"/>
                <a:ea typeface="Calibri" pitchFamily="34" charset="-122"/>
                <a:cs typeface="Calibri" pitchFamily="34" charset="-120"/>
              </a:rPr>
              <a:t>Why</a:t>
            </a:r>
            <a:endParaRPr lang="en-US" sz="1400" dirty="0"/>
          </a:p>
        </p:txBody>
      </p:sp>
      <p:sp>
        <p:nvSpPr>
          <p:cNvPr id="10" name="Shape 8"/>
          <p:cNvSpPr/>
          <p:nvPr/>
        </p:nvSpPr>
        <p:spPr>
          <a:xfrm>
            <a:off x="548640" y="2057400"/>
            <a:ext cx="11064240" cy="457200"/>
          </a:xfrm>
          <a:prstGeom prst="roundRect">
            <a:avLst>
              <a:gd name="adj" fmla="val 18000"/>
            </a:avLst>
          </a:prstGeom>
          <a:solidFill>
            <a:srgbClr val="F2F6F8"/>
          </a:solidFill>
          <a:ln/>
          <a:effectLst>
            <a:outerShdw sx="100000" sy="100000" kx="0" ky="0" algn="bl" rotWithShape="0" blurRad="88900" dist="38100" dir="5400000">
              <a:srgbClr val="000000">
                <a:alpha val="13000"/>
              </a:srgbClr>
            </a:outerShdw>
          </a:effectLst>
        </p:spPr>
      </p:sp>
      <p:sp>
        <p:nvSpPr>
          <p:cNvPr id="11" name="Text 9"/>
          <p:cNvSpPr/>
          <p:nvPr/>
        </p:nvSpPr>
        <p:spPr>
          <a:xfrm>
            <a:off x="868680" y="2057400"/>
            <a:ext cx="2560320" cy="457200"/>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Branch names</a:t>
            </a:r>
            <a:endParaRPr lang="en-US" sz="1600" dirty="0"/>
          </a:p>
        </p:txBody>
      </p:sp>
      <p:sp>
        <p:nvSpPr>
          <p:cNvPr id="12" name="Text 10"/>
          <p:cNvSpPr/>
          <p:nvPr/>
        </p:nvSpPr>
        <p:spPr>
          <a:xfrm>
            <a:off x="3520440" y="2057400"/>
            <a:ext cx="3840480" cy="457200"/>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type/short-description</a:t>
            </a:r>
            <a:endParaRPr lang="en-US" sz="1600" dirty="0"/>
          </a:p>
        </p:txBody>
      </p:sp>
      <p:sp>
        <p:nvSpPr>
          <p:cNvPr id="13" name="Text 11"/>
          <p:cNvSpPr/>
          <p:nvPr/>
        </p:nvSpPr>
        <p:spPr>
          <a:xfrm>
            <a:off x="7498080" y="2057400"/>
            <a:ext cx="3931920" cy="457200"/>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Scannable branch lists</a:t>
            </a:r>
            <a:endParaRPr lang="en-US" sz="1500" dirty="0"/>
          </a:p>
        </p:txBody>
      </p:sp>
      <p:sp>
        <p:nvSpPr>
          <p:cNvPr id="14" name="Shape 12"/>
          <p:cNvSpPr/>
          <p:nvPr/>
        </p:nvSpPr>
        <p:spPr>
          <a:xfrm>
            <a:off x="548640" y="2587752"/>
            <a:ext cx="11064240" cy="457200"/>
          </a:xfrm>
          <a:prstGeom prst="roundRect">
            <a:avLst>
              <a:gd name="adj" fmla="val 18000"/>
            </a:avLst>
          </a:prstGeom>
          <a:solidFill>
            <a:srgbClr val="FFFFFF"/>
          </a:solidFill>
          <a:ln/>
          <a:effectLst>
            <a:outerShdw sx="100000" sy="100000" kx="0" ky="0" algn="bl" rotWithShape="0" blurRad="88900" dist="38100" dir="5400000">
              <a:srgbClr val="000000">
                <a:alpha val="13000"/>
              </a:srgbClr>
            </a:outerShdw>
          </a:effectLst>
        </p:spPr>
      </p:sp>
      <p:sp>
        <p:nvSpPr>
          <p:cNvPr id="15" name="Text 13"/>
          <p:cNvSpPr/>
          <p:nvPr/>
        </p:nvSpPr>
        <p:spPr>
          <a:xfrm>
            <a:off x="868680" y="2587752"/>
            <a:ext cx="2560320" cy="457200"/>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Commit messages</a:t>
            </a:r>
            <a:endParaRPr lang="en-US" sz="1600" dirty="0"/>
          </a:p>
        </p:txBody>
      </p:sp>
      <p:sp>
        <p:nvSpPr>
          <p:cNvPr id="16" name="Text 14"/>
          <p:cNvSpPr/>
          <p:nvPr/>
        </p:nvSpPr>
        <p:spPr>
          <a:xfrm>
            <a:off x="3520440" y="2587752"/>
            <a:ext cx="3840480" cy="457200"/>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The seven rules</a:t>
            </a:r>
            <a:endParaRPr lang="en-US" sz="1600" dirty="0"/>
          </a:p>
        </p:txBody>
      </p:sp>
      <p:sp>
        <p:nvSpPr>
          <p:cNvPr id="17" name="Text 15"/>
          <p:cNvSpPr/>
          <p:nvPr/>
        </p:nvSpPr>
        <p:spPr>
          <a:xfrm>
            <a:off x="7498080" y="2587752"/>
            <a:ext cx="3931920" cy="457200"/>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A readable log, and free release notes</a:t>
            </a:r>
            <a:endParaRPr lang="en-US" sz="1500" dirty="0"/>
          </a:p>
        </p:txBody>
      </p:sp>
      <p:sp>
        <p:nvSpPr>
          <p:cNvPr id="18" name="Shape 16"/>
          <p:cNvSpPr/>
          <p:nvPr/>
        </p:nvSpPr>
        <p:spPr>
          <a:xfrm>
            <a:off x="548640" y="3118104"/>
            <a:ext cx="11064240" cy="457200"/>
          </a:xfrm>
          <a:prstGeom prst="roundRect">
            <a:avLst>
              <a:gd name="adj" fmla="val 18000"/>
            </a:avLst>
          </a:prstGeom>
          <a:solidFill>
            <a:srgbClr val="F2F6F8"/>
          </a:solidFill>
          <a:ln/>
          <a:effectLst>
            <a:outerShdw sx="100000" sy="100000" kx="0" ky="0" algn="bl" rotWithShape="0" blurRad="88900" dist="38100" dir="5400000">
              <a:srgbClr val="000000">
                <a:alpha val="13000"/>
              </a:srgbClr>
            </a:outerShdw>
          </a:effectLst>
        </p:spPr>
      </p:sp>
      <p:sp>
        <p:nvSpPr>
          <p:cNvPr id="19" name="Text 17"/>
          <p:cNvSpPr/>
          <p:nvPr/>
        </p:nvSpPr>
        <p:spPr>
          <a:xfrm>
            <a:off x="868680" y="3118104"/>
            <a:ext cx="2560320" cy="457200"/>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PR size</a:t>
            </a:r>
            <a:endParaRPr lang="en-US" sz="1600" dirty="0"/>
          </a:p>
        </p:txBody>
      </p:sp>
      <p:sp>
        <p:nvSpPr>
          <p:cNvPr id="20" name="Text 18"/>
          <p:cNvSpPr/>
          <p:nvPr/>
        </p:nvSpPr>
        <p:spPr>
          <a:xfrm>
            <a:off x="3520440" y="3118104"/>
            <a:ext cx="3840480" cy="457200"/>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One logical change</a:t>
            </a:r>
            <a:endParaRPr lang="en-US" sz="1600" dirty="0"/>
          </a:p>
        </p:txBody>
      </p:sp>
      <p:sp>
        <p:nvSpPr>
          <p:cNvPr id="21" name="Text 19"/>
          <p:cNvSpPr/>
          <p:nvPr/>
        </p:nvSpPr>
        <p:spPr>
          <a:xfrm>
            <a:off x="7498080" y="3118104"/>
            <a:ext cx="3931920" cy="457200"/>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Big PRs get skimmed, not reviewed</a:t>
            </a:r>
            <a:endParaRPr lang="en-US" sz="1500" dirty="0"/>
          </a:p>
        </p:txBody>
      </p:sp>
      <p:sp>
        <p:nvSpPr>
          <p:cNvPr id="22" name="Shape 20"/>
          <p:cNvSpPr/>
          <p:nvPr/>
        </p:nvSpPr>
        <p:spPr>
          <a:xfrm>
            <a:off x="548640" y="3648456"/>
            <a:ext cx="11064240" cy="457200"/>
          </a:xfrm>
          <a:prstGeom prst="roundRect">
            <a:avLst>
              <a:gd name="adj" fmla="val 18000"/>
            </a:avLst>
          </a:prstGeom>
          <a:solidFill>
            <a:srgbClr val="FFFFFF"/>
          </a:solidFill>
          <a:ln/>
          <a:effectLst>
            <a:outerShdw sx="100000" sy="100000" kx="0" ky="0" algn="bl" rotWithShape="0" blurRad="88900" dist="38100" dir="5400000">
              <a:srgbClr val="000000">
                <a:alpha val="13000"/>
              </a:srgbClr>
            </a:outerShdw>
          </a:effectLst>
        </p:spPr>
      </p:sp>
      <p:sp>
        <p:nvSpPr>
          <p:cNvPr id="23" name="Text 21"/>
          <p:cNvSpPr/>
          <p:nvPr/>
        </p:nvSpPr>
        <p:spPr>
          <a:xfrm>
            <a:off x="868680" y="3648456"/>
            <a:ext cx="2560320" cy="457200"/>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Review</a:t>
            </a:r>
            <a:endParaRPr lang="en-US" sz="1600" dirty="0"/>
          </a:p>
        </p:txBody>
      </p:sp>
      <p:sp>
        <p:nvSpPr>
          <p:cNvPr id="24" name="Text 22"/>
          <p:cNvSpPr/>
          <p:nvPr/>
        </p:nvSpPr>
        <p:spPr>
          <a:xfrm>
            <a:off x="3520440" y="3648456"/>
            <a:ext cx="3840480" cy="457200"/>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One approval from a non-author</a:t>
            </a:r>
            <a:endParaRPr lang="en-US" sz="1600" dirty="0"/>
          </a:p>
        </p:txBody>
      </p:sp>
      <p:sp>
        <p:nvSpPr>
          <p:cNvPr id="25" name="Text 23"/>
          <p:cNvSpPr/>
          <p:nvPr/>
        </p:nvSpPr>
        <p:spPr>
          <a:xfrm>
            <a:off x="7498080" y="3648456"/>
            <a:ext cx="3931920" cy="457200"/>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A second reader is the point</a:t>
            </a:r>
            <a:endParaRPr lang="en-US" sz="1500" dirty="0"/>
          </a:p>
        </p:txBody>
      </p:sp>
      <p:sp>
        <p:nvSpPr>
          <p:cNvPr id="26" name="Shape 24"/>
          <p:cNvSpPr/>
          <p:nvPr/>
        </p:nvSpPr>
        <p:spPr>
          <a:xfrm>
            <a:off x="548640" y="4178808"/>
            <a:ext cx="11064240" cy="457200"/>
          </a:xfrm>
          <a:prstGeom prst="roundRect">
            <a:avLst>
              <a:gd name="adj" fmla="val 18000"/>
            </a:avLst>
          </a:prstGeom>
          <a:solidFill>
            <a:srgbClr val="F2F6F8"/>
          </a:solidFill>
          <a:ln/>
          <a:effectLst>
            <a:outerShdw sx="100000" sy="100000" kx="0" ky="0" algn="bl" rotWithShape="0" blurRad="88900" dist="38100" dir="5400000">
              <a:srgbClr val="000000">
                <a:alpha val="13000"/>
              </a:srgbClr>
            </a:outerShdw>
          </a:effectLst>
        </p:spPr>
      </p:sp>
      <p:sp>
        <p:nvSpPr>
          <p:cNvPr id="27" name="Text 25"/>
          <p:cNvSpPr/>
          <p:nvPr/>
        </p:nvSpPr>
        <p:spPr>
          <a:xfrm>
            <a:off x="868680" y="4178808"/>
            <a:ext cx="2560320" cy="457200"/>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Merge strategy</a:t>
            </a:r>
            <a:endParaRPr lang="en-US" sz="1600" dirty="0"/>
          </a:p>
        </p:txBody>
      </p:sp>
      <p:sp>
        <p:nvSpPr>
          <p:cNvPr id="28" name="Text 26"/>
          <p:cNvSpPr/>
          <p:nvPr/>
        </p:nvSpPr>
        <p:spPr>
          <a:xfrm>
            <a:off x="3520440" y="4178808"/>
            <a:ext cx="3840480" cy="457200"/>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Squash and merge</a:t>
            </a:r>
            <a:endParaRPr lang="en-US" sz="1600" dirty="0"/>
          </a:p>
        </p:txBody>
      </p:sp>
      <p:sp>
        <p:nvSpPr>
          <p:cNvPr id="29" name="Text 27"/>
          <p:cNvSpPr/>
          <p:nvPr/>
        </p:nvSpPr>
        <p:spPr>
          <a:xfrm>
            <a:off x="7498080" y="4178808"/>
            <a:ext cx="3931920" cy="457200"/>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Linear main; the PR keeps the steps</a:t>
            </a:r>
            <a:endParaRPr lang="en-US" sz="1500" dirty="0"/>
          </a:p>
        </p:txBody>
      </p:sp>
      <p:sp>
        <p:nvSpPr>
          <p:cNvPr id="30" name="Shape 28"/>
          <p:cNvSpPr/>
          <p:nvPr/>
        </p:nvSpPr>
        <p:spPr>
          <a:xfrm>
            <a:off x="548640" y="4709160"/>
            <a:ext cx="11064240" cy="457200"/>
          </a:xfrm>
          <a:prstGeom prst="roundRect">
            <a:avLst>
              <a:gd name="adj" fmla="val 18000"/>
            </a:avLst>
          </a:prstGeom>
          <a:solidFill>
            <a:srgbClr val="FFFFFF"/>
          </a:solidFill>
          <a:ln/>
          <a:effectLst>
            <a:outerShdw sx="100000" sy="100000" kx="0" ky="0" algn="bl" rotWithShape="0" blurRad="88900" dist="38100" dir="5400000">
              <a:srgbClr val="000000">
                <a:alpha val="13000"/>
              </a:srgbClr>
            </a:outerShdw>
          </a:effectLst>
        </p:spPr>
      </p:sp>
      <p:sp>
        <p:nvSpPr>
          <p:cNvPr id="31" name="Text 29"/>
          <p:cNvSpPr/>
          <p:nvPr/>
        </p:nvSpPr>
        <p:spPr>
          <a:xfrm>
            <a:off x="868680" y="4709160"/>
            <a:ext cx="2560320" cy="457200"/>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"Done"</a:t>
            </a:r>
            <a:endParaRPr lang="en-US" sz="1600" dirty="0"/>
          </a:p>
        </p:txBody>
      </p:sp>
      <p:sp>
        <p:nvSpPr>
          <p:cNvPr id="32" name="Text 30"/>
          <p:cNvSpPr/>
          <p:nvPr/>
        </p:nvSpPr>
        <p:spPr>
          <a:xfrm>
            <a:off x="3520440" y="4709160"/>
            <a:ext cx="3840480" cy="457200"/>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Reviewed, merged, runs, docs updated</a:t>
            </a:r>
            <a:endParaRPr lang="en-US" sz="1600" dirty="0"/>
          </a:p>
        </p:txBody>
      </p:sp>
      <p:sp>
        <p:nvSpPr>
          <p:cNvPr id="33" name="Text 31"/>
          <p:cNvSpPr/>
          <p:nvPr/>
        </p:nvSpPr>
        <p:spPr>
          <a:xfrm>
            <a:off x="7498080" y="4709160"/>
            <a:ext cx="3931920" cy="457200"/>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Not "done on my machine"</a:t>
            </a:r>
            <a:endParaRPr lang="en-US" sz="1500" dirty="0"/>
          </a:p>
        </p:txBody>
      </p:sp>
      <p:sp>
        <p:nvSpPr>
          <p:cNvPr id="34" name="Shape 32"/>
          <p:cNvSpPr/>
          <p:nvPr/>
        </p:nvSpPr>
        <p:spPr>
          <a:xfrm>
            <a:off x="548640" y="5349240"/>
            <a:ext cx="11064240" cy="822960"/>
          </a:xfrm>
          <a:prstGeom prst="roundRect">
            <a:avLst>
              <a:gd name="adj" fmla="val 10000"/>
            </a:avLst>
          </a:prstGeom>
          <a:solidFill>
            <a:srgbClr val="E8A33D"/>
          </a:solidFill>
          <a:ln/>
          <a:effectLst>
            <a:outerShdw sx="100000" sy="100000" kx="0" ky="0" algn="bl" rotWithShape="0" blurRad="88900" dist="38100" dir="5400000">
              <a:srgbClr val="000000">
                <a:alpha val="13000"/>
              </a:srgbClr>
            </a:outerShdw>
          </a:effectLst>
        </p:spPr>
      </p:sp>
      <p:sp>
        <p:nvSpPr>
          <p:cNvPr id="35" name="Text 33"/>
          <p:cNvSpPr/>
          <p:nvPr/>
        </p:nvSpPr>
        <p:spPr>
          <a:xfrm>
            <a:off x="868680" y="5349240"/>
            <a:ext cx="10424160" cy="822960"/>
          </a:xfrm>
          <a:prstGeom prst="rect">
            <a:avLst/>
          </a:prstGeom>
          <a:noFill/>
          <a:ln/>
        </p:spPr>
        <p:txBody>
          <a:bodyPr wrap="square" lIns="0" tIns="0" rIns="0" bIns="0" rtlCol="0" anchor="ctr"/>
          <a:lstStyle/>
          <a:p>
            <a:pPr indent="0" marL="0">
              <a:buNone/>
            </a:pPr>
            <a:r>
              <a:rPr lang="en-US" sz="1600" b="1" dirty="0">
                <a:solidFill>
                  <a:srgbClr val="14233A"/>
                </a:solidFill>
                <a:latin typeface="Consolas" pitchFamily="34" charset="0"/>
                <a:ea typeface="Consolas" pitchFamily="34" charset="-122"/>
                <a:cs typeface="Consolas" pitchFamily="34" charset="-120"/>
              </a:rPr>
              <a:t>docs/git-standards.md</a:t>
            </a:r>
            <a:pPr indent="0" marL="0">
              <a:buNone/>
            </a:pPr>
            <a:r>
              <a:rPr lang="en-US" sz="1600" b="1" dirty="0">
                <a:solidFill>
                  <a:srgbClr val="14233A"/>
                </a:solidFill>
                <a:latin typeface="Calibri" pitchFamily="34" charset="0"/>
                <a:ea typeface="Calibri" pitchFamily="34" charset="-122"/>
                <a:cs typeface="Calibri" pitchFamily="34" charset="-120"/>
              </a:rPr>
              <a:t> · one line of why per decision · a branch, a PR, a review · and merge it the way it says.</a:t>
            </a:r>
            <a:endParaRPr lang="en-US" sz="1600" dirty="0"/>
          </a:p>
        </p:txBody>
      </p:sp>
      <p:sp>
        <p:nvSpPr>
          <p:cNvPr id="36" name="Text 3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14 · Git Workflow Lab</a:t>
            </a:r>
            <a:endParaRPr lang="en-US" sz="1000" dirty="0"/>
          </a:p>
        </p:txBody>
      </p:sp>
      <p:sp>
        <p:nvSpPr>
          <p:cNvPr id="37" name="Text 3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BEFORE YOU LEAVE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Collect your links: the repository is the submission</a:t>
            </a:r>
            <a:endParaRPr lang="en-US" sz="3100" dirty="0"/>
          </a:p>
        </p:txBody>
      </p:sp>
      <p:sp>
        <p:nvSpPr>
          <p:cNvPr id="5" name="Shape 3"/>
          <p:cNvSpPr/>
          <p:nvPr/>
        </p:nvSpPr>
        <p:spPr>
          <a:xfrm>
            <a:off x="548640" y="1783080"/>
            <a:ext cx="694944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685800" y="1874520"/>
            <a:ext cx="365760" cy="365760"/>
          </a:xfrm>
          <a:prstGeom prst="ellipse">
            <a:avLst/>
          </a:prstGeom>
          <a:solidFill>
            <a:srgbClr val="3E9C6B"/>
          </a:solidFill>
          <a:ln/>
        </p:spPr>
      </p:sp>
      <p:pic>
        <p:nvPicPr>
          <p:cNvPr id="7" name="Image 0" descr="preencoded.png">    </p:cNvPr>
          <p:cNvPicPr>
            <a:picLocks noChangeAspect="1"/>
          </p:cNvPicPr>
          <p:nvPr/>
        </p:nvPicPr>
        <p:blipFill>
          <a:blip r:embed="rId1"/>
          <a:stretch>
            <a:fillRect/>
          </a:stretch>
        </p:blipFill>
        <p:spPr>
          <a:xfrm>
            <a:off x="784555" y="1973275"/>
            <a:ext cx="168250" cy="168250"/>
          </a:xfrm>
          <a:prstGeom prst="rect">
            <a:avLst/>
          </a:prstGeom>
        </p:spPr>
      </p:pic>
      <p:sp>
        <p:nvSpPr>
          <p:cNvPr id="8" name="Text 5"/>
          <p:cNvSpPr/>
          <p:nvPr/>
        </p:nvSpPr>
        <p:spPr>
          <a:xfrm>
            <a:off x="1234440" y="1783080"/>
            <a:ext cx="6126480" cy="548640"/>
          </a:xfrm>
          <a:prstGeom prst="rect">
            <a:avLst/>
          </a:prstGeom>
          <a:noFill/>
          <a:ln/>
        </p:spPr>
        <p:txBody>
          <a:bodyPr wrap="square" lIns="0" tIns="0" rIns="0" bIns="0" rtlCol="0" anchor="ctr"/>
          <a:lstStyle/>
          <a:p>
            <a:pPr indent="0" marL="0">
              <a:buNone/>
            </a:pPr>
            <a:r>
              <a:rPr lang="en-US" sz="1650" dirty="0">
                <a:solidFill>
                  <a:srgbClr val="1E2A36"/>
                </a:solidFill>
                <a:latin typeface="Calibri" pitchFamily="34" charset="0"/>
                <a:ea typeface="Calibri" pitchFamily="34" charset="-122"/>
                <a:cs typeface="Calibri" pitchFamily="34" charset="-120"/>
              </a:rPr>
              <a:t>The issue you filed</a:t>
            </a:r>
            <a:endParaRPr lang="en-US" sz="1650" dirty="0"/>
          </a:p>
        </p:txBody>
      </p:sp>
      <p:sp>
        <p:nvSpPr>
          <p:cNvPr id="9" name="Shape 6"/>
          <p:cNvSpPr/>
          <p:nvPr/>
        </p:nvSpPr>
        <p:spPr>
          <a:xfrm>
            <a:off x="548640" y="2423160"/>
            <a:ext cx="694944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685800" y="2514600"/>
            <a:ext cx="365760" cy="365760"/>
          </a:xfrm>
          <a:prstGeom prst="ellipse">
            <a:avLst/>
          </a:prstGeom>
          <a:solidFill>
            <a:srgbClr val="3E9C6B"/>
          </a:solidFill>
          <a:ln/>
        </p:spPr>
      </p:sp>
      <p:pic>
        <p:nvPicPr>
          <p:cNvPr id="11" name="Image 1" descr="preencoded.png">    </p:cNvPr>
          <p:cNvPicPr>
            <a:picLocks noChangeAspect="1"/>
          </p:cNvPicPr>
          <p:nvPr/>
        </p:nvPicPr>
        <p:blipFill>
          <a:blip r:embed="rId2"/>
          <a:stretch>
            <a:fillRect/>
          </a:stretch>
        </p:blipFill>
        <p:spPr>
          <a:xfrm>
            <a:off x="784555" y="2613355"/>
            <a:ext cx="168250" cy="168250"/>
          </a:xfrm>
          <a:prstGeom prst="rect">
            <a:avLst/>
          </a:prstGeom>
        </p:spPr>
      </p:pic>
      <p:sp>
        <p:nvSpPr>
          <p:cNvPr id="12" name="Text 8"/>
          <p:cNvSpPr/>
          <p:nvPr/>
        </p:nvSpPr>
        <p:spPr>
          <a:xfrm>
            <a:off x="1234440" y="2423160"/>
            <a:ext cx="6126480" cy="548640"/>
          </a:xfrm>
          <a:prstGeom prst="rect">
            <a:avLst/>
          </a:prstGeom>
          <a:noFill/>
          <a:ln/>
        </p:spPr>
        <p:txBody>
          <a:bodyPr wrap="square" lIns="0" tIns="0" rIns="0" bIns="0" rtlCol="0" anchor="ctr"/>
          <a:lstStyle/>
          <a:p>
            <a:pPr indent="0" marL="0">
              <a:buNone/>
            </a:pPr>
            <a:r>
              <a:rPr lang="en-US" sz="1650" dirty="0">
                <a:solidFill>
                  <a:srgbClr val="1E2A36"/>
                </a:solidFill>
                <a:latin typeface="Calibri" pitchFamily="34" charset="0"/>
                <a:ea typeface="Calibri" pitchFamily="34" charset="-122"/>
                <a:cs typeface="Calibri" pitchFamily="34" charset="-120"/>
              </a:rPr>
              <a:t>Your pull request, merged, every comment answered</a:t>
            </a:r>
            <a:endParaRPr lang="en-US" sz="1650" dirty="0"/>
          </a:p>
        </p:txBody>
      </p:sp>
      <p:sp>
        <p:nvSpPr>
          <p:cNvPr id="13" name="Shape 9"/>
          <p:cNvSpPr/>
          <p:nvPr/>
        </p:nvSpPr>
        <p:spPr>
          <a:xfrm>
            <a:off x="548640" y="3063240"/>
            <a:ext cx="694944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14" name="Shape 10"/>
          <p:cNvSpPr/>
          <p:nvPr/>
        </p:nvSpPr>
        <p:spPr>
          <a:xfrm>
            <a:off x="685800" y="3154680"/>
            <a:ext cx="365760" cy="365760"/>
          </a:xfrm>
          <a:prstGeom prst="ellipse">
            <a:avLst/>
          </a:prstGeom>
          <a:solidFill>
            <a:srgbClr val="3E9C6B"/>
          </a:solidFill>
          <a:ln/>
        </p:spPr>
      </p:sp>
      <p:pic>
        <p:nvPicPr>
          <p:cNvPr id="15" name="Image 2" descr="preencoded.png">    </p:cNvPr>
          <p:cNvPicPr>
            <a:picLocks noChangeAspect="1"/>
          </p:cNvPicPr>
          <p:nvPr/>
        </p:nvPicPr>
        <p:blipFill>
          <a:blip r:embed="rId3"/>
          <a:stretch>
            <a:fillRect/>
          </a:stretch>
        </p:blipFill>
        <p:spPr>
          <a:xfrm>
            <a:off x="784555" y="3253435"/>
            <a:ext cx="168250" cy="168250"/>
          </a:xfrm>
          <a:prstGeom prst="rect">
            <a:avLst/>
          </a:prstGeom>
        </p:spPr>
      </p:pic>
      <p:sp>
        <p:nvSpPr>
          <p:cNvPr id="16" name="Text 11"/>
          <p:cNvSpPr/>
          <p:nvPr/>
        </p:nvSpPr>
        <p:spPr>
          <a:xfrm>
            <a:off x="1234440" y="3063240"/>
            <a:ext cx="6126480" cy="548640"/>
          </a:xfrm>
          <a:prstGeom prst="rect">
            <a:avLst/>
          </a:prstGeom>
          <a:noFill/>
          <a:ln/>
        </p:spPr>
        <p:txBody>
          <a:bodyPr wrap="square" lIns="0" tIns="0" rIns="0" bIns="0" rtlCol="0" anchor="ctr"/>
          <a:lstStyle/>
          <a:p>
            <a:pPr indent="0" marL="0">
              <a:buNone/>
            </a:pPr>
            <a:r>
              <a:rPr lang="en-US" sz="1650" dirty="0">
                <a:solidFill>
                  <a:srgbClr val="1E2A36"/>
                </a:solidFill>
                <a:latin typeface="Calibri" pitchFamily="34" charset="0"/>
                <a:ea typeface="Calibri" pitchFamily="34" charset="-122"/>
                <a:cs typeface="Calibri" pitchFamily="34" charset="-120"/>
              </a:rPr>
              <a:t>The review you wrote on someone else's pull request</a:t>
            </a:r>
            <a:endParaRPr lang="en-US" sz="1650" dirty="0"/>
          </a:p>
        </p:txBody>
      </p:sp>
      <p:sp>
        <p:nvSpPr>
          <p:cNvPr id="17" name="Shape 12"/>
          <p:cNvSpPr/>
          <p:nvPr/>
        </p:nvSpPr>
        <p:spPr>
          <a:xfrm>
            <a:off x="548640" y="3703320"/>
            <a:ext cx="694944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18" name="Shape 13"/>
          <p:cNvSpPr/>
          <p:nvPr/>
        </p:nvSpPr>
        <p:spPr>
          <a:xfrm>
            <a:off x="685800" y="3794760"/>
            <a:ext cx="365760" cy="365760"/>
          </a:xfrm>
          <a:prstGeom prst="ellipse">
            <a:avLst/>
          </a:prstGeom>
          <a:solidFill>
            <a:srgbClr val="3E9C6B"/>
          </a:solidFill>
          <a:ln/>
        </p:spPr>
      </p:sp>
      <p:pic>
        <p:nvPicPr>
          <p:cNvPr id="19" name="Image 3" descr="preencoded.png">    </p:cNvPr>
          <p:cNvPicPr>
            <a:picLocks noChangeAspect="1"/>
          </p:cNvPicPr>
          <p:nvPr/>
        </p:nvPicPr>
        <p:blipFill>
          <a:blip r:embed="rId4"/>
          <a:stretch>
            <a:fillRect/>
          </a:stretch>
        </p:blipFill>
        <p:spPr>
          <a:xfrm>
            <a:off x="784555" y="3893515"/>
            <a:ext cx="168250" cy="168250"/>
          </a:xfrm>
          <a:prstGeom prst="rect">
            <a:avLst/>
          </a:prstGeom>
        </p:spPr>
      </p:pic>
      <p:sp>
        <p:nvSpPr>
          <p:cNvPr id="20" name="Text 14"/>
          <p:cNvSpPr/>
          <p:nvPr/>
        </p:nvSpPr>
        <p:spPr>
          <a:xfrm>
            <a:off x="1234440" y="3703320"/>
            <a:ext cx="6126480" cy="548640"/>
          </a:xfrm>
          <a:prstGeom prst="rect">
            <a:avLst/>
          </a:prstGeom>
          <a:noFill/>
          <a:ln/>
        </p:spPr>
        <p:txBody>
          <a:bodyPr wrap="square" lIns="0" tIns="0" rIns="0" bIns="0" rtlCol="0" anchor="ctr"/>
          <a:lstStyle/>
          <a:p>
            <a:pPr indent="0" marL="0">
              <a:buNone/>
            </a:pPr>
            <a:r>
              <a:rPr lang="en-US" sz="1650" dirty="0">
                <a:solidFill>
                  <a:srgbClr val="1E2A36"/>
                </a:solidFill>
                <a:latin typeface="Calibri" pitchFamily="34" charset="0"/>
                <a:ea typeface="Calibri" pitchFamily="34" charset="-122"/>
                <a:cs typeface="Calibri" pitchFamily="34" charset="-120"/>
              </a:rPr>
              <a:t>The conflict-resolving pull request (per project)</a:t>
            </a:r>
            <a:endParaRPr lang="en-US" sz="1650" dirty="0"/>
          </a:p>
        </p:txBody>
      </p:sp>
      <p:sp>
        <p:nvSpPr>
          <p:cNvPr id="21" name="Shape 15"/>
          <p:cNvSpPr/>
          <p:nvPr/>
        </p:nvSpPr>
        <p:spPr>
          <a:xfrm>
            <a:off x="548640" y="4343400"/>
            <a:ext cx="694944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22" name="Shape 16"/>
          <p:cNvSpPr/>
          <p:nvPr/>
        </p:nvSpPr>
        <p:spPr>
          <a:xfrm>
            <a:off x="685800" y="4434840"/>
            <a:ext cx="365760" cy="365760"/>
          </a:xfrm>
          <a:prstGeom prst="ellipse">
            <a:avLst/>
          </a:prstGeom>
          <a:solidFill>
            <a:srgbClr val="3E9C6B"/>
          </a:solidFill>
          <a:ln/>
        </p:spPr>
      </p:sp>
      <p:pic>
        <p:nvPicPr>
          <p:cNvPr id="23" name="Image 4" descr="preencoded.png">    </p:cNvPr>
          <p:cNvPicPr>
            <a:picLocks noChangeAspect="1"/>
          </p:cNvPicPr>
          <p:nvPr/>
        </p:nvPicPr>
        <p:blipFill>
          <a:blip r:embed="rId5"/>
          <a:stretch>
            <a:fillRect/>
          </a:stretch>
        </p:blipFill>
        <p:spPr>
          <a:xfrm>
            <a:off x="784555" y="4533595"/>
            <a:ext cx="168250" cy="168250"/>
          </a:xfrm>
          <a:prstGeom prst="rect">
            <a:avLst/>
          </a:prstGeom>
        </p:spPr>
      </p:pic>
      <p:sp>
        <p:nvSpPr>
          <p:cNvPr id="24" name="Text 17"/>
          <p:cNvSpPr/>
          <p:nvPr/>
        </p:nvSpPr>
        <p:spPr>
          <a:xfrm>
            <a:off x="1234440" y="4343400"/>
            <a:ext cx="6126480" cy="548640"/>
          </a:xfrm>
          <a:prstGeom prst="rect">
            <a:avLst/>
          </a:prstGeom>
          <a:noFill/>
          <a:ln/>
        </p:spPr>
        <p:txBody>
          <a:bodyPr wrap="square" lIns="0" tIns="0" rIns="0" bIns="0" rtlCol="0" anchor="ctr"/>
          <a:lstStyle/>
          <a:p>
            <a:pPr indent="0" marL="0">
              <a:buNone/>
            </a:pPr>
            <a:r>
              <a:rPr lang="en-US" sz="1650" dirty="0">
                <a:solidFill>
                  <a:srgbClr val="1E2A36"/>
                </a:solidFill>
                <a:latin typeface="Calibri" pitchFamily="34" charset="0"/>
                <a:ea typeface="Calibri" pitchFamily="34" charset="-122"/>
                <a:cs typeface="Calibri" pitchFamily="34" charset="-120"/>
              </a:rPr>
              <a:t>docs/git-standards.md on main (per project)</a:t>
            </a:r>
            <a:endParaRPr lang="en-US" sz="1650" dirty="0"/>
          </a:p>
        </p:txBody>
      </p:sp>
      <p:sp>
        <p:nvSpPr>
          <p:cNvPr id="25" name="Shape 18"/>
          <p:cNvSpPr/>
          <p:nvPr/>
        </p:nvSpPr>
        <p:spPr>
          <a:xfrm>
            <a:off x="7726680" y="1783080"/>
            <a:ext cx="3886200" cy="2331720"/>
          </a:xfrm>
          <a:prstGeom prst="roundRect">
            <a:avLst>
              <a:gd name="adj" fmla="val 3529"/>
            </a:avLst>
          </a:prstGeom>
          <a:solidFill>
            <a:srgbClr val="14233A"/>
          </a:solidFill>
          <a:ln/>
          <a:effectLst>
            <a:outerShdw sx="100000" sy="100000" kx="0" ky="0" algn="bl" rotWithShape="0" blurRad="88900" dist="38100" dir="5400000">
              <a:srgbClr val="000000">
                <a:alpha val="13000"/>
              </a:srgbClr>
            </a:outerShdw>
          </a:effectLst>
        </p:spPr>
      </p:sp>
      <p:sp>
        <p:nvSpPr>
          <p:cNvPr id="26" name="Text 19"/>
          <p:cNvSpPr/>
          <p:nvPr/>
        </p:nvSpPr>
        <p:spPr>
          <a:xfrm>
            <a:off x="8001000" y="1965960"/>
            <a:ext cx="3383280" cy="36576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DUE END OF DAY TODAY</a:t>
            </a:r>
            <a:endParaRPr lang="en-US" sz="1400" dirty="0"/>
          </a:p>
        </p:txBody>
      </p:sp>
      <p:sp>
        <p:nvSpPr>
          <p:cNvPr id="27" name="Text 20"/>
          <p:cNvSpPr/>
          <p:nvPr/>
        </p:nvSpPr>
        <p:spPr>
          <a:xfrm>
            <a:off x="8001000" y="2423160"/>
            <a:ext cx="3383280" cy="16002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CP6 · Git Workflow Lab</a:t>
            </a:r>
            <a:endParaRPr lang="en-US" sz="1700" dirty="0"/>
          </a:p>
          <a:p>
            <a:pPr indent="0" marL="0">
              <a:spcAft>
                <a:spcPts val="1400"/>
              </a:spcAft>
              <a:buNone/>
            </a:pPr>
            <a:r>
              <a:rPr lang="en-US" sz="1700" dirty="0">
                <a:solidFill>
                  <a:srgbClr val="CFE0E9"/>
                </a:solidFill>
                <a:latin typeface="Calibri" pitchFamily="34" charset="0"/>
                <a:ea typeface="Calibri" pitchFamily="34" charset="-122"/>
                <a:cs typeface="Calibri" pitchFamily="34" charset="-120"/>
              </a:rPr>
              <a:t>the repo URL and these links</a:t>
            </a:r>
            <a:endParaRPr lang="en-US" sz="1700" dirty="0"/>
          </a:p>
          <a:p>
            <a:pPr indent="0" marL="0">
              <a:buNone/>
            </a:pPr>
            <a:r>
              <a:rPr lang="en-US" sz="1700" b="1" dirty="0">
                <a:solidFill>
                  <a:srgbClr val="FFFFFF"/>
                </a:solidFill>
                <a:latin typeface="Calibri" pitchFamily="34" charset="0"/>
                <a:ea typeface="Calibri" pitchFamily="34" charset="-122"/>
                <a:cs typeface="Calibri" pitchFamily="34" charset="-120"/>
              </a:rPr>
              <a:t>CP5 · Design Document</a:t>
            </a:r>
            <a:endParaRPr lang="en-US" sz="1700" dirty="0"/>
          </a:p>
          <a:p>
            <a:pPr indent="0" marL="0">
              <a:buNone/>
            </a:pPr>
            <a:r>
              <a:rPr lang="en-US" sz="1700" dirty="0">
                <a:solidFill>
                  <a:srgbClr val="CFE0E9"/>
                </a:solidFill>
                <a:latin typeface="Calibri" pitchFamily="34" charset="0"/>
                <a:ea typeface="Calibri" pitchFamily="34" charset="-122"/>
                <a:cs typeface="Calibri" pitchFamily="34" charset="-120"/>
              </a:rPr>
              <a:t>the revised version, merged</a:t>
            </a:r>
            <a:endParaRPr lang="en-US" sz="1700" dirty="0"/>
          </a:p>
        </p:txBody>
      </p:sp>
      <p:sp>
        <p:nvSpPr>
          <p:cNvPr id="28" name="Text 21"/>
          <p:cNvSpPr/>
          <p:nvPr/>
        </p:nvSpPr>
        <p:spPr>
          <a:xfrm>
            <a:off x="548640" y="5257800"/>
            <a:ext cx="11064240" cy="731520"/>
          </a:xfrm>
          <a:prstGeom prst="rect">
            <a:avLst/>
          </a:prstGeom>
          <a:noFill/>
          <a:ln/>
        </p:spPr>
        <p:txBody>
          <a:bodyPr wrap="square" lIns="0" tIns="0" rIns="0" bIns="0" rtlCol="0" anchor="ctr"/>
          <a:lstStyle/>
          <a:p>
            <a:pPr indent="0" marL="0">
              <a:buNone/>
            </a:pPr>
            <a:r>
              <a:rPr lang="en-US" sz="1600" i="1" dirty="0">
                <a:solidFill>
                  <a:srgbClr val="5F7284"/>
                </a:solidFill>
                <a:latin typeface="Calibri" pitchFamily="34" charset="0"/>
                <a:ea typeface="Calibri" pitchFamily="34" charset="-122"/>
                <a:cs typeface="Calibri" pitchFamily="34" charset="-120"/>
              </a:rPr>
              <a:t>Keep these links: a good pull request description and review comment are portfolio material.</a:t>
            </a:r>
            <a:endParaRPr lang="en-US" sz="1600" dirty="0"/>
          </a:p>
        </p:txBody>
      </p:sp>
      <p:sp>
        <p:nvSpPr>
          <p:cNvPr id="29" name="Text 2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14 · Git Workflow Lab</a:t>
            </a:r>
            <a:endParaRPr lang="en-US" sz="1000" dirty="0"/>
          </a:p>
        </p:txBody>
      </p:sp>
      <p:sp>
        <p:nvSpPr>
          <p:cNvPr id="30" name="Text 2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051560"/>
            <a:ext cx="777240" cy="77724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32815" y="1261415"/>
            <a:ext cx="357530" cy="357530"/>
          </a:xfrm>
          <a:prstGeom prst="rect">
            <a:avLst/>
          </a:prstGeom>
        </p:spPr>
      </p:pic>
      <p:sp>
        <p:nvSpPr>
          <p:cNvPr id="5" name="Text 2"/>
          <p:cNvSpPr/>
          <p:nvPr/>
        </p:nvSpPr>
        <p:spPr>
          <a:xfrm>
            <a:off x="822960" y="1965960"/>
            <a:ext cx="10881360" cy="960120"/>
          </a:xfrm>
          <a:prstGeom prst="rect">
            <a:avLst/>
          </a:prstGeom>
          <a:noFill/>
          <a:ln/>
        </p:spPr>
        <p:txBody>
          <a:bodyPr wrap="square" lIns="0" tIns="0" rIns="0" bIns="0" rtlCol="0" anchor="ctr"/>
          <a:lstStyle/>
          <a:p>
            <a:pPr indent="0" marL="0">
              <a:lnSpc>
                <a:spcPct val="106000"/>
              </a:lnSpc>
              <a:buNone/>
            </a:pPr>
            <a:r>
              <a:rPr lang="en-US" sz="2700" b="1" i="1" dirty="0">
                <a:solidFill>
                  <a:srgbClr val="FFFFFF"/>
                </a:solidFill>
                <a:latin typeface="Cambria" pitchFamily="34" charset="0"/>
                <a:ea typeface="Cambria" pitchFamily="34" charset="-122"/>
                <a:cs typeface="Cambria" pitchFamily="34" charset="-120"/>
              </a:rPr>
              <a:t>From now on, every change to your project travels this loop.</a:t>
            </a:r>
            <a:endParaRPr lang="en-US" sz="2700" dirty="0"/>
          </a:p>
        </p:txBody>
      </p:sp>
      <p:sp>
        <p:nvSpPr>
          <p:cNvPr id="6" name="Text 3"/>
          <p:cNvSpPr/>
          <p:nvPr/>
        </p:nvSpPr>
        <p:spPr>
          <a:xfrm>
            <a:off x="841248" y="310896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MONDAY, OCT 26 · YOUR PROJECT'S FRONT DOOR</a:t>
            </a:r>
            <a:endParaRPr lang="en-US" sz="1400" dirty="0"/>
          </a:p>
        </p:txBody>
      </p:sp>
      <p:sp>
        <p:nvSpPr>
          <p:cNvPr id="7" name="Text 4"/>
          <p:cNvSpPr/>
          <p:nvPr/>
        </p:nvSpPr>
        <p:spPr>
          <a:xfrm>
            <a:off x="868680" y="3520440"/>
            <a:ext cx="10698480" cy="1600200"/>
          </a:xfrm>
          <a:prstGeom prst="rect">
            <a:avLst/>
          </a:prstGeom>
          <a:noFill/>
          <a:ln/>
        </p:spPr>
        <p:txBody>
          <a:bodyPr wrap="square" lIns="0" tIns="0" rIns="0" bIns="0" rtlCol="0" anchor="t"/>
          <a:lstStyle/>
          <a:p>
            <a:pPr marL="203200" indent="-203200">
              <a:spcAft>
                <a:spcPts val="700"/>
              </a:spcAft>
              <a:buSzPct val="100000"/>
              <a:buChar char="•"/>
            </a:pPr>
            <a:r>
              <a:rPr lang="en-US" sz="1700" dirty="0">
                <a:solidFill>
                  <a:srgbClr val="CBD8E6"/>
                </a:solidFill>
                <a:latin typeface="Calibri" pitchFamily="34" charset="0"/>
                <a:ea typeface="Calibri" pitchFamily="34" charset="-122"/>
                <a:cs typeface="Calibri" pitchFamily="34" charset="-120"/>
              </a:rPr>
              <a:t>What a stranger finds when they arrive: README, LICENSE, CONTRIBUTING, code of conduct</a:t>
            </a:r>
            <a:endParaRPr lang="en-US" sz="1700" dirty="0"/>
          </a:p>
          <a:p>
            <a:pPr marL="203200" indent="-203200">
              <a:spcAft>
                <a:spcPts val="700"/>
              </a:spcAft>
              <a:buSzPct val="100000"/>
              <a:buChar char="•"/>
            </a:pPr>
            <a:r>
              <a:rPr lang="en-US" sz="1700" dirty="0">
                <a:solidFill>
                  <a:srgbClr val="CBD8E6"/>
                </a:solidFill>
                <a:latin typeface="Calibri" pitchFamily="34" charset="0"/>
                <a:ea typeface="Calibri" pitchFamily="34" charset="-122"/>
                <a:cs typeface="Calibri" pitchFamily="34" charset="-120"/>
              </a:rPr>
              <a:t>The anatomy of a good issue, held up against the ones you filed today</a:t>
            </a:r>
            <a:endParaRPr lang="en-US" sz="1700" dirty="0"/>
          </a:p>
          <a:p>
            <a:pPr marL="203200" indent="-203200">
              <a:buSzPct val="100000"/>
              <a:buChar char="•"/>
            </a:pPr>
            <a:r>
              <a:rPr lang="en-US" sz="1700" dirty="0">
                <a:solidFill>
                  <a:srgbClr val="CBD8E6"/>
                </a:solidFill>
                <a:latin typeface="Calibri" pitchFamily="34" charset="0"/>
                <a:ea typeface="Calibri" pitchFamily="34" charset="-122"/>
                <a:cs typeface="Calibri" pitchFamily="34" charset="-120"/>
              </a:rPr>
              <a:t>Today's standards become the heart of your CONTRIBUTING.md</a:t>
            </a:r>
            <a:endParaRPr lang="en-US" sz="1700" dirty="0"/>
          </a:p>
        </p:txBody>
      </p:sp>
      <p:sp>
        <p:nvSpPr>
          <p:cNvPr id="8" name="Shape 5"/>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9" name="Text 6"/>
          <p:cNvSpPr/>
          <p:nvPr/>
        </p:nvSpPr>
        <p:spPr>
          <a:xfrm>
            <a:off x="822960" y="5440680"/>
            <a:ext cx="10515600" cy="731520"/>
          </a:xfrm>
          <a:prstGeom prst="rect">
            <a:avLst/>
          </a:prstGeom>
          <a:noFill/>
          <a:ln/>
        </p:spPr>
        <p:txBody>
          <a:bodyPr wrap="square" lIns="0" tIns="0" rIns="0" bIns="0" rtlCol="0" anchor="ctr"/>
          <a:lstStyle/>
          <a:p>
            <a:pPr algn="ctr" indent="0" marL="0">
              <a:buNone/>
            </a:pPr>
            <a:r>
              <a:rPr lang="en-US" sz="1550" b="1" dirty="0">
                <a:solidFill>
                  <a:srgbClr val="14233A"/>
                </a:solidFill>
                <a:latin typeface="Calibri" pitchFamily="34" charset="0"/>
                <a:ea typeface="Calibri" pitchFamily="34" charset="-122"/>
                <a:cs typeface="Calibri" pitchFamily="34" charset="-120"/>
              </a:rPr>
              <a:t>The reading is on the Session 15 page.</a:t>
            </a:r>
            <a:endParaRPr lang="en-US" sz="1550" dirty="0"/>
          </a:p>
        </p:txBody>
      </p:sp>
      <p:sp>
        <p:nvSpPr>
          <p:cNvPr id="10" name="Text 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14 · Git Workflow Lab</a:t>
            </a:r>
            <a:endParaRPr lang="en-US" sz="1000" dirty="0"/>
          </a:p>
        </p:txBody>
      </p:sp>
      <p:sp>
        <p:nvSpPr>
          <p:cNvPr id="11" name="Text 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14 — Git Workflow Lab</dc:title>
  <dc:subject>PptxGenJS Presentation</dc:subject>
  <dc:creator>CS 301R</dc:creator>
  <cp:lastModifiedBy>CS 301R</cp:lastModifiedBy>
  <cp:revision>1</cp:revision>
  <dcterms:created xsi:type="dcterms:W3CDTF">2026-10-02T17:04:06Z</dcterms:created>
  <dcterms:modified xsi:type="dcterms:W3CDTF">2026-10-02T17:04:06Z</dcterms:modified>
</cp:coreProperties>
</file>