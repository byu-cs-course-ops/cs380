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61520" cy="6858000"/>
  <p:notesSz cx="6858000" cy="1216152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out evaluation half-sheets at the door — one per pitch each student will watch, plus a spare. Check slides are loaded before the first minute is gone; no dongle fiddling once the clock starts. Open with one line: this is the hinge of the course, individual work ends today, and everyone in the room has two jobs — pitch well and evaluate honestly. Keep this slide up for under a minute; the day belongs to the pitches.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five blocks in one breath so nobody wonders what happens after the pitches. The split is the idea to land: evaluating is live, committing waits for the documents — the same diverge-then-converge discipline the course has asked for since Week 1, applied to the biggest decision of the semester. The pitch block is sized for about eight pitches. With a smaller class the block runs short — spend the slack on longer, better Q&amp;A rather than ending early; with a larger one, the split plan announced in Session 9 applies.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each rule once and move on — they were announced in Session 9, so this is a reminder, not new material. The clock rule is the one to enforce from the first pitch: if the first presenter runs long, every later presenter learns the limit is soft. Cut Q&amp;A before you ever cut a pitch. The keep-your-scores rule matters more than it sounds; two students comparing numbers between pitches quietly turn seven independent evaluations into one. You'll ask one question per pitch yourself if the room doesn't.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same seven criteria students have scored their own ideas against since Week 3, and the same wording as the half-sheet in their hands — say so, because familiarity is what makes the scores comparable. Don't re-teach them; Session 9 did the calibration with the costume-catalog example. Land the three rules in the band. The one that fails most on the day is 'score the evidence': a fluent, confident presenter pulls feasibility scores up whether or not the risks were named. A pitch can be a 3 on value and a 1 on scope realism, and that is exactly the signal selection needs.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Restate the outside-observer rule before the first pitch — the outline asks for it explicitly, because every evaluator is also a presenter and the defensive 'no' is the path of least resistance. Before you click, ask the room: what makes a 'why' line useful to the person who pitched? Take one or two answers, then click to reveal the two cards. The tell is simple: a reason about you is the bias talking; a reason about the project is information. Close on the bottom line — a strong idea that isn't for you is a perfectly honest 'no'. ~1-2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order the moment it's drawn — generate it beforehand if you like, but nobody sees it before this slide. Type names straight into the dashed slots (double-click a slot and type), or paste a screenshot of the draw over them; delete slots you don't need. These edits are day-of and aren't in the build script, so a rebuild resets the slide. Say the consequence of a random order out loud one more time: there was no watching two pitches first, which is why everyone rehearsed as though they were first.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holding slide between pitches — put it up during each transition while the next presenter loads, and type the presenter's name and project into the top slot if you want it on screen. The thirty-second finish is the part that slips: the next presenter starts talking and the previous sheet is abandoned half-done. Hold the room until pens are down. If a pitch runs long, cut its Q&amp;A, never the next pitch. Run your own timer; a TA or volunteer timekeeper holding up a one-minute card is better still.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Collect the sheets and tally at the front — this is why the mechanics were settled Monday. While you tally, keep this slide up so the room sees exactly what's being weighed: peer scores, recruiting interest, and your own judgment against the same criteria, with you holding final say. Say the bottom band plainly and early. Anyone whose idea drew no interest hears it from you, here, briefly and in person — not by inference from a list posted later; that conversation is the reason selection stays in the room. In a small class, or when every founder would rather build their own, the anchor list may simply be every project on an approved solo path — say so without apology; solo is a first-class outcome, and the preference worksheet is still where each student states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 the anchor ideas into the slots before you advance to this slide (title plus founder), then reveal them one click at a time — four slots, four clicks; delete any you don't need, and remember a rebuild resets these typed edits. Reveal in a neutral order, not ranked, so the list doesn't read as a leaderboard. If solo paths were approved, name them too — a slot can hold 'Solo: [project]'. Then the band: founders of ideas not on the list didn't lose; they now choose where their discovery work goes.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out the worksheet and hold the room quiet — the pitches are fresh, and that's why this happens now rather than at home. Say why it's ranked rather than a show of hands: rankings let the instructor honor nearly everyone's first or second choice, where hands only record where people happened to be standing. Say twice that the submission is the Canvas assignment, not the paper, and that it's editable through Sunday — changing your mind after reading the proposals is the system working, and nobody sees the edit. Students who expect to go solo still fill it in: the solo box and its scope line are their submission. Check the Canvas submission list Thursday morning; a missing preference is the one thing that stalls Monday.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reason Pitch Day no longer ends with people sorting into groups on their feet. The pitch is real evidence, but it's evidence about the presenter and the room; scope, stack, and richness are far better judged from the written proposal than from six spoken minutes. Frame it as a work habit, not a course rule: decisions made in the room that should have waited for the document are one of the most common ways teams commit to the wrong thing. The weekend reading is real work, not a formality.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weekend concrete. By Thursday evening Canvas has the anchor ideas, the tallied scores, each presenter's anonymized comments, and the full proposals for every anchor project — so the reading can actually happen. Preferences close Sunday night; teams are announced at the start of Monday's class and charters are written in that session. Also Monday: Phase 3 begins, so point them at the design-doc reading on the Session 11 page. Say the recruiting norms plainly — recruiting is fine, pressure isn't, and the instructor's final say is what keeps a founder from having to turn down a classmate face to face. If every student is going solo, Monday's announcement is short and the charter work becomes a personal working agreement — still worth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fast — it has been a long block of listening. Read the four bullets aloud, and say the Sunday deadline twice; a single missing preference is what stalls Monday's announcement. Thank the room for the evaluating as much as the pitching — scoring peers fairly against shared criteria was a graded act of professional judgment today, and the same one they'll use in design review, code review, and the repo audit later in the term. End on the line at the 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9966960" y="-1280160"/>
            <a:ext cx="3840480" cy="3840480"/>
          </a:xfrm>
          <a:prstGeom prst="ellipse">
            <a:avLst/>
          </a:prstGeom>
          <a:solidFill>
            <a:srgbClr val="1C3252"/>
          </a:solidFill>
          <a:ln/>
        </p:spPr>
      </p:sp>
      <p:sp>
        <p:nvSpPr>
          <p:cNvPr id="3" name="Shape 1"/>
          <p:cNvSpPr/>
          <p:nvPr/>
        </p:nvSpPr>
        <p:spPr>
          <a:xfrm>
            <a:off x="10972800" y="4663440"/>
            <a:ext cx="2743200" cy="2743200"/>
          </a:xfrm>
          <a:prstGeom prst="ellipse">
            <a:avLst/>
          </a:prstGeom>
          <a:solidFill>
            <a:srgbClr val="1C3252"/>
          </a:solidFill>
          <a:ln/>
        </p:spPr>
      </p:sp>
      <p:sp>
        <p:nvSpPr>
          <p:cNvPr id="4" name="Shape 2"/>
          <p:cNvSpPr/>
          <p:nvPr/>
        </p:nvSpPr>
        <p:spPr>
          <a:xfrm>
            <a:off x="822960" y="1325880"/>
            <a:ext cx="914400" cy="914400"/>
          </a:xfrm>
          <a:prstGeom prst="ellipse">
            <a:avLst/>
          </a:prstGeom>
          <a:solidFill>
            <a:srgbClr val="E8A33D"/>
          </a:solidFill>
          <a:ln/>
        </p:spPr>
      </p:sp>
      <p:pic>
        <p:nvPicPr>
          <p:cNvPr id="5" name="Image 0" descr="preencoded.png">    </p:cNvPr>
          <p:cNvPicPr>
            <a:picLocks noChangeAspect="1"/>
          </p:cNvPicPr>
          <p:nvPr/>
        </p:nvPicPr>
        <p:blipFill>
          <a:blip r:embed="rId1"/>
          <a:stretch>
            <a:fillRect/>
          </a:stretch>
        </p:blipFill>
        <p:spPr>
          <a:xfrm>
            <a:off x="1069848" y="1572768"/>
            <a:ext cx="420624" cy="420624"/>
          </a:xfrm>
          <a:prstGeom prst="rect">
            <a:avLst/>
          </a:prstGeom>
        </p:spPr>
      </p:pic>
      <p:sp>
        <p:nvSpPr>
          <p:cNvPr id="6" name="Text 3"/>
          <p:cNvSpPr/>
          <p:nvPr/>
        </p:nvSpPr>
        <p:spPr>
          <a:xfrm>
            <a:off x="841248" y="2514600"/>
            <a:ext cx="10058400" cy="320040"/>
          </a:xfrm>
          <a:prstGeom prst="rect">
            <a:avLst/>
          </a:prstGeom>
          <a:noFill/>
          <a:ln/>
        </p:spPr>
        <p:txBody>
          <a:bodyPr wrap="square" lIns="0" tIns="0" rIns="0" bIns="0" rtlCol="0" anchor="ctr"/>
          <a:lstStyle/>
          <a:p>
            <a:pPr indent="0" marL="0">
              <a:buNone/>
            </a:pPr>
            <a:r>
              <a:rPr lang="en-US" sz="1500" b="1" spc="200" kern="0" dirty="0">
                <a:solidFill>
                  <a:srgbClr val="9FB4C7"/>
                </a:solidFill>
                <a:latin typeface="Calibri" pitchFamily="34" charset="0"/>
                <a:ea typeface="Calibri" pitchFamily="34" charset="-122"/>
                <a:cs typeface="Calibri" pitchFamily="34" charset="-120"/>
              </a:rPr>
              <a:t>CS 301R · SOFTWARE ENGINEERING STUDIO I</a:t>
            </a:r>
            <a:endParaRPr lang="en-US" sz="1500" dirty="0"/>
          </a:p>
        </p:txBody>
      </p:sp>
      <p:sp>
        <p:nvSpPr>
          <p:cNvPr id="7" name="Text 4"/>
          <p:cNvSpPr/>
          <p:nvPr/>
        </p:nvSpPr>
        <p:spPr>
          <a:xfrm>
            <a:off x="822960" y="2880360"/>
            <a:ext cx="11064240" cy="118872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Pitch Day</a:t>
            </a:r>
            <a:endParaRPr lang="en-US" sz="4200" dirty="0"/>
          </a:p>
        </p:txBody>
      </p:sp>
      <p:sp>
        <p:nvSpPr>
          <p:cNvPr id="8" name="Text 5"/>
          <p:cNvSpPr/>
          <p:nvPr/>
        </p:nvSpPr>
        <p:spPr>
          <a:xfrm>
            <a:off x="841248" y="4297680"/>
            <a:ext cx="10058400" cy="822960"/>
          </a:xfrm>
          <a:prstGeom prst="rect">
            <a:avLst/>
          </a:prstGeom>
          <a:noFill/>
          <a:ln/>
        </p:spPr>
        <p:txBody>
          <a:bodyPr wrap="square" lIns="0" tIns="0" rIns="0" bIns="0" rtlCol="0" anchor="ctr"/>
          <a:lstStyle/>
          <a:p>
            <a:pPr indent="0" marL="0">
              <a:lnSpc>
                <a:spcPct val="120000"/>
              </a:lnSpc>
              <a:buNone/>
            </a:pPr>
            <a:r>
              <a:rPr lang="en-US" sz="1900" b="1" dirty="0">
                <a:solidFill>
                  <a:srgbClr val="E8A33D"/>
                </a:solidFill>
                <a:latin typeface="Calibri" pitchFamily="34" charset="0"/>
                <a:ea typeface="Calibri" pitchFamily="34" charset="-122"/>
                <a:cs typeface="Calibri" pitchFamily="34" charset="-120"/>
              </a:rPr>
              <a:t>Session 10 — present, evaluate, select</a:t>
            </a:r>
            <a:endParaRPr lang="en-US" sz="1900" dirty="0"/>
          </a:p>
          <a:p>
            <a:pPr indent="0" marL="0">
              <a:lnSpc>
                <a:spcPct val="120000"/>
              </a:lnSpc>
              <a:buNone/>
            </a:pPr>
            <a:r>
              <a:rPr lang="en-US" sz="1900" dirty="0">
                <a:solidFill>
                  <a:srgbClr val="9FB4C7"/>
                </a:solidFill>
                <a:latin typeface="Calibri" pitchFamily="34" charset="0"/>
                <a:ea typeface="Calibri" pitchFamily="34" charset="-122"/>
                <a:cs typeface="Calibri" pitchFamily="34" charset="-120"/>
              </a:rPr>
              <a:t>Wednesday, October 7, 2026</a:t>
            </a:r>
            <a:endParaRPr lang="en-US" sz="1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RUN OF SHOW — 4 MIN</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Two jobs today: pitch well, evaluate honestly</a:t>
            </a:r>
            <a:endParaRPr lang="en-US" sz="3100" dirty="0"/>
          </a:p>
        </p:txBody>
      </p:sp>
      <p:sp>
        <p:nvSpPr>
          <p:cNvPr id="5" name="Shape 3"/>
          <p:cNvSpPr/>
          <p:nvPr/>
        </p:nvSpPr>
        <p:spPr>
          <a:xfrm>
            <a:off x="548640" y="1828800"/>
            <a:ext cx="2029968" cy="1783080"/>
          </a:xfrm>
          <a:prstGeom prst="roundRect">
            <a:avLst>
              <a:gd name="adj" fmla="val 4615"/>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1271016" y="2029968"/>
            <a:ext cx="585216" cy="585216"/>
          </a:xfrm>
          <a:prstGeom prst="ellipse">
            <a:avLst/>
          </a:prstGeom>
          <a:solidFill>
            <a:srgbClr val="12908F"/>
          </a:solidFill>
          <a:ln/>
        </p:spPr>
      </p:sp>
      <p:pic>
        <p:nvPicPr>
          <p:cNvPr id="7" name="Image 0" descr="preencoded.png">    </p:cNvPr>
          <p:cNvPicPr>
            <a:picLocks noChangeAspect="1"/>
          </p:cNvPicPr>
          <p:nvPr/>
        </p:nvPicPr>
        <p:blipFill>
          <a:blip r:embed="rId1"/>
          <a:stretch>
            <a:fillRect/>
          </a:stretch>
        </p:blipFill>
        <p:spPr>
          <a:xfrm>
            <a:off x="1429024" y="2187976"/>
            <a:ext cx="269199" cy="269199"/>
          </a:xfrm>
          <a:prstGeom prst="rect">
            <a:avLst/>
          </a:prstGeom>
        </p:spPr>
      </p:pic>
      <p:sp>
        <p:nvSpPr>
          <p:cNvPr id="8" name="Text 5"/>
          <p:cNvSpPr/>
          <p:nvPr/>
        </p:nvSpPr>
        <p:spPr>
          <a:xfrm>
            <a:off x="640080" y="2724912"/>
            <a:ext cx="1847088" cy="411480"/>
          </a:xfrm>
          <a:prstGeom prst="rect">
            <a:avLst/>
          </a:prstGeom>
          <a:noFill/>
          <a:ln/>
        </p:spPr>
        <p:txBody>
          <a:bodyPr wrap="square" lIns="0" tIns="0" rIns="0" bIns="0" rtlCol="0" anchor="ctr"/>
          <a:lstStyle/>
          <a:p>
            <a:pPr algn="ctr" indent="0" marL="0">
              <a:buNone/>
            </a:pPr>
            <a:r>
              <a:rPr lang="en-US" sz="1800" b="1" dirty="0">
                <a:solidFill>
                  <a:srgbClr val="1E2A36"/>
                </a:solidFill>
                <a:latin typeface="Calibri" pitchFamily="34" charset="0"/>
                <a:ea typeface="Calibri" pitchFamily="34" charset="-122"/>
                <a:cs typeface="Calibri" pitchFamily="34" charset="-120"/>
              </a:rPr>
              <a:t>Calibrate</a:t>
            </a:r>
            <a:endParaRPr lang="en-US" sz="1800" dirty="0"/>
          </a:p>
        </p:txBody>
      </p:sp>
      <p:sp>
        <p:nvSpPr>
          <p:cNvPr id="9" name="Text 6"/>
          <p:cNvSpPr/>
          <p:nvPr/>
        </p:nvSpPr>
        <p:spPr>
          <a:xfrm>
            <a:off x="640080" y="3127248"/>
            <a:ext cx="1847088" cy="365760"/>
          </a:xfrm>
          <a:prstGeom prst="rect">
            <a:avLst/>
          </a:prstGeom>
          <a:noFill/>
          <a:ln/>
        </p:spPr>
        <p:txBody>
          <a:bodyPr wrap="square" lIns="0" tIns="0" rIns="0" bIns="0" rtlCol="0" anchor="ctr"/>
          <a:lstStyle/>
          <a:p>
            <a:pPr algn="ctr" indent="0" marL="0">
              <a:buNone/>
            </a:pPr>
            <a:r>
              <a:rPr lang="en-US" sz="1500" dirty="0">
                <a:solidFill>
                  <a:srgbClr val="5F7284"/>
                </a:solidFill>
                <a:latin typeface="Calibri" pitchFamily="34" charset="0"/>
                <a:ea typeface="Calibri" pitchFamily="34" charset="-122"/>
                <a:cs typeface="Calibri" pitchFamily="34" charset="-120"/>
              </a:rPr>
              <a:t>4 min</a:t>
            </a:r>
            <a:endParaRPr lang="en-US" sz="1500" dirty="0"/>
          </a:p>
        </p:txBody>
      </p:sp>
      <p:sp>
        <p:nvSpPr>
          <p:cNvPr id="10" name="Shape 7"/>
          <p:cNvSpPr/>
          <p:nvPr/>
        </p:nvSpPr>
        <p:spPr>
          <a:xfrm>
            <a:off x="2798064" y="1828800"/>
            <a:ext cx="2029968" cy="1783080"/>
          </a:xfrm>
          <a:prstGeom prst="roundRect">
            <a:avLst>
              <a:gd name="adj" fmla="val 4615"/>
            </a:avLst>
          </a:prstGeom>
          <a:solidFill>
            <a:srgbClr val="14233A"/>
          </a:solidFill>
          <a:ln/>
          <a:effectLst>
            <a:outerShdw sx="100000" sy="100000" kx="0" ky="0" algn="bl" rotWithShape="0" blurRad="88900" dist="38100" dir="5400000">
              <a:srgbClr val="000000">
                <a:alpha val="13000"/>
              </a:srgbClr>
            </a:outerShdw>
          </a:effectLst>
        </p:spPr>
      </p:sp>
      <p:sp>
        <p:nvSpPr>
          <p:cNvPr id="11" name="Shape 8"/>
          <p:cNvSpPr/>
          <p:nvPr/>
        </p:nvSpPr>
        <p:spPr>
          <a:xfrm>
            <a:off x="3520440" y="2029968"/>
            <a:ext cx="585216" cy="585216"/>
          </a:xfrm>
          <a:prstGeom prst="ellipse">
            <a:avLst/>
          </a:prstGeom>
          <a:solidFill>
            <a:srgbClr val="E8A33D"/>
          </a:solidFill>
          <a:ln/>
        </p:spPr>
      </p:sp>
      <p:pic>
        <p:nvPicPr>
          <p:cNvPr id="12" name="Image 1" descr="preencoded.png">    </p:cNvPr>
          <p:cNvPicPr>
            <a:picLocks noChangeAspect="1"/>
          </p:cNvPicPr>
          <p:nvPr/>
        </p:nvPicPr>
        <p:blipFill>
          <a:blip r:embed="rId2"/>
          <a:stretch>
            <a:fillRect/>
          </a:stretch>
        </p:blipFill>
        <p:spPr>
          <a:xfrm>
            <a:off x="3678448" y="2187976"/>
            <a:ext cx="269199" cy="269199"/>
          </a:xfrm>
          <a:prstGeom prst="rect">
            <a:avLst/>
          </a:prstGeom>
        </p:spPr>
      </p:pic>
      <p:sp>
        <p:nvSpPr>
          <p:cNvPr id="13" name="Text 9"/>
          <p:cNvSpPr/>
          <p:nvPr/>
        </p:nvSpPr>
        <p:spPr>
          <a:xfrm>
            <a:off x="2889504" y="2724912"/>
            <a:ext cx="1847088" cy="4114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Pitches</a:t>
            </a:r>
            <a:endParaRPr lang="en-US" sz="1800" dirty="0"/>
          </a:p>
        </p:txBody>
      </p:sp>
      <p:sp>
        <p:nvSpPr>
          <p:cNvPr id="14" name="Text 10"/>
          <p:cNvSpPr/>
          <p:nvPr/>
        </p:nvSpPr>
        <p:spPr>
          <a:xfrm>
            <a:off x="2889504" y="3127248"/>
            <a:ext cx="1847088" cy="365760"/>
          </a:xfrm>
          <a:prstGeom prst="rect">
            <a:avLst/>
          </a:prstGeom>
          <a:noFill/>
          <a:ln/>
        </p:spPr>
        <p:txBody>
          <a:bodyPr wrap="square" lIns="0" tIns="0" rIns="0" bIns="0" rtlCol="0" anchor="ctr"/>
          <a:lstStyle/>
          <a:p>
            <a:pPr algn="ctr" indent="0" marL="0">
              <a:buNone/>
            </a:pPr>
            <a:r>
              <a:rPr lang="en-US" sz="1500" dirty="0">
                <a:solidFill>
                  <a:srgbClr val="CFE0E9"/>
                </a:solidFill>
                <a:latin typeface="Calibri" pitchFamily="34" charset="0"/>
                <a:ea typeface="Calibri" pitchFamily="34" charset="-122"/>
                <a:cs typeface="Calibri" pitchFamily="34" charset="-120"/>
              </a:rPr>
              <a:t>~50 min</a:t>
            </a:r>
            <a:endParaRPr lang="en-US" sz="1500" dirty="0"/>
          </a:p>
        </p:txBody>
      </p:sp>
      <p:sp>
        <p:nvSpPr>
          <p:cNvPr id="15" name="Shape 11"/>
          <p:cNvSpPr/>
          <p:nvPr/>
        </p:nvSpPr>
        <p:spPr>
          <a:xfrm>
            <a:off x="5047488" y="1828800"/>
            <a:ext cx="2029968" cy="1783080"/>
          </a:xfrm>
          <a:prstGeom prst="roundRect">
            <a:avLst>
              <a:gd name="adj" fmla="val 4615"/>
            </a:avLst>
          </a:prstGeom>
          <a:solidFill>
            <a:srgbClr val="F2F6F8"/>
          </a:solidFill>
          <a:ln/>
          <a:effectLst>
            <a:outerShdw sx="100000" sy="100000" kx="0" ky="0" algn="bl" rotWithShape="0" blurRad="88900" dist="38100" dir="5400000">
              <a:srgbClr val="000000">
                <a:alpha val="13000"/>
              </a:srgbClr>
            </a:outerShdw>
          </a:effectLst>
        </p:spPr>
      </p:sp>
      <p:sp>
        <p:nvSpPr>
          <p:cNvPr id="16" name="Shape 12"/>
          <p:cNvSpPr/>
          <p:nvPr/>
        </p:nvSpPr>
        <p:spPr>
          <a:xfrm>
            <a:off x="5769864" y="2029968"/>
            <a:ext cx="585216" cy="585216"/>
          </a:xfrm>
          <a:prstGeom prst="ellipse">
            <a:avLst/>
          </a:prstGeom>
          <a:solidFill>
            <a:srgbClr val="12908F"/>
          </a:solidFill>
          <a:ln/>
        </p:spPr>
      </p:sp>
      <p:pic>
        <p:nvPicPr>
          <p:cNvPr id="17" name="Image 2" descr="preencoded.png">    </p:cNvPr>
          <p:cNvPicPr>
            <a:picLocks noChangeAspect="1"/>
          </p:cNvPicPr>
          <p:nvPr/>
        </p:nvPicPr>
        <p:blipFill>
          <a:blip r:embed="rId3"/>
          <a:stretch>
            <a:fillRect/>
          </a:stretch>
        </p:blipFill>
        <p:spPr>
          <a:xfrm>
            <a:off x="5927872" y="2187976"/>
            <a:ext cx="269199" cy="269199"/>
          </a:xfrm>
          <a:prstGeom prst="rect">
            <a:avLst/>
          </a:prstGeom>
        </p:spPr>
      </p:pic>
      <p:sp>
        <p:nvSpPr>
          <p:cNvPr id="18" name="Text 13"/>
          <p:cNvSpPr/>
          <p:nvPr/>
        </p:nvSpPr>
        <p:spPr>
          <a:xfrm>
            <a:off x="5138928" y="2724912"/>
            <a:ext cx="1847088" cy="411480"/>
          </a:xfrm>
          <a:prstGeom prst="rect">
            <a:avLst/>
          </a:prstGeom>
          <a:noFill/>
          <a:ln/>
        </p:spPr>
        <p:txBody>
          <a:bodyPr wrap="square" lIns="0" tIns="0" rIns="0" bIns="0" rtlCol="0" anchor="ctr"/>
          <a:lstStyle/>
          <a:p>
            <a:pPr algn="ctr" indent="0" marL="0">
              <a:buNone/>
            </a:pPr>
            <a:r>
              <a:rPr lang="en-US" sz="1800" b="1" dirty="0">
                <a:solidFill>
                  <a:srgbClr val="1E2A36"/>
                </a:solidFill>
                <a:latin typeface="Calibri" pitchFamily="34" charset="0"/>
                <a:ea typeface="Calibri" pitchFamily="34" charset="-122"/>
                <a:cs typeface="Calibri" pitchFamily="34" charset="-120"/>
              </a:rPr>
              <a:t>Selection</a:t>
            </a:r>
            <a:endParaRPr lang="en-US" sz="1800" dirty="0"/>
          </a:p>
        </p:txBody>
      </p:sp>
      <p:sp>
        <p:nvSpPr>
          <p:cNvPr id="19" name="Text 14"/>
          <p:cNvSpPr/>
          <p:nvPr/>
        </p:nvSpPr>
        <p:spPr>
          <a:xfrm>
            <a:off x="5138928" y="3127248"/>
            <a:ext cx="1847088" cy="365760"/>
          </a:xfrm>
          <a:prstGeom prst="rect">
            <a:avLst/>
          </a:prstGeom>
          <a:noFill/>
          <a:ln/>
        </p:spPr>
        <p:txBody>
          <a:bodyPr wrap="square" lIns="0" tIns="0" rIns="0" bIns="0" rtlCol="0" anchor="ctr"/>
          <a:lstStyle/>
          <a:p>
            <a:pPr algn="ctr" indent="0" marL="0">
              <a:buNone/>
            </a:pPr>
            <a:r>
              <a:rPr lang="en-US" sz="1500" dirty="0">
                <a:solidFill>
                  <a:srgbClr val="5F7284"/>
                </a:solidFill>
                <a:latin typeface="Calibri" pitchFamily="34" charset="0"/>
                <a:ea typeface="Calibri" pitchFamily="34" charset="-122"/>
                <a:cs typeface="Calibri" pitchFamily="34" charset="-120"/>
              </a:rPr>
              <a:t>8 min</a:t>
            </a:r>
            <a:endParaRPr lang="en-US" sz="1500" dirty="0"/>
          </a:p>
        </p:txBody>
      </p:sp>
      <p:sp>
        <p:nvSpPr>
          <p:cNvPr id="20" name="Shape 15"/>
          <p:cNvSpPr/>
          <p:nvPr/>
        </p:nvSpPr>
        <p:spPr>
          <a:xfrm>
            <a:off x="7296912" y="1828800"/>
            <a:ext cx="2029968" cy="1783080"/>
          </a:xfrm>
          <a:prstGeom prst="roundRect">
            <a:avLst>
              <a:gd name="adj" fmla="val 4615"/>
            </a:avLst>
          </a:prstGeom>
          <a:solidFill>
            <a:srgbClr val="F2F6F8"/>
          </a:solidFill>
          <a:ln/>
          <a:effectLst>
            <a:outerShdw sx="100000" sy="100000" kx="0" ky="0" algn="bl" rotWithShape="0" blurRad="88900" dist="38100" dir="5400000">
              <a:srgbClr val="000000">
                <a:alpha val="13000"/>
              </a:srgbClr>
            </a:outerShdw>
          </a:effectLst>
        </p:spPr>
      </p:sp>
      <p:sp>
        <p:nvSpPr>
          <p:cNvPr id="21" name="Shape 16"/>
          <p:cNvSpPr/>
          <p:nvPr/>
        </p:nvSpPr>
        <p:spPr>
          <a:xfrm>
            <a:off x="8019288" y="2029968"/>
            <a:ext cx="585216" cy="585216"/>
          </a:xfrm>
          <a:prstGeom prst="ellipse">
            <a:avLst/>
          </a:prstGeom>
          <a:solidFill>
            <a:srgbClr val="12908F"/>
          </a:solidFill>
          <a:ln/>
        </p:spPr>
      </p:sp>
      <p:pic>
        <p:nvPicPr>
          <p:cNvPr id="22" name="Image 3" descr="preencoded.png">    </p:cNvPr>
          <p:cNvPicPr>
            <a:picLocks noChangeAspect="1"/>
          </p:cNvPicPr>
          <p:nvPr/>
        </p:nvPicPr>
        <p:blipFill>
          <a:blip r:embed="rId4"/>
          <a:stretch>
            <a:fillRect/>
          </a:stretch>
        </p:blipFill>
        <p:spPr>
          <a:xfrm>
            <a:off x="8177296" y="2187976"/>
            <a:ext cx="269199" cy="269199"/>
          </a:xfrm>
          <a:prstGeom prst="rect">
            <a:avLst/>
          </a:prstGeom>
        </p:spPr>
      </p:pic>
      <p:sp>
        <p:nvSpPr>
          <p:cNvPr id="23" name="Text 17"/>
          <p:cNvSpPr/>
          <p:nvPr/>
        </p:nvSpPr>
        <p:spPr>
          <a:xfrm>
            <a:off x="7388352" y="2724912"/>
            <a:ext cx="1847088" cy="411480"/>
          </a:xfrm>
          <a:prstGeom prst="rect">
            <a:avLst/>
          </a:prstGeom>
          <a:noFill/>
          <a:ln/>
        </p:spPr>
        <p:txBody>
          <a:bodyPr wrap="square" lIns="0" tIns="0" rIns="0" bIns="0" rtlCol="0" anchor="ctr"/>
          <a:lstStyle/>
          <a:p>
            <a:pPr algn="ctr" indent="0" marL="0">
              <a:buNone/>
            </a:pPr>
            <a:r>
              <a:rPr lang="en-US" sz="1800" b="1" dirty="0">
                <a:solidFill>
                  <a:srgbClr val="1E2A36"/>
                </a:solidFill>
                <a:latin typeface="Calibri" pitchFamily="34" charset="0"/>
                <a:ea typeface="Calibri" pitchFamily="34" charset="-122"/>
                <a:cs typeface="Calibri" pitchFamily="34" charset="-120"/>
              </a:rPr>
              <a:t>Preferences</a:t>
            </a:r>
            <a:endParaRPr lang="en-US" sz="1800" dirty="0"/>
          </a:p>
        </p:txBody>
      </p:sp>
      <p:sp>
        <p:nvSpPr>
          <p:cNvPr id="24" name="Text 18"/>
          <p:cNvSpPr/>
          <p:nvPr/>
        </p:nvSpPr>
        <p:spPr>
          <a:xfrm>
            <a:off x="7388352" y="3127248"/>
            <a:ext cx="1847088" cy="365760"/>
          </a:xfrm>
          <a:prstGeom prst="rect">
            <a:avLst/>
          </a:prstGeom>
          <a:noFill/>
          <a:ln/>
        </p:spPr>
        <p:txBody>
          <a:bodyPr wrap="square" lIns="0" tIns="0" rIns="0" bIns="0" rtlCol="0" anchor="ctr"/>
          <a:lstStyle/>
          <a:p>
            <a:pPr algn="ctr" indent="0" marL="0">
              <a:buNone/>
            </a:pPr>
            <a:r>
              <a:rPr lang="en-US" sz="1500" dirty="0">
                <a:solidFill>
                  <a:srgbClr val="5F7284"/>
                </a:solidFill>
                <a:latin typeface="Calibri" pitchFamily="34" charset="0"/>
                <a:ea typeface="Calibri" pitchFamily="34" charset="-122"/>
                <a:cs typeface="Calibri" pitchFamily="34" charset="-120"/>
              </a:rPr>
              <a:t>7 min</a:t>
            </a:r>
            <a:endParaRPr lang="en-US" sz="1500" dirty="0"/>
          </a:p>
        </p:txBody>
      </p:sp>
      <p:sp>
        <p:nvSpPr>
          <p:cNvPr id="25" name="Shape 19"/>
          <p:cNvSpPr/>
          <p:nvPr/>
        </p:nvSpPr>
        <p:spPr>
          <a:xfrm>
            <a:off x="9546336" y="1828800"/>
            <a:ext cx="2029968" cy="1783080"/>
          </a:xfrm>
          <a:prstGeom prst="roundRect">
            <a:avLst>
              <a:gd name="adj" fmla="val 4615"/>
            </a:avLst>
          </a:prstGeom>
          <a:solidFill>
            <a:srgbClr val="F2F6F8"/>
          </a:solidFill>
          <a:ln/>
          <a:effectLst>
            <a:outerShdw sx="100000" sy="100000" kx="0" ky="0" algn="bl" rotWithShape="0" blurRad="88900" dist="38100" dir="5400000">
              <a:srgbClr val="000000">
                <a:alpha val="13000"/>
              </a:srgbClr>
            </a:outerShdw>
          </a:effectLst>
        </p:spPr>
      </p:sp>
      <p:sp>
        <p:nvSpPr>
          <p:cNvPr id="26" name="Shape 20"/>
          <p:cNvSpPr/>
          <p:nvPr/>
        </p:nvSpPr>
        <p:spPr>
          <a:xfrm>
            <a:off x="10268712" y="2029968"/>
            <a:ext cx="585216" cy="585216"/>
          </a:xfrm>
          <a:prstGeom prst="ellipse">
            <a:avLst/>
          </a:prstGeom>
          <a:solidFill>
            <a:srgbClr val="12908F"/>
          </a:solidFill>
          <a:ln/>
        </p:spPr>
      </p:sp>
      <p:pic>
        <p:nvPicPr>
          <p:cNvPr id="27" name="Image 4" descr="preencoded.png">    </p:cNvPr>
          <p:cNvPicPr>
            <a:picLocks noChangeAspect="1"/>
          </p:cNvPicPr>
          <p:nvPr/>
        </p:nvPicPr>
        <p:blipFill>
          <a:blip r:embed="rId5"/>
          <a:stretch>
            <a:fillRect/>
          </a:stretch>
        </p:blipFill>
        <p:spPr>
          <a:xfrm>
            <a:off x="10426720" y="2187976"/>
            <a:ext cx="269199" cy="269199"/>
          </a:xfrm>
          <a:prstGeom prst="rect">
            <a:avLst/>
          </a:prstGeom>
        </p:spPr>
      </p:pic>
      <p:sp>
        <p:nvSpPr>
          <p:cNvPr id="28" name="Text 21"/>
          <p:cNvSpPr/>
          <p:nvPr/>
        </p:nvSpPr>
        <p:spPr>
          <a:xfrm>
            <a:off x="9637776" y="2724912"/>
            <a:ext cx="1847088" cy="411480"/>
          </a:xfrm>
          <a:prstGeom prst="rect">
            <a:avLst/>
          </a:prstGeom>
          <a:noFill/>
          <a:ln/>
        </p:spPr>
        <p:txBody>
          <a:bodyPr wrap="square" lIns="0" tIns="0" rIns="0" bIns="0" rtlCol="0" anchor="ctr"/>
          <a:lstStyle/>
          <a:p>
            <a:pPr algn="ctr" indent="0" marL="0">
              <a:buNone/>
            </a:pPr>
            <a:r>
              <a:rPr lang="en-US" sz="1800" b="1" dirty="0">
                <a:solidFill>
                  <a:srgbClr val="1E2A36"/>
                </a:solidFill>
                <a:latin typeface="Calibri" pitchFamily="34" charset="0"/>
                <a:ea typeface="Calibri" pitchFamily="34" charset="-122"/>
                <a:cs typeface="Calibri" pitchFamily="34" charset="-120"/>
              </a:rPr>
              <a:t>What's next</a:t>
            </a:r>
            <a:endParaRPr lang="en-US" sz="1800" dirty="0"/>
          </a:p>
        </p:txBody>
      </p:sp>
      <p:sp>
        <p:nvSpPr>
          <p:cNvPr id="29" name="Text 22"/>
          <p:cNvSpPr/>
          <p:nvPr/>
        </p:nvSpPr>
        <p:spPr>
          <a:xfrm>
            <a:off x="9637776" y="3127248"/>
            <a:ext cx="1847088" cy="365760"/>
          </a:xfrm>
          <a:prstGeom prst="rect">
            <a:avLst/>
          </a:prstGeom>
          <a:noFill/>
          <a:ln/>
        </p:spPr>
        <p:txBody>
          <a:bodyPr wrap="square" lIns="0" tIns="0" rIns="0" bIns="0" rtlCol="0" anchor="ctr"/>
          <a:lstStyle/>
          <a:p>
            <a:pPr algn="ctr" indent="0" marL="0">
              <a:buNone/>
            </a:pPr>
            <a:r>
              <a:rPr lang="en-US" sz="1500" dirty="0">
                <a:solidFill>
                  <a:srgbClr val="5F7284"/>
                </a:solidFill>
                <a:latin typeface="Calibri" pitchFamily="34" charset="0"/>
                <a:ea typeface="Calibri" pitchFamily="34" charset="-122"/>
                <a:cs typeface="Calibri" pitchFamily="34" charset="-120"/>
              </a:rPr>
              <a:t>3 min</a:t>
            </a:r>
            <a:endParaRPr lang="en-US" sz="1500" dirty="0"/>
          </a:p>
        </p:txBody>
      </p:sp>
      <p:sp>
        <p:nvSpPr>
          <p:cNvPr id="30" name="Shape 23"/>
          <p:cNvSpPr/>
          <p:nvPr/>
        </p:nvSpPr>
        <p:spPr>
          <a:xfrm>
            <a:off x="548640" y="3886200"/>
            <a:ext cx="5440680" cy="1371600"/>
          </a:xfrm>
          <a:prstGeom prst="roundRect">
            <a:avLst>
              <a:gd name="adj" fmla="val 6000"/>
            </a:avLst>
          </a:prstGeom>
          <a:solidFill>
            <a:srgbClr val="F2F6F8"/>
          </a:solidFill>
          <a:ln/>
          <a:effectLst>
            <a:outerShdw sx="100000" sy="100000" kx="0" ky="0" algn="bl" rotWithShape="0" blurRad="88900" dist="38100" dir="5400000">
              <a:srgbClr val="000000">
                <a:alpha val="13000"/>
              </a:srgbClr>
            </a:outerShdw>
          </a:effectLst>
        </p:spPr>
      </p:sp>
      <p:sp>
        <p:nvSpPr>
          <p:cNvPr id="31" name="Text 24"/>
          <p:cNvSpPr/>
          <p:nvPr/>
        </p:nvSpPr>
        <p:spPr>
          <a:xfrm>
            <a:off x="841248" y="3886200"/>
            <a:ext cx="4846320" cy="1371600"/>
          </a:xfrm>
          <a:prstGeom prst="rect">
            <a:avLst/>
          </a:prstGeom>
          <a:noFill/>
          <a:ln/>
        </p:spPr>
        <p:txBody>
          <a:bodyPr wrap="square" lIns="0" tIns="0" rIns="0" bIns="0" rtlCol="0" anchor="ctr"/>
          <a:lstStyle/>
          <a:p>
            <a:pPr indent="0" marL="0">
              <a:lnSpc>
                <a:spcPct val="104000"/>
              </a:lnSpc>
              <a:buNone/>
            </a:pPr>
            <a:r>
              <a:rPr lang="en-US" sz="1800" b="1" dirty="0">
                <a:solidFill>
                  <a:srgbClr val="0E6E6D"/>
                </a:solidFill>
                <a:latin typeface="Calibri" pitchFamily="34" charset="0"/>
                <a:ea typeface="Calibri" pitchFamily="34" charset="-122"/>
                <a:cs typeface="Calibri" pitchFamily="34" charset="-120"/>
              </a:rPr>
              <a:t>Evaluate today
</a:t>
            </a:r>
            <a:pPr indent="0" marL="0">
              <a:lnSpc>
                <a:spcPct val="104000"/>
              </a:lnSpc>
              <a:buNone/>
            </a:pPr>
            <a:r>
              <a:rPr lang="en-US" sz="1550" dirty="0">
                <a:solidFill>
                  <a:srgbClr val="1E2A36"/>
                </a:solidFill>
                <a:latin typeface="Calibri" pitchFamily="34" charset="0"/>
                <a:ea typeface="Calibri" pitchFamily="34" charset="-122"/>
                <a:cs typeface="Calibri" pitchFamily="34" charset="-120"/>
              </a:rPr>
              <a:t>A pitch is a live event, and the room's reaction is real signal. You score every pitch but your own.</a:t>
            </a:r>
            <a:endParaRPr lang="en-US" sz="1550" dirty="0"/>
          </a:p>
        </p:txBody>
      </p:sp>
      <p:sp>
        <p:nvSpPr>
          <p:cNvPr id="32" name="Shape 25"/>
          <p:cNvSpPr/>
          <p:nvPr/>
        </p:nvSpPr>
        <p:spPr>
          <a:xfrm>
            <a:off x="6172200" y="3886200"/>
            <a:ext cx="5440680" cy="1371600"/>
          </a:xfrm>
          <a:prstGeom prst="roundRect">
            <a:avLst>
              <a:gd name="adj" fmla="val 6000"/>
            </a:avLst>
          </a:prstGeom>
          <a:solidFill>
            <a:srgbClr val="EAF4EE"/>
          </a:solidFill>
          <a:ln/>
          <a:effectLst>
            <a:outerShdw sx="100000" sy="100000" kx="0" ky="0" algn="bl" rotWithShape="0" blurRad="88900" dist="38100" dir="5400000">
              <a:srgbClr val="000000">
                <a:alpha val="13000"/>
              </a:srgbClr>
            </a:outerShdw>
          </a:effectLst>
        </p:spPr>
      </p:sp>
      <p:sp>
        <p:nvSpPr>
          <p:cNvPr id="33" name="Text 26"/>
          <p:cNvSpPr/>
          <p:nvPr/>
        </p:nvSpPr>
        <p:spPr>
          <a:xfrm>
            <a:off x="6464808" y="3886200"/>
            <a:ext cx="4846320" cy="1371600"/>
          </a:xfrm>
          <a:prstGeom prst="rect">
            <a:avLst/>
          </a:prstGeom>
          <a:noFill/>
          <a:ln/>
        </p:spPr>
        <p:txBody>
          <a:bodyPr wrap="square" lIns="0" tIns="0" rIns="0" bIns="0" rtlCol="0" anchor="ctr"/>
          <a:lstStyle/>
          <a:p>
            <a:pPr indent="0" marL="0">
              <a:lnSpc>
                <a:spcPct val="104000"/>
              </a:lnSpc>
              <a:buNone/>
            </a:pPr>
            <a:r>
              <a:rPr lang="en-US" sz="1800" b="1" dirty="0">
                <a:solidFill>
                  <a:srgbClr val="0E6E6D"/>
                </a:solidFill>
                <a:latin typeface="Calibri" pitchFamily="34" charset="0"/>
                <a:ea typeface="Calibri" pitchFamily="34" charset="-122"/>
                <a:cs typeface="Calibri" pitchFamily="34" charset="-120"/>
              </a:rPr>
              <a:t>Commit Monday
</a:t>
            </a:r>
            <a:pPr indent="0" marL="0">
              <a:lnSpc>
                <a:spcPct val="104000"/>
              </a:lnSpc>
              <a:buNone/>
            </a:pPr>
            <a:r>
              <a:rPr lang="en-US" sz="1550" dirty="0">
                <a:solidFill>
                  <a:srgbClr val="1E2A36"/>
                </a:solidFill>
                <a:latin typeface="Calibri" pitchFamily="34" charset="0"/>
                <a:ea typeface="Calibri" pitchFamily="34" charset="-122"/>
                <a:cs typeface="Calibri" pitchFamily="34" charset="-120"/>
              </a:rPr>
              <a:t>You leave with a private, ranked preference — not a team. Teams wait for the proposals.</a:t>
            </a:r>
            <a:endParaRPr lang="en-US" sz="1550" dirty="0"/>
          </a:p>
        </p:txBody>
      </p:sp>
      <p:sp>
        <p:nvSpPr>
          <p:cNvPr id="34" name="Shape 27"/>
          <p:cNvSpPr/>
          <p:nvPr/>
        </p:nvSpPr>
        <p:spPr>
          <a:xfrm>
            <a:off x="548640" y="5440680"/>
            <a:ext cx="11064240" cy="731520"/>
          </a:xfrm>
          <a:prstGeom prst="roundRect">
            <a:avLst>
              <a:gd name="adj" fmla="val 11250"/>
            </a:avLst>
          </a:prstGeom>
          <a:solidFill>
            <a:srgbClr val="E8A33D"/>
          </a:solidFill>
          <a:ln/>
          <a:effectLst>
            <a:outerShdw sx="100000" sy="100000" kx="0" ky="0" algn="bl" rotWithShape="0" blurRad="88900" dist="38100" dir="5400000">
              <a:srgbClr val="000000">
                <a:alpha val="13000"/>
              </a:srgbClr>
            </a:outerShdw>
          </a:effectLst>
        </p:spPr>
      </p:sp>
      <p:sp>
        <p:nvSpPr>
          <p:cNvPr id="35" name="Text 28"/>
          <p:cNvSpPr/>
          <p:nvPr/>
        </p:nvSpPr>
        <p:spPr>
          <a:xfrm>
            <a:off x="822960" y="5440680"/>
            <a:ext cx="10515600" cy="731520"/>
          </a:xfrm>
          <a:prstGeom prst="rect">
            <a:avLst/>
          </a:prstGeom>
          <a:noFill/>
          <a:ln/>
        </p:spPr>
        <p:txBody>
          <a:bodyPr wrap="square" lIns="0" tIns="0" rIns="0" bIns="0" rtlCol="0" anchor="ctr"/>
          <a:lstStyle/>
          <a:p>
            <a:pPr algn="ctr" indent="0" marL="0">
              <a:buNone/>
            </a:pPr>
            <a:r>
              <a:rPr lang="en-US" sz="1600" b="1" dirty="0">
                <a:solidFill>
                  <a:srgbClr val="14233A"/>
                </a:solidFill>
                <a:latin typeface="Calibri" pitchFamily="34" charset="0"/>
                <a:ea typeface="Calibri" pitchFamily="34" charset="-122"/>
                <a:cs typeface="Calibri" pitchFamily="34" charset="-120"/>
              </a:rPr>
              <a:t>Individual work ends today. Everything since Week 1 gets its six minutes.</a:t>
            </a:r>
            <a:endParaRPr lang="en-US" sz="1600" dirty="0"/>
          </a:p>
        </p:txBody>
      </p:sp>
      <p:sp>
        <p:nvSpPr>
          <p:cNvPr id="36" name="Text 29"/>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10 · Pitch Day</a:t>
            </a:r>
            <a:endParaRPr lang="en-US" sz="1000" dirty="0"/>
          </a:p>
        </p:txBody>
      </p:sp>
      <p:sp>
        <p:nvSpPr>
          <p:cNvPr id="37" name="Text 30"/>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GROUND RULES</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How the next fifty minutes run</a:t>
            </a:r>
            <a:endParaRPr lang="en-US" sz="3100" dirty="0"/>
          </a:p>
        </p:txBody>
      </p:sp>
      <p:sp>
        <p:nvSpPr>
          <p:cNvPr id="5" name="Shape 3"/>
          <p:cNvSpPr/>
          <p:nvPr/>
        </p:nvSpPr>
        <p:spPr>
          <a:xfrm>
            <a:off x="548640" y="1828800"/>
            <a:ext cx="5440680" cy="1828800"/>
          </a:xfrm>
          <a:prstGeom prst="roundRect">
            <a:avLst>
              <a:gd name="adj" fmla="val 4500"/>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822960" y="2103120"/>
            <a:ext cx="585216" cy="585216"/>
          </a:xfrm>
          <a:prstGeom prst="ellipse">
            <a:avLst/>
          </a:prstGeom>
          <a:solidFill>
            <a:srgbClr val="12908F"/>
          </a:solidFill>
          <a:ln/>
        </p:spPr>
      </p:sp>
      <p:pic>
        <p:nvPicPr>
          <p:cNvPr id="7" name="Image 0" descr="preencoded.png">    </p:cNvPr>
          <p:cNvPicPr>
            <a:picLocks noChangeAspect="1"/>
          </p:cNvPicPr>
          <p:nvPr/>
        </p:nvPicPr>
        <p:blipFill>
          <a:blip r:embed="rId1"/>
          <a:stretch>
            <a:fillRect/>
          </a:stretch>
        </p:blipFill>
        <p:spPr>
          <a:xfrm>
            <a:off x="980968" y="2261128"/>
            <a:ext cx="269199" cy="269199"/>
          </a:xfrm>
          <a:prstGeom prst="rect">
            <a:avLst/>
          </a:prstGeom>
        </p:spPr>
      </p:pic>
      <p:sp>
        <p:nvSpPr>
          <p:cNvPr id="8" name="Text 5"/>
          <p:cNvSpPr/>
          <p:nvPr/>
        </p:nvSpPr>
        <p:spPr>
          <a:xfrm>
            <a:off x="1600200" y="2103120"/>
            <a:ext cx="4160520" cy="585216"/>
          </a:xfrm>
          <a:prstGeom prst="rect">
            <a:avLst/>
          </a:prstGeom>
          <a:noFill/>
          <a:ln/>
        </p:spPr>
        <p:txBody>
          <a:bodyPr wrap="square" lIns="0" tIns="0" rIns="0" bIns="0" rtlCol="0" anchor="ctr"/>
          <a:lstStyle/>
          <a:p>
            <a:pPr indent="0" marL="0">
              <a:buNone/>
            </a:pPr>
            <a:r>
              <a:rPr lang="en-US" sz="1900" b="1" dirty="0">
                <a:solidFill>
                  <a:srgbClr val="1E2A36"/>
                </a:solidFill>
                <a:latin typeface="Calibri" pitchFamily="34" charset="0"/>
                <a:ea typeface="Calibri" pitchFamily="34" charset="-122"/>
                <a:cs typeface="Calibri" pitchFamily="34" charset="-120"/>
              </a:rPr>
              <a:t>The clock is real</a:t>
            </a:r>
            <a:endParaRPr lang="en-US" sz="1900" dirty="0"/>
          </a:p>
        </p:txBody>
      </p:sp>
      <p:sp>
        <p:nvSpPr>
          <p:cNvPr id="9" name="Text 6"/>
          <p:cNvSpPr/>
          <p:nvPr/>
        </p:nvSpPr>
        <p:spPr>
          <a:xfrm>
            <a:off x="1600200" y="2743200"/>
            <a:ext cx="4160520" cy="777240"/>
          </a:xfrm>
          <a:prstGeom prst="rect">
            <a:avLst/>
          </a:prstGeom>
          <a:noFill/>
          <a:ln/>
        </p:spPr>
        <p:txBody>
          <a:bodyPr wrap="square" lIns="0" tIns="0" rIns="0" bIns="0" rtlCol="0" anchor="t"/>
          <a:lstStyle/>
          <a:p>
            <a:pPr indent="0" marL="0">
              <a:lnSpc>
                <a:spcPct val="104000"/>
              </a:lnSpc>
              <a:buNone/>
            </a:pPr>
            <a:r>
              <a:rPr lang="en-US" sz="1550" dirty="0">
                <a:solidFill>
                  <a:srgbClr val="5F7284"/>
                </a:solidFill>
                <a:latin typeface="Calibri" pitchFamily="34" charset="0"/>
                <a:ea typeface="Calibri" pitchFamily="34" charset="-122"/>
                <a:cs typeface="Calibri" pitchFamily="34" charset="-120"/>
              </a:rPr>
              <a:t>6–8 min pitch, 2–3 min Q&amp;A, visible timer. At time, you stop — mid-sentence if needed.</a:t>
            </a:r>
            <a:endParaRPr lang="en-US" sz="1550" dirty="0"/>
          </a:p>
        </p:txBody>
      </p:sp>
      <p:sp>
        <p:nvSpPr>
          <p:cNvPr id="10" name="Shape 7"/>
          <p:cNvSpPr/>
          <p:nvPr/>
        </p:nvSpPr>
        <p:spPr>
          <a:xfrm>
            <a:off x="6172200" y="1828800"/>
            <a:ext cx="5440680" cy="1828800"/>
          </a:xfrm>
          <a:prstGeom prst="roundRect">
            <a:avLst>
              <a:gd name="adj" fmla="val 4500"/>
            </a:avLst>
          </a:prstGeom>
          <a:solidFill>
            <a:srgbClr val="F2F6F8"/>
          </a:solidFill>
          <a:ln/>
          <a:effectLst>
            <a:outerShdw sx="100000" sy="100000" kx="0" ky="0" algn="bl" rotWithShape="0" blurRad="88900" dist="38100" dir="5400000">
              <a:srgbClr val="000000">
                <a:alpha val="13000"/>
              </a:srgbClr>
            </a:outerShdw>
          </a:effectLst>
        </p:spPr>
      </p:sp>
      <p:sp>
        <p:nvSpPr>
          <p:cNvPr id="11" name="Shape 8"/>
          <p:cNvSpPr/>
          <p:nvPr/>
        </p:nvSpPr>
        <p:spPr>
          <a:xfrm>
            <a:off x="6446520" y="2103120"/>
            <a:ext cx="585216" cy="585216"/>
          </a:xfrm>
          <a:prstGeom prst="ellipse">
            <a:avLst/>
          </a:prstGeom>
          <a:solidFill>
            <a:srgbClr val="12908F"/>
          </a:solidFill>
          <a:ln/>
        </p:spPr>
      </p:sp>
      <p:pic>
        <p:nvPicPr>
          <p:cNvPr id="12" name="Image 1" descr="preencoded.png">    </p:cNvPr>
          <p:cNvPicPr>
            <a:picLocks noChangeAspect="1"/>
          </p:cNvPicPr>
          <p:nvPr/>
        </p:nvPicPr>
        <p:blipFill>
          <a:blip r:embed="rId2"/>
          <a:stretch>
            <a:fillRect/>
          </a:stretch>
        </p:blipFill>
        <p:spPr>
          <a:xfrm>
            <a:off x="6604528" y="2261128"/>
            <a:ext cx="269199" cy="269199"/>
          </a:xfrm>
          <a:prstGeom prst="rect">
            <a:avLst/>
          </a:prstGeom>
        </p:spPr>
      </p:pic>
      <p:sp>
        <p:nvSpPr>
          <p:cNvPr id="13" name="Text 9"/>
          <p:cNvSpPr/>
          <p:nvPr/>
        </p:nvSpPr>
        <p:spPr>
          <a:xfrm>
            <a:off x="7223760" y="2103120"/>
            <a:ext cx="4160520" cy="585216"/>
          </a:xfrm>
          <a:prstGeom prst="rect">
            <a:avLst/>
          </a:prstGeom>
          <a:noFill/>
          <a:ln/>
        </p:spPr>
        <p:txBody>
          <a:bodyPr wrap="square" lIns="0" tIns="0" rIns="0" bIns="0" rtlCol="0" anchor="ctr"/>
          <a:lstStyle/>
          <a:p>
            <a:pPr indent="0" marL="0">
              <a:buNone/>
            </a:pPr>
            <a:r>
              <a:rPr lang="en-US" sz="1900" b="1" dirty="0">
                <a:solidFill>
                  <a:srgbClr val="1E2A36"/>
                </a:solidFill>
                <a:latin typeface="Calibri" pitchFamily="34" charset="0"/>
                <a:ea typeface="Calibri" pitchFamily="34" charset="-122"/>
                <a:cs typeface="Calibri" pitchFamily="34" charset="-120"/>
              </a:rPr>
              <a:t>Score during the Q&amp;A</a:t>
            </a:r>
            <a:endParaRPr lang="en-US" sz="1900" dirty="0"/>
          </a:p>
        </p:txBody>
      </p:sp>
      <p:sp>
        <p:nvSpPr>
          <p:cNvPr id="14" name="Text 10"/>
          <p:cNvSpPr/>
          <p:nvPr/>
        </p:nvSpPr>
        <p:spPr>
          <a:xfrm>
            <a:off x="7223760" y="2743200"/>
            <a:ext cx="4160520" cy="777240"/>
          </a:xfrm>
          <a:prstGeom prst="rect">
            <a:avLst/>
          </a:prstGeom>
          <a:noFill/>
          <a:ln/>
        </p:spPr>
        <p:txBody>
          <a:bodyPr wrap="square" lIns="0" tIns="0" rIns="0" bIns="0" rtlCol="0" anchor="t"/>
          <a:lstStyle/>
          <a:p>
            <a:pPr indent="0" marL="0">
              <a:lnSpc>
                <a:spcPct val="104000"/>
              </a:lnSpc>
              <a:buNone/>
            </a:pPr>
            <a:r>
              <a:rPr lang="en-US" sz="1550" dirty="0">
                <a:solidFill>
                  <a:srgbClr val="5F7284"/>
                </a:solidFill>
                <a:latin typeface="Calibri" pitchFamily="34" charset="0"/>
                <a:ea typeface="Calibri" pitchFamily="34" charset="-122"/>
                <a:cs typeface="Calibri" pitchFamily="34" charset="-120"/>
              </a:rPr>
              <a:t>Finish your sheet before the next pitch begins. Scores written later are scores of a memory.</a:t>
            </a:r>
            <a:endParaRPr lang="en-US" sz="1550" dirty="0"/>
          </a:p>
        </p:txBody>
      </p:sp>
      <p:sp>
        <p:nvSpPr>
          <p:cNvPr id="15" name="Shape 11"/>
          <p:cNvSpPr/>
          <p:nvPr/>
        </p:nvSpPr>
        <p:spPr>
          <a:xfrm>
            <a:off x="548640" y="3840480"/>
            <a:ext cx="5440680" cy="1828800"/>
          </a:xfrm>
          <a:prstGeom prst="roundRect">
            <a:avLst>
              <a:gd name="adj" fmla="val 4500"/>
            </a:avLst>
          </a:prstGeom>
          <a:solidFill>
            <a:srgbClr val="F2F6F8"/>
          </a:solidFill>
          <a:ln/>
          <a:effectLst>
            <a:outerShdw sx="100000" sy="100000" kx="0" ky="0" algn="bl" rotWithShape="0" blurRad="88900" dist="38100" dir="5400000">
              <a:srgbClr val="000000">
                <a:alpha val="13000"/>
              </a:srgbClr>
            </a:outerShdw>
          </a:effectLst>
        </p:spPr>
      </p:sp>
      <p:sp>
        <p:nvSpPr>
          <p:cNvPr id="16" name="Shape 12"/>
          <p:cNvSpPr/>
          <p:nvPr/>
        </p:nvSpPr>
        <p:spPr>
          <a:xfrm>
            <a:off x="822960" y="4114800"/>
            <a:ext cx="585216" cy="585216"/>
          </a:xfrm>
          <a:prstGeom prst="ellipse">
            <a:avLst/>
          </a:prstGeom>
          <a:solidFill>
            <a:srgbClr val="12908F"/>
          </a:solidFill>
          <a:ln/>
        </p:spPr>
      </p:sp>
      <p:pic>
        <p:nvPicPr>
          <p:cNvPr id="17" name="Image 2" descr="preencoded.png">    </p:cNvPr>
          <p:cNvPicPr>
            <a:picLocks noChangeAspect="1"/>
          </p:cNvPicPr>
          <p:nvPr/>
        </p:nvPicPr>
        <p:blipFill>
          <a:blip r:embed="rId3"/>
          <a:stretch>
            <a:fillRect/>
          </a:stretch>
        </p:blipFill>
        <p:spPr>
          <a:xfrm>
            <a:off x="980968" y="4272808"/>
            <a:ext cx="269199" cy="269199"/>
          </a:xfrm>
          <a:prstGeom prst="rect">
            <a:avLst/>
          </a:prstGeom>
        </p:spPr>
      </p:pic>
      <p:sp>
        <p:nvSpPr>
          <p:cNvPr id="18" name="Text 13"/>
          <p:cNvSpPr/>
          <p:nvPr/>
        </p:nvSpPr>
        <p:spPr>
          <a:xfrm>
            <a:off x="1600200" y="4114800"/>
            <a:ext cx="4160520" cy="585216"/>
          </a:xfrm>
          <a:prstGeom prst="rect">
            <a:avLst/>
          </a:prstGeom>
          <a:noFill/>
          <a:ln/>
        </p:spPr>
        <p:txBody>
          <a:bodyPr wrap="square" lIns="0" tIns="0" rIns="0" bIns="0" rtlCol="0" anchor="ctr"/>
          <a:lstStyle/>
          <a:p>
            <a:pPr indent="0" marL="0">
              <a:buNone/>
            </a:pPr>
            <a:r>
              <a:rPr lang="en-US" sz="1900" b="1" dirty="0">
                <a:solidFill>
                  <a:srgbClr val="1E2A36"/>
                </a:solidFill>
                <a:latin typeface="Calibri" pitchFamily="34" charset="0"/>
                <a:ea typeface="Calibri" pitchFamily="34" charset="-122"/>
                <a:cs typeface="Calibri" pitchFamily="34" charset="-120"/>
              </a:rPr>
              <a:t>Keep scores to yourself</a:t>
            </a:r>
            <a:endParaRPr lang="en-US" sz="1900" dirty="0"/>
          </a:p>
        </p:txBody>
      </p:sp>
      <p:sp>
        <p:nvSpPr>
          <p:cNvPr id="19" name="Text 14"/>
          <p:cNvSpPr/>
          <p:nvPr/>
        </p:nvSpPr>
        <p:spPr>
          <a:xfrm>
            <a:off x="1600200" y="4754880"/>
            <a:ext cx="4160520" cy="777240"/>
          </a:xfrm>
          <a:prstGeom prst="rect">
            <a:avLst/>
          </a:prstGeom>
          <a:noFill/>
          <a:ln/>
        </p:spPr>
        <p:txBody>
          <a:bodyPr wrap="square" lIns="0" tIns="0" rIns="0" bIns="0" rtlCol="0" anchor="t"/>
          <a:lstStyle/>
          <a:p>
            <a:pPr indent="0" marL="0">
              <a:lnSpc>
                <a:spcPct val="104000"/>
              </a:lnSpc>
              <a:buNone/>
            </a:pPr>
            <a:r>
              <a:rPr lang="en-US" sz="1550" dirty="0">
                <a:solidFill>
                  <a:srgbClr val="5F7284"/>
                </a:solidFill>
                <a:latin typeface="Calibri" pitchFamily="34" charset="0"/>
                <a:ea typeface="Calibri" pitchFamily="34" charset="-122"/>
                <a:cs typeface="Calibri" pitchFamily="34" charset="-120"/>
              </a:rPr>
              <a:t>No comparing between pitches. Independent scores are the only useful ones.</a:t>
            </a:r>
            <a:endParaRPr lang="en-US" sz="1550" dirty="0"/>
          </a:p>
        </p:txBody>
      </p:sp>
      <p:sp>
        <p:nvSpPr>
          <p:cNvPr id="20" name="Shape 15"/>
          <p:cNvSpPr/>
          <p:nvPr/>
        </p:nvSpPr>
        <p:spPr>
          <a:xfrm>
            <a:off x="6172200" y="3840480"/>
            <a:ext cx="5440680" cy="1828800"/>
          </a:xfrm>
          <a:prstGeom prst="roundRect">
            <a:avLst>
              <a:gd name="adj" fmla="val 4500"/>
            </a:avLst>
          </a:prstGeom>
          <a:solidFill>
            <a:srgbClr val="F2F6F8"/>
          </a:solidFill>
          <a:ln/>
          <a:effectLst>
            <a:outerShdw sx="100000" sy="100000" kx="0" ky="0" algn="bl" rotWithShape="0" blurRad="88900" dist="38100" dir="5400000">
              <a:srgbClr val="000000">
                <a:alpha val="13000"/>
              </a:srgbClr>
            </a:outerShdw>
          </a:effectLst>
        </p:spPr>
      </p:sp>
      <p:sp>
        <p:nvSpPr>
          <p:cNvPr id="21" name="Shape 16"/>
          <p:cNvSpPr/>
          <p:nvPr/>
        </p:nvSpPr>
        <p:spPr>
          <a:xfrm>
            <a:off x="6446520" y="4114800"/>
            <a:ext cx="585216" cy="585216"/>
          </a:xfrm>
          <a:prstGeom prst="ellipse">
            <a:avLst/>
          </a:prstGeom>
          <a:solidFill>
            <a:srgbClr val="12908F"/>
          </a:solidFill>
          <a:ln/>
        </p:spPr>
      </p:sp>
      <p:pic>
        <p:nvPicPr>
          <p:cNvPr id="22" name="Image 3" descr="preencoded.png">    </p:cNvPr>
          <p:cNvPicPr>
            <a:picLocks noChangeAspect="1"/>
          </p:cNvPicPr>
          <p:nvPr/>
        </p:nvPicPr>
        <p:blipFill>
          <a:blip r:embed="rId4"/>
          <a:stretch>
            <a:fillRect/>
          </a:stretch>
        </p:blipFill>
        <p:spPr>
          <a:xfrm>
            <a:off x="6604528" y="4272808"/>
            <a:ext cx="269199" cy="269199"/>
          </a:xfrm>
          <a:prstGeom prst="rect">
            <a:avLst/>
          </a:prstGeom>
        </p:spPr>
      </p:pic>
      <p:sp>
        <p:nvSpPr>
          <p:cNvPr id="23" name="Text 17"/>
          <p:cNvSpPr/>
          <p:nvPr/>
        </p:nvSpPr>
        <p:spPr>
          <a:xfrm>
            <a:off x="7223760" y="4114800"/>
            <a:ext cx="4160520" cy="585216"/>
          </a:xfrm>
          <a:prstGeom prst="rect">
            <a:avLst/>
          </a:prstGeom>
          <a:noFill/>
          <a:ln/>
        </p:spPr>
        <p:txBody>
          <a:bodyPr wrap="square" lIns="0" tIns="0" rIns="0" bIns="0" rtlCol="0" anchor="ctr"/>
          <a:lstStyle/>
          <a:p>
            <a:pPr indent="0" marL="0">
              <a:buNone/>
            </a:pPr>
            <a:r>
              <a:rPr lang="en-US" sz="1900" b="1" dirty="0">
                <a:solidFill>
                  <a:srgbClr val="1E2A36"/>
                </a:solidFill>
                <a:latin typeface="Calibri" pitchFamily="34" charset="0"/>
                <a:ea typeface="Calibri" pitchFamily="34" charset="-122"/>
                <a:cs typeface="Calibri" pitchFamily="34" charset="-120"/>
              </a:rPr>
              <a:t>Honest, kind questions</a:t>
            </a:r>
            <a:endParaRPr lang="en-US" sz="1900" dirty="0"/>
          </a:p>
        </p:txBody>
      </p:sp>
      <p:sp>
        <p:nvSpPr>
          <p:cNvPr id="24" name="Text 18"/>
          <p:cNvSpPr/>
          <p:nvPr/>
        </p:nvSpPr>
        <p:spPr>
          <a:xfrm>
            <a:off x="7223760" y="4754880"/>
            <a:ext cx="4160520" cy="777240"/>
          </a:xfrm>
          <a:prstGeom prst="rect">
            <a:avLst/>
          </a:prstGeom>
          <a:noFill/>
          <a:ln/>
        </p:spPr>
        <p:txBody>
          <a:bodyPr wrap="square" lIns="0" tIns="0" rIns="0" bIns="0" rtlCol="0" anchor="t"/>
          <a:lstStyle/>
          <a:p>
            <a:pPr indent="0" marL="0">
              <a:lnSpc>
                <a:spcPct val="104000"/>
              </a:lnSpc>
              <a:buNone/>
            </a:pPr>
            <a:r>
              <a:rPr lang="en-US" sz="1550" dirty="0">
                <a:solidFill>
                  <a:srgbClr val="5F7284"/>
                </a:solidFill>
                <a:latin typeface="Calibri" pitchFamily="34" charset="0"/>
                <a:ea typeface="Calibri" pitchFamily="34" charset="-122"/>
                <a:cs typeface="Calibri" pitchFamily="34" charset="-120"/>
              </a:rPr>
              <a:t>Ask what a skeptical contributor would ask. Aim at the idea, never the person.</a:t>
            </a:r>
            <a:endParaRPr lang="en-US" sz="1550" dirty="0"/>
          </a:p>
        </p:txBody>
      </p:sp>
      <p:sp>
        <p:nvSpPr>
          <p:cNvPr id="25" name="Text 19"/>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10 · Pitch Day</a:t>
            </a:r>
            <a:endParaRPr lang="en-US" sz="1000" dirty="0"/>
          </a:p>
        </p:txBody>
      </p:sp>
      <p:sp>
        <p:nvSpPr>
          <p:cNvPr id="26" name="Text 20"/>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CALIBRATE — THE SHEET IN YOUR HAND</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Score the idea as pitched: 1 weak · 2 adequate · 3 strong</a:t>
            </a:r>
            <a:endParaRPr lang="en-US" sz="3100" dirty="0"/>
          </a:p>
        </p:txBody>
      </p:sp>
      <p:sp>
        <p:nvSpPr>
          <p:cNvPr id="5" name="Text 3"/>
          <p:cNvSpPr/>
          <p:nvPr/>
        </p:nvSpPr>
        <p:spPr>
          <a:xfrm>
            <a:off x="822960" y="1737360"/>
            <a:ext cx="2926080" cy="274320"/>
          </a:xfrm>
          <a:prstGeom prst="rect">
            <a:avLst/>
          </a:prstGeom>
          <a:noFill/>
          <a:ln/>
        </p:spPr>
        <p:txBody>
          <a:bodyPr wrap="square" lIns="0" tIns="0" rIns="0" bIns="0" rtlCol="0" anchor="ctr"/>
          <a:lstStyle/>
          <a:p>
            <a:pPr indent="0" marL="0">
              <a:buNone/>
            </a:pPr>
            <a:r>
              <a:rPr lang="en-US" sz="1400" b="1" spc="100" kern="0" dirty="0">
                <a:solidFill>
                  <a:srgbClr val="5F7284"/>
                </a:solidFill>
                <a:latin typeface="Calibri" pitchFamily="34" charset="0"/>
                <a:ea typeface="Calibri" pitchFamily="34" charset="-122"/>
                <a:cs typeface="Calibri" pitchFamily="34" charset="-120"/>
              </a:rPr>
              <a:t>CRITERION</a:t>
            </a:r>
            <a:endParaRPr lang="en-US" sz="1400" dirty="0"/>
          </a:p>
        </p:txBody>
      </p:sp>
      <p:sp>
        <p:nvSpPr>
          <p:cNvPr id="6" name="Text 4"/>
          <p:cNvSpPr/>
          <p:nvPr/>
        </p:nvSpPr>
        <p:spPr>
          <a:xfrm>
            <a:off x="3840480" y="1737360"/>
            <a:ext cx="7315200" cy="274320"/>
          </a:xfrm>
          <a:prstGeom prst="rect">
            <a:avLst/>
          </a:prstGeom>
          <a:noFill/>
          <a:ln/>
        </p:spPr>
        <p:txBody>
          <a:bodyPr wrap="square" lIns="0" tIns="0" rIns="0" bIns="0" rtlCol="0" anchor="ctr"/>
          <a:lstStyle/>
          <a:p>
            <a:pPr indent="0" marL="0">
              <a:buNone/>
            </a:pPr>
            <a:r>
              <a:rPr lang="en-US" sz="1400" b="1" spc="100" kern="0" dirty="0">
                <a:solidFill>
                  <a:srgbClr val="5F7284"/>
                </a:solidFill>
                <a:latin typeface="Calibri" pitchFamily="34" charset="0"/>
                <a:ea typeface="Calibri" pitchFamily="34" charset="-122"/>
                <a:cs typeface="Calibri" pitchFamily="34" charset="-120"/>
              </a:rPr>
              <a:t>WHAT A 3 LOOKS LIKE</a:t>
            </a:r>
            <a:endParaRPr lang="en-US" sz="1400" dirty="0"/>
          </a:p>
        </p:txBody>
      </p:sp>
      <p:sp>
        <p:nvSpPr>
          <p:cNvPr id="7" name="Shape 5"/>
          <p:cNvSpPr/>
          <p:nvPr/>
        </p:nvSpPr>
        <p:spPr>
          <a:xfrm>
            <a:off x="548640" y="2057400"/>
            <a:ext cx="11064240" cy="475488"/>
          </a:xfrm>
          <a:prstGeom prst="rect">
            <a:avLst/>
          </a:prstGeom>
          <a:solidFill>
            <a:srgbClr val="F2F6F8"/>
          </a:solidFill>
          <a:ln/>
        </p:spPr>
      </p:sp>
      <p:sp>
        <p:nvSpPr>
          <p:cNvPr id="8" name="Text 6"/>
          <p:cNvSpPr/>
          <p:nvPr/>
        </p:nvSpPr>
        <p:spPr>
          <a:xfrm>
            <a:off x="822960" y="2057400"/>
            <a:ext cx="2926080" cy="475488"/>
          </a:xfrm>
          <a:prstGeom prst="rect">
            <a:avLst/>
          </a:prstGeom>
          <a:noFill/>
          <a:ln/>
        </p:spPr>
        <p:txBody>
          <a:bodyPr wrap="square" lIns="0" tIns="0" rIns="0" bIns="0" rtlCol="0" anchor="ctr"/>
          <a:lstStyle/>
          <a:p>
            <a:pPr indent="0" marL="0">
              <a:buNone/>
            </a:pPr>
            <a:r>
              <a:rPr lang="en-US" sz="1650" b="1" dirty="0">
                <a:solidFill>
                  <a:srgbClr val="1E2A36"/>
                </a:solidFill>
                <a:latin typeface="Calibri" pitchFamily="34" charset="0"/>
                <a:ea typeface="Calibri" pitchFamily="34" charset="-122"/>
                <a:cs typeface="Calibri" pitchFamily="34" charset="-120"/>
              </a:rPr>
              <a:t>Value / real need</a:t>
            </a:r>
            <a:endParaRPr lang="en-US" sz="1650" dirty="0"/>
          </a:p>
        </p:txBody>
      </p:sp>
      <p:sp>
        <p:nvSpPr>
          <p:cNvPr id="9" name="Text 7"/>
          <p:cNvSpPr/>
          <p:nvPr/>
        </p:nvSpPr>
        <p:spPr>
          <a:xfrm>
            <a:off x="3840480" y="2057400"/>
            <a:ext cx="7589520" cy="475488"/>
          </a:xfrm>
          <a:prstGeom prst="rect">
            <a:avLst/>
          </a:prstGeom>
          <a:noFill/>
          <a:ln/>
        </p:spPr>
        <p:txBody>
          <a:bodyPr wrap="square" lIns="0" tIns="0" rIns="0" bIns="0" rtlCol="0" anchor="ctr"/>
          <a:lstStyle/>
          <a:p>
            <a:pPr indent="0" marL="0">
              <a:buNone/>
            </a:pPr>
            <a:r>
              <a:rPr lang="en-US" sz="1600" dirty="0">
                <a:solidFill>
                  <a:srgbClr val="1E2A36"/>
                </a:solidFill>
                <a:latin typeface="Calibri" pitchFamily="34" charset="0"/>
                <a:ea typeface="Calibri" pitchFamily="34" charset="-122"/>
                <a:cs typeface="Calibri" pitchFamily="34" charset="-120"/>
              </a:rPr>
              <a:t>A specific, reachable userbase with an evidenced, felt need</a:t>
            </a:r>
            <a:endParaRPr lang="en-US" sz="1600" dirty="0"/>
          </a:p>
        </p:txBody>
      </p:sp>
      <p:sp>
        <p:nvSpPr>
          <p:cNvPr id="10" name="Text 8"/>
          <p:cNvSpPr/>
          <p:nvPr/>
        </p:nvSpPr>
        <p:spPr>
          <a:xfrm>
            <a:off x="822960" y="2532888"/>
            <a:ext cx="2926080" cy="475488"/>
          </a:xfrm>
          <a:prstGeom prst="rect">
            <a:avLst/>
          </a:prstGeom>
          <a:noFill/>
          <a:ln/>
        </p:spPr>
        <p:txBody>
          <a:bodyPr wrap="square" lIns="0" tIns="0" rIns="0" bIns="0" rtlCol="0" anchor="ctr"/>
          <a:lstStyle/>
          <a:p>
            <a:pPr indent="0" marL="0">
              <a:buNone/>
            </a:pPr>
            <a:r>
              <a:rPr lang="en-US" sz="1650" b="1" dirty="0">
                <a:solidFill>
                  <a:srgbClr val="1E2A36"/>
                </a:solidFill>
                <a:latin typeface="Calibri" pitchFamily="34" charset="0"/>
                <a:ea typeface="Calibri" pitchFamily="34" charset="-122"/>
                <a:cs typeface="Calibri" pitchFamily="34" charset="-120"/>
              </a:rPr>
              <a:t>Feasibility</a:t>
            </a:r>
            <a:endParaRPr lang="en-US" sz="1650" dirty="0"/>
          </a:p>
        </p:txBody>
      </p:sp>
      <p:sp>
        <p:nvSpPr>
          <p:cNvPr id="11" name="Text 9"/>
          <p:cNvSpPr/>
          <p:nvPr/>
        </p:nvSpPr>
        <p:spPr>
          <a:xfrm>
            <a:off x="3840480" y="2532888"/>
            <a:ext cx="7589520" cy="475488"/>
          </a:xfrm>
          <a:prstGeom prst="rect">
            <a:avLst/>
          </a:prstGeom>
          <a:noFill/>
          <a:ln/>
        </p:spPr>
        <p:txBody>
          <a:bodyPr wrap="square" lIns="0" tIns="0" rIns="0" bIns="0" rtlCol="0" anchor="ctr"/>
          <a:lstStyle/>
          <a:p>
            <a:pPr indent="0" marL="0">
              <a:buNone/>
            </a:pPr>
            <a:r>
              <a:rPr lang="en-US" sz="1600" dirty="0">
                <a:solidFill>
                  <a:srgbClr val="1E2A36"/>
                </a:solidFill>
                <a:latin typeface="Calibri" pitchFamily="34" charset="0"/>
                <a:ea typeface="Calibri" pitchFamily="34" charset="-122"/>
                <a:cs typeface="Calibri" pitchFamily="34" charset="-120"/>
              </a:rPr>
              <a:t>Risks named honestly; scope, stack, and mitigation credible</a:t>
            </a:r>
            <a:endParaRPr lang="en-US" sz="1600" dirty="0"/>
          </a:p>
        </p:txBody>
      </p:sp>
      <p:sp>
        <p:nvSpPr>
          <p:cNvPr id="12" name="Shape 10"/>
          <p:cNvSpPr/>
          <p:nvPr/>
        </p:nvSpPr>
        <p:spPr>
          <a:xfrm>
            <a:off x="548640" y="3008376"/>
            <a:ext cx="11064240" cy="475488"/>
          </a:xfrm>
          <a:prstGeom prst="rect">
            <a:avLst/>
          </a:prstGeom>
          <a:solidFill>
            <a:srgbClr val="F2F6F8"/>
          </a:solidFill>
          <a:ln/>
        </p:spPr>
      </p:sp>
      <p:sp>
        <p:nvSpPr>
          <p:cNvPr id="13" name="Text 11"/>
          <p:cNvSpPr/>
          <p:nvPr/>
        </p:nvSpPr>
        <p:spPr>
          <a:xfrm>
            <a:off x="822960" y="3008376"/>
            <a:ext cx="2926080" cy="475488"/>
          </a:xfrm>
          <a:prstGeom prst="rect">
            <a:avLst/>
          </a:prstGeom>
          <a:noFill/>
          <a:ln/>
        </p:spPr>
        <p:txBody>
          <a:bodyPr wrap="square" lIns="0" tIns="0" rIns="0" bIns="0" rtlCol="0" anchor="ctr"/>
          <a:lstStyle/>
          <a:p>
            <a:pPr indent="0" marL="0">
              <a:buNone/>
            </a:pPr>
            <a:r>
              <a:rPr lang="en-US" sz="1650" b="1" dirty="0">
                <a:solidFill>
                  <a:srgbClr val="1E2A36"/>
                </a:solidFill>
                <a:latin typeface="Calibri" pitchFamily="34" charset="0"/>
                <a:ea typeface="Calibri" pitchFamily="34" charset="-122"/>
                <a:cs typeface="Calibri" pitchFamily="34" charset="-120"/>
              </a:rPr>
              <a:t>Richness / breadth</a:t>
            </a:r>
            <a:endParaRPr lang="en-US" sz="1650" dirty="0"/>
          </a:p>
        </p:txBody>
      </p:sp>
      <p:sp>
        <p:nvSpPr>
          <p:cNvPr id="14" name="Text 12"/>
          <p:cNvSpPr/>
          <p:nvPr/>
        </p:nvSpPr>
        <p:spPr>
          <a:xfrm>
            <a:off x="3840480" y="3008376"/>
            <a:ext cx="7589520" cy="475488"/>
          </a:xfrm>
          <a:prstGeom prst="rect">
            <a:avLst/>
          </a:prstGeom>
          <a:noFill/>
          <a:ln/>
        </p:spPr>
        <p:txBody>
          <a:bodyPr wrap="square" lIns="0" tIns="0" rIns="0" bIns="0" rtlCol="0" anchor="ctr"/>
          <a:lstStyle/>
          <a:p>
            <a:pPr indent="0" marL="0">
              <a:buNone/>
            </a:pPr>
            <a:r>
              <a:rPr lang="en-US" sz="1600" dirty="0">
                <a:solidFill>
                  <a:srgbClr val="1E2A36"/>
                </a:solidFill>
                <a:latin typeface="Calibri" pitchFamily="34" charset="0"/>
                <a:ea typeface="Calibri" pitchFamily="34" charset="-122"/>
                <a:cs typeface="Calibri" pitchFamily="34" charset="-120"/>
              </a:rPr>
              <a:t>Several engineering dimensions; room for a team to grow into</a:t>
            </a:r>
            <a:endParaRPr lang="en-US" sz="1600" dirty="0"/>
          </a:p>
        </p:txBody>
      </p:sp>
      <p:sp>
        <p:nvSpPr>
          <p:cNvPr id="15" name="Text 13"/>
          <p:cNvSpPr/>
          <p:nvPr/>
        </p:nvSpPr>
        <p:spPr>
          <a:xfrm>
            <a:off x="822960" y="3483864"/>
            <a:ext cx="2926080" cy="475488"/>
          </a:xfrm>
          <a:prstGeom prst="rect">
            <a:avLst/>
          </a:prstGeom>
          <a:noFill/>
          <a:ln/>
        </p:spPr>
        <p:txBody>
          <a:bodyPr wrap="square" lIns="0" tIns="0" rIns="0" bIns="0" rtlCol="0" anchor="ctr"/>
          <a:lstStyle/>
          <a:p>
            <a:pPr indent="0" marL="0">
              <a:buNone/>
            </a:pPr>
            <a:r>
              <a:rPr lang="en-US" sz="1650" b="1" dirty="0">
                <a:solidFill>
                  <a:srgbClr val="1E2A36"/>
                </a:solidFill>
                <a:latin typeface="Calibri" pitchFamily="34" charset="0"/>
                <a:ea typeface="Calibri" pitchFamily="34" charset="-122"/>
                <a:cs typeface="Calibri" pitchFamily="34" charset="-120"/>
              </a:rPr>
              <a:t>Scope realism</a:t>
            </a:r>
            <a:endParaRPr lang="en-US" sz="1650" dirty="0"/>
          </a:p>
        </p:txBody>
      </p:sp>
      <p:sp>
        <p:nvSpPr>
          <p:cNvPr id="16" name="Text 14"/>
          <p:cNvSpPr/>
          <p:nvPr/>
        </p:nvSpPr>
        <p:spPr>
          <a:xfrm>
            <a:off x="3840480" y="3483864"/>
            <a:ext cx="7589520" cy="475488"/>
          </a:xfrm>
          <a:prstGeom prst="rect">
            <a:avLst/>
          </a:prstGeom>
          <a:noFill/>
          <a:ln/>
        </p:spPr>
        <p:txBody>
          <a:bodyPr wrap="square" lIns="0" tIns="0" rIns="0" bIns="0" rtlCol="0" anchor="ctr"/>
          <a:lstStyle/>
          <a:p>
            <a:pPr indent="0" marL="0">
              <a:buNone/>
            </a:pPr>
            <a:r>
              <a:rPr lang="en-US" sz="1600" dirty="0">
                <a:solidFill>
                  <a:srgbClr val="1E2A36"/>
                </a:solidFill>
                <a:latin typeface="Calibri" pitchFamily="34" charset="0"/>
                <a:ea typeface="Calibri" pitchFamily="34" charset="-122"/>
                <a:cs typeface="Calibri" pitchFamily="34" charset="-120"/>
              </a:rPr>
              <a:t>The MVP plausibly fits the real build window — roughly five weeks</a:t>
            </a:r>
            <a:endParaRPr lang="en-US" sz="1600" dirty="0"/>
          </a:p>
        </p:txBody>
      </p:sp>
      <p:sp>
        <p:nvSpPr>
          <p:cNvPr id="17" name="Shape 15"/>
          <p:cNvSpPr/>
          <p:nvPr/>
        </p:nvSpPr>
        <p:spPr>
          <a:xfrm>
            <a:off x="548640" y="3959352"/>
            <a:ext cx="11064240" cy="475488"/>
          </a:xfrm>
          <a:prstGeom prst="rect">
            <a:avLst/>
          </a:prstGeom>
          <a:solidFill>
            <a:srgbClr val="F2F6F8"/>
          </a:solidFill>
          <a:ln/>
        </p:spPr>
      </p:sp>
      <p:sp>
        <p:nvSpPr>
          <p:cNvPr id="18" name="Text 16"/>
          <p:cNvSpPr/>
          <p:nvPr/>
        </p:nvSpPr>
        <p:spPr>
          <a:xfrm>
            <a:off x="822960" y="3959352"/>
            <a:ext cx="2926080" cy="475488"/>
          </a:xfrm>
          <a:prstGeom prst="rect">
            <a:avLst/>
          </a:prstGeom>
          <a:noFill/>
          <a:ln/>
        </p:spPr>
        <p:txBody>
          <a:bodyPr wrap="square" lIns="0" tIns="0" rIns="0" bIns="0" rtlCol="0" anchor="ctr"/>
          <a:lstStyle/>
          <a:p>
            <a:pPr indent="0" marL="0">
              <a:buNone/>
            </a:pPr>
            <a:r>
              <a:rPr lang="en-US" sz="1650" b="1" dirty="0">
                <a:solidFill>
                  <a:srgbClr val="1E2A36"/>
                </a:solidFill>
                <a:latin typeface="Calibri" pitchFamily="34" charset="0"/>
                <a:ea typeface="Calibri" pitchFamily="34" charset="-122"/>
                <a:cs typeface="Calibri" pitchFamily="34" charset="-120"/>
              </a:rPr>
              <a:t>Extensibility</a:t>
            </a:r>
            <a:endParaRPr lang="en-US" sz="1650" dirty="0"/>
          </a:p>
        </p:txBody>
      </p:sp>
      <p:sp>
        <p:nvSpPr>
          <p:cNvPr id="19" name="Text 17"/>
          <p:cNvSpPr/>
          <p:nvPr/>
        </p:nvSpPr>
        <p:spPr>
          <a:xfrm>
            <a:off x="3840480" y="3959352"/>
            <a:ext cx="7589520" cy="475488"/>
          </a:xfrm>
          <a:prstGeom prst="rect">
            <a:avLst/>
          </a:prstGeom>
          <a:noFill/>
          <a:ln/>
        </p:spPr>
        <p:txBody>
          <a:bodyPr wrap="square" lIns="0" tIns="0" rIns="0" bIns="0" rtlCol="0" anchor="ctr"/>
          <a:lstStyle/>
          <a:p>
            <a:pPr indent="0" marL="0">
              <a:buNone/>
            </a:pPr>
            <a:r>
              <a:rPr lang="en-US" sz="1600" dirty="0">
                <a:solidFill>
                  <a:srgbClr val="1E2A36"/>
                </a:solidFill>
                <a:latin typeface="Calibri" pitchFamily="34" charset="0"/>
                <a:ea typeface="Calibri" pitchFamily="34" charset="-122"/>
                <a:cs typeface="Calibri" pitchFamily="34" charset="-120"/>
              </a:rPr>
              <a:t>Others could credibly keep building on it</a:t>
            </a:r>
            <a:endParaRPr lang="en-US" sz="1600" dirty="0"/>
          </a:p>
        </p:txBody>
      </p:sp>
      <p:sp>
        <p:nvSpPr>
          <p:cNvPr id="20" name="Text 18"/>
          <p:cNvSpPr/>
          <p:nvPr/>
        </p:nvSpPr>
        <p:spPr>
          <a:xfrm>
            <a:off x="822960" y="4434840"/>
            <a:ext cx="2926080" cy="475488"/>
          </a:xfrm>
          <a:prstGeom prst="rect">
            <a:avLst/>
          </a:prstGeom>
          <a:noFill/>
          <a:ln/>
        </p:spPr>
        <p:txBody>
          <a:bodyPr wrap="square" lIns="0" tIns="0" rIns="0" bIns="0" rtlCol="0" anchor="ctr"/>
          <a:lstStyle/>
          <a:p>
            <a:pPr indent="0" marL="0">
              <a:buNone/>
            </a:pPr>
            <a:r>
              <a:rPr lang="en-US" sz="1650" b="1" dirty="0">
                <a:solidFill>
                  <a:srgbClr val="1E2A36"/>
                </a:solidFill>
                <a:latin typeface="Calibri" pitchFamily="34" charset="0"/>
                <a:ea typeface="Calibri" pitchFamily="34" charset="-122"/>
                <a:cs typeface="Calibri" pitchFamily="34" charset="-120"/>
              </a:rPr>
              <a:t>Maintainability</a:t>
            </a:r>
            <a:endParaRPr lang="en-US" sz="1650" dirty="0"/>
          </a:p>
        </p:txBody>
      </p:sp>
      <p:sp>
        <p:nvSpPr>
          <p:cNvPr id="21" name="Text 19"/>
          <p:cNvSpPr/>
          <p:nvPr/>
        </p:nvSpPr>
        <p:spPr>
          <a:xfrm>
            <a:off x="3840480" y="4434840"/>
            <a:ext cx="7589520" cy="475488"/>
          </a:xfrm>
          <a:prstGeom prst="rect">
            <a:avLst/>
          </a:prstGeom>
          <a:noFill/>
          <a:ln/>
        </p:spPr>
        <p:txBody>
          <a:bodyPr wrap="square" lIns="0" tIns="0" rIns="0" bIns="0" rtlCol="0" anchor="ctr"/>
          <a:lstStyle/>
          <a:p>
            <a:pPr indent="0" marL="0">
              <a:buNone/>
            </a:pPr>
            <a:r>
              <a:rPr lang="en-US" sz="1600" dirty="0">
                <a:solidFill>
                  <a:srgbClr val="1E2A36"/>
                </a:solidFill>
                <a:latin typeface="Calibri" pitchFamily="34" charset="0"/>
                <a:ea typeface="Calibri" pitchFamily="34" charset="-122"/>
                <a:cs typeface="Calibri" pitchFamily="34" charset="-120"/>
              </a:rPr>
              <a:t>A tractable stack the team could own, explain, and support</a:t>
            </a:r>
            <a:endParaRPr lang="en-US" sz="1600" dirty="0"/>
          </a:p>
        </p:txBody>
      </p:sp>
      <p:sp>
        <p:nvSpPr>
          <p:cNvPr id="22" name="Shape 20"/>
          <p:cNvSpPr/>
          <p:nvPr/>
        </p:nvSpPr>
        <p:spPr>
          <a:xfrm>
            <a:off x="548640" y="4910328"/>
            <a:ext cx="11064240" cy="475488"/>
          </a:xfrm>
          <a:prstGeom prst="rect">
            <a:avLst/>
          </a:prstGeom>
          <a:solidFill>
            <a:srgbClr val="F2F6F8"/>
          </a:solidFill>
          <a:ln/>
        </p:spPr>
      </p:sp>
      <p:sp>
        <p:nvSpPr>
          <p:cNvPr id="23" name="Text 21"/>
          <p:cNvSpPr/>
          <p:nvPr/>
        </p:nvSpPr>
        <p:spPr>
          <a:xfrm>
            <a:off x="822960" y="4910328"/>
            <a:ext cx="2926080" cy="475488"/>
          </a:xfrm>
          <a:prstGeom prst="rect">
            <a:avLst/>
          </a:prstGeom>
          <a:noFill/>
          <a:ln/>
        </p:spPr>
        <p:txBody>
          <a:bodyPr wrap="square" lIns="0" tIns="0" rIns="0" bIns="0" rtlCol="0" anchor="ctr"/>
          <a:lstStyle/>
          <a:p>
            <a:pPr indent="0" marL="0">
              <a:buNone/>
            </a:pPr>
            <a:r>
              <a:rPr lang="en-US" sz="1650" b="1" dirty="0">
                <a:solidFill>
                  <a:srgbClr val="1E2A36"/>
                </a:solidFill>
                <a:latin typeface="Calibri" pitchFamily="34" charset="0"/>
                <a:ea typeface="Calibri" pitchFamily="34" charset="-122"/>
                <a:cs typeface="Calibri" pitchFamily="34" charset="-120"/>
              </a:rPr>
              <a:t>Preparedness</a:t>
            </a:r>
            <a:endParaRPr lang="en-US" sz="1650" dirty="0"/>
          </a:p>
        </p:txBody>
      </p:sp>
      <p:sp>
        <p:nvSpPr>
          <p:cNvPr id="24" name="Text 22"/>
          <p:cNvSpPr/>
          <p:nvPr/>
        </p:nvSpPr>
        <p:spPr>
          <a:xfrm>
            <a:off x="3840480" y="4910328"/>
            <a:ext cx="7589520" cy="475488"/>
          </a:xfrm>
          <a:prstGeom prst="rect">
            <a:avLst/>
          </a:prstGeom>
          <a:noFill/>
          <a:ln/>
        </p:spPr>
        <p:txBody>
          <a:bodyPr wrap="square" lIns="0" tIns="0" rIns="0" bIns="0" rtlCol="0" anchor="ctr"/>
          <a:lstStyle/>
          <a:p>
            <a:pPr indent="0" marL="0">
              <a:buNone/>
            </a:pPr>
            <a:r>
              <a:rPr lang="en-US" sz="1600" dirty="0">
                <a:solidFill>
                  <a:srgbClr val="1E2A36"/>
                </a:solidFill>
                <a:latin typeface="Calibri" pitchFamily="34" charset="0"/>
                <a:ea typeface="Calibri" pitchFamily="34" charset="-122"/>
                <a:cs typeface="Calibri" pitchFamily="34" charset="-120"/>
              </a:rPr>
              <a:t>Knows the idea's weaknesses; answered questions honestly</a:t>
            </a:r>
            <a:endParaRPr lang="en-US" sz="1600" dirty="0"/>
          </a:p>
        </p:txBody>
      </p:sp>
      <p:sp>
        <p:nvSpPr>
          <p:cNvPr id="25" name="Shape 23"/>
          <p:cNvSpPr/>
          <p:nvPr/>
        </p:nvSpPr>
        <p:spPr>
          <a:xfrm>
            <a:off x="548640" y="5486400"/>
            <a:ext cx="11064240" cy="731520"/>
          </a:xfrm>
          <a:prstGeom prst="roundRect">
            <a:avLst>
              <a:gd name="adj" fmla="val 11250"/>
            </a:avLst>
          </a:prstGeom>
          <a:solidFill>
            <a:srgbClr val="14233A"/>
          </a:solidFill>
          <a:ln/>
          <a:effectLst>
            <a:outerShdw sx="100000" sy="100000" kx="0" ky="0" algn="bl" rotWithShape="0" blurRad="88900" dist="38100" dir="5400000">
              <a:srgbClr val="000000">
                <a:alpha val="13000"/>
              </a:srgbClr>
            </a:outerShdw>
          </a:effectLst>
        </p:spPr>
      </p:sp>
      <p:sp>
        <p:nvSpPr>
          <p:cNvPr id="26" name="Text 24"/>
          <p:cNvSpPr/>
          <p:nvPr/>
        </p:nvSpPr>
        <p:spPr>
          <a:xfrm>
            <a:off x="868680" y="5486400"/>
            <a:ext cx="10424160" cy="731520"/>
          </a:xfrm>
          <a:prstGeom prst="rect">
            <a:avLst/>
          </a:prstGeom>
          <a:noFill/>
          <a:ln/>
        </p:spPr>
        <p:txBody>
          <a:bodyPr wrap="square" lIns="0" tIns="0" rIns="0" bIns="0" rtlCol="0" anchor="ctr"/>
          <a:lstStyle/>
          <a:p>
            <a:pPr algn="ctr" indent="0" marL="0">
              <a:buNone/>
            </a:pPr>
            <a:r>
              <a:rPr lang="en-US" sz="1550" b="1" dirty="0">
                <a:solidFill>
                  <a:srgbClr val="E8A33D"/>
                </a:solidFill>
                <a:latin typeface="Calibri" pitchFamily="34" charset="0"/>
                <a:ea typeface="Calibri" pitchFamily="34" charset="-122"/>
                <a:cs typeface="Calibri" pitchFamily="34" charset="-120"/>
              </a:rPr>
              <a:t>Each criterion on its own.  </a:t>
            </a:r>
            <a:pPr algn="ctr" indent="0" marL="0">
              <a:buNone/>
            </a:pPr>
            <a:r>
              <a:rPr lang="en-US" sz="1550" b="1" dirty="0">
                <a:solidFill>
                  <a:srgbClr val="FFFFFF"/>
                </a:solidFill>
                <a:latin typeface="Calibri" pitchFamily="34" charset="0"/>
                <a:ea typeface="Calibri" pitchFamily="34" charset="-122"/>
                <a:cs typeface="Calibri" pitchFamily="34" charset="-120"/>
              </a:rPr>
              <a:t>Score the evidence, not the confidence.  </a:t>
            </a:r>
            <a:pPr algn="ctr" indent="0" marL="0">
              <a:buNone/>
            </a:pPr>
            <a:r>
              <a:rPr lang="en-US" sz="1550" dirty="0">
                <a:solidFill>
                  <a:srgbClr val="CFE0E9"/>
                </a:solidFill>
                <a:latin typeface="Calibri" pitchFamily="34" charset="0"/>
                <a:ea typeface="Calibri" pitchFamily="34" charset="-122"/>
                <a:cs typeface="Calibri" pitchFamily="34" charset="-120"/>
              </a:rPr>
              <a:t>No curve — each pitch against the criteria.</a:t>
            </a:r>
            <a:endParaRPr lang="en-US" sz="1550" dirty="0"/>
          </a:p>
        </p:txBody>
      </p:sp>
      <p:sp>
        <p:nvSpPr>
          <p:cNvPr id="27" name="Text 25"/>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10 · Pitch Day</a:t>
            </a:r>
            <a:endParaRPr lang="en-US" sz="1000" dirty="0"/>
          </a:p>
        </p:txBody>
      </p:sp>
      <p:sp>
        <p:nvSpPr>
          <p:cNvPr id="28" name="Text 26"/>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10424160" y="-1188720"/>
            <a:ext cx="3291840" cy="3291840"/>
          </a:xfrm>
          <a:prstGeom prst="ellipse">
            <a:avLst/>
          </a:prstGeom>
          <a:solidFill>
            <a:srgbClr val="1C3252"/>
          </a:solidFill>
          <a:ln/>
        </p:spPr>
      </p:sp>
      <p:sp>
        <p:nvSpPr>
          <p:cNvPr id="3" name="Shape 1"/>
          <p:cNvSpPr/>
          <p:nvPr/>
        </p:nvSpPr>
        <p:spPr>
          <a:xfrm>
            <a:off x="566928" y="548640"/>
            <a:ext cx="137160" cy="137160"/>
          </a:xfrm>
          <a:prstGeom prst="ellipse">
            <a:avLst/>
          </a:prstGeom>
          <a:solidFill>
            <a:srgbClr val="E8A33D"/>
          </a:solidFill>
          <a:ln/>
        </p:spPr>
      </p:sp>
      <p:sp>
        <p:nvSpPr>
          <p:cNvPr id="4" name="Text 2"/>
          <p:cNvSpPr/>
          <p:nvPr/>
        </p:nvSpPr>
        <p:spPr>
          <a:xfrm>
            <a:off x="795528" y="457200"/>
            <a:ext cx="10515600" cy="310896"/>
          </a:xfrm>
          <a:prstGeom prst="rect">
            <a:avLst/>
          </a:prstGeom>
          <a:noFill/>
          <a:ln/>
        </p:spPr>
        <p:txBody>
          <a:bodyPr wrap="square" lIns="0" tIns="0" rIns="0" bIns="0" rtlCol="0" anchor="ctr"/>
          <a:lstStyle/>
          <a:p>
            <a:pPr indent="0" marL="0">
              <a:buNone/>
            </a:pPr>
            <a:r>
              <a:rPr lang="en-US" sz="1400" b="1" spc="200" kern="0" dirty="0">
                <a:solidFill>
                  <a:srgbClr val="E8A33D"/>
                </a:solidFill>
                <a:latin typeface="Calibri" pitchFamily="34" charset="0"/>
                <a:ea typeface="Calibri" pitchFamily="34" charset="-122"/>
                <a:cs typeface="Calibri" pitchFamily="34" charset="-120"/>
              </a:rPr>
              <a:t>THE RECRUITING QUESTION</a:t>
            </a:r>
            <a:endParaRPr lang="en-US" sz="1400" dirty="0"/>
          </a:p>
        </p:txBody>
      </p:sp>
      <p:sp>
        <p:nvSpPr>
          <p:cNvPr id="5" name="Text 3"/>
          <p:cNvSpPr/>
          <p:nvPr/>
        </p:nvSpPr>
        <p:spPr>
          <a:xfrm>
            <a:off x="548640" y="822960"/>
            <a:ext cx="1106424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"Would you join this project?"</a:t>
            </a:r>
            <a:endParaRPr lang="en-US" sz="3200" dirty="0"/>
          </a:p>
        </p:txBody>
      </p:sp>
      <p:sp>
        <p:nvSpPr>
          <p:cNvPr id="6" name="Shape 4"/>
          <p:cNvSpPr/>
          <p:nvPr/>
        </p:nvSpPr>
        <p:spPr>
          <a:xfrm>
            <a:off x="548640" y="1783080"/>
            <a:ext cx="11064240" cy="1234440"/>
          </a:xfrm>
          <a:prstGeom prst="roundRect">
            <a:avLst>
              <a:gd name="adj" fmla="val 6667"/>
            </a:avLst>
          </a:prstGeom>
          <a:solidFill>
            <a:srgbClr val="E8A33D"/>
          </a:solidFill>
          <a:ln/>
          <a:effectLst>
            <a:outerShdw sx="100000" sy="100000" kx="0" ky="0" algn="bl" rotWithShape="0" blurRad="88900" dist="38100" dir="5400000">
              <a:srgbClr val="000000">
                <a:alpha val="13000"/>
              </a:srgbClr>
            </a:outerShdw>
          </a:effectLst>
        </p:spPr>
      </p:sp>
      <p:sp>
        <p:nvSpPr>
          <p:cNvPr id="7" name="Shape 5"/>
          <p:cNvSpPr/>
          <p:nvPr/>
        </p:nvSpPr>
        <p:spPr>
          <a:xfrm>
            <a:off x="868680" y="2103120"/>
            <a:ext cx="594360" cy="594360"/>
          </a:xfrm>
          <a:prstGeom prst="ellipse">
            <a:avLst/>
          </a:prstGeom>
          <a:solidFill>
            <a:srgbClr val="14233A"/>
          </a:solidFill>
          <a:ln/>
        </p:spPr>
      </p:sp>
      <p:pic>
        <p:nvPicPr>
          <p:cNvPr id="8" name="Image 0" descr="preencoded.png">    </p:cNvPr>
          <p:cNvPicPr>
            <a:picLocks noChangeAspect="1"/>
          </p:cNvPicPr>
          <p:nvPr/>
        </p:nvPicPr>
        <p:blipFill>
          <a:blip r:embed="rId1"/>
          <a:stretch>
            <a:fillRect/>
          </a:stretch>
        </p:blipFill>
        <p:spPr>
          <a:xfrm>
            <a:off x="1029157" y="2263597"/>
            <a:ext cx="273406" cy="273406"/>
          </a:xfrm>
          <a:prstGeom prst="rect">
            <a:avLst/>
          </a:prstGeom>
        </p:spPr>
      </p:pic>
      <p:sp>
        <p:nvSpPr>
          <p:cNvPr id="9" name="Text 6"/>
          <p:cNvSpPr/>
          <p:nvPr/>
        </p:nvSpPr>
        <p:spPr>
          <a:xfrm>
            <a:off x="1691640" y="1783080"/>
            <a:ext cx="9601200" cy="1234440"/>
          </a:xfrm>
          <a:prstGeom prst="rect">
            <a:avLst/>
          </a:prstGeom>
          <a:noFill/>
          <a:ln/>
        </p:spPr>
        <p:txBody>
          <a:bodyPr wrap="square" lIns="0" tIns="0" rIns="0" bIns="0" rtlCol="0" anchor="ctr"/>
          <a:lstStyle/>
          <a:p>
            <a:pPr indent="0" marL="0">
              <a:lnSpc>
                <a:spcPct val="105000"/>
              </a:lnSpc>
              <a:buNone/>
            </a:pPr>
            <a:r>
              <a:rPr lang="en-US" sz="1700" b="1" dirty="0">
                <a:solidFill>
                  <a:srgbClr val="14233A"/>
                </a:solidFill>
                <a:latin typeface="Calibri" pitchFamily="34" charset="0"/>
                <a:ea typeface="Calibri" pitchFamily="34" charset="-122"/>
                <a:cs typeface="Calibri" pitchFamily="34" charset="-120"/>
              </a:rPr>
              <a:t>Answer as an outside observer: if you walked in today with no project of your own, looking for something worth a semester — would this be it?</a:t>
            </a:r>
            <a:endParaRPr lang="en-US" sz="1700" dirty="0"/>
          </a:p>
        </p:txBody>
      </p:sp>
      <p:sp>
        <p:nvSpPr>
          <p:cNvPr id="10" name="Text 7"/>
          <p:cNvSpPr/>
          <p:nvPr/>
        </p:nvSpPr>
        <p:spPr>
          <a:xfrm>
            <a:off x="566928" y="3200400"/>
            <a:ext cx="10972800" cy="411480"/>
          </a:xfrm>
          <a:prstGeom prst="rect">
            <a:avLst/>
          </a:prstGeom>
          <a:noFill/>
          <a:ln/>
        </p:spPr>
        <p:txBody>
          <a:bodyPr wrap="square" lIns="0" tIns="0" rIns="0" bIns="0" rtlCol="0" anchor="ctr"/>
          <a:lstStyle/>
          <a:p>
            <a:pPr indent="0" marL="0">
              <a:buNone/>
            </a:pPr>
            <a:r>
              <a:rPr lang="en-US" sz="1600" i="1" dirty="0">
                <a:solidFill>
                  <a:srgbClr val="CFE0E9"/>
                </a:solidFill>
                <a:latin typeface="Calibri" pitchFamily="34" charset="0"/>
                <a:ea typeface="Calibri" pitchFamily="34" charset="-122"/>
                <a:cs typeface="Calibri" pitchFamily="34" charset="-120"/>
              </a:rPr>
              <a:t>Then write one line of why. The why is what the presenter actually gets:</a:t>
            </a:r>
            <a:endParaRPr lang="en-US" sz="1600" dirty="0"/>
          </a:p>
        </p:txBody>
      </p:sp>
      <p:sp>
        <p:nvSpPr>
          <p:cNvPr id="11" name="click-1"/>
          <p:cNvSpPr/>
          <p:nvPr/>
        </p:nvSpPr>
        <p:spPr>
          <a:xfrm>
            <a:off x="548640" y="3749040"/>
            <a:ext cx="5440680" cy="1600200"/>
          </a:xfrm>
          <a:prstGeom prst="roundRect">
            <a:avLst>
              <a:gd name="adj" fmla="val 5143"/>
            </a:avLst>
          </a:prstGeom>
          <a:solidFill>
            <a:srgbClr val="1E3352"/>
          </a:solidFill>
          <a:ln/>
          <a:effectLst>
            <a:outerShdw sx="100000" sy="100000" kx="0" ky="0" algn="bl" rotWithShape="0" blurRad="88900" dist="38100" dir="5400000">
              <a:srgbClr val="000000">
                <a:alpha val="13000"/>
              </a:srgbClr>
            </a:outerShdw>
          </a:effectLst>
        </p:spPr>
      </p:sp>
      <p:sp>
        <p:nvSpPr>
          <p:cNvPr id="12" name="click-1"/>
          <p:cNvSpPr/>
          <p:nvPr/>
        </p:nvSpPr>
        <p:spPr>
          <a:xfrm>
            <a:off x="914400" y="3749040"/>
            <a:ext cx="4754880" cy="1600200"/>
          </a:xfrm>
          <a:prstGeom prst="rect">
            <a:avLst/>
          </a:prstGeom>
          <a:noFill/>
          <a:ln/>
        </p:spPr>
        <p:txBody>
          <a:bodyPr wrap="square" lIns="0" tIns="0" rIns="0" bIns="0" rtlCol="0" anchor="ctr"/>
          <a:lstStyle/>
          <a:p>
            <a:pPr indent="0" marL="0">
              <a:lnSpc>
                <a:spcPct val="105000"/>
              </a:lnSpc>
              <a:buNone/>
            </a:pPr>
            <a:r>
              <a:rPr lang="en-US" sz="1700" b="1" dirty="0">
                <a:solidFill>
                  <a:srgbClr val="D9614C"/>
                </a:solidFill>
                <a:latin typeface="Calibri" pitchFamily="34" charset="0"/>
                <a:ea typeface="Calibri" pitchFamily="34" charset="-122"/>
                <a:cs typeface="Calibri" pitchFamily="34" charset="-120"/>
              </a:rPr>
              <a:t>A why about you
</a:t>
            </a:r>
            <a:pPr indent="0" marL="0">
              <a:lnSpc>
                <a:spcPct val="105000"/>
              </a:lnSpc>
              <a:buNone/>
            </a:pPr>
            <a:r>
              <a:rPr lang="en-US" sz="1550" dirty="0">
                <a:solidFill>
                  <a:srgbClr val="CFE0E9"/>
                </a:solidFill>
                <a:latin typeface="Calibri" pitchFamily="34" charset="0"/>
                <a:ea typeface="Calibri" pitchFamily="34" charset="-122"/>
                <a:cs typeface="Calibri" pitchFamily="34" charset="-120"/>
              </a:rPr>
              <a:t>"I already have my own idea."  "I'm committed elsewhere."  →  bias, not information.</a:t>
            </a:r>
            <a:endParaRPr lang="en-US" sz="1550" dirty="0"/>
          </a:p>
        </p:txBody>
      </p:sp>
      <p:sp>
        <p:nvSpPr>
          <p:cNvPr id="13" name="click-1"/>
          <p:cNvSpPr/>
          <p:nvPr/>
        </p:nvSpPr>
        <p:spPr>
          <a:xfrm>
            <a:off x="6172200" y="3749040"/>
            <a:ext cx="5440680" cy="1600200"/>
          </a:xfrm>
          <a:prstGeom prst="roundRect">
            <a:avLst>
              <a:gd name="adj" fmla="val 5143"/>
            </a:avLst>
          </a:prstGeom>
          <a:solidFill>
            <a:srgbClr val="1E3352"/>
          </a:solidFill>
          <a:ln/>
          <a:effectLst>
            <a:outerShdw sx="100000" sy="100000" kx="0" ky="0" algn="bl" rotWithShape="0" blurRad="88900" dist="38100" dir="5400000">
              <a:srgbClr val="000000">
                <a:alpha val="13000"/>
              </a:srgbClr>
            </a:outerShdw>
          </a:effectLst>
        </p:spPr>
      </p:sp>
      <p:sp>
        <p:nvSpPr>
          <p:cNvPr id="14" name="click-1"/>
          <p:cNvSpPr/>
          <p:nvPr/>
        </p:nvSpPr>
        <p:spPr>
          <a:xfrm>
            <a:off x="6537960" y="3749040"/>
            <a:ext cx="4754880" cy="1600200"/>
          </a:xfrm>
          <a:prstGeom prst="rect">
            <a:avLst/>
          </a:prstGeom>
          <a:noFill/>
          <a:ln/>
        </p:spPr>
        <p:txBody>
          <a:bodyPr wrap="square" lIns="0" tIns="0" rIns="0" bIns="0" rtlCol="0" anchor="ctr"/>
          <a:lstStyle/>
          <a:p>
            <a:pPr indent="0" marL="0">
              <a:lnSpc>
                <a:spcPct val="105000"/>
              </a:lnSpc>
              <a:buNone/>
            </a:pPr>
            <a:r>
              <a:rPr lang="en-US" sz="1700" b="1" dirty="0">
                <a:solidFill>
                  <a:srgbClr val="3E9C6B"/>
                </a:solidFill>
                <a:latin typeface="Calibri" pitchFamily="34" charset="0"/>
                <a:ea typeface="Calibri" pitchFamily="34" charset="-122"/>
                <a:cs typeface="Calibri" pitchFamily="34" charset="-120"/>
              </a:rPr>
              <a:t>A why about the project
</a:t>
            </a:r>
            <a:pPr indent="0" marL="0">
              <a:lnSpc>
                <a:spcPct val="105000"/>
              </a:lnSpc>
              <a:buNone/>
            </a:pPr>
            <a:r>
              <a:rPr lang="en-US" sz="1550" dirty="0">
                <a:solidFill>
                  <a:srgbClr val="CFE0E9"/>
                </a:solidFill>
                <a:latin typeface="Calibri" pitchFamily="34" charset="0"/>
                <a:ea typeface="Calibri" pitchFamily="34" charset="-122"/>
                <a:cs typeface="Calibri" pitchFamily="34" charset="-120"/>
              </a:rPr>
              <a:t>"The domain doesn't grab me."  "I don't believe the scope."  →  something they can use.</a:t>
            </a:r>
            <a:endParaRPr lang="en-US" sz="1550" dirty="0"/>
          </a:p>
        </p:txBody>
      </p:sp>
      <p:sp>
        <p:nvSpPr>
          <p:cNvPr id="15" name="Text 12"/>
          <p:cNvSpPr/>
          <p:nvPr/>
        </p:nvSpPr>
        <p:spPr>
          <a:xfrm>
            <a:off x="548640" y="5577840"/>
            <a:ext cx="11064240" cy="457200"/>
          </a:xfrm>
          <a:prstGeom prst="rect">
            <a:avLst/>
          </a:prstGeom>
          <a:noFill/>
          <a:ln/>
        </p:spPr>
        <p:txBody>
          <a:bodyPr wrap="square" lIns="0" tIns="0" rIns="0" bIns="0" rtlCol="0" anchor="ctr"/>
          <a:lstStyle/>
          <a:p>
            <a:pPr algn="ctr" indent="0" marL="0">
              <a:buNone/>
            </a:pPr>
            <a:r>
              <a:rPr lang="en-US" sz="1550" i="1" dirty="0">
                <a:solidFill>
                  <a:srgbClr val="9FB4C7"/>
                </a:solidFill>
                <a:latin typeface="Calibri" pitchFamily="34" charset="0"/>
                <a:ea typeface="Calibri" pitchFamily="34" charset="-122"/>
                <a:cs typeface="Calibri" pitchFamily="34" charset="-120"/>
              </a:rPr>
              <a:t>Checking "Yes" commits you to nothing. "No" beside high scores is a consistent answer.</a:t>
            </a:r>
            <a:endParaRPr lang="en-US" sz="1550" dirty="0"/>
          </a:p>
        </p:txBody>
      </p:sp>
      <p:sp>
        <p:nvSpPr>
          <p:cNvPr id="16" name="Text 13"/>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7E92A8"/>
                </a:solidFill>
                <a:latin typeface="Calibri" pitchFamily="34" charset="0"/>
                <a:ea typeface="Calibri" pitchFamily="34" charset="-122"/>
                <a:cs typeface="Calibri" pitchFamily="34" charset="-120"/>
              </a:rPr>
              <a:t>CS 301R · Session 10 · Pitch Day</a:t>
            </a:r>
            <a:endParaRPr lang="en-US" sz="1000" dirty="0"/>
          </a:p>
        </p:txBody>
      </p:sp>
      <p:sp>
        <p:nvSpPr>
          <p:cNvPr id="17" name="Text 14"/>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7E92A8"/>
                </a:solidFill>
                <a:latin typeface="Calibri" pitchFamily="34" charset="0"/>
                <a:ea typeface="Calibri" pitchFamily="34" charset="-122"/>
                <a:cs typeface="Calibri" pitchFamily="34" charset="-120"/>
              </a:rPr>
              <a:t>5</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 presetClass="entr" presetSubtype="0"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childTnLst>
                                </p:cTn>
                              </p:par>
                              <p:par>
                                <p:cTn id="8" presetID="1" presetClass="entr" presetSubtype="0" fill="hold" grpId="0" nodeType="withEffect">
                                  <p:stCondLst>
                                    <p:cond delay="0"/>
                                  </p:stCondLst>
                                  <p:childTnLst>
                                    <p:set>
                                      <p:cBhvr>
                                        <p:cTn id="7" dur="1" fill="hold">
                                          <p:stCondLst>
                                            <p:cond delay="0"/>
                                          </p:stCondLst>
                                        </p:cTn>
                                        <p:tgtEl>
                                          <p:spTgt spid="12"/>
                                        </p:tgtEl>
                                        <p:attrNameLst>
                                          <p:attrName>style.visibility</p:attrName>
                                        </p:attrNameLst>
                                      </p:cBhvr>
                                      <p:to>
                                        <p:strVal val="visible"/>
                                      </p:to>
                                    </p:set>
                                  </p:childTnLst>
                                </p:cTn>
                              </p:par>
                              <p:par>
                                <p:cTn id="10" presetID="1"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1"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Lst>
  </p:timing>
</p:sld>
</file>

<file path=ppt/slides/slide6.xml><?xml version="1.0" encoding="utf-8"?>
<p:sld xmlns:a="http://schemas.openxmlformats.org/drawingml/2006/main" xmlns:r="http://schemas.openxmlformats.org/officeDocument/2006/relationships" xmlns:p="http://schemas.openxmlformats.org/presentationml/2006/main" show="0">
  <p:cSld name="Slide 6">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10424160" y="-1188720"/>
            <a:ext cx="3291840" cy="3291840"/>
          </a:xfrm>
          <a:prstGeom prst="ellipse">
            <a:avLst/>
          </a:prstGeom>
          <a:solidFill>
            <a:srgbClr val="1C3252"/>
          </a:solidFill>
          <a:ln/>
        </p:spPr>
      </p:sp>
      <p:sp>
        <p:nvSpPr>
          <p:cNvPr id="3" name="Shape 1"/>
          <p:cNvSpPr/>
          <p:nvPr/>
        </p:nvSpPr>
        <p:spPr>
          <a:xfrm>
            <a:off x="566928" y="548640"/>
            <a:ext cx="137160" cy="137160"/>
          </a:xfrm>
          <a:prstGeom prst="ellipse">
            <a:avLst/>
          </a:prstGeom>
          <a:solidFill>
            <a:srgbClr val="E8A33D"/>
          </a:solidFill>
          <a:ln/>
        </p:spPr>
      </p:sp>
      <p:sp>
        <p:nvSpPr>
          <p:cNvPr id="4" name="Text 2"/>
          <p:cNvSpPr/>
          <p:nvPr/>
        </p:nvSpPr>
        <p:spPr>
          <a:xfrm>
            <a:off x="795528" y="457200"/>
            <a:ext cx="10515600" cy="310896"/>
          </a:xfrm>
          <a:prstGeom prst="rect">
            <a:avLst/>
          </a:prstGeom>
          <a:noFill/>
          <a:ln/>
        </p:spPr>
        <p:txBody>
          <a:bodyPr wrap="square" lIns="0" tIns="0" rIns="0" bIns="0" rtlCol="0" anchor="ctr"/>
          <a:lstStyle/>
          <a:p>
            <a:pPr indent="0" marL="0">
              <a:buNone/>
            </a:pPr>
            <a:r>
              <a:rPr lang="en-US" sz="1400" b="1" spc="200" kern="0" dirty="0">
                <a:solidFill>
                  <a:srgbClr val="E8A33D"/>
                </a:solidFill>
                <a:latin typeface="Calibri" pitchFamily="34" charset="0"/>
                <a:ea typeface="Calibri" pitchFamily="34" charset="-122"/>
                <a:cs typeface="Calibri" pitchFamily="34" charset="-120"/>
              </a:rPr>
              <a:t>DRAWN AT RANDOM — JUST NOW</a:t>
            </a:r>
            <a:endParaRPr lang="en-US" sz="1400" dirty="0"/>
          </a:p>
        </p:txBody>
      </p:sp>
      <p:sp>
        <p:nvSpPr>
          <p:cNvPr id="5" name="Text 3"/>
          <p:cNvSpPr/>
          <p:nvPr/>
        </p:nvSpPr>
        <p:spPr>
          <a:xfrm>
            <a:off x="548640" y="822960"/>
            <a:ext cx="1106424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Pitch order</a:t>
            </a:r>
            <a:endParaRPr lang="en-US" sz="3200" dirty="0"/>
          </a:p>
        </p:txBody>
      </p:sp>
      <p:sp>
        <p:nvSpPr>
          <p:cNvPr id="6" name="Shape 4"/>
          <p:cNvSpPr/>
          <p:nvPr/>
        </p:nvSpPr>
        <p:spPr>
          <a:xfrm>
            <a:off x="548640" y="1984248"/>
            <a:ext cx="566928" cy="566928"/>
          </a:xfrm>
          <a:prstGeom prst="ellipse">
            <a:avLst/>
          </a:prstGeom>
          <a:solidFill>
            <a:srgbClr val="E8A33D"/>
          </a:solidFill>
          <a:ln/>
        </p:spPr>
      </p:sp>
      <p:sp>
        <p:nvSpPr>
          <p:cNvPr id="7" name="Text 5"/>
          <p:cNvSpPr/>
          <p:nvPr/>
        </p:nvSpPr>
        <p:spPr>
          <a:xfrm>
            <a:off x="548640" y="1984248"/>
            <a:ext cx="566928" cy="566928"/>
          </a:xfrm>
          <a:prstGeom prst="rect">
            <a:avLst/>
          </a:prstGeom>
          <a:noFill/>
          <a:ln/>
        </p:spPr>
        <p:txBody>
          <a:bodyPr wrap="square" lIns="0" tIns="0" rIns="0" bIns="0" rtlCol="0" anchor="ctr"/>
          <a:lstStyle/>
          <a:p>
            <a:pPr algn="ctr" indent="0" marL="0">
              <a:buNone/>
            </a:pPr>
            <a:r>
              <a:rPr lang="en-US" sz="2200" b="1" dirty="0">
                <a:solidFill>
                  <a:srgbClr val="14233A"/>
                </a:solidFill>
                <a:latin typeface="Cambria" pitchFamily="34" charset="0"/>
                <a:ea typeface="Cambria" pitchFamily="34" charset="-122"/>
                <a:cs typeface="Cambria" pitchFamily="34" charset="-120"/>
              </a:rPr>
              <a:t>1</a:t>
            </a:r>
            <a:endParaRPr lang="en-US" sz="2200" dirty="0"/>
          </a:p>
        </p:txBody>
      </p:sp>
      <p:sp>
        <p:nvSpPr>
          <p:cNvPr id="8" name="Text 6"/>
          <p:cNvSpPr/>
          <p:nvPr/>
        </p:nvSpPr>
        <p:spPr>
          <a:xfrm>
            <a:off x="1298448" y="1828800"/>
            <a:ext cx="4690872" cy="868680"/>
          </a:xfrm>
          <a:prstGeom prst="roundRect">
            <a:avLst>
              <a:gd name="adj" fmla="val 8421"/>
            </a:avLst>
          </a:prstGeom>
          <a:solidFill>
            <a:srgbClr val="1E3352"/>
          </a:solidFill>
          <a:ln w="12700">
            <a:solidFill>
              <a:srgbClr val="3A5578"/>
            </a:solidFill>
            <a:prstDash val="dash"/>
          </a:ln>
        </p:spPr>
        <p:txBody>
          <a:bodyPr wrap="square" lIns="228600" tIns="0" rIns="22860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a:t>
            </a:r>
            <a:endParaRPr lang="en-US" sz="2200" dirty="0"/>
          </a:p>
        </p:txBody>
      </p:sp>
      <p:sp>
        <p:nvSpPr>
          <p:cNvPr id="9" name="Shape 7"/>
          <p:cNvSpPr/>
          <p:nvPr/>
        </p:nvSpPr>
        <p:spPr>
          <a:xfrm>
            <a:off x="6172200" y="1984248"/>
            <a:ext cx="566928" cy="566928"/>
          </a:xfrm>
          <a:prstGeom prst="ellipse">
            <a:avLst/>
          </a:prstGeom>
          <a:solidFill>
            <a:srgbClr val="E8A33D"/>
          </a:solidFill>
          <a:ln/>
        </p:spPr>
      </p:sp>
      <p:sp>
        <p:nvSpPr>
          <p:cNvPr id="10" name="Text 8"/>
          <p:cNvSpPr/>
          <p:nvPr/>
        </p:nvSpPr>
        <p:spPr>
          <a:xfrm>
            <a:off x="6172200" y="1984248"/>
            <a:ext cx="566928" cy="566928"/>
          </a:xfrm>
          <a:prstGeom prst="rect">
            <a:avLst/>
          </a:prstGeom>
          <a:noFill/>
          <a:ln/>
        </p:spPr>
        <p:txBody>
          <a:bodyPr wrap="square" lIns="0" tIns="0" rIns="0" bIns="0" rtlCol="0" anchor="ctr"/>
          <a:lstStyle/>
          <a:p>
            <a:pPr algn="ctr" indent="0" marL="0">
              <a:buNone/>
            </a:pPr>
            <a:r>
              <a:rPr lang="en-US" sz="2200" b="1" dirty="0">
                <a:solidFill>
                  <a:srgbClr val="14233A"/>
                </a:solidFill>
                <a:latin typeface="Cambria" pitchFamily="34" charset="0"/>
                <a:ea typeface="Cambria" pitchFamily="34" charset="-122"/>
                <a:cs typeface="Cambria" pitchFamily="34" charset="-120"/>
              </a:rPr>
              <a:t>2</a:t>
            </a:r>
            <a:endParaRPr lang="en-US" sz="2200" dirty="0"/>
          </a:p>
        </p:txBody>
      </p:sp>
      <p:sp>
        <p:nvSpPr>
          <p:cNvPr id="11" name="Text 9"/>
          <p:cNvSpPr/>
          <p:nvPr/>
        </p:nvSpPr>
        <p:spPr>
          <a:xfrm>
            <a:off x="6922008" y="1828800"/>
            <a:ext cx="4690872" cy="868680"/>
          </a:xfrm>
          <a:prstGeom prst="roundRect">
            <a:avLst>
              <a:gd name="adj" fmla="val 8421"/>
            </a:avLst>
          </a:prstGeom>
          <a:solidFill>
            <a:srgbClr val="1E3352"/>
          </a:solidFill>
          <a:ln w="12700">
            <a:solidFill>
              <a:srgbClr val="3A5578"/>
            </a:solidFill>
            <a:prstDash val="dash"/>
          </a:ln>
        </p:spPr>
        <p:txBody>
          <a:bodyPr wrap="square" lIns="228600" tIns="0" rIns="22860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a:t>
            </a:r>
            <a:endParaRPr lang="en-US" sz="2200" dirty="0"/>
          </a:p>
        </p:txBody>
      </p:sp>
      <p:sp>
        <p:nvSpPr>
          <p:cNvPr id="12" name="Shape 10"/>
          <p:cNvSpPr/>
          <p:nvPr/>
        </p:nvSpPr>
        <p:spPr>
          <a:xfrm>
            <a:off x="548640" y="3008376"/>
            <a:ext cx="566928" cy="566928"/>
          </a:xfrm>
          <a:prstGeom prst="ellipse">
            <a:avLst/>
          </a:prstGeom>
          <a:solidFill>
            <a:srgbClr val="E8A33D"/>
          </a:solidFill>
          <a:ln/>
        </p:spPr>
      </p:sp>
      <p:sp>
        <p:nvSpPr>
          <p:cNvPr id="13" name="Text 11"/>
          <p:cNvSpPr/>
          <p:nvPr/>
        </p:nvSpPr>
        <p:spPr>
          <a:xfrm>
            <a:off x="548640" y="3008376"/>
            <a:ext cx="566928" cy="566928"/>
          </a:xfrm>
          <a:prstGeom prst="rect">
            <a:avLst/>
          </a:prstGeom>
          <a:noFill/>
          <a:ln/>
        </p:spPr>
        <p:txBody>
          <a:bodyPr wrap="square" lIns="0" tIns="0" rIns="0" bIns="0" rtlCol="0" anchor="ctr"/>
          <a:lstStyle/>
          <a:p>
            <a:pPr algn="ctr" indent="0" marL="0">
              <a:buNone/>
            </a:pPr>
            <a:r>
              <a:rPr lang="en-US" sz="2200" b="1" dirty="0">
                <a:solidFill>
                  <a:srgbClr val="14233A"/>
                </a:solidFill>
                <a:latin typeface="Cambria" pitchFamily="34" charset="0"/>
                <a:ea typeface="Cambria" pitchFamily="34" charset="-122"/>
                <a:cs typeface="Cambria" pitchFamily="34" charset="-120"/>
              </a:rPr>
              <a:t>3</a:t>
            </a:r>
            <a:endParaRPr lang="en-US" sz="2200" dirty="0"/>
          </a:p>
        </p:txBody>
      </p:sp>
      <p:sp>
        <p:nvSpPr>
          <p:cNvPr id="14" name="Text 12"/>
          <p:cNvSpPr/>
          <p:nvPr/>
        </p:nvSpPr>
        <p:spPr>
          <a:xfrm>
            <a:off x="1298448" y="2852928"/>
            <a:ext cx="4690872" cy="868680"/>
          </a:xfrm>
          <a:prstGeom prst="roundRect">
            <a:avLst>
              <a:gd name="adj" fmla="val 8421"/>
            </a:avLst>
          </a:prstGeom>
          <a:solidFill>
            <a:srgbClr val="1E3352"/>
          </a:solidFill>
          <a:ln w="12700">
            <a:solidFill>
              <a:srgbClr val="3A5578"/>
            </a:solidFill>
            <a:prstDash val="dash"/>
          </a:ln>
        </p:spPr>
        <p:txBody>
          <a:bodyPr wrap="square" lIns="228600" tIns="0" rIns="22860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a:t>
            </a:r>
            <a:endParaRPr lang="en-US" sz="2200" dirty="0"/>
          </a:p>
        </p:txBody>
      </p:sp>
      <p:sp>
        <p:nvSpPr>
          <p:cNvPr id="15" name="Shape 13"/>
          <p:cNvSpPr/>
          <p:nvPr/>
        </p:nvSpPr>
        <p:spPr>
          <a:xfrm>
            <a:off x="6172200" y="3008376"/>
            <a:ext cx="566928" cy="566928"/>
          </a:xfrm>
          <a:prstGeom prst="ellipse">
            <a:avLst/>
          </a:prstGeom>
          <a:solidFill>
            <a:srgbClr val="E8A33D"/>
          </a:solidFill>
          <a:ln/>
        </p:spPr>
      </p:sp>
      <p:sp>
        <p:nvSpPr>
          <p:cNvPr id="16" name="Text 14"/>
          <p:cNvSpPr/>
          <p:nvPr/>
        </p:nvSpPr>
        <p:spPr>
          <a:xfrm>
            <a:off x="6172200" y="3008376"/>
            <a:ext cx="566928" cy="566928"/>
          </a:xfrm>
          <a:prstGeom prst="rect">
            <a:avLst/>
          </a:prstGeom>
          <a:noFill/>
          <a:ln/>
        </p:spPr>
        <p:txBody>
          <a:bodyPr wrap="square" lIns="0" tIns="0" rIns="0" bIns="0" rtlCol="0" anchor="ctr"/>
          <a:lstStyle/>
          <a:p>
            <a:pPr algn="ctr" indent="0" marL="0">
              <a:buNone/>
            </a:pPr>
            <a:r>
              <a:rPr lang="en-US" sz="2200" b="1" dirty="0">
                <a:solidFill>
                  <a:srgbClr val="14233A"/>
                </a:solidFill>
                <a:latin typeface="Cambria" pitchFamily="34" charset="0"/>
                <a:ea typeface="Cambria" pitchFamily="34" charset="-122"/>
                <a:cs typeface="Cambria" pitchFamily="34" charset="-120"/>
              </a:rPr>
              <a:t>4</a:t>
            </a:r>
            <a:endParaRPr lang="en-US" sz="2200" dirty="0"/>
          </a:p>
        </p:txBody>
      </p:sp>
      <p:sp>
        <p:nvSpPr>
          <p:cNvPr id="17" name="Text 15"/>
          <p:cNvSpPr/>
          <p:nvPr/>
        </p:nvSpPr>
        <p:spPr>
          <a:xfrm>
            <a:off x="6922008" y="2852928"/>
            <a:ext cx="4690872" cy="868680"/>
          </a:xfrm>
          <a:prstGeom prst="roundRect">
            <a:avLst>
              <a:gd name="adj" fmla="val 8421"/>
            </a:avLst>
          </a:prstGeom>
          <a:solidFill>
            <a:srgbClr val="1E3352"/>
          </a:solidFill>
          <a:ln w="12700">
            <a:solidFill>
              <a:srgbClr val="3A5578"/>
            </a:solidFill>
            <a:prstDash val="dash"/>
          </a:ln>
        </p:spPr>
        <p:txBody>
          <a:bodyPr wrap="square" lIns="228600" tIns="0" rIns="22860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a:t>
            </a:r>
            <a:endParaRPr lang="en-US" sz="2200" dirty="0"/>
          </a:p>
        </p:txBody>
      </p:sp>
      <p:sp>
        <p:nvSpPr>
          <p:cNvPr id="18" name="Shape 16"/>
          <p:cNvSpPr/>
          <p:nvPr/>
        </p:nvSpPr>
        <p:spPr>
          <a:xfrm>
            <a:off x="548640" y="4032504"/>
            <a:ext cx="566928" cy="566928"/>
          </a:xfrm>
          <a:prstGeom prst="ellipse">
            <a:avLst/>
          </a:prstGeom>
          <a:solidFill>
            <a:srgbClr val="E8A33D"/>
          </a:solidFill>
          <a:ln/>
        </p:spPr>
      </p:sp>
      <p:sp>
        <p:nvSpPr>
          <p:cNvPr id="19" name="Text 17"/>
          <p:cNvSpPr/>
          <p:nvPr/>
        </p:nvSpPr>
        <p:spPr>
          <a:xfrm>
            <a:off x="548640" y="4032504"/>
            <a:ext cx="566928" cy="566928"/>
          </a:xfrm>
          <a:prstGeom prst="rect">
            <a:avLst/>
          </a:prstGeom>
          <a:noFill/>
          <a:ln/>
        </p:spPr>
        <p:txBody>
          <a:bodyPr wrap="square" lIns="0" tIns="0" rIns="0" bIns="0" rtlCol="0" anchor="ctr"/>
          <a:lstStyle/>
          <a:p>
            <a:pPr algn="ctr" indent="0" marL="0">
              <a:buNone/>
            </a:pPr>
            <a:r>
              <a:rPr lang="en-US" sz="2200" b="1" dirty="0">
                <a:solidFill>
                  <a:srgbClr val="14233A"/>
                </a:solidFill>
                <a:latin typeface="Cambria" pitchFamily="34" charset="0"/>
                <a:ea typeface="Cambria" pitchFamily="34" charset="-122"/>
                <a:cs typeface="Cambria" pitchFamily="34" charset="-120"/>
              </a:rPr>
              <a:t>5</a:t>
            </a:r>
            <a:endParaRPr lang="en-US" sz="2200" dirty="0"/>
          </a:p>
        </p:txBody>
      </p:sp>
      <p:sp>
        <p:nvSpPr>
          <p:cNvPr id="20" name="Text 18"/>
          <p:cNvSpPr/>
          <p:nvPr/>
        </p:nvSpPr>
        <p:spPr>
          <a:xfrm>
            <a:off x="1298448" y="3877056"/>
            <a:ext cx="4690872" cy="868680"/>
          </a:xfrm>
          <a:prstGeom prst="roundRect">
            <a:avLst>
              <a:gd name="adj" fmla="val 8421"/>
            </a:avLst>
          </a:prstGeom>
          <a:solidFill>
            <a:srgbClr val="1E3352"/>
          </a:solidFill>
          <a:ln w="12700">
            <a:solidFill>
              <a:srgbClr val="3A5578"/>
            </a:solidFill>
            <a:prstDash val="dash"/>
          </a:ln>
        </p:spPr>
        <p:txBody>
          <a:bodyPr wrap="square" lIns="228600" tIns="0" rIns="22860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a:t>
            </a:r>
            <a:endParaRPr lang="en-US" sz="2200" dirty="0"/>
          </a:p>
        </p:txBody>
      </p:sp>
      <p:sp>
        <p:nvSpPr>
          <p:cNvPr id="21" name="Shape 19"/>
          <p:cNvSpPr/>
          <p:nvPr/>
        </p:nvSpPr>
        <p:spPr>
          <a:xfrm>
            <a:off x="6172200" y="4032504"/>
            <a:ext cx="566928" cy="566928"/>
          </a:xfrm>
          <a:prstGeom prst="ellipse">
            <a:avLst/>
          </a:prstGeom>
          <a:solidFill>
            <a:srgbClr val="E8A33D"/>
          </a:solidFill>
          <a:ln/>
        </p:spPr>
      </p:sp>
      <p:sp>
        <p:nvSpPr>
          <p:cNvPr id="22" name="Text 20"/>
          <p:cNvSpPr/>
          <p:nvPr/>
        </p:nvSpPr>
        <p:spPr>
          <a:xfrm>
            <a:off x="6172200" y="4032504"/>
            <a:ext cx="566928" cy="566928"/>
          </a:xfrm>
          <a:prstGeom prst="rect">
            <a:avLst/>
          </a:prstGeom>
          <a:noFill/>
          <a:ln/>
        </p:spPr>
        <p:txBody>
          <a:bodyPr wrap="square" lIns="0" tIns="0" rIns="0" bIns="0" rtlCol="0" anchor="ctr"/>
          <a:lstStyle/>
          <a:p>
            <a:pPr algn="ctr" indent="0" marL="0">
              <a:buNone/>
            </a:pPr>
            <a:r>
              <a:rPr lang="en-US" sz="2200" b="1" dirty="0">
                <a:solidFill>
                  <a:srgbClr val="14233A"/>
                </a:solidFill>
                <a:latin typeface="Cambria" pitchFamily="34" charset="0"/>
                <a:ea typeface="Cambria" pitchFamily="34" charset="-122"/>
                <a:cs typeface="Cambria" pitchFamily="34" charset="-120"/>
              </a:rPr>
              <a:t>6</a:t>
            </a:r>
            <a:endParaRPr lang="en-US" sz="2200" dirty="0"/>
          </a:p>
        </p:txBody>
      </p:sp>
      <p:sp>
        <p:nvSpPr>
          <p:cNvPr id="23" name="Text 21"/>
          <p:cNvSpPr/>
          <p:nvPr/>
        </p:nvSpPr>
        <p:spPr>
          <a:xfrm>
            <a:off x="6922008" y="3877056"/>
            <a:ext cx="4690872" cy="868680"/>
          </a:xfrm>
          <a:prstGeom prst="roundRect">
            <a:avLst>
              <a:gd name="adj" fmla="val 8421"/>
            </a:avLst>
          </a:prstGeom>
          <a:solidFill>
            <a:srgbClr val="1E3352"/>
          </a:solidFill>
          <a:ln w="12700">
            <a:solidFill>
              <a:srgbClr val="3A5578"/>
            </a:solidFill>
            <a:prstDash val="dash"/>
          </a:ln>
        </p:spPr>
        <p:txBody>
          <a:bodyPr wrap="square" lIns="228600" tIns="0" rIns="22860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a:t>
            </a:r>
            <a:endParaRPr lang="en-US" sz="2200" dirty="0"/>
          </a:p>
        </p:txBody>
      </p:sp>
      <p:sp>
        <p:nvSpPr>
          <p:cNvPr id="24" name="Shape 22"/>
          <p:cNvSpPr/>
          <p:nvPr/>
        </p:nvSpPr>
        <p:spPr>
          <a:xfrm>
            <a:off x="548640" y="5056632"/>
            <a:ext cx="566928" cy="566928"/>
          </a:xfrm>
          <a:prstGeom prst="ellipse">
            <a:avLst/>
          </a:prstGeom>
          <a:solidFill>
            <a:srgbClr val="E8A33D"/>
          </a:solidFill>
          <a:ln/>
        </p:spPr>
      </p:sp>
      <p:sp>
        <p:nvSpPr>
          <p:cNvPr id="25" name="Text 23"/>
          <p:cNvSpPr/>
          <p:nvPr/>
        </p:nvSpPr>
        <p:spPr>
          <a:xfrm>
            <a:off x="548640" y="5056632"/>
            <a:ext cx="566928" cy="566928"/>
          </a:xfrm>
          <a:prstGeom prst="rect">
            <a:avLst/>
          </a:prstGeom>
          <a:noFill/>
          <a:ln/>
        </p:spPr>
        <p:txBody>
          <a:bodyPr wrap="square" lIns="0" tIns="0" rIns="0" bIns="0" rtlCol="0" anchor="ctr"/>
          <a:lstStyle/>
          <a:p>
            <a:pPr algn="ctr" indent="0" marL="0">
              <a:buNone/>
            </a:pPr>
            <a:r>
              <a:rPr lang="en-US" sz="2200" b="1" dirty="0">
                <a:solidFill>
                  <a:srgbClr val="14233A"/>
                </a:solidFill>
                <a:latin typeface="Cambria" pitchFamily="34" charset="0"/>
                <a:ea typeface="Cambria" pitchFamily="34" charset="-122"/>
                <a:cs typeface="Cambria" pitchFamily="34" charset="-120"/>
              </a:rPr>
              <a:t>7</a:t>
            </a:r>
            <a:endParaRPr lang="en-US" sz="2200" dirty="0"/>
          </a:p>
        </p:txBody>
      </p:sp>
      <p:sp>
        <p:nvSpPr>
          <p:cNvPr id="26" name="Text 24"/>
          <p:cNvSpPr/>
          <p:nvPr/>
        </p:nvSpPr>
        <p:spPr>
          <a:xfrm>
            <a:off x="1298448" y="4901184"/>
            <a:ext cx="4690872" cy="868680"/>
          </a:xfrm>
          <a:prstGeom prst="roundRect">
            <a:avLst>
              <a:gd name="adj" fmla="val 8421"/>
            </a:avLst>
          </a:prstGeom>
          <a:solidFill>
            <a:srgbClr val="1E3352"/>
          </a:solidFill>
          <a:ln w="12700">
            <a:solidFill>
              <a:srgbClr val="3A5578"/>
            </a:solidFill>
            <a:prstDash val="dash"/>
          </a:ln>
        </p:spPr>
        <p:txBody>
          <a:bodyPr wrap="square" lIns="228600" tIns="0" rIns="22860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a:t>
            </a:r>
            <a:endParaRPr lang="en-US" sz="2200" dirty="0"/>
          </a:p>
        </p:txBody>
      </p:sp>
      <p:sp>
        <p:nvSpPr>
          <p:cNvPr id="27" name="Shape 25"/>
          <p:cNvSpPr/>
          <p:nvPr/>
        </p:nvSpPr>
        <p:spPr>
          <a:xfrm>
            <a:off x="6172200" y="5056632"/>
            <a:ext cx="566928" cy="566928"/>
          </a:xfrm>
          <a:prstGeom prst="ellipse">
            <a:avLst/>
          </a:prstGeom>
          <a:solidFill>
            <a:srgbClr val="E8A33D"/>
          </a:solidFill>
          <a:ln/>
        </p:spPr>
      </p:sp>
      <p:sp>
        <p:nvSpPr>
          <p:cNvPr id="28" name="Text 26"/>
          <p:cNvSpPr/>
          <p:nvPr/>
        </p:nvSpPr>
        <p:spPr>
          <a:xfrm>
            <a:off x="6172200" y="5056632"/>
            <a:ext cx="566928" cy="566928"/>
          </a:xfrm>
          <a:prstGeom prst="rect">
            <a:avLst/>
          </a:prstGeom>
          <a:noFill/>
          <a:ln/>
        </p:spPr>
        <p:txBody>
          <a:bodyPr wrap="square" lIns="0" tIns="0" rIns="0" bIns="0" rtlCol="0" anchor="ctr"/>
          <a:lstStyle/>
          <a:p>
            <a:pPr algn="ctr" indent="0" marL="0">
              <a:buNone/>
            </a:pPr>
            <a:r>
              <a:rPr lang="en-US" sz="2200" b="1" dirty="0">
                <a:solidFill>
                  <a:srgbClr val="14233A"/>
                </a:solidFill>
                <a:latin typeface="Cambria" pitchFamily="34" charset="0"/>
                <a:ea typeface="Cambria" pitchFamily="34" charset="-122"/>
                <a:cs typeface="Cambria" pitchFamily="34" charset="-120"/>
              </a:rPr>
              <a:t>8</a:t>
            </a:r>
            <a:endParaRPr lang="en-US" sz="2200" dirty="0"/>
          </a:p>
        </p:txBody>
      </p:sp>
      <p:sp>
        <p:nvSpPr>
          <p:cNvPr id="29" name="Text 27"/>
          <p:cNvSpPr/>
          <p:nvPr/>
        </p:nvSpPr>
        <p:spPr>
          <a:xfrm>
            <a:off x="6922008" y="4901184"/>
            <a:ext cx="4690872" cy="868680"/>
          </a:xfrm>
          <a:prstGeom prst="roundRect">
            <a:avLst>
              <a:gd name="adj" fmla="val 8421"/>
            </a:avLst>
          </a:prstGeom>
          <a:solidFill>
            <a:srgbClr val="1E3352"/>
          </a:solidFill>
          <a:ln w="12700">
            <a:solidFill>
              <a:srgbClr val="3A5578"/>
            </a:solidFill>
            <a:prstDash val="dash"/>
          </a:ln>
        </p:spPr>
        <p:txBody>
          <a:bodyPr wrap="square" lIns="228600" tIns="0" rIns="22860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a:t>
            </a:r>
            <a:endParaRPr lang="en-US" sz="2200" dirty="0"/>
          </a:p>
        </p:txBody>
      </p:sp>
      <p:sp>
        <p:nvSpPr>
          <p:cNvPr id="30" name="Text 28"/>
          <p:cNvSpPr/>
          <p:nvPr/>
        </p:nvSpPr>
        <p:spPr>
          <a:xfrm>
            <a:off x="548640" y="5943600"/>
            <a:ext cx="11064240" cy="365760"/>
          </a:xfrm>
          <a:prstGeom prst="rect">
            <a:avLst/>
          </a:prstGeom>
          <a:noFill/>
          <a:ln/>
        </p:spPr>
        <p:txBody>
          <a:bodyPr wrap="square" lIns="0" tIns="0" rIns="0" bIns="0" rtlCol="0" anchor="ctr"/>
          <a:lstStyle/>
          <a:p>
            <a:pPr algn="ctr" indent="0" marL="0">
              <a:buNone/>
            </a:pPr>
            <a:r>
              <a:rPr lang="en-US" sz="1550" i="1" dirty="0">
                <a:solidFill>
                  <a:srgbClr val="9FB4C7"/>
                </a:solidFill>
                <a:latin typeface="Calibri" pitchFamily="34" charset="0"/>
                <a:ea typeface="Calibri" pitchFamily="34" charset="-122"/>
                <a:cs typeface="Calibri" pitchFamily="34" charset="-120"/>
              </a:rPr>
              <a:t>Everyone was ready to go first. Evaluation sheets out — one per pitch you'll watch.</a:t>
            </a:r>
            <a:endParaRPr lang="en-US" sz="1550" dirty="0"/>
          </a:p>
        </p:txBody>
      </p:sp>
      <p:sp>
        <p:nvSpPr>
          <p:cNvPr id="31" name="Text 29"/>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7E92A8"/>
                </a:solidFill>
                <a:latin typeface="Calibri" pitchFamily="34" charset="0"/>
                <a:ea typeface="Calibri" pitchFamily="34" charset="-122"/>
                <a:cs typeface="Calibri" pitchFamily="34" charset="-120"/>
              </a:rPr>
              <a:t>CS 301R · Session 10 · Pitch Day</a:t>
            </a:r>
            <a:endParaRPr lang="en-US" sz="1000" dirty="0"/>
          </a:p>
        </p:txBody>
      </p:sp>
      <p:sp>
        <p:nvSpPr>
          <p:cNvPr id="32" name="Text 30"/>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7E92A8"/>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name="Slide 7">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10424160" y="-1188720"/>
            <a:ext cx="3291840" cy="3291840"/>
          </a:xfrm>
          <a:prstGeom prst="ellipse">
            <a:avLst/>
          </a:prstGeom>
          <a:solidFill>
            <a:srgbClr val="1C3252"/>
          </a:solidFill>
          <a:ln/>
        </p:spPr>
      </p:sp>
      <p:sp>
        <p:nvSpPr>
          <p:cNvPr id="3" name="Shape 1"/>
          <p:cNvSpPr/>
          <p:nvPr/>
        </p:nvSpPr>
        <p:spPr>
          <a:xfrm>
            <a:off x="566928" y="548640"/>
            <a:ext cx="137160" cy="137160"/>
          </a:xfrm>
          <a:prstGeom prst="ellipse">
            <a:avLst/>
          </a:prstGeom>
          <a:solidFill>
            <a:srgbClr val="E8A33D"/>
          </a:solidFill>
          <a:ln/>
        </p:spPr>
      </p:sp>
      <p:sp>
        <p:nvSpPr>
          <p:cNvPr id="4" name="Text 2"/>
          <p:cNvSpPr/>
          <p:nvPr/>
        </p:nvSpPr>
        <p:spPr>
          <a:xfrm>
            <a:off x="795528" y="457200"/>
            <a:ext cx="10515600" cy="310896"/>
          </a:xfrm>
          <a:prstGeom prst="rect">
            <a:avLst/>
          </a:prstGeom>
          <a:noFill/>
          <a:ln/>
        </p:spPr>
        <p:txBody>
          <a:bodyPr wrap="square" lIns="0" tIns="0" rIns="0" bIns="0" rtlCol="0" anchor="ctr"/>
          <a:lstStyle/>
          <a:p>
            <a:pPr indent="0" marL="0">
              <a:buNone/>
            </a:pPr>
            <a:r>
              <a:rPr lang="en-US" sz="1400" b="1" spc="200" kern="0" dirty="0">
                <a:solidFill>
                  <a:srgbClr val="E8A33D"/>
                </a:solidFill>
                <a:latin typeface="Calibri" pitchFamily="34" charset="0"/>
                <a:ea typeface="Calibri" pitchFamily="34" charset="-122"/>
                <a:cs typeface="Calibri" pitchFamily="34" charset="-120"/>
              </a:rPr>
              <a:t>BETWEEN PITCHES</a:t>
            </a:r>
            <a:endParaRPr lang="en-US" sz="1400" dirty="0"/>
          </a:p>
        </p:txBody>
      </p:sp>
      <p:sp>
        <p:nvSpPr>
          <p:cNvPr id="5" name="Text 3"/>
          <p:cNvSpPr/>
          <p:nvPr/>
        </p:nvSpPr>
        <p:spPr>
          <a:xfrm>
            <a:off x="548640" y="822960"/>
            <a:ext cx="1106424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Up next</a:t>
            </a:r>
            <a:endParaRPr lang="en-US" sz="3200" dirty="0"/>
          </a:p>
        </p:txBody>
      </p:sp>
      <p:sp>
        <p:nvSpPr>
          <p:cNvPr id="6" name="Text 4"/>
          <p:cNvSpPr/>
          <p:nvPr/>
        </p:nvSpPr>
        <p:spPr>
          <a:xfrm>
            <a:off x="548640" y="1783080"/>
            <a:ext cx="11064240" cy="1005840"/>
          </a:xfrm>
          <a:prstGeom prst="roundRect">
            <a:avLst>
              <a:gd name="adj" fmla="val 7273"/>
            </a:avLst>
          </a:prstGeom>
          <a:solidFill>
            <a:srgbClr val="1E3352"/>
          </a:solidFill>
          <a:ln w="12700">
            <a:solidFill>
              <a:srgbClr val="3A5578"/>
            </a:solidFill>
            <a:prstDash val="dash"/>
          </a:ln>
        </p:spPr>
        <p:txBody>
          <a:bodyPr wrap="square" lIns="228600" tIns="0" rIns="22860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a:t>
            </a:r>
            <a:endParaRPr lang="en-US" sz="2200" dirty="0"/>
          </a:p>
        </p:txBody>
      </p:sp>
      <p:sp>
        <p:nvSpPr>
          <p:cNvPr id="7" name="Shape 5"/>
          <p:cNvSpPr/>
          <p:nvPr/>
        </p:nvSpPr>
        <p:spPr>
          <a:xfrm>
            <a:off x="548640" y="3063240"/>
            <a:ext cx="3566160" cy="2331720"/>
          </a:xfrm>
          <a:prstGeom prst="roundRect">
            <a:avLst>
              <a:gd name="adj" fmla="val 3529"/>
            </a:avLst>
          </a:prstGeom>
          <a:solidFill>
            <a:srgbClr val="1E3352"/>
          </a:solidFill>
          <a:ln/>
          <a:effectLst>
            <a:outerShdw sx="100000" sy="100000" kx="0" ky="0" algn="bl" rotWithShape="0" blurRad="88900" dist="38100" dir="5400000">
              <a:srgbClr val="000000">
                <a:alpha val="13000"/>
              </a:srgbClr>
            </a:outerShdw>
          </a:effectLst>
        </p:spPr>
      </p:sp>
      <p:sp>
        <p:nvSpPr>
          <p:cNvPr id="8" name="Shape 6"/>
          <p:cNvSpPr/>
          <p:nvPr/>
        </p:nvSpPr>
        <p:spPr>
          <a:xfrm>
            <a:off x="822960" y="3310128"/>
            <a:ext cx="585216" cy="585216"/>
          </a:xfrm>
          <a:prstGeom prst="ellipse">
            <a:avLst/>
          </a:prstGeom>
          <a:solidFill>
            <a:srgbClr val="E8A33D"/>
          </a:solidFill>
          <a:ln/>
        </p:spPr>
      </p:sp>
      <p:pic>
        <p:nvPicPr>
          <p:cNvPr id="9" name="Image 0" descr="preencoded.png">    </p:cNvPr>
          <p:cNvPicPr>
            <a:picLocks noChangeAspect="1"/>
          </p:cNvPicPr>
          <p:nvPr/>
        </p:nvPicPr>
        <p:blipFill>
          <a:blip r:embed="rId1"/>
          <a:stretch>
            <a:fillRect/>
          </a:stretch>
        </p:blipFill>
        <p:spPr>
          <a:xfrm>
            <a:off x="980968" y="3468136"/>
            <a:ext cx="269199" cy="269199"/>
          </a:xfrm>
          <a:prstGeom prst="rect">
            <a:avLst/>
          </a:prstGeom>
        </p:spPr>
      </p:pic>
      <p:sp>
        <p:nvSpPr>
          <p:cNvPr id="10" name="Text 7"/>
          <p:cNvSpPr/>
          <p:nvPr/>
        </p:nvSpPr>
        <p:spPr>
          <a:xfrm>
            <a:off x="1572768" y="3310128"/>
            <a:ext cx="2377440" cy="585216"/>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Pitch</a:t>
            </a:r>
            <a:endParaRPr lang="en-US" sz="1900" dirty="0"/>
          </a:p>
        </p:txBody>
      </p:sp>
      <p:sp>
        <p:nvSpPr>
          <p:cNvPr id="11" name="Text 8"/>
          <p:cNvSpPr/>
          <p:nvPr/>
        </p:nvSpPr>
        <p:spPr>
          <a:xfrm>
            <a:off x="822960" y="4041648"/>
            <a:ext cx="3017520" cy="457200"/>
          </a:xfrm>
          <a:prstGeom prst="rect">
            <a:avLst/>
          </a:prstGeom>
          <a:noFill/>
          <a:ln/>
        </p:spPr>
        <p:txBody>
          <a:bodyPr wrap="square" lIns="0" tIns="0" rIns="0" bIns="0" rtlCol="0" anchor="ctr"/>
          <a:lstStyle/>
          <a:p>
            <a:pPr indent="0" marL="0">
              <a:buNone/>
            </a:pPr>
            <a:r>
              <a:rPr lang="en-US" sz="2400" b="1" dirty="0">
                <a:solidFill>
                  <a:srgbClr val="E8A33D"/>
                </a:solidFill>
                <a:latin typeface="Cambria" pitchFamily="34" charset="0"/>
                <a:ea typeface="Cambria" pitchFamily="34" charset="-122"/>
                <a:cs typeface="Cambria" pitchFamily="34" charset="-120"/>
              </a:rPr>
              <a:t>6–8 min</a:t>
            </a:r>
            <a:endParaRPr lang="en-US" sz="2400" dirty="0"/>
          </a:p>
        </p:txBody>
      </p:sp>
      <p:sp>
        <p:nvSpPr>
          <p:cNvPr id="12" name="Text 9"/>
          <p:cNvSpPr/>
          <p:nvPr/>
        </p:nvSpPr>
        <p:spPr>
          <a:xfrm>
            <a:off x="822960" y="4553712"/>
            <a:ext cx="3017520" cy="731520"/>
          </a:xfrm>
          <a:prstGeom prst="rect">
            <a:avLst/>
          </a:prstGeom>
          <a:noFill/>
          <a:ln/>
        </p:spPr>
        <p:txBody>
          <a:bodyPr wrap="square" lIns="0" tIns="0" rIns="0" bIns="0" rtlCol="0" anchor="t"/>
          <a:lstStyle/>
          <a:p>
            <a:pPr indent="0" marL="0">
              <a:lnSpc>
                <a:spcPct val="104000"/>
              </a:lnSpc>
              <a:buNone/>
            </a:pPr>
            <a:r>
              <a:rPr lang="en-US" sz="1550" dirty="0">
                <a:solidFill>
                  <a:srgbClr val="CFE0E9"/>
                </a:solidFill>
                <a:latin typeface="Calibri" pitchFamily="34" charset="0"/>
                <a:ea typeface="Calibri" pitchFamily="34" charset="-122"/>
                <a:cs typeface="Calibri" pitchFamily="34" charset="-120"/>
              </a:rPr>
              <a:t>Listen for evidence, not polish.</a:t>
            </a:r>
            <a:endParaRPr lang="en-US" sz="1550" dirty="0"/>
          </a:p>
        </p:txBody>
      </p:sp>
      <p:sp>
        <p:nvSpPr>
          <p:cNvPr id="13" name="Shape 10"/>
          <p:cNvSpPr/>
          <p:nvPr/>
        </p:nvSpPr>
        <p:spPr>
          <a:xfrm>
            <a:off x="4297680" y="3063240"/>
            <a:ext cx="3566160" cy="2331720"/>
          </a:xfrm>
          <a:prstGeom prst="roundRect">
            <a:avLst>
              <a:gd name="adj" fmla="val 3529"/>
            </a:avLst>
          </a:prstGeom>
          <a:solidFill>
            <a:srgbClr val="1E3352"/>
          </a:solidFill>
          <a:ln/>
          <a:effectLst>
            <a:outerShdw sx="100000" sy="100000" kx="0" ky="0" algn="bl" rotWithShape="0" blurRad="88900" dist="38100" dir="5400000">
              <a:srgbClr val="000000">
                <a:alpha val="13000"/>
              </a:srgbClr>
            </a:outerShdw>
          </a:effectLst>
        </p:spPr>
      </p:sp>
      <p:sp>
        <p:nvSpPr>
          <p:cNvPr id="14" name="Shape 11"/>
          <p:cNvSpPr/>
          <p:nvPr/>
        </p:nvSpPr>
        <p:spPr>
          <a:xfrm>
            <a:off x="4572000" y="3310128"/>
            <a:ext cx="585216" cy="585216"/>
          </a:xfrm>
          <a:prstGeom prst="ellipse">
            <a:avLst/>
          </a:prstGeom>
          <a:solidFill>
            <a:srgbClr val="E8A33D"/>
          </a:solidFill>
          <a:ln/>
        </p:spPr>
      </p:sp>
      <p:pic>
        <p:nvPicPr>
          <p:cNvPr id="15" name="Image 1" descr="preencoded.png">    </p:cNvPr>
          <p:cNvPicPr>
            <a:picLocks noChangeAspect="1"/>
          </p:cNvPicPr>
          <p:nvPr/>
        </p:nvPicPr>
        <p:blipFill>
          <a:blip r:embed="rId2"/>
          <a:stretch>
            <a:fillRect/>
          </a:stretch>
        </p:blipFill>
        <p:spPr>
          <a:xfrm>
            <a:off x="4730008" y="3468136"/>
            <a:ext cx="269199" cy="269199"/>
          </a:xfrm>
          <a:prstGeom prst="rect">
            <a:avLst/>
          </a:prstGeom>
        </p:spPr>
      </p:pic>
      <p:sp>
        <p:nvSpPr>
          <p:cNvPr id="16" name="Text 12"/>
          <p:cNvSpPr/>
          <p:nvPr/>
        </p:nvSpPr>
        <p:spPr>
          <a:xfrm>
            <a:off x="5321808" y="3310128"/>
            <a:ext cx="2377440" cy="585216"/>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Q&amp;A</a:t>
            </a:r>
            <a:endParaRPr lang="en-US" sz="1900" dirty="0"/>
          </a:p>
        </p:txBody>
      </p:sp>
      <p:sp>
        <p:nvSpPr>
          <p:cNvPr id="17" name="Text 13"/>
          <p:cNvSpPr/>
          <p:nvPr/>
        </p:nvSpPr>
        <p:spPr>
          <a:xfrm>
            <a:off x="4572000" y="4041648"/>
            <a:ext cx="3017520" cy="457200"/>
          </a:xfrm>
          <a:prstGeom prst="rect">
            <a:avLst/>
          </a:prstGeom>
          <a:noFill/>
          <a:ln/>
        </p:spPr>
        <p:txBody>
          <a:bodyPr wrap="square" lIns="0" tIns="0" rIns="0" bIns="0" rtlCol="0" anchor="ctr"/>
          <a:lstStyle/>
          <a:p>
            <a:pPr indent="0" marL="0">
              <a:buNone/>
            </a:pPr>
            <a:r>
              <a:rPr lang="en-US" sz="2400" b="1" dirty="0">
                <a:solidFill>
                  <a:srgbClr val="E8A33D"/>
                </a:solidFill>
                <a:latin typeface="Cambria" pitchFamily="34" charset="0"/>
                <a:ea typeface="Cambria" pitchFamily="34" charset="-122"/>
                <a:cs typeface="Cambria" pitchFamily="34" charset="-120"/>
              </a:rPr>
              <a:t>2–3 min</a:t>
            </a:r>
            <a:endParaRPr lang="en-US" sz="2400" dirty="0"/>
          </a:p>
        </p:txBody>
      </p:sp>
      <p:sp>
        <p:nvSpPr>
          <p:cNvPr id="18" name="Text 14"/>
          <p:cNvSpPr/>
          <p:nvPr/>
        </p:nvSpPr>
        <p:spPr>
          <a:xfrm>
            <a:off x="4572000" y="4553712"/>
            <a:ext cx="3017520" cy="731520"/>
          </a:xfrm>
          <a:prstGeom prst="rect">
            <a:avLst/>
          </a:prstGeom>
          <a:noFill/>
          <a:ln/>
        </p:spPr>
        <p:txBody>
          <a:bodyPr wrap="square" lIns="0" tIns="0" rIns="0" bIns="0" rtlCol="0" anchor="t"/>
          <a:lstStyle/>
          <a:p>
            <a:pPr indent="0" marL="0">
              <a:lnSpc>
                <a:spcPct val="104000"/>
              </a:lnSpc>
              <a:buNone/>
            </a:pPr>
            <a:r>
              <a:rPr lang="en-US" sz="1550" dirty="0">
                <a:solidFill>
                  <a:srgbClr val="CFE0E9"/>
                </a:solidFill>
                <a:latin typeface="Calibri" pitchFamily="34" charset="0"/>
                <a:ea typeface="Calibri" pitchFamily="34" charset="-122"/>
                <a:cs typeface="Calibri" pitchFamily="34" charset="-120"/>
              </a:rPr>
              <a:t>Score while they answer. Ask the skeptic's question.</a:t>
            </a:r>
            <a:endParaRPr lang="en-US" sz="1550" dirty="0"/>
          </a:p>
        </p:txBody>
      </p:sp>
      <p:sp>
        <p:nvSpPr>
          <p:cNvPr id="19" name="Shape 15"/>
          <p:cNvSpPr/>
          <p:nvPr/>
        </p:nvSpPr>
        <p:spPr>
          <a:xfrm>
            <a:off x="8046720" y="3063240"/>
            <a:ext cx="3566160" cy="2331720"/>
          </a:xfrm>
          <a:prstGeom prst="roundRect">
            <a:avLst>
              <a:gd name="adj" fmla="val 3529"/>
            </a:avLst>
          </a:prstGeom>
          <a:solidFill>
            <a:srgbClr val="1E3352"/>
          </a:solidFill>
          <a:ln/>
          <a:effectLst>
            <a:outerShdw sx="100000" sy="100000" kx="0" ky="0" algn="bl" rotWithShape="0" blurRad="88900" dist="38100" dir="5400000">
              <a:srgbClr val="000000">
                <a:alpha val="13000"/>
              </a:srgbClr>
            </a:outerShdw>
          </a:effectLst>
        </p:spPr>
      </p:sp>
      <p:sp>
        <p:nvSpPr>
          <p:cNvPr id="20" name="Shape 16"/>
          <p:cNvSpPr/>
          <p:nvPr/>
        </p:nvSpPr>
        <p:spPr>
          <a:xfrm>
            <a:off x="8321040" y="3310128"/>
            <a:ext cx="585216" cy="585216"/>
          </a:xfrm>
          <a:prstGeom prst="ellipse">
            <a:avLst/>
          </a:prstGeom>
          <a:solidFill>
            <a:srgbClr val="E8A33D"/>
          </a:solidFill>
          <a:ln/>
        </p:spPr>
      </p:sp>
      <p:pic>
        <p:nvPicPr>
          <p:cNvPr id="21" name="Image 2" descr="preencoded.png">    </p:cNvPr>
          <p:cNvPicPr>
            <a:picLocks noChangeAspect="1"/>
          </p:cNvPicPr>
          <p:nvPr/>
        </p:nvPicPr>
        <p:blipFill>
          <a:blip r:embed="rId3"/>
          <a:stretch>
            <a:fillRect/>
          </a:stretch>
        </p:blipFill>
        <p:spPr>
          <a:xfrm>
            <a:off x="8479048" y="3468136"/>
            <a:ext cx="269199" cy="269199"/>
          </a:xfrm>
          <a:prstGeom prst="rect">
            <a:avLst/>
          </a:prstGeom>
        </p:spPr>
      </p:pic>
      <p:sp>
        <p:nvSpPr>
          <p:cNvPr id="22" name="Text 17"/>
          <p:cNvSpPr/>
          <p:nvPr/>
        </p:nvSpPr>
        <p:spPr>
          <a:xfrm>
            <a:off x="9070848" y="3310128"/>
            <a:ext cx="2377440" cy="585216"/>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Finish your sheet</a:t>
            </a:r>
            <a:endParaRPr lang="en-US" sz="1900" dirty="0"/>
          </a:p>
        </p:txBody>
      </p:sp>
      <p:sp>
        <p:nvSpPr>
          <p:cNvPr id="23" name="Text 18"/>
          <p:cNvSpPr/>
          <p:nvPr/>
        </p:nvSpPr>
        <p:spPr>
          <a:xfrm>
            <a:off x="8321040" y="4041648"/>
            <a:ext cx="3017520" cy="457200"/>
          </a:xfrm>
          <a:prstGeom prst="rect">
            <a:avLst/>
          </a:prstGeom>
          <a:noFill/>
          <a:ln/>
        </p:spPr>
        <p:txBody>
          <a:bodyPr wrap="square" lIns="0" tIns="0" rIns="0" bIns="0" rtlCol="0" anchor="ctr"/>
          <a:lstStyle/>
          <a:p>
            <a:pPr indent="0" marL="0">
              <a:buNone/>
            </a:pPr>
            <a:r>
              <a:rPr lang="en-US" sz="2400" b="1" dirty="0">
                <a:solidFill>
                  <a:srgbClr val="E8A33D"/>
                </a:solidFill>
                <a:latin typeface="Cambria" pitchFamily="34" charset="0"/>
                <a:ea typeface="Cambria" pitchFamily="34" charset="-122"/>
                <a:cs typeface="Cambria" pitchFamily="34" charset="-120"/>
              </a:rPr>
              <a:t>30 sec</a:t>
            </a:r>
            <a:endParaRPr lang="en-US" sz="2400" dirty="0"/>
          </a:p>
        </p:txBody>
      </p:sp>
      <p:sp>
        <p:nvSpPr>
          <p:cNvPr id="24" name="Text 19"/>
          <p:cNvSpPr/>
          <p:nvPr/>
        </p:nvSpPr>
        <p:spPr>
          <a:xfrm>
            <a:off x="8321040" y="4553712"/>
            <a:ext cx="3017520" cy="731520"/>
          </a:xfrm>
          <a:prstGeom prst="rect">
            <a:avLst/>
          </a:prstGeom>
          <a:noFill/>
          <a:ln/>
        </p:spPr>
        <p:txBody>
          <a:bodyPr wrap="square" lIns="0" tIns="0" rIns="0" bIns="0" rtlCol="0" anchor="t"/>
          <a:lstStyle/>
          <a:p>
            <a:pPr indent="0" marL="0">
              <a:lnSpc>
                <a:spcPct val="104000"/>
              </a:lnSpc>
              <a:buNone/>
            </a:pPr>
            <a:r>
              <a:rPr lang="en-US" sz="1550" dirty="0">
                <a:solidFill>
                  <a:srgbClr val="CFE0E9"/>
                </a:solidFill>
                <a:latin typeface="Calibri" pitchFamily="34" charset="0"/>
                <a:ea typeface="Calibri" pitchFamily="34" charset="-122"/>
                <a:cs typeface="Calibri" pitchFamily="34" charset="-120"/>
              </a:rPr>
              <a:t>Criteria · would you join? · why · two comment lines.</a:t>
            </a:r>
            <a:endParaRPr lang="en-US" sz="1550" dirty="0"/>
          </a:p>
        </p:txBody>
      </p:sp>
      <p:sp>
        <p:nvSpPr>
          <p:cNvPr id="25" name="Shape 20"/>
          <p:cNvSpPr/>
          <p:nvPr/>
        </p:nvSpPr>
        <p:spPr>
          <a:xfrm>
            <a:off x="548640" y="5577840"/>
            <a:ext cx="11064240" cy="658368"/>
          </a:xfrm>
          <a:prstGeom prst="roundRect">
            <a:avLst>
              <a:gd name="adj" fmla="val 12500"/>
            </a:avLst>
          </a:prstGeom>
          <a:solidFill>
            <a:srgbClr val="E8A33D"/>
          </a:solidFill>
          <a:ln/>
          <a:effectLst>
            <a:outerShdw sx="100000" sy="100000" kx="0" ky="0" algn="bl" rotWithShape="0" blurRad="88900" dist="38100" dir="5400000">
              <a:srgbClr val="000000">
                <a:alpha val="13000"/>
              </a:srgbClr>
            </a:outerShdw>
          </a:effectLst>
        </p:spPr>
      </p:sp>
      <p:sp>
        <p:nvSpPr>
          <p:cNvPr id="26" name="Text 21"/>
          <p:cNvSpPr/>
          <p:nvPr/>
        </p:nvSpPr>
        <p:spPr>
          <a:xfrm>
            <a:off x="822960" y="5577840"/>
            <a:ext cx="10515600" cy="658368"/>
          </a:xfrm>
          <a:prstGeom prst="rect">
            <a:avLst/>
          </a:prstGeom>
          <a:noFill/>
          <a:ln/>
        </p:spPr>
        <p:txBody>
          <a:bodyPr wrap="square" lIns="0" tIns="0" rIns="0" bIns="0" rtlCol="0" anchor="ctr"/>
          <a:lstStyle/>
          <a:p>
            <a:pPr algn="ctr" indent="0" marL="0">
              <a:buNone/>
            </a:pPr>
            <a:r>
              <a:rPr lang="en-US" sz="1600" b="1" dirty="0">
                <a:solidFill>
                  <a:srgbClr val="14233A"/>
                </a:solidFill>
                <a:latin typeface="Calibri" pitchFamily="34" charset="0"/>
                <a:ea typeface="Calibri" pitchFamily="34" charset="-122"/>
                <a:cs typeface="Calibri" pitchFamily="34" charset="-120"/>
              </a:rPr>
              <a:t>Sheets are finished before the next pitch begins — not at the end of the block.</a:t>
            </a:r>
            <a:endParaRPr lang="en-US" sz="1600" dirty="0"/>
          </a:p>
        </p:txBody>
      </p:sp>
      <p:sp>
        <p:nvSpPr>
          <p:cNvPr id="27" name="Text 22"/>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7E92A8"/>
                </a:solidFill>
                <a:latin typeface="Calibri" pitchFamily="34" charset="0"/>
                <a:ea typeface="Calibri" pitchFamily="34" charset="-122"/>
                <a:cs typeface="Calibri" pitchFamily="34" charset="-120"/>
              </a:rPr>
              <a:t>CS 301R · Session 10 · Pitch Day</a:t>
            </a:r>
            <a:endParaRPr lang="en-US" sz="1000" dirty="0"/>
          </a:p>
        </p:txBody>
      </p:sp>
      <p:sp>
        <p:nvSpPr>
          <p:cNvPr id="28" name="Text 23"/>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7E92A8"/>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SELECTION HUDDLE — 8 MIN</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Three inputs, one decision, made in the room</a:t>
            </a:r>
            <a:endParaRPr lang="en-US" sz="3100" dirty="0"/>
          </a:p>
        </p:txBody>
      </p:sp>
      <p:sp>
        <p:nvSpPr>
          <p:cNvPr id="5" name="Shape 3"/>
          <p:cNvSpPr/>
          <p:nvPr/>
        </p:nvSpPr>
        <p:spPr>
          <a:xfrm>
            <a:off x="548640" y="1783080"/>
            <a:ext cx="6035040" cy="1024128"/>
          </a:xfrm>
          <a:prstGeom prst="roundRect">
            <a:avLst>
              <a:gd name="adj" fmla="val 8036"/>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777240" y="1984248"/>
            <a:ext cx="621792" cy="621792"/>
          </a:xfrm>
          <a:prstGeom prst="ellipse">
            <a:avLst/>
          </a:prstGeom>
          <a:solidFill>
            <a:srgbClr val="12908F"/>
          </a:solidFill>
          <a:ln/>
        </p:spPr>
      </p:sp>
      <p:pic>
        <p:nvPicPr>
          <p:cNvPr id="7" name="Image 0" descr="preencoded.png">    </p:cNvPr>
          <p:cNvPicPr>
            <a:picLocks noChangeAspect="1"/>
          </p:cNvPicPr>
          <p:nvPr/>
        </p:nvPicPr>
        <p:blipFill>
          <a:blip r:embed="rId1"/>
          <a:stretch>
            <a:fillRect/>
          </a:stretch>
        </p:blipFill>
        <p:spPr>
          <a:xfrm>
            <a:off x="945124" y="2152132"/>
            <a:ext cx="286024" cy="286024"/>
          </a:xfrm>
          <a:prstGeom prst="rect">
            <a:avLst/>
          </a:prstGeom>
        </p:spPr>
      </p:pic>
      <p:sp>
        <p:nvSpPr>
          <p:cNvPr id="8" name="Text 5"/>
          <p:cNvSpPr/>
          <p:nvPr/>
        </p:nvSpPr>
        <p:spPr>
          <a:xfrm>
            <a:off x="1600200" y="1874520"/>
            <a:ext cx="4846320" cy="411480"/>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Peer scores</a:t>
            </a:r>
            <a:endParaRPr lang="en-US" sz="1800" dirty="0"/>
          </a:p>
        </p:txBody>
      </p:sp>
      <p:sp>
        <p:nvSpPr>
          <p:cNvPr id="9" name="Text 6"/>
          <p:cNvSpPr/>
          <p:nvPr/>
        </p:nvSpPr>
        <p:spPr>
          <a:xfrm>
            <a:off x="1600200" y="2286000"/>
            <a:ext cx="4846320" cy="411480"/>
          </a:xfrm>
          <a:prstGeom prst="rect">
            <a:avLst/>
          </a:prstGeom>
          <a:noFill/>
          <a:ln/>
        </p:spPr>
        <p:txBody>
          <a:bodyPr wrap="square" lIns="0" tIns="0" rIns="0" bIns="0" rtlCol="0" anchor="ctr"/>
          <a:lstStyle/>
          <a:p>
            <a:pPr indent="0" marL="0">
              <a:buNone/>
            </a:pPr>
            <a:r>
              <a:rPr lang="en-US" sz="1500" dirty="0">
                <a:solidFill>
                  <a:srgbClr val="5F7284"/>
                </a:solidFill>
                <a:latin typeface="Calibri" pitchFamily="34" charset="0"/>
                <a:ea typeface="Calibri" pitchFamily="34" charset="-122"/>
                <a:cs typeface="Calibri" pitchFamily="34" charset="-120"/>
              </a:rPr>
              <a:t>The seven criteria, tallied across every sheet</a:t>
            </a:r>
            <a:endParaRPr lang="en-US" sz="1500" dirty="0"/>
          </a:p>
        </p:txBody>
      </p:sp>
      <p:sp>
        <p:nvSpPr>
          <p:cNvPr id="10" name="Shape 7"/>
          <p:cNvSpPr/>
          <p:nvPr/>
        </p:nvSpPr>
        <p:spPr>
          <a:xfrm>
            <a:off x="548640" y="2971800"/>
            <a:ext cx="6035040" cy="1024128"/>
          </a:xfrm>
          <a:prstGeom prst="roundRect">
            <a:avLst>
              <a:gd name="adj" fmla="val 8036"/>
            </a:avLst>
          </a:prstGeom>
          <a:solidFill>
            <a:srgbClr val="F2F6F8"/>
          </a:solidFill>
          <a:ln/>
          <a:effectLst>
            <a:outerShdw sx="100000" sy="100000" kx="0" ky="0" algn="bl" rotWithShape="0" blurRad="88900" dist="38100" dir="5400000">
              <a:srgbClr val="000000">
                <a:alpha val="13000"/>
              </a:srgbClr>
            </a:outerShdw>
          </a:effectLst>
        </p:spPr>
      </p:sp>
      <p:sp>
        <p:nvSpPr>
          <p:cNvPr id="11" name="Shape 8"/>
          <p:cNvSpPr/>
          <p:nvPr/>
        </p:nvSpPr>
        <p:spPr>
          <a:xfrm>
            <a:off x="777240" y="3172968"/>
            <a:ext cx="621792" cy="621792"/>
          </a:xfrm>
          <a:prstGeom prst="ellipse">
            <a:avLst/>
          </a:prstGeom>
          <a:solidFill>
            <a:srgbClr val="12908F"/>
          </a:solidFill>
          <a:ln/>
        </p:spPr>
      </p:sp>
      <p:pic>
        <p:nvPicPr>
          <p:cNvPr id="12" name="Image 1" descr="preencoded.png">    </p:cNvPr>
          <p:cNvPicPr>
            <a:picLocks noChangeAspect="1"/>
          </p:cNvPicPr>
          <p:nvPr/>
        </p:nvPicPr>
        <p:blipFill>
          <a:blip r:embed="rId2"/>
          <a:stretch>
            <a:fillRect/>
          </a:stretch>
        </p:blipFill>
        <p:spPr>
          <a:xfrm>
            <a:off x="945124" y="3340852"/>
            <a:ext cx="286024" cy="286024"/>
          </a:xfrm>
          <a:prstGeom prst="rect">
            <a:avLst/>
          </a:prstGeom>
        </p:spPr>
      </p:pic>
      <p:sp>
        <p:nvSpPr>
          <p:cNvPr id="13" name="Text 9"/>
          <p:cNvSpPr/>
          <p:nvPr/>
        </p:nvSpPr>
        <p:spPr>
          <a:xfrm>
            <a:off x="1600200" y="3063240"/>
            <a:ext cx="4846320" cy="411480"/>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Recruiting interest</a:t>
            </a:r>
            <a:endParaRPr lang="en-US" sz="1800" dirty="0"/>
          </a:p>
        </p:txBody>
      </p:sp>
      <p:sp>
        <p:nvSpPr>
          <p:cNvPr id="14" name="Text 10"/>
          <p:cNvSpPr/>
          <p:nvPr/>
        </p:nvSpPr>
        <p:spPr>
          <a:xfrm>
            <a:off x="1600200" y="3474720"/>
            <a:ext cx="4846320" cy="411480"/>
          </a:xfrm>
          <a:prstGeom prst="rect">
            <a:avLst/>
          </a:prstGeom>
          <a:noFill/>
          <a:ln/>
        </p:spPr>
        <p:txBody>
          <a:bodyPr wrap="square" lIns="0" tIns="0" rIns="0" bIns="0" rtlCol="0" anchor="ctr"/>
          <a:lstStyle/>
          <a:p>
            <a:pPr indent="0" marL="0">
              <a:buNone/>
            </a:pPr>
            <a:r>
              <a:rPr lang="en-US" sz="1500" dirty="0">
                <a:solidFill>
                  <a:srgbClr val="5F7284"/>
                </a:solidFill>
                <a:latin typeface="Calibri" pitchFamily="34" charset="0"/>
                <a:ea typeface="Calibri" pitchFamily="34" charset="-122"/>
                <a:cs typeface="Calibri" pitchFamily="34" charset="-120"/>
              </a:rPr>
              <a:t>"Would you join?" counts — and the whys behind them</a:t>
            </a:r>
            <a:endParaRPr lang="en-US" sz="1500" dirty="0"/>
          </a:p>
        </p:txBody>
      </p:sp>
      <p:sp>
        <p:nvSpPr>
          <p:cNvPr id="15" name="Shape 11"/>
          <p:cNvSpPr/>
          <p:nvPr/>
        </p:nvSpPr>
        <p:spPr>
          <a:xfrm>
            <a:off x="548640" y="4160520"/>
            <a:ext cx="6035040" cy="1024128"/>
          </a:xfrm>
          <a:prstGeom prst="roundRect">
            <a:avLst>
              <a:gd name="adj" fmla="val 8036"/>
            </a:avLst>
          </a:prstGeom>
          <a:solidFill>
            <a:srgbClr val="F2F6F8"/>
          </a:solidFill>
          <a:ln/>
          <a:effectLst>
            <a:outerShdw sx="100000" sy="100000" kx="0" ky="0" algn="bl" rotWithShape="0" blurRad="88900" dist="38100" dir="5400000">
              <a:srgbClr val="000000">
                <a:alpha val="13000"/>
              </a:srgbClr>
            </a:outerShdw>
          </a:effectLst>
        </p:spPr>
      </p:sp>
      <p:sp>
        <p:nvSpPr>
          <p:cNvPr id="16" name="Shape 12"/>
          <p:cNvSpPr/>
          <p:nvPr/>
        </p:nvSpPr>
        <p:spPr>
          <a:xfrm>
            <a:off x="777240" y="4361688"/>
            <a:ext cx="621792" cy="621792"/>
          </a:xfrm>
          <a:prstGeom prst="ellipse">
            <a:avLst/>
          </a:prstGeom>
          <a:solidFill>
            <a:srgbClr val="12908F"/>
          </a:solidFill>
          <a:ln/>
        </p:spPr>
      </p:sp>
      <p:pic>
        <p:nvPicPr>
          <p:cNvPr id="17" name="Image 2" descr="preencoded.png">    </p:cNvPr>
          <p:cNvPicPr>
            <a:picLocks noChangeAspect="1"/>
          </p:cNvPicPr>
          <p:nvPr/>
        </p:nvPicPr>
        <p:blipFill>
          <a:blip r:embed="rId3"/>
          <a:stretch>
            <a:fillRect/>
          </a:stretch>
        </p:blipFill>
        <p:spPr>
          <a:xfrm>
            <a:off x="945124" y="4529572"/>
            <a:ext cx="286024" cy="286024"/>
          </a:xfrm>
          <a:prstGeom prst="rect">
            <a:avLst/>
          </a:prstGeom>
        </p:spPr>
      </p:pic>
      <p:sp>
        <p:nvSpPr>
          <p:cNvPr id="18" name="Text 13"/>
          <p:cNvSpPr/>
          <p:nvPr/>
        </p:nvSpPr>
        <p:spPr>
          <a:xfrm>
            <a:off x="1600200" y="4251960"/>
            <a:ext cx="4846320" cy="411480"/>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Instructor judgment</a:t>
            </a:r>
            <a:endParaRPr lang="en-US" sz="1800" dirty="0"/>
          </a:p>
        </p:txBody>
      </p:sp>
      <p:sp>
        <p:nvSpPr>
          <p:cNvPr id="19" name="Text 14"/>
          <p:cNvSpPr/>
          <p:nvPr/>
        </p:nvSpPr>
        <p:spPr>
          <a:xfrm>
            <a:off x="1600200" y="4663440"/>
            <a:ext cx="4846320" cy="411480"/>
          </a:xfrm>
          <a:prstGeom prst="rect">
            <a:avLst/>
          </a:prstGeom>
          <a:noFill/>
          <a:ln/>
        </p:spPr>
        <p:txBody>
          <a:bodyPr wrap="square" lIns="0" tIns="0" rIns="0" bIns="0" rtlCol="0" anchor="ctr"/>
          <a:lstStyle/>
          <a:p>
            <a:pPr indent="0" marL="0">
              <a:buNone/>
            </a:pPr>
            <a:r>
              <a:rPr lang="en-US" sz="1500" dirty="0">
                <a:solidFill>
                  <a:srgbClr val="5F7284"/>
                </a:solidFill>
                <a:latin typeface="Calibri" pitchFamily="34" charset="0"/>
                <a:ea typeface="Calibri" pitchFamily="34" charset="-122"/>
                <a:cs typeface="Calibri" pitchFamily="34" charset="-120"/>
              </a:rPr>
              <a:t>Against the same criteria — and the final say</a:t>
            </a:r>
            <a:endParaRPr lang="en-US" sz="1500" dirty="0"/>
          </a:p>
        </p:txBody>
      </p:sp>
      <p:sp>
        <p:nvSpPr>
          <p:cNvPr id="20" name="Text 15"/>
          <p:cNvSpPr/>
          <p:nvPr/>
        </p:nvSpPr>
        <p:spPr>
          <a:xfrm>
            <a:off x="6629400" y="2834640"/>
            <a:ext cx="457200" cy="640080"/>
          </a:xfrm>
          <a:prstGeom prst="rect">
            <a:avLst/>
          </a:prstGeom>
          <a:noFill/>
          <a:ln/>
        </p:spPr>
        <p:txBody>
          <a:bodyPr wrap="square" lIns="0" tIns="0" rIns="0" bIns="0" rtlCol="0" anchor="ctr"/>
          <a:lstStyle/>
          <a:p>
            <a:pPr algn="ctr" indent="0" marL="0">
              <a:buNone/>
            </a:pPr>
            <a:r>
              <a:rPr lang="en-US" sz="3400" b="1" dirty="0">
                <a:solidFill>
                  <a:srgbClr val="0E6E6D"/>
                </a:solidFill>
                <a:latin typeface="Calibri" pitchFamily="34" charset="0"/>
                <a:ea typeface="Calibri" pitchFamily="34" charset="-122"/>
                <a:cs typeface="Calibri" pitchFamily="34" charset="-120"/>
              </a:rPr>
              <a:t>→</a:t>
            </a:r>
            <a:endParaRPr lang="en-US" sz="3400" dirty="0"/>
          </a:p>
        </p:txBody>
      </p:sp>
      <p:sp>
        <p:nvSpPr>
          <p:cNvPr id="21" name="Shape 16"/>
          <p:cNvSpPr/>
          <p:nvPr/>
        </p:nvSpPr>
        <p:spPr>
          <a:xfrm>
            <a:off x="7132320" y="1783080"/>
            <a:ext cx="4480560" cy="3401568"/>
          </a:xfrm>
          <a:prstGeom prst="roundRect">
            <a:avLst>
              <a:gd name="adj" fmla="val 2419"/>
            </a:avLst>
          </a:prstGeom>
          <a:solidFill>
            <a:srgbClr val="14233A"/>
          </a:solidFill>
          <a:ln/>
          <a:effectLst>
            <a:outerShdw sx="100000" sy="100000" kx="0" ky="0" algn="bl" rotWithShape="0" blurRad="88900" dist="38100" dir="5400000">
              <a:srgbClr val="000000">
                <a:alpha val="13000"/>
              </a:srgbClr>
            </a:outerShdw>
          </a:effectLst>
        </p:spPr>
      </p:sp>
      <p:sp>
        <p:nvSpPr>
          <p:cNvPr id="22" name="Shape 17"/>
          <p:cNvSpPr/>
          <p:nvPr/>
        </p:nvSpPr>
        <p:spPr>
          <a:xfrm>
            <a:off x="7406640" y="2057400"/>
            <a:ext cx="640080" cy="640080"/>
          </a:xfrm>
          <a:prstGeom prst="ellipse">
            <a:avLst/>
          </a:prstGeom>
          <a:solidFill>
            <a:srgbClr val="E8A33D"/>
          </a:solidFill>
          <a:ln/>
        </p:spPr>
      </p:sp>
      <p:pic>
        <p:nvPicPr>
          <p:cNvPr id="23" name="Image 3" descr="preencoded.png">    </p:cNvPr>
          <p:cNvPicPr>
            <a:picLocks noChangeAspect="1"/>
          </p:cNvPicPr>
          <p:nvPr/>
        </p:nvPicPr>
        <p:blipFill>
          <a:blip r:embed="rId4"/>
          <a:stretch>
            <a:fillRect/>
          </a:stretch>
        </p:blipFill>
        <p:spPr>
          <a:xfrm>
            <a:off x="7579462" y="2230222"/>
            <a:ext cx="294437" cy="294437"/>
          </a:xfrm>
          <a:prstGeom prst="rect">
            <a:avLst/>
          </a:prstGeom>
        </p:spPr>
      </p:pic>
      <p:sp>
        <p:nvSpPr>
          <p:cNvPr id="24" name="Text 18"/>
          <p:cNvSpPr/>
          <p:nvPr/>
        </p:nvSpPr>
        <p:spPr>
          <a:xfrm>
            <a:off x="8229600" y="2057400"/>
            <a:ext cx="3200400" cy="640080"/>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Anchor ideas</a:t>
            </a:r>
            <a:endParaRPr lang="en-US" sz="2100" dirty="0"/>
          </a:p>
        </p:txBody>
      </p:sp>
      <p:sp>
        <p:nvSpPr>
          <p:cNvPr id="25" name="Text 19"/>
          <p:cNvSpPr/>
          <p:nvPr/>
        </p:nvSpPr>
        <p:spPr>
          <a:xfrm>
            <a:off x="7406640" y="2880360"/>
            <a:ext cx="3977640" cy="2103120"/>
          </a:xfrm>
          <a:prstGeom prst="rect">
            <a:avLst/>
          </a:prstGeom>
          <a:noFill/>
          <a:ln/>
        </p:spPr>
        <p:txBody>
          <a:bodyPr wrap="square" lIns="0" tIns="0" rIns="0" bIns="0" rtlCol="0" anchor="t"/>
          <a:lstStyle/>
          <a:p>
            <a:pPr indent="0" marL="0">
              <a:lnSpc>
                <a:spcPct val="104000"/>
              </a:lnSpc>
              <a:spcAft>
                <a:spcPts val="1000"/>
              </a:spcAft>
              <a:buNone/>
            </a:pPr>
            <a:r>
              <a:rPr lang="en-US" sz="1600" dirty="0">
                <a:solidFill>
                  <a:srgbClr val="CFE0E9"/>
                </a:solidFill>
                <a:latin typeface="Calibri" pitchFamily="34" charset="0"/>
                <a:ea typeface="Calibri" pitchFamily="34" charset="-122"/>
                <a:cs typeface="Calibri" pitchFamily="34" charset="-120"/>
              </a:rPr>
              <a:t>The projects that can carry a team of ~2–4</a:t>
            </a:r>
            <a:endParaRPr lang="en-US" sz="1600" dirty="0"/>
          </a:p>
          <a:p>
            <a:pPr indent="0" marL="0">
              <a:lnSpc>
                <a:spcPct val="104000"/>
              </a:lnSpc>
              <a:spcAft>
                <a:spcPts val="1000"/>
              </a:spcAft>
              <a:buNone/>
            </a:pPr>
            <a:r>
              <a:rPr lang="en-US" sz="1600" dirty="0">
                <a:solidFill>
                  <a:srgbClr val="CFE0E9"/>
                </a:solidFill>
                <a:latin typeface="Calibri" pitchFamily="34" charset="0"/>
                <a:ea typeface="Calibri" pitchFamily="34" charset="-122"/>
                <a:cs typeface="Calibri" pitchFamily="34" charset="-120"/>
              </a:rPr>
              <a:t>Plus approved solo paths — at solo scope</a:t>
            </a:r>
            <a:endParaRPr lang="en-US" sz="1600" dirty="0"/>
          </a:p>
          <a:p>
            <a:pPr indent="0" marL="0">
              <a:lnSpc>
                <a:spcPct val="104000"/>
              </a:lnSpc>
              <a:buNone/>
            </a:pPr>
            <a:r>
              <a:rPr lang="en-US" sz="1600" b="1" dirty="0">
                <a:solidFill>
                  <a:srgbClr val="E8A33D"/>
                </a:solidFill>
                <a:latin typeface="Calibri" pitchFamily="34" charset="0"/>
                <a:ea typeface="Calibri" pitchFamily="34" charset="-122"/>
                <a:cs typeface="Calibri" pitchFamily="34" charset="-120"/>
              </a:rPr>
              <a:t>Announced before you leave today</a:t>
            </a:r>
            <a:endParaRPr lang="en-US" sz="1600" dirty="0"/>
          </a:p>
        </p:txBody>
      </p:sp>
      <p:sp>
        <p:nvSpPr>
          <p:cNvPr id="26" name="Shape 20"/>
          <p:cNvSpPr/>
          <p:nvPr/>
        </p:nvSpPr>
        <p:spPr>
          <a:xfrm>
            <a:off x="548640" y="5440680"/>
            <a:ext cx="11064240" cy="777240"/>
          </a:xfrm>
          <a:prstGeom prst="roundRect">
            <a:avLst>
              <a:gd name="adj" fmla="val 10588"/>
            </a:avLst>
          </a:prstGeom>
          <a:solidFill>
            <a:srgbClr val="EAF4EE"/>
          </a:solidFill>
          <a:ln/>
          <a:effectLst>
            <a:outerShdw sx="100000" sy="100000" kx="0" ky="0" algn="bl" rotWithShape="0" blurRad="88900" dist="38100" dir="5400000">
              <a:srgbClr val="000000">
                <a:alpha val="13000"/>
              </a:srgbClr>
            </a:outerShdw>
          </a:effectLst>
        </p:spPr>
      </p:sp>
      <p:sp>
        <p:nvSpPr>
          <p:cNvPr id="27" name="Text 21"/>
          <p:cNvSpPr/>
          <p:nvPr/>
        </p:nvSpPr>
        <p:spPr>
          <a:xfrm>
            <a:off x="868680" y="5440680"/>
            <a:ext cx="10424160" cy="777240"/>
          </a:xfrm>
          <a:prstGeom prst="rect">
            <a:avLst/>
          </a:prstGeom>
          <a:noFill/>
          <a:ln/>
        </p:spPr>
        <p:txBody>
          <a:bodyPr wrap="square" lIns="0" tIns="0" rIns="0" bIns="0" rtlCol="0" anchor="ctr"/>
          <a:lstStyle/>
          <a:p>
            <a:pPr indent="0" marL="0">
              <a:buNone/>
            </a:pPr>
            <a:r>
              <a:rPr lang="en-US" sz="1600" b="1" dirty="0">
                <a:solidFill>
                  <a:srgbClr val="0E6E6D"/>
                </a:solidFill>
                <a:latin typeface="Calibri" pitchFamily="34" charset="0"/>
                <a:ea typeface="Calibri" pitchFamily="34" charset="-122"/>
                <a:cs typeface="Calibri" pitchFamily="34" charset="-120"/>
              </a:rPr>
              <a:t>Not selected isn't losing.  </a:t>
            </a:r>
            <a:pPr indent="0" marL="0">
              <a:buNone/>
            </a:pPr>
            <a:r>
              <a:rPr lang="en-US" sz="1600" dirty="0">
                <a:solidFill>
                  <a:srgbClr val="1E2A36"/>
                </a:solidFill>
                <a:latin typeface="Calibri" pitchFamily="34" charset="0"/>
                <a:ea typeface="Calibri" pitchFamily="34" charset="-122"/>
                <a:cs typeface="Calibri" pitchFamily="34" charset="-120"/>
              </a:rPr>
              <a:t>Choose an anchor to join, bringing what your discovery taught you — or continue solo.</a:t>
            </a:r>
            <a:endParaRPr lang="en-US" sz="1600" dirty="0"/>
          </a:p>
        </p:txBody>
      </p:sp>
      <p:sp>
        <p:nvSpPr>
          <p:cNvPr id="28" name="Text 22"/>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10 · Pitch Day</a:t>
            </a:r>
            <a:endParaRPr lang="en-US" sz="1000" dirty="0"/>
          </a:p>
        </p:txBody>
      </p:sp>
      <p:sp>
        <p:nvSpPr>
          <p:cNvPr id="29" name="Text 23"/>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name="Slide 9">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10424160" y="-1188720"/>
            <a:ext cx="3291840" cy="3291840"/>
          </a:xfrm>
          <a:prstGeom prst="ellipse">
            <a:avLst/>
          </a:prstGeom>
          <a:solidFill>
            <a:srgbClr val="1C3252"/>
          </a:solidFill>
          <a:ln/>
        </p:spPr>
      </p:sp>
      <p:sp>
        <p:nvSpPr>
          <p:cNvPr id="3" name="Shape 1"/>
          <p:cNvSpPr/>
          <p:nvPr/>
        </p:nvSpPr>
        <p:spPr>
          <a:xfrm>
            <a:off x="566928" y="548640"/>
            <a:ext cx="137160" cy="137160"/>
          </a:xfrm>
          <a:prstGeom prst="ellipse">
            <a:avLst/>
          </a:prstGeom>
          <a:solidFill>
            <a:srgbClr val="E8A33D"/>
          </a:solidFill>
          <a:ln/>
        </p:spPr>
      </p:sp>
      <p:sp>
        <p:nvSpPr>
          <p:cNvPr id="4" name="Text 2"/>
          <p:cNvSpPr/>
          <p:nvPr/>
        </p:nvSpPr>
        <p:spPr>
          <a:xfrm>
            <a:off x="795528" y="457200"/>
            <a:ext cx="10515600" cy="310896"/>
          </a:xfrm>
          <a:prstGeom prst="rect">
            <a:avLst/>
          </a:prstGeom>
          <a:noFill/>
          <a:ln/>
        </p:spPr>
        <p:txBody>
          <a:bodyPr wrap="square" lIns="0" tIns="0" rIns="0" bIns="0" rtlCol="0" anchor="ctr"/>
          <a:lstStyle/>
          <a:p>
            <a:pPr indent="0" marL="0">
              <a:buNone/>
            </a:pPr>
            <a:r>
              <a:rPr lang="en-US" sz="1400" b="1" spc="200" kern="0" dirty="0">
                <a:solidFill>
                  <a:srgbClr val="E8A33D"/>
                </a:solidFill>
                <a:latin typeface="Calibri" pitchFamily="34" charset="0"/>
                <a:ea typeface="Calibri" pitchFamily="34" charset="-122"/>
                <a:cs typeface="Calibri" pitchFamily="34" charset="-120"/>
              </a:rPr>
              <a:t>SELECTION</a:t>
            </a:r>
            <a:endParaRPr lang="en-US" sz="1400" dirty="0"/>
          </a:p>
        </p:txBody>
      </p:sp>
      <p:sp>
        <p:nvSpPr>
          <p:cNvPr id="5" name="Text 3"/>
          <p:cNvSpPr/>
          <p:nvPr/>
        </p:nvSpPr>
        <p:spPr>
          <a:xfrm>
            <a:off x="548640" y="822960"/>
            <a:ext cx="1106424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Today's anchor ideas</a:t>
            </a:r>
            <a:endParaRPr lang="en-US" sz="3200" dirty="0"/>
          </a:p>
        </p:txBody>
      </p:sp>
      <p:sp>
        <p:nvSpPr>
          <p:cNvPr id="6" name="click-1"/>
          <p:cNvSpPr/>
          <p:nvPr/>
        </p:nvSpPr>
        <p:spPr>
          <a:xfrm>
            <a:off x="548640" y="1874520"/>
            <a:ext cx="566928" cy="566928"/>
          </a:xfrm>
          <a:prstGeom prst="ellipse">
            <a:avLst/>
          </a:prstGeom>
          <a:solidFill>
            <a:srgbClr val="E8A33D"/>
          </a:solidFill>
          <a:ln/>
        </p:spPr>
      </p:sp>
      <p:pic>
        <p:nvPicPr>
          <p:cNvPr id="7" name="click-1" descr="preencoded.png">    </p:cNvPr>
          <p:cNvPicPr>
            <a:picLocks noChangeAspect="1"/>
          </p:cNvPicPr>
          <p:nvPr/>
        </p:nvPicPr>
        <p:blipFill>
          <a:blip r:embed="rId1"/>
          <a:stretch>
            <a:fillRect/>
          </a:stretch>
        </p:blipFill>
        <p:spPr>
          <a:xfrm>
            <a:off x="701711" y="2027591"/>
            <a:ext cx="260787" cy="260787"/>
          </a:xfrm>
          <a:prstGeom prst="rect">
            <a:avLst/>
          </a:prstGeom>
        </p:spPr>
      </p:pic>
      <p:sp>
        <p:nvSpPr>
          <p:cNvPr id="8" name="click-1"/>
          <p:cNvSpPr/>
          <p:nvPr/>
        </p:nvSpPr>
        <p:spPr>
          <a:xfrm>
            <a:off x="1298448" y="1783080"/>
            <a:ext cx="10314432" cy="749808"/>
          </a:xfrm>
          <a:prstGeom prst="roundRect">
            <a:avLst>
              <a:gd name="adj" fmla="val 9756"/>
            </a:avLst>
          </a:prstGeom>
          <a:solidFill>
            <a:srgbClr val="1E3352"/>
          </a:solidFill>
          <a:ln w="12700">
            <a:solidFill>
              <a:srgbClr val="3A5578"/>
            </a:solidFill>
            <a:prstDash val="dash"/>
          </a:ln>
        </p:spPr>
        <p:txBody>
          <a:bodyPr wrap="square" lIns="228600" tIns="0" rIns="22860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a:t>
            </a:r>
            <a:endParaRPr lang="en-US" sz="2200" dirty="0"/>
          </a:p>
        </p:txBody>
      </p:sp>
      <p:sp>
        <p:nvSpPr>
          <p:cNvPr id="9" name="click-2"/>
          <p:cNvSpPr/>
          <p:nvPr/>
        </p:nvSpPr>
        <p:spPr>
          <a:xfrm>
            <a:off x="548640" y="2770632"/>
            <a:ext cx="566928" cy="566928"/>
          </a:xfrm>
          <a:prstGeom prst="ellipse">
            <a:avLst/>
          </a:prstGeom>
          <a:solidFill>
            <a:srgbClr val="E8A33D"/>
          </a:solidFill>
          <a:ln/>
        </p:spPr>
      </p:sp>
      <p:pic>
        <p:nvPicPr>
          <p:cNvPr id="10" name="click-2" descr="preencoded.png">    </p:cNvPr>
          <p:cNvPicPr>
            <a:picLocks noChangeAspect="1"/>
          </p:cNvPicPr>
          <p:nvPr/>
        </p:nvPicPr>
        <p:blipFill>
          <a:blip r:embed="rId2"/>
          <a:stretch>
            <a:fillRect/>
          </a:stretch>
        </p:blipFill>
        <p:spPr>
          <a:xfrm>
            <a:off x="701711" y="2923703"/>
            <a:ext cx="260787" cy="260787"/>
          </a:xfrm>
          <a:prstGeom prst="rect">
            <a:avLst/>
          </a:prstGeom>
        </p:spPr>
      </p:pic>
      <p:sp>
        <p:nvSpPr>
          <p:cNvPr id="11" name="click-2"/>
          <p:cNvSpPr/>
          <p:nvPr/>
        </p:nvSpPr>
        <p:spPr>
          <a:xfrm>
            <a:off x="1298448" y="2679192"/>
            <a:ext cx="10314432" cy="749808"/>
          </a:xfrm>
          <a:prstGeom prst="roundRect">
            <a:avLst>
              <a:gd name="adj" fmla="val 9756"/>
            </a:avLst>
          </a:prstGeom>
          <a:solidFill>
            <a:srgbClr val="1E3352"/>
          </a:solidFill>
          <a:ln w="12700">
            <a:solidFill>
              <a:srgbClr val="3A5578"/>
            </a:solidFill>
            <a:prstDash val="dash"/>
          </a:ln>
        </p:spPr>
        <p:txBody>
          <a:bodyPr wrap="square" lIns="228600" tIns="0" rIns="22860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a:t>
            </a:r>
            <a:endParaRPr lang="en-US" sz="2200" dirty="0"/>
          </a:p>
        </p:txBody>
      </p:sp>
      <p:sp>
        <p:nvSpPr>
          <p:cNvPr id="12" name="click-3"/>
          <p:cNvSpPr/>
          <p:nvPr/>
        </p:nvSpPr>
        <p:spPr>
          <a:xfrm>
            <a:off x="548640" y="3666744"/>
            <a:ext cx="566928" cy="566928"/>
          </a:xfrm>
          <a:prstGeom prst="ellipse">
            <a:avLst/>
          </a:prstGeom>
          <a:solidFill>
            <a:srgbClr val="E8A33D"/>
          </a:solidFill>
          <a:ln/>
        </p:spPr>
      </p:sp>
      <p:pic>
        <p:nvPicPr>
          <p:cNvPr id="13" name="click-3" descr="preencoded.png">    </p:cNvPr>
          <p:cNvPicPr>
            <a:picLocks noChangeAspect="1"/>
          </p:cNvPicPr>
          <p:nvPr/>
        </p:nvPicPr>
        <p:blipFill>
          <a:blip r:embed="rId3"/>
          <a:stretch>
            <a:fillRect/>
          </a:stretch>
        </p:blipFill>
        <p:spPr>
          <a:xfrm>
            <a:off x="701711" y="3819815"/>
            <a:ext cx="260787" cy="260787"/>
          </a:xfrm>
          <a:prstGeom prst="rect">
            <a:avLst/>
          </a:prstGeom>
        </p:spPr>
      </p:pic>
      <p:sp>
        <p:nvSpPr>
          <p:cNvPr id="14" name="click-3"/>
          <p:cNvSpPr/>
          <p:nvPr/>
        </p:nvSpPr>
        <p:spPr>
          <a:xfrm>
            <a:off x="1298448" y="3575304"/>
            <a:ext cx="10314432" cy="749808"/>
          </a:xfrm>
          <a:prstGeom prst="roundRect">
            <a:avLst>
              <a:gd name="adj" fmla="val 9756"/>
            </a:avLst>
          </a:prstGeom>
          <a:solidFill>
            <a:srgbClr val="1E3352"/>
          </a:solidFill>
          <a:ln w="12700">
            <a:solidFill>
              <a:srgbClr val="3A5578"/>
            </a:solidFill>
            <a:prstDash val="dash"/>
          </a:ln>
        </p:spPr>
        <p:txBody>
          <a:bodyPr wrap="square" lIns="228600" tIns="0" rIns="22860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a:t>
            </a:r>
            <a:endParaRPr lang="en-US" sz="2200" dirty="0"/>
          </a:p>
        </p:txBody>
      </p:sp>
      <p:sp>
        <p:nvSpPr>
          <p:cNvPr id="15" name="click-4"/>
          <p:cNvSpPr/>
          <p:nvPr/>
        </p:nvSpPr>
        <p:spPr>
          <a:xfrm>
            <a:off x="548640" y="4562856"/>
            <a:ext cx="566928" cy="566928"/>
          </a:xfrm>
          <a:prstGeom prst="ellipse">
            <a:avLst/>
          </a:prstGeom>
          <a:solidFill>
            <a:srgbClr val="E8A33D"/>
          </a:solidFill>
          <a:ln/>
        </p:spPr>
      </p:sp>
      <p:pic>
        <p:nvPicPr>
          <p:cNvPr id="16" name="click-4" descr="preencoded.png">    </p:cNvPr>
          <p:cNvPicPr>
            <a:picLocks noChangeAspect="1"/>
          </p:cNvPicPr>
          <p:nvPr/>
        </p:nvPicPr>
        <p:blipFill>
          <a:blip r:embed="rId4"/>
          <a:stretch>
            <a:fillRect/>
          </a:stretch>
        </p:blipFill>
        <p:spPr>
          <a:xfrm>
            <a:off x="701711" y="4715927"/>
            <a:ext cx="260787" cy="260787"/>
          </a:xfrm>
          <a:prstGeom prst="rect">
            <a:avLst/>
          </a:prstGeom>
        </p:spPr>
      </p:pic>
      <p:sp>
        <p:nvSpPr>
          <p:cNvPr id="17" name="click-4"/>
          <p:cNvSpPr/>
          <p:nvPr/>
        </p:nvSpPr>
        <p:spPr>
          <a:xfrm>
            <a:off x="1298448" y="4471416"/>
            <a:ext cx="10314432" cy="749808"/>
          </a:xfrm>
          <a:prstGeom prst="roundRect">
            <a:avLst>
              <a:gd name="adj" fmla="val 9756"/>
            </a:avLst>
          </a:prstGeom>
          <a:solidFill>
            <a:srgbClr val="1E3352"/>
          </a:solidFill>
          <a:ln w="12700">
            <a:solidFill>
              <a:srgbClr val="3A5578"/>
            </a:solidFill>
            <a:prstDash val="dash"/>
          </a:ln>
        </p:spPr>
        <p:txBody>
          <a:bodyPr wrap="square" lIns="228600" tIns="0" rIns="22860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a:t>
            </a:r>
            <a:endParaRPr lang="en-US" sz="2200" dirty="0"/>
          </a:p>
        </p:txBody>
      </p:sp>
      <p:sp>
        <p:nvSpPr>
          <p:cNvPr id="18" name="Shape 12"/>
          <p:cNvSpPr/>
          <p:nvPr/>
        </p:nvSpPr>
        <p:spPr>
          <a:xfrm>
            <a:off x="548640" y="5440680"/>
            <a:ext cx="11064240" cy="777240"/>
          </a:xfrm>
          <a:prstGeom prst="roundRect">
            <a:avLst>
              <a:gd name="adj" fmla="val 10588"/>
            </a:avLst>
          </a:prstGeom>
          <a:solidFill>
            <a:srgbClr val="E8A33D"/>
          </a:solidFill>
          <a:ln/>
          <a:effectLst>
            <a:outerShdw sx="100000" sy="100000" kx="0" ky="0" algn="bl" rotWithShape="0" blurRad="88900" dist="38100" dir="5400000">
              <a:srgbClr val="000000">
                <a:alpha val="13000"/>
              </a:srgbClr>
            </a:outerShdw>
          </a:effectLst>
        </p:spPr>
      </p:sp>
      <p:sp>
        <p:nvSpPr>
          <p:cNvPr id="19" name="Text 13"/>
          <p:cNvSpPr/>
          <p:nvPr/>
        </p:nvSpPr>
        <p:spPr>
          <a:xfrm>
            <a:off x="822960" y="5440680"/>
            <a:ext cx="10515600" cy="777240"/>
          </a:xfrm>
          <a:prstGeom prst="rect">
            <a:avLst/>
          </a:prstGeom>
          <a:noFill/>
          <a:ln/>
        </p:spPr>
        <p:txBody>
          <a:bodyPr wrap="square" lIns="0" tIns="0" rIns="0" bIns="0" rtlCol="0" anchor="ctr"/>
          <a:lstStyle/>
          <a:p>
            <a:pPr algn="ctr" indent="0" marL="0">
              <a:buNone/>
            </a:pPr>
            <a:r>
              <a:rPr lang="en-US" sz="1600" b="1" dirty="0">
                <a:solidFill>
                  <a:srgbClr val="14233A"/>
                </a:solidFill>
                <a:latin typeface="Calibri" pitchFamily="34" charset="0"/>
                <a:ea typeface="Calibri" pitchFamily="34" charset="-122"/>
                <a:cs typeface="Calibri" pitchFamily="34" charset="-120"/>
              </a:rPr>
              <a:t>Not on this list? Rank the anchors you'd join — or choose the solo path. Both are real outcomes.</a:t>
            </a:r>
            <a:endParaRPr lang="en-US" sz="1600" dirty="0"/>
          </a:p>
        </p:txBody>
      </p:sp>
      <p:sp>
        <p:nvSpPr>
          <p:cNvPr id="20" name="Text 14"/>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7E92A8"/>
                </a:solidFill>
                <a:latin typeface="Calibri" pitchFamily="34" charset="0"/>
                <a:ea typeface="Calibri" pitchFamily="34" charset="-122"/>
                <a:cs typeface="Calibri" pitchFamily="34" charset="-120"/>
              </a:rPr>
              <a:t>CS 301R · Session 10 · Pitch Day</a:t>
            </a:r>
            <a:endParaRPr lang="en-US" sz="1000" dirty="0"/>
          </a:p>
        </p:txBody>
      </p:sp>
      <p:sp>
        <p:nvSpPr>
          <p:cNvPr id="21" name="Text 15"/>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7E92A8"/>
                </a:solidFill>
                <a:latin typeface="Calibri" pitchFamily="34" charset="0"/>
                <a:ea typeface="Calibri" pitchFamily="34" charset="-122"/>
                <a:cs typeface="Calibri" pitchFamily="34" charset="-120"/>
              </a:rPr>
              <a:t>9</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 presetClass="entr" presetSubtype="0" fill="hold" grpId="0" nodeType="clickEffect">
                                  <p:stCondLst>
                                    <p:cond delay="0"/>
                                  </p:stCondLst>
                                  <p:childTnLst>
                                    <p:set>
                                      <p:cBhvr>
                                        <p:cTn id="5" dur="1" fill="hold">
                                          <p:stCondLst>
                                            <p:cond delay="0"/>
                                          </p:stCondLst>
                                        </p:cTn>
                                        <p:tgtEl>
                                          <p:spTgt spid="6"/>
                                        </p:tgtEl>
                                        <p:attrNameLst>
                                          <p:attrName>style.visibility</p:attrName>
                                        </p:attrNameLst>
                                      </p:cBhvr>
                                      <p:to>
                                        <p:strVal val="visible"/>
                                      </p:to>
                                    </p:set>
                                  </p:childTnLst>
                                </p:cTn>
                              </p:par>
                              <p:par>
                                <p:cTn id="8" presetID="1" presetClass="entr" presetSubtype="0" fill="hold" nodeType="withEffect">
                                  <p:stCondLst>
                                    <p:cond delay="0"/>
                                  </p:stCondLst>
                                  <p:childTnLst>
                                    <p:set>
                                      <p:cBhvr>
                                        <p:cTn id="7" dur="1" fill="hold">
                                          <p:stCondLst>
                                            <p:cond delay="0"/>
                                          </p:stCondLst>
                                        </p:cTn>
                                        <p:tgtEl>
                                          <p:spTgt spid="7"/>
                                        </p:tgtEl>
                                        <p:attrNameLst>
                                          <p:attrName>style.visibility</p:attrName>
                                        </p:attrNameLst>
                                      </p:cBhvr>
                                      <p:to>
                                        <p:strVal val="visible"/>
                                      </p:to>
                                    </p:set>
                                  </p:childTnLst>
                                </p:cTn>
                              </p:par>
                              <p:par>
                                <p:cTn id="10" presetID="1"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4" presetID="1"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5" dur="1" fill="hold">
                                          <p:stCondLst>
                                            <p:cond delay="0"/>
                                          </p:stCondLst>
                                        </p:cTn>
                                        <p:tgtEl>
                                          <p:spTgt spid="10"/>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7"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2" presetID="1"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3" dur="1" fill="hold">
                                          <p:stCondLst>
                                            <p:cond delay="0"/>
                                          </p:stCondLst>
                                        </p:cTn>
                                        <p:tgtEl>
                                          <p:spTgt spid="13"/>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5"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30" presetID="1" presetClass="entr" presetSubtype="0" fill="hold" grpId="0" nodeType="clickEffect">
                                  <p:stCondLst>
                                    <p:cond delay="0"/>
                                  </p:stCondLst>
                                  <p:childTnLst>
                                    <p:set>
                                      <p:cBhvr>
                                        <p:cTn id="29" dur="1" fill="hold">
                                          <p:stCondLst>
                                            <p:cond delay="0"/>
                                          </p:stCondLst>
                                        </p:cTn>
                                        <p:tgtEl>
                                          <p:spTgt spid="15"/>
                                        </p:tgtEl>
                                        <p:attrNameLst>
                                          <p:attrName>style.visibility</p:attrName>
                                        </p:attrNameLst>
                                      </p:cBhvr>
                                      <p:to>
                                        <p:strVal val="visible"/>
                                      </p:to>
                                    </p:set>
                                  </p:childTnLst>
                                </p:cTn>
                              </p:par>
                              <p:par>
                                <p:cTn id="32" presetID="1" presetClass="entr" presetSubtype="0" fill="hold" nodeType="withEffect">
                                  <p:stCondLst>
                                    <p:cond delay="0"/>
                                  </p:stCondLst>
                                  <p:childTnLst>
                                    <p:set>
                                      <p:cBhvr>
                                        <p:cTn id="31" dur="1" fill="hold">
                                          <p:stCondLst>
                                            <p:cond delay="0"/>
                                          </p:stCondLst>
                                        </p:cTn>
                                        <p:tgtEl>
                                          <p:spTgt spid="16"/>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3"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P spid="11" grpId="0" animBg="1"/>
      <p:bldP spid="12" grpId="0" animBg="1"/>
      <p:bldP spid="14" grpId="0" animBg="1"/>
      <p:bldP spid="15" grpId="0" animBg="1"/>
      <p:bldP spid="1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10424160" y="-1188720"/>
            <a:ext cx="3291840" cy="3291840"/>
          </a:xfrm>
          <a:prstGeom prst="ellipse">
            <a:avLst/>
          </a:prstGeom>
          <a:solidFill>
            <a:srgbClr val="1C3252"/>
          </a:solidFill>
          <a:ln/>
        </p:spPr>
      </p:sp>
      <p:sp>
        <p:nvSpPr>
          <p:cNvPr id="3" name="Shape 1"/>
          <p:cNvSpPr/>
          <p:nvPr/>
        </p:nvSpPr>
        <p:spPr>
          <a:xfrm>
            <a:off x="566928" y="548640"/>
            <a:ext cx="137160" cy="137160"/>
          </a:xfrm>
          <a:prstGeom prst="ellipse">
            <a:avLst/>
          </a:prstGeom>
          <a:solidFill>
            <a:srgbClr val="E8A33D"/>
          </a:solidFill>
          <a:ln/>
        </p:spPr>
      </p:sp>
      <p:sp>
        <p:nvSpPr>
          <p:cNvPr id="4" name="Text 2"/>
          <p:cNvSpPr/>
          <p:nvPr/>
        </p:nvSpPr>
        <p:spPr>
          <a:xfrm>
            <a:off x="795528" y="457200"/>
            <a:ext cx="10515600" cy="310896"/>
          </a:xfrm>
          <a:prstGeom prst="rect">
            <a:avLst/>
          </a:prstGeom>
          <a:noFill/>
          <a:ln/>
        </p:spPr>
        <p:txBody>
          <a:bodyPr wrap="square" lIns="0" tIns="0" rIns="0" bIns="0" rtlCol="0" anchor="ctr"/>
          <a:lstStyle/>
          <a:p>
            <a:pPr indent="0" marL="0">
              <a:buNone/>
            </a:pPr>
            <a:r>
              <a:rPr lang="en-US" sz="1400" b="1" spc="200" kern="0" dirty="0">
                <a:solidFill>
                  <a:srgbClr val="E8A33D"/>
                </a:solidFill>
                <a:latin typeface="Calibri" pitchFamily="34" charset="0"/>
                <a:ea typeface="Calibri" pitchFamily="34" charset="-122"/>
                <a:cs typeface="Calibri" pitchFamily="34" charset="-120"/>
              </a:rPr>
              <a:t>PREFERENCES · 7 MIN · QUIET, PRIVATE</a:t>
            </a:r>
            <a:endParaRPr lang="en-US" sz="1400" dirty="0"/>
          </a:p>
        </p:txBody>
      </p:sp>
      <p:sp>
        <p:nvSpPr>
          <p:cNvPr id="5" name="Text 3"/>
          <p:cNvSpPr/>
          <p:nvPr/>
        </p:nvSpPr>
        <p:spPr>
          <a:xfrm>
            <a:off x="548640" y="822960"/>
            <a:ext cx="1106424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Rank where you'd build</a:t>
            </a:r>
            <a:endParaRPr lang="en-US" sz="3200" dirty="0"/>
          </a:p>
        </p:txBody>
      </p:sp>
      <p:sp>
        <p:nvSpPr>
          <p:cNvPr id="6" name="Text 4"/>
          <p:cNvSpPr/>
          <p:nvPr/>
        </p:nvSpPr>
        <p:spPr>
          <a:xfrm>
            <a:off x="566928" y="1627632"/>
            <a:ext cx="10972800" cy="365760"/>
          </a:xfrm>
          <a:prstGeom prst="rect">
            <a:avLst/>
          </a:prstGeom>
          <a:noFill/>
          <a:ln/>
        </p:spPr>
        <p:txBody>
          <a:bodyPr wrap="square" lIns="0" tIns="0" rIns="0" bIns="0" rtlCol="0" anchor="ctr"/>
          <a:lstStyle/>
          <a:p>
            <a:pPr indent="0" marL="0">
              <a:buNone/>
            </a:pPr>
            <a:r>
              <a:rPr lang="en-US" sz="1600" i="1" dirty="0">
                <a:solidFill>
                  <a:srgbClr val="CFE0E9"/>
                </a:solidFill>
                <a:latin typeface="Calibri" pitchFamily="34" charset="0"/>
                <a:ea typeface="Calibri" pitchFamily="34" charset="-122"/>
                <a:cs typeface="Calibri" pitchFamily="34" charset="-120"/>
              </a:rPr>
              <a:t>On the Team Preference Worksheet — paper first, then Canvas:</a:t>
            </a:r>
            <a:endParaRPr lang="en-US" sz="1600" dirty="0"/>
          </a:p>
        </p:txBody>
      </p:sp>
      <p:sp>
        <p:nvSpPr>
          <p:cNvPr id="7" name="Shape 5"/>
          <p:cNvSpPr/>
          <p:nvPr/>
        </p:nvSpPr>
        <p:spPr>
          <a:xfrm>
            <a:off x="548640" y="2148840"/>
            <a:ext cx="11064240" cy="681228"/>
          </a:xfrm>
          <a:prstGeom prst="roundRect">
            <a:avLst>
              <a:gd name="adj" fmla="val 12081"/>
            </a:avLst>
          </a:prstGeom>
          <a:solidFill>
            <a:srgbClr val="1E3352"/>
          </a:solidFill>
          <a:ln/>
          <a:effectLst>
            <a:outerShdw sx="100000" sy="100000" kx="0" ky="0" algn="bl" rotWithShape="0" blurRad="88900" dist="38100" dir="5400000">
              <a:srgbClr val="000000">
                <a:alpha val="13000"/>
              </a:srgbClr>
            </a:outerShdw>
          </a:effectLst>
        </p:spPr>
      </p:sp>
      <p:sp>
        <p:nvSpPr>
          <p:cNvPr id="8" name="Shape 6"/>
          <p:cNvSpPr/>
          <p:nvPr/>
        </p:nvSpPr>
        <p:spPr>
          <a:xfrm>
            <a:off x="777240" y="2260854"/>
            <a:ext cx="457200" cy="457200"/>
          </a:xfrm>
          <a:prstGeom prst="ellipse">
            <a:avLst/>
          </a:prstGeom>
          <a:solidFill>
            <a:srgbClr val="E8A33D"/>
          </a:solidFill>
          <a:ln/>
        </p:spPr>
      </p:sp>
      <p:sp>
        <p:nvSpPr>
          <p:cNvPr id="9" name="Text 7"/>
          <p:cNvSpPr/>
          <p:nvPr/>
        </p:nvSpPr>
        <p:spPr>
          <a:xfrm>
            <a:off x="777240" y="2260854"/>
            <a:ext cx="457200" cy="457200"/>
          </a:xfrm>
          <a:prstGeom prst="rect">
            <a:avLst/>
          </a:prstGeom>
          <a:noFill/>
          <a:ln/>
        </p:spPr>
        <p:txBody>
          <a:bodyPr wrap="square" lIns="0" tIns="0" rIns="0" bIns="0" rtlCol="0" anchor="ctr"/>
          <a:lstStyle/>
          <a:p>
            <a:pPr algn="ctr" indent="0" marL="0">
              <a:buNone/>
            </a:pPr>
            <a:r>
              <a:rPr lang="en-US" sz="2000" b="1" dirty="0">
                <a:solidFill>
                  <a:srgbClr val="14233A"/>
                </a:solidFill>
                <a:latin typeface="Cambria" pitchFamily="34" charset="0"/>
                <a:ea typeface="Cambria" pitchFamily="34" charset="-122"/>
                <a:cs typeface="Cambria" pitchFamily="34" charset="-120"/>
              </a:rPr>
              <a:t>1</a:t>
            </a:r>
            <a:endParaRPr lang="en-US" sz="2000" dirty="0"/>
          </a:p>
        </p:txBody>
      </p:sp>
      <p:sp>
        <p:nvSpPr>
          <p:cNvPr id="10" name="Text 8"/>
          <p:cNvSpPr/>
          <p:nvPr/>
        </p:nvSpPr>
        <p:spPr>
          <a:xfrm>
            <a:off x="1417320" y="2148840"/>
            <a:ext cx="8595360" cy="681228"/>
          </a:xfrm>
          <a:prstGeom prst="rect">
            <a:avLst/>
          </a:prstGeom>
          <a:noFill/>
          <a:ln/>
        </p:spPr>
        <p:txBody>
          <a:bodyPr wrap="square" lIns="0" tIns="0" rIns="0" bIns="0" rtlCol="0" anchor="ctr"/>
          <a:lstStyle/>
          <a:p>
            <a:pPr indent="0" marL="0">
              <a:lnSpc>
                <a:spcPct val="103000"/>
              </a:lnSpc>
              <a:buNone/>
            </a:pPr>
            <a:r>
              <a:rPr lang="en-US" sz="1550" dirty="0">
                <a:solidFill>
                  <a:srgbClr val="FFFFFF"/>
                </a:solidFill>
                <a:latin typeface="Calibri" pitchFamily="34" charset="0"/>
                <a:ea typeface="Calibri" pitchFamily="34" charset="-122"/>
                <a:cs typeface="Calibri" pitchFamily="34" charset="-120"/>
              </a:rPr>
              <a:t>First, second, and third choice among the anchors — each with one line of why, in criteria language.</a:t>
            </a:r>
            <a:endParaRPr lang="en-US" sz="1550" dirty="0"/>
          </a:p>
        </p:txBody>
      </p:sp>
      <p:sp>
        <p:nvSpPr>
          <p:cNvPr id="11" name="Text 9"/>
          <p:cNvSpPr/>
          <p:nvPr/>
        </p:nvSpPr>
        <p:spPr>
          <a:xfrm>
            <a:off x="10149840" y="2148840"/>
            <a:ext cx="1280160" cy="681228"/>
          </a:xfrm>
          <a:prstGeom prst="rect">
            <a:avLst/>
          </a:prstGeom>
          <a:noFill/>
          <a:ln/>
        </p:spPr>
        <p:txBody>
          <a:bodyPr wrap="square" lIns="0" tIns="0" rIns="0" bIns="0" rtlCol="0" anchor="ctr"/>
          <a:lstStyle/>
          <a:p>
            <a:pPr algn="r" indent="0" marL="0">
              <a:buNone/>
            </a:pPr>
            <a:r>
              <a:rPr lang="en-US" sz="1400" b="1" dirty="0">
                <a:solidFill>
                  <a:srgbClr val="E8A33D"/>
                </a:solidFill>
                <a:latin typeface="Calibri" pitchFamily="34" charset="0"/>
                <a:ea typeface="Calibri" pitchFamily="34" charset="-122"/>
                <a:cs typeface="Calibri" pitchFamily="34" charset="-120"/>
              </a:rPr>
              <a:t>ranked</a:t>
            </a:r>
            <a:endParaRPr lang="en-US" sz="1400" dirty="0"/>
          </a:p>
        </p:txBody>
      </p:sp>
      <p:sp>
        <p:nvSpPr>
          <p:cNvPr id="12" name="Shape 10"/>
          <p:cNvSpPr/>
          <p:nvPr/>
        </p:nvSpPr>
        <p:spPr>
          <a:xfrm>
            <a:off x="548640" y="2958084"/>
            <a:ext cx="11064240" cy="681228"/>
          </a:xfrm>
          <a:prstGeom prst="roundRect">
            <a:avLst>
              <a:gd name="adj" fmla="val 12081"/>
            </a:avLst>
          </a:prstGeom>
          <a:solidFill>
            <a:srgbClr val="1E3352"/>
          </a:solidFill>
          <a:ln/>
          <a:effectLst>
            <a:outerShdw sx="100000" sy="100000" kx="0" ky="0" algn="bl" rotWithShape="0" blurRad="88900" dist="38100" dir="5400000">
              <a:srgbClr val="000000">
                <a:alpha val="13000"/>
              </a:srgbClr>
            </a:outerShdw>
          </a:effectLst>
        </p:spPr>
      </p:sp>
      <p:sp>
        <p:nvSpPr>
          <p:cNvPr id="13" name="Shape 11"/>
          <p:cNvSpPr/>
          <p:nvPr/>
        </p:nvSpPr>
        <p:spPr>
          <a:xfrm>
            <a:off x="777240" y="3070098"/>
            <a:ext cx="457200" cy="457200"/>
          </a:xfrm>
          <a:prstGeom prst="ellipse">
            <a:avLst/>
          </a:prstGeom>
          <a:solidFill>
            <a:srgbClr val="E8A33D"/>
          </a:solidFill>
          <a:ln/>
        </p:spPr>
      </p:sp>
      <p:sp>
        <p:nvSpPr>
          <p:cNvPr id="14" name="Text 12"/>
          <p:cNvSpPr/>
          <p:nvPr/>
        </p:nvSpPr>
        <p:spPr>
          <a:xfrm>
            <a:off x="777240" y="3070098"/>
            <a:ext cx="457200" cy="457200"/>
          </a:xfrm>
          <a:prstGeom prst="rect">
            <a:avLst/>
          </a:prstGeom>
          <a:noFill/>
          <a:ln/>
        </p:spPr>
        <p:txBody>
          <a:bodyPr wrap="square" lIns="0" tIns="0" rIns="0" bIns="0" rtlCol="0" anchor="ctr"/>
          <a:lstStyle/>
          <a:p>
            <a:pPr algn="ctr" indent="0" marL="0">
              <a:buNone/>
            </a:pPr>
            <a:r>
              <a:rPr lang="en-US" sz="2000" b="1" dirty="0">
                <a:solidFill>
                  <a:srgbClr val="14233A"/>
                </a:solidFill>
                <a:latin typeface="Cambria" pitchFamily="34" charset="0"/>
                <a:ea typeface="Cambria" pitchFamily="34" charset="-122"/>
                <a:cs typeface="Cambria" pitchFamily="34" charset="-120"/>
              </a:rPr>
              <a:t>2</a:t>
            </a:r>
            <a:endParaRPr lang="en-US" sz="2000" dirty="0"/>
          </a:p>
        </p:txBody>
      </p:sp>
      <p:sp>
        <p:nvSpPr>
          <p:cNvPr id="15" name="Text 13"/>
          <p:cNvSpPr/>
          <p:nvPr/>
        </p:nvSpPr>
        <p:spPr>
          <a:xfrm>
            <a:off x="1417320" y="2958084"/>
            <a:ext cx="8595360" cy="681228"/>
          </a:xfrm>
          <a:prstGeom prst="rect">
            <a:avLst/>
          </a:prstGeom>
          <a:noFill/>
          <a:ln/>
        </p:spPr>
        <p:txBody>
          <a:bodyPr wrap="square" lIns="0" tIns="0" rIns="0" bIns="0" rtlCol="0" anchor="ctr"/>
          <a:lstStyle/>
          <a:p>
            <a:pPr indent="0" marL="0">
              <a:lnSpc>
                <a:spcPct val="103000"/>
              </a:lnSpc>
              <a:buNone/>
            </a:pPr>
            <a:r>
              <a:rPr lang="en-US" sz="1550" dirty="0">
                <a:solidFill>
                  <a:srgbClr val="FFFFFF"/>
                </a:solidFill>
                <a:latin typeface="Calibri" pitchFamily="34" charset="0"/>
                <a:ea typeface="Calibri" pitchFamily="34" charset="-122"/>
                <a:cs typeface="Calibri" pitchFamily="34" charset="-120"/>
              </a:rPr>
              <a:t>Would you rather continue solo? If yes, the scope you'd cut to for one person.</a:t>
            </a:r>
            <a:endParaRPr lang="en-US" sz="1550" dirty="0"/>
          </a:p>
        </p:txBody>
      </p:sp>
      <p:sp>
        <p:nvSpPr>
          <p:cNvPr id="16" name="Text 14"/>
          <p:cNvSpPr/>
          <p:nvPr/>
        </p:nvSpPr>
        <p:spPr>
          <a:xfrm>
            <a:off x="10149840" y="2958084"/>
            <a:ext cx="1280160" cy="681228"/>
          </a:xfrm>
          <a:prstGeom prst="rect">
            <a:avLst/>
          </a:prstGeom>
          <a:noFill/>
          <a:ln/>
        </p:spPr>
        <p:txBody>
          <a:bodyPr wrap="square" lIns="0" tIns="0" rIns="0" bIns="0" rtlCol="0" anchor="ctr"/>
          <a:lstStyle/>
          <a:p>
            <a:pPr algn="r" indent="0" marL="0">
              <a:buNone/>
            </a:pPr>
            <a:r>
              <a:rPr lang="en-US" sz="1400" b="1" dirty="0">
                <a:solidFill>
                  <a:srgbClr val="E8A33D"/>
                </a:solidFill>
                <a:latin typeface="Calibri" pitchFamily="34" charset="0"/>
                <a:ea typeface="Calibri" pitchFamily="34" charset="-122"/>
                <a:cs typeface="Calibri" pitchFamily="34" charset="-120"/>
              </a:rPr>
              <a:t>solo box</a:t>
            </a:r>
            <a:endParaRPr lang="en-US" sz="1400" dirty="0"/>
          </a:p>
        </p:txBody>
      </p:sp>
      <p:sp>
        <p:nvSpPr>
          <p:cNvPr id="17" name="Shape 15"/>
          <p:cNvSpPr/>
          <p:nvPr/>
        </p:nvSpPr>
        <p:spPr>
          <a:xfrm>
            <a:off x="548640" y="3767328"/>
            <a:ext cx="11064240" cy="681228"/>
          </a:xfrm>
          <a:prstGeom prst="roundRect">
            <a:avLst>
              <a:gd name="adj" fmla="val 12081"/>
            </a:avLst>
          </a:prstGeom>
          <a:solidFill>
            <a:srgbClr val="1E3352"/>
          </a:solidFill>
          <a:ln/>
          <a:effectLst>
            <a:outerShdw sx="100000" sy="100000" kx="0" ky="0" algn="bl" rotWithShape="0" blurRad="88900" dist="38100" dir="5400000">
              <a:srgbClr val="000000">
                <a:alpha val="13000"/>
              </a:srgbClr>
            </a:outerShdw>
          </a:effectLst>
        </p:spPr>
      </p:sp>
      <p:sp>
        <p:nvSpPr>
          <p:cNvPr id="18" name="Shape 16"/>
          <p:cNvSpPr/>
          <p:nvPr/>
        </p:nvSpPr>
        <p:spPr>
          <a:xfrm>
            <a:off x="777240" y="3879342"/>
            <a:ext cx="457200" cy="457200"/>
          </a:xfrm>
          <a:prstGeom prst="ellipse">
            <a:avLst/>
          </a:prstGeom>
          <a:solidFill>
            <a:srgbClr val="E8A33D"/>
          </a:solidFill>
          <a:ln/>
        </p:spPr>
      </p:sp>
      <p:sp>
        <p:nvSpPr>
          <p:cNvPr id="19" name="Text 17"/>
          <p:cNvSpPr/>
          <p:nvPr/>
        </p:nvSpPr>
        <p:spPr>
          <a:xfrm>
            <a:off x="777240" y="3879342"/>
            <a:ext cx="457200" cy="457200"/>
          </a:xfrm>
          <a:prstGeom prst="rect">
            <a:avLst/>
          </a:prstGeom>
          <a:noFill/>
          <a:ln/>
        </p:spPr>
        <p:txBody>
          <a:bodyPr wrap="square" lIns="0" tIns="0" rIns="0" bIns="0" rtlCol="0" anchor="ctr"/>
          <a:lstStyle/>
          <a:p>
            <a:pPr algn="ctr" indent="0" marL="0">
              <a:buNone/>
            </a:pPr>
            <a:r>
              <a:rPr lang="en-US" sz="2000" b="1" dirty="0">
                <a:solidFill>
                  <a:srgbClr val="14233A"/>
                </a:solidFill>
                <a:latin typeface="Cambria" pitchFamily="34" charset="0"/>
                <a:ea typeface="Cambria" pitchFamily="34" charset="-122"/>
                <a:cs typeface="Cambria" pitchFamily="34" charset="-120"/>
              </a:rPr>
              <a:t>3</a:t>
            </a:r>
            <a:endParaRPr lang="en-US" sz="2000" dirty="0"/>
          </a:p>
        </p:txBody>
      </p:sp>
      <p:sp>
        <p:nvSpPr>
          <p:cNvPr id="20" name="Text 18"/>
          <p:cNvSpPr/>
          <p:nvPr/>
        </p:nvSpPr>
        <p:spPr>
          <a:xfrm>
            <a:off x="1417320" y="3767328"/>
            <a:ext cx="8595360" cy="681228"/>
          </a:xfrm>
          <a:prstGeom prst="rect">
            <a:avLst/>
          </a:prstGeom>
          <a:noFill/>
          <a:ln/>
        </p:spPr>
        <p:txBody>
          <a:bodyPr wrap="square" lIns="0" tIns="0" rIns="0" bIns="0" rtlCol="0" anchor="ctr"/>
          <a:lstStyle/>
          <a:p>
            <a:pPr indent="0" marL="0">
              <a:lnSpc>
                <a:spcPct val="103000"/>
              </a:lnSpc>
              <a:buNone/>
            </a:pPr>
            <a:r>
              <a:rPr lang="en-US" sz="1550" dirty="0">
                <a:solidFill>
                  <a:srgbClr val="FFFFFF"/>
                </a:solidFill>
                <a:latin typeface="Calibri" pitchFamily="34" charset="0"/>
                <a:ea typeface="Calibri" pitchFamily="34" charset="-122"/>
                <a:cs typeface="Calibri" pitchFamily="34" charset="-120"/>
              </a:rPr>
              <a:t>One line on what you'd bring to the team you join.</a:t>
            </a:r>
            <a:endParaRPr lang="en-US" sz="1550" dirty="0"/>
          </a:p>
        </p:txBody>
      </p:sp>
      <p:sp>
        <p:nvSpPr>
          <p:cNvPr id="21" name="Text 19"/>
          <p:cNvSpPr/>
          <p:nvPr/>
        </p:nvSpPr>
        <p:spPr>
          <a:xfrm>
            <a:off x="10149840" y="3767328"/>
            <a:ext cx="1280160" cy="681228"/>
          </a:xfrm>
          <a:prstGeom prst="rect">
            <a:avLst/>
          </a:prstGeom>
          <a:noFill/>
          <a:ln/>
        </p:spPr>
        <p:txBody>
          <a:bodyPr wrap="square" lIns="0" tIns="0" rIns="0" bIns="0" rtlCol="0" anchor="ctr"/>
          <a:lstStyle/>
          <a:p>
            <a:pPr algn="r" indent="0" marL="0">
              <a:buNone/>
            </a:pPr>
            <a:r>
              <a:rPr lang="en-US" sz="1400" b="1" dirty="0">
                <a:solidFill>
                  <a:srgbClr val="E8A33D"/>
                </a:solidFill>
                <a:latin typeface="Calibri" pitchFamily="34" charset="0"/>
                <a:ea typeface="Calibri" pitchFamily="34" charset="-122"/>
                <a:cs typeface="Calibri" pitchFamily="34" charset="-120"/>
              </a:rPr>
              <a:t>1 line</a:t>
            </a:r>
            <a:endParaRPr lang="en-US" sz="1400" dirty="0"/>
          </a:p>
        </p:txBody>
      </p:sp>
      <p:sp>
        <p:nvSpPr>
          <p:cNvPr id="22" name="Shape 20"/>
          <p:cNvSpPr/>
          <p:nvPr/>
        </p:nvSpPr>
        <p:spPr>
          <a:xfrm>
            <a:off x="548640" y="4576572"/>
            <a:ext cx="11064240" cy="681228"/>
          </a:xfrm>
          <a:prstGeom prst="roundRect">
            <a:avLst>
              <a:gd name="adj" fmla="val 12081"/>
            </a:avLst>
          </a:prstGeom>
          <a:solidFill>
            <a:srgbClr val="1E3352"/>
          </a:solidFill>
          <a:ln/>
          <a:effectLst>
            <a:outerShdw sx="100000" sy="100000" kx="0" ky="0" algn="bl" rotWithShape="0" blurRad="88900" dist="38100" dir="5400000">
              <a:srgbClr val="000000">
                <a:alpha val="13000"/>
              </a:srgbClr>
            </a:outerShdw>
          </a:effectLst>
        </p:spPr>
      </p:sp>
      <p:sp>
        <p:nvSpPr>
          <p:cNvPr id="23" name="Shape 21"/>
          <p:cNvSpPr/>
          <p:nvPr/>
        </p:nvSpPr>
        <p:spPr>
          <a:xfrm>
            <a:off x="777240" y="4688586"/>
            <a:ext cx="457200" cy="457200"/>
          </a:xfrm>
          <a:prstGeom prst="ellipse">
            <a:avLst/>
          </a:prstGeom>
          <a:solidFill>
            <a:srgbClr val="E8A33D"/>
          </a:solidFill>
          <a:ln/>
        </p:spPr>
      </p:sp>
      <p:sp>
        <p:nvSpPr>
          <p:cNvPr id="24" name="Text 22"/>
          <p:cNvSpPr/>
          <p:nvPr/>
        </p:nvSpPr>
        <p:spPr>
          <a:xfrm>
            <a:off x="777240" y="4688586"/>
            <a:ext cx="457200" cy="457200"/>
          </a:xfrm>
          <a:prstGeom prst="rect">
            <a:avLst/>
          </a:prstGeom>
          <a:noFill/>
          <a:ln/>
        </p:spPr>
        <p:txBody>
          <a:bodyPr wrap="square" lIns="0" tIns="0" rIns="0" bIns="0" rtlCol="0" anchor="ctr"/>
          <a:lstStyle/>
          <a:p>
            <a:pPr algn="ctr" indent="0" marL="0">
              <a:buNone/>
            </a:pPr>
            <a:r>
              <a:rPr lang="en-US" sz="2000" b="1" dirty="0">
                <a:solidFill>
                  <a:srgbClr val="14233A"/>
                </a:solidFill>
                <a:latin typeface="Cambria" pitchFamily="34" charset="0"/>
                <a:ea typeface="Cambria" pitchFamily="34" charset="-122"/>
                <a:cs typeface="Cambria" pitchFamily="34" charset="-120"/>
              </a:rPr>
              <a:t>4</a:t>
            </a:r>
            <a:endParaRPr lang="en-US" sz="2000" dirty="0"/>
          </a:p>
        </p:txBody>
      </p:sp>
      <p:sp>
        <p:nvSpPr>
          <p:cNvPr id="25" name="Text 23"/>
          <p:cNvSpPr/>
          <p:nvPr/>
        </p:nvSpPr>
        <p:spPr>
          <a:xfrm>
            <a:off x="1417320" y="4576572"/>
            <a:ext cx="8595360" cy="681228"/>
          </a:xfrm>
          <a:prstGeom prst="rect">
            <a:avLst/>
          </a:prstGeom>
          <a:noFill/>
          <a:ln/>
        </p:spPr>
        <p:txBody>
          <a:bodyPr wrap="square" lIns="0" tIns="0" rIns="0" bIns="0" rtlCol="0" anchor="ctr"/>
          <a:lstStyle/>
          <a:p>
            <a:pPr indent="0" marL="0">
              <a:lnSpc>
                <a:spcPct val="103000"/>
              </a:lnSpc>
              <a:buNone/>
            </a:pPr>
            <a:r>
              <a:rPr lang="en-US" sz="1550" dirty="0">
                <a:solidFill>
                  <a:srgbClr val="FFFFFF"/>
                </a:solidFill>
                <a:latin typeface="Calibri" pitchFamily="34" charset="0"/>
                <a:ea typeface="Calibri" pitchFamily="34" charset="-122"/>
                <a:cs typeface="Calibri" pitchFamily="34" charset="-120"/>
              </a:rPr>
              <a:t>Copy it into the Canvas assignment by end of day. It stays editable until Sunday night.</a:t>
            </a:r>
            <a:endParaRPr lang="en-US" sz="1550" dirty="0"/>
          </a:p>
        </p:txBody>
      </p:sp>
      <p:sp>
        <p:nvSpPr>
          <p:cNvPr id="26" name="Text 24"/>
          <p:cNvSpPr/>
          <p:nvPr/>
        </p:nvSpPr>
        <p:spPr>
          <a:xfrm>
            <a:off x="10149840" y="4576572"/>
            <a:ext cx="1280160" cy="681228"/>
          </a:xfrm>
          <a:prstGeom prst="rect">
            <a:avLst/>
          </a:prstGeom>
          <a:noFill/>
          <a:ln/>
        </p:spPr>
        <p:txBody>
          <a:bodyPr wrap="square" lIns="0" tIns="0" rIns="0" bIns="0" rtlCol="0" anchor="ctr"/>
          <a:lstStyle/>
          <a:p>
            <a:pPr algn="r" indent="0" marL="0">
              <a:buNone/>
            </a:pPr>
            <a:r>
              <a:rPr lang="en-US" sz="1400" b="1" dirty="0">
                <a:solidFill>
                  <a:srgbClr val="E8A33D"/>
                </a:solidFill>
                <a:latin typeface="Calibri" pitchFamily="34" charset="0"/>
                <a:ea typeface="Calibri" pitchFamily="34" charset="-122"/>
                <a:cs typeface="Calibri" pitchFamily="34" charset="-120"/>
              </a:rPr>
              <a:t>Canvas</a:t>
            </a:r>
            <a:endParaRPr lang="en-US" sz="1400" dirty="0"/>
          </a:p>
        </p:txBody>
      </p:sp>
      <p:sp>
        <p:nvSpPr>
          <p:cNvPr id="27" name="Shape 25"/>
          <p:cNvSpPr/>
          <p:nvPr/>
        </p:nvSpPr>
        <p:spPr>
          <a:xfrm>
            <a:off x="548640" y="5440680"/>
            <a:ext cx="11064240" cy="731520"/>
          </a:xfrm>
          <a:prstGeom prst="roundRect">
            <a:avLst>
              <a:gd name="adj" fmla="val 11250"/>
            </a:avLst>
          </a:prstGeom>
          <a:solidFill>
            <a:srgbClr val="E8A33D"/>
          </a:solidFill>
          <a:ln/>
          <a:effectLst>
            <a:outerShdw sx="100000" sy="100000" kx="0" ky="0" algn="bl" rotWithShape="0" blurRad="88900" dist="38100" dir="5400000">
              <a:srgbClr val="000000">
                <a:alpha val="13000"/>
              </a:srgbClr>
            </a:outerShdw>
          </a:effectLst>
        </p:spPr>
      </p:sp>
      <p:sp>
        <p:nvSpPr>
          <p:cNvPr id="28" name="Text 26"/>
          <p:cNvSpPr/>
          <p:nvPr/>
        </p:nvSpPr>
        <p:spPr>
          <a:xfrm>
            <a:off x="914400" y="5440680"/>
            <a:ext cx="10332720" cy="731520"/>
          </a:xfrm>
          <a:prstGeom prst="rect">
            <a:avLst/>
          </a:prstGeom>
          <a:noFill/>
          <a:ln/>
        </p:spPr>
        <p:txBody>
          <a:bodyPr wrap="square" lIns="0" tIns="0" rIns="0" bIns="0" rtlCol="0" anchor="ctr"/>
          <a:lstStyle/>
          <a:p>
            <a:pPr indent="0" marL="0">
              <a:buNone/>
            </a:pPr>
            <a:r>
              <a:rPr lang="en-US" sz="1500" b="1" dirty="0">
                <a:solidFill>
                  <a:srgbClr val="14233A"/>
                </a:solidFill>
                <a:latin typeface="Calibri" pitchFamily="34" charset="0"/>
                <a:ea typeface="Calibri" pitchFamily="34" charset="-122"/>
                <a:cs typeface="Calibri" pitchFamily="34" charset="-120"/>
              </a:rPr>
              <a:t>Private — nobody sees anyone else's. "My friend is on it" is not a reason.</a:t>
            </a:r>
            <a:endParaRPr lang="en-US" sz="1500" dirty="0"/>
          </a:p>
        </p:txBody>
      </p:sp>
      <p:sp>
        <p:nvSpPr>
          <p:cNvPr id="29" name="Text 27"/>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7E92A8"/>
                </a:solidFill>
                <a:latin typeface="Calibri" pitchFamily="34" charset="0"/>
                <a:ea typeface="Calibri" pitchFamily="34" charset="-122"/>
                <a:cs typeface="Calibri" pitchFamily="34" charset="-120"/>
              </a:rPr>
              <a:t>CS 301R · Session 10 · Pitch Day</a:t>
            </a:r>
            <a:endParaRPr lang="en-US" sz="1000" dirty="0"/>
          </a:p>
        </p:txBody>
      </p:sp>
      <p:sp>
        <p:nvSpPr>
          <p:cNvPr id="30" name="Text 28"/>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7E92A8"/>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EVALUATE LIVE, COMMIT DELIBERATELY</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Six minutes of pitch vs. the document</a:t>
            </a:r>
            <a:endParaRPr lang="en-US" sz="3100" dirty="0"/>
          </a:p>
        </p:txBody>
      </p:sp>
      <p:sp>
        <p:nvSpPr>
          <p:cNvPr id="5" name="Shape 3"/>
          <p:cNvSpPr/>
          <p:nvPr/>
        </p:nvSpPr>
        <p:spPr>
          <a:xfrm>
            <a:off x="548640" y="1783080"/>
            <a:ext cx="5440680" cy="3383280"/>
          </a:xfrm>
          <a:prstGeom prst="roundRect">
            <a:avLst>
              <a:gd name="adj" fmla="val 2432"/>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868680" y="2011680"/>
            <a:ext cx="566928" cy="566928"/>
          </a:xfrm>
          <a:prstGeom prst="ellipse">
            <a:avLst/>
          </a:prstGeom>
          <a:solidFill>
            <a:srgbClr val="12908F"/>
          </a:solidFill>
          <a:ln/>
        </p:spPr>
      </p:sp>
      <p:pic>
        <p:nvPicPr>
          <p:cNvPr id="7" name="Image 0" descr="preencoded.png">    </p:cNvPr>
          <p:cNvPicPr>
            <a:picLocks noChangeAspect="1"/>
          </p:cNvPicPr>
          <p:nvPr/>
        </p:nvPicPr>
        <p:blipFill>
          <a:blip r:embed="rId1"/>
          <a:stretch>
            <a:fillRect/>
          </a:stretch>
        </p:blipFill>
        <p:spPr>
          <a:xfrm>
            <a:off x="1021751" y="2164751"/>
            <a:ext cx="260787" cy="260787"/>
          </a:xfrm>
          <a:prstGeom prst="rect">
            <a:avLst/>
          </a:prstGeom>
        </p:spPr>
      </p:pic>
      <p:sp>
        <p:nvSpPr>
          <p:cNvPr id="8" name="Text 5"/>
          <p:cNvSpPr/>
          <p:nvPr/>
        </p:nvSpPr>
        <p:spPr>
          <a:xfrm>
            <a:off x="1627632" y="2011680"/>
            <a:ext cx="4206240" cy="566928"/>
          </a:xfrm>
          <a:prstGeom prst="rect">
            <a:avLst/>
          </a:prstGeom>
          <a:noFill/>
          <a:ln/>
        </p:spPr>
        <p:txBody>
          <a:bodyPr wrap="square" lIns="0" tIns="0" rIns="0" bIns="0" rtlCol="0" anchor="ctr"/>
          <a:lstStyle/>
          <a:p>
            <a:pPr indent="0" marL="0">
              <a:buNone/>
            </a:pPr>
            <a:r>
              <a:rPr lang="en-US" sz="2000" b="1" dirty="0">
                <a:solidFill>
                  <a:srgbClr val="1E2A36"/>
                </a:solidFill>
                <a:latin typeface="Calibri" pitchFamily="34" charset="0"/>
                <a:ea typeface="Calibri" pitchFamily="34" charset="-122"/>
                <a:cs typeface="Calibri" pitchFamily="34" charset="-120"/>
              </a:rPr>
              <a:t>What a pitch tells you</a:t>
            </a:r>
            <a:endParaRPr lang="en-US" sz="2000" dirty="0"/>
          </a:p>
        </p:txBody>
      </p:sp>
      <p:sp>
        <p:nvSpPr>
          <p:cNvPr id="9" name="Text 6"/>
          <p:cNvSpPr/>
          <p:nvPr/>
        </p:nvSpPr>
        <p:spPr>
          <a:xfrm>
            <a:off x="914400" y="2834640"/>
            <a:ext cx="4846320" cy="2103120"/>
          </a:xfrm>
          <a:prstGeom prst="rect">
            <a:avLst/>
          </a:prstGeom>
          <a:noFill/>
          <a:ln/>
        </p:spPr>
        <p:txBody>
          <a:bodyPr wrap="square" lIns="0" tIns="0" rIns="0" bIns="0" rtlCol="0" anchor="t"/>
          <a:lstStyle/>
          <a:p>
            <a:pPr marL="203200" indent="-203200">
              <a:spcAft>
                <a:spcPts val="3000"/>
              </a:spcAft>
              <a:buSzPct val="100000"/>
              <a:buChar char="•"/>
            </a:pPr>
            <a:r>
              <a:rPr lang="en-US" sz="1850" dirty="0">
                <a:solidFill>
                  <a:srgbClr val="1E2A36"/>
                </a:solidFill>
                <a:latin typeface="Calibri" pitchFamily="34" charset="0"/>
                <a:ea typeface="Calibri" pitchFamily="34" charset="-122"/>
                <a:cs typeface="Calibri" pitchFamily="34" charset="-120"/>
              </a:rPr>
              <a:t>Whether the founder can make a case</a:t>
            </a:r>
            <a:endParaRPr lang="en-US" sz="1850" dirty="0"/>
          </a:p>
          <a:p>
            <a:pPr marL="203200" indent="-203200">
              <a:spcAft>
                <a:spcPts val="3000"/>
              </a:spcAft>
              <a:buSzPct val="100000"/>
              <a:buChar char="•"/>
            </a:pPr>
            <a:r>
              <a:rPr lang="en-US" sz="1850" dirty="0">
                <a:solidFill>
                  <a:srgbClr val="1E2A36"/>
                </a:solidFill>
                <a:latin typeface="Calibri" pitchFamily="34" charset="0"/>
                <a:ea typeface="Calibri" pitchFamily="34" charset="-122"/>
                <a:cs typeface="Calibri" pitchFamily="34" charset="-120"/>
              </a:rPr>
              <a:t>Whether the room felt the need</a:t>
            </a:r>
            <a:endParaRPr lang="en-US" sz="1850" dirty="0"/>
          </a:p>
          <a:p>
            <a:pPr marL="203200" indent="-203200">
              <a:buSzPct val="100000"/>
              <a:buChar char="•"/>
            </a:pPr>
            <a:r>
              <a:rPr lang="en-US" sz="1850" dirty="0">
                <a:solidFill>
                  <a:srgbClr val="1E2A36"/>
                </a:solidFill>
                <a:latin typeface="Calibri" pitchFamily="34" charset="0"/>
                <a:ea typeface="Calibri" pitchFamily="34" charset="-122"/>
                <a:cs typeface="Calibri" pitchFamily="34" charset="-120"/>
              </a:rPr>
              <a:t>How they handle a hard question</a:t>
            </a:r>
            <a:endParaRPr lang="en-US" sz="1850" dirty="0"/>
          </a:p>
        </p:txBody>
      </p:sp>
      <p:sp>
        <p:nvSpPr>
          <p:cNvPr id="10" name="Shape 7"/>
          <p:cNvSpPr/>
          <p:nvPr/>
        </p:nvSpPr>
        <p:spPr>
          <a:xfrm>
            <a:off x="6172200" y="1783080"/>
            <a:ext cx="5440680" cy="3383280"/>
          </a:xfrm>
          <a:prstGeom prst="roundRect">
            <a:avLst>
              <a:gd name="adj" fmla="val 2432"/>
            </a:avLst>
          </a:prstGeom>
          <a:solidFill>
            <a:srgbClr val="14233A"/>
          </a:solidFill>
          <a:ln/>
          <a:effectLst>
            <a:outerShdw sx="100000" sy="100000" kx="0" ky="0" algn="bl" rotWithShape="0" blurRad="88900" dist="38100" dir="5400000">
              <a:srgbClr val="000000">
                <a:alpha val="13000"/>
              </a:srgbClr>
            </a:outerShdw>
          </a:effectLst>
        </p:spPr>
      </p:sp>
      <p:sp>
        <p:nvSpPr>
          <p:cNvPr id="11" name="Shape 8"/>
          <p:cNvSpPr/>
          <p:nvPr/>
        </p:nvSpPr>
        <p:spPr>
          <a:xfrm>
            <a:off x="6492240" y="2011680"/>
            <a:ext cx="566928" cy="566928"/>
          </a:xfrm>
          <a:prstGeom prst="ellipse">
            <a:avLst/>
          </a:prstGeom>
          <a:solidFill>
            <a:srgbClr val="E8A33D"/>
          </a:solidFill>
          <a:ln/>
        </p:spPr>
      </p:sp>
      <p:pic>
        <p:nvPicPr>
          <p:cNvPr id="12" name="Image 1" descr="preencoded.png">    </p:cNvPr>
          <p:cNvPicPr>
            <a:picLocks noChangeAspect="1"/>
          </p:cNvPicPr>
          <p:nvPr/>
        </p:nvPicPr>
        <p:blipFill>
          <a:blip r:embed="rId2"/>
          <a:stretch>
            <a:fillRect/>
          </a:stretch>
        </p:blipFill>
        <p:spPr>
          <a:xfrm>
            <a:off x="6645311" y="2164751"/>
            <a:ext cx="260787" cy="260787"/>
          </a:xfrm>
          <a:prstGeom prst="rect">
            <a:avLst/>
          </a:prstGeom>
        </p:spPr>
      </p:pic>
      <p:sp>
        <p:nvSpPr>
          <p:cNvPr id="13" name="Text 9"/>
          <p:cNvSpPr/>
          <p:nvPr/>
        </p:nvSpPr>
        <p:spPr>
          <a:xfrm>
            <a:off x="7251192" y="2011680"/>
            <a:ext cx="4206240" cy="566928"/>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What the proposal tells you</a:t>
            </a:r>
            <a:endParaRPr lang="en-US" sz="2000" dirty="0"/>
          </a:p>
        </p:txBody>
      </p:sp>
      <p:sp>
        <p:nvSpPr>
          <p:cNvPr id="14" name="Text 10"/>
          <p:cNvSpPr/>
          <p:nvPr/>
        </p:nvSpPr>
        <p:spPr>
          <a:xfrm>
            <a:off x="6537960" y="2834640"/>
            <a:ext cx="4846320" cy="2103120"/>
          </a:xfrm>
          <a:prstGeom prst="rect">
            <a:avLst/>
          </a:prstGeom>
          <a:noFill/>
          <a:ln/>
        </p:spPr>
        <p:txBody>
          <a:bodyPr wrap="square" lIns="0" tIns="0" rIns="0" bIns="0" rtlCol="0" anchor="t"/>
          <a:lstStyle/>
          <a:p>
            <a:pPr marL="203200" indent="-203200">
              <a:spcAft>
                <a:spcPts val="3000"/>
              </a:spcAft>
              <a:buSzPct val="100000"/>
              <a:buChar char="•"/>
            </a:pPr>
            <a:r>
              <a:rPr lang="en-US" sz="1850" dirty="0">
                <a:solidFill>
                  <a:srgbClr val="CFE0E9"/>
                </a:solidFill>
                <a:latin typeface="Calibri" pitchFamily="34" charset="0"/>
                <a:ea typeface="Calibri" pitchFamily="34" charset="-122"/>
                <a:cs typeface="Calibri" pitchFamily="34" charset="-120"/>
              </a:rPr>
              <a:t>Whether the scope is real — the arithmetic</a:t>
            </a:r>
            <a:endParaRPr lang="en-US" sz="1850" dirty="0"/>
          </a:p>
          <a:p>
            <a:pPr marL="203200" indent="-203200">
              <a:spcAft>
                <a:spcPts val="3000"/>
              </a:spcAft>
              <a:buSzPct val="100000"/>
              <a:buChar char="•"/>
            </a:pPr>
            <a:r>
              <a:rPr lang="en-US" sz="1850" dirty="0">
                <a:solidFill>
                  <a:srgbClr val="CFE0E9"/>
                </a:solidFill>
                <a:latin typeface="Calibri" pitchFamily="34" charset="0"/>
                <a:ea typeface="Calibri" pitchFamily="34" charset="-122"/>
                <a:cs typeface="Calibri" pitchFamily="34" charset="-120"/>
              </a:rPr>
              <a:t>Whether the stack is one you want to work in</a:t>
            </a:r>
            <a:endParaRPr lang="en-US" sz="1850" dirty="0"/>
          </a:p>
          <a:p>
            <a:pPr marL="203200" indent="-203200">
              <a:buSzPct val="100000"/>
              <a:buChar char="•"/>
            </a:pPr>
            <a:r>
              <a:rPr lang="en-US" sz="1850" dirty="0">
                <a:solidFill>
                  <a:srgbClr val="CFE0E9"/>
                </a:solidFill>
                <a:latin typeface="Calibri" pitchFamily="34" charset="0"/>
                <a:ea typeface="Calibri" pitchFamily="34" charset="-122"/>
                <a:cs typeface="Calibri" pitchFamily="34" charset="-120"/>
              </a:rPr>
              <a:t>Whether there's something in it you'd build</a:t>
            </a:r>
            <a:endParaRPr lang="en-US" sz="1850" dirty="0"/>
          </a:p>
        </p:txBody>
      </p:sp>
      <p:sp>
        <p:nvSpPr>
          <p:cNvPr id="15" name="Shape 11"/>
          <p:cNvSpPr/>
          <p:nvPr/>
        </p:nvSpPr>
        <p:spPr>
          <a:xfrm>
            <a:off x="548640" y="5440680"/>
            <a:ext cx="11064240" cy="777240"/>
          </a:xfrm>
          <a:prstGeom prst="roundRect">
            <a:avLst>
              <a:gd name="adj" fmla="val 10588"/>
            </a:avLst>
          </a:prstGeom>
          <a:solidFill>
            <a:srgbClr val="E8A33D"/>
          </a:solidFill>
          <a:ln/>
          <a:effectLst>
            <a:outerShdw sx="100000" sy="100000" kx="0" ky="0" algn="bl" rotWithShape="0" blurRad="88900" dist="38100" dir="5400000">
              <a:srgbClr val="000000">
                <a:alpha val="13000"/>
              </a:srgbClr>
            </a:outerShdw>
          </a:effectLst>
        </p:spPr>
      </p:sp>
      <p:sp>
        <p:nvSpPr>
          <p:cNvPr id="16" name="Text 12"/>
          <p:cNvSpPr/>
          <p:nvPr/>
        </p:nvSpPr>
        <p:spPr>
          <a:xfrm>
            <a:off x="822960" y="5440680"/>
            <a:ext cx="10515600" cy="777240"/>
          </a:xfrm>
          <a:prstGeom prst="rect">
            <a:avLst/>
          </a:prstGeom>
          <a:noFill/>
          <a:ln/>
        </p:spPr>
        <p:txBody>
          <a:bodyPr wrap="square" lIns="0" tIns="0" rIns="0" bIns="0" rtlCol="0" anchor="ctr"/>
          <a:lstStyle/>
          <a:p>
            <a:pPr algn="ctr" indent="0" marL="0">
              <a:buNone/>
            </a:pPr>
            <a:r>
              <a:rPr lang="en-US" sz="1600" b="1" dirty="0">
                <a:solidFill>
                  <a:srgbClr val="14233A"/>
                </a:solidFill>
                <a:latin typeface="Calibri" pitchFamily="34" charset="0"/>
                <a:ea typeface="Calibri" pitchFamily="34" charset="-122"/>
                <a:cs typeface="Calibri" pitchFamily="34" charset="-120"/>
              </a:rPr>
              <a:t>Choose where to spend the semester with the document in hand — not with whoever is standing nearest.</a:t>
            </a:r>
            <a:endParaRPr lang="en-US" sz="1600" dirty="0"/>
          </a:p>
        </p:txBody>
      </p:sp>
      <p:sp>
        <p:nvSpPr>
          <p:cNvPr id="17" name="Text 13"/>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10 · Pitch Day</a:t>
            </a:r>
            <a:endParaRPr lang="en-US" sz="1000" dirty="0"/>
          </a:p>
        </p:txBody>
      </p:sp>
      <p:sp>
        <p:nvSpPr>
          <p:cNvPr id="18" name="Text 14"/>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WHAT HAPPENS NEXT — 3 MIN</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From today to your team</a:t>
            </a:r>
            <a:endParaRPr lang="en-US" sz="3100" dirty="0"/>
          </a:p>
        </p:txBody>
      </p:sp>
      <p:sp>
        <p:nvSpPr>
          <p:cNvPr id="5" name="Shape 3"/>
          <p:cNvSpPr/>
          <p:nvPr/>
        </p:nvSpPr>
        <p:spPr>
          <a:xfrm>
            <a:off x="548640" y="1783080"/>
            <a:ext cx="2029968" cy="2834640"/>
          </a:xfrm>
          <a:prstGeom prst="roundRect">
            <a:avLst>
              <a:gd name="adj" fmla="val 4054"/>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1271016" y="1984248"/>
            <a:ext cx="585216" cy="585216"/>
          </a:xfrm>
          <a:prstGeom prst="ellipse">
            <a:avLst/>
          </a:prstGeom>
          <a:solidFill>
            <a:srgbClr val="12908F"/>
          </a:solidFill>
          <a:ln/>
        </p:spPr>
      </p:sp>
      <p:pic>
        <p:nvPicPr>
          <p:cNvPr id="7" name="Image 0" descr="preencoded.png">    </p:cNvPr>
          <p:cNvPicPr>
            <a:picLocks noChangeAspect="1"/>
          </p:cNvPicPr>
          <p:nvPr/>
        </p:nvPicPr>
        <p:blipFill>
          <a:blip r:embed="rId1"/>
          <a:stretch>
            <a:fillRect/>
          </a:stretch>
        </p:blipFill>
        <p:spPr>
          <a:xfrm>
            <a:off x="1429024" y="2142256"/>
            <a:ext cx="269199" cy="269199"/>
          </a:xfrm>
          <a:prstGeom prst="rect">
            <a:avLst/>
          </a:prstGeom>
        </p:spPr>
      </p:pic>
      <p:sp>
        <p:nvSpPr>
          <p:cNvPr id="8" name="Text 5"/>
          <p:cNvSpPr/>
          <p:nvPr/>
        </p:nvSpPr>
        <p:spPr>
          <a:xfrm>
            <a:off x="658368" y="2697480"/>
            <a:ext cx="1810512" cy="566928"/>
          </a:xfrm>
          <a:prstGeom prst="rect">
            <a:avLst/>
          </a:prstGeom>
          <a:noFill/>
          <a:ln/>
        </p:spPr>
        <p:txBody>
          <a:bodyPr wrap="square" lIns="0" tIns="0" rIns="0" bIns="0" rtlCol="0" anchor="ctr"/>
          <a:lstStyle/>
          <a:p>
            <a:pPr algn="ctr" indent="0" marL="0">
              <a:buNone/>
            </a:pPr>
            <a:r>
              <a:rPr lang="en-US" sz="1650" b="1" dirty="0">
                <a:solidFill>
                  <a:srgbClr val="1E2A36"/>
                </a:solidFill>
                <a:latin typeface="Calibri" pitchFamily="34" charset="0"/>
                <a:ea typeface="Calibri" pitchFamily="34" charset="-122"/>
                <a:cs typeface="Calibri" pitchFamily="34" charset="-120"/>
              </a:rPr>
              <a:t>Today</a:t>
            </a:r>
            <a:endParaRPr lang="en-US" sz="1650" dirty="0"/>
          </a:p>
        </p:txBody>
      </p:sp>
      <p:sp>
        <p:nvSpPr>
          <p:cNvPr id="9" name="Text 6"/>
          <p:cNvSpPr/>
          <p:nvPr/>
        </p:nvSpPr>
        <p:spPr>
          <a:xfrm>
            <a:off x="658368" y="3291840"/>
            <a:ext cx="1810512" cy="1234440"/>
          </a:xfrm>
          <a:prstGeom prst="rect">
            <a:avLst/>
          </a:prstGeom>
          <a:noFill/>
          <a:ln/>
        </p:spPr>
        <p:txBody>
          <a:bodyPr wrap="square" lIns="0" tIns="0" rIns="0" bIns="0" rtlCol="0" anchor="t"/>
          <a:lstStyle/>
          <a:p>
            <a:pPr algn="ctr" indent="0" marL="0">
              <a:lnSpc>
                <a:spcPct val="102000"/>
              </a:lnSpc>
              <a:buNone/>
            </a:pPr>
            <a:r>
              <a:rPr lang="en-US" sz="1500" dirty="0">
                <a:solidFill>
                  <a:srgbClr val="5F7284"/>
                </a:solidFill>
                <a:latin typeface="Calibri" pitchFamily="34" charset="0"/>
                <a:ea typeface="Calibri" pitchFamily="34" charset="-122"/>
                <a:cs typeface="Calibri" pitchFamily="34" charset="-120"/>
              </a:rPr>
              <a:t>Anchors announced · preferences into Canvas</a:t>
            </a:r>
            <a:endParaRPr lang="en-US" sz="1500" dirty="0"/>
          </a:p>
        </p:txBody>
      </p:sp>
      <p:sp>
        <p:nvSpPr>
          <p:cNvPr id="10" name="Shape 7"/>
          <p:cNvSpPr/>
          <p:nvPr/>
        </p:nvSpPr>
        <p:spPr>
          <a:xfrm>
            <a:off x="2798064" y="1783080"/>
            <a:ext cx="2029968" cy="2834640"/>
          </a:xfrm>
          <a:prstGeom prst="roundRect">
            <a:avLst>
              <a:gd name="adj" fmla="val 4054"/>
            </a:avLst>
          </a:prstGeom>
          <a:solidFill>
            <a:srgbClr val="F2F6F8"/>
          </a:solidFill>
          <a:ln/>
          <a:effectLst>
            <a:outerShdw sx="100000" sy="100000" kx="0" ky="0" algn="bl" rotWithShape="0" blurRad="88900" dist="38100" dir="5400000">
              <a:srgbClr val="000000">
                <a:alpha val="13000"/>
              </a:srgbClr>
            </a:outerShdw>
          </a:effectLst>
        </p:spPr>
      </p:sp>
      <p:sp>
        <p:nvSpPr>
          <p:cNvPr id="11" name="Shape 8"/>
          <p:cNvSpPr/>
          <p:nvPr/>
        </p:nvSpPr>
        <p:spPr>
          <a:xfrm>
            <a:off x="3520440" y="1984248"/>
            <a:ext cx="585216" cy="585216"/>
          </a:xfrm>
          <a:prstGeom prst="ellipse">
            <a:avLst/>
          </a:prstGeom>
          <a:solidFill>
            <a:srgbClr val="12908F"/>
          </a:solidFill>
          <a:ln/>
        </p:spPr>
      </p:sp>
      <p:pic>
        <p:nvPicPr>
          <p:cNvPr id="12" name="Image 1" descr="preencoded.png">    </p:cNvPr>
          <p:cNvPicPr>
            <a:picLocks noChangeAspect="1"/>
          </p:cNvPicPr>
          <p:nvPr/>
        </p:nvPicPr>
        <p:blipFill>
          <a:blip r:embed="rId2"/>
          <a:stretch>
            <a:fillRect/>
          </a:stretch>
        </p:blipFill>
        <p:spPr>
          <a:xfrm>
            <a:off x="3678448" y="2142256"/>
            <a:ext cx="269199" cy="269199"/>
          </a:xfrm>
          <a:prstGeom prst="rect">
            <a:avLst/>
          </a:prstGeom>
        </p:spPr>
      </p:pic>
      <p:sp>
        <p:nvSpPr>
          <p:cNvPr id="13" name="Text 9"/>
          <p:cNvSpPr/>
          <p:nvPr/>
        </p:nvSpPr>
        <p:spPr>
          <a:xfrm>
            <a:off x="2907792" y="2697480"/>
            <a:ext cx="1810512" cy="566928"/>
          </a:xfrm>
          <a:prstGeom prst="rect">
            <a:avLst/>
          </a:prstGeom>
          <a:noFill/>
          <a:ln/>
        </p:spPr>
        <p:txBody>
          <a:bodyPr wrap="square" lIns="0" tIns="0" rIns="0" bIns="0" rtlCol="0" anchor="ctr"/>
          <a:lstStyle/>
          <a:p>
            <a:pPr algn="ctr" indent="0" marL="0">
              <a:buNone/>
            </a:pPr>
            <a:r>
              <a:rPr lang="en-US" sz="1650" b="1" dirty="0">
                <a:solidFill>
                  <a:srgbClr val="1E2A36"/>
                </a:solidFill>
                <a:latin typeface="Calibri" pitchFamily="34" charset="0"/>
                <a:ea typeface="Calibri" pitchFamily="34" charset="-122"/>
                <a:cs typeface="Calibri" pitchFamily="34" charset="-120"/>
              </a:rPr>
              <a:t>By Thursday evening</a:t>
            </a:r>
            <a:endParaRPr lang="en-US" sz="1650" dirty="0"/>
          </a:p>
        </p:txBody>
      </p:sp>
      <p:sp>
        <p:nvSpPr>
          <p:cNvPr id="14" name="Text 10"/>
          <p:cNvSpPr/>
          <p:nvPr/>
        </p:nvSpPr>
        <p:spPr>
          <a:xfrm>
            <a:off x="2907792" y="3291840"/>
            <a:ext cx="1810512" cy="1234440"/>
          </a:xfrm>
          <a:prstGeom prst="rect">
            <a:avLst/>
          </a:prstGeom>
          <a:noFill/>
          <a:ln/>
        </p:spPr>
        <p:txBody>
          <a:bodyPr wrap="square" lIns="0" tIns="0" rIns="0" bIns="0" rtlCol="0" anchor="t"/>
          <a:lstStyle/>
          <a:p>
            <a:pPr algn="ctr" indent="0" marL="0">
              <a:lnSpc>
                <a:spcPct val="102000"/>
              </a:lnSpc>
              <a:buNone/>
            </a:pPr>
            <a:r>
              <a:rPr lang="en-US" sz="1500" dirty="0">
                <a:solidFill>
                  <a:srgbClr val="5F7284"/>
                </a:solidFill>
                <a:latin typeface="Calibri" pitchFamily="34" charset="0"/>
                <a:ea typeface="Calibri" pitchFamily="34" charset="-122"/>
                <a:cs typeface="Calibri" pitchFamily="34" charset="-120"/>
              </a:rPr>
              <a:t>Anchors, tallies, your anonymized comments, and every anchor's proposal</a:t>
            </a:r>
            <a:endParaRPr lang="en-US" sz="1500" dirty="0"/>
          </a:p>
        </p:txBody>
      </p:sp>
      <p:sp>
        <p:nvSpPr>
          <p:cNvPr id="15" name="Shape 11"/>
          <p:cNvSpPr/>
          <p:nvPr/>
        </p:nvSpPr>
        <p:spPr>
          <a:xfrm>
            <a:off x="5047488" y="1783080"/>
            <a:ext cx="2029968" cy="2834640"/>
          </a:xfrm>
          <a:prstGeom prst="roundRect">
            <a:avLst>
              <a:gd name="adj" fmla="val 4054"/>
            </a:avLst>
          </a:prstGeom>
          <a:solidFill>
            <a:srgbClr val="F2F6F8"/>
          </a:solidFill>
          <a:ln/>
          <a:effectLst>
            <a:outerShdw sx="100000" sy="100000" kx="0" ky="0" algn="bl" rotWithShape="0" blurRad="88900" dist="38100" dir="5400000">
              <a:srgbClr val="000000">
                <a:alpha val="13000"/>
              </a:srgbClr>
            </a:outerShdw>
          </a:effectLst>
        </p:spPr>
      </p:sp>
      <p:sp>
        <p:nvSpPr>
          <p:cNvPr id="16" name="Shape 12"/>
          <p:cNvSpPr/>
          <p:nvPr/>
        </p:nvSpPr>
        <p:spPr>
          <a:xfrm>
            <a:off x="5769864" y="1984248"/>
            <a:ext cx="585216" cy="585216"/>
          </a:xfrm>
          <a:prstGeom prst="ellipse">
            <a:avLst/>
          </a:prstGeom>
          <a:solidFill>
            <a:srgbClr val="12908F"/>
          </a:solidFill>
          <a:ln/>
        </p:spPr>
      </p:sp>
      <p:pic>
        <p:nvPicPr>
          <p:cNvPr id="17" name="Image 2" descr="preencoded.png">    </p:cNvPr>
          <p:cNvPicPr>
            <a:picLocks noChangeAspect="1"/>
          </p:cNvPicPr>
          <p:nvPr/>
        </p:nvPicPr>
        <p:blipFill>
          <a:blip r:embed="rId3"/>
          <a:stretch>
            <a:fillRect/>
          </a:stretch>
        </p:blipFill>
        <p:spPr>
          <a:xfrm>
            <a:off x="5927872" y="2142256"/>
            <a:ext cx="269199" cy="269199"/>
          </a:xfrm>
          <a:prstGeom prst="rect">
            <a:avLst/>
          </a:prstGeom>
        </p:spPr>
      </p:pic>
      <p:sp>
        <p:nvSpPr>
          <p:cNvPr id="18" name="Text 13"/>
          <p:cNvSpPr/>
          <p:nvPr/>
        </p:nvSpPr>
        <p:spPr>
          <a:xfrm>
            <a:off x="5157216" y="2697480"/>
            <a:ext cx="1810512" cy="566928"/>
          </a:xfrm>
          <a:prstGeom prst="rect">
            <a:avLst/>
          </a:prstGeom>
          <a:noFill/>
          <a:ln/>
        </p:spPr>
        <p:txBody>
          <a:bodyPr wrap="square" lIns="0" tIns="0" rIns="0" bIns="0" rtlCol="0" anchor="ctr"/>
          <a:lstStyle/>
          <a:p>
            <a:pPr algn="ctr" indent="0" marL="0">
              <a:buNone/>
            </a:pPr>
            <a:r>
              <a:rPr lang="en-US" sz="1650" b="1" dirty="0">
                <a:solidFill>
                  <a:srgbClr val="1E2A36"/>
                </a:solidFill>
                <a:latin typeface="Calibri" pitchFamily="34" charset="0"/>
                <a:ea typeface="Calibri" pitchFamily="34" charset="-122"/>
                <a:cs typeface="Calibri" pitchFamily="34" charset="-120"/>
              </a:rPr>
              <a:t>The weekend</a:t>
            </a:r>
            <a:endParaRPr lang="en-US" sz="1650" dirty="0"/>
          </a:p>
        </p:txBody>
      </p:sp>
      <p:sp>
        <p:nvSpPr>
          <p:cNvPr id="19" name="Text 14"/>
          <p:cNvSpPr/>
          <p:nvPr/>
        </p:nvSpPr>
        <p:spPr>
          <a:xfrm>
            <a:off x="5157216" y="3291840"/>
            <a:ext cx="1810512" cy="1234440"/>
          </a:xfrm>
          <a:prstGeom prst="rect">
            <a:avLst/>
          </a:prstGeom>
          <a:noFill/>
          <a:ln/>
        </p:spPr>
        <p:txBody>
          <a:bodyPr wrap="square" lIns="0" tIns="0" rIns="0" bIns="0" rtlCol="0" anchor="t"/>
          <a:lstStyle/>
          <a:p>
            <a:pPr algn="ctr" indent="0" marL="0">
              <a:lnSpc>
                <a:spcPct val="102000"/>
              </a:lnSpc>
              <a:buNone/>
            </a:pPr>
            <a:r>
              <a:rPr lang="en-US" sz="1500" dirty="0">
                <a:solidFill>
                  <a:srgbClr val="5F7284"/>
                </a:solidFill>
                <a:latin typeface="Calibri" pitchFamily="34" charset="0"/>
                <a:ea typeface="Calibri" pitchFamily="34" charset="-122"/>
                <a:cs typeface="Calibri" pitchFamily="34" charset="-120"/>
              </a:rPr>
              <a:t>Read the proposals. Edit your preference if it changed.</a:t>
            </a:r>
            <a:endParaRPr lang="en-US" sz="1500" dirty="0"/>
          </a:p>
        </p:txBody>
      </p:sp>
      <p:sp>
        <p:nvSpPr>
          <p:cNvPr id="20" name="Shape 15"/>
          <p:cNvSpPr/>
          <p:nvPr/>
        </p:nvSpPr>
        <p:spPr>
          <a:xfrm>
            <a:off x="7296912" y="1783080"/>
            <a:ext cx="2029968" cy="2834640"/>
          </a:xfrm>
          <a:prstGeom prst="roundRect">
            <a:avLst>
              <a:gd name="adj" fmla="val 4054"/>
            </a:avLst>
          </a:prstGeom>
          <a:solidFill>
            <a:srgbClr val="F2F6F8"/>
          </a:solidFill>
          <a:ln/>
          <a:effectLst>
            <a:outerShdw sx="100000" sy="100000" kx="0" ky="0" algn="bl" rotWithShape="0" blurRad="88900" dist="38100" dir="5400000">
              <a:srgbClr val="000000">
                <a:alpha val="13000"/>
              </a:srgbClr>
            </a:outerShdw>
          </a:effectLst>
        </p:spPr>
      </p:sp>
      <p:sp>
        <p:nvSpPr>
          <p:cNvPr id="21" name="Shape 16"/>
          <p:cNvSpPr/>
          <p:nvPr/>
        </p:nvSpPr>
        <p:spPr>
          <a:xfrm>
            <a:off x="8019288" y="1984248"/>
            <a:ext cx="585216" cy="585216"/>
          </a:xfrm>
          <a:prstGeom prst="ellipse">
            <a:avLst/>
          </a:prstGeom>
          <a:solidFill>
            <a:srgbClr val="12908F"/>
          </a:solidFill>
          <a:ln/>
        </p:spPr>
      </p:sp>
      <p:pic>
        <p:nvPicPr>
          <p:cNvPr id="22" name="Image 3" descr="preencoded.png">    </p:cNvPr>
          <p:cNvPicPr>
            <a:picLocks noChangeAspect="1"/>
          </p:cNvPicPr>
          <p:nvPr/>
        </p:nvPicPr>
        <p:blipFill>
          <a:blip r:embed="rId4"/>
          <a:stretch>
            <a:fillRect/>
          </a:stretch>
        </p:blipFill>
        <p:spPr>
          <a:xfrm>
            <a:off x="8177296" y="2142256"/>
            <a:ext cx="269199" cy="269199"/>
          </a:xfrm>
          <a:prstGeom prst="rect">
            <a:avLst/>
          </a:prstGeom>
        </p:spPr>
      </p:pic>
      <p:sp>
        <p:nvSpPr>
          <p:cNvPr id="23" name="Text 17"/>
          <p:cNvSpPr/>
          <p:nvPr/>
        </p:nvSpPr>
        <p:spPr>
          <a:xfrm>
            <a:off x="7406640" y="2697480"/>
            <a:ext cx="1810512" cy="566928"/>
          </a:xfrm>
          <a:prstGeom prst="rect">
            <a:avLst/>
          </a:prstGeom>
          <a:noFill/>
          <a:ln/>
        </p:spPr>
        <p:txBody>
          <a:bodyPr wrap="square" lIns="0" tIns="0" rIns="0" bIns="0" rtlCol="0" anchor="ctr"/>
          <a:lstStyle/>
          <a:p>
            <a:pPr algn="ctr" indent="0" marL="0">
              <a:buNone/>
            </a:pPr>
            <a:r>
              <a:rPr lang="en-US" sz="1650" b="1" dirty="0">
                <a:solidFill>
                  <a:srgbClr val="1E2A36"/>
                </a:solidFill>
                <a:latin typeface="Calibri" pitchFamily="34" charset="0"/>
                <a:ea typeface="Calibri" pitchFamily="34" charset="-122"/>
                <a:cs typeface="Calibri" pitchFamily="34" charset="-120"/>
              </a:rPr>
              <a:t>Sunday night</a:t>
            </a:r>
            <a:endParaRPr lang="en-US" sz="1650" dirty="0"/>
          </a:p>
        </p:txBody>
      </p:sp>
      <p:sp>
        <p:nvSpPr>
          <p:cNvPr id="24" name="Text 18"/>
          <p:cNvSpPr/>
          <p:nvPr/>
        </p:nvSpPr>
        <p:spPr>
          <a:xfrm>
            <a:off x="7406640" y="3291840"/>
            <a:ext cx="1810512" cy="1234440"/>
          </a:xfrm>
          <a:prstGeom prst="rect">
            <a:avLst/>
          </a:prstGeom>
          <a:noFill/>
          <a:ln/>
        </p:spPr>
        <p:txBody>
          <a:bodyPr wrap="square" lIns="0" tIns="0" rIns="0" bIns="0" rtlCol="0" anchor="t"/>
          <a:lstStyle/>
          <a:p>
            <a:pPr algn="ctr" indent="0" marL="0">
              <a:lnSpc>
                <a:spcPct val="102000"/>
              </a:lnSpc>
              <a:buNone/>
            </a:pPr>
            <a:r>
              <a:rPr lang="en-US" sz="1500" dirty="0">
                <a:solidFill>
                  <a:srgbClr val="5F7284"/>
                </a:solidFill>
                <a:latin typeface="Calibri" pitchFamily="34" charset="0"/>
                <a:ea typeface="Calibri" pitchFamily="34" charset="-122"/>
                <a:cs typeface="Calibri" pitchFamily="34" charset="-120"/>
              </a:rPr>
              <a:t>Preferences close</a:t>
            </a:r>
            <a:endParaRPr lang="en-US" sz="1500" dirty="0"/>
          </a:p>
        </p:txBody>
      </p:sp>
      <p:sp>
        <p:nvSpPr>
          <p:cNvPr id="25" name="Shape 19"/>
          <p:cNvSpPr/>
          <p:nvPr/>
        </p:nvSpPr>
        <p:spPr>
          <a:xfrm>
            <a:off x="9546336" y="1783080"/>
            <a:ext cx="2029968" cy="2834640"/>
          </a:xfrm>
          <a:prstGeom prst="roundRect">
            <a:avLst>
              <a:gd name="adj" fmla="val 4054"/>
            </a:avLst>
          </a:prstGeom>
          <a:solidFill>
            <a:srgbClr val="14233A"/>
          </a:solidFill>
          <a:ln/>
          <a:effectLst>
            <a:outerShdw sx="100000" sy="100000" kx="0" ky="0" algn="bl" rotWithShape="0" blurRad="88900" dist="38100" dir="5400000">
              <a:srgbClr val="000000">
                <a:alpha val="13000"/>
              </a:srgbClr>
            </a:outerShdw>
          </a:effectLst>
        </p:spPr>
      </p:sp>
      <p:sp>
        <p:nvSpPr>
          <p:cNvPr id="26" name="Shape 20"/>
          <p:cNvSpPr/>
          <p:nvPr/>
        </p:nvSpPr>
        <p:spPr>
          <a:xfrm>
            <a:off x="10268712" y="1984248"/>
            <a:ext cx="585216" cy="585216"/>
          </a:xfrm>
          <a:prstGeom prst="ellipse">
            <a:avLst/>
          </a:prstGeom>
          <a:solidFill>
            <a:srgbClr val="E8A33D"/>
          </a:solidFill>
          <a:ln/>
        </p:spPr>
      </p:sp>
      <p:pic>
        <p:nvPicPr>
          <p:cNvPr id="27" name="Image 4" descr="preencoded.png">    </p:cNvPr>
          <p:cNvPicPr>
            <a:picLocks noChangeAspect="1"/>
          </p:cNvPicPr>
          <p:nvPr/>
        </p:nvPicPr>
        <p:blipFill>
          <a:blip r:embed="rId5"/>
          <a:stretch>
            <a:fillRect/>
          </a:stretch>
        </p:blipFill>
        <p:spPr>
          <a:xfrm>
            <a:off x="10426720" y="2142256"/>
            <a:ext cx="269199" cy="269199"/>
          </a:xfrm>
          <a:prstGeom prst="rect">
            <a:avLst/>
          </a:prstGeom>
        </p:spPr>
      </p:pic>
      <p:sp>
        <p:nvSpPr>
          <p:cNvPr id="28" name="Text 21"/>
          <p:cNvSpPr/>
          <p:nvPr/>
        </p:nvSpPr>
        <p:spPr>
          <a:xfrm>
            <a:off x="9656064" y="2697480"/>
            <a:ext cx="1810512" cy="566928"/>
          </a:xfrm>
          <a:prstGeom prst="rect">
            <a:avLst/>
          </a:prstGeom>
          <a:noFill/>
          <a:ln/>
        </p:spPr>
        <p:txBody>
          <a:bodyPr wrap="square" lIns="0" tIns="0" rIns="0" bIns="0" rtlCol="0" anchor="ctr"/>
          <a:lstStyle/>
          <a:p>
            <a:pPr algn="ctr" indent="0" marL="0">
              <a:buNone/>
            </a:pPr>
            <a:r>
              <a:rPr lang="en-US" sz="1650" b="1" dirty="0">
                <a:solidFill>
                  <a:srgbClr val="FFFFFF"/>
                </a:solidFill>
                <a:latin typeface="Calibri" pitchFamily="34" charset="0"/>
                <a:ea typeface="Calibri" pitchFamily="34" charset="-122"/>
                <a:cs typeface="Calibri" pitchFamily="34" charset="-120"/>
              </a:rPr>
              <a:t>Monday, Oct 12</a:t>
            </a:r>
            <a:endParaRPr lang="en-US" sz="1650" dirty="0"/>
          </a:p>
        </p:txBody>
      </p:sp>
      <p:sp>
        <p:nvSpPr>
          <p:cNvPr id="29" name="Text 22"/>
          <p:cNvSpPr/>
          <p:nvPr/>
        </p:nvSpPr>
        <p:spPr>
          <a:xfrm>
            <a:off x="9656064" y="3291840"/>
            <a:ext cx="1810512" cy="1234440"/>
          </a:xfrm>
          <a:prstGeom prst="rect">
            <a:avLst/>
          </a:prstGeom>
          <a:noFill/>
          <a:ln/>
        </p:spPr>
        <p:txBody>
          <a:bodyPr wrap="square" lIns="0" tIns="0" rIns="0" bIns="0" rtlCol="0" anchor="t"/>
          <a:lstStyle/>
          <a:p>
            <a:pPr algn="ctr" indent="0" marL="0">
              <a:lnSpc>
                <a:spcPct val="102000"/>
              </a:lnSpc>
              <a:buNone/>
            </a:pPr>
            <a:r>
              <a:rPr lang="en-US" sz="1500" dirty="0">
                <a:solidFill>
                  <a:srgbClr val="CFE0E9"/>
                </a:solidFill>
                <a:latin typeface="Calibri" pitchFamily="34" charset="0"/>
                <a:ea typeface="Calibri" pitchFamily="34" charset="-122"/>
                <a:cs typeface="Calibri" pitchFamily="34" charset="-120"/>
              </a:rPr>
              <a:t>Teams announced · charters written in class</a:t>
            </a:r>
            <a:endParaRPr lang="en-US" sz="1500" dirty="0"/>
          </a:p>
        </p:txBody>
      </p:sp>
      <p:sp>
        <p:nvSpPr>
          <p:cNvPr id="30" name="Shape 23"/>
          <p:cNvSpPr/>
          <p:nvPr/>
        </p:nvSpPr>
        <p:spPr>
          <a:xfrm>
            <a:off x="548640" y="4846320"/>
            <a:ext cx="11064240" cy="1371600"/>
          </a:xfrm>
          <a:prstGeom prst="roundRect">
            <a:avLst>
              <a:gd name="adj" fmla="val 6000"/>
            </a:avLst>
          </a:prstGeom>
          <a:solidFill>
            <a:srgbClr val="F2F6F8"/>
          </a:solidFill>
          <a:ln/>
          <a:effectLst>
            <a:outerShdw sx="100000" sy="100000" kx="0" ky="0" algn="bl" rotWithShape="0" blurRad="88900" dist="38100" dir="5400000">
              <a:srgbClr val="000000">
                <a:alpha val="13000"/>
              </a:srgbClr>
            </a:outerShdw>
          </a:effectLst>
        </p:spPr>
      </p:sp>
      <p:sp>
        <p:nvSpPr>
          <p:cNvPr id="31" name="Shape 24"/>
          <p:cNvSpPr/>
          <p:nvPr/>
        </p:nvSpPr>
        <p:spPr>
          <a:xfrm>
            <a:off x="822960" y="5212080"/>
            <a:ext cx="621792" cy="621792"/>
          </a:xfrm>
          <a:prstGeom prst="ellipse">
            <a:avLst/>
          </a:prstGeom>
          <a:solidFill>
            <a:srgbClr val="12908F"/>
          </a:solidFill>
          <a:ln/>
        </p:spPr>
      </p:sp>
      <p:pic>
        <p:nvPicPr>
          <p:cNvPr id="32" name="Image 5" descr="preencoded.png">    </p:cNvPr>
          <p:cNvPicPr>
            <a:picLocks noChangeAspect="1"/>
          </p:cNvPicPr>
          <p:nvPr/>
        </p:nvPicPr>
        <p:blipFill>
          <a:blip r:embed="rId6"/>
          <a:stretch>
            <a:fillRect/>
          </a:stretch>
        </p:blipFill>
        <p:spPr>
          <a:xfrm>
            <a:off x="990844" y="5379964"/>
            <a:ext cx="286024" cy="286024"/>
          </a:xfrm>
          <a:prstGeom prst="rect">
            <a:avLst/>
          </a:prstGeom>
        </p:spPr>
      </p:pic>
      <p:sp>
        <p:nvSpPr>
          <p:cNvPr id="33" name="Text 25"/>
          <p:cNvSpPr/>
          <p:nvPr/>
        </p:nvSpPr>
        <p:spPr>
          <a:xfrm>
            <a:off x="1691640" y="4846320"/>
            <a:ext cx="9692640" cy="1371600"/>
          </a:xfrm>
          <a:prstGeom prst="rect">
            <a:avLst/>
          </a:prstGeom>
          <a:noFill/>
          <a:ln/>
        </p:spPr>
        <p:txBody>
          <a:bodyPr wrap="square" lIns="0" tIns="0" rIns="0" bIns="0" rtlCol="0" anchor="ctr"/>
          <a:lstStyle/>
          <a:p>
            <a:pPr indent="0" marL="0">
              <a:lnSpc>
                <a:spcPct val="105000"/>
              </a:lnSpc>
              <a:buNone/>
            </a:pPr>
            <a:r>
              <a:rPr lang="en-US" sz="1600" b="1" dirty="0">
                <a:solidFill>
                  <a:srgbClr val="1E2A36"/>
                </a:solidFill>
                <a:latin typeface="Calibri" pitchFamily="34" charset="0"/>
                <a:ea typeface="Calibri" pitchFamily="34" charset="-122"/>
                <a:cs typeface="Calibri" pitchFamily="34" charset="-120"/>
              </a:rPr>
              <a:t>Recruiting before Monday is normal — founders recruit outside meetings.  </a:t>
            </a:r>
            <a:pPr indent="0" marL="0">
              <a:lnSpc>
                <a:spcPct val="105000"/>
              </a:lnSpc>
              <a:buNone/>
            </a:pPr>
            <a:r>
              <a:rPr lang="en-US" sz="1600" dirty="0">
                <a:solidFill>
                  <a:srgbClr val="5F7284"/>
                </a:solidFill>
                <a:latin typeface="Calibri" pitchFamily="34" charset="0"/>
                <a:ea typeface="Calibri" pitchFamily="34" charset="-122"/>
                <a:cs typeface="Calibri" pitchFamily="34" charset="-120"/>
              </a:rPr>
              <a:t>Two rules: the instructor holds final say, and nobody gets pressured. If a conversation feels like pressure, it is — say so.</a:t>
            </a:r>
            <a:endParaRPr lang="en-US" sz="1600" dirty="0"/>
          </a:p>
        </p:txBody>
      </p:sp>
      <p:sp>
        <p:nvSpPr>
          <p:cNvPr id="34" name="Text 26"/>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10 · Pitch Day</a:t>
            </a:r>
            <a:endParaRPr lang="en-US" sz="1000" dirty="0"/>
          </a:p>
        </p:txBody>
      </p:sp>
      <p:sp>
        <p:nvSpPr>
          <p:cNvPr id="35" name="Text 27"/>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1188720" y="4754880"/>
            <a:ext cx="3291840" cy="3291840"/>
          </a:xfrm>
          <a:prstGeom prst="ellipse">
            <a:avLst/>
          </a:prstGeom>
          <a:solidFill>
            <a:srgbClr val="1C3252"/>
          </a:solidFill>
          <a:ln/>
        </p:spPr>
      </p:sp>
      <p:sp>
        <p:nvSpPr>
          <p:cNvPr id="3" name="Shape 1"/>
          <p:cNvSpPr/>
          <p:nvPr/>
        </p:nvSpPr>
        <p:spPr>
          <a:xfrm>
            <a:off x="822960" y="1051560"/>
            <a:ext cx="777240" cy="777240"/>
          </a:xfrm>
          <a:prstGeom prst="ellipse">
            <a:avLst/>
          </a:prstGeom>
          <a:solidFill>
            <a:srgbClr val="E8A33D"/>
          </a:solidFill>
          <a:ln/>
        </p:spPr>
      </p:sp>
      <p:pic>
        <p:nvPicPr>
          <p:cNvPr id="4" name="Image 0" descr="preencoded.png">    </p:cNvPr>
          <p:cNvPicPr>
            <a:picLocks noChangeAspect="1"/>
          </p:cNvPicPr>
          <p:nvPr/>
        </p:nvPicPr>
        <p:blipFill>
          <a:blip r:embed="rId1"/>
          <a:stretch>
            <a:fillRect/>
          </a:stretch>
        </p:blipFill>
        <p:spPr>
          <a:xfrm>
            <a:off x="1032815" y="1261415"/>
            <a:ext cx="357530" cy="357530"/>
          </a:xfrm>
          <a:prstGeom prst="rect">
            <a:avLst/>
          </a:prstGeom>
        </p:spPr>
      </p:pic>
      <p:sp>
        <p:nvSpPr>
          <p:cNvPr id="5" name="Text 2"/>
          <p:cNvSpPr/>
          <p:nvPr/>
        </p:nvSpPr>
        <p:spPr>
          <a:xfrm>
            <a:off x="822960" y="1965960"/>
            <a:ext cx="10881360" cy="868680"/>
          </a:xfrm>
          <a:prstGeom prst="rect">
            <a:avLst/>
          </a:prstGeom>
          <a:noFill/>
          <a:ln/>
        </p:spPr>
        <p:txBody>
          <a:bodyPr wrap="square" lIns="0" tIns="0" rIns="0" bIns="0" rtlCol="0" anchor="ctr"/>
          <a:lstStyle/>
          <a:p>
            <a:pPr indent="0" marL="0">
              <a:lnSpc>
                <a:spcPct val="106000"/>
              </a:lnSpc>
              <a:buNone/>
            </a:pPr>
            <a:r>
              <a:rPr lang="en-US" sz="2800" b="1" i="1" dirty="0">
                <a:solidFill>
                  <a:srgbClr val="FFFFFF"/>
                </a:solidFill>
                <a:latin typeface="Cambria" pitchFamily="34" charset="0"/>
                <a:ea typeface="Cambria" pitchFamily="34" charset="-122"/>
                <a:cs typeface="Cambria" pitchFamily="34" charset="-120"/>
              </a:rPr>
              <a:t>You evaluated live. Now commit deliberately.</a:t>
            </a:r>
            <a:endParaRPr lang="en-US" sz="2800" dirty="0"/>
          </a:p>
        </p:txBody>
      </p:sp>
      <p:sp>
        <p:nvSpPr>
          <p:cNvPr id="6" name="Text 3"/>
          <p:cNvSpPr/>
          <p:nvPr/>
        </p:nvSpPr>
        <p:spPr>
          <a:xfrm>
            <a:off x="841248" y="3017520"/>
            <a:ext cx="10058400" cy="320040"/>
          </a:xfrm>
          <a:prstGeom prst="rect">
            <a:avLst/>
          </a:prstGeom>
          <a:noFill/>
          <a:ln/>
        </p:spPr>
        <p:txBody>
          <a:bodyPr wrap="square" lIns="0" tIns="0" rIns="0" bIns="0" rtlCol="0" anchor="ctr"/>
          <a:lstStyle/>
          <a:p>
            <a:pPr indent="0" marL="0">
              <a:buNone/>
            </a:pPr>
            <a:r>
              <a:rPr lang="en-US" sz="1400" b="1" spc="200" kern="0" dirty="0">
                <a:solidFill>
                  <a:srgbClr val="E8A33D"/>
                </a:solidFill>
                <a:latin typeface="Calibri" pitchFamily="34" charset="0"/>
                <a:ea typeface="Calibri" pitchFamily="34" charset="-122"/>
                <a:cs typeface="Calibri" pitchFamily="34" charset="-120"/>
              </a:rPr>
              <a:t>BEFORE MONDAY, OCT 12</a:t>
            </a:r>
            <a:endParaRPr lang="en-US" sz="1400" dirty="0"/>
          </a:p>
        </p:txBody>
      </p:sp>
      <p:sp>
        <p:nvSpPr>
          <p:cNvPr id="7" name="Text 4"/>
          <p:cNvSpPr/>
          <p:nvPr/>
        </p:nvSpPr>
        <p:spPr>
          <a:xfrm>
            <a:off x="868680" y="3429000"/>
            <a:ext cx="10698480" cy="1783080"/>
          </a:xfrm>
          <a:prstGeom prst="rect">
            <a:avLst/>
          </a:prstGeom>
          <a:noFill/>
          <a:ln/>
        </p:spPr>
        <p:txBody>
          <a:bodyPr wrap="square" lIns="0" tIns="0" rIns="0" bIns="0" rtlCol="0" anchor="t"/>
          <a:lstStyle/>
          <a:p>
            <a:pPr marL="203200" indent="-203200">
              <a:spcAft>
                <a:spcPts val="700"/>
              </a:spcAft>
              <a:buSzPct val="100000"/>
              <a:buChar char="•"/>
            </a:pPr>
            <a:r>
              <a:rPr lang="en-US" sz="1600" dirty="0">
                <a:solidFill>
                  <a:srgbClr val="CBD8E6"/>
                </a:solidFill>
                <a:latin typeface="Calibri" pitchFamily="34" charset="0"/>
                <a:ea typeface="Calibri" pitchFamily="34" charset="-122"/>
                <a:cs typeface="Calibri" pitchFamily="34" charset="-120"/>
              </a:rPr>
              <a:t>Today: submit your ranked preference in Canvas — editable until Sunday night</a:t>
            </a:r>
            <a:endParaRPr lang="en-US" sz="1600" dirty="0"/>
          </a:p>
          <a:p>
            <a:pPr marL="203200" indent="-203200">
              <a:spcAft>
                <a:spcPts val="700"/>
              </a:spcAft>
              <a:buSzPct val="100000"/>
              <a:buChar char="•"/>
            </a:pPr>
            <a:r>
              <a:rPr lang="en-US" sz="1600" dirty="0">
                <a:solidFill>
                  <a:srgbClr val="CBD8E6"/>
                </a:solidFill>
                <a:latin typeface="Calibri" pitchFamily="34" charset="0"/>
                <a:ea typeface="Calibri" pitchFamily="34" charset="-122"/>
                <a:cs typeface="Calibri" pitchFamily="34" charset="-120"/>
              </a:rPr>
              <a:t>This weekend: read the anchor proposals (posted by Thursday evening)</a:t>
            </a:r>
            <a:endParaRPr lang="en-US" sz="1600" dirty="0"/>
          </a:p>
          <a:p>
            <a:pPr marL="203200" indent="-203200">
              <a:spcAft>
                <a:spcPts val="700"/>
              </a:spcAft>
              <a:buSzPct val="100000"/>
              <a:buChar char="•"/>
            </a:pPr>
            <a:r>
              <a:rPr lang="en-US" sz="1600" dirty="0">
                <a:solidFill>
                  <a:srgbClr val="CBD8E6"/>
                </a:solidFill>
                <a:latin typeface="Calibri" pitchFamily="34" charset="0"/>
                <a:ea typeface="Calibri" pitchFamily="34" charset="-122"/>
                <a:cs typeface="Calibri" pitchFamily="34" charset="-120"/>
              </a:rPr>
              <a:t>Before Monday's class: read the assigned design doc — see the Session 11 page</a:t>
            </a:r>
            <a:endParaRPr lang="en-US" sz="1600" dirty="0"/>
          </a:p>
          <a:p>
            <a:pPr marL="203200" indent="-203200">
              <a:buSzPct val="100000"/>
              <a:buChar char="•"/>
            </a:pPr>
            <a:r>
              <a:rPr lang="en-US" sz="1600" dirty="0">
                <a:solidFill>
                  <a:srgbClr val="CBD8E6"/>
                </a:solidFill>
                <a:latin typeface="Calibri" pitchFamily="34" charset="0"/>
                <a:ea typeface="Calibri" pitchFamily="34" charset="-122"/>
                <a:cs typeface="Calibri" pitchFamily="34" charset="-120"/>
              </a:rPr>
              <a:t>Monday: teams announced at the start of class; charters written in class</a:t>
            </a:r>
            <a:endParaRPr lang="en-US" sz="1600" dirty="0"/>
          </a:p>
        </p:txBody>
      </p:sp>
      <p:sp>
        <p:nvSpPr>
          <p:cNvPr id="8" name="Shape 5"/>
          <p:cNvSpPr/>
          <p:nvPr/>
        </p:nvSpPr>
        <p:spPr>
          <a:xfrm>
            <a:off x="548640" y="5394960"/>
            <a:ext cx="11064240" cy="777240"/>
          </a:xfrm>
          <a:prstGeom prst="roundRect">
            <a:avLst>
              <a:gd name="adj" fmla="val 10588"/>
            </a:avLst>
          </a:prstGeom>
          <a:solidFill>
            <a:srgbClr val="E8A33D"/>
          </a:solidFill>
          <a:ln/>
          <a:effectLst>
            <a:outerShdw sx="100000" sy="100000" kx="0" ky="0" algn="bl" rotWithShape="0" blurRad="88900" dist="38100" dir="5400000">
              <a:srgbClr val="000000">
                <a:alpha val="13000"/>
              </a:srgbClr>
            </a:outerShdw>
          </a:effectLst>
        </p:spPr>
      </p:sp>
      <p:sp>
        <p:nvSpPr>
          <p:cNvPr id="9" name="Text 6"/>
          <p:cNvSpPr/>
          <p:nvPr/>
        </p:nvSpPr>
        <p:spPr>
          <a:xfrm>
            <a:off x="822960" y="5394960"/>
            <a:ext cx="10515600" cy="777240"/>
          </a:xfrm>
          <a:prstGeom prst="rect">
            <a:avLst/>
          </a:prstGeom>
          <a:noFill/>
          <a:ln/>
        </p:spPr>
        <p:txBody>
          <a:bodyPr wrap="square" lIns="0" tIns="0" rIns="0" bIns="0" rtlCol="0" anchor="ctr"/>
          <a:lstStyle/>
          <a:p>
            <a:pPr algn="ctr" indent="0" marL="0">
              <a:buNone/>
            </a:pPr>
            <a:r>
              <a:rPr lang="en-US" sz="1600" b="1" dirty="0">
                <a:solidFill>
                  <a:srgbClr val="14233A"/>
                </a:solidFill>
                <a:latin typeface="Calibri" pitchFamily="34" charset="0"/>
                <a:ea typeface="Calibri" pitchFamily="34" charset="-122"/>
                <a:cs typeface="Calibri" pitchFamily="34" charset="-120"/>
              </a:rPr>
              <a:t>Preferences close Sunday night. One missing preference stalls Monday for everyone.</a:t>
            </a:r>
            <a:endParaRPr lang="en-US" sz="1600" dirty="0"/>
          </a:p>
        </p:txBody>
      </p:sp>
      <p:sp>
        <p:nvSpPr>
          <p:cNvPr id="10" name="Text 7"/>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7E92A8"/>
                </a:solidFill>
                <a:latin typeface="Calibri" pitchFamily="34" charset="0"/>
                <a:ea typeface="Calibri" pitchFamily="34" charset="-122"/>
                <a:cs typeface="Calibri" pitchFamily="34" charset="-120"/>
              </a:rPr>
              <a:t>CS 301R · Session 10 · Pitch Day</a:t>
            </a:r>
            <a:endParaRPr lang="en-US" sz="1000" dirty="0"/>
          </a:p>
        </p:txBody>
      </p:sp>
      <p:sp>
        <p:nvSpPr>
          <p:cNvPr id="11" name="Text 8"/>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7E92A8"/>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301R — Session 10 — Pitch Day</dc:title>
  <dc:subject>PptxGenJS Presentation</dc:subject>
  <dc:creator>CS 301R</dc:creator>
  <cp:lastModifiedBy>CS 301R</cp:lastModifiedBy>
  <cp:revision>1</cp:revision>
  <dcterms:created xsi:type="dcterms:W3CDTF">2026-09-16T21:02:00Z</dcterms:created>
  <dcterms:modified xsi:type="dcterms:W3CDTF">2026-09-16T21:02:00Z</dcterms:modified>
</cp:coreProperties>
</file>