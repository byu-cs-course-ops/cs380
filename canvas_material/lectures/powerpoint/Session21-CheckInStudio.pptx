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draw the blocker board, a column headed Blocked &gt; 30 min, and pre-load anything you saw over the weekend in the MVP Plans, the repos, and the Session 20 cold-test issues. Have Wednesday's demo order and audit pairings ready to write up. Bring a few printed audit sheets to pass around; the PDF is on Canvas. Two days before CP10 and CP9. Keep the talking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Two days before the progress demo, the worst thing class could be is a lecture. The first half hour makes every project's true state visible and decides the cuts; the highlighted block is the point: forty minutes of building with help on hand. Today exists to make Wednesday boring, in the good way: no surprises at midnight Tuesday.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left side is what it looks like; the first line is Prop Loft's real HEIC question, the others are placeholders. One click per reason. Say plainly that putting something on the board is not admitting you're behind; hiding it is what costs the hour. The check-in fills it today; after today, students add to it themselves in every studio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leave this up for the whole round and run a visible timer. Write each blocker and each cut on the board as it's said: that's the triage queue. The fourth item is the important one: every project names a cut, which makes cutting normal instead of shameful. Numbers, not adjectives, on the milestone: 'six of nine issues closed' not 'going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working the board out loud. Sort each blocker into one of the four as you go. Scope problems get decided in the room, now, using the next slide. Technical ones get worked in studio: the aim isn't for me to solve them, it's to help find the next step, whether that's the cheapest test from the debugging loop, an outside source (the library's issue tracker, its docs, a forum), or a scope decision. Team or process issues never get worked in public. If a project is ahead, say so and redirect them: Wednesday rewards a repo a stranger can enter, not one more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 every scope blocker in triage. Read both questions, get a yes or no for each from the project, then click. Stress the amendment: the demo is scored against the MVP Plan, so a cut made in the plan is fine and a cut made silently looks like a failure to deliver. Cuts made today are content for the known-issues list and the Week 13 retrospective, not embarrassments.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minutes; leave this up. Work the blocker board in triage order, not by raised hands. On a technical blocker, coach rather than fix: what have you tried, what's the cheapest next test, who outside would know, and is it worth a cut instead? Call the audit-readiness pass at the 30-minute mark and make every project do it before leaving, even the ones mid-fix. Point anyone short on CP9 artifacts at what already exists: legitimate pieces are everywhere by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at the end of studio. The fresh clone is the Session 20 cold test run by the author, on main, after a week of changes; things drift. The board check matters because the auditor skims it. A good first issue whose file moved this week sends a stranger to nothing. The README is the first thing anyone reads; it should describe this week's project, not last month's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pass a few printed sheets around. This is the whole sheet in four parts. The right side is how each setup step is recorded, and those four results line up with the rubric's levels for the repo audit: as written is Exemplary territory, couldn't is Beginning. Click: nothing on Wednesday should be a surprise, so the best preparation is running the sheet on your own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one click per rule. Everyone audits at the same time, so nobody is watching their own repo being audited and there's no one to ask; that's the point, because a future contributor won't have anyone to ask either. The auditor isn't grading a classmate; they're reporting what happened, which takes the social pressure off both sides. The sheet goes back to the authors and drives the studio work after Thanksgiving.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with the next two slides. Write the demo order on the board before you show this. Audit pairings wait for Wednesday's attendance (the Session 20 review partners where both are there). Time-boxes are hard on Wednesday: a demo that runs long takes time from someone else's. Class barely touches demo craft today, so point them at the CP10 assignment and the Session 22 page tonight. CP9 goes in through Canvas before class, not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tag is the freeze: whatever is on main at 11:59 pm Tuesday, tagged and pushed, is what gets demoed, audited, and graded. A push to main Wednesday morning doesn't count. Rehearse from a fresh clone of the tag, not your working folder, because that's exactly what your auditor will do. This is the same move every release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Say the one-liner: a cut made today is a decision you get credit for; the same cut at 9 am Wednesday is a demo that breaks. The tag is the bolded line because it's the one with a hard deadline. The blocker board stays up; anything still on it gets a nudge from me before Tuesday.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Make Wednesday Boring</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21 — check-in, triage, and a working studio</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November 16,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Honest state, deliberate cuts, then build</a:t>
            </a:r>
            <a:endParaRPr lang="en-US" sz="3100" dirty="0"/>
          </a:p>
        </p:txBody>
      </p:sp>
      <p:sp>
        <p:nvSpPr>
          <p:cNvPr id="5" name="Shape 3"/>
          <p:cNvSpPr/>
          <p:nvPr/>
        </p:nvSpPr>
        <p:spPr>
          <a:xfrm>
            <a:off x="548640" y="182880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47672"/>
            <a:ext cx="475488" cy="47548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33054" y="2076054"/>
            <a:ext cx="218724" cy="218724"/>
          </a:xfrm>
          <a:prstGeom prst="rect">
            <a:avLst/>
          </a:prstGeom>
        </p:spPr>
      </p:pic>
      <p:sp>
        <p:nvSpPr>
          <p:cNvPr id="8" name="Text 5"/>
          <p:cNvSpPr/>
          <p:nvPr/>
        </p:nvSpPr>
        <p:spPr>
          <a:xfrm>
            <a:off x="1508760" y="1828800"/>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Framing, and the blocker board</a:t>
            </a:r>
            <a:endParaRPr lang="en-US" sz="1800" dirty="0"/>
          </a:p>
        </p:txBody>
      </p:sp>
      <p:sp>
        <p:nvSpPr>
          <p:cNvPr id="9" name="Text 6"/>
          <p:cNvSpPr/>
          <p:nvPr/>
        </p:nvSpPr>
        <p:spPr>
          <a:xfrm>
            <a:off x="9692640" y="1828800"/>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3 min</a:t>
            </a:r>
            <a:endParaRPr lang="en-US" sz="1600" dirty="0"/>
          </a:p>
        </p:txBody>
      </p:sp>
      <p:sp>
        <p:nvSpPr>
          <p:cNvPr id="10" name="Shape 7"/>
          <p:cNvSpPr/>
          <p:nvPr/>
        </p:nvSpPr>
        <p:spPr>
          <a:xfrm>
            <a:off x="548640" y="2670048"/>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788920"/>
            <a:ext cx="475488" cy="47548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33054" y="2917302"/>
            <a:ext cx="218724" cy="218724"/>
          </a:xfrm>
          <a:prstGeom prst="rect">
            <a:avLst/>
          </a:prstGeom>
        </p:spPr>
      </p:pic>
      <p:sp>
        <p:nvSpPr>
          <p:cNvPr id="13" name="Text 9"/>
          <p:cNvSpPr/>
          <p:nvPr/>
        </p:nvSpPr>
        <p:spPr>
          <a:xfrm>
            <a:off x="1508760" y="2670048"/>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Lightning check-in: every project, two minutes</a:t>
            </a:r>
            <a:endParaRPr lang="en-US" sz="1800" dirty="0"/>
          </a:p>
        </p:txBody>
      </p:sp>
      <p:sp>
        <p:nvSpPr>
          <p:cNvPr id="14" name="Text 10"/>
          <p:cNvSpPr/>
          <p:nvPr/>
        </p:nvSpPr>
        <p:spPr>
          <a:xfrm>
            <a:off x="9692640" y="2670048"/>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15 min</a:t>
            </a:r>
            <a:endParaRPr lang="en-US" sz="1600" dirty="0"/>
          </a:p>
        </p:txBody>
      </p:sp>
      <p:sp>
        <p:nvSpPr>
          <p:cNvPr id="15" name="Shape 11"/>
          <p:cNvSpPr/>
          <p:nvPr/>
        </p:nvSpPr>
        <p:spPr>
          <a:xfrm>
            <a:off x="548640" y="3511296"/>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630168"/>
            <a:ext cx="475488" cy="47548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33054" y="3758550"/>
            <a:ext cx="218724" cy="218724"/>
          </a:xfrm>
          <a:prstGeom prst="rect">
            <a:avLst/>
          </a:prstGeom>
        </p:spPr>
      </p:pic>
      <p:sp>
        <p:nvSpPr>
          <p:cNvPr id="18" name="Text 13"/>
          <p:cNvSpPr/>
          <p:nvPr/>
        </p:nvSpPr>
        <p:spPr>
          <a:xfrm>
            <a:off x="1508760" y="3511296"/>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Triage: the board, worked out loud</a:t>
            </a:r>
            <a:endParaRPr lang="en-US" sz="1800" dirty="0"/>
          </a:p>
        </p:txBody>
      </p:sp>
      <p:sp>
        <p:nvSpPr>
          <p:cNvPr id="19" name="Text 14"/>
          <p:cNvSpPr/>
          <p:nvPr/>
        </p:nvSpPr>
        <p:spPr>
          <a:xfrm>
            <a:off x="9692640" y="3511296"/>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0" name="Shape 15"/>
          <p:cNvSpPr/>
          <p:nvPr/>
        </p:nvSpPr>
        <p:spPr>
          <a:xfrm>
            <a:off x="548640" y="4352544"/>
            <a:ext cx="11064240" cy="713232"/>
          </a:xfrm>
          <a:prstGeom prst="roundRect">
            <a:avLst>
              <a:gd name="adj" fmla="val 11538"/>
            </a:avLst>
          </a:prstGeom>
          <a:solidFill>
            <a:srgbClr val="14233A"/>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471416"/>
            <a:ext cx="475488" cy="475488"/>
          </a:xfrm>
          <a:prstGeom prst="ellipse">
            <a:avLst/>
          </a:prstGeom>
          <a:solidFill>
            <a:srgbClr val="E8A33D"/>
          </a:solidFill>
          <a:ln/>
        </p:spPr>
      </p:sp>
      <p:pic>
        <p:nvPicPr>
          <p:cNvPr id="22" name="Image 3" descr="preencoded.png">    </p:cNvPr>
          <p:cNvPicPr>
            <a:picLocks noChangeAspect="1"/>
          </p:cNvPicPr>
          <p:nvPr/>
        </p:nvPicPr>
        <p:blipFill>
          <a:blip r:embed="rId4"/>
          <a:stretch>
            <a:fillRect/>
          </a:stretch>
        </p:blipFill>
        <p:spPr>
          <a:xfrm>
            <a:off x="933054" y="4599798"/>
            <a:ext cx="218724" cy="218724"/>
          </a:xfrm>
          <a:prstGeom prst="rect">
            <a:avLst/>
          </a:prstGeom>
        </p:spPr>
      </p:pic>
      <p:sp>
        <p:nvSpPr>
          <p:cNvPr id="23" name="Text 17"/>
          <p:cNvSpPr/>
          <p:nvPr/>
        </p:nvSpPr>
        <p:spPr>
          <a:xfrm>
            <a:off x="1508760" y="4352544"/>
            <a:ext cx="822960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Studio: build, and get audit-ready</a:t>
            </a:r>
            <a:endParaRPr lang="en-US" sz="1800" dirty="0"/>
          </a:p>
        </p:txBody>
      </p:sp>
      <p:sp>
        <p:nvSpPr>
          <p:cNvPr id="24" name="Text 18"/>
          <p:cNvSpPr/>
          <p:nvPr/>
        </p:nvSpPr>
        <p:spPr>
          <a:xfrm>
            <a:off x="9692640" y="4352544"/>
            <a:ext cx="1645920" cy="71323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40 min</a:t>
            </a:r>
            <a:endParaRPr lang="en-US" sz="1600" dirty="0"/>
          </a:p>
        </p:txBody>
      </p:sp>
      <p:sp>
        <p:nvSpPr>
          <p:cNvPr id="25" name="Shape 19"/>
          <p:cNvSpPr/>
          <p:nvPr/>
        </p:nvSpPr>
        <p:spPr>
          <a:xfrm>
            <a:off x="548640" y="5193792"/>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5312664"/>
            <a:ext cx="475488" cy="475488"/>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933054" y="5441046"/>
            <a:ext cx="218724" cy="218724"/>
          </a:xfrm>
          <a:prstGeom prst="rect">
            <a:avLst/>
          </a:prstGeom>
        </p:spPr>
      </p:pic>
      <p:sp>
        <p:nvSpPr>
          <p:cNvPr id="28" name="Text 21"/>
          <p:cNvSpPr/>
          <p:nvPr/>
        </p:nvSpPr>
        <p:spPr>
          <a:xfrm>
            <a:off x="1508760" y="5193792"/>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Wednesday's run of show</a:t>
            </a:r>
            <a:endParaRPr lang="en-US" sz="1800" dirty="0"/>
          </a:p>
        </p:txBody>
      </p:sp>
      <p:sp>
        <p:nvSpPr>
          <p:cNvPr id="29" name="Text 22"/>
          <p:cNvSpPr/>
          <p:nvPr/>
        </p:nvSpPr>
        <p:spPr>
          <a:xfrm>
            <a:off x="9692640" y="5193792"/>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30"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31"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STARTING 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blocker board</a:t>
            </a:r>
            <a:endParaRPr lang="en-US" sz="3100" dirty="0"/>
          </a:p>
        </p:txBody>
      </p:sp>
      <p:sp>
        <p:nvSpPr>
          <p:cNvPr id="5" name="Shape 3"/>
          <p:cNvSpPr/>
          <p:nvPr/>
        </p:nvSpPr>
        <p:spPr>
          <a:xfrm>
            <a:off x="548640" y="1828800"/>
            <a:ext cx="4754880" cy="3749040"/>
          </a:xfrm>
          <a:prstGeom prst="roundRect">
            <a:avLst>
              <a:gd name="adj" fmla="val 2195"/>
            </a:avLst>
          </a:prstGeom>
          <a:solidFill>
            <a:srgbClr val="14233A"/>
          </a:solidFill>
          <a:ln/>
          <a:effectLst>
            <a:outerShdw sx="100000" sy="100000" kx="0" ky="0" algn="bl" rotWithShape="0" blurRad="88900" dist="38100" dir="5400000">
              <a:srgbClr val="000000">
                <a:alpha val="13000"/>
              </a:srgbClr>
            </a:outerShdw>
          </a:effectLst>
        </p:spPr>
      </p:sp>
      <p:sp>
        <p:nvSpPr>
          <p:cNvPr id="6" name="Text 4"/>
          <p:cNvSpPr/>
          <p:nvPr/>
        </p:nvSpPr>
        <p:spPr>
          <a:xfrm>
            <a:off x="822960" y="2011680"/>
            <a:ext cx="4206240" cy="365760"/>
          </a:xfrm>
          <a:prstGeom prst="rect">
            <a:avLst/>
          </a:prstGeom>
          <a:noFill/>
          <a:ln/>
        </p:spPr>
        <p:txBody>
          <a:bodyPr wrap="square" lIns="0" tIns="0" rIns="0" bIns="0" rtlCol="0" anchor="ctr"/>
          <a:lstStyle/>
          <a:p>
            <a:pPr indent="0" marL="0">
              <a:buNone/>
            </a:pPr>
            <a:r>
              <a:rPr lang="en-US" sz="1600" b="1" spc="200" kern="0" dirty="0">
                <a:solidFill>
                  <a:srgbClr val="E8A33D"/>
                </a:solidFill>
                <a:latin typeface="Calibri" pitchFamily="34" charset="0"/>
                <a:ea typeface="Calibri" pitchFamily="34" charset="-122"/>
                <a:cs typeface="Calibri" pitchFamily="34" charset="-120"/>
              </a:rPr>
              <a:t>BLOCKED &gt; 30 MIN</a:t>
            </a:r>
            <a:endParaRPr lang="en-US" sz="1600" dirty="0"/>
          </a:p>
        </p:txBody>
      </p:sp>
      <p:sp>
        <p:nvSpPr>
          <p:cNvPr id="7" name="Shape 5"/>
          <p:cNvSpPr/>
          <p:nvPr/>
        </p:nvSpPr>
        <p:spPr>
          <a:xfrm>
            <a:off x="822960" y="2606040"/>
            <a:ext cx="4206240" cy="0"/>
          </a:xfrm>
          <a:prstGeom prst="line">
            <a:avLst/>
          </a:prstGeom>
          <a:noFill/>
          <a:ln w="12700">
            <a:solidFill>
              <a:srgbClr val="3A5373"/>
            </a:solidFill>
            <a:prstDash val="solid"/>
          </a:ln>
        </p:spPr>
      </p:sp>
      <p:sp>
        <p:nvSpPr>
          <p:cNvPr id="8" name="Text 6"/>
          <p:cNvSpPr/>
          <p:nvPr/>
        </p:nvSpPr>
        <p:spPr>
          <a:xfrm>
            <a:off x="822960" y="2651760"/>
            <a:ext cx="4206240" cy="594360"/>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Prop Loft · photo upload fails on HEIC</a:t>
            </a:r>
            <a:endParaRPr lang="en-US" sz="1600" dirty="0"/>
          </a:p>
        </p:txBody>
      </p:sp>
      <p:sp>
        <p:nvSpPr>
          <p:cNvPr id="9" name="Shape 7"/>
          <p:cNvSpPr/>
          <p:nvPr/>
        </p:nvSpPr>
        <p:spPr>
          <a:xfrm>
            <a:off x="822960" y="3291840"/>
            <a:ext cx="4206240" cy="0"/>
          </a:xfrm>
          <a:prstGeom prst="line">
            <a:avLst/>
          </a:prstGeom>
          <a:noFill/>
          <a:ln w="12700">
            <a:solidFill>
              <a:srgbClr val="3A5373"/>
            </a:solidFill>
            <a:prstDash val="solid"/>
          </a:ln>
        </p:spPr>
      </p:sp>
      <p:sp>
        <p:nvSpPr>
          <p:cNvPr id="10" name="Text 8"/>
          <p:cNvSpPr/>
          <p:nvPr/>
        </p:nvSpPr>
        <p:spPr>
          <a:xfrm>
            <a:off x="822960" y="3337560"/>
            <a:ext cx="4206240" cy="5943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Project A · can't deploy the database</a:t>
            </a:r>
            <a:endParaRPr lang="en-US" sz="1600" dirty="0"/>
          </a:p>
        </p:txBody>
      </p:sp>
      <p:sp>
        <p:nvSpPr>
          <p:cNvPr id="11" name="Shape 9"/>
          <p:cNvSpPr/>
          <p:nvPr/>
        </p:nvSpPr>
        <p:spPr>
          <a:xfrm>
            <a:off x="822960" y="3977640"/>
            <a:ext cx="4206240" cy="0"/>
          </a:xfrm>
          <a:prstGeom prst="line">
            <a:avLst/>
          </a:prstGeom>
          <a:noFill/>
          <a:ln w="12700">
            <a:solidFill>
              <a:srgbClr val="3A5373"/>
            </a:solidFill>
            <a:prstDash val="solid"/>
          </a:ln>
        </p:spPr>
      </p:sp>
      <p:sp>
        <p:nvSpPr>
          <p:cNvPr id="12" name="Text 10"/>
          <p:cNvSpPr/>
          <p:nvPr/>
        </p:nvSpPr>
        <p:spPr>
          <a:xfrm>
            <a:off x="822960" y="4023360"/>
            <a:ext cx="4206240" cy="5943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Project B · which test framework?</a:t>
            </a:r>
            <a:endParaRPr lang="en-US" sz="1600" dirty="0"/>
          </a:p>
        </p:txBody>
      </p:sp>
      <p:sp>
        <p:nvSpPr>
          <p:cNvPr id="13" name="Shape 11"/>
          <p:cNvSpPr/>
          <p:nvPr/>
        </p:nvSpPr>
        <p:spPr>
          <a:xfrm>
            <a:off x="822960" y="4663440"/>
            <a:ext cx="4206240" cy="0"/>
          </a:xfrm>
          <a:prstGeom prst="line">
            <a:avLst/>
          </a:prstGeom>
          <a:noFill/>
          <a:ln w="12700">
            <a:solidFill>
              <a:srgbClr val="3A5373"/>
            </a:solidFill>
            <a:prstDash val="solid"/>
          </a:ln>
        </p:spPr>
      </p:sp>
      <p:sp>
        <p:nvSpPr>
          <p:cNvPr id="14" name="Text 12"/>
          <p:cNvSpPr/>
          <p:nvPr/>
        </p:nvSpPr>
        <p:spPr>
          <a:xfrm>
            <a:off x="822960" y="4709160"/>
            <a:ext cx="4206240" cy="5943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Project C · the cut: drop or shrink search?</a:t>
            </a:r>
            <a:endParaRPr lang="en-US" sz="1600" dirty="0"/>
          </a:p>
        </p:txBody>
      </p:sp>
      <p:sp>
        <p:nvSpPr>
          <p:cNvPr id="15" name="click-1"/>
          <p:cNvSpPr/>
          <p:nvPr/>
        </p:nvSpPr>
        <p:spPr>
          <a:xfrm>
            <a:off x="5577840" y="1828800"/>
            <a:ext cx="6035040" cy="1143000"/>
          </a:xfrm>
          <a:prstGeom prst="roundRect">
            <a:avLst>
              <a:gd name="adj" fmla="val 7200"/>
            </a:avLst>
          </a:prstGeom>
          <a:solidFill>
            <a:srgbClr val="F2F6F8"/>
          </a:solidFill>
          <a:ln/>
          <a:effectLst>
            <a:outerShdw sx="100000" sy="100000" kx="0" ky="0" algn="bl" rotWithShape="0" blurRad="88900" dist="38100" dir="5400000">
              <a:srgbClr val="000000">
                <a:alpha val="13000"/>
              </a:srgbClr>
            </a:outerShdw>
          </a:effectLst>
        </p:spPr>
      </p:sp>
      <p:sp>
        <p:nvSpPr>
          <p:cNvPr id="16" name="click-1"/>
          <p:cNvSpPr/>
          <p:nvPr/>
        </p:nvSpPr>
        <p:spPr>
          <a:xfrm>
            <a:off x="5852160" y="1828800"/>
            <a:ext cx="5577840" cy="114300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Anything that stopped you 30 minutes</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One line, your project's name. It's the queue, not a confession.</a:t>
            </a:r>
            <a:endParaRPr lang="en-US" sz="1700" dirty="0"/>
          </a:p>
        </p:txBody>
      </p:sp>
      <p:sp>
        <p:nvSpPr>
          <p:cNvPr id="17" name="click-2"/>
          <p:cNvSpPr/>
          <p:nvPr/>
        </p:nvSpPr>
        <p:spPr>
          <a:xfrm>
            <a:off x="5577840" y="3108960"/>
            <a:ext cx="6035040" cy="1143000"/>
          </a:xfrm>
          <a:prstGeom prst="roundRect">
            <a:avLst>
              <a:gd name="adj" fmla="val 7200"/>
            </a:avLst>
          </a:prstGeom>
          <a:solidFill>
            <a:srgbClr val="F2F6F8"/>
          </a:solidFill>
          <a:ln/>
          <a:effectLst>
            <a:outerShdw sx="100000" sy="100000" kx="0" ky="0" algn="bl" rotWithShape="0" blurRad="88900" dist="38100" dir="5400000">
              <a:srgbClr val="000000">
                <a:alpha val="13000"/>
              </a:srgbClr>
            </a:outerShdw>
          </a:effectLst>
        </p:spPr>
      </p:sp>
      <p:sp>
        <p:nvSpPr>
          <p:cNvPr id="18" name="click-2"/>
          <p:cNvSpPr/>
          <p:nvPr/>
        </p:nvSpPr>
        <p:spPr>
          <a:xfrm>
            <a:off x="5852160" y="3108960"/>
            <a:ext cx="5577840" cy="114300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Stuck in private costs an hour</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On the board, it gets worked in order, today.</a:t>
            </a:r>
            <a:endParaRPr lang="en-US" sz="1700" dirty="0"/>
          </a:p>
        </p:txBody>
      </p:sp>
      <p:sp>
        <p:nvSpPr>
          <p:cNvPr id="19" name="click-3"/>
          <p:cNvSpPr/>
          <p:nvPr/>
        </p:nvSpPr>
        <p:spPr>
          <a:xfrm>
            <a:off x="5577840" y="4389120"/>
            <a:ext cx="6035040" cy="1143000"/>
          </a:xfrm>
          <a:prstGeom prst="roundRect">
            <a:avLst>
              <a:gd name="adj" fmla="val 7200"/>
            </a:avLst>
          </a:prstGeom>
          <a:solidFill>
            <a:srgbClr val="F2F6F8"/>
          </a:solidFill>
          <a:ln/>
          <a:effectLst>
            <a:outerShdw sx="100000" sy="100000" kx="0" ky="0" algn="bl" rotWithShape="0" blurRad="88900" dist="38100" dir="5400000">
              <a:srgbClr val="000000">
                <a:alpha val="13000"/>
              </a:srgbClr>
            </a:outerShdw>
          </a:effectLst>
        </p:spPr>
      </p:sp>
      <p:sp>
        <p:nvSpPr>
          <p:cNvPr id="20" name="click-3"/>
          <p:cNvSpPr/>
          <p:nvPr/>
        </p:nvSpPr>
        <p:spPr>
          <a:xfrm>
            <a:off x="5852160" y="4389120"/>
            <a:ext cx="5577840" cy="114300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A second pair of eyes</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Talking it through with someone outside the problem often turns up the next step.</a:t>
            </a:r>
            <a:endParaRPr lang="en-US" sz="1700" dirty="0"/>
          </a:p>
        </p:txBody>
      </p:sp>
      <p:sp>
        <p:nvSpPr>
          <p:cNvPr id="21" name="Text 19"/>
          <p:cNvSpPr/>
          <p:nvPr/>
        </p:nvSpPr>
        <p:spPr>
          <a:xfrm>
            <a:off x="548640" y="5806440"/>
            <a:ext cx="11064240" cy="411480"/>
          </a:xfrm>
          <a:prstGeom prst="rect">
            <a:avLst/>
          </a:prstGeom>
          <a:noFill/>
          <a:ln/>
        </p:spPr>
        <p:txBody>
          <a:bodyPr wrap="square" lIns="0" tIns="0" rIns="0" bIns="0" rtlCol="0" anchor="ctr"/>
          <a:lstStyle/>
          <a:p>
            <a:pPr indent="0" marL="0">
              <a:buNone/>
            </a:pPr>
            <a:r>
              <a:rPr lang="en-US" sz="1700" b="1" i="1" dirty="0">
                <a:solidFill>
                  <a:srgbClr val="0E6E6D"/>
                </a:solidFill>
                <a:latin typeface="Calibri" pitchFamily="34" charset="0"/>
                <a:ea typeface="Calibri" pitchFamily="34" charset="-122"/>
                <a:cs typeface="Calibri" pitchFamily="34" charset="-120"/>
              </a:rPr>
              <a:t>It stays up in every studio session from here to the end of term.</a:t>
            </a:r>
            <a:endParaRPr lang="en-US" sz="17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LIGHTNING CHECK-IN · 2 MIN EACH</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Every project, out loud, no slides</a:t>
            </a:r>
            <a:endParaRPr lang="en-US" sz="3200" dirty="0"/>
          </a:p>
        </p:txBody>
      </p:sp>
      <p:sp>
        <p:nvSpPr>
          <p:cNvPr id="6" name="Shape 4"/>
          <p:cNvSpPr/>
          <p:nvPr/>
        </p:nvSpPr>
        <p:spPr>
          <a:xfrm>
            <a:off x="548640" y="1783080"/>
            <a:ext cx="11064240" cy="786384"/>
          </a:xfrm>
          <a:prstGeom prst="roundRect">
            <a:avLst>
              <a:gd name="adj" fmla="val 10465"/>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77240" y="1938528"/>
            <a:ext cx="475488" cy="475488"/>
          </a:xfrm>
          <a:prstGeom prst="ellipse">
            <a:avLst/>
          </a:prstGeom>
          <a:solidFill>
            <a:srgbClr val="E8A33D"/>
          </a:solidFill>
          <a:ln/>
        </p:spPr>
      </p:sp>
      <p:sp>
        <p:nvSpPr>
          <p:cNvPr id="8" name="Text 6"/>
          <p:cNvSpPr/>
          <p:nvPr/>
        </p:nvSpPr>
        <p:spPr>
          <a:xfrm>
            <a:off x="777240" y="1938528"/>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783080"/>
            <a:ext cx="3291840" cy="7863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slice you'll demo</a:t>
            </a:r>
            <a:endParaRPr lang="en-US" sz="1900" dirty="0"/>
          </a:p>
        </p:txBody>
      </p:sp>
      <p:sp>
        <p:nvSpPr>
          <p:cNvPr id="10" name="Text 8"/>
          <p:cNvSpPr/>
          <p:nvPr/>
        </p:nvSpPr>
        <p:spPr>
          <a:xfrm>
            <a:off x="4754880" y="1783080"/>
            <a:ext cx="6675120" cy="786384"/>
          </a:xfrm>
          <a:prstGeom prst="rect">
            <a:avLst/>
          </a:prstGeom>
          <a:noFill/>
          <a:ln/>
        </p:spPr>
        <p:txBody>
          <a:bodyPr wrap="square" lIns="0" tIns="0" rIns="0" bIns="0" rtlCol="0" anchor="ctr"/>
          <a:lstStyle/>
          <a:p>
            <a:pPr indent="0" marL="0">
              <a:buNone/>
            </a:pPr>
            <a:r>
              <a:rPr lang="en-US" sz="1700" dirty="0">
                <a:solidFill>
                  <a:srgbClr val="CFE0E9"/>
                </a:solidFill>
                <a:latin typeface="Calibri" pitchFamily="34" charset="0"/>
                <a:ea typeface="Calibri" pitchFamily="34" charset="-122"/>
                <a:cs typeface="Calibri" pitchFamily="34" charset="-120"/>
              </a:rPr>
              <a:t>The path in your slice statement. Works end to end today?  yes · almost · no</a:t>
            </a:r>
            <a:endParaRPr lang="en-US" sz="1700" dirty="0"/>
          </a:p>
        </p:txBody>
      </p:sp>
      <p:sp>
        <p:nvSpPr>
          <p:cNvPr id="11" name="Shape 9"/>
          <p:cNvSpPr/>
          <p:nvPr/>
        </p:nvSpPr>
        <p:spPr>
          <a:xfrm>
            <a:off x="548640" y="2697480"/>
            <a:ext cx="11064240" cy="786384"/>
          </a:xfrm>
          <a:prstGeom prst="roundRect">
            <a:avLst>
              <a:gd name="adj" fmla="val 10465"/>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77240" y="2852928"/>
            <a:ext cx="475488" cy="475488"/>
          </a:xfrm>
          <a:prstGeom prst="ellipse">
            <a:avLst/>
          </a:prstGeom>
          <a:solidFill>
            <a:srgbClr val="E8A33D"/>
          </a:solidFill>
          <a:ln/>
        </p:spPr>
      </p:sp>
      <p:sp>
        <p:nvSpPr>
          <p:cNvPr id="13" name="Text 11"/>
          <p:cNvSpPr/>
          <p:nvPr/>
        </p:nvSpPr>
        <p:spPr>
          <a:xfrm>
            <a:off x="777240" y="2852928"/>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1463040" y="2697480"/>
            <a:ext cx="3291840" cy="7863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Your first milestone</a:t>
            </a:r>
            <a:endParaRPr lang="en-US" sz="1900" dirty="0"/>
          </a:p>
        </p:txBody>
      </p:sp>
      <p:sp>
        <p:nvSpPr>
          <p:cNvPr id="15" name="Text 13"/>
          <p:cNvSpPr/>
          <p:nvPr/>
        </p:nvSpPr>
        <p:spPr>
          <a:xfrm>
            <a:off x="4754880" y="2697480"/>
            <a:ext cx="6675120" cy="786384"/>
          </a:xfrm>
          <a:prstGeom prst="rect">
            <a:avLst/>
          </a:prstGeom>
          <a:noFill/>
          <a:ln/>
        </p:spPr>
        <p:txBody>
          <a:bodyPr wrap="square" lIns="0" tIns="0" rIns="0" bIns="0" rtlCol="0" anchor="ctr"/>
          <a:lstStyle/>
          <a:p>
            <a:pPr indent="0" marL="0">
              <a:buNone/>
            </a:pPr>
            <a:r>
              <a:rPr lang="en-US" sz="1700" dirty="0">
                <a:solidFill>
                  <a:srgbClr val="CFE0E9"/>
                </a:solidFill>
                <a:latin typeface="Calibri" pitchFamily="34" charset="0"/>
                <a:ea typeface="Calibri" pitchFamily="34" charset="-122"/>
                <a:cs typeface="Calibri" pitchFamily="34" charset="-120"/>
              </a:rPr>
              <a:t>Done vs. remaining, in numbers, not adjectives</a:t>
            </a:r>
            <a:endParaRPr lang="en-US" sz="1700" dirty="0"/>
          </a:p>
        </p:txBody>
      </p:sp>
      <p:sp>
        <p:nvSpPr>
          <p:cNvPr id="16" name="Shape 14"/>
          <p:cNvSpPr/>
          <p:nvPr/>
        </p:nvSpPr>
        <p:spPr>
          <a:xfrm>
            <a:off x="548640" y="3611880"/>
            <a:ext cx="11064240" cy="786384"/>
          </a:xfrm>
          <a:prstGeom prst="roundRect">
            <a:avLst>
              <a:gd name="adj" fmla="val 10465"/>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777240" y="3767328"/>
            <a:ext cx="475488" cy="475488"/>
          </a:xfrm>
          <a:prstGeom prst="ellipse">
            <a:avLst/>
          </a:prstGeom>
          <a:solidFill>
            <a:srgbClr val="E8A33D"/>
          </a:solidFill>
          <a:ln/>
        </p:spPr>
      </p:sp>
      <p:sp>
        <p:nvSpPr>
          <p:cNvPr id="18" name="Text 16"/>
          <p:cNvSpPr/>
          <p:nvPr/>
        </p:nvSpPr>
        <p:spPr>
          <a:xfrm>
            <a:off x="777240" y="3767328"/>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1463040" y="3611880"/>
            <a:ext cx="3291840" cy="7863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Top blocker</a:t>
            </a:r>
            <a:endParaRPr lang="en-US" sz="1900" dirty="0"/>
          </a:p>
        </p:txBody>
      </p:sp>
      <p:sp>
        <p:nvSpPr>
          <p:cNvPr id="20" name="Text 18"/>
          <p:cNvSpPr/>
          <p:nvPr/>
        </p:nvSpPr>
        <p:spPr>
          <a:xfrm>
            <a:off x="4754880" y="3611880"/>
            <a:ext cx="6675120" cy="786384"/>
          </a:xfrm>
          <a:prstGeom prst="rect">
            <a:avLst/>
          </a:prstGeom>
          <a:noFill/>
          <a:ln/>
        </p:spPr>
        <p:txBody>
          <a:bodyPr wrap="square" lIns="0" tIns="0" rIns="0" bIns="0" rtlCol="0" anchor="ctr"/>
          <a:lstStyle/>
          <a:p>
            <a:pPr indent="0" marL="0">
              <a:buNone/>
            </a:pPr>
            <a:r>
              <a:rPr lang="en-US" sz="1700" dirty="0">
                <a:solidFill>
                  <a:srgbClr val="CFE0E9"/>
                </a:solidFill>
                <a:latin typeface="Calibri" pitchFamily="34" charset="0"/>
                <a:ea typeface="Calibri" pitchFamily="34" charset="-122"/>
                <a:cs typeface="Calibri" pitchFamily="34" charset="-120"/>
              </a:rPr>
              <a:t>One. It goes on the board as you say it.</a:t>
            </a:r>
            <a:endParaRPr lang="en-US" sz="1700" dirty="0"/>
          </a:p>
        </p:txBody>
      </p:sp>
      <p:sp>
        <p:nvSpPr>
          <p:cNvPr id="21" name="Shape 19"/>
          <p:cNvSpPr/>
          <p:nvPr/>
        </p:nvSpPr>
        <p:spPr>
          <a:xfrm>
            <a:off x="548640" y="4526280"/>
            <a:ext cx="11064240" cy="786384"/>
          </a:xfrm>
          <a:prstGeom prst="roundRect">
            <a:avLst>
              <a:gd name="adj" fmla="val 10465"/>
            </a:avLst>
          </a:prstGeom>
          <a:solidFill>
            <a:srgbClr val="1E3352"/>
          </a:solidFill>
          <a:ln/>
          <a:effectLst>
            <a:outerShdw sx="100000" sy="100000" kx="0" ky="0" algn="bl" rotWithShape="0" blurRad="88900" dist="38100" dir="5400000">
              <a:srgbClr val="000000">
                <a:alpha val="13000"/>
              </a:srgbClr>
            </a:outerShdw>
          </a:effectLst>
        </p:spPr>
      </p:sp>
      <p:sp>
        <p:nvSpPr>
          <p:cNvPr id="22" name="Shape 20"/>
          <p:cNvSpPr/>
          <p:nvPr/>
        </p:nvSpPr>
        <p:spPr>
          <a:xfrm>
            <a:off x="777240" y="4681728"/>
            <a:ext cx="475488" cy="475488"/>
          </a:xfrm>
          <a:prstGeom prst="ellipse">
            <a:avLst/>
          </a:prstGeom>
          <a:solidFill>
            <a:srgbClr val="E8A33D"/>
          </a:solidFill>
          <a:ln/>
        </p:spPr>
      </p:sp>
      <p:sp>
        <p:nvSpPr>
          <p:cNvPr id="23" name="Text 21"/>
          <p:cNvSpPr/>
          <p:nvPr/>
        </p:nvSpPr>
        <p:spPr>
          <a:xfrm>
            <a:off x="777240" y="4681728"/>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1463040" y="4526280"/>
            <a:ext cx="3291840" cy="7863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cut you're considering</a:t>
            </a:r>
            <a:endParaRPr lang="en-US" sz="1900" dirty="0"/>
          </a:p>
        </p:txBody>
      </p:sp>
      <p:sp>
        <p:nvSpPr>
          <p:cNvPr id="25" name="Text 23"/>
          <p:cNvSpPr/>
          <p:nvPr/>
        </p:nvSpPr>
        <p:spPr>
          <a:xfrm>
            <a:off x="4754880" y="4526280"/>
            <a:ext cx="6675120" cy="786384"/>
          </a:xfrm>
          <a:prstGeom prst="rect">
            <a:avLst/>
          </a:prstGeom>
          <a:noFill/>
          <a:ln/>
        </p:spPr>
        <p:txBody>
          <a:bodyPr wrap="square" lIns="0" tIns="0" rIns="0" bIns="0" rtlCol="0" anchor="ctr"/>
          <a:lstStyle/>
          <a:p>
            <a:pPr indent="0" marL="0">
              <a:buNone/>
            </a:pPr>
            <a:r>
              <a:rPr lang="en-US" sz="1700" dirty="0">
                <a:solidFill>
                  <a:srgbClr val="CFE0E9"/>
                </a:solidFill>
                <a:latin typeface="Calibri" pitchFamily="34" charset="0"/>
                <a:ea typeface="Calibri" pitchFamily="34" charset="-122"/>
                <a:cs typeface="Calibri" pitchFamily="34" charset="-120"/>
              </a:rPr>
              <a:t>Every project names one, even the ones that are ahead</a:t>
            </a:r>
            <a:endParaRPr lang="en-US" sz="1700" dirty="0"/>
          </a:p>
        </p:txBody>
      </p:sp>
      <p:sp>
        <p:nvSpPr>
          <p:cNvPr id="26" name="Shape 24"/>
          <p:cNvSpPr/>
          <p:nvPr/>
        </p:nvSpPr>
        <p:spPr>
          <a:xfrm>
            <a:off x="548640" y="5532120"/>
            <a:ext cx="11064240" cy="640080"/>
          </a:xfrm>
          <a:prstGeom prst="roundRect">
            <a:avLst>
              <a:gd name="adj" fmla="val 12857"/>
            </a:avLst>
          </a:prstGeom>
          <a:solidFill>
            <a:srgbClr val="E8A33D"/>
          </a:solidFill>
          <a:ln/>
          <a:effectLst>
            <a:outerShdw sx="100000" sy="100000" kx="0" ky="0" algn="bl" rotWithShape="0" blurRad="88900" dist="38100" dir="5400000">
              <a:srgbClr val="000000">
                <a:alpha val="13000"/>
              </a:srgbClr>
            </a:outerShdw>
          </a:effectLst>
        </p:spPr>
      </p:sp>
      <p:sp>
        <p:nvSpPr>
          <p:cNvPr id="27" name="Text 25"/>
          <p:cNvSpPr/>
          <p:nvPr/>
        </p:nvSpPr>
        <p:spPr>
          <a:xfrm>
            <a:off x="868680" y="5532120"/>
            <a:ext cx="10424160" cy="640080"/>
          </a:xfrm>
          <a:prstGeom prst="rect">
            <a:avLst/>
          </a:prstGeom>
          <a:noFill/>
          <a:ln/>
        </p:spPr>
        <p:txBody>
          <a:bodyPr wrap="square" lIns="0" tIns="0" rIns="0" bIns="0" rtlCol="0" anchor="ctr"/>
          <a:lstStyle/>
          <a:p>
            <a:pPr indent="0" marL="0">
              <a:buNone/>
            </a:pPr>
            <a:r>
              <a:rPr lang="en-US" sz="1650" b="1" dirty="0">
                <a:solidFill>
                  <a:srgbClr val="14233A"/>
                </a:solidFill>
                <a:latin typeface="Calibri" pitchFamily="34" charset="0"/>
                <a:ea typeface="Calibri" pitchFamily="34" charset="-122"/>
                <a:cs typeface="Calibri" pitchFamily="34" charset="-120"/>
              </a:rPr>
              <a:t>Two minutes, hard stop. Honest beats impressive: nobody is graded on today's answers.</a:t>
            </a:r>
            <a:endParaRPr lang="en-US" sz="1650" dirty="0"/>
          </a:p>
        </p:txBody>
      </p:sp>
      <p:sp>
        <p:nvSpPr>
          <p:cNvPr id="28" name="Text 2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21 · Check-in &amp; Studio</a:t>
            </a:r>
            <a:endParaRPr lang="en-US" sz="1000" dirty="0"/>
          </a:p>
        </p:txBody>
      </p:sp>
      <p:sp>
        <p:nvSpPr>
          <p:cNvPr id="29"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TRIAGE · 12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Four kinds of blocker, four different moves</a:t>
            </a:r>
            <a:endParaRPr lang="en-US" sz="3100" dirty="0"/>
          </a:p>
        </p:txBody>
      </p:sp>
      <p:sp>
        <p:nvSpPr>
          <p:cNvPr id="5" name="Shape 3"/>
          <p:cNvSpPr/>
          <p:nvPr/>
        </p:nvSpPr>
        <p:spPr>
          <a:xfrm>
            <a:off x="548640" y="1828800"/>
            <a:ext cx="544068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5740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6031" y="2210471"/>
            <a:ext cx="260787" cy="260787"/>
          </a:xfrm>
          <a:prstGeom prst="rect">
            <a:avLst/>
          </a:prstGeom>
        </p:spPr>
      </p:pic>
      <p:sp>
        <p:nvSpPr>
          <p:cNvPr id="8" name="Text 5"/>
          <p:cNvSpPr/>
          <p:nvPr/>
        </p:nvSpPr>
        <p:spPr>
          <a:xfrm>
            <a:off x="1554480" y="205740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Technical</a:t>
            </a:r>
            <a:endParaRPr lang="en-US" sz="2000" dirty="0"/>
          </a:p>
        </p:txBody>
      </p:sp>
      <p:sp>
        <p:nvSpPr>
          <p:cNvPr id="9" name="Text 6"/>
          <p:cNvSpPr/>
          <p:nvPr/>
        </p:nvSpPr>
        <p:spPr>
          <a:xfrm>
            <a:off x="822960" y="2743200"/>
            <a:ext cx="4892040" cy="77724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Find the next step: the cheapest test, someone outside who'd know, or treat it as scope.</a:t>
            </a:r>
            <a:endParaRPr lang="en-US" sz="1700" dirty="0"/>
          </a:p>
        </p:txBody>
      </p:sp>
      <p:sp>
        <p:nvSpPr>
          <p:cNvPr id="10" name="Shape 7"/>
          <p:cNvSpPr/>
          <p:nvPr/>
        </p:nvSpPr>
        <p:spPr>
          <a:xfrm>
            <a:off x="6172200" y="1828800"/>
            <a:ext cx="544068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57400"/>
            <a:ext cx="566928" cy="566928"/>
          </a:xfrm>
          <a:prstGeom prst="ellipse">
            <a:avLst/>
          </a:prstGeom>
          <a:solidFill>
            <a:srgbClr val="D9614C"/>
          </a:solidFill>
          <a:ln/>
        </p:spPr>
      </p:sp>
      <p:pic>
        <p:nvPicPr>
          <p:cNvPr id="12" name="Image 1" descr="preencoded.png">    </p:cNvPr>
          <p:cNvPicPr>
            <a:picLocks noChangeAspect="1"/>
          </p:cNvPicPr>
          <p:nvPr/>
        </p:nvPicPr>
        <p:blipFill>
          <a:blip r:embed="rId2"/>
          <a:stretch>
            <a:fillRect/>
          </a:stretch>
        </p:blipFill>
        <p:spPr>
          <a:xfrm>
            <a:off x="6599591" y="2210471"/>
            <a:ext cx="260787" cy="260787"/>
          </a:xfrm>
          <a:prstGeom prst="rect">
            <a:avLst/>
          </a:prstGeom>
        </p:spPr>
      </p:pic>
      <p:sp>
        <p:nvSpPr>
          <p:cNvPr id="13" name="Text 9"/>
          <p:cNvSpPr/>
          <p:nvPr/>
        </p:nvSpPr>
        <p:spPr>
          <a:xfrm>
            <a:off x="7178040" y="205740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Scope</a:t>
            </a:r>
            <a:endParaRPr lang="en-US" sz="2000" dirty="0"/>
          </a:p>
        </p:txBody>
      </p:sp>
      <p:sp>
        <p:nvSpPr>
          <p:cNvPr id="14" name="Text 10"/>
          <p:cNvSpPr/>
          <p:nvPr/>
        </p:nvSpPr>
        <p:spPr>
          <a:xfrm>
            <a:off x="6446520" y="2743200"/>
            <a:ext cx="4892040" cy="77724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Decide now: cut it, shrink its acceptance criteria, or plan the fallback.</a:t>
            </a:r>
            <a:endParaRPr lang="en-US" sz="1700" dirty="0"/>
          </a:p>
        </p:txBody>
      </p:sp>
      <p:sp>
        <p:nvSpPr>
          <p:cNvPr id="15" name="Shape 11"/>
          <p:cNvSpPr/>
          <p:nvPr/>
        </p:nvSpPr>
        <p:spPr>
          <a:xfrm>
            <a:off x="548640" y="3794760"/>
            <a:ext cx="544068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2960" y="4023360"/>
            <a:ext cx="566928" cy="56692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76031" y="4176431"/>
            <a:ext cx="260787" cy="260787"/>
          </a:xfrm>
          <a:prstGeom prst="rect">
            <a:avLst/>
          </a:prstGeom>
        </p:spPr>
      </p:pic>
      <p:sp>
        <p:nvSpPr>
          <p:cNvPr id="18" name="Text 13"/>
          <p:cNvSpPr/>
          <p:nvPr/>
        </p:nvSpPr>
        <p:spPr>
          <a:xfrm>
            <a:off x="1554480" y="402336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Demo mechanics</a:t>
            </a:r>
            <a:endParaRPr lang="en-US" sz="2000" dirty="0"/>
          </a:p>
        </p:txBody>
      </p:sp>
      <p:sp>
        <p:nvSpPr>
          <p:cNvPr id="19" name="Text 14"/>
          <p:cNvSpPr/>
          <p:nvPr/>
        </p:nvSpPr>
        <p:spPr>
          <a:xfrm>
            <a:off x="822960" y="4709160"/>
            <a:ext cx="4892040" cy="77724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Match it to a fallback: seed data, a local mode, a declared clip.</a:t>
            </a:r>
            <a:endParaRPr lang="en-US" sz="1700" dirty="0"/>
          </a:p>
        </p:txBody>
      </p:sp>
      <p:sp>
        <p:nvSpPr>
          <p:cNvPr id="20" name="Shape 15"/>
          <p:cNvSpPr/>
          <p:nvPr/>
        </p:nvSpPr>
        <p:spPr>
          <a:xfrm>
            <a:off x="6172200" y="3794760"/>
            <a:ext cx="544068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6446520" y="4023360"/>
            <a:ext cx="566928" cy="566928"/>
          </a:xfrm>
          <a:prstGeom prst="ellipse">
            <a:avLst/>
          </a:prstGeom>
          <a:solidFill>
            <a:srgbClr val="5F7284"/>
          </a:solidFill>
          <a:ln/>
        </p:spPr>
      </p:sp>
      <p:pic>
        <p:nvPicPr>
          <p:cNvPr id="22" name="Image 3" descr="preencoded.png">    </p:cNvPr>
          <p:cNvPicPr>
            <a:picLocks noChangeAspect="1"/>
          </p:cNvPicPr>
          <p:nvPr/>
        </p:nvPicPr>
        <p:blipFill>
          <a:blip r:embed="rId4"/>
          <a:stretch>
            <a:fillRect/>
          </a:stretch>
        </p:blipFill>
        <p:spPr>
          <a:xfrm>
            <a:off x="6599591" y="4176431"/>
            <a:ext cx="260787" cy="260787"/>
          </a:xfrm>
          <a:prstGeom prst="rect">
            <a:avLst/>
          </a:prstGeom>
        </p:spPr>
      </p:pic>
      <p:sp>
        <p:nvSpPr>
          <p:cNvPr id="23" name="Text 17"/>
          <p:cNvSpPr/>
          <p:nvPr/>
        </p:nvSpPr>
        <p:spPr>
          <a:xfrm>
            <a:off x="7178040" y="402336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Team or process</a:t>
            </a:r>
            <a:endParaRPr lang="en-US" sz="2000" dirty="0"/>
          </a:p>
        </p:txBody>
      </p:sp>
      <p:sp>
        <p:nvSpPr>
          <p:cNvPr id="24" name="Text 18"/>
          <p:cNvSpPr/>
          <p:nvPr/>
        </p:nvSpPr>
        <p:spPr>
          <a:xfrm>
            <a:off x="6446520" y="4709160"/>
            <a:ext cx="4892040" cy="77724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Take it to the instructor one on one, during studio.</a:t>
            </a:r>
            <a:endParaRPr lang="en-US" sz="1700" dirty="0"/>
          </a:p>
        </p:txBody>
      </p:sp>
      <p:sp>
        <p:nvSpPr>
          <p:cNvPr id="25" name="Text 19"/>
          <p:cNvSpPr/>
          <p:nvPr/>
        </p:nvSpPr>
        <p:spPr>
          <a:xfrm>
            <a:off x="548640" y="5806440"/>
            <a:ext cx="11064240" cy="411480"/>
          </a:xfrm>
          <a:prstGeom prst="rect">
            <a:avLst/>
          </a:prstGeom>
          <a:noFill/>
          <a:ln/>
        </p:spPr>
        <p:txBody>
          <a:bodyPr wrap="square" lIns="0" tIns="0" rIns="0" bIns="0" rtlCol="0" anchor="ctr"/>
          <a:lstStyle/>
          <a:p>
            <a:pPr indent="0" marL="0">
              <a:buNone/>
            </a:pPr>
            <a:r>
              <a:rPr lang="en-US" sz="1700" b="1" i="1" dirty="0">
                <a:solidFill>
                  <a:srgbClr val="0E6E6D"/>
                </a:solidFill>
                <a:latin typeface="Calibri" pitchFamily="34" charset="0"/>
                <a:ea typeface="Calibri" pitchFamily="34" charset="-122"/>
                <a:cs typeface="Calibri" pitchFamily="34" charset="-120"/>
              </a:rPr>
              <a:t>Ahead of schedule? Spend it on audit readiness, not new features.</a:t>
            </a:r>
            <a:endParaRPr lang="en-US" sz="170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SCOPE TEST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questions for anything you might cut</a:t>
            </a:r>
            <a:endParaRPr lang="en-US" sz="3100" dirty="0"/>
          </a:p>
        </p:txBody>
      </p:sp>
      <p:sp>
        <p:nvSpPr>
          <p:cNvPr id="5" name="Shape 3"/>
          <p:cNvSpPr/>
          <p:nvPr/>
        </p:nvSpPr>
        <p:spPr>
          <a:xfrm>
            <a:off x="548640" y="1828800"/>
            <a:ext cx="11064240" cy="1051560"/>
          </a:xfrm>
          <a:prstGeom prst="roundRect">
            <a:avLst>
              <a:gd name="adj" fmla="val 782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116836"/>
            <a:ext cx="475488" cy="475488"/>
          </a:xfrm>
          <a:prstGeom prst="ellipse">
            <a:avLst/>
          </a:prstGeom>
          <a:solidFill>
            <a:srgbClr val="12908F"/>
          </a:solidFill>
          <a:ln/>
        </p:spPr>
      </p:sp>
      <p:sp>
        <p:nvSpPr>
          <p:cNvPr id="7" name="Text 5"/>
          <p:cNvSpPr/>
          <p:nvPr/>
        </p:nvSpPr>
        <p:spPr>
          <a:xfrm>
            <a:off x="777240" y="21168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63040" y="1828800"/>
            <a:ext cx="9966960" cy="10515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Does keeping it prove one of your v1 claims?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The claims in your MVP Plan, in rank order.</a:t>
            </a:r>
            <a:endParaRPr lang="en-US" sz="1700" dirty="0"/>
          </a:p>
        </p:txBody>
      </p:sp>
      <p:sp>
        <p:nvSpPr>
          <p:cNvPr id="9" name="Shape 7"/>
          <p:cNvSpPr/>
          <p:nvPr/>
        </p:nvSpPr>
        <p:spPr>
          <a:xfrm>
            <a:off x="548640" y="3063240"/>
            <a:ext cx="11064240" cy="1051560"/>
          </a:xfrm>
          <a:prstGeom prst="roundRect">
            <a:avLst>
              <a:gd name="adj" fmla="val 7826"/>
            </a:avLst>
          </a:prstGeom>
          <a:solidFill>
            <a:srgbClr val="F2F6F8"/>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3351276"/>
            <a:ext cx="475488" cy="475488"/>
          </a:xfrm>
          <a:prstGeom prst="ellipse">
            <a:avLst/>
          </a:prstGeom>
          <a:solidFill>
            <a:srgbClr val="12908F"/>
          </a:solidFill>
          <a:ln/>
        </p:spPr>
      </p:sp>
      <p:sp>
        <p:nvSpPr>
          <p:cNvPr id="11" name="Text 9"/>
          <p:cNvSpPr/>
          <p:nvPr/>
        </p:nvSpPr>
        <p:spPr>
          <a:xfrm>
            <a:off x="777240" y="33512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3063240"/>
            <a:ext cx="9966960" cy="105156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Does cutting it break the slice?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The path your demo walks, end to end.</a:t>
            </a:r>
            <a:endParaRPr lang="en-US" sz="1700" dirty="0"/>
          </a:p>
        </p:txBody>
      </p:sp>
      <p:sp>
        <p:nvSpPr>
          <p:cNvPr id="13" name="click-1"/>
          <p:cNvSpPr/>
          <p:nvPr/>
        </p:nvSpPr>
        <p:spPr>
          <a:xfrm>
            <a:off x="548640" y="4389120"/>
            <a:ext cx="11064240" cy="1737360"/>
          </a:xfrm>
          <a:prstGeom prst="roundRect">
            <a:avLst>
              <a:gd name="adj" fmla="val 4737"/>
            </a:avLst>
          </a:prstGeom>
          <a:solidFill>
            <a:srgbClr val="14233A"/>
          </a:solidFill>
          <a:ln/>
          <a:effectLst>
            <a:outerShdw sx="100000" sy="100000" kx="0" ky="0" algn="bl" rotWithShape="0" blurRad="88900" dist="38100" dir="5400000">
              <a:srgbClr val="000000">
                <a:alpha val="13000"/>
              </a:srgbClr>
            </a:outerShdw>
          </a:effectLst>
        </p:spPr>
      </p:sp>
      <p:sp>
        <p:nvSpPr>
          <p:cNvPr id="14" name="click-1"/>
          <p:cNvSpPr/>
          <p:nvPr/>
        </p:nvSpPr>
        <p:spPr>
          <a:xfrm>
            <a:off x="868680" y="4389120"/>
            <a:ext cx="10424160" cy="1737360"/>
          </a:xfrm>
          <a:prstGeom prst="rect">
            <a:avLst/>
          </a:prstGeom>
          <a:noFill/>
          <a:ln/>
        </p:spPr>
        <p:txBody>
          <a:bodyPr wrap="square" lIns="0" tIns="0" rIns="0" bIns="0" rtlCol="0" anchor="ctr"/>
          <a:lstStyle/>
          <a:p>
            <a:pPr indent="0" marL="0">
              <a:lnSpc>
                <a:spcPct val="106000"/>
              </a:lnSpc>
              <a:buNone/>
            </a:pPr>
            <a:r>
              <a:rPr lang="en-US" sz="1800" b="1" dirty="0">
                <a:solidFill>
                  <a:srgbClr val="E8A33D"/>
                </a:solidFill>
                <a:latin typeface="Calibri" pitchFamily="34" charset="0"/>
                <a:ea typeface="Calibri" pitchFamily="34" charset="-122"/>
                <a:cs typeface="Calibri" pitchFamily="34" charset="-120"/>
              </a:rPr>
              <a:t>No and no: cut it.  </a:t>
            </a:r>
            <a:pPr indent="0" marL="0">
              <a:lnSpc>
                <a:spcPct val="106000"/>
              </a:lnSpc>
              <a:buNone/>
            </a:pPr>
            <a:r>
              <a:rPr lang="en-US" sz="1800" dirty="0">
                <a:solidFill>
                  <a:srgbClr val="FFFFFF"/>
                </a:solidFill>
                <a:latin typeface="Calibri" pitchFamily="34" charset="0"/>
                <a:ea typeface="Calibri" pitchFamily="34" charset="-122"/>
                <a:cs typeface="Calibri" pitchFamily="34" charset="-120"/>
              </a:rPr>
              <a:t>Then amend the MVP Plan in the repo, so the change is visible. A visible cut is honesty; a quiet one reads as a miss on Wednesday. Every cut is also a line for your known-issues list and, later, your retrospective.</a:t>
            </a:r>
            <a:endParaRPr lang="en-US" sz="1800" dirty="0"/>
          </a:p>
        </p:txBody>
      </p:sp>
      <p:sp>
        <p:nvSpPr>
          <p:cNvPr id="15"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16"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3"/>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STUDIO · 40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with help on hand, then get audit-ready</a:t>
            </a:r>
            <a:endParaRPr lang="en-US" sz="3200" dirty="0"/>
          </a:p>
        </p:txBody>
      </p:sp>
      <p:sp>
        <p:nvSpPr>
          <p:cNvPr id="6" name="Shape 4"/>
          <p:cNvSpPr/>
          <p:nvPr/>
        </p:nvSpPr>
        <p:spPr>
          <a:xfrm>
            <a:off x="548640" y="1783080"/>
            <a:ext cx="11064240" cy="1024128"/>
          </a:xfrm>
          <a:prstGeom prst="roundRect">
            <a:avLst>
              <a:gd name="adj" fmla="val 8036"/>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77240" y="2002536"/>
            <a:ext cx="566928" cy="566928"/>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30311" y="2155607"/>
            <a:ext cx="260787" cy="260787"/>
          </a:xfrm>
          <a:prstGeom prst="rect">
            <a:avLst/>
          </a:prstGeom>
        </p:spPr>
      </p:pic>
      <p:sp>
        <p:nvSpPr>
          <p:cNvPr id="9" name="Text 6"/>
          <p:cNvSpPr/>
          <p:nvPr/>
        </p:nvSpPr>
        <p:spPr>
          <a:xfrm>
            <a:off x="1554480" y="1783080"/>
            <a:ext cx="3474720" cy="10241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Build, about 30 min</a:t>
            </a:r>
            <a:endParaRPr lang="en-US" sz="1800" dirty="0"/>
          </a:p>
        </p:txBody>
      </p:sp>
      <p:sp>
        <p:nvSpPr>
          <p:cNvPr id="10" name="Text 7"/>
          <p:cNvSpPr/>
          <p:nvPr/>
        </p:nvSpPr>
        <p:spPr>
          <a:xfrm>
            <a:off x="5029200" y="1783080"/>
            <a:ext cx="6400800" cy="1024128"/>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I go down the board in order, helping you find the next step. Add to it if you get stuck.</a:t>
            </a:r>
            <a:endParaRPr lang="en-US" sz="1650" dirty="0"/>
          </a:p>
        </p:txBody>
      </p:sp>
      <p:sp>
        <p:nvSpPr>
          <p:cNvPr id="11" name="Shape 8"/>
          <p:cNvSpPr/>
          <p:nvPr/>
        </p:nvSpPr>
        <p:spPr>
          <a:xfrm>
            <a:off x="548640" y="2971800"/>
            <a:ext cx="11064240" cy="1024128"/>
          </a:xfrm>
          <a:prstGeom prst="roundRect">
            <a:avLst>
              <a:gd name="adj" fmla="val 8036"/>
            </a:avLst>
          </a:prstGeom>
          <a:solidFill>
            <a:srgbClr val="1E3352"/>
          </a:solidFill>
          <a:ln/>
          <a:effectLst>
            <a:outerShdw sx="100000" sy="100000" kx="0" ky="0" algn="bl" rotWithShape="0" blurRad="88900" dist="38100" dir="5400000">
              <a:srgbClr val="000000">
                <a:alpha val="13000"/>
              </a:srgbClr>
            </a:outerShdw>
          </a:effectLst>
        </p:spPr>
      </p:sp>
      <p:sp>
        <p:nvSpPr>
          <p:cNvPr id="12" name="Shape 9"/>
          <p:cNvSpPr/>
          <p:nvPr/>
        </p:nvSpPr>
        <p:spPr>
          <a:xfrm>
            <a:off x="777240" y="3191256"/>
            <a:ext cx="566928" cy="566928"/>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930311" y="3344327"/>
            <a:ext cx="260787" cy="260787"/>
          </a:xfrm>
          <a:prstGeom prst="rect">
            <a:avLst/>
          </a:prstGeom>
        </p:spPr>
      </p:pic>
      <p:sp>
        <p:nvSpPr>
          <p:cNvPr id="14" name="Text 10"/>
          <p:cNvSpPr/>
          <p:nvPr/>
        </p:nvSpPr>
        <p:spPr>
          <a:xfrm>
            <a:off x="1554480" y="2971800"/>
            <a:ext cx="3474720" cy="10241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Audit-readiness pass, last 10 min</a:t>
            </a:r>
            <a:endParaRPr lang="en-US" sz="1800" dirty="0"/>
          </a:p>
        </p:txBody>
      </p:sp>
      <p:sp>
        <p:nvSpPr>
          <p:cNvPr id="15" name="Text 11"/>
          <p:cNvSpPr/>
          <p:nvPr/>
        </p:nvSpPr>
        <p:spPr>
          <a:xfrm>
            <a:off x="5029200" y="2971800"/>
            <a:ext cx="6400800" cy="1024128"/>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Every project, before you leave. The next slide is the list.</a:t>
            </a:r>
            <a:endParaRPr lang="en-US" sz="1650" dirty="0"/>
          </a:p>
        </p:txBody>
      </p:sp>
      <p:sp>
        <p:nvSpPr>
          <p:cNvPr id="16" name="Shape 12"/>
          <p:cNvSpPr/>
          <p:nvPr/>
        </p:nvSpPr>
        <p:spPr>
          <a:xfrm>
            <a:off x="548640" y="4160520"/>
            <a:ext cx="11064240" cy="1024128"/>
          </a:xfrm>
          <a:prstGeom prst="roundRect">
            <a:avLst>
              <a:gd name="adj" fmla="val 8036"/>
            </a:avLst>
          </a:prstGeom>
          <a:solidFill>
            <a:srgbClr val="1E3352"/>
          </a:solidFill>
          <a:ln/>
          <a:effectLst>
            <a:outerShdw sx="100000" sy="100000" kx="0" ky="0" algn="bl" rotWithShape="0" blurRad="88900" dist="38100" dir="5400000">
              <a:srgbClr val="000000">
                <a:alpha val="13000"/>
              </a:srgbClr>
            </a:outerShdw>
          </a:effectLst>
        </p:spPr>
      </p:sp>
      <p:sp>
        <p:nvSpPr>
          <p:cNvPr id="17" name="Shape 13"/>
          <p:cNvSpPr/>
          <p:nvPr/>
        </p:nvSpPr>
        <p:spPr>
          <a:xfrm>
            <a:off x="777240" y="4379976"/>
            <a:ext cx="566928" cy="566928"/>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930311" y="4533047"/>
            <a:ext cx="260787" cy="260787"/>
          </a:xfrm>
          <a:prstGeom prst="rect">
            <a:avLst/>
          </a:prstGeom>
        </p:spPr>
      </p:pic>
      <p:sp>
        <p:nvSpPr>
          <p:cNvPr id="19" name="Text 14"/>
          <p:cNvSpPr/>
          <p:nvPr/>
        </p:nvSpPr>
        <p:spPr>
          <a:xfrm>
            <a:off x="1554480" y="4160520"/>
            <a:ext cx="3474720" cy="10241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CP9 corner</a:t>
            </a:r>
            <a:endParaRPr lang="en-US" sz="1800" dirty="0"/>
          </a:p>
        </p:txBody>
      </p:sp>
      <p:sp>
        <p:nvSpPr>
          <p:cNvPr id="20" name="Text 15"/>
          <p:cNvSpPr/>
          <p:nvPr/>
        </p:nvSpPr>
        <p:spPr>
          <a:xfrm>
            <a:off x="5029200" y="4160520"/>
            <a:ext cx="6400800" cy="1024128"/>
          </a:xfrm>
          <a:prstGeom prst="rect">
            <a:avLst/>
          </a:prstGeom>
          <a:noFill/>
          <a:ln/>
        </p:spPr>
        <p:txBody>
          <a:bodyPr wrap="square" lIns="0" tIns="0" rIns="0" bIns="0" rtlCol="0" anchor="ctr"/>
          <a:lstStyle/>
          <a:p>
            <a:pPr indent="0" marL="0">
              <a:buNone/>
            </a:pPr>
            <a:r>
              <a:rPr lang="en-US" sz="1650" dirty="0">
                <a:solidFill>
                  <a:srgbClr val="CFE0E9"/>
                </a:solidFill>
                <a:latin typeface="Calibri" pitchFamily="34" charset="0"/>
                <a:ea typeface="Calibri" pitchFamily="34" charset="-122"/>
                <a:cs typeface="Calibri" pitchFamily="34" charset="-120"/>
              </a:rPr>
              <a:t>Missing portfolio pieces? This week's PRs, demo-path issues, and cold-test replies all count.</a:t>
            </a:r>
            <a:endParaRPr lang="en-US" sz="1650" dirty="0"/>
          </a:p>
        </p:txBody>
      </p:sp>
      <p:sp>
        <p:nvSpPr>
          <p:cNvPr id="21" name="Shape 16"/>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22" name="Text 17"/>
          <p:cNvSpPr/>
          <p:nvPr/>
        </p:nvSpPr>
        <p:spPr>
          <a:xfrm>
            <a:off x="868680" y="5440680"/>
            <a:ext cx="10424160" cy="731520"/>
          </a:xfrm>
          <a:prstGeom prst="rect">
            <a:avLst/>
          </a:prstGeom>
          <a:noFill/>
          <a:ln/>
        </p:spPr>
        <p:txBody>
          <a:bodyPr wrap="square" lIns="0" tIns="0" rIns="0" bIns="0" rtlCol="0" anchor="ctr"/>
          <a:lstStyle/>
          <a:p>
            <a:pPr indent="0" marL="0">
              <a:buNone/>
            </a:pPr>
            <a:r>
              <a:rPr lang="en-US" sz="1700" b="1" dirty="0">
                <a:solidFill>
                  <a:srgbClr val="14233A"/>
                </a:solidFill>
                <a:latin typeface="Calibri" pitchFamily="34" charset="0"/>
                <a:ea typeface="Calibri" pitchFamily="34" charset="-122"/>
                <a:cs typeface="Calibri" pitchFamily="34" charset="-120"/>
              </a:rPr>
              <a:t>CP9 is due before class Wednesday. CP10's demo and audit happen in class.</a:t>
            </a:r>
            <a:endParaRPr lang="en-US" sz="1700" dirty="0"/>
          </a:p>
        </p:txBody>
      </p:sp>
      <p:sp>
        <p:nvSpPr>
          <p:cNvPr id="23" name="Text 1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21 · Check-in &amp; Studio</a:t>
            </a:r>
            <a:endParaRPr lang="en-US" sz="1000" dirty="0"/>
          </a:p>
        </p:txBody>
      </p:sp>
      <p:sp>
        <p:nvSpPr>
          <p:cNvPr id="24"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AUDIT-READINESS PASS · 10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Look at main the way a stranger will on Wednesday</a:t>
            </a:r>
            <a:endParaRPr lang="en-US" sz="3100" dirty="0"/>
          </a:p>
        </p:txBody>
      </p:sp>
      <p:sp>
        <p:nvSpPr>
          <p:cNvPr id="5" name="Shape 3"/>
          <p:cNvSpPr/>
          <p:nvPr/>
        </p:nvSpPr>
        <p:spPr>
          <a:xfrm>
            <a:off x="548640" y="1783080"/>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93392"/>
            <a:ext cx="475488" cy="475488"/>
          </a:xfrm>
          <a:prstGeom prst="ellipse">
            <a:avLst/>
          </a:prstGeom>
          <a:solidFill>
            <a:srgbClr val="12908F"/>
          </a:solidFill>
          <a:ln/>
        </p:spPr>
      </p:sp>
      <p:sp>
        <p:nvSpPr>
          <p:cNvPr id="7" name="Text 5"/>
          <p:cNvSpPr/>
          <p:nvPr/>
        </p:nvSpPr>
        <p:spPr>
          <a:xfrm>
            <a:off x="777240" y="199339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63040" y="1783080"/>
            <a:ext cx="9966960" cy="896112"/>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Fresh clone, one more time.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New folder, main, your own setup guide, exactly as written. Is it still true after this week's changes?</a:t>
            </a:r>
            <a:endParaRPr lang="en-US" sz="1700" dirty="0"/>
          </a:p>
        </p:txBody>
      </p:sp>
      <p:sp>
        <p:nvSpPr>
          <p:cNvPr id="9" name="Shape 7"/>
          <p:cNvSpPr/>
          <p:nvPr/>
        </p:nvSpPr>
        <p:spPr>
          <a:xfrm>
            <a:off x="548640" y="2807208"/>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3017520"/>
            <a:ext cx="475488" cy="475488"/>
          </a:xfrm>
          <a:prstGeom prst="ellipse">
            <a:avLst/>
          </a:prstGeom>
          <a:solidFill>
            <a:srgbClr val="12908F"/>
          </a:solidFill>
          <a:ln/>
        </p:spPr>
      </p:sp>
      <p:sp>
        <p:nvSpPr>
          <p:cNvPr id="11" name="Text 9"/>
          <p:cNvSpPr/>
          <p:nvPr/>
        </p:nvSpPr>
        <p:spPr>
          <a:xfrm>
            <a:off x="777240" y="30175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807208"/>
            <a:ext cx="9966960" cy="896112"/>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The board tells the truth.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In progress means someone is on it today. A stale board reads badly in an audit.</a:t>
            </a:r>
            <a:endParaRPr lang="en-US" sz="1700" dirty="0"/>
          </a:p>
        </p:txBody>
      </p:sp>
      <p:sp>
        <p:nvSpPr>
          <p:cNvPr id="13" name="Shape 11"/>
          <p:cNvSpPr/>
          <p:nvPr/>
        </p:nvSpPr>
        <p:spPr>
          <a:xfrm>
            <a:off x="548640" y="3831336"/>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77240" y="4041648"/>
            <a:ext cx="475488" cy="475488"/>
          </a:xfrm>
          <a:prstGeom prst="ellipse">
            <a:avLst/>
          </a:prstGeom>
          <a:solidFill>
            <a:srgbClr val="12908F"/>
          </a:solidFill>
          <a:ln/>
        </p:spPr>
      </p:sp>
      <p:sp>
        <p:nvSpPr>
          <p:cNvPr id="15" name="Text 13"/>
          <p:cNvSpPr/>
          <p:nvPr/>
        </p:nvSpPr>
        <p:spPr>
          <a:xfrm>
            <a:off x="777240" y="40416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831336"/>
            <a:ext cx="9966960" cy="896112"/>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Good first issues are still good.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Still open, still approachable, and the where-to-start still points at real code.</a:t>
            </a:r>
            <a:endParaRPr lang="en-US" sz="1700" dirty="0"/>
          </a:p>
        </p:txBody>
      </p:sp>
      <p:sp>
        <p:nvSpPr>
          <p:cNvPr id="17" name="Shape 15"/>
          <p:cNvSpPr/>
          <p:nvPr/>
        </p:nvSpPr>
        <p:spPr>
          <a:xfrm>
            <a:off x="548640" y="4855464"/>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5065776"/>
            <a:ext cx="475488" cy="475488"/>
          </a:xfrm>
          <a:prstGeom prst="ellipse">
            <a:avLst/>
          </a:prstGeom>
          <a:solidFill>
            <a:srgbClr val="12908F"/>
          </a:solidFill>
          <a:ln/>
        </p:spPr>
      </p:sp>
      <p:sp>
        <p:nvSpPr>
          <p:cNvPr id="19" name="Text 17"/>
          <p:cNvSpPr/>
          <p:nvPr/>
        </p:nvSpPr>
        <p:spPr>
          <a:xfrm>
            <a:off x="777240" y="5065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1463040" y="4855464"/>
            <a:ext cx="9966960" cy="896112"/>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The README's first paragraph.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Still says what the project is, and what works, this week.</a:t>
            </a:r>
            <a:endParaRPr lang="en-US" sz="1700" dirty="0"/>
          </a:p>
        </p:txBody>
      </p:sp>
      <p:sp>
        <p:nvSpPr>
          <p:cNvPr id="21" name="Text 19"/>
          <p:cNvSpPr/>
          <p:nvPr/>
        </p:nvSpPr>
        <p:spPr>
          <a:xfrm>
            <a:off x="548640" y="5943600"/>
            <a:ext cx="11064240" cy="365760"/>
          </a:xfrm>
          <a:prstGeom prst="rect">
            <a:avLst/>
          </a:prstGeom>
          <a:noFill/>
          <a:ln/>
        </p:spPr>
        <p:txBody>
          <a:bodyPr wrap="square" lIns="0" tIns="0" rIns="0" bIns="0" rtlCol="0" anchor="ctr"/>
          <a:lstStyle/>
          <a:p>
            <a:pPr indent="0" marL="0">
              <a:buNone/>
            </a:pPr>
            <a:r>
              <a:rPr lang="en-US" sz="1700" b="1" i="1" dirty="0">
                <a:solidFill>
                  <a:srgbClr val="0E6E6D"/>
                </a:solidFill>
                <a:latin typeface="Calibri" pitchFamily="34" charset="0"/>
                <a:ea typeface="Calibri" pitchFamily="34" charset="-122"/>
                <a:cs typeface="Calibri" pitchFamily="34" charset="-120"/>
              </a:rPr>
              <a:t>Whatever you find, fix it on main before you tag cp10.</a:t>
            </a:r>
            <a:endParaRPr lang="en-US" sz="17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WEDNESDAY'S AUDIT · THE SHEET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your auditor will do, in order</a:t>
            </a:r>
            <a:endParaRPr lang="en-US" sz="3100" dirty="0"/>
          </a:p>
        </p:txBody>
      </p:sp>
      <p:sp>
        <p:nvSpPr>
          <p:cNvPr id="5" name="Shape 3"/>
          <p:cNvSpPr/>
          <p:nvPr/>
        </p:nvSpPr>
        <p:spPr>
          <a:xfrm>
            <a:off x="548640" y="1783080"/>
            <a:ext cx="676656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31520" y="178308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188720" y="1783080"/>
            <a:ext cx="598932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Get it running</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From the README: prerequisites, install, configure, tests, run</a:t>
            </a:r>
            <a:endParaRPr lang="en-US" sz="1700" dirty="0"/>
          </a:p>
        </p:txBody>
      </p:sp>
      <p:sp>
        <p:nvSpPr>
          <p:cNvPr id="8" name="Shape 6"/>
          <p:cNvSpPr/>
          <p:nvPr/>
        </p:nvSpPr>
        <p:spPr>
          <a:xfrm>
            <a:off x="548640" y="2651760"/>
            <a:ext cx="676656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731520" y="265176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188720" y="2651760"/>
            <a:ext cx="598932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Find their way</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Say what the project is; pick a good first issue and find the code to change</a:t>
            </a:r>
            <a:endParaRPr lang="en-US" sz="1700" dirty="0"/>
          </a:p>
        </p:txBody>
      </p:sp>
      <p:sp>
        <p:nvSpPr>
          <p:cNvPr id="11" name="Shape 9"/>
          <p:cNvSpPr/>
          <p:nvPr/>
        </p:nvSpPr>
        <p:spPr>
          <a:xfrm>
            <a:off x="548640" y="3520440"/>
            <a:ext cx="676656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731520" y="352044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1188720" y="3520440"/>
            <a:ext cx="598932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Read the history</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Commit log, pull requests, board, known issues, where to ask</a:t>
            </a:r>
            <a:endParaRPr lang="en-US" sz="1700" dirty="0"/>
          </a:p>
        </p:txBody>
      </p:sp>
      <p:sp>
        <p:nvSpPr>
          <p:cNvPr id="14" name="Shape 12"/>
          <p:cNvSpPr/>
          <p:nvPr/>
        </p:nvSpPr>
        <p:spPr>
          <a:xfrm>
            <a:off x="548640" y="4389120"/>
            <a:ext cx="676656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5" name="Text 13"/>
          <p:cNvSpPr/>
          <p:nvPr/>
        </p:nvSpPr>
        <p:spPr>
          <a:xfrm>
            <a:off x="731520" y="4389120"/>
            <a:ext cx="365760" cy="749808"/>
          </a:xfrm>
          <a:prstGeom prst="rect">
            <a:avLst/>
          </a:prstGeom>
          <a:noFill/>
          <a:ln/>
        </p:spPr>
        <p:txBody>
          <a:bodyPr wrap="square" lIns="0" tIns="0" rIns="0" bIns="0" rtlCol="0" anchor="ctr"/>
          <a:lstStyle/>
          <a:p>
            <a:pPr indent="0" marL="0">
              <a:buNone/>
            </a:pPr>
            <a:r>
              <a:rPr lang="en-US" sz="2000" b="1" dirty="0">
                <a:solidFill>
                  <a:srgbClr val="12908F"/>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1188720" y="4389120"/>
            <a:ext cx="598932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Log every stall</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The step, the exact error or confusing line, and what they did about it</a:t>
            </a:r>
            <a:endParaRPr lang="en-US" sz="1700" dirty="0"/>
          </a:p>
        </p:txBody>
      </p:sp>
      <p:sp>
        <p:nvSpPr>
          <p:cNvPr id="17" name="Shape 15"/>
          <p:cNvSpPr/>
          <p:nvPr/>
        </p:nvSpPr>
        <p:spPr>
          <a:xfrm>
            <a:off x="7589520" y="1783080"/>
            <a:ext cx="4023360" cy="3355848"/>
          </a:xfrm>
          <a:prstGeom prst="roundRect">
            <a:avLst>
              <a:gd name="adj" fmla="val 2452"/>
            </a:avLst>
          </a:prstGeom>
          <a:solidFill>
            <a:srgbClr val="14233A"/>
          </a:solidFill>
          <a:ln/>
          <a:effectLst>
            <a:outerShdw sx="100000" sy="100000" kx="0" ky="0" algn="bl" rotWithShape="0" blurRad="88900" dist="38100" dir="5400000">
              <a:srgbClr val="000000">
                <a:alpha val="13000"/>
              </a:srgbClr>
            </a:outerShdw>
          </a:effectLst>
        </p:spPr>
      </p:sp>
      <p:sp>
        <p:nvSpPr>
          <p:cNvPr id="18" name="Text 16"/>
          <p:cNvSpPr/>
          <p:nvPr/>
        </p:nvSpPr>
        <p:spPr>
          <a:xfrm>
            <a:off x="7863840" y="1920240"/>
            <a:ext cx="356616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EACH SETUP STEP</a:t>
            </a:r>
            <a:endParaRPr lang="en-US" sz="1400" dirty="0"/>
          </a:p>
        </p:txBody>
      </p:sp>
      <p:sp>
        <p:nvSpPr>
          <p:cNvPr id="19" name="Shape 17"/>
          <p:cNvSpPr/>
          <p:nvPr/>
        </p:nvSpPr>
        <p:spPr>
          <a:xfrm>
            <a:off x="7863840" y="2450592"/>
            <a:ext cx="256032" cy="256032"/>
          </a:xfrm>
          <a:prstGeom prst="rect">
            <a:avLst/>
          </a:prstGeom>
          <a:solidFill>
            <a:srgbClr val="14233A"/>
          </a:solidFill>
          <a:ln w="19050">
            <a:solidFill>
              <a:srgbClr val="E8A33D"/>
            </a:solidFill>
            <a:prstDash val="solid"/>
          </a:ln>
        </p:spPr>
      </p:sp>
      <p:sp>
        <p:nvSpPr>
          <p:cNvPr id="20" name="Text 18"/>
          <p:cNvSpPr/>
          <p:nvPr/>
        </p:nvSpPr>
        <p:spPr>
          <a:xfrm>
            <a:off x="8275320" y="2359152"/>
            <a:ext cx="3200400" cy="4572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As written</a:t>
            </a:r>
            <a:endParaRPr lang="en-US" sz="1700" dirty="0"/>
          </a:p>
        </p:txBody>
      </p:sp>
      <p:sp>
        <p:nvSpPr>
          <p:cNvPr id="21" name="Shape 19"/>
          <p:cNvSpPr/>
          <p:nvPr/>
        </p:nvSpPr>
        <p:spPr>
          <a:xfrm>
            <a:off x="7863840" y="3090672"/>
            <a:ext cx="256032" cy="256032"/>
          </a:xfrm>
          <a:prstGeom prst="rect">
            <a:avLst/>
          </a:prstGeom>
          <a:solidFill>
            <a:srgbClr val="14233A"/>
          </a:solidFill>
          <a:ln w="19050">
            <a:solidFill>
              <a:srgbClr val="E8A33D"/>
            </a:solidFill>
            <a:prstDash val="solid"/>
          </a:ln>
        </p:spPr>
      </p:sp>
      <p:sp>
        <p:nvSpPr>
          <p:cNvPr id="22" name="Text 20"/>
          <p:cNvSpPr/>
          <p:nvPr/>
        </p:nvSpPr>
        <p:spPr>
          <a:xfrm>
            <a:off x="8275320" y="2999232"/>
            <a:ext cx="3200400" cy="4572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 guess or workaround</a:t>
            </a:r>
            <a:endParaRPr lang="en-US" sz="1700" dirty="0"/>
          </a:p>
        </p:txBody>
      </p:sp>
      <p:sp>
        <p:nvSpPr>
          <p:cNvPr id="23" name="Shape 21"/>
          <p:cNvSpPr/>
          <p:nvPr/>
        </p:nvSpPr>
        <p:spPr>
          <a:xfrm>
            <a:off x="7863840" y="3730752"/>
            <a:ext cx="256032" cy="256032"/>
          </a:xfrm>
          <a:prstGeom prst="rect">
            <a:avLst/>
          </a:prstGeom>
          <a:solidFill>
            <a:srgbClr val="14233A"/>
          </a:solidFill>
          <a:ln w="19050">
            <a:solidFill>
              <a:srgbClr val="E8A33D"/>
            </a:solidFill>
            <a:prstDash val="solid"/>
          </a:ln>
        </p:spPr>
      </p:sp>
      <p:sp>
        <p:nvSpPr>
          <p:cNvPr id="24" name="Text 22"/>
          <p:cNvSpPr/>
          <p:nvPr/>
        </p:nvSpPr>
        <p:spPr>
          <a:xfrm>
            <a:off x="8275320" y="3639312"/>
            <a:ext cx="3200400" cy="4572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Step wrong or missing</a:t>
            </a:r>
            <a:endParaRPr lang="en-US" sz="1700" dirty="0"/>
          </a:p>
        </p:txBody>
      </p:sp>
      <p:sp>
        <p:nvSpPr>
          <p:cNvPr id="25" name="Shape 23"/>
          <p:cNvSpPr/>
          <p:nvPr/>
        </p:nvSpPr>
        <p:spPr>
          <a:xfrm>
            <a:off x="7863840" y="4370832"/>
            <a:ext cx="256032" cy="256032"/>
          </a:xfrm>
          <a:prstGeom prst="rect">
            <a:avLst/>
          </a:prstGeom>
          <a:solidFill>
            <a:srgbClr val="14233A"/>
          </a:solidFill>
          <a:ln w="19050">
            <a:solidFill>
              <a:srgbClr val="E8A33D"/>
            </a:solidFill>
            <a:prstDash val="solid"/>
          </a:ln>
        </p:spPr>
      </p:sp>
      <p:sp>
        <p:nvSpPr>
          <p:cNvPr id="26" name="Text 24"/>
          <p:cNvSpPr/>
          <p:nvPr/>
        </p:nvSpPr>
        <p:spPr>
          <a:xfrm>
            <a:off x="8275320" y="4279392"/>
            <a:ext cx="3200400" cy="4572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Couldn't get past it</a:t>
            </a:r>
            <a:endParaRPr lang="en-US" sz="1700" dirty="0"/>
          </a:p>
        </p:txBody>
      </p:sp>
      <p:sp>
        <p:nvSpPr>
          <p:cNvPr id="27" name="click-1"/>
          <p:cNvSpPr/>
          <p:nvPr/>
        </p:nvSpPr>
        <p:spPr>
          <a:xfrm>
            <a:off x="548640" y="5394960"/>
            <a:ext cx="11064240" cy="777240"/>
          </a:xfrm>
          <a:prstGeom prst="roundRect">
            <a:avLst>
              <a:gd name="adj" fmla="val 10588"/>
            </a:avLst>
          </a:prstGeom>
          <a:solidFill>
            <a:srgbClr val="E8A33D"/>
          </a:solidFill>
          <a:ln/>
          <a:effectLst>
            <a:outerShdw sx="100000" sy="100000" kx="0" ky="0" algn="bl" rotWithShape="0" blurRad="88900" dist="38100" dir="5400000">
              <a:srgbClr val="000000">
                <a:alpha val="13000"/>
              </a:srgbClr>
            </a:outerShdw>
          </a:effectLst>
        </p:spPr>
      </p:sp>
      <p:sp>
        <p:nvSpPr>
          <p:cNvPr id="28" name="click-1"/>
          <p:cNvSpPr/>
          <p:nvPr/>
        </p:nvSpPr>
        <p:spPr>
          <a:xfrm>
            <a:off x="868680" y="5394960"/>
            <a:ext cx="10424160" cy="77724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The sheet is on Canvas now. Read it tonight and audit your own repo against it.</a:t>
            </a:r>
            <a:endParaRPr lang="en-US" sz="1700" dirty="0"/>
          </a:p>
        </p:txBody>
      </p:sp>
      <p:sp>
        <p:nvSpPr>
          <p:cNvPr id="29"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30"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WEDNESDAY'S AUDIT · THE RULES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sheet records facts. I assign the level.</a:t>
            </a:r>
            <a:endParaRPr lang="en-US" sz="3100" dirty="0"/>
          </a:p>
        </p:txBody>
      </p:sp>
      <p:sp>
        <p:nvSpPr>
          <p:cNvPr id="5" name="click-1"/>
          <p:cNvSpPr/>
          <p:nvPr/>
        </p:nvSpPr>
        <p:spPr>
          <a:xfrm>
            <a:off x="548640" y="182880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822960" y="2057400"/>
            <a:ext cx="566928" cy="566928"/>
          </a:xfrm>
          <a:prstGeom prst="ellipse">
            <a:avLst/>
          </a:prstGeom>
          <a:solidFill>
            <a:srgbClr val="12908F"/>
          </a:solidFill>
          <a:ln/>
        </p:spPr>
      </p:sp>
      <p:pic>
        <p:nvPicPr>
          <p:cNvPr id="7" name="click-1" descr="preencoded.png">    </p:cNvPr>
          <p:cNvPicPr>
            <a:picLocks noChangeAspect="1"/>
          </p:cNvPicPr>
          <p:nvPr/>
        </p:nvPicPr>
        <p:blipFill>
          <a:blip r:embed="rId1"/>
          <a:stretch>
            <a:fillRect/>
          </a:stretch>
        </p:blipFill>
        <p:spPr>
          <a:xfrm>
            <a:off x="976031" y="2210471"/>
            <a:ext cx="260787" cy="260787"/>
          </a:xfrm>
          <a:prstGeom prst="rect">
            <a:avLst/>
          </a:prstGeom>
        </p:spPr>
      </p:pic>
      <p:sp>
        <p:nvSpPr>
          <p:cNvPr id="8" name="click-1"/>
          <p:cNvSpPr/>
          <p:nvPr/>
        </p:nvSpPr>
        <p:spPr>
          <a:xfrm>
            <a:off x="1554480" y="205740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From the tag</a:t>
            </a:r>
            <a:endParaRPr lang="en-US" sz="2000" dirty="0"/>
          </a:p>
        </p:txBody>
      </p:sp>
      <p:sp>
        <p:nvSpPr>
          <p:cNvPr id="9" name="click-1"/>
          <p:cNvSpPr/>
          <p:nvPr/>
        </p:nvSpPr>
        <p:spPr>
          <a:xfrm>
            <a:off x="822960" y="2743200"/>
            <a:ext cx="4892040" cy="82296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Your auditor clones cp10, not main. What's on the tag is what's audited.</a:t>
            </a:r>
            <a:endParaRPr lang="en-US" sz="1700" dirty="0"/>
          </a:p>
        </p:txBody>
      </p:sp>
      <p:sp>
        <p:nvSpPr>
          <p:cNvPr id="10" name="click-2"/>
          <p:cNvSpPr/>
          <p:nvPr/>
        </p:nvSpPr>
        <p:spPr>
          <a:xfrm>
            <a:off x="6172200" y="182880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1" name="click-2"/>
          <p:cNvSpPr/>
          <p:nvPr/>
        </p:nvSpPr>
        <p:spPr>
          <a:xfrm>
            <a:off x="6446520" y="2057400"/>
            <a:ext cx="566928" cy="566928"/>
          </a:xfrm>
          <a:prstGeom prst="ellipse">
            <a:avLst/>
          </a:prstGeom>
          <a:solidFill>
            <a:srgbClr val="12908F"/>
          </a:solidFill>
          <a:ln/>
        </p:spPr>
      </p:sp>
      <p:pic>
        <p:nvPicPr>
          <p:cNvPr id="12" name="click-2" descr="preencoded.png">    </p:cNvPr>
          <p:cNvPicPr>
            <a:picLocks noChangeAspect="1"/>
          </p:cNvPicPr>
          <p:nvPr/>
        </p:nvPicPr>
        <p:blipFill>
          <a:blip r:embed="rId2"/>
          <a:stretch>
            <a:fillRect/>
          </a:stretch>
        </p:blipFill>
        <p:spPr>
          <a:xfrm>
            <a:off x="6599591" y="2210471"/>
            <a:ext cx="260787" cy="260787"/>
          </a:xfrm>
          <a:prstGeom prst="rect">
            <a:avLst/>
          </a:prstGeom>
        </p:spPr>
      </p:pic>
      <p:sp>
        <p:nvSpPr>
          <p:cNvPr id="13" name="click-2"/>
          <p:cNvSpPr/>
          <p:nvPr/>
        </p:nvSpPr>
        <p:spPr>
          <a:xfrm>
            <a:off x="7178040" y="205740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Everyone at once</a:t>
            </a:r>
            <a:endParaRPr lang="en-US" sz="2000" dirty="0"/>
          </a:p>
        </p:txBody>
      </p:sp>
      <p:sp>
        <p:nvSpPr>
          <p:cNvPr id="14" name="click-2"/>
          <p:cNvSpPr/>
          <p:nvPr/>
        </p:nvSpPr>
        <p:spPr>
          <a:xfrm>
            <a:off x="6446520" y="2743200"/>
            <a:ext cx="4892040" cy="82296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You audit your partner's repo while they audit yours. Nobody to ask: the docs are all you get.</a:t>
            </a:r>
            <a:endParaRPr lang="en-US" sz="1700" dirty="0"/>
          </a:p>
        </p:txBody>
      </p:sp>
      <p:sp>
        <p:nvSpPr>
          <p:cNvPr id="15" name="click-3"/>
          <p:cNvSpPr/>
          <p:nvPr/>
        </p:nvSpPr>
        <p:spPr>
          <a:xfrm>
            <a:off x="548640" y="384048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6" name="click-3"/>
          <p:cNvSpPr/>
          <p:nvPr/>
        </p:nvSpPr>
        <p:spPr>
          <a:xfrm>
            <a:off x="822960" y="4069080"/>
            <a:ext cx="566928" cy="566928"/>
          </a:xfrm>
          <a:prstGeom prst="ellipse">
            <a:avLst/>
          </a:prstGeom>
          <a:solidFill>
            <a:srgbClr val="12908F"/>
          </a:solidFill>
          <a:ln/>
        </p:spPr>
      </p:sp>
      <p:pic>
        <p:nvPicPr>
          <p:cNvPr id="17" name="click-3" descr="preencoded.png">    </p:cNvPr>
          <p:cNvPicPr>
            <a:picLocks noChangeAspect="1"/>
          </p:cNvPicPr>
          <p:nvPr/>
        </p:nvPicPr>
        <p:blipFill>
          <a:blip r:embed="rId3"/>
          <a:stretch>
            <a:fillRect/>
          </a:stretch>
        </p:blipFill>
        <p:spPr>
          <a:xfrm>
            <a:off x="976031" y="4222151"/>
            <a:ext cx="260787" cy="260787"/>
          </a:xfrm>
          <a:prstGeom prst="rect">
            <a:avLst/>
          </a:prstGeom>
        </p:spPr>
      </p:pic>
      <p:sp>
        <p:nvSpPr>
          <p:cNvPr id="18" name="click-3"/>
          <p:cNvSpPr/>
          <p:nvPr/>
        </p:nvSpPr>
        <p:spPr>
          <a:xfrm>
            <a:off x="1554480" y="406908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Facts, not a score</a:t>
            </a:r>
            <a:endParaRPr lang="en-US" sz="2000" dirty="0"/>
          </a:p>
        </p:txBody>
      </p:sp>
      <p:sp>
        <p:nvSpPr>
          <p:cNvPr id="19" name="click-3"/>
          <p:cNvSpPr/>
          <p:nvPr/>
        </p:nvSpPr>
        <p:spPr>
          <a:xfrm>
            <a:off x="822960" y="4754880"/>
            <a:ext cx="4892040" cy="82296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The auditor records what happened. I watch, repeat the hardest step if needed, and assign the level.</a:t>
            </a:r>
            <a:endParaRPr lang="en-US" sz="1700" dirty="0"/>
          </a:p>
        </p:txBody>
      </p:sp>
      <p:sp>
        <p:nvSpPr>
          <p:cNvPr id="20" name="click-4"/>
          <p:cNvSpPr/>
          <p:nvPr/>
        </p:nvSpPr>
        <p:spPr>
          <a:xfrm>
            <a:off x="6172200" y="384048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21" name="click-4"/>
          <p:cNvSpPr/>
          <p:nvPr/>
        </p:nvSpPr>
        <p:spPr>
          <a:xfrm>
            <a:off x="6446520" y="4069080"/>
            <a:ext cx="566928" cy="566928"/>
          </a:xfrm>
          <a:prstGeom prst="ellipse">
            <a:avLst/>
          </a:prstGeom>
          <a:solidFill>
            <a:srgbClr val="12908F"/>
          </a:solidFill>
          <a:ln/>
        </p:spPr>
      </p:sp>
      <p:pic>
        <p:nvPicPr>
          <p:cNvPr id="22" name="click-4" descr="preencoded.png">    </p:cNvPr>
          <p:cNvPicPr>
            <a:picLocks noChangeAspect="1"/>
          </p:cNvPicPr>
          <p:nvPr/>
        </p:nvPicPr>
        <p:blipFill>
          <a:blip r:embed="rId4"/>
          <a:stretch>
            <a:fillRect/>
          </a:stretch>
        </p:blipFill>
        <p:spPr>
          <a:xfrm>
            <a:off x="6599591" y="4222151"/>
            <a:ext cx="260787" cy="260787"/>
          </a:xfrm>
          <a:prstGeom prst="rect">
            <a:avLst/>
          </a:prstGeom>
        </p:spPr>
      </p:pic>
      <p:sp>
        <p:nvSpPr>
          <p:cNvPr id="23" name="click-4"/>
          <p:cNvSpPr/>
          <p:nvPr/>
        </p:nvSpPr>
        <p:spPr>
          <a:xfrm>
            <a:off x="7178040" y="4069080"/>
            <a:ext cx="4206240" cy="566928"/>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Then a fix list</a:t>
            </a:r>
            <a:endParaRPr lang="en-US" sz="2000" dirty="0"/>
          </a:p>
        </p:txBody>
      </p:sp>
      <p:sp>
        <p:nvSpPr>
          <p:cNvPr id="24" name="click-4"/>
          <p:cNvSpPr/>
          <p:nvPr/>
        </p:nvSpPr>
        <p:spPr>
          <a:xfrm>
            <a:off x="6446520" y="4754880"/>
            <a:ext cx="4892040" cy="822960"/>
          </a:xfrm>
          <a:prstGeom prst="rect">
            <a:avLst/>
          </a:prstGeom>
          <a:noFill/>
          <a:ln/>
        </p:spPr>
        <p:txBody>
          <a:bodyPr wrap="square" lIns="0" tIns="0" rIns="0" bIns="0" rtlCol="0" anchor="t"/>
          <a:lstStyle/>
          <a:p>
            <a:pPr indent="0" marL="0">
              <a:buNone/>
            </a:pPr>
            <a:r>
              <a:rPr lang="en-US" sz="1700" dirty="0">
                <a:solidFill>
                  <a:srgbClr val="1E2A36"/>
                </a:solidFill>
                <a:latin typeface="Calibri" pitchFamily="34" charset="0"/>
                <a:ea typeface="Calibri" pitchFamily="34" charset="-122"/>
                <a:cs typeface="Calibri" pitchFamily="34" charset="-120"/>
              </a:rPr>
              <a:t>The signed sheet comes back to you; it becomes your top five fixes for the launch.</a:t>
            </a:r>
            <a:endParaRPr lang="en-US" sz="1700" dirty="0"/>
          </a:p>
        </p:txBody>
      </p:sp>
      <p:sp>
        <p:nvSpPr>
          <p:cNvPr id="25"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26"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WEDNESDAY, NOV 18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run of show</a:t>
            </a:r>
            <a:endParaRPr lang="en-US" sz="3100" dirty="0"/>
          </a:p>
        </p:txBody>
      </p:sp>
      <p:sp>
        <p:nvSpPr>
          <p:cNvPr id="5" name="Shape 3"/>
          <p:cNvSpPr/>
          <p:nvPr/>
        </p:nvSpPr>
        <p:spPr>
          <a:xfrm>
            <a:off x="548640" y="178308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77240" y="1783080"/>
            <a:ext cx="1188720" cy="749808"/>
          </a:xfrm>
          <a:prstGeom prst="rect">
            <a:avLst/>
          </a:prstGeom>
          <a:noFill/>
          <a:ln/>
        </p:spPr>
        <p:txBody>
          <a:bodyPr wrap="square" lIns="0" tIns="0" rIns="0" bIns="0" rtlCol="0" anchor="ctr"/>
          <a:lstStyle/>
          <a:p>
            <a:pPr indent="0" marL="0">
              <a:buNone/>
            </a:pPr>
            <a:r>
              <a:rPr lang="en-US" sz="1700" b="1" dirty="0">
                <a:solidFill>
                  <a:srgbClr val="12908F"/>
                </a:solidFill>
                <a:latin typeface="Calibri" pitchFamily="34" charset="0"/>
                <a:ea typeface="Calibri" pitchFamily="34" charset="-122"/>
                <a:cs typeface="Calibri" pitchFamily="34" charset="-120"/>
              </a:rPr>
              <a:t>3 min</a:t>
            </a:r>
            <a:endParaRPr lang="en-US" sz="1700" dirty="0"/>
          </a:p>
        </p:txBody>
      </p:sp>
      <p:sp>
        <p:nvSpPr>
          <p:cNvPr id="7" name="Text 5"/>
          <p:cNvSpPr/>
          <p:nvPr/>
        </p:nvSpPr>
        <p:spPr>
          <a:xfrm>
            <a:off x="1965960" y="1783080"/>
            <a:ext cx="320040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Setup</a:t>
            </a:r>
            <a:endParaRPr lang="en-US" sz="1800" dirty="0"/>
          </a:p>
        </p:txBody>
      </p:sp>
      <p:sp>
        <p:nvSpPr>
          <p:cNvPr id="8" name="Text 6"/>
          <p:cNvSpPr/>
          <p:nvPr/>
        </p:nvSpPr>
        <p:spPr>
          <a:xfrm>
            <a:off x="5166360" y="1783080"/>
            <a:ext cx="6263640" cy="749808"/>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Auditors start cloning their partner's cp10 tag right away</a:t>
            </a:r>
            <a:endParaRPr lang="en-US" sz="1600" dirty="0"/>
          </a:p>
        </p:txBody>
      </p:sp>
      <p:sp>
        <p:nvSpPr>
          <p:cNvPr id="9" name="Shape 7"/>
          <p:cNvSpPr/>
          <p:nvPr/>
        </p:nvSpPr>
        <p:spPr>
          <a:xfrm>
            <a:off x="548640" y="2651760"/>
            <a:ext cx="11064240" cy="749808"/>
          </a:xfrm>
          <a:prstGeom prst="roundRect">
            <a:avLst>
              <a:gd name="adj" fmla="val 10976"/>
            </a:avLst>
          </a:prstGeom>
          <a:solidFill>
            <a:srgbClr val="E4EEF1"/>
          </a:solidFill>
          <a:ln/>
          <a:effectLst>
            <a:outerShdw sx="100000" sy="100000" kx="0" ky="0" algn="bl" rotWithShape="0" blurRad="88900" dist="38100" dir="5400000">
              <a:srgbClr val="000000">
                <a:alpha val="13000"/>
              </a:srgbClr>
            </a:outerShdw>
          </a:effectLst>
        </p:spPr>
      </p:sp>
      <p:sp>
        <p:nvSpPr>
          <p:cNvPr id="10" name="Text 8"/>
          <p:cNvSpPr/>
          <p:nvPr/>
        </p:nvSpPr>
        <p:spPr>
          <a:xfrm>
            <a:off x="777240" y="2651760"/>
            <a:ext cx="1188720" cy="749808"/>
          </a:xfrm>
          <a:prstGeom prst="rect">
            <a:avLst/>
          </a:prstGeom>
          <a:noFill/>
          <a:ln/>
        </p:spPr>
        <p:txBody>
          <a:bodyPr wrap="square" lIns="0" tIns="0" rIns="0" bIns="0" rtlCol="0" anchor="ctr"/>
          <a:lstStyle/>
          <a:p>
            <a:pPr indent="0" marL="0">
              <a:buNone/>
            </a:pPr>
            <a:r>
              <a:rPr lang="en-US" sz="1700" b="1" dirty="0">
                <a:solidFill>
                  <a:srgbClr val="12908F"/>
                </a:solidFill>
                <a:latin typeface="Calibri" pitchFamily="34" charset="0"/>
                <a:ea typeface="Calibri" pitchFamily="34" charset="-122"/>
                <a:cs typeface="Calibri" pitchFamily="34" charset="-120"/>
              </a:rPr>
              <a:t>36 min</a:t>
            </a:r>
            <a:endParaRPr lang="en-US" sz="1700" dirty="0"/>
          </a:p>
        </p:txBody>
      </p:sp>
      <p:sp>
        <p:nvSpPr>
          <p:cNvPr id="11" name="Text 9"/>
          <p:cNvSpPr/>
          <p:nvPr/>
        </p:nvSpPr>
        <p:spPr>
          <a:xfrm>
            <a:off x="1965960" y="2651760"/>
            <a:ext cx="320040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Progress demos, whole room</a:t>
            </a:r>
            <a:endParaRPr lang="en-US" sz="1800" dirty="0"/>
          </a:p>
        </p:txBody>
      </p:sp>
      <p:sp>
        <p:nvSpPr>
          <p:cNvPr id="12" name="Text 10"/>
          <p:cNvSpPr/>
          <p:nvPr/>
        </p:nvSpPr>
        <p:spPr>
          <a:xfrm>
            <a:off x="5166360" y="2651760"/>
            <a:ext cx="6263640" cy="749808"/>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6 min each, 2 of questions, 1 to swap. Read ahead: the CP10 assignment and the Session 22 page.</a:t>
            </a:r>
            <a:endParaRPr lang="en-US" sz="1600" dirty="0"/>
          </a:p>
        </p:txBody>
      </p:sp>
      <p:sp>
        <p:nvSpPr>
          <p:cNvPr id="13" name="Shape 11"/>
          <p:cNvSpPr/>
          <p:nvPr/>
        </p:nvSpPr>
        <p:spPr>
          <a:xfrm>
            <a:off x="548640" y="3520440"/>
            <a:ext cx="11064240" cy="749808"/>
          </a:xfrm>
          <a:prstGeom prst="roundRect">
            <a:avLst>
              <a:gd name="adj" fmla="val 10976"/>
            </a:avLst>
          </a:prstGeom>
          <a:solidFill>
            <a:srgbClr val="E4EEF1"/>
          </a:solidFill>
          <a:ln/>
          <a:effectLst>
            <a:outerShdw sx="100000" sy="100000" kx="0" ky="0" algn="bl" rotWithShape="0" blurRad="88900" dist="38100" dir="5400000">
              <a:srgbClr val="000000">
                <a:alpha val="13000"/>
              </a:srgbClr>
            </a:outerShdw>
          </a:effectLst>
        </p:spPr>
      </p:sp>
      <p:sp>
        <p:nvSpPr>
          <p:cNvPr id="14" name="Text 12"/>
          <p:cNvSpPr/>
          <p:nvPr/>
        </p:nvSpPr>
        <p:spPr>
          <a:xfrm>
            <a:off x="777240" y="3520440"/>
            <a:ext cx="1188720" cy="749808"/>
          </a:xfrm>
          <a:prstGeom prst="rect">
            <a:avLst/>
          </a:prstGeom>
          <a:noFill/>
          <a:ln/>
        </p:spPr>
        <p:txBody>
          <a:bodyPr wrap="square" lIns="0" tIns="0" rIns="0" bIns="0" rtlCol="0" anchor="ctr"/>
          <a:lstStyle/>
          <a:p>
            <a:pPr indent="0" marL="0">
              <a:buNone/>
            </a:pPr>
            <a:r>
              <a:rPr lang="en-US" sz="1700" b="1" dirty="0">
                <a:solidFill>
                  <a:srgbClr val="12908F"/>
                </a:solidFill>
                <a:latin typeface="Calibri" pitchFamily="34" charset="0"/>
                <a:ea typeface="Calibri" pitchFamily="34" charset="-122"/>
                <a:cs typeface="Calibri" pitchFamily="34" charset="-120"/>
              </a:rPr>
              <a:t>30 min</a:t>
            </a:r>
            <a:endParaRPr lang="en-US" sz="1700" dirty="0"/>
          </a:p>
        </p:txBody>
      </p:sp>
      <p:sp>
        <p:nvSpPr>
          <p:cNvPr id="15" name="Text 13"/>
          <p:cNvSpPr/>
          <p:nvPr/>
        </p:nvSpPr>
        <p:spPr>
          <a:xfrm>
            <a:off x="1965960" y="3520440"/>
            <a:ext cx="320040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Repo audits</a:t>
            </a:r>
            <a:endParaRPr lang="en-US" sz="1800" dirty="0"/>
          </a:p>
        </p:txBody>
      </p:sp>
      <p:sp>
        <p:nvSpPr>
          <p:cNvPr id="16" name="Text 14"/>
          <p:cNvSpPr/>
          <p:nvPr/>
        </p:nvSpPr>
        <p:spPr>
          <a:xfrm>
            <a:off x="5166360" y="3520440"/>
            <a:ext cx="6263640" cy="749808"/>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Everyone at once: you audit your partner's repo while they audit yours.</a:t>
            </a:r>
            <a:endParaRPr lang="en-US" sz="1600" dirty="0"/>
          </a:p>
        </p:txBody>
      </p:sp>
      <p:sp>
        <p:nvSpPr>
          <p:cNvPr id="17" name="Shape 15"/>
          <p:cNvSpPr/>
          <p:nvPr/>
        </p:nvSpPr>
        <p:spPr>
          <a:xfrm>
            <a:off x="548640" y="438912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777240" y="4389120"/>
            <a:ext cx="1188720" cy="749808"/>
          </a:xfrm>
          <a:prstGeom prst="rect">
            <a:avLst/>
          </a:prstGeom>
          <a:noFill/>
          <a:ln/>
        </p:spPr>
        <p:txBody>
          <a:bodyPr wrap="square" lIns="0" tIns="0" rIns="0" bIns="0" rtlCol="0" anchor="ctr"/>
          <a:lstStyle/>
          <a:p>
            <a:pPr indent="0" marL="0">
              <a:buNone/>
            </a:pPr>
            <a:r>
              <a:rPr lang="en-US" sz="1700" b="1" dirty="0">
                <a:solidFill>
                  <a:srgbClr val="12908F"/>
                </a:solidFill>
                <a:latin typeface="Calibri" pitchFamily="34" charset="0"/>
                <a:ea typeface="Calibri" pitchFamily="34" charset="-122"/>
                <a:cs typeface="Calibri" pitchFamily="34" charset="-120"/>
              </a:rPr>
              <a:t>4 min</a:t>
            </a:r>
            <a:endParaRPr lang="en-US" sz="1700" dirty="0"/>
          </a:p>
        </p:txBody>
      </p:sp>
      <p:sp>
        <p:nvSpPr>
          <p:cNvPr id="19" name="Text 17"/>
          <p:cNvSpPr/>
          <p:nvPr/>
        </p:nvSpPr>
        <p:spPr>
          <a:xfrm>
            <a:off x="1965960" y="4389120"/>
            <a:ext cx="320040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Debrief</a:t>
            </a:r>
            <a:endParaRPr lang="en-US" sz="1800" dirty="0"/>
          </a:p>
        </p:txBody>
      </p:sp>
      <p:sp>
        <p:nvSpPr>
          <p:cNvPr id="20" name="Text 18"/>
          <p:cNvSpPr/>
          <p:nvPr/>
        </p:nvSpPr>
        <p:spPr>
          <a:xfrm>
            <a:off x="5166360" y="4389120"/>
            <a:ext cx="6263640" cy="749808"/>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Your audit sheet and demo feedback become a top-five fix list</a:t>
            </a:r>
            <a:endParaRPr lang="en-US" sz="1600" dirty="0"/>
          </a:p>
        </p:txBody>
      </p:sp>
      <p:sp>
        <p:nvSpPr>
          <p:cNvPr id="21" name="Shape 19"/>
          <p:cNvSpPr/>
          <p:nvPr/>
        </p:nvSpPr>
        <p:spPr>
          <a:xfrm>
            <a:off x="548640" y="5349240"/>
            <a:ext cx="11064240" cy="822960"/>
          </a:xfrm>
          <a:prstGeom prst="roundRect">
            <a:avLst>
              <a:gd name="adj" fmla="val 10000"/>
            </a:avLst>
          </a:prstGeom>
          <a:solidFill>
            <a:srgbClr val="14233A"/>
          </a:solidFill>
          <a:ln/>
          <a:effectLst>
            <a:outerShdw sx="100000" sy="100000" kx="0" ky="0" algn="bl" rotWithShape="0" blurRad="88900" dist="38100" dir="5400000">
              <a:srgbClr val="000000">
                <a:alpha val="13000"/>
              </a:srgbClr>
            </a:outerShdw>
          </a:effectLst>
        </p:spPr>
      </p:sp>
      <p:sp>
        <p:nvSpPr>
          <p:cNvPr id="22" name="Text 20"/>
          <p:cNvSpPr/>
          <p:nvPr/>
        </p:nvSpPr>
        <p:spPr>
          <a:xfrm>
            <a:off x="868680" y="5349240"/>
            <a:ext cx="10424160" cy="822960"/>
          </a:xfrm>
          <a:prstGeom prst="rect">
            <a:avLst/>
          </a:prstGeom>
          <a:noFill/>
          <a:ln/>
        </p:spPr>
        <p:txBody>
          <a:bodyPr wrap="square" lIns="0" tIns="0" rIns="0" bIns="0" rtlCol="0" anchor="ctr"/>
          <a:lstStyle/>
          <a:p>
            <a:pPr indent="0" marL="0">
              <a:buNone/>
            </a:pPr>
            <a:r>
              <a:rPr lang="en-US" sz="1800" b="1" dirty="0">
                <a:solidFill>
                  <a:srgbClr val="E8A33D"/>
                </a:solidFill>
                <a:latin typeface="Calibri" pitchFamily="34" charset="0"/>
                <a:ea typeface="Calibri" pitchFamily="34" charset="-122"/>
                <a:cs typeface="Calibri" pitchFamily="34" charset="-120"/>
              </a:rPr>
              <a:t>On the board now:  </a:t>
            </a:r>
            <a:pPr indent="0" marL="0">
              <a:buNone/>
            </a:pPr>
            <a:r>
              <a:rPr lang="en-US" sz="1800" dirty="0">
                <a:solidFill>
                  <a:srgbClr val="FFFFFF"/>
                </a:solidFill>
                <a:latin typeface="Calibri" pitchFamily="34" charset="0"/>
                <a:ea typeface="Calibri" pitchFamily="34" charset="-122"/>
                <a:cs typeface="Calibri" pitchFamily="34" charset="-120"/>
              </a:rPr>
              <a:t>the demo order. Audit pairings are set Wednesday, from who's here.</a:t>
            </a:r>
            <a:endParaRPr lang="en-US" sz="180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FREEZE BY TAG</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By 11:59 pm Tuesday, main becomes cp10</a:t>
            </a:r>
            <a:endParaRPr lang="en-US" sz="3100" dirty="0"/>
          </a:p>
        </p:txBody>
      </p:sp>
      <p:sp>
        <p:nvSpPr>
          <p:cNvPr id="5" name="Shape 3"/>
          <p:cNvSpPr/>
          <p:nvPr/>
        </p:nvSpPr>
        <p:spPr>
          <a:xfrm>
            <a:off x="548640" y="1783080"/>
            <a:ext cx="11064240" cy="1600200"/>
          </a:xfrm>
          <a:prstGeom prst="roundRect">
            <a:avLst>
              <a:gd name="adj" fmla="val 4571"/>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47672"/>
            <a:ext cx="10515600" cy="1271016"/>
          </a:xfrm>
          <a:prstGeom prst="rect">
            <a:avLst/>
          </a:prstGeom>
          <a:noFill/>
          <a:ln/>
        </p:spPr>
        <p:txBody>
          <a:bodyPr wrap="square" lIns="0" tIns="0" rIns="0" bIns="0" rtlCol="0" anchor="t"/>
          <a:lstStyle/>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 merge everything to main first</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switch main &amp;&amp; git pull</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tag -a cp10 -m "CP10: progress demo"</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push origin cp10</a:t>
            </a:r>
            <a:endParaRPr lang="en-US" sz="1500" dirty="0"/>
          </a:p>
        </p:txBody>
      </p:sp>
      <p:sp>
        <p:nvSpPr>
          <p:cNvPr id="7" name="Shape 5"/>
          <p:cNvSpPr/>
          <p:nvPr/>
        </p:nvSpPr>
        <p:spPr>
          <a:xfrm>
            <a:off x="548640" y="3611880"/>
            <a:ext cx="3566160" cy="1234440"/>
          </a:xfrm>
          <a:prstGeom prst="roundRect">
            <a:avLst>
              <a:gd name="adj" fmla="val 6667"/>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777240" y="3611880"/>
            <a:ext cx="3154680" cy="123444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Paste its URL in Canvas</a:t>
            </a:r>
            <a:endParaRPr lang="en-US" sz="1700" dirty="0"/>
          </a:p>
          <a:p>
            <a:pPr indent="0" marL="0">
              <a:buNone/>
            </a:pPr>
            <a:r>
              <a:rPr lang="en-US" sz="1500" dirty="0">
                <a:solidFill>
                  <a:srgbClr val="1E2A36"/>
                </a:solidFill>
                <a:latin typeface="Calibri" pitchFamily="34" charset="0"/>
                <a:ea typeface="Calibri" pitchFamily="34" charset="-122"/>
                <a:cs typeface="Calibri" pitchFamily="34" charset="-120"/>
              </a:rPr>
              <a:t>…/tree/cp10: the evidence for everything read from the repo</a:t>
            </a:r>
            <a:endParaRPr lang="en-US" sz="1700" dirty="0"/>
          </a:p>
        </p:txBody>
      </p:sp>
      <p:sp>
        <p:nvSpPr>
          <p:cNvPr id="9" name="Shape 7"/>
          <p:cNvSpPr/>
          <p:nvPr/>
        </p:nvSpPr>
        <p:spPr>
          <a:xfrm>
            <a:off x="4297680" y="3611880"/>
            <a:ext cx="3566160" cy="1234440"/>
          </a:xfrm>
          <a:prstGeom prst="roundRect">
            <a:avLst>
              <a:gd name="adj" fmla="val 6667"/>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4526280" y="3611880"/>
            <a:ext cx="3154680" cy="123444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Rehearse from the tag</a:t>
            </a:r>
            <a:endParaRPr lang="en-US" sz="1700" dirty="0"/>
          </a:p>
          <a:p>
            <a:pPr indent="0" marL="0">
              <a:buNone/>
            </a:pPr>
            <a:r>
              <a:rPr lang="en-US" sz="1500" dirty="0">
                <a:solidFill>
                  <a:srgbClr val="1E2A36"/>
                </a:solidFill>
                <a:latin typeface="Calibri" pitchFamily="34" charset="0"/>
                <a:ea typeface="Calibri" pitchFamily="34" charset="-122"/>
                <a:cs typeface="Calibri" pitchFamily="34" charset="-120"/>
              </a:rPr>
              <a:t>Once, fallback included, in a fresh clone of cp10</a:t>
            </a:r>
            <a:endParaRPr lang="en-US" sz="1700" dirty="0"/>
          </a:p>
        </p:txBody>
      </p:sp>
      <p:sp>
        <p:nvSpPr>
          <p:cNvPr id="11" name="Shape 9"/>
          <p:cNvSpPr/>
          <p:nvPr/>
        </p:nvSpPr>
        <p:spPr>
          <a:xfrm>
            <a:off x="8046720" y="3611880"/>
            <a:ext cx="3566160" cy="1234440"/>
          </a:xfrm>
          <a:prstGeom prst="roundRect">
            <a:avLst>
              <a:gd name="adj" fmla="val 6667"/>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8275320" y="3611880"/>
            <a:ext cx="3154680" cy="123444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Don't move it after midnight</a:t>
            </a:r>
            <a:endParaRPr lang="en-US" sz="1700" dirty="0"/>
          </a:p>
          <a:p>
            <a:pPr indent="0" marL="0">
              <a:buNone/>
            </a:pPr>
            <a:r>
              <a:rPr lang="en-US" sz="1500" dirty="0">
                <a:solidFill>
                  <a:srgbClr val="1E2A36"/>
                </a:solidFill>
                <a:latin typeface="Calibri" pitchFamily="34" charset="0"/>
                <a:ea typeface="Calibri" pitchFamily="34" charset="-122"/>
                <a:cs typeface="Calibri" pitchFamily="34" charset="-120"/>
              </a:rPr>
              <a:t>Keep working on main; it just isn't what's graded</a:t>
            </a:r>
            <a:endParaRPr lang="en-US" sz="1700" dirty="0"/>
          </a:p>
        </p:txBody>
      </p:sp>
      <p:sp>
        <p:nvSpPr>
          <p:cNvPr id="13" name="Shape 11"/>
          <p:cNvSpPr/>
          <p:nvPr/>
        </p:nvSpPr>
        <p:spPr>
          <a:xfrm>
            <a:off x="548640" y="5074920"/>
            <a:ext cx="11064240" cy="1051560"/>
          </a:xfrm>
          <a:prstGeom prst="roundRect">
            <a:avLst>
              <a:gd name="adj" fmla="val 7826"/>
            </a:avLst>
          </a:prstGeom>
          <a:solidFill>
            <a:srgbClr val="14233A"/>
          </a:solidFill>
          <a:ln/>
          <a:effectLst>
            <a:outerShdw sx="100000" sy="100000" kx="0" ky="0" algn="bl" rotWithShape="0" blurRad="88900" dist="38100" dir="5400000">
              <a:srgbClr val="000000">
                <a:alpha val="13000"/>
              </a:srgbClr>
            </a:outerShdw>
          </a:effectLst>
        </p:spPr>
      </p:sp>
      <p:sp>
        <p:nvSpPr>
          <p:cNvPr id="14" name="Text 12"/>
          <p:cNvSpPr/>
          <p:nvPr/>
        </p:nvSpPr>
        <p:spPr>
          <a:xfrm>
            <a:off x="868680" y="5074920"/>
            <a:ext cx="10424160" cy="105156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Why a tag: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the demo runs from it, the auditor clones it, and grading reads it, so all three see the same thing. It's how a project marks a release.</a:t>
            </a:r>
            <a:endParaRPr lang="en-US" sz="1700" dirty="0"/>
          </a:p>
        </p:txBody>
      </p:sp>
      <p:sp>
        <p:nvSpPr>
          <p:cNvPr id="15"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21 · Check-in &amp; Studio</a:t>
            </a:r>
            <a:endParaRPr lang="en-US" sz="1000" dirty="0"/>
          </a:p>
        </p:txBody>
      </p:sp>
      <p:sp>
        <p:nvSpPr>
          <p:cNvPr id="16"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91440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124255"/>
            <a:ext cx="357530" cy="357530"/>
          </a:xfrm>
          <a:prstGeom prst="rect">
            <a:avLst/>
          </a:prstGeom>
        </p:spPr>
      </p:pic>
      <p:sp>
        <p:nvSpPr>
          <p:cNvPr id="5" name="Text 2"/>
          <p:cNvSpPr/>
          <p:nvPr/>
        </p:nvSpPr>
        <p:spPr>
          <a:xfrm>
            <a:off x="822960" y="1828800"/>
            <a:ext cx="10881360" cy="960120"/>
          </a:xfrm>
          <a:prstGeom prst="rect">
            <a:avLst/>
          </a:prstGeom>
          <a:noFill/>
          <a:ln/>
        </p:spPr>
        <p:txBody>
          <a:bodyPr wrap="square" lIns="0" tIns="0" rIns="0" bIns="0" rtlCol="0" anchor="ctr"/>
          <a:lstStyle/>
          <a:p>
            <a:pPr indent="0" marL="0">
              <a:lnSpc>
                <a:spcPct val="106000"/>
              </a:lnSpc>
              <a:buNone/>
            </a:pPr>
            <a:r>
              <a:rPr lang="en-US" sz="2500" b="1" i="1" dirty="0">
                <a:solidFill>
                  <a:srgbClr val="FFFFFF"/>
                </a:solidFill>
                <a:latin typeface="Cambria" pitchFamily="34" charset="0"/>
                <a:ea typeface="Cambria" pitchFamily="34" charset="-122"/>
                <a:cs typeface="Cambria" pitchFamily="34" charset="-120"/>
              </a:rPr>
              <a:t>Cut now, while it's a choice. Wednesday morning it's a failure.</a:t>
            </a:r>
            <a:endParaRPr lang="en-US" sz="2500" dirty="0"/>
          </a:p>
        </p:txBody>
      </p:sp>
      <p:sp>
        <p:nvSpPr>
          <p:cNvPr id="6" name="Text 3"/>
          <p:cNvSpPr/>
          <p:nvPr/>
        </p:nvSpPr>
        <p:spPr>
          <a:xfrm>
            <a:off x="841248" y="297180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a:t>
            </a:r>
            <a:endParaRPr lang="en-US" sz="1400" dirty="0"/>
          </a:p>
        </p:txBody>
      </p:sp>
      <p:sp>
        <p:nvSpPr>
          <p:cNvPr id="7" name="Text 4"/>
          <p:cNvSpPr/>
          <p:nvPr/>
        </p:nvSpPr>
        <p:spPr>
          <a:xfrm>
            <a:off x="868680" y="3364992"/>
            <a:ext cx="10698480" cy="192024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Finish the slice; amend the MVP Plan for any cut you made today</a:t>
            </a:r>
            <a:endParaRPr lang="en-US" sz="1700" dirty="0"/>
          </a:p>
          <a:p>
            <a:pPr marL="203200" indent="-203200">
              <a:spcAft>
                <a:spcPts val="700"/>
              </a:spcAft>
              <a:buSzPct val="100000"/>
              <a:buChar char="•"/>
            </a:pPr>
            <a:r>
              <a:rPr lang="en-US" sz="1700" b="1" dirty="0">
                <a:solidFill>
                  <a:srgbClr val="FFFFFF"/>
                </a:solidFill>
                <a:latin typeface="Calibri" pitchFamily="34" charset="0"/>
                <a:ea typeface="Calibri" pitchFamily="34" charset="-122"/>
                <a:cs typeface="Calibri" pitchFamily="34" charset="-120"/>
              </a:rPr>
              <a:t>Tag cp10 and push it by 11:59 pm Tuesday; paste its URL in Canvas</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Rehearse the demo once from a fresh clone of the tag, fallback included</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Read the audit sheet, and submit CP9 before class</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Wednesday, Nov 18: CP10 demo + repo audit, live. CP9 due before class.</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21 · Check-in &amp; Studio</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21 — Check-in &amp; Studio</dc:title>
  <dc:subject>PptxGenJS Presentation</dc:subject>
  <dc:creator>CS 301R</dc:creator>
  <cp:lastModifiedBy>CS 301R</cp:lastModifiedBy>
  <cp:revision>1</cp:revision>
  <dcterms:created xsi:type="dcterms:W3CDTF">2026-10-30T23:22:35Z</dcterms:created>
  <dcterms:modified xsi:type="dcterms:W3CDTF">2026-10-30T23:22:35Z</dcterms:modified>
</cp:coreProperties>
</file>