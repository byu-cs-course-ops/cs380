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Keep intros light. Set the promise: by finals you'll have founded and launched a real project others want to help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the hook. Name 2-3 examples aloud, then land the turn: '…and this semester, that's you — maybe with a teammate.'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four, so you can dwell on each. Note each attracted collaborators fast — that's the arc this course puts them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reframe. Contributor/founder contrast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right column IS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destination every later assignment points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them: discovery is individual (Wks 1-5), teams form at the Week-5 pitch, then design/build/launch. It all lands on one demo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Segment 3 showed the artifact; this shows the capabilities. Spotlight technical communication as the through-line — the outcome students most underrate.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brief and authentic. Gospel / eternal-perspective framing comes from live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~2 each. The clone connects to the design prereq — frame gently, let it surface organically.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real-need and richness. Note solo/smaller scope allowed. Preview Value vs. Do-ability for Week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the move live: take a too-small or too-big idea and reshape it against the criteria.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users are the ideal; documented persona/proxy is an accepted substitute this iteration (Week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Pose each as 'what would you do?' for ~30s before revealing the call. Setup → the tension → the lesson. Reserve: serving the user, not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Flesh out the rhythm: Monday teaches, Wednesday does. The draft→review→revise→build→reflect loop is the engine of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They've done no reading — this is their first exposure. Keep it to the four stage names + one line each. Sets up the CPS→phases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emphasis. The research hook motivates deferring judgment. Full CPS + egg-drop exercise come Sep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four stages are familiar, this mapping lands. The Week-5 pitch is the hinge.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Fill the placeholder card with your actual syllabus items before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Kick off a short discussion of the idea journal — what it is and why it matters. Refer them to the full Idea-Journal handout for prompts and how to use it. The in-class activity that starts the journal is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 first (protects individual generation). 3 minutes silent. Then collect a few aloud with pure acceptance — no evaluating — to model deferring judgment. Don't collect or grade; the list becomes journal entry #1. A taste of the Sep 9 divergent workshop.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one big idea. Point them to the two handouts (CP1 Idea Briefs + Idea Journal) and the two readings (CPS handbook excerpt + Hales, 'Channeling Your Creativity'). Flag the shift: from here on, sessions expect pre-reading.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4663440"/>
            <a:ext cx="2743200" cy="274320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606144"/>
            <a:ext cx="399593" cy="3995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514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SOFTWARE ENGINEERING STUDIO I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Founding an Open-Source Project</a:t>
            </a:r>
            <a:endParaRPr lang="en-US" sz="5000" dirty="0"/>
          </a:p>
        </p:txBody>
      </p:sp>
      <p:sp>
        <p:nvSpPr>
          <p:cNvPr id="8" name="Text 5"/>
          <p:cNvSpPr/>
          <p:nvPr/>
        </p:nvSpPr>
        <p:spPr>
          <a:xfrm>
            <a:off x="841248" y="4160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— Course Launch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September 2, 2026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1828800"/>
            <a:ext cx="10332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Nearly every big open-source project you rely on started as one or two people deciding a problem was worth solving.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914400" y="43434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semester, that's you.</a:t>
            </a:r>
            <a:endParaRPr lang="en-US" sz="3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STARTS WITH ONE OR TWO PEOPLE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all began as somebody's decision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</a:t>
            </a:r>
            <a:endParaRPr lang="en-US" sz="2050" dirty="0"/>
          </a:p>
        </p:txBody>
      </p:sp>
      <p:sp>
        <p:nvSpPr>
          <p:cNvPr id="7" name="Text 5"/>
          <p:cNvSpPr/>
          <p:nvPr/>
        </p:nvSpPr>
        <p:spPr>
          <a:xfrm>
            <a:off x="777240" y="2432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 · 1991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7066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itch: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Unix-like kernel for his own PC — "just a hobby."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most of the internet, all Android phones, and the world's supercomputers.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92024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2057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2050" dirty="0"/>
          </a:p>
        </p:txBody>
      </p:sp>
      <p:sp>
        <p:nvSpPr>
          <p:cNvPr id="12" name="Text 10"/>
          <p:cNvSpPr/>
          <p:nvPr/>
        </p:nvSpPr>
        <p:spPr>
          <a:xfrm>
            <a:off x="6446520" y="243230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van Rossum · 1989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446520" y="270662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itch: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holiday side project: a language he'd actually enjoy using.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46520" y="31729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top-tier language powering the web, data science, and most of modern AI.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 Studio</a:t>
            </a:r>
            <a:endParaRPr lang="en-US" sz="2050" dirty="0"/>
          </a:p>
        </p:txBody>
      </p:sp>
      <p:sp>
        <p:nvSpPr>
          <p:cNvPr id="17" name="Text 15"/>
          <p:cNvSpPr/>
          <p:nvPr/>
        </p:nvSpPr>
        <p:spPr>
          <a:xfrm>
            <a:off x="777240" y="4443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Hugh "Jim" Bailey · 2012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471830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itch: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way to record and stream video.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5184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essentially every streamer and screen-recorder uses.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3931920"/>
            <a:ext cx="5394960" cy="1828800"/>
          </a:xfrm>
          <a:prstGeom prst="roundRect">
            <a:avLst>
              <a:gd name="adj" fmla="val 45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2050" dirty="0"/>
          </a:p>
        </p:txBody>
      </p:sp>
      <p:sp>
        <p:nvSpPr>
          <p:cNvPr id="22" name="Text 20"/>
          <p:cNvSpPr/>
          <p:nvPr/>
        </p:nvSpPr>
        <p:spPr>
          <a:xfrm>
            <a:off x="6446520" y="4443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Widenius &amp; Axmark · 1995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46520" y="471830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itch: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fast, free relational database when the options were costly or slow.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46520" y="5184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most widely used databases in the world.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shows the pattern that matters most for you: </a:t>
            </a:r>
            <a:pPr algn="ctr" indent="0" marL="0">
              <a:buNone/>
            </a:pPr>
            <a:r>
              <a:rPr lang="en-US" sz="1550" b="1" i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founders with a shared itch — the shape your teams will be.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COURSE IS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building assignments → to founding a project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7955280" cy="914400"/>
          </a:xfrm>
          <a:prstGeom prst="roundRect">
            <a:avLst>
              <a:gd name="adj" fmla="val 9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93976"/>
            <a:ext cx="475488" cy="47548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2222358"/>
            <a:ext cx="218724" cy="2187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00253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problem worth solving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463040" y="2331720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courses hand you the problem. Here you go looking for a real one.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7955280" cy="914400"/>
          </a:xfrm>
          <a:prstGeom prst="roundRect">
            <a:avLst>
              <a:gd name="adj" fmla="val 9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45536"/>
            <a:ext cx="475488" cy="47548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22" y="3273918"/>
            <a:ext cx="218724" cy="2187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305409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it's worth solving</a:t>
            </a:r>
            <a:endParaRPr lang="en-US" sz="1850" dirty="0"/>
          </a:p>
        </p:txBody>
      </p:sp>
      <p:sp>
        <p:nvSpPr>
          <p:cNvPr id="14" name="Text 10"/>
          <p:cNvSpPr/>
          <p:nvPr/>
        </p:nvSpPr>
        <p:spPr>
          <a:xfrm>
            <a:off x="1463040" y="3383280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there's a real need, a real user, and a feasible path.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548640" y="3977640"/>
            <a:ext cx="7955280" cy="914400"/>
          </a:xfrm>
          <a:prstGeom prst="roundRect">
            <a:avLst>
              <a:gd name="adj" fmla="val 9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197096"/>
            <a:ext cx="475488" cy="47548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4325478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63040" y="4105656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 a foundation others build on</a:t>
            </a:r>
            <a:endParaRPr lang="en-US" sz="1850" dirty="0"/>
          </a:p>
        </p:txBody>
      </p:sp>
      <p:sp>
        <p:nvSpPr>
          <p:cNvPr id="19" name="Text 14"/>
          <p:cNvSpPr/>
          <p:nvPr/>
        </p:nvSpPr>
        <p:spPr>
          <a:xfrm>
            <a:off x="1463040" y="4434840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code — the docs, norms, and on-ramps a project needs to grow.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8732520" y="1874520"/>
            <a:ext cx="2880360" cy="2971800"/>
          </a:xfrm>
          <a:prstGeom prst="roundRect">
            <a:avLst>
              <a:gd name="adj" fmla="val 2857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829800" y="2286000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4966" y="2471166"/>
            <a:ext cx="315468" cy="31546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961120" y="310896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the founder / maintainer</a:t>
            </a:r>
            <a:endParaRPr lang="en-US" sz="2150" dirty="0"/>
          </a:p>
        </p:txBody>
      </p:sp>
      <p:sp>
        <p:nvSpPr>
          <p:cNvPr id="24" name="Text 18"/>
          <p:cNvSpPr/>
          <p:nvPr/>
        </p:nvSpPr>
        <p:spPr>
          <a:xfrm>
            <a:off x="8961120" y="402336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AEC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understand the need, make the calls, write the norms, and open the doors.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WE'RE AFTER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Contributor vs. Founder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7548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728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 ·  YOU, THIS COURSE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F72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Picks up an existing issue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and prove a problem worth solving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users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F72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known to the maintainers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discover who they are &amp; what they need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F72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within maintainers' direction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and defend architecture, scope, tech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F72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 and follow the norms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the norms (license, CONTRIBUTING, CoC)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contributors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F72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newcomer being welcomed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on-ramps that welcome newcomers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 looks like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5F72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merged pull request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launched project people want to help build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disparage the contributor role — it's valuable. Founding just demands an extra set of muscles.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culminating experience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63624" y="21214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446" y="2294230"/>
            <a:ext cx="294437" cy="29443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4944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MVP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13232" y="342900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vertical slice that proves the project's core viability.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346704" y="187452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61688" y="21214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4510" y="2294230"/>
            <a:ext cx="294437" cy="29443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93008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Open-source-ready repo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511296" y="342900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License, governance, onboarding — ready for contributors.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44768" y="187452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59752" y="21214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574" y="2294230"/>
            <a:ext cx="294437" cy="29443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91072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Onboarding Package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309360" y="342900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Roadmap, known issues, architecture — so others can join.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8942832" y="1874520"/>
            <a:ext cx="2670048" cy="2286000"/>
          </a:xfrm>
          <a:prstGeom prst="roundRect">
            <a:avLst>
              <a:gd name="adj" fmla="val 36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957816" y="21214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638" y="2294230"/>
            <a:ext cx="294437" cy="29443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89136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pitch + demo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9107424" y="342900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demo day — capstone faculty invited.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548640" y="452628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822960" y="452628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distinguishes a passing student is not strong code alone — but a </a:t>
            </a:r>
            <a:pPr algn="ctr"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founded, defensible, contributor-ready project.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today to Demo Day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assignment is a step toward one public demo.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371600" y="3383280"/>
            <a:ext cx="9966960" cy="0"/>
          </a:xfrm>
          <a:prstGeom prst="line">
            <a:avLst/>
          </a:prstGeom>
          <a:noFill/>
          <a:ln w="31750">
            <a:solidFill>
              <a:srgbClr val="1290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6152" y="3227832"/>
            <a:ext cx="310896" cy="310896"/>
          </a:xfrm>
          <a:prstGeom prst="ellipse">
            <a:avLst/>
          </a:prstGeom>
          <a:solidFill>
            <a:srgbClr val="1290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11480" y="3703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09544" y="3227832"/>
            <a:ext cx="310896" cy="310896"/>
          </a:xfrm>
          <a:prstGeom prst="ellipse">
            <a:avLst/>
          </a:prstGeom>
          <a:solidFill>
            <a:srgbClr val="1290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04872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1–3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404872" y="3703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— Idea Briefs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202936" y="3227832"/>
            <a:ext cx="310896" cy="310896"/>
          </a:xfrm>
          <a:prstGeom prst="ellipse">
            <a:avLst/>
          </a:prstGeom>
          <a:solidFill>
            <a:srgbClr val="1290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98264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398264" y="3703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&amp; form teams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7196328" y="3227832"/>
            <a:ext cx="310896" cy="310896"/>
          </a:xfrm>
          <a:prstGeom prst="ellipse">
            <a:avLst/>
          </a:prstGeom>
          <a:solidFill>
            <a:srgbClr val="1290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91656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6–8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91656" y="3703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found the repo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89720" y="3227832"/>
            <a:ext cx="310896" cy="310896"/>
          </a:xfrm>
          <a:prstGeom prst="ellipse">
            <a:avLst/>
          </a:prstGeom>
          <a:solidFill>
            <a:srgbClr val="1290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85048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Wks 9–12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385048" y="3703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MVP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11109960" y="3154680"/>
            <a:ext cx="457200" cy="457200"/>
          </a:xfrm>
          <a:prstGeom prst="ellipse">
            <a:avLst/>
          </a:prstGeom>
          <a:solidFill>
            <a:srgbClr val="E8A3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78440" y="2331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0378440" y="37033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Demo Day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11082528" y="4617720"/>
            <a:ext cx="512064" cy="512064"/>
          </a:xfrm>
          <a:prstGeom prst="ellipse">
            <a:avLst/>
          </a:prstGeom>
          <a:solidFill>
            <a:srgbClr val="14233A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0785" y="4755977"/>
            <a:ext cx="235549" cy="235549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BE ABLE TO 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the course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929384"/>
            <a:ext cx="502920" cy="50292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588" y="2065172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87452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 real need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417320" y="221284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real user; articulate the problem and success criteria.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2752344"/>
            <a:ext cx="502920" cy="50292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588" y="2888132"/>
            <a:ext cx="231343" cy="231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69748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feasibility &amp; scope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417320" y="303580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risk and breadth; cut an ambitious vision to a one-semester MVP.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" y="3575304"/>
            <a:ext cx="502920" cy="50292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88" y="3711092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52044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system &amp; the project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417320" y="385876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data, interfaces, and the technology choices behind them.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685800" y="4398264"/>
            <a:ext cx="502920" cy="50292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588" y="4534052"/>
            <a:ext cx="231343" cy="23134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434340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&amp; build it in the open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417320" y="468172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License, governance, git workflows, and a working MVP others can join.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5129784"/>
            <a:ext cx="7040880" cy="749808"/>
          </a:xfrm>
          <a:prstGeom prst="roundRect">
            <a:avLst>
              <a:gd name="adj" fmla="val 10976"/>
            </a:avLst>
          </a:prstGeom>
          <a:solidFill>
            <a:srgbClr val="FCF3E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5221224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588" y="5357012"/>
            <a:ext cx="231343" cy="23134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417320" y="5166360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it — persuasively &amp; precisely</a:t>
            </a:r>
            <a:endParaRPr lang="en-US" sz="1700" dirty="0"/>
          </a:p>
        </p:txBody>
      </p:sp>
      <p:sp>
        <p:nvSpPr>
          <p:cNvPr id="25" name="Text 18"/>
          <p:cNvSpPr/>
          <p:nvPr/>
        </p:nvSpPr>
        <p:spPr>
          <a:xfrm>
            <a:off x="1417320" y="5504688"/>
            <a:ext cx="6080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Proposals, pitches, design docs, issues, PRs, reviews, launch docs.</a:t>
            </a:r>
            <a:endParaRPr lang="en-US" sz="1400" dirty="0"/>
          </a:p>
        </p:txBody>
      </p:sp>
      <p:sp>
        <p:nvSpPr>
          <p:cNvPr id="26" name="Shape 19"/>
          <p:cNvSpPr/>
          <p:nvPr/>
        </p:nvSpPr>
        <p:spPr>
          <a:xfrm>
            <a:off x="7772400" y="1828800"/>
            <a:ext cx="3840480" cy="4160520"/>
          </a:xfrm>
          <a:prstGeom prst="roundRect">
            <a:avLst>
              <a:gd name="adj" fmla="val 2143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8046720" y="210312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853" y="2251253"/>
            <a:ext cx="252374" cy="25237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8732520" y="21214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through-line: technical communication</a:t>
            </a:r>
            <a:endParaRPr lang="en-US" sz="1700" dirty="0"/>
          </a:p>
        </p:txBody>
      </p:sp>
      <p:sp>
        <p:nvSpPr>
          <p:cNvPr id="30" name="Text 22"/>
          <p:cNvSpPr/>
          <p:nvPr/>
        </p:nvSpPr>
        <p:spPr>
          <a:xfrm>
            <a:off x="8001000" y="2697480"/>
            <a:ext cx="34290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you produce here is an act of technical communication — the proposal, the pitch, the design doc, the issues, the PRs, the reviews, the launch docs.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3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treat writing and reviewing clearly as core engineering work, not a soft skill — you'll do more of it than writing fresh code.</a:t>
            </a:r>
            <a:endParaRPr lang="en-US" sz="1300" dirty="0"/>
          </a:p>
        </p:txBody>
      </p:sp>
      <p:sp>
        <p:nvSpPr>
          <p:cNvPr id="31" name="Text 23"/>
          <p:cNvSpPr/>
          <p:nvPr/>
        </p:nvSpPr>
        <p:spPr>
          <a:xfrm>
            <a:off x="548640" y="60807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course outcomes — what you'll do by end of term — distinct from today's session objectives.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FITS A BYU EDUCATION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Skill, put to work, in service of others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151" y="1981871"/>
            <a:ext cx="260787" cy="2607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4708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real need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371600" y="21762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for real people, not a toy.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40080" y="2724912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51" y="2877983"/>
            <a:ext cx="260787" cy="26078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743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yourself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371600" y="307238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you don't yet know — the habit of a lifetime.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40080" y="3621024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51" y="3774095"/>
            <a:ext cx="260787" cy="26078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71600" y="363931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with integrity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1371600" y="396849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 users, teammates, and those who join you.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40080" y="4517136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51" y="4670207"/>
            <a:ext cx="260787" cy="26078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4535424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work of consequence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1371600" y="486460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real, that lasts, that others build on.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7955280" y="1828800"/>
            <a:ext cx="365760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8183880" y="2057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C's this course leans on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8321040" y="2651760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AF3F2"/>
          </a:solidFill>
          <a:ln/>
        </p:spPr>
      </p:sp>
      <p:sp>
        <p:nvSpPr>
          <p:cNvPr id="24" name="Text 18"/>
          <p:cNvSpPr/>
          <p:nvPr/>
        </p:nvSpPr>
        <p:spPr>
          <a:xfrm>
            <a:off x="8321040" y="26517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Curious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8321040" y="3172968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AF3F2"/>
          </a:solidFill>
          <a:ln/>
        </p:spPr>
      </p:sp>
      <p:sp>
        <p:nvSpPr>
          <p:cNvPr id="26" name="Text 20"/>
          <p:cNvSpPr/>
          <p:nvPr/>
        </p:nvSpPr>
        <p:spPr>
          <a:xfrm>
            <a:off x="8321040" y="31729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Christlike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8321040" y="3694176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AF3F2"/>
          </a:solidFill>
          <a:ln/>
        </p:spPr>
      </p:sp>
      <p:sp>
        <p:nvSpPr>
          <p:cNvPr id="28" name="Text 22"/>
          <p:cNvSpPr/>
          <p:nvPr/>
        </p:nvSpPr>
        <p:spPr>
          <a:xfrm>
            <a:off x="8321040" y="3694176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</a:t>
            </a:r>
            <a:endParaRPr lang="en-US" sz="1600" dirty="0"/>
          </a:p>
        </p:txBody>
      </p:sp>
      <p:sp>
        <p:nvSpPr>
          <p:cNvPr id="29" name="Shape 23"/>
          <p:cNvSpPr/>
          <p:nvPr/>
        </p:nvSpPr>
        <p:spPr>
          <a:xfrm>
            <a:off x="8321040" y="4215384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AF3F2"/>
          </a:solidFill>
          <a:ln/>
        </p:spPr>
      </p:sp>
      <p:sp>
        <p:nvSpPr>
          <p:cNvPr id="30" name="Text 24"/>
          <p:cNvSpPr/>
          <p:nvPr/>
        </p:nvSpPr>
        <p:spPr>
          <a:xfrm>
            <a:off x="8321040" y="4215384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8321040" y="4736592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AF3F2"/>
          </a:solidFill>
          <a:ln/>
        </p:spPr>
      </p:sp>
      <p:sp>
        <p:nvSpPr>
          <p:cNvPr id="32" name="Text 26"/>
          <p:cNvSpPr/>
          <p:nvPr/>
        </p:nvSpPr>
        <p:spPr>
          <a:xfrm>
            <a:off x="8321040" y="4736592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34" name="Text 28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VS. WEAK PROJECT IDEAS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it survive a semester? Could a team grow into it? Does anyone need it?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548640" cy="548640"/>
          </a:xfrm>
          <a:prstGeom prst="ellipse">
            <a:avLst/>
          </a:prstGeom>
          <a:solidFill>
            <a:srgbClr val="3E9C6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360981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E9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resource reservation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68680" y="333756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rooms, lab gear, makerspace. Real reachable users; rich; clear one-semester MVP; extensible.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868680" y="4297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Volunteer / shift coordination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868680" y="46634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nonprofit or a ward activity. Service-oriented; roles, scheduling, reminders, reporting.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217920" y="1965960"/>
            <a:ext cx="5394960" cy="3794760"/>
          </a:xfrm>
          <a:prstGeom prst="roundRect">
            <a:avLst>
              <a:gd name="adj" fmla="val 2169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92240" y="2212848"/>
            <a:ext cx="548640" cy="548640"/>
          </a:xfrm>
          <a:prstGeom prst="ellipse">
            <a:avLst/>
          </a:prstGeom>
          <a:solidFill>
            <a:srgbClr val="D9614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373" y="2360981"/>
            <a:ext cx="252374" cy="25237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2286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D961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950" dirty="0"/>
          </a:p>
        </p:txBody>
      </p:sp>
      <p:sp>
        <p:nvSpPr>
          <p:cNvPr id="17" name="Text 13"/>
          <p:cNvSpPr/>
          <p:nvPr/>
        </p:nvSpPr>
        <p:spPr>
          <a:xfrm>
            <a:off x="6537960" y="2971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to-do / habit tracker</a:t>
            </a:r>
            <a:endParaRPr lang="en-US" sz="1750" dirty="0"/>
          </a:p>
        </p:txBody>
      </p:sp>
      <p:sp>
        <p:nvSpPr>
          <p:cNvPr id="18" name="Text 14"/>
          <p:cNvSpPr/>
          <p:nvPr/>
        </p:nvSpPr>
        <p:spPr>
          <a:xfrm>
            <a:off x="6537960" y="333756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unmet need, no external users, low richness.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537960" y="42976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clone of a major app (Twitter, Spotify)</a:t>
            </a:r>
            <a:endParaRPr lang="en-US" sz="1750" dirty="0"/>
          </a:p>
        </p:txBody>
      </p:sp>
      <p:sp>
        <p:nvSpPr>
          <p:cNvPr id="20" name="Text 16"/>
          <p:cNvSpPr/>
          <p:nvPr/>
        </p:nvSpPr>
        <p:spPr>
          <a:xfrm>
            <a:off x="6537960" y="4663440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learning — which is why design courses build them — but not founding: the need is already met.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SHARED YARDSTICK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selecting for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648" y="1942368"/>
            <a:ext cx="193487" cy="19348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82880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a real need for a real, reachable userbase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640080" y="2432304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48" y="2545872"/>
            <a:ext cx="193487" cy="19348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43230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 / broad — exercises many engineering dimensions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640080" y="3035808"/>
            <a:ext cx="420624" cy="42062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48" y="3149376"/>
            <a:ext cx="193487" cy="19348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3035808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Open-source-worthy</a:t>
            </a:r>
            <a:endParaRPr lang="en-US" sz="1750" dirty="0"/>
          </a:p>
        </p:txBody>
      </p:sp>
      <p:sp>
        <p:nvSpPr>
          <p:cNvPr id="14" name="Shape 9"/>
          <p:cNvSpPr/>
          <p:nvPr/>
        </p:nvSpPr>
        <p:spPr>
          <a:xfrm>
            <a:off x="640080" y="3639312"/>
            <a:ext cx="420624" cy="42062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648" y="3752880"/>
            <a:ext cx="193487" cy="19348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80160" y="3639312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one-semester MVP (~10 hrs/week)</a:t>
            </a:r>
            <a:endParaRPr lang="en-US" sz="1750" dirty="0"/>
          </a:p>
        </p:txBody>
      </p:sp>
      <p:sp>
        <p:nvSpPr>
          <p:cNvPr id="17" name="Shape 11"/>
          <p:cNvSpPr/>
          <p:nvPr/>
        </p:nvSpPr>
        <p:spPr>
          <a:xfrm>
            <a:off x="640080" y="4242816"/>
            <a:ext cx="420624" cy="42062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648" y="4356384"/>
            <a:ext cx="193487" cy="193487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280160" y="4242816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</a:t>
            </a:r>
            <a:endParaRPr lang="en-US" sz="1750" dirty="0"/>
          </a:p>
        </p:txBody>
      </p:sp>
      <p:sp>
        <p:nvSpPr>
          <p:cNvPr id="20" name="Shape 13"/>
          <p:cNvSpPr/>
          <p:nvPr/>
        </p:nvSpPr>
        <p:spPr>
          <a:xfrm>
            <a:off x="640080" y="4846320"/>
            <a:ext cx="420624" cy="42062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48" y="4959888"/>
            <a:ext cx="193487" cy="193487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280160" y="484632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Tractable stack — complexity only where it earns its keep</a:t>
            </a:r>
            <a:endParaRPr lang="en-US" sz="1750" dirty="0"/>
          </a:p>
        </p:txBody>
      </p:sp>
      <p:sp>
        <p:nvSpPr>
          <p:cNvPr id="23" name="Shape 15"/>
          <p:cNvSpPr/>
          <p:nvPr/>
        </p:nvSpPr>
        <p:spPr>
          <a:xfrm>
            <a:off x="640080" y="5449824"/>
            <a:ext cx="420624" cy="42062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648" y="5563392"/>
            <a:ext cx="193487" cy="193487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1280160" y="5449824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to grow — others can join and build on it</a:t>
            </a:r>
            <a:endParaRPr lang="en-US" sz="1750" dirty="0"/>
          </a:p>
        </p:txBody>
      </p:sp>
      <p:sp>
        <p:nvSpPr>
          <p:cNvPr id="26" name="Shape 17"/>
          <p:cNvSpPr/>
          <p:nvPr/>
        </p:nvSpPr>
        <p:spPr>
          <a:xfrm>
            <a:off x="8869680" y="1828800"/>
            <a:ext cx="2743200" cy="3657600"/>
          </a:xfrm>
          <a:prstGeom prst="roundRect">
            <a:avLst>
              <a:gd name="adj" fmla="val 3000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9829800" y="214884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1999" y="2371039"/>
            <a:ext cx="378562" cy="378562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905256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north star</a:t>
            </a:r>
            <a:endParaRPr lang="en-US" sz="1950" dirty="0"/>
          </a:p>
        </p:txBody>
      </p:sp>
      <p:sp>
        <p:nvSpPr>
          <p:cNvPr id="30" name="Text 20"/>
          <p:cNvSpPr/>
          <p:nvPr/>
        </p:nvSpPr>
        <p:spPr>
          <a:xfrm>
            <a:off x="9052560" y="35204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EC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starred criteria — real need and richness — are the ones students most often miss.</a:t>
            </a:r>
            <a:endParaRPr lang="en-US" sz="1500" dirty="0"/>
          </a:p>
        </p:txBody>
      </p:sp>
      <p:sp>
        <p:nvSpPr>
          <p:cNvPr id="31" name="Text 21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32" name="Text 22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IN ACTION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Reshape a weak idea until it passes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1168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D961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to-do app"</a:t>
            </a:r>
            <a:endParaRPr lang="en-US" sz="19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468880"/>
            <a:ext cx="50292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0560" y="2011680"/>
            <a:ext cx="7132320" cy="1371600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709160" y="219456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task board for one specific volunteer group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709160" y="2670048"/>
            <a:ext cx="6720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assignments and reminders. Same domain — now real users and real richness.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BECE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37947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D961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new social network"</a:t>
            </a:r>
            <a:endParaRPr lang="en-US" sz="19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4251960"/>
            <a:ext cx="502920" cy="457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480560" y="3794760"/>
            <a:ext cx="7132320" cy="1371600"/>
          </a:xfrm>
          <a:prstGeom prst="roundRect">
            <a:avLst>
              <a:gd name="adj" fmla="val 6000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4709160" y="3977640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focused coordination tool for a single community</a:t>
            </a:r>
            <a:endParaRPr lang="en-US" sz="1850" dirty="0"/>
          </a:p>
        </p:txBody>
      </p:sp>
      <p:sp>
        <p:nvSpPr>
          <p:cNvPr id="16" name="Text 12"/>
          <p:cNvSpPr/>
          <p:nvPr/>
        </p:nvSpPr>
        <p:spPr>
          <a:xfrm>
            <a:off x="4709160" y="4453128"/>
            <a:ext cx="6720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club, one ward, one lab. The unbuildable version becomes a tractable vertical slice.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convergence move they'll make for real in the Week-3 workshop.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FOUNDER / MAINTAINER MINDSET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founder owns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670048" cy="2148840"/>
          </a:xfrm>
          <a:prstGeom prst="roundRect">
            <a:avLst>
              <a:gd name="adj" fmla="val 383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10312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311" y="2256191"/>
            <a:ext cx="260787" cy="260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7889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need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31546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deeply enough to speak for it.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3346704" y="1874520"/>
            <a:ext cx="2670048" cy="2148840"/>
          </a:xfrm>
          <a:prstGeom prst="roundRect">
            <a:avLst>
              <a:gd name="adj" fmla="val 383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75304" y="210312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75" y="2256191"/>
            <a:ext cx="260787" cy="26078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9584" y="27889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529584" y="31546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and defended — architecture, scope, stack.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6144768" y="1874520"/>
            <a:ext cx="2670048" cy="2148840"/>
          </a:xfrm>
          <a:prstGeom prst="roundRect">
            <a:avLst>
              <a:gd name="adj" fmla="val 383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73368" y="210312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6439" y="2256191"/>
            <a:ext cx="260787" cy="2607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27648" y="27889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pathways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6327648" y="31546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On-ramps that turn strangers into contributors.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8942832" y="1874520"/>
            <a:ext cx="2670048" cy="2148840"/>
          </a:xfrm>
          <a:prstGeom prst="roundRect">
            <a:avLst>
              <a:gd name="adj" fmla="val 383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71432" y="210312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4503" y="2256191"/>
            <a:ext cx="260787" cy="260787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25712" y="278892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norms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9125712" y="315468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the project runs by — you write them.</a:t>
            </a:r>
            <a:endParaRPr lang="en-US" sz="1450" dirty="0"/>
          </a:p>
        </p:txBody>
      </p:sp>
      <p:sp>
        <p:nvSpPr>
          <p:cNvPr id="25" name="Shape 19"/>
          <p:cNvSpPr/>
          <p:nvPr/>
        </p:nvSpPr>
        <p:spPr>
          <a:xfrm>
            <a:off x="548640" y="4315968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68680" y="457200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813" y="4720133"/>
            <a:ext cx="252374" cy="25237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600200" y="431596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sponsor idea: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 real user's need well enough to speak for it — that's a central job of this course.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FOUNDER DECISION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you do?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611880" cy="4526280"/>
          </a:xfrm>
          <a:prstGeom prst="roundRect">
            <a:avLst>
              <a:gd name="adj" fmla="val 2278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2880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196705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248716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Saying no to a feature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04672" y="2926080"/>
            <a:ext cx="30998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— </a:t>
            </a:r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5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campus-resource reservation tool is catching on. A prominent user asks for polished Google Calendar sync.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04672" y="4114800"/>
            <a:ext cx="3099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AEC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v1 still can't reliably prevent double-bookings. You log it "later" and keep the team on the core booking flow.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04672" y="5193792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contributor picks from the tickets that exist; a founder decides which tickets exist.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79392" y="1600200"/>
            <a:ext cx="3611880" cy="4526280"/>
          </a:xfrm>
          <a:prstGeom prst="roundRect">
            <a:avLst>
              <a:gd name="adj" fmla="val 2278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53712" y="182880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969" y="1967057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35424" y="248716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boring stack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535424" y="2926080"/>
            <a:ext cx="30998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— </a:t>
            </a:r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5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volunteer-coordination tool, you can reach for a hot new framework — or the plain stack you and your teammate already know.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535424" y="4114800"/>
            <a:ext cx="3099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AEC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debug it at 1 a.m. and onboard the next contributor into it. You pick boring.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535424" y="5193792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you can own, explain, and support — not just show off.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010144" y="1600200"/>
            <a:ext cx="3611880" cy="4526280"/>
          </a:xfrm>
          <a:prstGeom prst="roundRect">
            <a:avLst>
              <a:gd name="adj" fmla="val 2278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84464" y="182880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721" y="1967057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266176" y="2487168"/>
            <a:ext cx="3099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outside contributor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8266176" y="2926080"/>
            <a:ext cx="30998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— </a:t>
            </a:r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D5E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stranger opens a PR on your hobby-community tracker: a feature you didn't ask for, in a style that doesn't fit.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8266176" y="4114800"/>
            <a:ext cx="30998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AEC2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it and lose a collaborator — or thank them, request changes, and keep them engaged?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8266176" y="5193792"/>
            <a:ext cx="3099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400" b="1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treat a stranger's PR is the project's culture.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SEMESTER WORKS — PART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studio model: how a typical week runs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21408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269541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1854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— Session 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68680" y="29718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lecture + worked examples</a:t>
            </a:r>
            <a:endParaRPr lang="en-US" sz="15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discussion and critique</a:t>
            </a:r>
            <a:endParaRPr lang="en-US" sz="1550" dirty="0"/>
          </a:p>
          <a:p>
            <a:pPr marL="190500" indent="-190500"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frame the topic and look at strong vs. weak examples together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440680" cy="3200400"/>
          </a:xfrm>
          <a:prstGeom prst="roundRect">
            <a:avLst>
              <a:gd name="adj" fmla="val 257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121408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2269541"/>
            <a:ext cx="252374" cy="25237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32320" y="21854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 — Session B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492240" y="29718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Workshop, lab, peer review, or demo</a:t>
            </a:r>
            <a:endParaRPr lang="en-US" sz="15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work with the instructor as coach</a:t>
            </a:r>
            <a:endParaRPr lang="en-US" sz="1550" dirty="0"/>
          </a:p>
          <a:p>
            <a:pPr marL="190500" indent="-190500"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released early — we won't always use the full 75 minutes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548640" y="52578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repeating cycle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54380" y="5669280"/>
            <a:ext cx="1874520" cy="566928"/>
          </a:xfrm>
          <a:prstGeom prst="roundRect">
            <a:avLst>
              <a:gd name="adj" fmla="val 19355"/>
            </a:avLst>
          </a:prstGeom>
          <a:solidFill>
            <a:srgbClr val="EAF3F2"/>
          </a:solidFill>
          <a:ln/>
        </p:spPr>
      </p:sp>
      <p:sp>
        <p:nvSpPr>
          <p:cNvPr id="17" name="Text 13"/>
          <p:cNvSpPr/>
          <p:nvPr/>
        </p:nvSpPr>
        <p:spPr>
          <a:xfrm>
            <a:off x="754380" y="56692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6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764" y="5824728"/>
            <a:ext cx="219456" cy="256032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2948940" y="5669280"/>
            <a:ext cx="1874520" cy="566928"/>
          </a:xfrm>
          <a:prstGeom prst="roundRect">
            <a:avLst>
              <a:gd name="adj" fmla="val 19355"/>
            </a:avLst>
          </a:prstGeom>
          <a:solidFill>
            <a:srgbClr val="EAF3F2"/>
          </a:solidFill>
          <a:ln/>
        </p:spPr>
      </p:sp>
      <p:sp>
        <p:nvSpPr>
          <p:cNvPr id="20" name="Text 15"/>
          <p:cNvSpPr/>
          <p:nvPr/>
        </p:nvSpPr>
        <p:spPr>
          <a:xfrm>
            <a:off x="2948940" y="56692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6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8324" y="5824728"/>
            <a:ext cx="219456" cy="25603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5143500" y="5669280"/>
            <a:ext cx="1874520" cy="566928"/>
          </a:xfrm>
          <a:prstGeom prst="roundRect">
            <a:avLst>
              <a:gd name="adj" fmla="val 19355"/>
            </a:avLst>
          </a:prstGeom>
          <a:solidFill>
            <a:srgbClr val="EAF3F2"/>
          </a:solidFill>
          <a:ln/>
        </p:spPr>
      </p:sp>
      <p:sp>
        <p:nvSpPr>
          <p:cNvPr id="23" name="Text 17"/>
          <p:cNvSpPr/>
          <p:nvPr/>
        </p:nvSpPr>
        <p:spPr>
          <a:xfrm>
            <a:off x="5143500" y="56692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16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2884" y="5824728"/>
            <a:ext cx="219456" cy="256032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7338060" y="5669280"/>
            <a:ext cx="1874520" cy="566928"/>
          </a:xfrm>
          <a:prstGeom prst="roundRect">
            <a:avLst>
              <a:gd name="adj" fmla="val 19355"/>
            </a:avLst>
          </a:prstGeom>
          <a:solidFill>
            <a:srgbClr val="EAF3F2"/>
          </a:solidFill>
          <a:ln/>
        </p:spPr>
      </p:sp>
      <p:sp>
        <p:nvSpPr>
          <p:cNvPr id="26" name="Text 19"/>
          <p:cNvSpPr/>
          <p:nvPr/>
        </p:nvSpPr>
        <p:spPr>
          <a:xfrm>
            <a:off x="7338060" y="56692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6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7444" y="5824728"/>
            <a:ext cx="219456" cy="256032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9532620" y="5669280"/>
            <a:ext cx="1874520" cy="566928"/>
          </a:xfrm>
          <a:prstGeom prst="roundRect">
            <a:avLst>
              <a:gd name="adj" fmla="val 19355"/>
            </a:avLst>
          </a:prstGeom>
          <a:solidFill>
            <a:srgbClr val="EAF3F2"/>
          </a:solidFill>
          <a:ln/>
        </p:spPr>
      </p:sp>
      <p:sp>
        <p:nvSpPr>
          <p:cNvPr id="29" name="Text 21"/>
          <p:cNvSpPr/>
          <p:nvPr/>
        </p:nvSpPr>
        <p:spPr>
          <a:xfrm>
            <a:off x="9532620" y="56692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SEMESTER WORKS — PART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CPS method — how we'll work through problems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Problem Solving (Osborn–Parnes) </a:t>
            </a:r>
            <a:pPr indent="0" marL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structured way to move from a messy problem to a chosen solution. The premise: creativity is a skill you can practice — how you approach a problem changes your odds of a breakthrough. It runs in four stages.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2670048" cy="2651760"/>
          </a:xfrm>
          <a:prstGeom prst="roundRect">
            <a:avLst>
              <a:gd name="adj" fmla="val 3103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99616" y="2697480"/>
            <a:ext cx="768096" cy="768096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8" name="Text 6"/>
          <p:cNvSpPr/>
          <p:nvPr/>
        </p:nvSpPr>
        <p:spPr>
          <a:xfrm>
            <a:off x="1499616" y="26974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685800" y="3611880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Clarification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40416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problem space; gather facts; frame the real problem.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657600"/>
            <a:ext cx="201168" cy="2743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346704" y="2468880"/>
            <a:ext cx="2670048" cy="2651760"/>
          </a:xfrm>
          <a:prstGeom prst="roundRect">
            <a:avLst>
              <a:gd name="adj" fmla="val 3103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97680" y="2697480"/>
            <a:ext cx="768096" cy="768096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14" name="Text 11"/>
          <p:cNvSpPr/>
          <p:nvPr/>
        </p:nvSpPr>
        <p:spPr>
          <a:xfrm>
            <a:off x="4297680" y="26974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100" dirty="0"/>
          </a:p>
        </p:txBody>
      </p:sp>
      <p:sp>
        <p:nvSpPr>
          <p:cNvPr id="15" name="Text 12"/>
          <p:cNvSpPr/>
          <p:nvPr/>
        </p:nvSpPr>
        <p:spPr>
          <a:xfrm>
            <a:off x="3483864" y="3611880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Ideation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529584" y="40416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many ideas; defer judgment; prefer quantity.</a:t>
            </a:r>
            <a:endParaRPr lang="en-US" sz="14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3657600"/>
            <a:ext cx="201168" cy="27432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144768" y="2468880"/>
            <a:ext cx="2670048" cy="2651760"/>
          </a:xfrm>
          <a:prstGeom prst="roundRect">
            <a:avLst>
              <a:gd name="adj" fmla="val 3103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095744" y="2697480"/>
            <a:ext cx="768096" cy="768096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20" name="Text 16"/>
          <p:cNvSpPr/>
          <p:nvPr/>
        </p:nvSpPr>
        <p:spPr>
          <a:xfrm>
            <a:off x="7095744" y="26974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100" dirty="0"/>
          </a:p>
        </p:txBody>
      </p:sp>
      <p:sp>
        <p:nvSpPr>
          <p:cNvPr id="21" name="Text 17"/>
          <p:cNvSpPr/>
          <p:nvPr/>
        </p:nvSpPr>
        <p:spPr>
          <a:xfrm>
            <a:off x="6281928" y="3611880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6327648" y="40416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and refine the best ideas against goals and constraints.</a:t>
            </a:r>
            <a:endParaRPr lang="en-US" sz="14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657600"/>
            <a:ext cx="201168" cy="27432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942832" y="2468880"/>
            <a:ext cx="2670048" cy="2651760"/>
          </a:xfrm>
          <a:prstGeom prst="roundRect">
            <a:avLst>
              <a:gd name="adj" fmla="val 3103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9893808" y="2697480"/>
            <a:ext cx="768096" cy="768096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26" name="Text 21"/>
          <p:cNvSpPr/>
          <p:nvPr/>
        </p:nvSpPr>
        <p:spPr>
          <a:xfrm>
            <a:off x="9893808" y="2697480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100" dirty="0"/>
          </a:p>
        </p:txBody>
      </p:sp>
      <p:sp>
        <p:nvSpPr>
          <p:cNvPr id="27" name="Text 22"/>
          <p:cNvSpPr/>
          <p:nvPr/>
        </p:nvSpPr>
        <p:spPr>
          <a:xfrm>
            <a:off x="9079992" y="3611880"/>
            <a:ext cx="239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800" dirty="0"/>
          </a:p>
        </p:txBody>
      </p:sp>
      <p:sp>
        <p:nvSpPr>
          <p:cNvPr id="28" name="Text 23"/>
          <p:cNvSpPr/>
          <p:nvPr/>
        </p:nvSpPr>
        <p:spPr>
          <a:xfrm>
            <a:off x="9125712" y="4041648"/>
            <a:ext cx="2304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act, and socialize the chosen solution.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map these four stages onto the five phases of the course next.</a:t>
            </a:r>
            <a:endParaRPr lang="en-US" sz="1500" dirty="0"/>
          </a:p>
        </p:txBody>
      </p:sp>
      <p:sp>
        <p:nvSpPr>
          <p:cNvPr id="30" name="Text 25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CPS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modes: divergent &amp; convergent thinking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uses both. Generate many options before you narrow to 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286000"/>
            <a:ext cx="566928" cy="566928"/>
          </a:xfrm>
          <a:prstGeom prst="ellipse">
            <a:avLst/>
          </a:prstGeom>
          <a:solidFill>
            <a:srgbClr val="3E9C6B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031" y="2439071"/>
            <a:ext cx="260787" cy="26078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2350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E9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</a:t>
            </a:r>
            <a:endParaRPr lang="en-US" sz="2050" dirty="0"/>
          </a:p>
        </p:txBody>
      </p:sp>
      <p:sp>
        <p:nvSpPr>
          <p:cNvPr id="10" name="Text 7"/>
          <p:cNvSpPr/>
          <p:nvPr/>
        </p:nvSpPr>
        <p:spPr>
          <a:xfrm>
            <a:off x="868680" y="30632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many different ideas</a:t>
            </a:r>
            <a:endParaRPr lang="en-US" sz="15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judgment — no evaluating yet</a:t>
            </a:r>
            <a:endParaRPr lang="en-US" sz="15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quantity; welcome wild ideas</a:t>
            </a:r>
            <a:endParaRPr lang="en-US" sz="1550" dirty="0"/>
          </a:p>
          <a:p>
            <a:pPr marL="190500" indent="-190500"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others' ideas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217920" y="2011680"/>
            <a:ext cx="5394960" cy="3063240"/>
          </a:xfrm>
          <a:prstGeom prst="roundRect">
            <a:avLst>
              <a:gd name="adj" fmla="val 2687"/>
            </a:avLst>
          </a:prstGeom>
          <a:solidFill>
            <a:srgbClr val="E9F0F4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286000"/>
            <a:ext cx="566928" cy="56692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11" y="2439071"/>
            <a:ext cx="260787" cy="26078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23500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Convergent</a:t>
            </a:r>
            <a:endParaRPr lang="en-US" sz="2050" dirty="0"/>
          </a:p>
        </p:txBody>
      </p:sp>
      <p:sp>
        <p:nvSpPr>
          <p:cNvPr id="15" name="Text 11"/>
          <p:cNvSpPr/>
          <p:nvPr/>
        </p:nvSpPr>
        <p:spPr>
          <a:xfrm>
            <a:off x="6537960" y="3063240"/>
            <a:ext cx="4800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many ideas to the best</a:t>
            </a:r>
            <a:endParaRPr lang="en-US" sz="15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judgment against goals &amp; constraints</a:t>
            </a:r>
            <a:endParaRPr lang="en-US" sz="1550" dirty="0"/>
          </a:p>
          <a:p>
            <a:pPr marL="190500" indent="-190500">
              <a:spcAft>
                <a:spcPts val="9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with logic and evidence</a:t>
            </a:r>
            <a:endParaRPr lang="en-US" sz="1550" dirty="0"/>
          </a:p>
          <a:p>
            <a:pPr marL="190500" indent="-190500"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novelty alive</a:t>
            </a:r>
            <a:endParaRPr lang="en-US" sz="1550" dirty="0"/>
          </a:p>
        </p:txBody>
      </p:sp>
      <p:sp>
        <p:nvSpPr>
          <p:cNvPr id="16" name="Shape 12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548640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5609844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08760" y="52578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diverge first?  </a:t>
            </a:r>
            <a:pPr indent="0" marL="0">
              <a:lnSpc>
                <a:spcPct val="10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that generate a pile of ideas before judging any produce better solutions than those that judge as they go. (It's why the Idea Briefs ask for three, not one.)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 OF THE SEMESTER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CPS stages → the five course phases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3093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CPS STAGE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PHASE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WEEKS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Clarification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Clarify &amp; Explore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Ideate &amp; Pitch → form teams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 &amp; Design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Implement, Build → Launch &amp; Reflect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49240"/>
            <a:ext cx="11064240" cy="868680"/>
          </a:xfrm>
          <a:prstGeom prst="roundRect">
            <a:avLst>
              <a:gd name="adj" fmla="val 9474"/>
            </a:avLst>
          </a:prstGeom>
          <a:solidFill>
            <a:srgbClr val="EEF4F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1–5 individual</a:t>
            </a:r>
            <a:pPr algn="ctr" indent="0" marL="0">
              <a:buNone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teams form at the Week-5 pitch  →  </a:t>
            </a:r>
            <a:pPr algn="ctr"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6–14 team</a:t>
            </a:r>
            <a:pPr algn="ctr" indent="0" marL="0">
              <a:buNone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(a solo path is welcome — no one's idea gets killed out from under them).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practical stuff that matters today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766560" cy="914400"/>
          </a:xfrm>
          <a:prstGeom prst="roundRect">
            <a:avLst>
              <a:gd name="adj" fmla="val 9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93976"/>
            <a:ext cx="475488" cy="47548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2222358"/>
            <a:ext cx="218724" cy="21872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99339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hours / week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463040" y="2322576"/>
            <a:ext cx="5715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≈2.5 in class + ≈7.5 outside. Say it plainly.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6766560" cy="914400"/>
          </a:xfrm>
          <a:prstGeom prst="roundRect">
            <a:avLst>
              <a:gd name="adj" fmla="val 9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45536"/>
            <a:ext cx="475488" cy="47548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22" y="3273918"/>
            <a:ext cx="218724" cy="21872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30449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+ founding artifacts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1463040" y="3374136"/>
            <a:ext cx="5715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Discovery, proposal, design, governance, launch all carry weight — strong code alone can't compensate.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3977640"/>
            <a:ext cx="6766560" cy="914400"/>
          </a:xfrm>
          <a:prstGeom prst="roundRect">
            <a:avLst>
              <a:gd name="adj" fmla="val 9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197096"/>
            <a:ext cx="475488" cy="475488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22" y="4325478"/>
            <a:ext cx="218724" cy="21872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63040" y="40965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tool, not the topic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1463040" y="4425696"/>
            <a:ext cx="5715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for brainstorming, learning, drafting — but understand and be able to defend everything you submit.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1874520"/>
            <a:ext cx="4114800" cy="3154680"/>
          </a:xfrm>
          <a:prstGeom prst="roundRect">
            <a:avLst>
              <a:gd name="adj" fmla="val 2609"/>
            </a:avLst>
          </a:prstGeom>
          <a:solidFill>
            <a:srgbClr val="FCF3E3"/>
          </a:solidFill>
          <a:ln w="19050">
            <a:solidFill>
              <a:srgbClr val="E8A33D"/>
            </a:solidFill>
            <a:prstDash val="dash"/>
          </a:ln>
        </p:spPr>
      </p:sp>
      <p:sp>
        <p:nvSpPr>
          <p:cNvPr id="21" name="Shape 16"/>
          <p:cNvSpPr/>
          <p:nvPr/>
        </p:nvSpPr>
        <p:spPr>
          <a:xfrm>
            <a:off x="7772400" y="214884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8188" y="2284628"/>
            <a:ext cx="231343" cy="23134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412480" y="22128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9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TOPICS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77240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A9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PLACEHOLDER — add your syllabus items ]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818120" y="329184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breakdown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work &amp; attendance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collaboration &amp; Honor Code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accommodations &amp; support</a:t>
            </a:r>
            <a:endParaRPr lang="en-US" sz="1450" dirty="0"/>
          </a:p>
          <a:p>
            <a:pPr marL="177800" indent="-177800">
              <a:buSzPct val="100000"/>
              <a:buChar char="•"/>
            </a:pPr>
            <a:r>
              <a:rPr lang="en-US" sz="14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everything lives (LMS)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548640" y="5257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segment tight — resist reading the syllabus aloud; point them to the LMS.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7C7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-1097280"/>
            <a:ext cx="3291840" cy="3291840"/>
          </a:xfrm>
          <a:prstGeom prst="ellipse">
            <a:avLst/>
          </a:prstGeom>
          <a:solidFill>
            <a:srgbClr val="127D7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B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MOVE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21792" y="841248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Briefs — due Wednesday, Sep 23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858000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48840"/>
            <a:ext cx="548640" cy="54864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296973"/>
            <a:ext cx="252374" cy="2523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12848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produce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68680" y="2926080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genuinely different one-page problem concepts</a:t>
            </a:r>
            <a:endParaRPr lang="en-US" sz="15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short reflection: "What makes a software project worth building to last?"</a:t>
            </a:r>
            <a:endParaRPr lang="en-US" sz="1550" dirty="0"/>
          </a:p>
          <a:p>
            <a:pPr marL="190500" indent="-1905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work — three flavors of the same app doesn't count</a:t>
            </a:r>
            <a:endParaRPr lang="en-US" sz="1550" dirty="0"/>
          </a:p>
          <a:p>
            <a:pPr marL="190500" indent="-190500">
              <a:buSzPct val="100000"/>
              <a:buChar char="•"/>
            </a:pPr>
            <a:r>
              <a:rPr lang="en-US" sz="155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come from three weeks of noticing — start an idea journal today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589520" y="1874520"/>
            <a:ext cx="4023360" cy="3703320"/>
          </a:xfrm>
          <a:prstGeom prst="roundRect">
            <a:avLst>
              <a:gd name="adj" fmla="val 2222"/>
            </a:avLst>
          </a:prstGeom>
          <a:solidFill>
            <a:srgbClr val="0A636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863840" y="214884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9628" y="2284628"/>
            <a:ext cx="231343" cy="2313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03920" y="21945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 idea journal — today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7863840" y="288036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6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running, low-effort log of problems worth solving — kept over the next three weeks.</a:t>
            </a:r>
            <a:endParaRPr lang="en-US" sz="1450" dirty="0"/>
          </a:p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6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needs, not solutions: the problem, who has it, where you noticed it.</a:t>
            </a:r>
            <a:endParaRPr lang="en-US" sz="1450" dirty="0"/>
          </a:p>
          <a:p>
            <a:pPr marL="177800" indent="-177800">
              <a:lnSpc>
                <a:spcPct val="103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D6E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briefs come from weeks of noticing — not a night-before scramble.</a:t>
            </a:r>
            <a:endParaRPr lang="en-US" sz="1450" dirty="0"/>
          </a:p>
          <a:p>
            <a:pPr marL="177800" indent="-177800">
              <a:lnSpc>
                <a:spcPct val="103000"/>
              </a:lnSpc>
              <a:buSzPct val="100000"/>
              <a:buChar char="•"/>
            </a:pPr>
            <a:r>
              <a:rPr lang="en-US" sz="14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guide + prompts: the Idea Journal handout.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493776"/>
            <a:ext cx="128016" cy="12801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" y="411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· 3 MINUTES · SOLO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7315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your first journal page — right now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114800" cy="3383280"/>
          </a:xfrm>
          <a:prstGeom prst="roundRect">
            <a:avLst>
              <a:gd name="adj" fmla="val 2432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01168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2147468"/>
            <a:ext cx="231343" cy="23134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057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we're doing this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68680" y="278892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thinking in miniature — generate widely, defer judgment.</a:t>
            </a:r>
            <a:endParaRPr lang="en-US" sz="1500" dirty="0"/>
          </a:p>
          <a:p>
            <a:pPr marL="177800" indent="-1778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leave with a page already full — not a blank one to face later.</a:t>
            </a:r>
            <a:endParaRPr lang="en-US" sz="1500" dirty="0"/>
          </a:p>
          <a:p>
            <a:pPr marL="177800" indent="-177800">
              <a:lnSpc>
                <a:spcPct val="104000"/>
              </a:lnSpc>
              <a:buSzPct val="100000"/>
              <a:buChar char="•"/>
            </a:pPr>
            <a:r>
              <a:rPr lang="en-US" sz="15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problems around you are the seedbed for your three Idea Briefs.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846320" y="1783080"/>
            <a:ext cx="6766560" cy="338328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120640" y="20116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120640" y="2331720"/>
            <a:ext cx="6263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i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"List as many problems as you can — things that are broken, annoying, tedious, slow, or missing — for you or the people around you: clubs, job, major, ward, roommates, hobbies."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5120640" y="3886200"/>
            <a:ext cx="6263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judge. Don't solve. Aim for at least 8.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What did you complain about this week? What takes too many steps? What tool do you wish existed?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00100" y="5440680"/>
            <a:ext cx="2468880" cy="502920"/>
          </a:xfrm>
          <a:prstGeom prst="roundRect">
            <a:avLst>
              <a:gd name="adj" fmla="val 49091"/>
            </a:avLst>
          </a:prstGeom>
          <a:solidFill>
            <a:srgbClr val="1E3352"/>
          </a:solidFill>
          <a:ln/>
        </p:spPr>
      </p:sp>
      <p:sp>
        <p:nvSpPr>
          <p:cNvPr id="16" name="Text 13"/>
          <p:cNvSpPr/>
          <p:nvPr/>
        </p:nvSpPr>
        <p:spPr>
          <a:xfrm>
            <a:off x="80010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judgment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497580" y="5440680"/>
            <a:ext cx="2468880" cy="502920"/>
          </a:xfrm>
          <a:prstGeom prst="roundRect">
            <a:avLst>
              <a:gd name="adj" fmla="val 49091"/>
            </a:avLst>
          </a:prstGeom>
          <a:solidFill>
            <a:srgbClr val="1E3352"/>
          </a:solidFill>
          <a:ln/>
        </p:spPr>
      </p:sp>
      <p:sp>
        <p:nvSpPr>
          <p:cNvPr id="18" name="Text 15"/>
          <p:cNvSpPr/>
          <p:nvPr/>
        </p:nvSpPr>
        <p:spPr>
          <a:xfrm>
            <a:off x="349758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quantity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195060" y="5440680"/>
            <a:ext cx="2468880" cy="502920"/>
          </a:xfrm>
          <a:prstGeom prst="roundRect">
            <a:avLst>
              <a:gd name="adj" fmla="val 49091"/>
            </a:avLst>
          </a:prstGeom>
          <a:solidFill>
            <a:srgbClr val="1E3352"/>
          </a:solidFill>
          <a:ln/>
        </p:spPr>
      </p:sp>
      <p:sp>
        <p:nvSpPr>
          <p:cNvPr id="20" name="Text 17"/>
          <p:cNvSpPr/>
          <p:nvPr/>
        </p:nvSpPr>
        <p:spPr>
          <a:xfrm>
            <a:off x="619506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solutions yet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8892540" y="5440680"/>
            <a:ext cx="2468880" cy="502920"/>
          </a:xfrm>
          <a:prstGeom prst="roundRect">
            <a:avLst>
              <a:gd name="adj" fmla="val 49091"/>
            </a:avLst>
          </a:prstGeom>
          <a:solidFill>
            <a:srgbClr val="1E3352"/>
          </a:solidFill>
          <a:ln/>
        </p:spPr>
      </p:sp>
      <p:sp>
        <p:nvSpPr>
          <p:cNvPr id="22" name="Text 19"/>
          <p:cNvSpPr/>
          <p:nvPr/>
        </p:nvSpPr>
        <p:spPr>
          <a:xfrm>
            <a:off x="8892540" y="5440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for 8+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list as entry #1 in your idea journal.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315200" y="6455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1 · Course Launch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645566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75488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23444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815" y="1444295"/>
            <a:ext cx="357530" cy="3575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Founders find and prove problems.</a:t>
            </a:r>
            <a:endParaRPr lang="en-US" sz="3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start by exploring widely.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841248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WEDNESDAY, SEP 9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3639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5577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Briefs (CP1) assignment</a:t>
            </a:r>
            <a:endParaRPr lang="en-US" sz="16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Journal guide</a:t>
            </a:r>
            <a:endParaRPr lang="en-US" sz="16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handbook — the assigned excerpt</a:t>
            </a:r>
            <a:endParaRPr lang="en-US" sz="1650" dirty="0"/>
          </a:p>
          <a:p>
            <a:pPr marL="190500" indent="-190500"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"Channeling Your Creativity" — Elder Hales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6766560" y="36393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A6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812280" y="397764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feeding your idea journal</a:t>
            </a:r>
            <a:endParaRPr lang="en-US" sz="1650" dirty="0"/>
          </a:p>
          <a:p>
            <a:pPr marL="190500" indent="-190500">
              <a:buSzPct val="100000"/>
              <a:buChar char="•"/>
            </a:pPr>
            <a:r>
              <a:rPr lang="en-US" sz="165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with raw problems for the divergent workshop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301R — Session 1 — Course Launch</dc:title>
  <dc:subject>PptxGenJS Presentation</dc:subject>
  <dc:creator>CS 301R</dc:creator>
  <cp:lastModifiedBy>CS 301R</cp:lastModifiedBy>
  <cp:revision>1</cp:revision>
  <dcterms:created xsi:type="dcterms:W3CDTF">2026-07-06T16:01:27Z</dcterms:created>
  <dcterms:modified xsi:type="dcterms:W3CDTF">2026-07-06T16:01:27Z</dcterms:modified>
</cp:coreProperties>
</file>