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Monday teaching session. Problem-finding continues on their own time; today is the craft of building in the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Patent grant column: code carries copyright AND possibly patents. MIT grants copyright but is SILENT on patents, so a contributor could later sue users over a patent on the code they gave you. Apache-2.0 / GPL-3.0 / AGPL-3.0 include an EXPLICIT patent grant (each contributor licenses the patents needed to use their contribution); Apache also adds patent retaliation (sue the project over a patent and your license ends). MIT 'No' = no explicit grant (legally murky; rarely matters for small projects). Practical takeaway: want enterprise/company adoption or to shield your users? Apache-2.0 is a plus. Small personal project? MIT is fine. General background, not legal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Primes the License/OSS short response. Take 1-2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Session 4 (Wed): the discovery workshop. Assign its reading. The discovery assignment kicks off then.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4663440"/>
            <a:ext cx="2743200" cy="274320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2588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5727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514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SOFTWARE ENGINEERING STUDIO 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28803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Source, Licensing &amp; Governance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41248" y="4297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— Building in the Open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Monday, September 14, 2026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problems to building in the open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383280"/>
          </a:xfrm>
          <a:prstGeom prst="roundRect">
            <a:avLst>
              <a:gd name="adj" fmla="val 243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48840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311786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22128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Session 2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96112" y="301752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generated a big pool of candidate problems. Keep feeding your idea journal — you'll need range for three different Idea Briefs.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440680" cy="3383280"/>
          </a:xfrm>
          <a:prstGeom prst="roundRect">
            <a:avLst>
              <a:gd name="adj" fmla="val 2432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148840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311786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96328" y="22128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— the "open" in open source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92240" y="301752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build in the open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software licenses actually work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a founder sets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IN THE OPEN?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"open" actually buys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85216" cy="585216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088" y="2032528"/>
            <a:ext cx="269199" cy="2691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928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417320" y="225856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can find, use, and help build it.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85216" cy="585216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88" y="2901208"/>
            <a:ext cx="269199" cy="26919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7614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trust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17320" y="312724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eyes: bugs surface, quality shows.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40080" y="3611880"/>
            <a:ext cx="585216" cy="585216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" y="3769888"/>
            <a:ext cx="269199" cy="26919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63016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&amp; reach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1417320" y="399592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build on it instead of starting over.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40080" y="4480560"/>
            <a:ext cx="585216" cy="585216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88" y="4638568"/>
            <a:ext cx="269199" cy="26919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49884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1417320" y="48646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that can outlive any one person — and a public portfolio.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7772400" y="1874520"/>
            <a:ext cx="3840480" cy="3977640"/>
          </a:xfrm>
          <a:prstGeom prst="roundRect">
            <a:avLst>
              <a:gd name="adj" fmla="val 2143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046720" y="214884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9791" y="2301911"/>
            <a:ext cx="260787" cy="26078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73252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about it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046720" y="2880360"/>
            <a:ext cx="3337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scary about building in public — and how real is it?</a:t>
            </a:r>
            <a:endParaRPr lang="en-US" sz="1450" dirty="0"/>
          </a:p>
          <a:p>
            <a:pPr indent="0" marL="0">
              <a:lnSpc>
                <a:spcPct val="10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"Given enough eyeballs, all bugs are shallow" — do you buy it?</a:t>
            </a:r>
            <a:endParaRPr lang="en-US" sz="14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would anyone contribute to your project?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thing to remember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CF3E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76272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626" y="2339218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874520"/>
            <a:ext cx="9692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license = all rights reserved.  </a:t>
            </a:r>
            <a:pPr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public code on GitHub can't legally be used or modified until you add a license.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548640" y="3337560"/>
            <a:ext cx="5440680" cy="2514600"/>
          </a:xfrm>
          <a:prstGeom prst="roundRect">
            <a:avLst>
              <a:gd name="adj" fmla="val 3273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3611880"/>
            <a:ext cx="548640" cy="548640"/>
          </a:xfrm>
          <a:prstGeom prst="ellipse">
            <a:avLst/>
          </a:prstGeom>
          <a:solidFill>
            <a:srgbClr val="3E9C6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76001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9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Permissive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896112" y="434340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MIT, Apache-2.0, BSD — "do almost anything, just keep my copyright notice."  Maximizes adoption.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6172200" y="3337560"/>
            <a:ext cx="5440680" cy="2514600"/>
          </a:xfrm>
          <a:prstGeom prst="roundRect">
            <a:avLst>
              <a:gd name="adj" fmla="val 3273"/>
            </a:avLst>
          </a:prstGeom>
          <a:solidFill>
            <a:srgbClr val="E9F0F4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46520" y="361188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653" y="376001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32320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Copyleft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519672" y="434340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GPL, AGPL, LGPL — "use and modify freely, but keep derivatives open under the same license."  Keeps the ecosystem open.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ANY LICENSE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Permissions · Conditions · Limitations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703320"/>
          </a:xfrm>
          <a:prstGeom prst="roundRect">
            <a:avLst>
              <a:gd name="adj" fmla="val 227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94560"/>
            <a:ext cx="585216" cy="585216"/>
          </a:xfrm>
          <a:prstGeom prst="ellipse">
            <a:avLst/>
          </a:prstGeom>
          <a:solidFill>
            <a:srgbClr val="3E9C6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680" y="2352568"/>
            <a:ext cx="269199" cy="26919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9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880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may do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3246120"/>
            <a:ext cx="3044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use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use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79392" y="1965960"/>
            <a:ext cx="3611880" cy="3703320"/>
          </a:xfrm>
          <a:prstGeom prst="roundRect">
            <a:avLst>
              <a:gd name="adj" fmla="val 227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35424" y="2194560"/>
            <a:ext cx="585216" cy="585216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432" y="2352568"/>
            <a:ext cx="269199" cy="26919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39512" y="22402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553712" y="2880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72000" y="3246120"/>
            <a:ext cx="3044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license &amp; copyright notice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Copyleft: disclose source + same license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Apache: state your changes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010144" y="1965960"/>
            <a:ext cx="3611880" cy="3703320"/>
          </a:xfrm>
          <a:prstGeom prst="roundRect">
            <a:avLst>
              <a:gd name="adj" fmla="val 227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66176" y="2194560"/>
            <a:ext cx="585216" cy="585216"/>
          </a:xfrm>
          <a:prstGeom prst="ellipse">
            <a:avLst/>
          </a:prstGeom>
          <a:solidFill>
            <a:srgbClr val="D9614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4184" y="2352568"/>
            <a:ext cx="269199" cy="26919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70264" y="22402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284464" y="2880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not granted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302752" y="3246120"/>
            <a:ext cx="3044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liability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warranty</a:t>
            </a:r>
            <a:endParaRPr lang="en-US" sz="1500" dirty="0"/>
          </a:p>
          <a:p>
            <a:pPr marL="190500" indent="-1905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trademark rights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how choosealicense.com lays out every license — learn to read the three columns.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LICENSES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for your goal</a:t>
            </a:r>
            <a:endParaRPr lang="en-US" sz="3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651760"/>
                <a:gridCol w="1737360"/>
                <a:gridCol w="292608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DERIVATIVES STAY OPEN?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PATENT GRANT?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adoption, simplicity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Permissive + patent protection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GPL-3.0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Copyleft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the whole project open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AGPL-3.0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Copyleft (network)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Servers/SaaS stay open when 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one-pager: resources/License-Cheat-Sheet.md — includes BSD, LGPL, MPL, and public domain.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4572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· 3 MINUTES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license for your idea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choosealicense.com. For your most promising candidate idea, jot down: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630168" cy="2286000"/>
          </a:xfrm>
          <a:prstGeom prst="roundRect">
            <a:avLst>
              <a:gd name="adj" fmla="val 36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7432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5204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did you pick?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0248" y="2514600"/>
            <a:ext cx="3630168" cy="2286000"/>
          </a:xfrm>
          <a:prstGeom prst="roundRect">
            <a:avLst>
              <a:gd name="adj" fmla="val 36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44568" y="27432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544568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44568" y="35204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44568" y="39319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(permissive) or keep-it-open (copyleft)?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91856" y="2514600"/>
            <a:ext cx="3630168" cy="2286000"/>
          </a:xfrm>
          <a:prstGeom prst="roundRect">
            <a:avLst>
              <a:gd name="adj" fmla="val 36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66176" y="27432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66176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66176" y="35204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66176" y="39319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it asks of people who use your code.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turn to a neighbor: "What did you pick, and why?"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turns cool code into a project people can join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1554480"/>
          </a:xfrm>
          <a:prstGeom prst="roundRect">
            <a:avLst>
              <a:gd name="adj" fmla="val 5294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95728"/>
            <a:ext cx="658368" cy="65836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2573487"/>
            <a:ext cx="302849" cy="3028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965960"/>
            <a:ext cx="9509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= the rules and expectations that let strangers contribute safely — the license, the code of conduct, the contribution process, and who decides. Without it, even great code stays a solo repo.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64240" cy="1874520"/>
          </a:xfrm>
          <a:prstGeom prst="roundRect">
            <a:avLst>
              <a:gd name="adj" fmla="val 4390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4343400"/>
            <a:ext cx="658368" cy="65836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59" y="4521159"/>
            <a:ext cx="302849" cy="3028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contributor's-eye view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"I'd like to help with this project… but do I know how to contribute? What's expected of me? And am I even allowed to use this?"  Good governance answers all three before they have to ask.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vs. early-stage — side by side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440680" cy="3886200"/>
          </a:xfrm>
          <a:prstGeom prst="roundRect">
            <a:avLst>
              <a:gd name="adj" fmla="val 2118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566928" cy="566928"/>
          </a:xfrm>
          <a:prstGeom prst="ellipse">
            <a:avLst/>
          </a:prstGeom>
          <a:solidFill>
            <a:srgbClr val="3E9C6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031" y="2393351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9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96112" y="3017520"/>
            <a:ext cx="4892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that onboards + "how to contribute"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LICENSE, CONTRIBUTING, CODE_OF_CONDUCT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/ PR templates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good-first-issues + a roadmap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maintainers, clear channel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965960"/>
            <a:ext cx="5440680" cy="3886200"/>
          </a:xfrm>
          <a:prstGeom prst="roundRect">
            <a:avLst>
              <a:gd name="adj" fmla="val 2118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240280"/>
            <a:ext cx="566928" cy="566928"/>
          </a:xfrm>
          <a:prstGeom prst="ellipse">
            <a:avLst/>
          </a:prstGeom>
          <a:solidFill>
            <a:srgbClr val="D9614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591" y="2393351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9752" y="22860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/ incomplete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19672" y="3017520"/>
            <a:ext cx="4892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code + a bare README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LICENSE — legally not reusable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CONTRIBUTING — newcomers are lost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of conduct, no templates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Stale, unanswered issues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FOUNDER'S CHOICES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calls you make as maintainer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4884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96973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1214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04672" y="27614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from day one, or later?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79392" y="192024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07992" y="214884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5" y="229697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93792" y="21214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535424" y="27614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people treat each other.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10144" y="192024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38744" y="214884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6877" y="229697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24544" y="21214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process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266176" y="27614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PRs, review, "done."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456432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3685032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3833165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6304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 expectations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804672" y="4297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Responsiveness, who reviews.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79392" y="3456432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07992" y="3685032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125" y="3833165"/>
            <a:ext cx="252374" cy="25237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193792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4535424" y="4297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discussion happens.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10144" y="3456432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38744" y="3685032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6877" y="3833165"/>
            <a:ext cx="252374" cy="25237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92454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8266176" y="4297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call vs. small council.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548640" y="512064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6" name="Text 28"/>
          <p:cNvSpPr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as sponsor:  </a:t>
            </a:r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these norms and steward the project — you're building the place others come to build.</a:t>
            </a:r>
            <a:endParaRPr lang="en-US" sz="1550" dirty="0"/>
          </a:p>
        </p:txBody>
      </p:sp>
      <p:sp>
        <p:nvSpPr>
          <p:cNvPr id="37" name="Text 29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ACTIVITY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license + governance for a real project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40280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2" y="2413102"/>
            <a:ext cx="294437" cy="2944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9202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small groups: 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member's candidate idea (or a back-pocket one). Decide (a) which license, and (b) three governance choices — and why.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35204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3794760"/>
            <a:ext cx="548640" cy="548640"/>
          </a:xfrm>
          <a:prstGeom prst="ellipse">
            <a:avLst/>
          </a:prstGeom>
          <a:solidFill>
            <a:srgbClr val="3E9C6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9428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3840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9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896112" y="452628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license + three governance calls, with the reasoning. Share one of each with the room.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6172200" y="35204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E9F0F4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46520" y="379476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653" y="39428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32320" y="38404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audit a repo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19672" y="452628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real repo and audit its governance against the checklist. What would you keep or change?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7132320" y="6437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3 · Open Source &amp; Licensing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7C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3291840" cy="3291840"/>
          </a:xfrm>
          <a:prstGeom prst="ellipse">
            <a:avLst/>
          </a:prstGeom>
          <a:solidFill>
            <a:srgbClr val="127D7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DELIVERABLE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21792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License / OSS short response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331720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502" y="2504542"/>
            <a:ext cx="294437" cy="2944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3774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about one page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1560" y="320040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license for the project you're imagining, and name it.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plain terms what it lets others do (and not do), and why it fits your goals.</a:t>
            </a:r>
            <a:endParaRPr lang="en-US" sz="1650" dirty="0"/>
          </a:p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governance choice you'd make (e.g., code of conduct, contribution process) and why.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resources/License-Cheat-Sheet.md · choosealicense.com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75488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23444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" y="1456639"/>
            <a:ext cx="378562" cy="3785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9456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in the open is how a project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becomes something others can join.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1248" y="4023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WEDNESDAY, SEP 16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4407408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Session 4 discovery readings (see the Session 4 page)</a:t>
            </a:r>
            <a:endParaRPr lang="en-US" sz="16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License / OSS short response</a:t>
            </a:r>
            <a:endParaRPr lang="en-US" sz="1650" dirty="0"/>
          </a:p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feeding your idea journal — next up: talking to real users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301R — Session 3 — Open Source, Licensing &amp; Governance</dc:title>
  <dc:subject>PptxGenJS Presentation</dc:subject>
  <dc:creator>CS 301R</dc:creator>
  <cp:lastModifiedBy>CS 301R</cp:lastModifiedBy>
  <cp:revision>1</cp:revision>
  <dcterms:created xsi:type="dcterms:W3CDTF">2026-07-08T15:42:55Z</dcterms:created>
  <dcterms:modified xsi:type="dcterms:W3CDTF">2026-07-08T15:42:55Z</dcterms:modified>
</cp:coreProperties>
</file>