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61520" cy="6858000"/>
  <p:notesSz cx="6858000" cy="1216152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first true workshop, and the first session with pre-reading — so mostly doing, not lecturing. Frame the day up front: today you learn to talk to users without fooling yourself, you practice it here in class, and then you take it to real people during the week. Keep energy high and your own talking short — model the very skill we're teaching. Check that they did the reading (Mom Test summary + NN/g); a quick show of hands is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bridge. Remind them the founder's hardest and most important job is understanding a real user's need well enough to speak for it — that's the sponsor role we keep coming back to. The pool from Session 2 is raw material; today we start separating real problems from plausible-sounding guesses. Everything today feeds the Discovery Notes assignment and, after that, the Product Definition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it vivid: if you ask a friend whether your idea is good, they hear 'please say yes so you don't hurt my feelings.' Compliments feel like progress but are just politeness. The name 'Mom Test' comes from the goal of asking questions so grounded in facts that even your mom couldn't accidentally mislead you. Land the stakes: false validation is expensive — it's how people spend a semester (or years) building something nobody wants. Then transition: here are the three rules that fix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anchor slide — spend real time here. Rule 1: the moment you describe your idea, they flip into supportive-friend mode and react to your solution instead of describing their world; you're a detective, not a salesperson. Rule 2: give the exercise example — 'Do you exercise regularly?' gets a hopeful 'I try to,' but 'Walk me through your workouts this past week' gets the truth. Past behavior is the only reliable evidence. Rule 3: aim to have them talking ~80% of the time; ask a short question, then be quiet. Tell them these three rules are the whole game — everything else is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real-time listening skill. Left column: the things that feel encouraging but carry no information — teach them to notice a compliment and mentally discard it, and to catch 'usually/always/I would' and redirect to a specific, recent instance. Right column: what actually counts as evidence, because each one cost the person something — money, effort, emotion, or a commitment to follow up. Give a quick example: someone who keeps a messy spreadsheet to track a thing has just proven the problem is real and valuable. Tell them: in the practice round, the observer should be listening for exactly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3-4 rows out loud — read the leading version, ask the room why it fails, then the learning version. The pattern to name: leading questions ask about the future or your idea; good questions ask about real, past behavior. The 'how much would you pay' row is worth dwelling on — asking price is a classic trap; asking what they already spend is honest. The bottom bar is the toolkit for the practice round: anchor to the last real instance, surface the current workaround, dig with 'why,' and use silence. This is the handout they'll have in hand during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this is not bureaucratic — treating people well gets you better information, and you'll do this for years. Make the key point from the ethics reading: this is a classroom project, not 'research' in BYU's sense, so no IRB is needed — BUT ethics still fully apply, and if anyone later wants to publish or make generalizable claims, that DOES require IRB approval first, so talk to me. Flag the power-imbalance issue (don't lean on people who feel they can't say no). Read the consent script aloud and tell them to actually use something like it. Point them to resources/Interview-Ethics-for-Students.md.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session — protect the time. Form triads quickly (a group of four can add a second observer). Hand out the prompt cards; each person, when it's their turn to be 'user,' picks a real problem they genuinely have and answers honestly. Keep it strict: interviewers may NOT pitch or propose solutions — only ask about the user's life and past behavior. Call the rotations yourself with the timer so all three rounds happen (that's why it's three rounds, not two — three roles). Circulate and gently flag leading questions you overhear. Save ~4 minutes at the end to debrief as a class: which leading questions slipped in, what real need surprised you, what was the hardest habit to break. If you're short on time, cut to two rounds rather than skipping the debrief. One more thing to flag: because the User picks the topic, the Interviewer starts cold — point them to the interviewer FUNNEL on the prompt card (open the area, get the last real instance, follow the workaround, ask 'why' 2-3 times, then reflect it back). That funnel plus the reflect-back move is how they reach the real, unspoken problem in five minutes on a topic they knew nothing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first: the real conversation is required (next slides / the assignment); the persona is a supplement for needs you can't reach directly — and everyone builds one, for the experience. The whole point is intellectual honesty: separating what you actually know from what you're guessing. The [E]/[A] tagging is the mechanism. Keep it modest — about an hour of gathering readily-available evidence, not a research project. Then transition: let's look at a good one and a bad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sets up the two examples so they don't appear out of nowhere. Give the scenario: you have a candidate need (commuter parking) but haven't interviewed a real commuter yet, so you build a persona as a working hypothesis that tells you what to go verify. Stress that BOTH upcoming personas are the same persona, same topic, on purpose — so the only variable is how it was made. Prime the compare: as each appears, ask 'could I trust this, and what's evidence vs. guess?' Don't reveal which is which yet — let the Busy Ben slide land the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slowly and point at the tags. The key move: every claim says where it came from — [E] with a source, or [A] as an honest guess. Note that the 'what better looks like' line is tagged [A] because it came from the founder, not a user — a very common place people smuggle in their own solution as if it were a finding. Highlight the two things that make this trustworthy: the Sources line, and the 'To verify' list (it names what you still don't know). And the honest 'medium confidence.' Ask the room: what would you go confirm first? Then flip to 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trap to name: Ben reads better than Cara — it's tidy, specific, confident — and that's exactly why it's dangerous. Ask the room to spot the problems before you reveal the callout: none of it has a source, nothing is tagged as a guess, and the money line is a hypothetical stated as fact. Contrast directly with Cara: Cara is messier but honest — you know what she knows and what she doesn't. Bottom line for them: when they build their own persona for the assignment, it should look like Cara, not Ben. Better to admit low confidence than to invent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Discovery-Notes.md. The non-negotiable: everyone must talk to at least one real person who genuinely has the problem — not a hallway 'sure, I'd use that.' They find their own people; we have no seeded users this iteration. The persona is a required supplement, kept modest. Reassure them that discovering a problem ISN'T real is a great result, not a failure — honest discovery is the grade, not confirmation of their idea. Remind them of consent/ethics and that this feeds directly into the Product Definition Brief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one-liner — it's the whole method in a sentence. Recap the three rules one more time if there's a beat. Preview Week 3: they'll turn their discovery into a Product Definition Brief (users, needs, success criteria), so the quality of this week's conversations directly determines how strong that brief is. Make the deliverables and dates concrete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9966960" y="-1280160"/>
            <a:ext cx="3840480" cy="3840480"/>
          </a:xfrm>
          <a:prstGeom prst="ellipse">
            <a:avLst/>
          </a:prstGeom>
          <a:solidFill>
            <a:srgbClr val="1C3252"/>
          </a:solidFill>
          <a:ln/>
        </p:spPr>
      </p:sp>
      <p:sp>
        <p:nvSpPr>
          <p:cNvPr id="3" name="Shape 1"/>
          <p:cNvSpPr/>
          <p:nvPr/>
        </p:nvSpPr>
        <p:spPr>
          <a:xfrm>
            <a:off x="10972800" y="4663440"/>
            <a:ext cx="2743200" cy="2743200"/>
          </a:xfrm>
          <a:prstGeom prst="ellipse">
            <a:avLst/>
          </a:prstGeom>
          <a:solidFill>
            <a:srgbClr val="1C3252"/>
          </a:solidFill>
          <a:ln/>
        </p:spPr>
      </p:sp>
      <p:sp>
        <p:nvSpPr>
          <p:cNvPr id="4" name="Shape 2"/>
          <p:cNvSpPr/>
          <p:nvPr/>
        </p:nvSpPr>
        <p:spPr>
          <a:xfrm>
            <a:off x="822960" y="1325880"/>
            <a:ext cx="914400" cy="91440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1069848" y="1572768"/>
            <a:ext cx="420624" cy="420624"/>
          </a:xfrm>
          <a:prstGeom prst="rect">
            <a:avLst/>
          </a:prstGeom>
        </p:spPr>
      </p:pic>
      <p:sp>
        <p:nvSpPr>
          <p:cNvPr id="6" name="Text 3"/>
          <p:cNvSpPr/>
          <p:nvPr/>
        </p:nvSpPr>
        <p:spPr>
          <a:xfrm>
            <a:off x="841248" y="2514600"/>
            <a:ext cx="10058400" cy="320040"/>
          </a:xfrm>
          <a:prstGeom prst="rect">
            <a:avLst/>
          </a:prstGeom>
          <a:noFill/>
          <a:ln/>
        </p:spPr>
        <p:txBody>
          <a:bodyPr wrap="square" lIns="0" tIns="0" rIns="0" bIns="0" rtlCol="0" anchor="ctr"/>
          <a:lstStyle/>
          <a:p>
            <a:pPr indent="0" marL="0">
              <a:buNone/>
            </a:pPr>
            <a:r>
              <a:rPr lang="en-US" sz="1500" b="1" spc="200" kern="0" dirty="0">
                <a:solidFill>
                  <a:srgbClr val="9FB4C7"/>
                </a:solidFill>
                <a:latin typeface="Calibri" pitchFamily="34" charset="0"/>
                <a:ea typeface="Calibri" pitchFamily="34" charset="-122"/>
                <a:cs typeface="Calibri" pitchFamily="34" charset="-120"/>
              </a:rPr>
              <a:t>CS 301R · SOFTWARE ENGINEERING STUDIO I</a:t>
            </a:r>
            <a:endParaRPr lang="en-US" sz="1500" dirty="0"/>
          </a:p>
        </p:txBody>
      </p:sp>
      <p:sp>
        <p:nvSpPr>
          <p:cNvPr id="7" name="Text 4"/>
          <p:cNvSpPr/>
          <p:nvPr/>
        </p:nvSpPr>
        <p:spPr>
          <a:xfrm>
            <a:off x="822960" y="2880360"/>
            <a:ext cx="11064240" cy="118872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Discovery Workshop: Talking to Users</a:t>
            </a:r>
            <a:endParaRPr lang="en-US" sz="4200" dirty="0"/>
          </a:p>
        </p:txBody>
      </p:sp>
      <p:sp>
        <p:nvSpPr>
          <p:cNvPr id="8" name="Text 5"/>
          <p:cNvSpPr/>
          <p:nvPr/>
        </p:nvSpPr>
        <p:spPr>
          <a:xfrm>
            <a:off x="841248" y="4297680"/>
            <a:ext cx="10058400" cy="822960"/>
          </a:xfrm>
          <a:prstGeom prst="rect">
            <a:avLst/>
          </a:prstGeom>
          <a:noFill/>
          <a:ln/>
        </p:spPr>
        <p:txBody>
          <a:bodyPr wrap="square" lIns="0" tIns="0" rIns="0" bIns="0" rtlCol="0" anchor="ctr"/>
          <a:lstStyle/>
          <a:p>
            <a:pPr indent="0" marL="0">
              <a:lnSpc>
                <a:spcPct val="120000"/>
              </a:lnSpc>
              <a:buNone/>
            </a:pPr>
            <a:r>
              <a:rPr lang="en-US" sz="1900" b="1" dirty="0">
                <a:solidFill>
                  <a:srgbClr val="E8A33D"/>
                </a:solidFill>
                <a:latin typeface="Calibri" pitchFamily="34" charset="0"/>
                <a:ea typeface="Calibri" pitchFamily="34" charset="-122"/>
                <a:cs typeface="Calibri" pitchFamily="34" charset="-120"/>
              </a:rPr>
              <a:t>Session 4 — Needfinding in Action</a:t>
            </a:r>
            <a:endParaRPr lang="en-US" sz="1900" dirty="0"/>
          </a:p>
          <a:p>
            <a:pPr indent="0" marL="0">
              <a:lnSpc>
                <a:spcPct val="120000"/>
              </a:lnSpc>
              <a:buNone/>
            </a:pPr>
            <a:r>
              <a:rPr lang="en-US" sz="1900" dirty="0">
                <a:solidFill>
                  <a:srgbClr val="9FB4C7"/>
                </a:solidFill>
                <a:latin typeface="Calibri" pitchFamily="34" charset="0"/>
                <a:ea typeface="Calibri" pitchFamily="34" charset="-122"/>
                <a:cs typeface="Calibri" pitchFamily="34" charset="-120"/>
              </a:rPr>
              <a:t>Wednesday, September 16, 2026</a:t>
            </a: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WHERE WE ARE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generating problems to investigating them</a:t>
            </a:r>
            <a:endParaRPr lang="en-US" sz="3100" dirty="0"/>
          </a:p>
        </p:txBody>
      </p:sp>
      <p:sp>
        <p:nvSpPr>
          <p:cNvPr id="5" name="Shape 3"/>
          <p:cNvSpPr/>
          <p:nvPr/>
        </p:nvSpPr>
        <p:spPr>
          <a:xfrm>
            <a:off x="548640" y="1874520"/>
            <a:ext cx="5440680" cy="3383280"/>
          </a:xfrm>
          <a:prstGeom prst="roundRect">
            <a:avLst>
              <a:gd name="adj" fmla="val 2432"/>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603504" cy="603504"/>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85906" y="2311786"/>
            <a:ext cx="277612" cy="277612"/>
          </a:xfrm>
          <a:prstGeom prst="rect">
            <a:avLst/>
          </a:prstGeom>
        </p:spPr>
      </p:pic>
      <p:sp>
        <p:nvSpPr>
          <p:cNvPr id="8" name="Text 5"/>
          <p:cNvSpPr/>
          <p:nvPr/>
        </p:nvSpPr>
        <p:spPr>
          <a:xfrm>
            <a:off x="1572768" y="2212848"/>
            <a:ext cx="4206240" cy="45720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From Session 2</a:t>
            </a:r>
            <a:endParaRPr lang="en-US" sz="2000" dirty="0"/>
          </a:p>
        </p:txBody>
      </p:sp>
      <p:sp>
        <p:nvSpPr>
          <p:cNvPr id="9" name="Text 6"/>
          <p:cNvSpPr/>
          <p:nvPr/>
        </p:nvSpPr>
        <p:spPr>
          <a:xfrm>
            <a:off x="896112"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1E2A36"/>
                </a:solidFill>
                <a:latin typeface="Calibri" pitchFamily="34" charset="0"/>
                <a:ea typeface="Calibri" pitchFamily="34" charset="-122"/>
                <a:cs typeface="Calibri" pitchFamily="34" charset="-120"/>
              </a:rPr>
              <a:t>You generated a big pool of candidate problems. Right now, most of them are guesses.</a:t>
            </a:r>
            <a:endParaRPr lang="en-US" sz="1650" dirty="0"/>
          </a:p>
        </p:txBody>
      </p:sp>
      <p:sp>
        <p:nvSpPr>
          <p:cNvPr id="10" name="Shape 7"/>
          <p:cNvSpPr/>
          <p:nvPr/>
        </p:nvSpPr>
        <p:spPr>
          <a:xfrm>
            <a:off x="6172200" y="1874520"/>
            <a:ext cx="5440680" cy="3383280"/>
          </a:xfrm>
          <a:prstGeom prst="roundRect">
            <a:avLst>
              <a:gd name="adj" fmla="val 2432"/>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148840"/>
            <a:ext cx="603504" cy="603504"/>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6609466" y="2311786"/>
            <a:ext cx="277612" cy="277612"/>
          </a:xfrm>
          <a:prstGeom prst="rect">
            <a:avLst/>
          </a:prstGeom>
        </p:spPr>
      </p:pic>
      <p:sp>
        <p:nvSpPr>
          <p:cNvPr id="13" name="Text 9"/>
          <p:cNvSpPr/>
          <p:nvPr/>
        </p:nvSpPr>
        <p:spPr>
          <a:xfrm>
            <a:off x="7196328" y="2212848"/>
            <a:ext cx="420624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Today</a:t>
            </a:r>
            <a:endParaRPr lang="en-US" sz="2000" dirty="0"/>
          </a:p>
        </p:txBody>
      </p:sp>
      <p:sp>
        <p:nvSpPr>
          <p:cNvPr id="14" name="Text 10"/>
          <p:cNvSpPr/>
          <p:nvPr/>
        </p:nvSpPr>
        <p:spPr>
          <a:xfrm>
            <a:off x="6492240" y="3017520"/>
            <a:ext cx="4892040" cy="2103120"/>
          </a:xfrm>
          <a:prstGeom prst="rect">
            <a:avLst/>
          </a:prstGeom>
          <a:noFill/>
          <a:ln/>
        </p:spPr>
        <p:txBody>
          <a:bodyPr wrap="square" lIns="0" tIns="0" rIns="0" bIns="0" rtlCol="0" anchor="t"/>
          <a:lstStyle/>
          <a:p>
            <a:pPr indent="0" marL="0">
              <a:lnSpc>
                <a:spcPct val="106000"/>
              </a:lnSpc>
              <a:buNone/>
            </a:pPr>
            <a:r>
              <a:rPr lang="en-US" sz="1650" dirty="0">
                <a:solidFill>
                  <a:srgbClr val="CFE0E9"/>
                </a:solidFill>
                <a:latin typeface="Calibri" pitchFamily="34" charset="0"/>
                <a:ea typeface="Calibri" pitchFamily="34" charset="-122"/>
                <a:cs typeface="Calibri" pitchFamily="34" charset="-120"/>
              </a:rPr>
              <a:t>Learn to find out which problems are real by talking to people — without hearing only what you want to hear.</a:t>
            </a:r>
            <a:endParaRPr lang="en-US" sz="16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566928" y="548640"/>
            <a:ext cx="137160" cy="137160"/>
          </a:xfrm>
          <a:prstGeom prst="ellipse">
            <a:avLst/>
          </a:prstGeom>
          <a:solidFill>
            <a:srgbClr val="E8A33D"/>
          </a:solidFill>
          <a:ln/>
        </p:spPr>
      </p:sp>
      <p:sp>
        <p:nvSpPr>
          <p:cNvPr id="3" name="Text 1"/>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WHY DISCOVERY IS HARD</a:t>
            </a:r>
            <a:endParaRPr lang="en-US" sz="1400" dirty="0"/>
          </a:p>
        </p:txBody>
      </p:sp>
      <p:sp>
        <p:nvSpPr>
          <p:cNvPr id="4" name="Text 2"/>
          <p:cNvSpPr/>
          <p:nvPr/>
        </p:nvSpPr>
        <p:spPr>
          <a:xfrm>
            <a:off x="548640" y="822960"/>
            <a:ext cx="1106424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The validation trap</a:t>
            </a:r>
            <a:endParaRPr lang="en-US" sz="3400" dirty="0"/>
          </a:p>
        </p:txBody>
      </p:sp>
      <p:sp>
        <p:nvSpPr>
          <p:cNvPr id="5" name="Text 3"/>
          <p:cNvSpPr/>
          <p:nvPr/>
        </p:nvSpPr>
        <p:spPr>
          <a:xfrm>
            <a:off x="822960" y="2148840"/>
            <a:ext cx="10515600" cy="1188720"/>
          </a:xfrm>
          <a:prstGeom prst="rect">
            <a:avLst/>
          </a:prstGeom>
          <a:noFill/>
          <a:ln/>
        </p:spPr>
        <p:txBody>
          <a:bodyPr wrap="square" lIns="0" tIns="0" rIns="0" bIns="0" rtlCol="0" anchor="ctr"/>
          <a:lstStyle/>
          <a:p>
            <a:pPr indent="0" marL="0">
              <a:lnSpc>
                <a:spcPct val="106000"/>
              </a:lnSpc>
              <a:buNone/>
            </a:pPr>
            <a:r>
              <a:rPr lang="en-US" sz="2700" b="1" i="1" dirty="0">
                <a:solidFill>
                  <a:srgbClr val="FFFFFF"/>
                </a:solidFill>
                <a:latin typeface="Cambria" pitchFamily="34" charset="0"/>
                <a:ea typeface="Cambria" pitchFamily="34" charset="-122"/>
                <a:cs typeface="Cambria" pitchFamily="34" charset="-120"/>
              </a:rPr>
              <a:t>Ask "would you use this?" and people say "yes" — to be nice.</a:t>
            </a:r>
            <a:endParaRPr lang="en-US" sz="2700" dirty="0"/>
          </a:p>
        </p:txBody>
      </p:sp>
      <p:sp>
        <p:nvSpPr>
          <p:cNvPr id="6" name="Text 4"/>
          <p:cNvSpPr/>
          <p:nvPr/>
        </p:nvSpPr>
        <p:spPr>
          <a:xfrm>
            <a:off x="822960" y="3657600"/>
            <a:ext cx="10424160" cy="1463040"/>
          </a:xfrm>
          <a:prstGeom prst="rect">
            <a:avLst/>
          </a:prstGeom>
          <a:noFill/>
          <a:ln/>
        </p:spPr>
        <p:txBody>
          <a:bodyPr wrap="square" lIns="0" tIns="0" rIns="0" bIns="0" rtlCol="0" anchor="t"/>
          <a:lstStyle/>
          <a:p>
            <a:pPr indent="0" marL="0">
              <a:lnSpc>
                <a:spcPct val="108000"/>
              </a:lnSpc>
              <a:buNone/>
            </a:pPr>
            <a:r>
              <a:rPr lang="en-US" sz="1800" dirty="0">
                <a:solidFill>
                  <a:srgbClr val="CFE0E9"/>
                </a:solidFill>
                <a:latin typeface="Calibri" pitchFamily="34" charset="0"/>
                <a:ea typeface="Calibri" pitchFamily="34" charset="-122"/>
                <a:cs typeface="Calibri" pitchFamily="34" charset="-120"/>
              </a:rPr>
              <a:t>So you walk away with validation instead of the truth — and build something nobody actually needs. The Mom Test is a set of habits that get you the truth anyway.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THE MOM TEST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Three rules for getting the truth</a:t>
            </a:r>
            <a:endParaRPr lang="en-US" sz="3100" dirty="0"/>
          </a:p>
        </p:txBody>
      </p:sp>
      <p:sp>
        <p:nvSpPr>
          <p:cNvPr id="5" name="Shape 3"/>
          <p:cNvSpPr/>
          <p:nvPr/>
        </p:nvSpPr>
        <p:spPr>
          <a:xfrm>
            <a:off x="548640" y="1920240"/>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85416"/>
            <a:ext cx="640080" cy="640080"/>
          </a:xfrm>
          <a:prstGeom prst="ellipse">
            <a:avLst/>
          </a:prstGeom>
          <a:solidFill>
            <a:srgbClr val="12908F"/>
          </a:solidFill>
          <a:ln/>
        </p:spPr>
      </p:sp>
      <p:sp>
        <p:nvSpPr>
          <p:cNvPr id="7" name="Text 5"/>
          <p:cNvSpPr/>
          <p:nvPr/>
        </p:nvSpPr>
        <p:spPr>
          <a:xfrm>
            <a:off x="822960" y="2185416"/>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a:t>
            </a:r>
            <a:endParaRPr lang="en-US" sz="2600" dirty="0"/>
          </a:p>
        </p:txBody>
      </p:sp>
      <p:sp>
        <p:nvSpPr>
          <p:cNvPr id="8" name="Text 6"/>
          <p:cNvSpPr/>
          <p:nvPr/>
        </p:nvSpPr>
        <p:spPr>
          <a:xfrm>
            <a:off x="1691640" y="2103120"/>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about their life, not your idea</a:t>
            </a:r>
            <a:endParaRPr lang="en-US" sz="1900" dirty="0"/>
          </a:p>
        </p:txBody>
      </p:sp>
      <p:sp>
        <p:nvSpPr>
          <p:cNvPr id="9" name="Text 7"/>
          <p:cNvSpPr/>
          <p:nvPr/>
        </p:nvSpPr>
        <p:spPr>
          <a:xfrm>
            <a:off x="1691640" y="2542032"/>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Keep your idea in your pocket. Ask how they handle it today, what's annoying, what they've tried.</a:t>
            </a:r>
            <a:endParaRPr lang="en-US" sz="1450" dirty="0"/>
          </a:p>
        </p:txBody>
      </p:sp>
      <p:sp>
        <p:nvSpPr>
          <p:cNvPr id="10" name="Shape 8"/>
          <p:cNvSpPr/>
          <p:nvPr/>
        </p:nvSpPr>
        <p:spPr>
          <a:xfrm>
            <a:off x="548640" y="3218688"/>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1" name="Shape 9"/>
          <p:cNvSpPr/>
          <p:nvPr/>
        </p:nvSpPr>
        <p:spPr>
          <a:xfrm>
            <a:off x="822960" y="3483864"/>
            <a:ext cx="640080" cy="640080"/>
          </a:xfrm>
          <a:prstGeom prst="ellipse">
            <a:avLst/>
          </a:prstGeom>
          <a:solidFill>
            <a:srgbClr val="12908F"/>
          </a:solidFill>
          <a:ln/>
        </p:spPr>
      </p:sp>
      <p:sp>
        <p:nvSpPr>
          <p:cNvPr id="12" name="Text 10"/>
          <p:cNvSpPr/>
          <p:nvPr/>
        </p:nvSpPr>
        <p:spPr>
          <a:xfrm>
            <a:off x="822960" y="3483864"/>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2</a:t>
            </a:r>
            <a:endParaRPr lang="en-US" sz="2600" dirty="0"/>
          </a:p>
        </p:txBody>
      </p:sp>
      <p:sp>
        <p:nvSpPr>
          <p:cNvPr id="13" name="Text 11"/>
          <p:cNvSpPr/>
          <p:nvPr/>
        </p:nvSpPr>
        <p:spPr>
          <a:xfrm>
            <a:off x="1691640" y="3401568"/>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Specifics in the past, not hypotheticals</a:t>
            </a:r>
            <a:endParaRPr lang="en-US" sz="1900" dirty="0"/>
          </a:p>
        </p:txBody>
      </p:sp>
      <p:sp>
        <p:nvSpPr>
          <p:cNvPr id="14" name="Text 12"/>
          <p:cNvSpPr/>
          <p:nvPr/>
        </p:nvSpPr>
        <p:spPr>
          <a:xfrm>
            <a:off x="1691640" y="3840480"/>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"Tell me about the last time you…" beats "Would you…?" People can't predict their own future.</a:t>
            </a:r>
            <a:endParaRPr lang="en-US" sz="1450" dirty="0"/>
          </a:p>
        </p:txBody>
      </p:sp>
      <p:sp>
        <p:nvSpPr>
          <p:cNvPr id="15" name="Shape 13"/>
          <p:cNvSpPr/>
          <p:nvPr/>
        </p:nvSpPr>
        <p:spPr>
          <a:xfrm>
            <a:off x="548640" y="4517136"/>
            <a:ext cx="11064240" cy="1170432"/>
          </a:xfrm>
          <a:prstGeom prst="roundRect">
            <a:avLst>
              <a:gd name="adj" fmla="val 7031"/>
            </a:avLst>
          </a:prstGeom>
          <a:solidFill>
            <a:srgbClr val="F2F6F8"/>
          </a:solidFill>
          <a:ln/>
          <a:effectLst>
            <a:outerShdw sx="100000" sy="100000" kx="0" ky="0" algn="bl" rotWithShape="0" blurRad="88900" dist="38100" dir="5400000">
              <a:srgbClr val="000000">
                <a:alpha val="13000"/>
              </a:srgbClr>
            </a:outerShdw>
          </a:effectLst>
        </p:spPr>
      </p:sp>
      <p:sp>
        <p:nvSpPr>
          <p:cNvPr id="16" name="Shape 14"/>
          <p:cNvSpPr/>
          <p:nvPr/>
        </p:nvSpPr>
        <p:spPr>
          <a:xfrm>
            <a:off x="822960" y="4782312"/>
            <a:ext cx="640080" cy="640080"/>
          </a:xfrm>
          <a:prstGeom prst="ellipse">
            <a:avLst/>
          </a:prstGeom>
          <a:solidFill>
            <a:srgbClr val="12908F"/>
          </a:solidFill>
          <a:ln/>
        </p:spPr>
      </p:sp>
      <p:sp>
        <p:nvSpPr>
          <p:cNvPr id="17" name="Text 15"/>
          <p:cNvSpPr/>
          <p:nvPr/>
        </p:nvSpPr>
        <p:spPr>
          <a:xfrm>
            <a:off x="822960" y="4782312"/>
            <a:ext cx="64008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8" name="Text 16"/>
          <p:cNvSpPr/>
          <p:nvPr/>
        </p:nvSpPr>
        <p:spPr>
          <a:xfrm>
            <a:off x="1691640" y="4700016"/>
            <a:ext cx="9601200" cy="41148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Talk less, listen more</a:t>
            </a:r>
            <a:endParaRPr lang="en-US" sz="1900" dirty="0"/>
          </a:p>
        </p:txBody>
      </p:sp>
      <p:sp>
        <p:nvSpPr>
          <p:cNvPr id="19" name="Text 17"/>
          <p:cNvSpPr/>
          <p:nvPr/>
        </p:nvSpPr>
        <p:spPr>
          <a:xfrm>
            <a:off x="1691640" y="5138928"/>
            <a:ext cx="9692640" cy="457200"/>
          </a:xfrm>
          <a:prstGeom prst="rect">
            <a:avLst/>
          </a:prstGeom>
          <a:noFill/>
          <a:ln/>
        </p:spPr>
        <p:txBody>
          <a:bodyPr wrap="square" lIns="0" tIns="0" rIns="0" bIns="0" rtlCol="0" anchor="ctr"/>
          <a:lstStyle/>
          <a:p>
            <a:pPr indent="0" marL="0">
              <a:buNone/>
            </a:pPr>
            <a:r>
              <a:rPr lang="en-US" sz="1450" dirty="0">
                <a:solidFill>
                  <a:srgbClr val="5F7284"/>
                </a:solidFill>
                <a:latin typeface="Calibri" pitchFamily="34" charset="0"/>
                <a:ea typeface="Calibri" pitchFamily="34" charset="-122"/>
                <a:cs typeface="Calibri" pitchFamily="34" charset="-120"/>
              </a:rPr>
              <a:t>Every minute you talk is a minute you're not learning — and a minute you might lead them.</a:t>
            </a:r>
            <a:endParaRPr lang="en-US" sz="1450" dirty="0"/>
          </a:p>
        </p:txBody>
      </p:sp>
      <p:sp>
        <p:nvSpPr>
          <p:cNvPr id="20" name="Text 1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21" name="Text 1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READING THE CONVERSATION</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Fluff vs. real signals</a:t>
            </a:r>
            <a:endParaRPr lang="en-US" sz="3100" dirty="0"/>
          </a:p>
        </p:txBody>
      </p:sp>
      <p:sp>
        <p:nvSpPr>
          <p:cNvPr id="5" name="Shape 3"/>
          <p:cNvSpPr/>
          <p:nvPr/>
        </p:nvSpPr>
        <p:spPr>
          <a:xfrm>
            <a:off x="548640" y="1965960"/>
            <a:ext cx="5440680" cy="3840480"/>
          </a:xfrm>
          <a:prstGeom prst="roundRect">
            <a:avLst>
              <a:gd name="adj" fmla="val 2143"/>
            </a:avLst>
          </a:prstGeom>
          <a:solidFill>
            <a:srgbClr val="FBECE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240280"/>
            <a:ext cx="548640" cy="548640"/>
          </a:xfrm>
          <a:prstGeom prst="ellipse">
            <a:avLst/>
          </a:prstGeom>
          <a:solidFill>
            <a:srgbClr val="D9614C"/>
          </a:solidFill>
          <a:ln/>
        </p:spPr>
      </p:sp>
      <p:pic>
        <p:nvPicPr>
          <p:cNvPr id="7" name="Image 0" descr="preencoded.png">    </p:cNvPr>
          <p:cNvPicPr>
            <a:picLocks noChangeAspect="1"/>
          </p:cNvPicPr>
          <p:nvPr/>
        </p:nvPicPr>
        <p:blipFill>
          <a:blip r:embed="rId1"/>
          <a:stretch>
            <a:fillRect/>
          </a:stretch>
        </p:blipFill>
        <p:spPr>
          <a:xfrm>
            <a:off x="971093" y="2388413"/>
            <a:ext cx="252374" cy="252374"/>
          </a:xfrm>
          <a:prstGeom prst="rect">
            <a:avLst/>
          </a:prstGeom>
        </p:spPr>
      </p:pic>
      <p:sp>
        <p:nvSpPr>
          <p:cNvPr id="8" name="Text 5"/>
          <p:cNvSpPr/>
          <p:nvPr/>
        </p:nvSpPr>
        <p:spPr>
          <a:xfrm>
            <a:off x="1508760" y="2286000"/>
            <a:ext cx="4206240" cy="457200"/>
          </a:xfrm>
          <a:prstGeom prst="rect">
            <a:avLst/>
          </a:prstGeom>
          <a:noFill/>
          <a:ln/>
        </p:spPr>
        <p:txBody>
          <a:bodyPr wrap="square" lIns="0" tIns="0" rIns="0" bIns="0" rtlCol="0" anchor="ctr"/>
          <a:lstStyle/>
          <a:p>
            <a:pPr indent="0" marL="0">
              <a:buNone/>
            </a:pPr>
            <a:r>
              <a:rPr lang="en-US" sz="1900" b="1" dirty="0">
                <a:solidFill>
                  <a:srgbClr val="D9614C"/>
                </a:solidFill>
                <a:latin typeface="Calibri" pitchFamily="34" charset="0"/>
                <a:ea typeface="Calibri" pitchFamily="34" charset="-122"/>
                <a:cs typeface="Calibri" pitchFamily="34" charset="-120"/>
              </a:rPr>
              <a:t>Ignore or redirect</a:t>
            </a:r>
            <a:endParaRPr lang="en-US" sz="1900" dirty="0"/>
          </a:p>
        </p:txBody>
      </p:sp>
      <p:sp>
        <p:nvSpPr>
          <p:cNvPr id="9" name="Text 6"/>
          <p:cNvSpPr/>
          <p:nvPr/>
        </p:nvSpPr>
        <p:spPr>
          <a:xfrm>
            <a:off x="896112" y="3017520"/>
            <a:ext cx="4892040" cy="2651760"/>
          </a:xfrm>
          <a:prstGeom prst="rect">
            <a:avLst/>
          </a:prstGeom>
          <a:noFill/>
          <a:ln/>
        </p:spPr>
        <p:txBody>
          <a:bodyPr wrap="square" lIns="0" tIns="0" rIns="0" bIns="0" rtlCol="0" anchor="t"/>
          <a:lstStyle/>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"Cool idea!" — compliments are fluff, not data</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"I usually / always…" — a generic; ask for the last actual time</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"I would definitely…" — a hypothetical; ask what they do now</a:t>
            </a:r>
            <a:endParaRPr lang="en-US" sz="1550" dirty="0"/>
          </a:p>
        </p:txBody>
      </p:sp>
      <p:sp>
        <p:nvSpPr>
          <p:cNvPr id="10" name="Shape 7"/>
          <p:cNvSpPr/>
          <p:nvPr/>
        </p:nvSpPr>
        <p:spPr>
          <a:xfrm>
            <a:off x="6172200" y="1965960"/>
            <a:ext cx="5440680" cy="3840480"/>
          </a:xfrm>
          <a:prstGeom prst="roundRect">
            <a:avLst>
              <a:gd name="adj" fmla="val 2143"/>
            </a:avLst>
          </a:prstGeom>
          <a:solidFill>
            <a:srgbClr val="EAF4EE"/>
          </a:solidFill>
          <a:ln/>
          <a:effectLst>
            <a:outerShdw sx="100000" sy="100000" kx="0" ky="0" algn="bl" rotWithShape="0" blurRad="88900" dist="38100" dir="5400000">
              <a:srgbClr val="000000">
                <a:alpha val="13000"/>
              </a:srgbClr>
            </a:outerShdw>
          </a:effectLst>
        </p:spPr>
      </p:sp>
      <p:sp>
        <p:nvSpPr>
          <p:cNvPr id="11" name="Shape 8"/>
          <p:cNvSpPr/>
          <p:nvPr/>
        </p:nvSpPr>
        <p:spPr>
          <a:xfrm>
            <a:off x="6446520" y="2240280"/>
            <a:ext cx="548640" cy="548640"/>
          </a:xfrm>
          <a:prstGeom prst="ellipse">
            <a:avLst/>
          </a:prstGeom>
          <a:solidFill>
            <a:srgbClr val="3E9C6B"/>
          </a:solidFill>
          <a:ln/>
        </p:spPr>
      </p:sp>
      <p:pic>
        <p:nvPicPr>
          <p:cNvPr id="12" name="Image 1" descr="preencoded.png">    </p:cNvPr>
          <p:cNvPicPr>
            <a:picLocks noChangeAspect="1"/>
          </p:cNvPicPr>
          <p:nvPr/>
        </p:nvPicPr>
        <p:blipFill>
          <a:blip r:embed="rId2"/>
          <a:stretch>
            <a:fillRect/>
          </a:stretch>
        </p:blipFill>
        <p:spPr>
          <a:xfrm>
            <a:off x="6594653" y="2388413"/>
            <a:ext cx="252374" cy="252374"/>
          </a:xfrm>
          <a:prstGeom prst="rect">
            <a:avLst/>
          </a:prstGeom>
        </p:spPr>
      </p:pic>
      <p:sp>
        <p:nvSpPr>
          <p:cNvPr id="13" name="Text 9"/>
          <p:cNvSpPr/>
          <p:nvPr/>
        </p:nvSpPr>
        <p:spPr>
          <a:xfrm>
            <a:off x="7159752" y="2286000"/>
            <a:ext cx="4297680" cy="457200"/>
          </a:xfrm>
          <a:prstGeom prst="rect">
            <a:avLst/>
          </a:prstGeom>
          <a:noFill/>
          <a:ln/>
        </p:spPr>
        <p:txBody>
          <a:bodyPr wrap="square" lIns="0" tIns="0" rIns="0" bIns="0" rtlCol="0" anchor="ctr"/>
          <a:lstStyle/>
          <a:p>
            <a:pPr indent="0" marL="0">
              <a:buNone/>
            </a:pPr>
            <a:r>
              <a:rPr lang="en-US" sz="1900" b="1" dirty="0">
                <a:solidFill>
                  <a:srgbClr val="3E9C6B"/>
                </a:solidFill>
                <a:latin typeface="Calibri" pitchFamily="34" charset="0"/>
                <a:ea typeface="Calibri" pitchFamily="34" charset="-122"/>
                <a:cs typeface="Calibri" pitchFamily="34" charset="-120"/>
              </a:rPr>
              <a:t>Real signals (gold)</a:t>
            </a:r>
            <a:endParaRPr lang="en-US" sz="1900" dirty="0"/>
          </a:p>
        </p:txBody>
      </p:sp>
      <p:sp>
        <p:nvSpPr>
          <p:cNvPr id="14" name="Text 10"/>
          <p:cNvSpPr/>
          <p:nvPr/>
        </p:nvSpPr>
        <p:spPr>
          <a:xfrm>
            <a:off x="6519672" y="3017520"/>
            <a:ext cx="4892040" cy="2651760"/>
          </a:xfrm>
          <a:prstGeom prst="rect">
            <a:avLst/>
          </a:prstGeom>
          <a:noFill/>
          <a:ln/>
        </p:spPr>
        <p:txBody>
          <a:bodyPr wrap="square" lIns="0" tIns="0" rIns="0" bIns="0" rtlCol="0" anchor="t"/>
          <a:lstStyle/>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 already spend time or money on it</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They've built a workaround of their own</a:t>
            </a:r>
            <a:endParaRPr lang="en-US" sz="1550" dirty="0"/>
          </a:p>
          <a:p>
            <a:pPr marL="190500" indent="-190500">
              <a:spcAft>
                <a:spcPts val="1100"/>
              </a:spcAft>
              <a:buSzPct val="100000"/>
              <a:buChar char="•"/>
            </a:pPr>
            <a:r>
              <a:rPr lang="en-US" sz="1550" dirty="0">
                <a:solidFill>
                  <a:srgbClr val="1E2A36"/>
                </a:solidFill>
                <a:latin typeface="Calibri" pitchFamily="34" charset="0"/>
                <a:ea typeface="Calibri" pitchFamily="34" charset="-122"/>
                <a:cs typeface="Calibri" pitchFamily="34" charset="-120"/>
              </a:rPr>
              <a:t>They get visibly frustrated or emotional</a:t>
            </a:r>
            <a:endParaRPr lang="en-US" sz="1550" dirty="0"/>
          </a:p>
          <a:p>
            <a:pPr marL="190500" indent="-190500">
              <a:buSzPct val="100000"/>
              <a:buChar char="•"/>
            </a:pPr>
            <a:r>
              <a:rPr lang="en-US" sz="1550" dirty="0">
                <a:solidFill>
                  <a:srgbClr val="1E2A36"/>
                </a:solidFill>
                <a:latin typeface="Calibri" pitchFamily="34" charset="0"/>
                <a:ea typeface="Calibri" pitchFamily="34" charset="-122"/>
                <a:cs typeface="Calibri" pitchFamily="34" charset="-120"/>
              </a:rPr>
              <a:t>They ask you to follow up ("email me!")</a:t>
            </a:r>
            <a:endParaRPr lang="en-US" sz="15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INTERVIEW CRAFT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From leading to learning</a:t>
            </a:r>
            <a:endParaRPr lang="en-US" sz="3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65960"/>
          <a:ext cx="11064240" cy="914400"/>
        </p:xfrm>
        <a:graphic>
          <a:graphicData uri="http://schemas.openxmlformats.org/drawingml/2006/table">
            <a:tbl>
              <a:tblPr/>
              <a:tblGrid>
                <a:gridCol w="5120640"/>
                <a:gridCol w="5943600"/>
              </a:tblGrid>
              <a:tr h="603504">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Instead of (leading)</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614C"/>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Ask (learning)</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3E9C6B"/>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"Would you use an app that does X?"</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"Tell me about the last time you dealt with [problem]."</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 you think this is a good idea?"</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"How do you handle this today?"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 you usually…?"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"Walk me through the last time you did…"</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"How much would you pay for this?"</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"What do you currently spend (time/money) on this?"</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4F1F0"/>
                    </a:solidFill>
                  </a:tcPr>
                </a:tc>
              </a:tr>
              <a:tr h="603504">
                <a:tc>
                  <a:txBody>
                    <a:bodyPr/>
                    <a:lstStyle/>
                    <a:p>
                      <a:pPr indent="0" marL="0">
                        <a:buNone/>
                      </a:pPr>
                      <a:r>
                        <a:rPr lang="en-US" sz="1450" i="1" dirty="0">
                          <a:solidFill>
                            <a:srgbClr val="5F7284"/>
                          </a:solidFill>
                          <a:latin typeface="Calibri" pitchFamily="34" charset="0"/>
                          <a:ea typeface="Calibri" pitchFamily="34" charset="-122"/>
                          <a:cs typeface="Calibri" pitchFamily="34" charset="-120"/>
                        </a:rPr>
                        <a:t>"Does this problem bother you?"</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50" b="1" dirty="0">
                          <a:solidFill>
                            <a:srgbClr val="1E2A36"/>
                          </a:solidFill>
                          <a:latin typeface="Calibri" pitchFamily="34" charset="0"/>
                          <a:ea typeface="Calibri" pitchFamily="34" charset="-122"/>
                          <a:cs typeface="Calibri" pitchFamily="34" charset="-120"/>
                        </a:rPr>
                        <a:t>"When did this last cost you time or money?"</a:t>
                      </a:r>
                      <a:endParaRPr lang="en-US" sz="1450" dirty="0">
                        <a:latin typeface="Calibri" charset="0"/>
                        <a:ea typeface="Calibri" charset="0"/>
                        <a:cs typeface="Calibri" charset="0"/>
                      </a:endParaRPr>
                    </a:p>
                  </a:txBody>
                  <a:tcPr marL="127000" marR="127000" marT="50800" marB="50800"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5532120"/>
            <a:ext cx="11064240" cy="685800"/>
          </a:xfrm>
          <a:prstGeom prst="roundRect">
            <a:avLst>
              <a:gd name="adj" fmla="val 12000"/>
            </a:avLst>
          </a:prstGeom>
          <a:solidFill>
            <a:srgbClr val="14233A"/>
          </a:solidFill>
          <a:ln/>
          <a:effectLst>
            <a:outerShdw sx="100000" sy="100000" kx="0" ky="0" algn="bl" rotWithShape="0" blurRad="88900" dist="38100" dir="5400000">
              <a:srgbClr val="000000">
                <a:alpha val="13000"/>
              </a:srgbClr>
            </a:outerShdw>
          </a:effectLst>
        </p:spPr>
      </p:sp>
      <p:sp>
        <p:nvSpPr>
          <p:cNvPr id="7" name="Text 4"/>
          <p:cNvSpPr/>
          <p:nvPr/>
        </p:nvSpPr>
        <p:spPr>
          <a:xfrm>
            <a:off x="822960" y="5532120"/>
            <a:ext cx="10515600" cy="685800"/>
          </a:xfrm>
          <a:prstGeom prst="rect">
            <a:avLst/>
          </a:prstGeom>
          <a:noFill/>
          <a:ln/>
        </p:spPr>
        <p:txBody>
          <a:bodyPr wrap="square" lIns="0" tIns="0" rIns="0" bIns="0" rtlCol="0" anchor="ctr"/>
          <a:lstStyle/>
          <a:p>
            <a:pPr algn="ctr" indent="0" marL="0">
              <a:buNone/>
            </a:pPr>
            <a:r>
              <a:rPr lang="en-US" sz="1450" b="1" dirty="0">
                <a:solidFill>
                  <a:srgbClr val="E8A33D"/>
                </a:solidFill>
                <a:latin typeface="Calibri" pitchFamily="34" charset="0"/>
                <a:ea typeface="Calibri" pitchFamily="34" charset="-122"/>
                <a:cs typeface="Calibri" pitchFamily="34" charset="-120"/>
              </a:rPr>
              <a:t>Follow-up moves:  </a:t>
            </a:r>
            <a:pPr algn="ctr" indent="0" marL="0">
              <a:buNone/>
            </a:pPr>
            <a:r>
              <a:rPr lang="en-US" sz="1450" dirty="0">
                <a:solidFill>
                  <a:srgbClr val="FFFFFF"/>
                </a:solidFill>
                <a:latin typeface="Calibri" pitchFamily="34" charset="0"/>
                <a:ea typeface="Calibri" pitchFamily="34" charset="-122"/>
                <a:cs typeface="Calibri" pitchFamily="34" charset="-120"/>
              </a:rPr>
              <a:t>"Walk me through the last time…"  ·  "How do you handle it now?"  ·  "Why?"  ·  then be quiet.</a:t>
            </a:r>
            <a:endParaRPr lang="en-US" sz="1450" dirty="0"/>
          </a:p>
        </p:txBody>
      </p:sp>
      <p:sp>
        <p:nvSpPr>
          <p:cNvPr id="8" name="Text 5"/>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9" name="Text 6"/>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TALKING TO REAL PEOPLE</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Consent &amp; ethics</a:t>
            </a:r>
            <a:endParaRPr lang="en-US" sz="3100" dirty="0"/>
          </a:p>
        </p:txBody>
      </p:sp>
      <p:sp>
        <p:nvSpPr>
          <p:cNvPr id="5" name="Shape 3"/>
          <p:cNvSpPr/>
          <p:nvPr/>
        </p:nvSpPr>
        <p:spPr>
          <a:xfrm>
            <a:off x="548640" y="1874520"/>
            <a:ext cx="6720840" cy="3977640"/>
          </a:xfrm>
          <a:prstGeom prst="roundRect">
            <a:avLst>
              <a:gd name="adj" fmla="val 2069"/>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822960" y="2148840"/>
            <a:ext cx="566928" cy="566928"/>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976031" y="2301911"/>
            <a:ext cx="260787" cy="260787"/>
          </a:xfrm>
          <a:prstGeom prst="rect">
            <a:avLst/>
          </a:prstGeom>
        </p:spPr>
      </p:pic>
      <p:sp>
        <p:nvSpPr>
          <p:cNvPr id="8" name="Text 5"/>
          <p:cNvSpPr/>
          <p:nvPr/>
        </p:nvSpPr>
        <p:spPr>
          <a:xfrm>
            <a:off x="1536192" y="2194560"/>
            <a:ext cx="5394960" cy="457200"/>
          </a:xfrm>
          <a:prstGeom prst="rect">
            <a:avLst/>
          </a:prstGeom>
          <a:noFill/>
          <a:ln/>
        </p:spPr>
        <p:txBody>
          <a:bodyPr wrap="square" lIns="0" tIns="0" rIns="0" bIns="0" rtlCol="0" anchor="ctr"/>
          <a:lstStyle/>
          <a:p>
            <a:pPr indent="0" marL="0">
              <a:buNone/>
            </a:pPr>
            <a:r>
              <a:rPr lang="en-US" sz="1900" b="1" dirty="0">
                <a:solidFill>
                  <a:srgbClr val="1E2A36"/>
                </a:solidFill>
                <a:latin typeface="Calibri" pitchFamily="34" charset="0"/>
                <a:ea typeface="Calibri" pitchFamily="34" charset="-122"/>
                <a:cs typeface="Calibri" pitchFamily="34" charset="-120"/>
              </a:rPr>
              <a:t>The norms</a:t>
            </a:r>
            <a:endParaRPr lang="en-US" sz="1900" dirty="0"/>
          </a:p>
        </p:txBody>
      </p:sp>
      <p:sp>
        <p:nvSpPr>
          <p:cNvPr id="9" name="Text 6"/>
          <p:cNvSpPr/>
          <p:nvPr/>
        </p:nvSpPr>
        <p:spPr>
          <a:xfrm>
            <a:off x="896112" y="2926080"/>
            <a:ext cx="6263640" cy="2834640"/>
          </a:xfrm>
          <a:prstGeom prst="rect">
            <a:avLst/>
          </a:prstGeom>
          <a:noFill/>
          <a:ln/>
        </p:spPr>
        <p:txBody>
          <a:bodyPr wrap="square" lIns="0" tIns="0" rIns="0" bIns="0" rtlCol="0" anchor="t"/>
          <a:lstStyle/>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Ask permission and say why</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Be honest — you're learning, not selling</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No recording without permission</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Respect their time and their "no"</a:t>
            </a:r>
            <a:endParaRPr lang="en-US" sz="1500" dirty="0"/>
          </a:p>
          <a:p>
            <a:pPr marL="190500" indent="-190500">
              <a:spcAft>
                <a:spcPts val="900"/>
              </a:spcAft>
              <a:buSzPct val="100000"/>
              <a:buChar char="•"/>
            </a:pPr>
            <a:r>
              <a:rPr lang="en-US" sz="1500" dirty="0">
                <a:solidFill>
                  <a:srgbClr val="1E2A36"/>
                </a:solidFill>
                <a:latin typeface="Calibri" pitchFamily="34" charset="0"/>
                <a:ea typeface="Calibri" pitchFamily="34" charset="-122"/>
                <a:cs typeface="Calibri" pitchFamily="34" charset="-120"/>
              </a:rPr>
              <a:t>Protect privacy — anonymize your notes</a:t>
            </a:r>
            <a:endParaRPr lang="en-US" sz="1500" dirty="0"/>
          </a:p>
          <a:p>
            <a:pPr marL="190500" indent="-190500">
              <a:buSzPct val="100000"/>
              <a:buChar char="•"/>
            </a:pPr>
            <a:r>
              <a:rPr lang="en-US" sz="1500" dirty="0">
                <a:solidFill>
                  <a:srgbClr val="1E2A36"/>
                </a:solidFill>
                <a:latin typeface="Calibri" pitchFamily="34" charset="0"/>
                <a:ea typeface="Calibri" pitchFamily="34" charset="-122"/>
                <a:cs typeface="Calibri" pitchFamily="34" charset="-120"/>
              </a:rPr>
              <a:t>Sensitive topics? Check with me first</a:t>
            </a:r>
            <a:endParaRPr lang="en-US" sz="1500" dirty="0"/>
          </a:p>
        </p:txBody>
      </p:sp>
      <p:sp>
        <p:nvSpPr>
          <p:cNvPr id="10" name="Shape 7"/>
          <p:cNvSpPr/>
          <p:nvPr/>
        </p:nvSpPr>
        <p:spPr>
          <a:xfrm>
            <a:off x="7452360" y="1874520"/>
            <a:ext cx="4160520" cy="3977640"/>
          </a:xfrm>
          <a:prstGeom prst="roundRect">
            <a:avLst>
              <a:gd name="adj" fmla="val 2069"/>
            </a:avLst>
          </a:prstGeom>
          <a:solidFill>
            <a:srgbClr val="14233A"/>
          </a:solidFill>
          <a:ln/>
          <a:effectLst>
            <a:outerShdw sx="100000" sy="100000" kx="0" ky="0" algn="bl" rotWithShape="0" blurRad="88900" dist="38100" dir="5400000">
              <a:srgbClr val="000000">
                <a:alpha val="13000"/>
              </a:srgbClr>
            </a:outerShdw>
          </a:effectLst>
        </p:spPr>
      </p:sp>
      <p:sp>
        <p:nvSpPr>
          <p:cNvPr id="11" name="Shape 8"/>
          <p:cNvSpPr/>
          <p:nvPr/>
        </p:nvSpPr>
        <p:spPr>
          <a:xfrm>
            <a:off x="7726680" y="2148840"/>
            <a:ext cx="502920" cy="502920"/>
          </a:xfrm>
          <a:prstGeom prst="ellipse">
            <a:avLst/>
          </a:prstGeom>
          <a:solidFill>
            <a:srgbClr val="E8A33D"/>
          </a:solidFill>
          <a:ln/>
        </p:spPr>
      </p:sp>
      <p:pic>
        <p:nvPicPr>
          <p:cNvPr id="12" name="Image 1" descr="preencoded.png">    </p:cNvPr>
          <p:cNvPicPr>
            <a:picLocks noChangeAspect="1"/>
          </p:cNvPicPr>
          <p:nvPr/>
        </p:nvPicPr>
        <p:blipFill>
          <a:blip r:embed="rId2"/>
          <a:stretch>
            <a:fillRect/>
          </a:stretch>
        </p:blipFill>
        <p:spPr>
          <a:xfrm>
            <a:off x="7862468" y="2284628"/>
            <a:ext cx="231343" cy="231343"/>
          </a:xfrm>
          <a:prstGeom prst="rect">
            <a:avLst/>
          </a:prstGeom>
        </p:spPr>
      </p:pic>
      <p:sp>
        <p:nvSpPr>
          <p:cNvPr id="13" name="Text 9"/>
          <p:cNvSpPr/>
          <p:nvPr/>
        </p:nvSpPr>
        <p:spPr>
          <a:xfrm>
            <a:off x="8412480" y="2194560"/>
            <a:ext cx="3017520" cy="45720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 consent script</a:t>
            </a:r>
            <a:endParaRPr lang="en-US" sz="1700" dirty="0"/>
          </a:p>
        </p:txBody>
      </p:sp>
      <p:sp>
        <p:nvSpPr>
          <p:cNvPr id="14" name="Text 10"/>
          <p:cNvSpPr/>
          <p:nvPr/>
        </p:nvSpPr>
        <p:spPr>
          <a:xfrm>
            <a:off x="7726680" y="2926080"/>
            <a:ext cx="3703320" cy="2194560"/>
          </a:xfrm>
          <a:prstGeom prst="rect">
            <a:avLst/>
          </a:prstGeom>
          <a:noFill/>
          <a:ln/>
        </p:spPr>
        <p:txBody>
          <a:bodyPr wrap="square" lIns="0" tIns="0" rIns="0" bIns="0" rtlCol="0" anchor="t"/>
          <a:lstStyle/>
          <a:p>
            <a:pPr indent="0" marL="0">
              <a:lnSpc>
                <a:spcPct val="108000"/>
              </a:lnSpc>
              <a:buNone/>
            </a:pPr>
            <a:r>
              <a:rPr lang="en-US" sz="1550" i="1" dirty="0">
                <a:solidFill>
                  <a:srgbClr val="CFE0E9"/>
                </a:solidFill>
                <a:latin typeface="Calibri" pitchFamily="34" charset="0"/>
                <a:ea typeface="Calibri" pitchFamily="34" charset="-122"/>
                <a:cs typeface="Calibri" pitchFamily="34" charset="-120"/>
              </a:rPr>
              <a:t>"I'm a student learning about [problem] — can I ask you a few questions? About 10 minutes. You can skip anything or stop anytime. Okay if I take a few notes?"</a:t>
            </a:r>
            <a:endParaRPr lang="en-US" sz="1550" dirty="0"/>
          </a:p>
        </p:txBody>
      </p:sp>
      <p:sp>
        <p:nvSpPr>
          <p:cNvPr id="15" name="Text 11"/>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6" name="Text 12"/>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0424160" y="-1188720"/>
            <a:ext cx="3291840" cy="3291840"/>
          </a:xfrm>
          <a:prstGeom prst="ellipse">
            <a:avLst/>
          </a:prstGeom>
          <a:solidFill>
            <a:srgbClr val="1C3252"/>
          </a:solidFill>
          <a:ln/>
        </p:spPr>
      </p:sp>
      <p:sp>
        <p:nvSpPr>
          <p:cNvPr id="3" name="Shape 1"/>
          <p:cNvSpPr/>
          <p:nvPr/>
        </p:nvSpPr>
        <p:spPr>
          <a:xfrm>
            <a:off x="566928" y="548640"/>
            <a:ext cx="137160" cy="137160"/>
          </a:xfrm>
          <a:prstGeom prst="ellipse">
            <a:avLst/>
          </a:prstGeom>
          <a:solidFill>
            <a:srgbClr val="E8A33D"/>
          </a:solidFill>
          <a:ln/>
        </p:spPr>
      </p:sp>
      <p:sp>
        <p:nvSpPr>
          <p:cNvPr id="4" name="Text 2"/>
          <p:cNvSpPr/>
          <p:nvPr/>
        </p:nvSpPr>
        <p:spPr>
          <a:xfrm>
            <a:off x="795528" y="457200"/>
            <a:ext cx="10515600" cy="310896"/>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IN-CLASS ACTIVITY · ~24 MIN</a:t>
            </a:r>
            <a:endParaRPr lang="en-US" sz="1400" dirty="0"/>
          </a:p>
        </p:txBody>
      </p:sp>
      <p:sp>
        <p:nvSpPr>
          <p:cNvPr id="5" name="Text 3"/>
          <p:cNvSpPr/>
          <p:nvPr/>
        </p:nvSpPr>
        <p:spPr>
          <a:xfrm>
            <a:off x="548640" y="822960"/>
            <a:ext cx="1106424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Mock interviews — three rounds</a:t>
            </a:r>
            <a:endParaRPr lang="en-US" sz="3200" dirty="0"/>
          </a:p>
        </p:txBody>
      </p:sp>
      <p:sp>
        <p:nvSpPr>
          <p:cNvPr id="6" name="Shape 4"/>
          <p:cNvSpPr/>
          <p:nvPr/>
        </p:nvSpPr>
        <p:spPr>
          <a:xfrm>
            <a:off x="548640"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7" name="Shape 5"/>
          <p:cNvSpPr/>
          <p:nvPr/>
        </p:nvSpPr>
        <p:spPr>
          <a:xfrm>
            <a:off x="822960" y="2148840"/>
            <a:ext cx="548640" cy="548640"/>
          </a:xfrm>
          <a:prstGeom prst="ellipse">
            <a:avLst/>
          </a:prstGeom>
          <a:solidFill>
            <a:srgbClr val="E8A33D"/>
          </a:solidFill>
          <a:ln/>
        </p:spPr>
      </p:sp>
      <p:pic>
        <p:nvPicPr>
          <p:cNvPr id="8" name="Image 0" descr="preencoded.png">    </p:cNvPr>
          <p:cNvPicPr>
            <a:picLocks noChangeAspect="1"/>
          </p:cNvPicPr>
          <p:nvPr/>
        </p:nvPicPr>
        <p:blipFill>
          <a:blip r:embed="rId1"/>
          <a:stretch>
            <a:fillRect/>
          </a:stretch>
        </p:blipFill>
        <p:spPr>
          <a:xfrm>
            <a:off x="971093" y="2296973"/>
            <a:ext cx="252374" cy="252374"/>
          </a:xfrm>
          <a:prstGeom prst="rect">
            <a:avLst/>
          </a:prstGeom>
        </p:spPr>
      </p:pic>
      <p:sp>
        <p:nvSpPr>
          <p:cNvPr id="9" name="Text 6"/>
          <p:cNvSpPr/>
          <p:nvPr/>
        </p:nvSpPr>
        <p:spPr>
          <a:xfrm>
            <a:off x="1508760"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Interviewer</a:t>
            </a:r>
            <a:endParaRPr lang="en-US" sz="1800" dirty="0"/>
          </a:p>
        </p:txBody>
      </p:sp>
      <p:sp>
        <p:nvSpPr>
          <p:cNvPr id="10" name="Text 7"/>
          <p:cNvSpPr/>
          <p:nvPr/>
        </p:nvSpPr>
        <p:spPr>
          <a:xfrm>
            <a:off x="822960"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Good questions only. No pitching, no solutions.</a:t>
            </a:r>
            <a:endParaRPr lang="en-US" sz="1350" dirty="0"/>
          </a:p>
        </p:txBody>
      </p:sp>
      <p:sp>
        <p:nvSpPr>
          <p:cNvPr id="11" name="Shape 8"/>
          <p:cNvSpPr/>
          <p:nvPr/>
        </p:nvSpPr>
        <p:spPr>
          <a:xfrm>
            <a:off x="4270248"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12" name="Shape 9"/>
          <p:cNvSpPr/>
          <p:nvPr/>
        </p:nvSpPr>
        <p:spPr>
          <a:xfrm>
            <a:off x="4544568" y="2148840"/>
            <a:ext cx="548640" cy="548640"/>
          </a:xfrm>
          <a:prstGeom prst="ellipse">
            <a:avLst/>
          </a:prstGeom>
          <a:solidFill>
            <a:srgbClr val="E8A33D"/>
          </a:solidFill>
          <a:ln/>
        </p:spPr>
      </p:sp>
      <p:pic>
        <p:nvPicPr>
          <p:cNvPr id="13" name="Image 1" descr="preencoded.png">    </p:cNvPr>
          <p:cNvPicPr>
            <a:picLocks noChangeAspect="1"/>
          </p:cNvPicPr>
          <p:nvPr/>
        </p:nvPicPr>
        <p:blipFill>
          <a:blip r:embed="rId2"/>
          <a:stretch>
            <a:fillRect/>
          </a:stretch>
        </p:blipFill>
        <p:spPr>
          <a:xfrm>
            <a:off x="4692701" y="2296973"/>
            <a:ext cx="252374" cy="252374"/>
          </a:xfrm>
          <a:prstGeom prst="rect">
            <a:avLst/>
          </a:prstGeom>
        </p:spPr>
      </p:pic>
      <p:sp>
        <p:nvSpPr>
          <p:cNvPr id="14" name="Text 10"/>
          <p:cNvSpPr/>
          <p:nvPr/>
        </p:nvSpPr>
        <p:spPr>
          <a:xfrm>
            <a:off x="5230368"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User</a:t>
            </a:r>
            <a:endParaRPr lang="en-US" sz="1800" dirty="0"/>
          </a:p>
        </p:txBody>
      </p:sp>
      <p:sp>
        <p:nvSpPr>
          <p:cNvPr id="15" name="Text 11"/>
          <p:cNvSpPr/>
          <p:nvPr/>
        </p:nvSpPr>
        <p:spPr>
          <a:xfrm>
            <a:off x="4544568"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Answer truthfully from your own life.</a:t>
            </a:r>
            <a:endParaRPr lang="en-US" sz="1350" dirty="0"/>
          </a:p>
        </p:txBody>
      </p:sp>
      <p:sp>
        <p:nvSpPr>
          <p:cNvPr id="16" name="Shape 12"/>
          <p:cNvSpPr/>
          <p:nvPr/>
        </p:nvSpPr>
        <p:spPr>
          <a:xfrm>
            <a:off x="7991856" y="1920240"/>
            <a:ext cx="3630168" cy="1874520"/>
          </a:xfrm>
          <a:prstGeom prst="roundRect">
            <a:avLst>
              <a:gd name="adj" fmla="val 4390"/>
            </a:avLst>
          </a:prstGeom>
          <a:solidFill>
            <a:srgbClr val="1E3352"/>
          </a:solidFill>
          <a:ln/>
          <a:effectLst>
            <a:outerShdw sx="100000" sy="100000" kx="0" ky="0" algn="bl" rotWithShape="0" blurRad="88900" dist="38100" dir="5400000">
              <a:srgbClr val="000000">
                <a:alpha val="13000"/>
              </a:srgbClr>
            </a:outerShdw>
          </a:effectLst>
        </p:spPr>
      </p:sp>
      <p:sp>
        <p:nvSpPr>
          <p:cNvPr id="17" name="Shape 13"/>
          <p:cNvSpPr/>
          <p:nvPr/>
        </p:nvSpPr>
        <p:spPr>
          <a:xfrm>
            <a:off x="8266176" y="2148840"/>
            <a:ext cx="548640" cy="548640"/>
          </a:xfrm>
          <a:prstGeom prst="ellipse">
            <a:avLst/>
          </a:prstGeom>
          <a:solidFill>
            <a:srgbClr val="E8A33D"/>
          </a:solidFill>
          <a:ln/>
        </p:spPr>
      </p:sp>
      <p:pic>
        <p:nvPicPr>
          <p:cNvPr id="18" name="Image 2" descr="preencoded.png">    </p:cNvPr>
          <p:cNvPicPr>
            <a:picLocks noChangeAspect="1"/>
          </p:cNvPicPr>
          <p:nvPr/>
        </p:nvPicPr>
        <p:blipFill>
          <a:blip r:embed="rId3"/>
          <a:stretch>
            <a:fillRect/>
          </a:stretch>
        </p:blipFill>
        <p:spPr>
          <a:xfrm>
            <a:off x="8414309" y="2296973"/>
            <a:ext cx="252374" cy="252374"/>
          </a:xfrm>
          <a:prstGeom prst="rect">
            <a:avLst/>
          </a:prstGeom>
        </p:spPr>
      </p:pic>
      <p:sp>
        <p:nvSpPr>
          <p:cNvPr id="19" name="Text 14"/>
          <p:cNvSpPr/>
          <p:nvPr/>
        </p:nvSpPr>
        <p:spPr>
          <a:xfrm>
            <a:off x="8951976" y="2194560"/>
            <a:ext cx="2560320" cy="50292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Observer</a:t>
            </a:r>
            <a:endParaRPr lang="en-US" sz="1800" dirty="0"/>
          </a:p>
        </p:txBody>
      </p:sp>
      <p:sp>
        <p:nvSpPr>
          <p:cNvPr id="20" name="Text 15"/>
          <p:cNvSpPr/>
          <p:nvPr/>
        </p:nvSpPr>
        <p:spPr>
          <a:xfrm>
            <a:off x="8266176" y="2834640"/>
            <a:ext cx="3108960" cy="822960"/>
          </a:xfrm>
          <a:prstGeom prst="rect">
            <a:avLst/>
          </a:prstGeom>
          <a:noFill/>
          <a:ln/>
        </p:spPr>
        <p:txBody>
          <a:bodyPr wrap="square" lIns="0" tIns="0" rIns="0" bIns="0" rtlCol="0" anchor="t"/>
          <a:lstStyle/>
          <a:p>
            <a:pPr indent="0" marL="0">
              <a:lnSpc>
                <a:spcPct val="104000"/>
              </a:lnSpc>
              <a:buNone/>
            </a:pPr>
            <a:r>
              <a:rPr lang="en-US" sz="1350" dirty="0">
                <a:solidFill>
                  <a:srgbClr val="CFE0E9"/>
                </a:solidFill>
                <a:latin typeface="Calibri" pitchFamily="34" charset="0"/>
                <a:ea typeface="Calibri" pitchFamily="34" charset="-122"/>
                <a:cs typeface="Calibri" pitchFamily="34" charset="-120"/>
              </a:rPr>
              <a:t>Tally leading questions; capture the real needs.</a:t>
            </a:r>
            <a:endParaRPr lang="en-US" sz="1350" dirty="0"/>
          </a:p>
        </p:txBody>
      </p:sp>
      <p:sp>
        <p:nvSpPr>
          <p:cNvPr id="21" name="Text 16"/>
          <p:cNvSpPr/>
          <p:nvPr/>
        </p:nvSpPr>
        <p:spPr>
          <a:xfrm>
            <a:off x="868680" y="4114800"/>
            <a:ext cx="10607040" cy="1737360"/>
          </a:xfrm>
          <a:prstGeom prst="rect">
            <a:avLst/>
          </a:prstGeom>
          <a:noFill/>
          <a:ln/>
        </p:spPr>
        <p:txBody>
          <a:bodyPr wrap="square" lIns="0" tIns="0" rIns="0" bIns="0" rtlCol="0" anchor="t"/>
          <a:lstStyle/>
          <a:p>
            <a:pPr marL="190500" indent="-1905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Rotate roles each round so everyone interviews once.</a:t>
            </a:r>
            <a:endParaRPr lang="en-US" sz="1550" dirty="0"/>
          </a:p>
          <a:p>
            <a:pPr marL="190500" indent="-190500">
              <a:spcAft>
                <a:spcPts val="800"/>
              </a:spcAft>
              <a:buSzPct val="100000"/>
              <a:buChar char="•"/>
            </a:pPr>
            <a:r>
              <a:rPr lang="en-US" sz="1550" dirty="0">
                <a:solidFill>
                  <a:srgbClr val="FFFFFF"/>
                </a:solidFill>
                <a:latin typeface="Calibri" pitchFamily="34" charset="0"/>
                <a:ea typeface="Calibri" pitchFamily="34" charset="-122"/>
                <a:cs typeface="Calibri" pitchFamily="34" charset="-120"/>
              </a:rPr>
              <a:t>Each round ~6 min: ~5 min interview + ~1 min rotate &amp; jot.</a:t>
            </a:r>
            <a:endParaRPr lang="en-US" sz="1550" dirty="0"/>
          </a:p>
          <a:p>
            <a:pPr marL="190500" indent="-190500">
              <a:buSzPct val="100000"/>
              <a:buChar char="•"/>
            </a:pPr>
            <a:r>
              <a:rPr lang="en-US" sz="1550" dirty="0">
                <a:solidFill>
                  <a:srgbClr val="FFFFFF"/>
                </a:solidFill>
                <a:latin typeface="Calibri" pitchFamily="34" charset="0"/>
                <a:ea typeface="Calibri" pitchFamily="34" charset="-122"/>
                <a:cs typeface="Calibri" pitchFamily="34" charset="-120"/>
              </a:rPr>
              <a:t>"User" picks a real problem they actually have (prompt cards).</a:t>
            </a:r>
            <a:endParaRPr lang="en-US" sz="1550" dirty="0"/>
          </a:p>
        </p:txBody>
      </p:sp>
      <p:sp>
        <p:nvSpPr>
          <p:cNvPr id="22" name="Text 17"/>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7E92A8"/>
                </a:solidFill>
                <a:latin typeface="Calibri" pitchFamily="34" charset="0"/>
                <a:ea typeface="Calibri" pitchFamily="34" charset="-122"/>
                <a:cs typeface="Calibri" pitchFamily="34" charset="-120"/>
              </a:rPr>
              <a:t>CS 301R · Session 4 · Discovery Workshop</a:t>
            </a:r>
            <a:endParaRPr lang="en-US" sz="1000" dirty="0"/>
          </a:p>
        </p:txBody>
      </p:sp>
      <p:sp>
        <p:nvSpPr>
          <p:cNvPr id="23" name="Text 1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7E92A8"/>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WHEN YOU CAN'T REACH A REAL USER</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Build an honest persona</a:t>
            </a:r>
            <a:endParaRPr lang="en-US" sz="3100" dirty="0"/>
          </a:p>
        </p:txBody>
      </p:sp>
      <p:sp>
        <p:nvSpPr>
          <p:cNvPr id="5" name="Shape 3"/>
          <p:cNvSpPr/>
          <p:nvPr/>
        </p:nvSpPr>
        <p:spPr>
          <a:xfrm>
            <a:off x="548640" y="1920240"/>
            <a:ext cx="11064240" cy="1371600"/>
          </a:xfrm>
          <a:prstGeom prst="roundRect">
            <a:avLst>
              <a:gd name="adj" fmla="val 6000"/>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504542"/>
            <a:ext cx="294437" cy="294437"/>
          </a:xfrm>
          <a:prstGeom prst="rect">
            <a:avLst/>
          </a:prstGeom>
        </p:spPr>
      </p:pic>
      <p:sp>
        <p:nvSpPr>
          <p:cNvPr id="8" name="Text 5"/>
          <p:cNvSpPr/>
          <p:nvPr/>
        </p:nvSpPr>
        <p:spPr>
          <a:xfrm>
            <a:off x="1828800" y="1920240"/>
            <a:ext cx="9509760" cy="1371600"/>
          </a:xfrm>
          <a:prstGeom prst="rect">
            <a:avLst/>
          </a:prstGeom>
          <a:noFill/>
          <a:ln/>
        </p:spPr>
        <p:txBody>
          <a:bodyPr wrap="square" lIns="0" tIns="0" rIns="0" bIns="0" rtlCol="0" anchor="ctr"/>
          <a:lstStyle/>
          <a:p>
            <a:pPr indent="0" marL="0">
              <a:lnSpc>
                <a:spcPct val="105000"/>
              </a:lnSpc>
              <a:buNone/>
            </a:pPr>
            <a:r>
              <a:rPr lang="en-US" sz="1700" dirty="0">
                <a:solidFill>
                  <a:srgbClr val="1E2A36"/>
                </a:solidFill>
                <a:latin typeface="Calibri" pitchFamily="34" charset="0"/>
                <a:ea typeface="Calibri" pitchFamily="34" charset="-122"/>
                <a:cs typeface="Calibri" pitchFamily="34" charset="-120"/>
              </a:rPr>
              <a:t>A persona here is NOT an invented character — it's a summary of what you actually found, with every claim labeled.</a:t>
            </a:r>
            <a:endParaRPr lang="en-US" sz="1700" dirty="0"/>
          </a:p>
        </p:txBody>
      </p:sp>
      <p:sp>
        <p:nvSpPr>
          <p:cNvPr id="9" name="Text 6"/>
          <p:cNvSpPr/>
          <p:nvPr/>
        </p:nvSpPr>
        <p:spPr>
          <a:xfrm>
            <a:off x="548640" y="3520440"/>
            <a:ext cx="10972800" cy="365760"/>
          </a:xfrm>
          <a:prstGeom prst="rect">
            <a:avLst/>
          </a:prstGeom>
          <a:noFill/>
          <a:ln/>
        </p:spPr>
        <p:txBody>
          <a:bodyPr wrap="square" lIns="0" tIns="0" rIns="0" bIns="0" rtlCol="0" anchor="ctr"/>
          <a:lstStyle/>
          <a:p>
            <a:pPr indent="0" marL="0">
              <a:buNone/>
            </a:pPr>
            <a:r>
              <a:rPr lang="en-US" sz="1600" b="1" dirty="0">
                <a:solidFill>
                  <a:srgbClr val="0E6E6D"/>
                </a:solidFill>
                <a:latin typeface="Calibri" pitchFamily="34" charset="0"/>
                <a:ea typeface="Calibri" pitchFamily="34" charset="-122"/>
                <a:cs typeface="Calibri" pitchFamily="34" charset="-120"/>
              </a:rPr>
              <a:t>"Documented honestly" means:</a:t>
            </a:r>
            <a:endParaRPr lang="en-US" sz="1600" dirty="0"/>
          </a:p>
        </p:txBody>
      </p:sp>
      <p:sp>
        <p:nvSpPr>
          <p:cNvPr id="10" name="Text 7"/>
          <p:cNvSpPr/>
          <p:nvPr/>
        </p:nvSpPr>
        <p:spPr>
          <a:xfrm>
            <a:off x="914400" y="3931920"/>
            <a:ext cx="10515600" cy="1828800"/>
          </a:xfrm>
          <a:prstGeom prst="rect">
            <a:avLst/>
          </a:prstGeom>
          <a:noFill/>
          <a:ln/>
        </p:spPr>
        <p:txBody>
          <a:bodyPr wrap="square" lIns="0" tIns="0" rIns="0" bIns="0" rtlCol="0" anchor="t"/>
          <a:lstStyle/>
          <a:p>
            <a:pPr marL="203200" indent="-203200">
              <a:spcAft>
                <a:spcPts val="1100"/>
              </a:spcAft>
              <a:buSzPct val="100000"/>
              <a:buChar char="•"/>
            </a:pPr>
            <a:r>
              <a:rPr lang="en-US" sz="1600" dirty="0">
                <a:solidFill>
                  <a:srgbClr val="1E2A36"/>
                </a:solidFill>
                <a:latin typeface="Calibri" pitchFamily="34" charset="0"/>
                <a:ea typeface="Calibri" pitchFamily="34" charset="-122"/>
                <a:cs typeface="Calibri" pitchFamily="34" charset="-120"/>
              </a:rPr>
              <a:t>Tag every claim: [E] evidence (with a source) or [A] assumption (a labeled guess)</a:t>
            </a:r>
            <a:endParaRPr lang="en-US" sz="1600" dirty="0"/>
          </a:p>
          <a:p>
            <a:pPr marL="203200" indent="-203200">
              <a:spcAft>
                <a:spcPts val="1100"/>
              </a:spcAft>
              <a:buSzPct val="100000"/>
              <a:buChar char="•"/>
            </a:pPr>
            <a:r>
              <a:rPr lang="en-US" sz="1600" dirty="0">
                <a:solidFill>
                  <a:srgbClr val="1E2A36"/>
                </a:solidFill>
                <a:latin typeface="Calibri" pitchFamily="34" charset="0"/>
                <a:ea typeface="Calibri" pitchFamily="34" charset="-122"/>
                <a:cs typeface="Calibri" pitchFamily="34" charset="-120"/>
              </a:rPr>
              <a:t>No invented facts — a guess is marked [A], never dressed up as fact</a:t>
            </a:r>
            <a:endParaRPr lang="en-US" sz="1600" dirty="0"/>
          </a:p>
          <a:p>
            <a:pPr marL="203200" indent="-203200">
              <a:buSzPct val="100000"/>
              <a:buChar char="•"/>
            </a:pPr>
            <a:r>
              <a:rPr lang="en-US" sz="1600" dirty="0">
                <a:solidFill>
                  <a:srgbClr val="1E2A36"/>
                </a:solidFill>
                <a:latin typeface="Calibri" pitchFamily="34" charset="0"/>
                <a:ea typeface="Calibri" pitchFamily="34" charset="-122"/>
                <a:cs typeface="Calibri" pitchFamily="34" charset="-120"/>
              </a:rPr>
              <a:t>List your sources, and the top assumptions you'd verify in a real conversation</a:t>
            </a:r>
            <a:endParaRPr lang="en-US" sz="1600" dirty="0"/>
          </a:p>
        </p:txBody>
      </p:sp>
      <p:sp>
        <p:nvSpPr>
          <p:cNvPr id="11" name="Text 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SETUP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Two personas for the same need</a:t>
            </a:r>
            <a:endParaRPr lang="en-US" sz="3100" dirty="0"/>
          </a:p>
        </p:txBody>
      </p:sp>
      <p:sp>
        <p:nvSpPr>
          <p:cNvPr id="5" name="Shape 3"/>
          <p:cNvSpPr/>
          <p:nvPr/>
        </p:nvSpPr>
        <p:spPr>
          <a:xfrm>
            <a:off x="548640" y="1920240"/>
            <a:ext cx="11064240" cy="1783080"/>
          </a:xfrm>
          <a:prstGeom prst="roundRect">
            <a:avLst>
              <a:gd name="adj" fmla="val 4615"/>
            </a:avLst>
          </a:prstGeom>
          <a:solidFill>
            <a:srgbClr val="F2F6F8"/>
          </a:solidFill>
          <a:ln/>
          <a:effectLst>
            <a:outerShdw sx="100000" sy="100000" kx="0" ky="0" algn="bl" rotWithShape="0" blurRad="88900" dist="38100" dir="5400000">
              <a:srgbClr val="000000">
                <a:alpha val="13000"/>
              </a:srgbClr>
            </a:outerShdw>
          </a:effectLst>
        </p:spPr>
      </p:sp>
      <p:sp>
        <p:nvSpPr>
          <p:cNvPr id="6" name="Shape 4"/>
          <p:cNvSpPr/>
          <p:nvPr/>
        </p:nvSpPr>
        <p:spPr>
          <a:xfrm>
            <a:off x="914400" y="2395728"/>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87222" y="2568550"/>
            <a:ext cx="294437" cy="294437"/>
          </a:xfrm>
          <a:prstGeom prst="rect">
            <a:avLst/>
          </a:prstGeom>
        </p:spPr>
      </p:pic>
      <p:sp>
        <p:nvSpPr>
          <p:cNvPr id="8" name="Text 5"/>
          <p:cNvSpPr/>
          <p:nvPr/>
        </p:nvSpPr>
        <p:spPr>
          <a:xfrm>
            <a:off x="1828800" y="1920240"/>
            <a:ext cx="9509760" cy="1783080"/>
          </a:xfrm>
          <a:prstGeom prst="rect">
            <a:avLst/>
          </a:prstGeom>
          <a:noFill/>
          <a:ln/>
        </p:spPr>
        <p:txBody>
          <a:bodyPr wrap="square" lIns="0" tIns="0" rIns="0" bIns="0" rtlCol="0" anchor="ctr"/>
          <a:lstStyle/>
          <a:p>
            <a:pPr indent="0" marL="0">
              <a:lnSpc>
                <a:spcPct val="106000"/>
              </a:lnSpc>
              <a:buNone/>
            </a:pPr>
            <a:r>
              <a:rPr lang="en-US" sz="1700" b="1" dirty="0">
                <a:solidFill>
                  <a:srgbClr val="1E2A36"/>
                </a:solidFill>
                <a:latin typeface="Calibri" pitchFamily="34" charset="0"/>
                <a:ea typeface="Calibri" pitchFamily="34" charset="-122"/>
                <a:cs typeface="Calibri" pitchFamily="34" charset="-120"/>
              </a:rPr>
              <a:t>The scenario:  </a:t>
            </a:r>
            <a:pPr indent="0" marL="0">
              <a:lnSpc>
                <a:spcPct val="106000"/>
              </a:lnSpc>
              <a:buNone/>
            </a:pPr>
            <a:r>
              <a:rPr lang="en-US" sz="1700" dirty="0">
                <a:solidFill>
                  <a:srgbClr val="1E2A36"/>
                </a:solidFill>
                <a:latin typeface="Calibri" pitchFamily="34" charset="0"/>
                <a:ea typeface="Calibri" pitchFamily="34" charset="-122"/>
                <a:cs typeface="Calibri" pitchFamily="34" charset="-120"/>
              </a:rPr>
              <a:t>you're exploring a commuter-parking problem for students, but you haven't reached a real commuter yet. So you sketch a persona as a working hypothesis — a stand-in that tells you where to dig next.</a:t>
            </a:r>
            <a:endParaRPr lang="en-US" sz="1700" dirty="0"/>
          </a:p>
        </p:txBody>
      </p:sp>
      <p:sp>
        <p:nvSpPr>
          <p:cNvPr id="9" name="Shape 6"/>
          <p:cNvSpPr/>
          <p:nvPr/>
        </p:nvSpPr>
        <p:spPr>
          <a:xfrm>
            <a:off x="548640" y="3931920"/>
            <a:ext cx="11064240" cy="1920240"/>
          </a:xfrm>
          <a:prstGeom prst="roundRect">
            <a:avLst>
              <a:gd name="adj" fmla="val 4286"/>
            </a:avLst>
          </a:prstGeom>
          <a:solidFill>
            <a:srgbClr val="14233A"/>
          </a:solidFill>
          <a:ln/>
          <a:effectLst>
            <a:outerShdw sx="100000" sy="100000" kx="0" ky="0" algn="bl" rotWithShape="0" blurRad="88900" dist="38100" dir="5400000">
              <a:srgbClr val="000000">
                <a:alpha val="13000"/>
              </a:srgbClr>
            </a:outerShdw>
          </a:effectLst>
        </p:spPr>
      </p:sp>
      <p:sp>
        <p:nvSpPr>
          <p:cNvPr id="10" name="Shape 7"/>
          <p:cNvSpPr/>
          <p:nvPr/>
        </p:nvSpPr>
        <p:spPr>
          <a:xfrm>
            <a:off x="914400" y="4480560"/>
            <a:ext cx="640080" cy="640080"/>
          </a:xfrm>
          <a:prstGeom prst="ellipse">
            <a:avLst/>
          </a:prstGeom>
          <a:solidFill>
            <a:srgbClr val="E8A33D"/>
          </a:solidFill>
          <a:ln/>
        </p:spPr>
      </p:sp>
      <p:pic>
        <p:nvPicPr>
          <p:cNvPr id="11" name="Image 1" descr="preencoded.png">    </p:cNvPr>
          <p:cNvPicPr>
            <a:picLocks noChangeAspect="1"/>
          </p:cNvPicPr>
          <p:nvPr/>
        </p:nvPicPr>
        <p:blipFill>
          <a:blip r:embed="rId2"/>
          <a:stretch>
            <a:fillRect/>
          </a:stretch>
        </p:blipFill>
        <p:spPr>
          <a:xfrm>
            <a:off x="1087222" y="4653382"/>
            <a:ext cx="294437" cy="294437"/>
          </a:xfrm>
          <a:prstGeom prst="rect">
            <a:avLst/>
          </a:prstGeom>
        </p:spPr>
      </p:pic>
      <p:sp>
        <p:nvSpPr>
          <p:cNvPr id="12" name="Text 8"/>
          <p:cNvSpPr/>
          <p:nvPr/>
        </p:nvSpPr>
        <p:spPr>
          <a:xfrm>
            <a:off x="1828800" y="4069080"/>
            <a:ext cx="9144000" cy="457200"/>
          </a:xfrm>
          <a:prstGeom prst="rect">
            <a:avLst/>
          </a:prstGeom>
          <a:noFill/>
          <a:ln/>
        </p:spPr>
        <p:txBody>
          <a:bodyPr wrap="square" lIns="0" tIns="0" rIns="0" bIns="0" rtlCol="0" anchor="ctr"/>
          <a:lstStyle/>
          <a:p>
            <a:pPr indent="0" marL="0">
              <a:buNone/>
            </a:pPr>
            <a:r>
              <a:rPr lang="en-US" sz="1700" b="1" dirty="0">
                <a:solidFill>
                  <a:srgbClr val="E8A33D"/>
                </a:solidFill>
                <a:latin typeface="Calibri" pitchFamily="34" charset="0"/>
                <a:ea typeface="Calibri" pitchFamily="34" charset="-122"/>
                <a:cs typeface="Calibri" pitchFamily="34" charset="-120"/>
              </a:rPr>
              <a:t>What's coming — and what to watch for</a:t>
            </a:r>
            <a:endParaRPr lang="en-US" sz="1700" dirty="0"/>
          </a:p>
        </p:txBody>
      </p:sp>
      <p:sp>
        <p:nvSpPr>
          <p:cNvPr id="13" name="Text 9"/>
          <p:cNvSpPr/>
          <p:nvPr/>
        </p:nvSpPr>
        <p:spPr>
          <a:xfrm>
            <a:off x="1828800" y="4572000"/>
            <a:ext cx="9509760" cy="1188720"/>
          </a:xfrm>
          <a:prstGeom prst="rect">
            <a:avLst/>
          </a:prstGeom>
          <a:noFill/>
          <a:ln/>
        </p:spPr>
        <p:txBody>
          <a:bodyPr wrap="square" lIns="0" tIns="0" rIns="0" bIns="0" rtlCol="0" anchor="t"/>
          <a:lstStyle/>
          <a:p>
            <a:pPr indent="0" marL="0">
              <a:lnSpc>
                <a:spcPct val="106000"/>
              </a:lnSpc>
              <a:buNone/>
            </a:pPr>
            <a:r>
              <a:rPr lang="en-US" sz="1550" dirty="0">
                <a:solidFill>
                  <a:srgbClr val="CFE0E9"/>
                </a:solidFill>
                <a:latin typeface="Calibri" pitchFamily="34" charset="0"/>
                <a:ea typeface="Calibri" pitchFamily="34" charset="-122"/>
                <a:cs typeface="Calibri" pitchFamily="34" charset="-120"/>
              </a:rPr>
              <a:t>Next are two attempts at that same persona — same topic on purpose, so the only difference is the method. As each appears, ask yourself: could I trust this? What here is real evidence, and what's just a guess?</a:t>
            </a:r>
            <a:endParaRPr lang="en-US" sz="1550" dirty="0"/>
          </a:p>
        </p:txBody>
      </p:sp>
      <p:sp>
        <p:nvSpPr>
          <p:cNvPr id="14" name="Text 10"/>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5" name="Text 11"/>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HONEST</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"Commuter Cara" (evidence-tagged)</a:t>
            </a:r>
            <a:endParaRPr lang="en-US" sz="3100" dirty="0"/>
          </a:p>
        </p:txBody>
      </p:sp>
      <p:sp>
        <p:nvSpPr>
          <p:cNvPr id="5" name="Shape 3"/>
          <p:cNvSpPr/>
          <p:nvPr/>
        </p:nvSpPr>
        <p:spPr>
          <a:xfrm>
            <a:off x="548640" y="1874520"/>
            <a:ext cx="11064240" cy="3063240"/>
          </a:xfrm>
          <a:prstGeom prst="roundRect">
            <a:avLst>
              <a:gd name="adj" fmla="val 2687"/>
            </a:avLst>
          </a:prstGeom>
          <a:solidFill>
            <a:srgbClr val="EAF4EE"/>
          </a:solidFill>
          <a:ln/>
          <a:effectLst>
            <a:outerShdw sx="100000" sy="100000" kx="0" ky="0" algn="bl" rotWithShape="0" blurRad="88900" dist="38100" dir="5400000">
              <a:srgbClr val="000000">
                <a:alpha val="13000"/>
              </a:srgbClr>
            </a:outerShdw>
          </a:effectLst>
        </p:spPr>
      </p:sp>
      <p:sp>
        <p:nvSpPr>
          <p:cNvPr id="6" name="Text 4"/>
          <p:cNvSpPr/>
          <p:nvPr/>
        </p:nvSpPr>
        <p:spPr>
          <a:xfrm>
            <a:off x="868680" y="2057400"/>
            <a:ext cx="10424160" cy="2377440"/>
          </a:xfrm>
          <a:prstGeom prst="rect">
            <a:avLst/>
          </a:prstGeom>
          <a:noFill/>
          <a:ln/>
        </p:spPr>
        <p:txBody>
          <a:bodyPr wrap="square" lIns="0" tIns="0" rIns="0" bIns="0" rtlCol="0" anchor="t"/>
          <a:lstStyle/>
          <a:p>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Who: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off-campus student who drives to campus (r/byu threads; my lot observation).  [A] likely a soph/junior with a job.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Problem: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a mid-morning spot is unpredictable and eats time (forum posts; a friend).  [A] makes her late to class.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Today: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arrives 30–45 min early to "camp," or circles the lot.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Costs: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[E] ~30 min/day + real frustration.
</a:t>
            </a:r>
            <a:pPr indent="0" marL="0">
              <a:lnSpc>
                <a:spcPct val="122000"/>
              </a:lnSpc>
              <a:buNone/>
            </a:pPr>
            <a:r>
              <a:rPr lang="en-US" sz="1550" b="1" dirty="0">
                <a:solidFill>
                  <a:srgbClr val="1E2A36"/>
                </a:solidFill>
                <a:latin typeface="Calibri" pitchFamily="34" charset="0"/>
                <a:ea typeface="Calibri" pitchFamily="34" charset="-122"/>
                <a:cs typeface="Calibri" pitchFamily="34" charset="-120"/>
              </a:rPr>
              <a:t>"Better":  </a:t>
            </a:r>
            <a:pPr indent="0" marL="0">
              <a:lnSpc>
                <a:spcPct val="122000"/>
              </a:lnSpc>
              <a:buNone/>
            </a:pPr>
            <a:r>
              <a:rPr lang="en-US" sz="1550" dirty="0">
                <a:solidFill>
                  <a:srgbClr val="1E2A36"/>
                </a:solidFill>
                <a:latin typeface="Calibri" pitchFamily="34" charset="0"/>
                <a:ea typeface="Calibri" pitchFamily="34" charset="-122"/>
                <a:cs typeface="Calibri" pitchFamily="34" charset="-120"/>
              </a:rPr>
              <a:t>[A] real-time spot availability — my hypothesis, not a user's.</a:t>
            </a:r>
            <a:endParaRPr lang="en-US" sz="1550" dirty="0"/>
          </a:p>
        </p:txBody>
      </p:sp>
      <p:sp>
        <p:nvSpPr>
          <p:cNvPr id="7" name="Shape 5"/>
          <p:cNvSpPr/>
          <p:nvPr/>
        </p:nvSpPr>
        <p:spPr>
          <a:xfrm>
            <a:off x="548640" y="5074920"/>
            <a:ext cx="11064240" cy="914400"/>
          </a:xfrm>
          <a:prstGeom prst="roundRect">
            <a:avLst>
              <a:gd name="adj" fmla="val 9000"/>
            </a:avLst>
          </a:prstGeom>
          <a:solidFill>
            <a:srgbClr val="F2F6F8"/>
          </a:solidFill>
          <a:ln/>
          <a:effectLst>
            <a:outerShdw sx="100000" sy="100000" kx="0" ky="0" algn="bl" rotWithShape="0" blurRad="88900" dist="38100" dir="5400000">
              <a:srgbClr val="000000">
                <a:alpha val="13000"/>
              </a:srgbClr>
            </a:outerShdw>
          </a:effectLst>
        </p:spPr>
      </p:sp>
      <p:sp>
        <p:nvSpPr>
          <p:cNvPr id="8" name="Text 6"/>
          <p:cNvSpPr/>
          <p:nvPr/>
        </p:nvSpPr>
        <p:spPr>
          <a:xfrm>
            <a:off x="868680" y="5074920"/>
            <a:ext cx="10424160" cy="914400"/>
          </a:xfrm>
          <a:prstGeom prst="rect">
            <a:avLst/>
          </a:prstGeom>
          <a:noFill/>
          <a:ln/>
        </p:spPr>
        <p:txBody>
          <a:bodyPr wrap="square" lIns="0" tIns="0" rIns="0" bIns="0" rtlCol="0" anchor="ctr"/>
          <a:lstStyle/>
          <a:p>
            <a:pPr indent="0" marL="0">
              <a:lnSpc>
                <a:spcPct val="105000"/>
              </a:lnSpc>
              <a:buNone/>
            </a:pPr>
            <a:r>
              <a:rPr lang="en-US" sz="1400" b="1" dirty="0">
                <a:solidFill>
                  <a:srgbClr val="0E6E6D"/>
                </a:solidFill>
                <a:latin typeface="Calibri" pitchFamily="34" charset="0"/>
                <a:ea typeface="Calibri" pitchFamily="34" charset="-122"/>
                <a:cs typeface="Calibri" pitchFamily="34" charset="-120"/>
              </a:rPr>
              <a:t>Sources: </a:t>
            </a:r>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r/byu threads · a parking-app review · my observation.    </a:t>
            </a:r>
            <a:pPr indent="0" marL="0">
              <a:lnSpc>
                <a:spcPct val="105000"/>
              </a:lnSpc>
              <a:buNone/>
            </a:pPr>
            <a:r>
              <a:rPr lang="en-US" sz="1400" b="1" dirty="0">
                <a:solidFill>
                  <a:srgbClr val="0E6E6D"/>
                </a:solidFill>
                <a:latin typeface="Calibri" pitchFamily="34" charset="0"/>
                <a:ea typeface="Calibri" pitchFamily="34" charset="-122"/>
                <a:cs typeface="Calibri" pitchFamily="34" charset="-120"/>
              </a:rPr>
              <a:t>To verify: </a:t>
            </a:r>
            <a:pPr indent="0" marL="0">
              <a:lnSpc>
                <a:spcPct val="105000"/>
              </a:lnSpc>
              <a:buNone/>
            </a:pPr>
            <a:r>
              <a:rPr lang="en-US" sz="1400" dirty="0">
                <a:solidFill>
                  <a:srgbClr val="1E2A36"/>
                </a:solidFill>
                <a:latin typeface="Calibri" pitchFamily="34" charset="0"/>
                <a:ea typeface="Calibri" pitchFamily="34" charset="-122"/>
                <a:cs typeface="Calibri" pitchFamily="34" charset="-120"/>
              </a:rPr>
              <a:t>does it really cause late class? would real-time info change behavior?    </a:t>
            </a:r>
            <a:pPr indent="0" marL="0">
              <a:lnSpc>
                <a:spcPct val="105000"/>
              </a:lnSpc>
              <a:buNone/>
            </a:pPr>
            <a:r>
              <a:rPr lang="en-US" sz="1400" b="1" dirty="0">
                <a:solidFill>
                  <a:srgbClr val="1E2A36"/>
                </a:solidFill>
                <a:latin typeface="Calibri" pitchFamily="34" charset="0"/>
                <a:ea typeface="Calibri" pitchFamily="34" charset="-122"/>
                <a:cs typeface="Calibri" pitchFamily="34" charset="-120"/>
              </a:rPr>
              <a:t>Confidence: medium.</a:t>
            </a:r>
            <a:endParaRPr lang="en-US" sz="1400" dirty="0"/>
          </a:p>
        </p:txBody>
      </p:sp>
      <p:sp>
        <p:nvSpPr>
          <p:cNvPr id="9" name="Text 7"/>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0" name="Text 8"/>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502920"/>
            <a:ext cx="137160" cy="137160"/>
          </a:xfrm>
          <a:prstGeom prst="ellipse">
            <a:avLst/>
          </a:prstGeom>
          <a:solidFill>
            <a:srgbClr val="E8A33D"/>
          </a:solidFill>
          <a:ln/>
        </p:spPr>
      </p:sp>
      <p:sp>
        <p:nvSpPr>
          <p:cNvPr id="3" name="Text 1"/>
          <p:cNvSpPr/>
          <p:nvPr/>
        </p:nvSpPr>
        <p:spPr>
          <a:xfrm>
            <a:off x="795528" y="402336"/>
            <a:ext cx="10515600" cy="310896"/>
          </a:xfrm>
          <a:prstGeom prst="rect">
            <a:avLst/>
          </a:prstGeom>
          <a:noFill/>
          <a:ln/>
        </p:spPr>
        <p:txBody>
          <a:bodyPr wrap="square" lIns="0" tIns="0" rIns="0" bIns="0" rtlCol="0" anchor="ctr"/>
          <a:lstStyle/>
          <a:p>
            <a:pPr indent="0" marL="0">
              <a:buNone/>
            </a:pPr>
            <a:r>
              <a:rPr lang="en-US" sz="1400" b="1" spc="200" kern="0" dirty="0">
                <a:solidFill>
                  <a:srgbClr val="12908F"/>
                </a:solidFill>
                <a:latin typeface="Calibri" pitchFamily="34" charset="0"/>
                <a:ea typeface="Calibri" pitchFamily="34" charset="-122"/>
                <a:cs typeface="Calibri" pitchFamily="34" charset="-120"/>
              </a:rPr>
              <a:t>PERSONA EXAMPLE — MADE-UP</a:t>
            </a:r>
            <a:endParaRPr lang="en-US" sz="1400" dirty="0"/>
          </a:p>
        </p:txBody>
      </p:sp>
      <p:sp>
        <p:nvSpPr>
          <p:cNvPr id="4" name="Text 2"/>
          <p:cNvSpPr/>
          <p:nvPr/>
        </p:nvSpPr>
        <p:spPr>
          <a:xfrm>
            <a:off x="548640" y="749808"/>
            <a:ext cx="11064240" cy="914400"/>
          </a:xfrm>
          <a:prstGeom prst="rect">
            <a:avLst/>
          </a:prstGeom>
          <a:noFill/>
          <a:ln/>
        </p:spPr>
        <p:txBody>
          <a:bodyPr wrap="square" lIns="0" tIns="0" rIns="0" bIns="0" rtlCol="0" anchor="t"/>
          <a:lstStyle/>
          <a:p>
            <a:pPr indent="0" marL="0">
              <a:buNone/>
            </a:pPr>
            <a:r>
              <a:rPr lang="en-US" sz="3100" b="1" dirty="0">
                <a:solidFill>
                  <a:srgbClr val="1E2A36"/>
                </a:solidFill>
                <a:latin typeface="Cambria" pitchFamily="34" charset="0"/>
                <a:ea typeface="Cambria" pitchFamily="34" charset="-122"/>
                <a:cs typeface="Cambria" pitchFamily="34" charset="-120"/>
              </a:rPr>
              <a:t>"Busy Ben" — what NOT to do</a:t>
            </a:r>
            <a:endParaRPr lang="en-US" sz="3100" dirty="0"/>
          </a:p>
        </p:txBody>
      </p:sp>
      <p:sp>
        <p:nvSpPr>
          <p:cNvPr id="5" name="Shape 3"/>
          <p:cNvSpPr/>
          <p:nvPr/>
        </p:nvSpPr>
        <p:spPr>
          <a:xfrm>
            <a:off x="548640" y="1874520"/>
            <a:ext cx="11064240" cy="2103120"/>
          </a:xfrm>
          <a:prstGeom prst="roundRect">
            <a:avLst>
              <a:gd name="adj" fmla="val 3913"/>
            </a:avLst>
          </a:prstGeom>
          <a:solidFill>
            <a:srgbClr val="FBECE8"/>
          </a:solidFill>
          <a:ln/>
          <a:effectLst>
            <a:outerShdw sx="100000" sy="100000" kx="0" ky="0" algn="bl" rotWithShape="0" blurRad="88900" dist="38100" dir="5400000">
              <a:srgbClr val="000000">
                <a:alpha val="13000"/>
              </a:srgbClr>
            </a:outerShdw>
          </a:effectLst>
        </p:spPr>
      </p:sp>
      <p:sp>
        <p:nvSpPr>
          <p:cNvPr id="6" name="Text 4"/>
          <p:cNvSpPr/>
          <p:nvPr/>
        </p:nvSpPr>
        <p:spPr>
          <a:xfrm>
            <a:off x="868680" y="2057400"/>
            <a:ext cx="10424160" cy="1783080"/>
          </a:xfrm>
          <a:prstGeom prst="rect">
            <a:avLst/>
          </a:prstGeom>
          <a:noFill/>
          <a:ln/>
        </p:spPr>
        <p:txBody>
          <a:bodyPr wrap="square" lIns="0" tIns="0" rIns="0" bIns="0" rtlCol="0" anchor="t"/>
          <a:lstStyle/>
          <a:p>
            <a:pPr indent="0" marL="0">
              <a:lnSpc>
                <a:spcPct val="110000"/>
              </a:lnSpc>
              <a:buNone/>
            </a:pPr>
            <a:r>
              <a:rPr lang="en-US" sz="1650" i="1" dirty="0">
                <a:solidFill>
                  <a:srgbClr val="1E2A36"/>
                </a:solidFill>
                <a:latin typeface="Calibri" pitchFamily="34" charset="0"/>
                <a:ea typeface="Calibri" pitchFamily="34" charset="-122"/>
                <a:cs typeface="Calibri" pitchFamily="34" charset="-120"/>
              </a:rPr>
              <a:t>Ben is a 20-year-old sophomore in CS with a 3.8 GPA. He works 15 hours a week, loves productivity apps, and is always on the go. He can never find parking and wastes about an hour every single day circling the lots. He would definitely pay $10/month for an app that shows open spots in real time — and he'd tell all his friends.</a:t>
            </a:r>
            <a:endParaRPr lang="en-US" sz="1650" dirty="0"/>
          </a:p>
        </p:txBody>
      </p:sp>
      <p:sp>
        <p:nvSpPr>
          <p:cNvPr id="7" name="Shape 5"/>
          <p:cNvSpPr/>
          <p:nvPr/>
        </p:nvSpPr>
        <p:spPr>
          <a:xfrm>
            <a:off x="548640" y="4160520"/>
            <a:ext cx="11064240" cy="1828800"/>
          </a:xfrm>
          <a:prstGeom prst="roundRect">
            <a:avLst>
              <a:gd name="adj" fmla="val 4500"/>
            </a:avLst>
          </a:prstGeom>
          <a:solidFill>
            <a:srgbClr val="14233A"/>
          </a:solidFill>
          <a:ln/>
          <a:effectLst>
            <a:outerShdw sx="100000" sy="100000" kx="0" ky="0" algn="bl" rotWithShape="0" blurRad="88900" dist="38100" dir="5400000">
              <a:srgbClr val="000000">
                <a:alpha val="13000"/>
              </a:srgbClr>
            </a:outerShdw>
          </a:effectLst>
        </p:spPr>
      </p:sp>
      <p:sp>
        <p:nvSpPr>
          <p:cNvPr id="8" name="Shape 6"/>
          <p:cNvSpPr/>
          <p:nvPr/>
        </p:nvSpPr>
        <p:spPr>
          <a:xfrm>
            <a:off x="868680" y="4480560"/>
            <a:ext cx="566928" cy="566928"/>
          </a:xfrm>
          <a:prstGeom prst="ellipse">
            <a:avLst/>
          </a:prstGeom>
          <a:solidFill>
            <a:srgbClr val="E8A33D"/>
          </a:solidFill>
          <a:ln/>
        </p:spPr>
      </p:sp>
      <p:pic>
        <p:nvPicPr>
          <p:cNvPr id="9" name="Image 0" descr="preencoded.png">    </p:cNvPr>
          <p:cNvPicPr>
            <a:picLocks noChangeAspect="1"/>
          </p:cNvPicPr>
          <p:nvPr/>
        </p:nvPicPr>
        <p:blipFill>
          <a:blip r:embed="rId1"/>
          <a:stretch>
            <a:fillRect/>
          </a:stretch>
        </p:blipFill>
        <p:spPr>
          <a:xfrm>
            <a:off x="1021751" y="4633631"/>
            <a:ext cx="260787" cy="260787"/>
          </a:xfrm>
          <a:prstGeom prst="rect">
            <a:avLst/>
          </a:prstGeom>
        </p:spPr>
      </p:pic>
      <p:sp>
        <p:nvSpPr>
          <p:cNvPr id="10" name="Text 7"/>
          <p:cNvSpPr/>
          <p:nvPr/>
        </p:nvSpPr>
        <p:spPr>
          <a:xfrm>
            <a:off x="1737360" y="4160520"/>
            <a:ext cx="9601200" cy="1828800"/>
          </a:xfrm>
          <a:prstGeom prst="rect">
            <a:avLst/>
          </a:prstGeom>
          <a:noFill/>
          <a:ln/>
        </p:spPr>
        <p:txBody>
          <a:bodyPr wrap="square" lIns="0" tIns="0" rIns="0" bIns="0" rtlCol="0" anchor="ctr"/>
          <a:lstStyle/>
          <a:p>
            <a:pPr indent="0" marL="0">
              <a:lnSpc>
                <a:spcPct val="106000"/>
              </a:lnSpc>
              <a:buNone/>
            </a:pPr>
            <a:r>
              <a:rPr lang="en-US" sz="1600" b="1" dirty="0">
                <a:solidFill>
                  <a:srgbClr val="E8A33D"/>
                </a:solidFill>
                <a:latin typeface="Calibri" pitchFamily="34" charset="0"/>
                <a:ea typeface="Calibri" pitchFamily="34" charset="-122"/>
                <a:cs typeface="Calibri" pitchFamily="34" charset="-120"/>
              </a:rPr>
              <a:t>Feels done. It's fiction.  </a:t>
            </a:r>
            <a:pPr indent="0" marL="0">
              <a:lnSpc>
                <a:spcPct val="106000"/>
              </a:lnSpc>
              <a:buNone/>
            </a:pPr>
            <a:r>
              <a:rPr lang="en-US" sz="1600" dirty="0">
                <a:solidFill>
                  <a:srgbClr val="FFFFFF"/>
                </a:solidFill>
                <a:latin typeface="Calibri" pitchFamily="34" charset="0"/>
                <a:ea typeface="Calibri" pitchFamily="34" charset="-122"/>
                <a:cs typeface="Calibri" pitchFamily="34" charset="-120"/>
              </a:rPr>
              <a:t>Every detail is invented and unsourced (the GPA, "an hour every day"). Nothing is marked as a guess. And "would definitely pay $10/month" is a hypothetical dressed up as a fact — the exact Mom Test trap. A founder who builds on Ben builds confidently on fiction.</a:t>
            </a:r>
            <a:endParaRPr lang="en-US" sz="1600" dirty="0"/>
          </a:p>
        </p:txBody>
      </p:sp>
      <p:sp>
        <p:nvSpPr>
          <p:cNvPr id="11" name="Text 8"/>
          <p:cNvSpPr/>
          <p:nvPr/>
        </p:nvSpPr>
        <p:spPr>
          <a:xfrm>
            <a:off x="7132320" y="6437376"/>
            <a:ext cx="4480560" cy="274320"/>
          </a:xfrm>
          <a:prstGeom prst="rect">
            <a:avLst/>
          </a:prstGeom>
          <a:noFill/>
          <a:ln/>
        </p:spPr>
        <p:txBody>
          <a:bodyPr wrap="square" lIns="0" tIns="0" rIns="0" bIns="0" rtlCol="0" anchor="ctr"/>
          <a:lstStyle/>
          <a:p>
            <a:pPr algn="r" indent="0" marL="0">
              <a:buNone/>
            </a:pPr>
            <a:r>
              <a:rPr lang="en-US" sz="1000" dirty="0">
                <a:solidFill>
                  <a:srgbClr val="5F7284"/>
                </a:solidFill>
                <a:latin typeface="Calibri" pitchFamily="34" charset="0"/>
                <a:ea typeface="Calibri" pitchFamily="34" charset="-122"/>
                <a:cs typeface="Calibri" pitchFamily="34" charset="-120"/>
              </a:rPr>
              <a:t>CS 301R · Session 4 · Discovery Workshop</a:t>
            </a:r>
            <a:endParaRPr lang="en-US" sz="1000" dirty="0"/>
          </a:p>
        </p:txBody>
      </p:sp>
      <p:sp>
        <p:nvSpPr>
          <p:cNvPr id="12" name="Text 9"/>
          <p:cNvSpPr/>
          <p:nvPr/>
        </p:nvSpPr>
        <p:spPr>
          <a:xfrm>
            <a:off x="548640" y="6437376"/>
            <a:ext cx="548640" cy="274320"/>
          </a:xfrm>
          <a:prstGeom prst="rect">
            <a:avLst/>
          </a:prstGeom>
          <a:noFill/>
          <a:ln/>
        </p:spPr>
        <p:txBody>
          <a:bodyPr wrap="square" lIns="0" tIns="0" rIns="0" bIns="0" rtlCol="0" anchor="ctr"/>
          <a:lstStyle/>
          <a:p>
            <a:pPr indent="0" marL="0">
              <a:buNone/>
            </a:pPr>
            <a:r>
              <a:rPr lang="en-US" sz="1000" dirty="0">
                <a:solidFill>
                  <a:srgbClr val="5F7284"/>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7C7B"/>
        </a:solidFill>
      </p:bgPr>
    </p:bg>
    <p:spTree>
      <p:nvGrpSpPr>
        <p:cNvPr id="1" name=""/>
        <p:cNvGrpSpPr/>
        <p:nvPr/>
      </p:nvGrpSpPr>
      <p:grpSpPr>
        <a:xfrm>
          <a:off x="0" y="0"/>
          <a:ext cx="0" cy="0"/>
          <a:chOff x="0" y="0"/>
          <a:chExt cx="0" cy="0"/>
        </a:xfrm>
      </p:grpSpPr>
      <p:sp>
        <p:nvSpPr>
          <p:cNvPr id="2" name="Shape 0"/>
          <p:cNvSpPr/>
          <p:nvPr/>
        </p:nvSpPr>
        <p:spPr>
          <a:xfrm>
            <a:off x="10241280" y="-1097280"/>
            <a:ext cx="3291840" cy="3291840"/>
          </a:xfrm>
          <a:prstGeom prst="ellipse">
            <a:avLst/>
          </a:prstGeom>
          <a:solidFill>
            <a:srgbClr val="127D7C"/>
          </a:solidFill>
          <a:ln/>
        </p:spPr>
      </p:sp>
      <p:sp>
        <p:nvSpPr>
          <p:cNvPr id="3" name="Text 1"/>
          <p:cNvSpPr/>
          <p:nvPr/>
        </p:nvSpPr>
        <p:spPr>
          <a:xfrm>
            <a:off x="640080" y="502920"/>
            <a:ext cx="10058400" cy="320040"/>
          </a:xfrm>
          <a:prstGeom prst="rect">
            <a:avLst/>
          </a:prstGeom>
          <a:noFill/>
          <a:ln/>
        </p:spPr>
        <p:txBody>
          <a:bodyPr wrap="square" lIns="0" tIns="0" rIns="0" bIns="0" rtlCol="0" anchor="ctr"/>
          <a:lstStyle/>
          <a:p>
            <a:pPr indent="0" marL="0">
              <a:buNone/>
            </a:pPr>
            <a:r>
              <a:rPr lang="en-US" sz="1400" b="1" spc="200" kern="0" dirty="0">
                <a:solidFill>
                  <a:srgbClr val="BFE7E4"/>
                </a:solidFill>
                <a:latin typeface="Calibri" pitchFamily="34" charset="0"/>
                <a:ea typeface="Calibri" pitchFamily="34" charset="-122"/>
                <a:cs typeface="Calibri" pitchFamily="34" charset="-120"/>
              </a:rPr>
              <a:t>YOUR ASSIGNMENT</a:t>
            </a:r>
            <a:endParaRPr lang="en-US" sz="1400" dirty="0"/>
          </a:p>
        </p:txBody>
      </p:sp>
      <p:sp>
        <p:nvSpPr>
          <p:cNvPr id="4" name="Text 2"/>
          <p:cNvSpPr/>
          <p:nvPr/>
        </p:nvSpPr>
        <p:spPr>
          <a:xfrm>
            <a:off x="621792" y="86868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Discovery Notes — due Mon, Sep 21</a:t>
            </a:r>
            <a:endParaRPr lang="en-US" sz="3200" dirty="0"/>
          </a:p>
        </p:txBody>
      </p:sp>
      <p:sp>
        <p:nvSpPr>
          <p:cNvPr id="5" name="Shape 3"/>
          <p:cNvSpPr/>
          <p:nvPr/>
        </p:nvSpPr>
        <p:spPr>
          <a:xfrm>
            <a:off x="548640" y="2011680"/>
            <a:ext cx="11064240" cy="3611880"/>
          </a:xfrm>
          <a:prstGeom prst="roundRect">
            <a:avLst>
              <a:gd name="adj" fmla="val 2278"/>
            </a:avLst>
          </a:prstGeom>
          <a:solidFill>
            <a:srgbClr val="FFFFFF"/>
          </a:solidFill>
          <a:ln/>
          <a:effectLst>
            <a:outerShdw sx="100000" sy="100000" kx="0" ky="0" algn="bl" rotWithShape="0" blurRad="88900" dist="38100" dir="5400000">
              <a:srgbClr val="000000">
                <a:alpha val="13000"/>
              </a:srgbClr>
            </a:outerShdw>
          </a:effectLst>
        </p:spPr>
      </p:sp>
      <p:sp>
        <p:nvSpPr>
          <p:cNvPr id="6" name="Shape 4"/>
          <p:cNvSpPr/>
          <p:nvPr/>
        </p:nvSpPr>
        <p:spPr>
          <a:xfrm>
            <a:off x="868680" y="2331720"/>
            <a:ext cx="640080" cy="640080"/>
          </a:xfrm>
          <a:prstGeom prst="ellipse">
            <a:avLst/>
          </a:prstGeom>
          <a:solidFill>
            <a:srgbClr val="12908F"/>
          </a:solidFill>
          <a:ln/>
        </p:spPr>
      </p:sp>
      <p:pic>
        <p:nvPicPr>
          <p:cNvPr id="7" name="Image 0" descr="preencoded.png">    </p:cNvPr>
          <p:cNvPicPr>
            <a:picLocks noChangeAspect="1"/>
          </p:cNvPicPr>
          <p:nvPr/>
        </p:nvPicPr>
        <p:blipFill>
          <a:blip r:embed="rId1"/>
          <a:stretch>
            <a:fillRect/>
          </a:stretch>
        </p:blipFill>
        <p:spPr>
          <a:xfrm>
            <a:off x="1041502" y="2504542"/>
            <a:ext cx="294437" cy="294437"/>
          </a:xfrm>
          <a:prstGeom prst="rect">
            <a:avLst/>
          </a:prstGeom>
        </p:spPr>
      </p:pic>
      <p:sp>
        <p:nvSpPr>
          <p:cNvPr id="8" name="Text 5"/>
          <p:cNvSpPr/>
          <p:nvPr/>
        </p:nvSpPr>
        <p:spPr>
          <a:xfrm>
            <a:off x="1828800" y="2377440"/>
            <a:ext cx="9144000" cy="502920"/>
          </a:xfrm>
          <a:prstGeom prst="rect">
            <a:avLst/>
          </a:prstGeom>
          <a:noFill/>
          <a:ln/>
        </p:spPr>
        <p:txBody>
          <a:bodyPr wrap="square" lIns="0" tIns="0" rIns="0" bIns="0" rtlCol="0" anchor="ctr"/>
          <a:lstStyle/>
          <a:p>
            <a:pPr indent="0" marL="0">
              <a:buNone/>
            </a:pPr>
            <a:r>
              <a:rPr lang="en-US" sz="2000" b="1" dirty="0">
                <a:solidFill>
                  <a:srgbClr val="1E2A36"/>
                </a:solidFill>
                <a:latin typeface="Calibri" pitchFamily="34" charset="0"/>
                <a:ea typeface="Calibri" pitchFamily="34" charset="-122"/>
                <a:cs typeface="Calibri" pitchFamily="34" charset="-120"/>
              </a:rPr>
              <a:t>This week</a:t>
            </a:r>
            <a:endParaRPr lang="en-US" sz="2000" dirty="0"/>
          </a:p>
        </p:txBody>
      </p:sp>
      <p:sp>
        <p:nvSpPr>
          <p:cNvPr id="9" name="Text 6"/>
          <p:cNvSpPr/>
          <p:nvPr/>
        </p:nvSpPr>
        <p:spPr>
          <a:xfrm>
            <a:off x="1051560" y="3200400"/>
            <a:ext cx="10241280" cy="2286000"/>
          </a:xfrm>
          <a:prstGeom prst="rect">
            <a:avLst/>
          </a:prstGeom>
          <a:noFill/>
          <a:ln/>
        </p:spPr>
        <p:txBody>
          <a:bodyPr wrap="square" lIns="0" tIns="0" rIns="0" bIns="0" rtlCol="0" anchor="t"/>
          <a:lstStyle/>
          <a:p>
            <a:pPr marL="203200" indent="-203200">
              <a:spcAft>
                <a:spcPts val="1200"/>
              </a:spcAft>
              <a:buSzPct val="100000"/>
              <a:buChar char="•"/>
            </a:pPr>
            <a:r>
              <a:rPr lang="en-US" sz="1650" b="1" dirty="0">
                <a:solidFill>
                  <a:srgbClr val="1E2A36"/>
                </a:solidFill>
                <a:latin typeface="Calibri" pitchFamily="34" charset="0"/>
                <a:ea typeface="Calibri" pitchFamily="34" charset="-122"/>
                <a:cs typeface="Calibri" pitchFamily="34" charset="-120"/>
              </a:rPr>
              <a:t>Talk to at least one real person (aim for 1–3) who actually has the problem.</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There are no assigned users — you find your own (roommates, classmates, clubs, community).</a:t>
            </a:r>
            <a:endParaRPr lang="en-US" sz="1650" dirty="0"/>
          </a:p>
          <a:p>
            <a:pPr marL="203200" indent="-203200">
              <a:spcAft>
                <a:spcPts val="1200"/>
              </a:spcAft>
              <a:buSzPct val="100000"/>
              <a:buChar char="•"/>
            </a:pPr>
            <a:r>
              <a:rPr lang="en-US" sz="1650" dirty="0">
                <a:solidFill>
                  <a:srgbClr val="1E2A36"/>
                </a:solidFill>
                <a:latin typeface="Calibri" pitchFamily="34" charset="0"/>
                <a:ea typeface="Calibri" pitchFamily="34" charset="-122"/>
                <a:cs typeface="Calibri" pitchFamily="34" charset="-120"/>
              </a:rPr>
              <a:t>Plus: build one honest, evidence-tagged persona (like Cara, not Ben).</a:t>
            </a:r>
            <a:endParaRPr lang="en-US" sz="1650" dirty="0"/>
          </a:p>
          <a:p>
            <a:pPr marL="203200" indent="-203200">
              <a:buSzPct val="100000"/>
              <a:buChar char="•"/>
            </a:pPr>
            <a:r>
              <a:rPr lang="en-US" sz="1650" dirty="0">
                <a:solidFill>
                  <a:srgbClr val="1E2A36"/>
                </a:solidFill>
                <a:latin typeface="Calibri" pitchFamily="34" charset="0"/>
                <a:ea typeface="Calibri" pitchFamily="34" charset="-122"/>
                <a:cs typeface="Calibri" pitchFamily="34" charset="-120"/>
              </a:rPr>
              <a:t>Capture the needs, not solutions — their words, workarounds, and costs.</a:t>
            </a:r>
            <a:endParaRPr lang="en-US" sz="1650" dirty="0"/>
          </a:p>
        </p:txBody>
      </p:sp>
      <p:sp>
        <p:nvSpPr>
          <p:cNvPr id="10" name="Text 7"/>
          <p:cNvSpPr/>
          <p:nvPr/>
        </p:nvSpPr>
        <p:spPr>
          <a:xfrm>
            <a:off x="548640" y="5760720"/>
            <a:ext cx="11064240" cy="365760"/>
          </a:xfrm>
          <a:prstGeom prst="rect">
            <a:avLst/>
          </a:prstGeom>
          <a:noFill/>
          <a:ln/>
        </p:spPr>
        <p:txBody>
          <a:bodyPr wrap="square" lIns="0" tIns="0" rIns="0" bIns="0" rtlCol="0" anchor="ctr"/>
          <a:lstStyle/>
          <a:p>
            <a:pPr algn="ctr" indent="0" marL="0">
              <a:buNone/>
            </a:pPr>
            <a:r>
              <a:rPr lang="en-US" sz="1400" i="1" dirty="0">
                <a:solidFill>
                  <a:srgbClr val="BFE7E4"/>
                </a:solidFill>
                <a:latin typeface="Calibri" pitchFamily="34" charset="0"/>
                <a:ea typeface="Calibri" pitchFamily="34" charset="-122"/>
                <a:cs typeface="Calibri" pitchFamily="34" charset="-120"/>
              </a:rPr>
              <a:t>Handout: assignments/Discovery-Notes.md · Feeds your Product Definition Brief (Week 3).</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4233A"/>
        </a:solidFill>
      </p:bgPr>
    </p:bg>
    <p:spTree>
      <p:nvGrpSpPr>
        <p:cNvPr id="1" name=""/>
        <p:cNvGrpSpPr/>
        <p:nvPr/>
      </p:nvGrpSpPr>
      <p:grpSpPr>
        <a:xfrm>
          <a:off x="0" y="0"/>
          <a:ext cx="0" cy="0"/>
          <a:chOff x="0" y="0"/>
          <a:chExt cx="0" cy="0"/>
        </a:xfrm>
      </p:grpSpPr>
      <p:sp>
        <p:nvSpPr>
          <p:cNvPr id="2" name="Shape 0"/>
          <p:cNvSpPr/>
          <p:nvPr/>
        </p:nvSpPr>
        <p:spPr>
          <a:xfrm>
            <a:off x="-1188720" y="4754880"/>
            <a:ext cx="3291840" cy="3291840"/>
          </a:xfrm>
          <a:prstGeom prst="ellipse">
            <a:avLst/>
          </a:prstGeom>
          <a:solidFill>
            <a:srgbClr val="1C3252"/>
          </a:solidFill>
          <a:ln/>
        </p:spPr>
      </p:sp>
      <p:sp>
        <p:nvSpPr>
          <p:cNvPr id="3" name="Shape 1"/>
          <p:cNvSpPr/>
          <p:nvPr/>
        </p:nvSpPr>
        <p:spPr>
          <a:xfrm>
            <a:off x="822960" y="118872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1045159" y="1410919"/>
            <a:ext cx="378562" cy="378562"/>
          </a:xfrm>
          <a:prstGeom prst="rect">
            <a:avLst/>
          </a:prstGeom>
        </p:spPr>
      </p:pic>
      <p:sp>
        <p:nvSpPr>
          <p:cNvPr id="5" name="Text 2"/>
          <p:cNvSpPr/>
          <p:nvPr/>
        </p:nvSpPr>
        <p:spPr>
          <a:xfrm>
            <a:off x="822960" y="2148840"/>
            <a:ext cx="10881360" cy="1554480"/>
          </a:xfrm>
          <a:prstGeom prst="rect">
            <a:avLst/>
          </a:prstGeom>
          <a:noFill/>
          <a:ln/>
        </p:spPr>
        <p:txBody>
          <a:bodyPr wrap="square" lIns="0" tIns="0" rIns="0" bIns="0" rtlCol="0" anchor="ctr"/>
          <a:lstStyle/>
          <a:p>
            <a:pPr indent="0" marL="0">
              <a:lnSpc>
                <a:spcPct val="106000"/>
              </a:lnSpc>
              <a:buNone/>
            </a:pPr>
            <a:r>
              <a:rPr lang="en-US" sz="2800" b="1" i="1" dirty="0">
                <a:solidFill>
                  <a:srgbClr val="FFFFFF"/>
                </a:solidFill>
                <a:latin typeface="Cambria" pitchFamily="34" charset="0"/>
                <a:ea typeface="Cambria" pitchFamily="34" charset="-122"/>
                <a:cs typeface="Cambria" pitchFamily="34" charset="-120"/>
              </a:rPr>
              <a:t>Go learn about their life and their real, past behavior —</a:t>
            </a:r>
            <a:endParaRPr lang="en-US" sz="2800" dirty="0"/>
          </a:p>
          <a:p>
            <a:pPr indent="0" marL="0">
              <a:lnSpc>
                <a:spcPct val="106000"/>
              </a:lnSpc>
              <a:buNone/>
            </a:pPr>
            <a:r>
              <a:rPr lang="en-US" sz="2800" b="1" i="1" dirty="0">
                <a:solidFill>
                  <a:srgbClr val="FFFFFF"/>
                </a:solidFill>
                <a:latin typeface="Cambria" pitchFamily="34" charset="0"/>
                <a:ea typeface="Cambria" pitchFamily="34" charset="-122"/>
                <a:cs typeface="Cambria" pitchFamily="34" charset="-120"/>
              </a:rPr>
              <a:t>and stay quiet long enough to hear it.</a:t>
            </a:r>
            <a:endParaRPr lang="en-US" sz="2800" dirty="0"/>
          </a:p>
        </p:txBody>
      </p:sp>
      <p:sp>
        <p:nvSpPr>
          <p:cNvPr id="6" name="Text 3"/>
          <p:cNvSpPr/>
          <p:nvPr/>
        </p:nvSpPr>
        <p:spPr>
          <a:xfrm>
            <a:off x="841248" y="4023360"/>
            <a:ext cx="10058400" cy="320040"/>
          </a:xfrm>
          <a:prstGeom prst="rect">
            <a:avLst/>
          </a:prstGeom>
          <a:noFill/>
          <a:ln/>
        </p:spPr>
        <p:txBody>
          <a:bodyPr wrap="square" lIns="0" tIns="0" rIns="0" bIns="0" rtlCol="0" anchor="ctr"/>
          <a:lstStyle/>
          <a:p>
            <a:pPr indent="0" marL="0">
              <a:buNone/>
            </a:pPr>
            <a:r>
              <a:rPr lang="en-US" sz="1400" b="1" spc="200" kern="0" dirty="0">
                <a:solidFill>
                  <a:srgbClr val="E8A33D"/>
                </a:solidFill>
                <a:latin typeface="Calibri" pitchFamily="34" charset="0"/>
                <a:ea typeface="Calibri" pitchFamily="34" charset="-122"/>
                <a:cs typeface="Calibri" pitchFamily="34" charset="-120"/>
              </a:rPr>
              <a:t>BEFORE MONDAY, SEP 21</a:t>
            </a:r>
            <a:endParaRPr lang="en-US" sz="1400" dirty="0"/>
          </a:p>
        </p:txBody>
      </p:sp>
      <p:sp>
        <p:nvSpPr>
          <p:cNvPr id="7" name="Text 4"/>
          <p:cNvSpPr/>
          <p:nvPr/>
        </p:nvSpPr>
        <p:spPr>
          <a:xfrm>
            <a:off x="868680" y="4407408"/>
            <a:ext cx="10698480" cy="1463040"/>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rgbClr val="CBD8E6"/>
                </a:solidFill>
                <a:latin typeface="Calibri" pitchFamily="34" charset="0"/>
                <a:ea typeface="Calibri" pitchFamily="34" charset="-122"/>
                <a:cs typeface="Calibri" pitchFamily="34" charset="-120"/>
              </a:rPr>
              <a:t>Do your discovery conversations + one honest persona (Discovery Notes)</a:t>
            </a:r>
            <a:endParaRPr lang="en-US" sz="1600" dirty="0"/>
          </a:p>
          <a:p>
            <a:pPr marL="203200" indent="-203200">
              <a:spcAft>
                <a:spcPts val="800"/>
              </a:spcAft>
              <a:buSzPct val="100000"/>
              <a:buChar char="•"/>
            </a:pPr>
            <a:r>
              <a:rPr lang="en-US" sz="1600" dirty="0">
                <a:solidFill>
                  <a:srgbClr val="CBD8E6"/>
                </a:solidFill>
                <a:latin typeface="Calibri" pitchFamily="34" charset="0"/>
                <a:ea typeface="Calibri" pitchFamily="34" charset="-122"/>
                <a:cs typeface="Calibri" pitchFamily="34" charset="-120"/>
              </a:rPr>
              <a:t>Turn in your License / OSS short response (from Session 3)</a:t>
            </a:r>
            <a:endParaRPr lang="en-US" sz="1600" dirty="0"/>
          </a:p>
          <a:p>
            <a:pPr marL="203200" indent="-203200">
              <a:buSzPct val="100000"/>
              <a:buChar char="•"/>
            </a:pPr>
            <a:r>
              <a:rPr lang="en-US" sz="1600" dirty="0">
                <a:solidFill>
                  <a:srgbClr val="CBD8E6"/>
                </a:solidFill>
                <a:latin typeface="Calibri" pitchFamily="34" charset="0"/>
                <a:ea typeface="Calibri" pitchFamily="34" charset="-122"/>
                <a:cs typeface="Calibri" pitchFamily="34" charset="-120"/>
              </a:rPr>
              <a:t>Keep feeding your idea journal — Week 3: feasibility + the Product Definition Brief</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301R — Session 4 — Discovery Workshop</dc:title>
  <dc:subject>PptxGenJS Presentation</dc:subject>
  <dc:creator>CS 301R</dc:creator>
  <cp:lastModifiedBy>CS 301R</cp:lastModifiedBy>
  <cp:revision>1</cp:revision>
  <dcterms:created xsi:type="dcterms:W3CDTF">2026-07-08T20:12:39Z</dcterms:created>
  <dcterms:modified xsi:type="dcterms:W3CDTF">2026-07-08T20:12:39Z</dcterms:modified>
</cp:coreProperties>
</file>