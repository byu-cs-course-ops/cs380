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shift: for three weeks they explored and defined; today they argue. The proposal is the first artifact a stranger will judge the project by, and it feeds directly into next week's pitch. Collect CP2 at the door — it's due at the start of class. Today is deliberately not a lecture on structure; they read that. Class time goes to dissecting a weak proposal and to arguing feasibility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and it does real work: it tells you whether the room read the anatomy piece, and the whole session's timing is a bet that they did. Take two or three answers. Push past the label — "non-goals" isn't an answer, "non-goals prove you scoped rather than postponed" is. If the room is blank, spend three extra minutes on the skeleton slide and take the time out of the §4 buffer, not out of feasibility. Don't moralize; the point is calibration, not shaming.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Make the audience shift concrete — that single change is what makes CP3 hard. CP2 could assume context; CP3 assumes none, and its reader is allowed to say no. Name the two real readers they'll face: a skeptic hunting for the hole, and a classmate on Oct 7 deciding where to spend their semester. Collect CP2 now, and say Wednesday's mechanics out loud already so nobody hears it for the first time at the end of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lens for the whole session — everything in §4 is an example of spending credibility. Say the accounting plainly: you start neutral, each section moves the balance, and once it's negative the reader discounts your true claims as well. Dwell on the amber line, because it's the move students resist hardest: naming what you haven't established makes the rest more believable. Experienced reviewers read for it — a proposal with no acknowledged weakness reads as naive or dishonest.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minutes, and run it as recall — you read the reading, so tell me. Call on the room by section: what is non-goals FOR? Where does the material for technical approach come from? Two or three exchanges is enough; do not lecture the grid. The subtitles are the answers if the room stalls. If the entry poll went badly, this is where you spend three extra minutes — take them from the §4 buffer, never from the feasibility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useful operational thing in the reading, so give it a slide of its own. Students default to writing top to bottom and then wonder why the executive summary is vague and the MVP is a guess. Point at step 2 specifically — deciding what success means before choosing features is what stops the feature list from becoming a wishlist. And step 8: the summary is a compression of a finished argument. The revision pass at the bottom takes twenty minutes and saves a grade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minutes for the four, so roughly three each — this slide is the map, thirty seconds. Frame them as a standing frame rather than proposal trivia: the same four questions work on a bug report, a PR description, and an incident writeup, and this course will keep asking for them. Then take each in turn; two of the four have a live test you should actually run in the room rather than describe.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and actually run the test — it lands far harder than describing it. Take a volunteer's problem paragraph, read it aloud, then ask a student on the far side of the room to restate it in one sentence. Either outcome teaches. Before that, spend a beat on the recruiting reader: most authors forget them, and they read the risks section hardest because it predicts what working with you feels like. Note that jargon their classmate can't parse is a cost, not a credential.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The altitude rule is the one students break most, and always in the same direction — they design instead of argue, because designing is the comfortable part. A proposal that opens an ER diagram has answered a question nobody asked while leaving 'is the problem real?' untouched. The second half connects back to the credibility economy: a named hole spends nothing, a hidden one detonates. Tie it to their [E]/[A] habit from CP2 — same discipline, new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demonstrated rather than asserted. Read the left column aloud, then the right, and let the room hear the difference — these are the actual opening sentences of the summary, problem, and solution sections of each proposal. The strong one's form a chain of claims that names a user and a tool; the weak one's are three moods in a row. Then give them the instruction they can act on tonight: after drafting, read only your first sentences in order. It takes two minutes and exposes buried arguments better than any amount of rereading.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Both failure directions come from the same place — uncertainty about whether the evidence carries the claim. Salesy language papers over it; apologetic language pre-apologizes for it. The fix is neither: state what you know, what you don't, and what you cut. End on the navy bar, because it's the bridge into the dissection: every weak passage they're about to see substitutes an adjective for a fact, and every strong one does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twenty-two minutes. The controlled comparison is the whole point: same project, same student-level effort, so every difference they spot is a choice rather than a talent gap. Say the invented-evidence disclaimer out loud — this course grades honesty about evidence and a sample with fabricated interviews needs its label spoken, not just printed. Spend a beat on what the tool actually is — the room needs a picture of the project before excerpts start flying, because nobody has read the strong version. Insist on specific answers from the first one; vague reactions are the habit we are breaking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and it pays for itself all session. Students default to reactions — vague, confusing, too much — which feel like feedback but give the author nothing to change. Read the left column, ask the room to convert one before you show the right. Then land the bottom bar: the goal is a sentence the author could act on tonight. The rubric criteria are a convenient set of names and Wednesday's review is anchored to them, but a precise observation in plain words beats criterion jargon attached to a vague complaint. This is the same skill as a useful code-review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and it is the orientation the rest of the dissection depends on — nobody in the room has read the strong proposal, so without this the excerpts arrive from nowhere. Read both aloud. Ask what each one told them: the right paragraph names a bounded user, an evidence count, a specific tool, a sized MVP, and four exclusions; the left names an adjective and a feature list. This also demonstrates the slide-5 claim on real text — the executive summary is written last because it can only compress an argument that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reveal the strong version yet. Read the passage aloud — hearing 'cosplayers and eventually professional theater companies' does most of the work. Take three or four answers and push each into criteria language: 'six audiences is no audience' is better than 'too broad.' If nobody names the evidence problem, ask directly how many people the author actually talked to. The answer is one relative and a search, and the room will 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reveal. Walk the three moves: bounded users you could actually go find, needs ranked with an evidence count attached, and one concrete human doing a concrete thing. Then read the fourth line aloud — the author admits they only spoke to leads, not new volunteers. Ask the room whether that admission made them trust the document more or less. It's the credibility-economy lesson landing on a real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swap-test is the tool to hand them here: every justification in this passage — modern, industry-standard, flexible — survives being pasted into any proposal in the room, which means it justifies nothing. Then land on the last line hard. 'Start with the parts I already know and work up to the harder features' is precisely the failure the spikes reading warned about: the fatal unknown discovered in Week 13, when there's no runway left to change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and compare reason-types side by side: adjectives on the left, constraints on the right — no IT staff, a box someone can operate, a venue with bad wifi. Constraints are checkable and specific to one project; adjectives are decoration. Then the spike: six hours converted 'photos might be too slow' into a design requirement that's now in the technical approach. Ask the direct question — which of these two authors knows whether their project is possible? Only one of them went and found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find the 140 hours themselves — it's more effective than telling. Then kill it loudly, because it is the single most common fatal line in student proposals and you have twenty-five drafts arriving Wednesday. Do the honest arithmetic on the board: ten hours covers class, reading, discovery, writing, and reviews, and building runs roughly five weeks. On non-goals, make the sharper point — present-but-empty is worse than absent, because it announces that scoping was postponed rather than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'it was in my first draft' sentence is the whole lesson about non-goals, so read it aloud. Naming a cut that hurt proves the author made a decision under real tension rather than listing things they never wanted. Then contrast the two MVPs: four features across four surfaces versus one workflow, one user type, end to end, on real data. Ask which one they'd believe a December demo from — and note that the modest one is also the more ambitious claim, because it's a promise rather than a wish.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on this slide and the next — they're a checklist, not a lecture. Read them fast; the room has just seen every one of these in context, so the list is retrieval rather than new material. Tell them plainly: this is the list Wednesday's reviewers will effectively be checking against, and most first drafts contain three or four of these. Suggest they photograph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mirror image, same pace. Two to call out if you're short on time: non-goals with a reason that cost something, and success criteria with an observer, an action, and a threshold — including one the author expects to fail. Both are moves students believe will hurt them and that actually buy credibility. Point them at the strong sample in resources; it's the worked version of this whole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minutes for this block, and it's where the grade concentrates. Pull the Week-3 toolkit forward by name — they already own all four pieces, so this is assembly, not new content. The next slide is the CP3 grid — jump to it here and back, rather than describing the weights from memory: twenty points on feasibility plus fifteen on scope realism is a third of the assignment, and that weighting is the course saying this skill is the point. Honest confidence is the posture; the next two slides are the mechanics.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and jump back to the previous slide as the feasibility discussion runs — that is why it sits here. Walk only the two highlighted rows: twenty points on feasibility and technical approach, fifteen on scope realism, so a third of the grade rides on arguing honestly about what you can build. Say plainly that this is deliberate, not arithmetic — the course is claiming that scope honesty is the skill that separates a credible founder from an optimistic one. Point at Argument &amp; revision (10) too, since Wednesday's draft is what makes it scoreable. Levels live in rubrics.md; don't read them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The ranking on this slide surprises students: a red spike outranks a promised green one, because a red result honestly reported is information and a promise is not. Walk Backstage's spike as the model — the green and red lines were declared before the work started, which is what keeps you honest at hour five when you're tempted to call a mess 'basically working.' Note the payoff: the spike changed the design, and that change is visible in the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and actually run the ninety seconds — do not just describe it. Have every student write two numbers on paper: honest hours per week, times five. The room goes quiet when the product lands well under what their draft promises, and that silence is worth more than another slide. Then name the payoff: scope realism is fifteen points, and reviewers reward it. Close on non-goals — the reader can't see features you never listed, only the ones you named and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one-page worksheet — everything on this slide is printed on it, so leave the slide up as a clock rather than a reference. Six minutes, solo, silent. Circulate and read over shoulders: the two common misses are section labels instead of claims ('describes the problem' rather than a claim), and mitigations with no trigger. Nudge individually rather than interrupting the room. Call the last minute so everyone has a starred section before the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each direction. Hold them to specific answers — the translation drill from earlier applies here, and a vague verdict wastes their partner's turn. The instruction that matters most is the author's: capture, don't defend — same protocol as the Week-3 workshop and Wednesday's review. Model one sharp, kind critique aloud early so the room hears the register; without it pairs default to politeness and nobody learns anything. Listen for 'that's a good idea' and intervene — ask that pair the arithmetic question directly. This is the rehearsal for Wednesday, when it counts for a 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all of this out loud and don't rush it — Wednesday breaks if half the room arrives without paper. Two printed copies, draft uploaded by the start of class, four minimum sections. Be straight about the cap: it isn't punitive bookkeeping, it's that revision can't be graded against a draft that doesn't exist. Mention the second cost — a student with no draft leaves their partner with nothing to review. Then the Oct 5 submission shape: proposal plus photos of both marked-up copies.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one-liner: an argument, to a reader who is allowed to say no. That framing is what separates a proposal from a description. Make the three actions concrete and name the highest-leverage one — writing out of order, starting from problem and users and finishing with the executive summary. Remind anyone without a spike that Wednesday's reviewers will ask about it, and that a red result reported honestly is a good outcome. Then preview Wednesday: their draft meets its first skeptical readers.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slideLayout" Target="../slideLayouts/slideLayout1.xml"/><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slideLayout" Target="../slideLayouts/slideLayout1.xml"/><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Arguing for a Project</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7 — proposal anatomy</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Monday, September 28,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280160" y="4480560"/>
            <a:ext cx="3657600" cy="3657600"/>
          </a:xfrm>
          <a:prstGeom prst="ellipse">
            <a:avLst/>
          </a:prstGeom>
          <a:solidFill>
            <a:srgbClr val="1C3252"/>
          </a:solidFill>
          <a:ln/>
        </p:spPr>
      </p:sp>
      <p:sp>
        <p:nvSpPr>
          <p:cNvPr id="3" name="Shape 1"/>
          <p:cNvSpPr/>
          <p:nvPr/>
        </p:nvSpPr>
        <p:spPr>
          <a:xfrm>
            <a:off x="566928" y="658368"/>
            <a:ext cx="137160" cy="137160"/>
          </a:xfrm>
          <a:prstGeom prst="ellipse">
            <a:avLst/>
          </a:prstGeom>
          <a:solidFill>
            <a:srgbClr val="E8A33D"/>
          </a:solidFill>
          <a:ln/>
        </p:spPr>
      </p:sp>
      <p:sp>
        <p:nvSpPr>
          <p:cNvPr id="4" name="Text 2"/>
          <p:cNvSpPr/>
          <p:nvPr/>
        </p:nvSpPr>
        <p:spPr>
          <a:xfrm>
            <a:off x="795528" y="566928"/>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BEFORE WE START</a:t>
            </a:r>
            <a:endParaRPr lang="en-US" sz="1400" dirty="0"/>
          </a:p>
        </p:txBody>
      </p:sp>
      <p:sp>
        <p:nvSpPr>
          <p:cNvPr id="5" name="Shape 3"/>
          <p:cNvSpPr/>
          <p:nvPr/>
        </p:nvSpPr>
        <p:spPr>
          <a:xfrm>
            <a:off x="822960" y="1234440"/>
            <a:ext cx="822960" cy="822960"/>
          </a:xfrm>
          <a:prstGeom prst="ellipse">
            <a:avLst/>
          </a:prstGeom>
          <a:solidFill>
            <a:srgbClr val="E8A33D"/>
          </a:solidFill>
          <a:ln/>
        </p:spPr>
      </p:sp>
      <p:pic>
        <p:nvPicPr>
          <p:cNvPr id="6" name="Image 0" descr="preencoded.png">    </p:cNvPr>
          <p:cNvPicPr>
            <a:picLocks noChangeAspect="1"/>
          </p:cNvPicPr>
          <p:nvPr/>
        </p:nvPicPr>
        <p:blipFill>
          <a:blip r:embed="rId1"/>
          <a:stretch>
            <a:fillRect/>
          </a:stretch>
        </p:blipFill>
        <p:spPr>
          <a:xfrm>
            <a:off x="1045159" y="1456639"/>
            <a:ext cx="378562" cy="378562"/>
          </a:xfrm>
          <a:prstGeom prst="rect">
            <a:avLst/>
          </a:prstGeom>
        </p:spPr>
      </p:pic>
      <p:sp>
        <p:nvSpPr>
          <p:cNvPr id="7" name="Text 4"/>
          <p:cNvSpPr/>
          <p:nvPr/>
        </p:nvSpPr>
        <p:spPr>
          <a:xfrm>
            <a:off x="822960" y="2212848"/>
            <a:ext cx="10881360" cy="1691640"/>
          </a:xfrm>
          <a:prstGeom prst="rect">
            <a:avLst/>
          </a:prstGeom>
          <a:noFill/>
          <a:ln/>
        </p:spPr>
        <p:txBody>
          <a:bodyPr wrap="square" lIns="0" tIns="0" rIns="0" bIns="0" rtlCol="0" anchor="ctr"/>
          <a:lstStyle/>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Name one section of a proposal —</a:t>
            </a:r>
            <a:endParaRPr lang="en-US" sz="3400" dirty="0"/>
          </a:p>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and what it is </a:t>
            </a:r>
            <a:endParaRPr lang="en-US" sz="3400" dirty="0"/>
          </a:p>
          <a:p>
            <a:pPr indent="0" marL="0">
              <a:lnSpc>
                <a:spcPct val="105000"/>
              </a:lnSpc>
              <a:buNone/>
            </a:pPr>
            <a:r>
              <a:rPr lang="en-US" sz="3400" b="1" i="1" dirty="0">
                <a:solidFill>
                  <a:srgbClr val="E8A33D"/>
                </a:solidFill>
                <a:latin typeface="Cambria" pitchFamily="34" charset="0"/>
                <a:ea typeface="Cambria" pitchFamily="34" charset="-122"/>
                <a:cs typeface="Cambria" pitchFamily="34" charset="-120"/>
              </a:rPr>
              <a:t>for</a:t>
            </a:r>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a:t>
            </a:r>
            <a:endParaRPr lang="en-US" sz="3400" dirty="0"/>
          </a:p>
        </p:txBody>
      </p:sp>
      <p:sp>
        <p:nvSpPr>
          <p:cNvPr id="8" name="Shape 5"/>
          <p:cNvSpPr/>
          <p:nvPr/>
        </p:nvSpPr>
        <p:spPr>
          <a:xfrm>
            <a:off x="548640" y="4114800"/>
            <a:ext cx="11064240" cy="960120"/>
          </a:xfrm>
          <a:prstGeom prst="roundRect">
            <a:avLst>
              <a:gd name="adj" fmla="val 8571"/>
            </a:avLst>
          </a:prstGeom>
          <a:solidFill>
            <a:srgbClr val="1E3352"/>
          </a:solidFill>
          <a:ln/>
          <a:effectLst>
            <a:outerShdw sx="100000" sy="100000" kx="0" ky="0" algn="bl" rotWithShape="0" blurRad="88900" dist="38100" dir="5400000">
              <a:srgbClr val="000000">
                <a:alpha val="13000"/>
              </a:srgbClr>
            </a:outerShdw>
          </a:effectLst>
        </p:spPr>
      </p:sp>
      <p:sp>
        <p:nvSpPr>
          <p:cNvPr id="9" name="Text 6"/>
          <p:cNvSpPr/>
          <p:nvPr/>
        </p:nvSpPr>
        <p:spPr>
          <a:xfrm>
            <a:off x="914400" y="4114800"/>
            <a:ext cx="10332720" cy="960120"/>
          </a:xfrm>
          <a:prstGeom prst="rect">
            <a:avLst/>
          </a:prstGeom>
          <a:noFill/>
          <a:ln/>
        </p:spPr>
        <p:txBody>
          <a:bodyPr wrap="square" lIns="0" tIns="0" rIns="0" bIns="0" rtlCol="0" anchor="ctr"/>
          <a:lstStyle/>
          <a:p>
            <a:pPr indent="0" marL="0">
              <a:buNone/>
            </a:pPr>
            <a:r>
              <a:rPr lang="en-US" sz="1650" dirty="0">
                <a:solidFill>
                  <a:srgbClr val="CFE0E9"/>
                </a:solidFill>
                <a:latin typeface="Calibri" pitchFamily="34" charset="0"/>
                <a:ea typeface="Calibri" pitchFamily="34" charset="-122"/>
                <a:cs typeface="Calibri" pitchFamily="34" charset="-120"/>
              </a:rPr>
              <a:t>Not what it's called — what job it does for the reader. Two or three answers, out loud.</a:t>
            </a:r>
            <a:endParaRPr lang="en-US" sz="1650" dirty="0"/>
          </a:p>
        </p:txBody>
      </p:sp>
      <p:sp>
        <p:nvSpPr>
          <p:cNvPr id="10" name="Text 7"/>
          <p:cNvSpPr/>
          <p:nvPr/>
        </p:nvSpPr>
        <p:spPr>
          <a:xfrm>
            <a:off x="822960" y="5349240"/>
            <a:ext cx="10881360" cy="365760"/>
          </a:xfrm>
          <a:prstGeom prst="rect">
            <a:avLst/>
          </a:prstGeom>
          <a:noFill/>
          <a:ln/>
        </p:spPr>
        <p:txBody>
          <a:bodyPr wrap="square" lIns="0" tIns="0" rIns="0" bIns="0" rtlCol="0" anchor="ctr"/>
          <a:lstStyle/>
          <a:p>
            <a:pPr indent="0" marL="0">
              <a:buNone/>
            </a:pPr>
            <a:r>
              <a:rPr lang="en-US" sz="1500" i="1" dirty="0">
                <a:solidFill>
                  <a:srgbClr val="9FB4C7"/>
                </a:solidFill>
                <a:latin typeface="Calibri" pitchFamily="34" charset="0"/>
                <a:ea typeface="Calibri" pitchFamily="34" charset="-122"/>
                <a:cs typeface="Calibri" pitchFamily="34" charset="-120"/>
              </a:rPr>
              <a:t>Today's plan assumes you've read The Anatomy of a Software Proposal.</a:t>
            </a:r>
            <a:endParaRPr lang="en-US" sz="1500" dirty="0"/>
          </a:p>
        </p:txBody>
      </p:sp>
      <p:sp>
        <p:nvSpPr>
          <p:cNvPr id="11" name="Text 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7 · Proposal Anatomy</a:t>
            </a:r>
            <a:endParaRPr lang="en-US" sz="1000" dirty="0"/>
          </a:p>
        </p:txBody>
      </p:sp>
      <p:sp>
        <p:nvSpPr>
          <p:cNvPr id="12" name="Text 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WHERE WE ARE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You defined it. Now argue for it.</a:t>
            </a:r>
            <a:endParaRPr lang="en-US" sz="3100" dirty="0"/>
          </a:p>
        </p:txBody>
      </p:sp>
      <p:sp>
        <p:nvSpPr>
          <p:cNvPr id="5" name="Shape 3"/>
          <p:cNvSpPr/>
          <p:nvPr/>
        </p:nvSpPr>
        <p:spPr>
          <a:xfrm>
            <a:off x="548640" y="1874520"/>
            <a:ext cx="5440680" cy="3154680"/>
          </a:xfrm>
          <a:prstGeom prst="roundRect">
            <a:avLst>
              <a:gd name="adj" fmla="val 2609"/>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48840"/>
            <a:ext cx="603504" cy="60350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85906" y="2311786"/>
            <a:ext cx="277612" cy="277612"/>
          </a:xfrm>
          <a:prstGeom prst="rect">
            <a:avLst/>
          </a:prstGeom>
        </p:spPr>
      </p:pic>
      <p:sp>
        <p:nvSpPr>
          <p:cNvPr id="8" name="Text 5"/>
          <p:cNvSpPr/>
          <p:nvPr/>
        </p:nvSpPr>
        <p:spPr>
          <a:xfrm>
            <a:off x="1572768" y="2212848"/>
            <a:ext cx="4206240" cy="45720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CP2 — written to define</a:t>
            </a:r>
            <a:endParaRPr lang="en-US" sz="1900" dirty="0"/>
          </a:p>
        </p:txBody>
      </p:sp>
      <p:sp>
        <p:nvSpPr>
          <p:cNvPr id="9" name="Text 6"/>
          <p:cNvSpPr/>
          <p:nvPr/>
        </p:nvSpPr>
        <p:spPr>
          <a:xfrm>
            <a:off x="896112" y="2999232"/>
            <a:ext cx="4892040" cy="1828800"/>
          </a:xfrm>
          <a:prstGeom prst="rect">
            <a:avLst/>
          </a:prstGeom>
          <a:noFill/>
          <a:ln/>
        </p:spPr>
        <p:txBody>
          <a:bodyPr wrap="square" lIns="0" tIns="0" rIns="0" bIns="0" rtlCol="0" anchor="t"/>
          <a:lstStyle/>
          <a:p>
            <a:pPr indent="0" marL="0">
              <a:lnSpc>
                <a:spcPct val="106000"/>
              </a:lnSpc>
              <a:buNone/>
            </a:pPr>
            <a:r>
              <a:rPr lang="en-US" sz="1600" dirty="0">
                <a:solidFill>
                  <a:srgbClr val="1E2A36"/>
                </a:solidFill>
                <a:latin typeface="Calibri" pitchFamily="34" charset="0"/>
                <a:ea typeface="Calibri" pitchFamily="34" charset="-122"/>
                <a:cs typeface="Calibri" pitchFamily="34" charset="-120"/>
              </a:rPr>
              <a:t>Audience: you and the instructor. Its job was to pin down the user, the needs, and what "this works" means.</a:t>
            </a:r>
            <a:endParaRPr lang="en-US" sz="1600" dirty="0"/>
          </a:p>
        </p:txBody>
      </p:sp>
      <p:sp>
        <p:nvSpPr>
          <p:cNvPr id="10" name="Shape 7"/>
          <p:cNvSpPr/>
          <p:nvPr/>
        </p:nvSpPr>
        <p:spPr>
          <a:xfrm>
            <a:off x="6172200" y="1874520"/>
            <a:ext cx="5440680" cy="3154680"/>
          </a:xfrm>
          <a:prstGeom prst="roundRect">
            <a:avLst>
              <a:gd name="adj" fmla="val 2609"/>
            </a:avLst>
          </a:prstGeom>
          <a:solidFill>
            <a:srgbClr val="14233A"/>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148840"/>
            <a:ext cx="603504" cy="603504"/>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6609466" y="2311786"/>
            <a:ext cx="277612" cy="277612"/>
          </a:xfrm>
          <a:prstGeom prst="rect">
            <a:avLst/>
          </a:prstGeom>
        </p:spPr>
      </p:pic>
      <p:sp>
        <p:nvSpPr>
          <p:cNvPr id="13" name="Text 9"/>
          <p:cNvSpPr/>
          <p:nvPr/>
        </p:nvSpPr>
        <p:spPr>
          <a:xfrm>
            <a:off x="7196328" y="2212848"/>
            <a:ext cx="4297680"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CP3 — written to persuade</a:t>
            </a:r>
            <a:endParaRPr lang="en-US" sz="1900" dirty="0"/>
          </a:p>
        </p:txBody>
      </p:sp>
      <p:sp>
        <p:nvSpPr>
          <p:cNvPr id="14" name="Text 10"/>
          <p:cNvSpPr/>
          <p:nvPr/>
        </p:nvSpPr>
        <p:spPr>
          <a:xfrm>
            <a:off x="6492240" y="2999232"/>
            <a:ext cx="4892040" cy="1828800"/>
          </a:xfrm>
          <a:prstGeom prst="rect">
            <a:avLst/>
          </a:prstGeom>
          <a:noFill/>
          <a:ln/>
        </p:spPr>
        <p:txBody>
          <a:bodyPr wrap="square" lIns="0" tIns="0" rIns="0" bIns="0" rtlCol="0" anchor="t"/>
          <a:lstStyle/>
          <a:p>
            <a:pPr indent="0" marL="0">
              <a:lnSpc>
                <a:spcPct val="106000"/>
              </a:lnSpc>
              <a:buNone/>
            </a:pPr>
            <a:r>
              <a:rPr lang="en-US" sz="1600" dirty="0">
                <a:solidFill>
                  <a:srgbClr val="CFE0E9"/>
                </a:solidFill>
                <a:latin typeface="Calibri" pitchFamily="34" charset="0"/>
                <a:ea typeface="Calibri" pitchFamily="34" charset="-122"/>
                <a:cs typeface="Calibri" pitchFamily="34" charset="-120"/>
              </a:rPr>
              <a:t>Audience: a skeptical stranger who has not lived inside your head for four weeks — and a classmate deciding whether to join you.</a:t>
            </a:r>
            <a:endParaRPr lang="en-US" sz="1600" dirty="0"/>
          </a:p>
        </p:txBody>
      </p:sp>
      <p:sp>
        <p:nvSpPr>
          <p:cNvPr id="15" name="Shape 11"/>
          <p:cNvSpPr/>
          <p:nvPr/>
        </p:nvSpPr>
        <p:spPr>
          <a:xfrm>
            <a:off x="548640" y="5257800"/>
            <a:ext cx="11064240" cy="914400"/>
          </a:xfrm>
          <a:prstGeom prst="roundRect">
            <a:avLst>
              <a:gd name="adj" fmla="val 9000"/>
            </a:avLst>
          </a:prstGeom>
          <a:solidFill>
            <a:srgbClr val="E8A33D"/>
          </a:solidFill>
          <a:ln/>
          <a:effectLst>
            <a:outerShdw sx="100000" sy="100000" kx="0" ky="0" algn="bl" rotWithShape="0" blurRad="88900" dist="38100" dir="5400000">
              <a:srgbClr val="000000">
                <a:alpha val="13000"/>
              </a:srgbClr>
            </a:outerShdw>
          </a:effectLst>
        </p:spPr>
      </p:sp>
      <p:sp>
        <p:nvSpPr>
          <p:cNvPr id="16" name="Shape 12"/>
          <p:cNvSpPr/>
          <p:nvPr/>
        </p:nvSpPr>
        <p:spPr>
          <a:xfrm>
            <a:off x="841248" y="5486400"/>
            <a:ext cx="457200" cy="457200"/>
          </a:xfrm>
          <a:prstGeom prst="ellipse">
            <a:avLst/>
          </a:prstGeom>
          <a:solidFill>
            <a:srgbClr val="14233A"/>
          </a:solidFill>
          <a:ln/>
        </p:spPr>
      </p:sp>
      <p:pic>
        <p:nvPicPr>
          <p:cNvPr id="17" name="Image 2" descr="preencoded.png">    </p:cNvPr>
          <p:cNvPicPr>
            <a:picLocks noChangeAspect="1"/>
          </p:cNvPicPr>
          <p:nvPr/>
        </p:nvPicPr>
        <p:blipFill>
          <a:blip r:embed="rId3"/>
          <a:stretch>
            <a:fillRect/>
          </a:stretch>
        </p:blipFill>
        <p:spPr>
          <a:xfrm>
            <a:off x="964692" y="5609844"/>
            <a:ext cx="210312" cy="210312"/>
          </a:xfrm>
          <a:prstGeom prst="rect">
            <a:avLst/>
          </a:prstGeom>
        </p:spPr>
      </p:pic>
      <p:sp>
        <p:nvSpPr>
          <p:cNvPr id="18" name="Text 13"/>
          <p:cNvSpPr/>
          <p:nvPr/>
        </p:nvSpPr>
        <p:spPr>
          <a:xfrm>
            <a:off x="1463040" y="5257800"/>
            <a:ext cx="9875520" cy="914400"/>
          </a:xfrm>
          <a:prstGeom prst="rect">
            <a:avLst/>
          </a:prstGeom>
          <a:noFill/>
          <a:ln/>
        </p:spPr>
        <p:txBody>
          <a:bodyPr wrap="square" lIns="0" tIns="0" rIns="0" bIns="0" rtlCol="0" anchor="ctr"/>
          <a:lstStyle/>
          <a:p>
            <a:pPr indent="0" marL="0">
              <a:lnSpc>
                <a:spcPct val="103000"/>
              </a:lnSpc>
              <a:buNone/>
            </a:pPr>
            <a:r>
              <a:rPr lang="en-US" sz="1550" b="1" dirty="0">
                <a:solidFill>
                  <a:srgbClr val="14233A"/>
                </a:solidFill>
                <a:latin typeface="Calibri" pitchFamily="34" charset="0"/>
                <a:ea typeface="Calibri" pitchFamily="34" charset="-122"/>
                <a:cs typeface="Calibri" pitchFamily="34" charset="-120"/>
              </a:rPr>
              <a:t>Due now: CP2 Product Definition Brief.  </a:t>
            </a:r>
            <a:pPr indent="0" marL="0">
              <a:lnSpc>
                <a:spcPct val="103000"/>
              </a:lnSpc>
              <a:buNone/>
            </a:pPr>
            <a:r>
              <a:rPr lang="en-US" sz="1550" dirty="0">
                <a:solidFill>
                  <a:srgbClr val="14233A"/>
                </a:solidFill>
                <a:latin typeface="Calibri" pitchFamily="34" charset="0"/>
                <a:ea typeface="Calibri" pitchFamily="34" charset="-122"/>
                <a:cs typeface="Calibri" pitchFamily="34" charset="-120"/>
              </a:rPr>
              <a:t>Draft + two printed copies Wednesday · CP3 due Mon, Oct 5.</a:t>
            </a:r>
            <a:endParaRPr lang="en-US" sz="1550" dirty="0"/>
          </a:p>
        </p:txBody>
      </p:sp>
      <p:sp>
        <p:nvSpPr>
          <p:cNvPr id="20"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21"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LENS FOR TODAY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Every section builds credibility — or spends it</a:t>
            </a:r>
            <a:endParaRPr lang="en-US" sz="3100" dirty="0"/>
          </a:p>
        </p:txBody>
      </p:sp>
      <p:sp>
        <p:nvSpPr>
          <p:cNvPr id="5" name="Shape 3"/>
          <p:cNvSpPr/>
          <p:nvPr/>
        </p:nvSpPr>
        <p:spPr>
          <a:xfrm>
            <a:off x="548640" y="1783080"/>
            <a:ext cx="11064240" cy="914400"/>
          </a:xfrm>
          <a:prstGeom prst="roundRect">
            <a:avLst>
              <a:gd name="adj" fmla="val 9000"/>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1984248"/>
            <a:ext cx="512064" cy="512064"/>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06937" y="2122505"/>
            <a:ext cx="235549" cy="235549"/>
          </a:xfrm>
          <a:prstGeom prst="rect">
            <a:avLst/>
          </a:prstGeom>
        </p:spPr>
      </p:pic>
      <p:sp>
        <p:nvSpPr>
          <p:cNvPr id="8" name="Text 5"/>
          <p:cNvSpPr/>
          <p:nvPr/>
        </p:nvSpPr>
        <p:spPr>
          <a:xfrm>
            <a:off x="1600200" y="1783080"/>
            <a:ext cx="9738360" cy="914400"/>
          </a:xfrm>
          <a:prstGeom prst="rect">
            <a:avLst/>
          </a:prstGeom>
          <a:noFill/>
          <a:ln/>
        </p:spPr>
        <p:txBody>
          <a:bodyPr wrap="square" lIns="0" tIns="0" rIns="0" bIns="0" rtlCol="0" anchor="ctr"/>
          <a:lstStyle/>
          <a:p>
            <a:pPr indent="0" marL="0">
              <a:lnSpc>
                <a:spcPct val="104000"/>
              </a:lnSpc>
              <a:buNone/>
            </a:pPr>
            <a:r>
              <a:rPr lang="en-US" sz="1650" dirty="0">
                <a:solidFill>
                  <a:srgbClr val="CFE0E9"/>
                </a:solidFill>
                <a:latin typeface="Calibri" pitchFamily="34" charset="0"/>
                <a:ea typeface="Calibri" pitchFamily="34" charset="-122"/>
                <a:cs typeface="Calibri" pitchFamily="34" charset="-120"/>
              </a:rPr>
              <a:t>You start at neutral. When the balance goes negative, the reader stops believing the true parts too.</a:t>
            </a:r>
            <a:endParaRPr lang="en-US" sz="1650" dirty="0"/>
          </a:p>
        </p:txBody>
      </p:sp>
      <p:sp>
        <p:nvSpPr>
          <p:cNvPr id="9" name="Shape 6"/>
          <p:cNvSpPr/>
          <p:nvPr/>
        </p:nvSpPr>
        <p:spPr>
          <a:xfrm>
            <a:off x="548640" y="2880360"/>
            <a:ext cx="5440680" cy="2331720"/>
          </a:xfrm>
          <a:prstGeom prst="roundRect">
            <a:avLst>
              <a:gd name="adj" fmla="val 3529"/>
            </a:avLst>
          </a:prstGeom>
          <a:solidFill>
            <a:srgbClr val="EAF4EE"/>
          </a:solidFill>
          <a:ln/>
          <a:effectLst>
            <a:outerShdw sx="100000" sy="100000" kx="0" ky="0" algn="bl" rotWithShape="0" blurRad="88900" dist="38100" dir="5400000">
              <a:srgbClr val="000000">
                <a:alpha val="13000"/>
              </a:srgbClr>
            </a:outerShdw>
          </a:effectLst>
        </p:spPr>
      </p:sp>
      <p:sp>
        <p:nvSpPr>
          <p:cNvPr id="10" name="Shape 7"/>
          <p:cNvSpPr/>
          <p:nvPr/>
        </p:nvSpPr>
        <p:spPr>
          <a:xfrm>
            <a:off x="822960" y="3154680"/>
            <a:ext cx="548640" cy="548640"/>
          </a:xfrm>
          <a:prstGeom prst="ellipse">
            <a:avLst/>
          </a:prstGeom>
          <a:solidFill>
            <a:srgbClr val="3E9C6B"/>
          </a:solidFill>
          <a:ln/>
        </p:spPr>
      </p:sp>
      <p:pic>
        <p:nvPicPr>
          <p:cNvPr id="11" name="Image 1" descr="preencoded.png">    </p:cNvPr>
          <p:cNvPicPr>
            <a:picLocks noChangeAspect="1"/>
          </p:cNvPicPr>
          <p:nvPr/>
        </p:nvPicPr>
        <p:blipFill>
          <a:blip r:embed="rId2"/>
          <a:stretch>
            <a:fillRect/>
          </a:stretch>
        </p:blipFill>
        <p:spPr>
          <a:xfrm>
            <a:off x="971093" y="3302813"/>
            <a:ext cx="252374" cy="252374"/>
          </a:xfrm>
          <a:prstGeom prst="rect">
            <a:avLst/>
          </a:prstGeom>
        </p:spPr>
      </p:pic>
      <p:sp>
        <p:nvSpPr>
          <p:cNvPr id="12" name="Text 8"/>
          <p:cNvSpPr/>
          <p:nvPr/>
        </p:nvSpPr>
        <p:spPr>
          <a:xfrm>
            <a:off x="1517904" y="3200400"/>
            <a:ext cx="4206240" cy="45720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Buys credit</a:t>
            </a:r>
            <a:endParaRPr lang="en-US" sz="1800" dirty="0"/>
          </a:p>
        </p:txBody>
      </p:sp>
      <p:sp>
        <p:nvSpPr>
          <p:cNvPr id="13" name="Text 9"/>
          <p:cNvSpPr/>
          <p:nvPr/>
        </p:nvSpPr>
        <p:spPr>
          <a:xfrm>
            <a:off x="914400" y="3858768"/>
            <a:ext cx="4846320" cy="1234440"/>
          </a:xfrm>
          <a:prstGeom prst="rect">
            <a:avLst/>
          </a:prstGeom>
          <a:noFill/>
          <a:ln/>
        </p:spPr>
        <p:txBody>
          <a:bodyPr wrap="square" lIns="0" tIns="0" rIns="0" bIns="0" rtlCol="0" anchor="t"/>
          <a:lstStyle/>
          <a:p>
            <a:pPr marL="177800" indent="-177800">
              <a:spcAft>
                <a:spcPts val="700"/>
              </a:spcAft>
              <a:buSzPct val="100000"/>
              <a:buChar char="•"/>
            </a:pPr>
            <a:r>
              <a:rPr lang="en-US" sz="1550" dirty="0">
                <a:solidFill>
                  <a:srgbClr val="1E2A36"/>
                </a:solidFill>
                <a:latin typeface="Calibri" pitchFamily="34" charset="0"/>
                <a:ea typeface="Calibri" pitchFamily="34" charset="-122"/>
                <a:cs typeface="Calibri" pitchFamily="34" charset="-120"/>
              </a:rPr>
              <a:t>A specific claim with a source behind it</a:t>
            </a:r>
            <a:endParaRPr lang="en-US" sz="1550" dirty="0"/>
          </a:p>
          <a:p>
            <a:pPr marL="177800" indent="-177800">
              <a:spcAft>
                <a:spcPts val="700"/>
              </a:spcAft>
              <a:buSzPct val="100000"/>
              <a:buChar char="•"/>
            </a:pPr>
            <a:r>
              <a:rPr lang="en-US" sz="1550" dirty="0">
                <a:solidFill>
                  <a:srgbClr val="1E2A36"/>
                </a:solidFill>
                <a:latin typeface="Calibri" pitchFamily="34" charset="0"/>
                <a:ea typeface="Calibri" pitchFamily="34" charset="-122"/>
                <a:cs typeface="Calibri" pitchFamily="34" charset="-120"/>
              </a:rPr>
              <a:t>A choice justified by a constraint</a:t>
            </a:r>
            <a:endParaRPr lang="en-US" sz="1550" dirty="0"/>
          </a:p>
          <a:p>
            <a:pPr marL="177800" indent="-177800">
              <a:buSzPct val="100000"/>
              <a:buChar char="•"/>
            </a:pPr>
            <a:r>
              <a:rPr lang="en-US" sz="1550" dirty="0">
                <a:solidFill>
                  <a:srgbClr val="1E2A36"/>
                </a:solidFill>
                <a:latin typeface="Calibri" pitchFamily="34" charset="0"/>
                <a:ea typeface="Calibri" pitchFamily="34" charset="-122"/>
                <a:cs typeface="Calibri" pitchFamily="34" charset="-120"/>
              </a:rPr>
              <a:t>An admitted limitation</a:t>
            </a:r>
            <a:endParaRPr lang="en-US" sz="1550" dirty="0"/>
          </a:p>
        </p:txBody>
      </p:sp>
      <p:sp>
        <p:nvSpPr>
          <p:cNvPr id="14" name="Shape 10"/>
          <p:cNvSpPr/>
          <p:nvPr/>
        </p:nvSpPr>
        <p:spPr>
          <a:xfrm>
            <a:off x="6172200" y="2880360"/>
            <a:ext cx="5440680" cy="2331720"/>
          </a:xfrm>
          <a:prstGeom prst="roundRect">
            <a:avLst>
              <a:gd name="adj" fmla="val 3529"/>
            </a:avLst>
          </a:prstGeom>
          <a:solidFill>
            <a:srgbClr val="FBECE8"/>
          </a:solidFill>
          <a:ln/>
          <a:effectLst>
            <a:outerShdw sx="100000" sy="100000" kx="0" ky="0" algn="bl" rotWithShape="0" blurRad="88900" dist="38100" dir="5400000">
              <a:srgbClr val="000000">
                <a:alpha val="13000"/>
              </a:srgbClr>
            </a:outerShdw>
          </a:effectLst>
        </p:spPr>
      </p:sp>
      <p:sp>
        <p:nvSpPr>
          <p:cNvPr id="15" name="Shape 11"/>
          <p:cNvSpPr/>
          <p:nvPr/>
        </p:nvSpPr>
        <p:spPr>
          <a:xfrm>
            <a:off x="6446520" y="3154680"/>
            <a:ext cx="548640" cy="548640"/>
          </a:xfrm>
          <a:prstGeom prst="ellipse">
            <a:avLst/>
          </a:prstGeom>
          <a:solidFill>
            <a:srgbClr val="D9614C"/>
          </a:solidFill>
          <a:ln/>
        </p:spPr>
      </p:sp>
      <p:pic>
        <p:nvPicPr>
          <p:cNvPr id="16" name="Image 2" descr="preencoded.png">    </p:cNvPr>
          <p:cNvPicPr>
            <a:picLocks noChangeAspect="1"/>
          </p:cNvPicPr>
          <p:nvPr/>
        </p:nvPicPr>
        <p:blipFill>
          <a:blip r:embed="rId3"/>
          <a:stretch>
            <a:fillRect/>
          </a:stretch>
        </p:blipFill>
        <p:spPr>
          <a:xfrm>
            <a:off x="6594653" y="3302813"/>
            <a:ext cx="252374" cy="252374"/>
          </a:xfrm>
          <a:prstGeom prst="rect">
            <a:avLst/>
          </a:prstGeom>
        </p:spPr>
      </p:pic>
      <p:sp>
        <p:nvSpPr>
          <p:cNvPr id="17" name="Text 12"/>
          <p:cNvSpPr/>
          <p:nvPr/>
        </p:nvSpPr>
        <p:spPr>
          <a:xfrm>
            <a:off x="7141464" y="3200400"/>
            <a:ext cx="4206240" cy="45720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Spends it</a:t>
            </a:r>
            <a:endParaRPr lang="en-US" sz="1800" dirty="0"/>
          </a:p>
        </p:txBody>
      </p:sp>
      <p:sp>
        <p:nvSpPr>
          <p:cNvPr id="18" name="Text 13"/>
          <p:cNvSpPr/>
          <p:nvPr/>
        </p:nvSpPr>
        <p:spPr>
          <a:xfrm>
            <a:off x="6537960" y="3858768"/>
            <a:ext cx="4846320" cy="1234440"/>
          </a:xfrm>
          <a:prstGeom prst="rect">
            <a:avLst/>
          </a:prstGeom>
          <a:noFill/>
          <a:ln/>
        </p:spPr>
        <p:txBody>
          <a:bodyPr wrap="square" lIns="0" tIns="0" rIns="0" bIns="0" rtlCol="0" anchor="t"/>
          <a:lstStyle/>
          <a:p>
            <a:pPr marL="177800" indent="-177800">
              <a:spcAft>
                <a:spcPts val="700"/>
              </a:spcAft>
              <a:buSzPct val="100000"/>
              <a:buChar char="•"/>
            </a:pPr>
            <a:r>
              <a:rPr lang="en-US" sz="1550" dirty="0">
                <a:solidFill>
                  <a:srgbClr val="1E2A36"/>
                </a:solidFill>
                <a:latin typeface="Calibri" pitchFamily="34" charset="0"/>
                <a:ea typeface="Calibri" pitchFamily="34" charset="-122"/>
                <a:cs typeface="Calibri" pitchFamily="34" charset="-120"/>
              </a:rPr>
              <a:t>A vague claim, an unexplained tech choice</a:t>
            </a:r>
            <a:endParaRPr lang="en-US" sz="1550" dirty="0"/>
          </a:p>
          <a:p>
            <a:pPr marL="177800" indent="-177800">
              <a:spcAft>
                <a:spcPts val="700"/>
              </a:spcAft>
              <a:buSzPct val="100000"/>
              <a:buChar char="•"/>
            </a:pPr>
            <a:r>
              <a:rPr lang="en-US" sz="1550" dirty="0">
                <a:solidFill>
                  <a:srgbClr val="1E2A36"/>
                </a:solidFill>
                <a:latin typeface="Calibri" pitchFamily="34" charset="0"/>
                <a:ea typeface="Calibri" pitchFamily="34" charset="-122"/>
                <a:cs typeface="Calibri" pitchFamily="34" charset="-120"/>
              </a:rPr>
              <a:t>A feature list with no priorities</a:t>
            </a:r>
            <a:endParaRPr lang="en-US" sz="1550" dirty="0"/>
          </a:p>
          <a:p>
            <a:pPr marL="177800" indent="-177800">
              <a:buSzPct val="100000"/>
              <a:buChar char="•"/>
            </a:pPr>
            <a:r>
              <a:rPr lang="en-US" sz="1550" dirty="0">
                <a:solidFill>
                  <a:srgbClr val="1E2A36"/>
                </a:solidFill>
                <a:latin typeface="Calibri" pitchFamily="34" charset="0"/>
                <a:ea typeface="Calibri" pitchFamily="34" charset="-122"/>
                <a:cs typeface="Calibri" pitchFamily="34" charset="-120"/>
              </a:rPr>
              <a:t>A promise that doesn't fit the calendar</a:t>
            </a:r>
            <a:endParaRPr lang="en-US" sz="1550" dirty="0"/>
          </a:p>
        </p:txBody>
      </p:sp>
      <p:sp>
        <p:nvSpPr>
          <p:cNvPr id="19" name="Shape 14"/>
          <p:cNvSpPr/>
          <p:nvPr/>
        </p:nvSpPr>
        <p:spPr>
          <a:xfrm>
            <a:off x="548640" y="5394960"/>
            <a:ext cx="11064240" cy="786384"/>
          </a:xfrm>
          <a:prstGeom prst="roundRect">
            <a:avLst>
              <a:gd name="adj" fmla="val 10465"/>
            </a:avLst>
          </a:prstGeom>
          <a:solidFill>
            <a:srgbClr val="FBEEDA"/>
          </a:solidFill>
          <a:ln/>
          <a:effectLst>
            <a:outerShdw sx="100000" sy="100000" kx="0" ky="0" algn="bl" rotWithShape="0" blurRad="88900" dist="38100" dir="5400000">
              <a:srgbClr val="000000">
                <a:alpha val="13000"/>
              </a:srgbClr>
            </a:outerShdw>
          </a:effectLst>
        </p:spPr>
      </p:sp>
      <p:sp>
        <p:nvSpPr>
          <p:cNvPr id="20" name="Text 15"/>
          <p:cNvSpPr/>
          <p:nvPr/>
        </p:nvSpPr>
        <p:spPr>
          <a:xfrm>
            <a:off x="822960" y="5394960"/>
            <a:ext cx="10515600" cy="786384"/>
          </a:xfrm>
          <a:prstGeom prst="rect">
            <a:avLst/>
          </a:prstGeom>
          <a:noFill/>
          <a:ln/>
        </p:spPr>
        <p:txBody>
          <a:bodyPr wrap="square" lIns="0" tIns="0" rIns="0" bIns="0" rtlCol="0" anchor="ctr"/>
          <a:lstStyle/>
          <a:p>
            <a:pPr algn="ctr" indent="0" marL="0">
              <a:lnSpc>
                <a:spcPct val="103000"/>
              </a:lnSpc>
              <a:buNone/>
            </a:pPr>
            <a:r>
              <a:rPr lang="en-US" sz="1500" b="1" dirty="0">
                <a:solidFill>
                  <a:srgbClr val="0E6E6D"/>
                </a:solidFill>
                <a:latin typeface="Calibri" pitchFamily="34" charset="0"/>
                <a:ea typeface="Calibri" pitchFamily="34" charset="-122"/>
                <a:cs typeface="Calibri" pitchFamily="34" charset="-120"/>
              </a:rPr>
              <a:t>The counterintuitive one:  </a:t>
            </a:r>
            <a:pPr algn="ctr" indent="0" marL="0">
              <a:lnSpc>
                <a:spcPct val="103000"/>
              </a:lnSpc>
              <a:buNone/>
            </a:pPr>
            <a:r>
              <a:rPr lang="en-US" sz="1500" dirty="0">
                <a:solidFill>
                  <a:srgbClr val="1E2A36"/>
                </a:solidFill>
                <a:latin typeface="Calibri" pitchFamily="34" charset="0"/>
                <a:ea typeface="Calibri" pitchFamily="34" charset="-122"/>
                <a:cs typeface="Calibri" pitchFamily="34" charset="-120"/>
              </a:rPr>
              <a:t>admitting a limitation usually BUYS credit. Hiding a gap doesn't remove it — the reader finds it, then wonders what else you hid.</a:t>
            </a:r>
            <a:endParaRPr lang="en-US" sz="1500" dirty="0"/>
          </a:p>
        </p:txBody>
      </p:sp>
      <p:sp>
        <p:nvSpPr>
          <p:cNvPr id="21" name="Text 16"/>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22" name="Text 1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RECALL, NOT INSTRUCTION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nine sections — what is each one FOR?</a:t>
            </a:r>
            <a:endParaRPr lang="en-US" sz="3100" dirty="0"/>
          </a:p>
        </p:txBody>
      </p:sp>
      <p:sp>
        <p:nvSpPr>
          <p:cNvPr id="5" name="Shape 3"/>
          <p:cNvSpPr/>
          <p:nvPr/>
        </p:nvSpPr>
        <p:spPr>
          <a:xfrm>
            <a:off x="548640" y="1627632"/>
            <a:ext cx="3511296" cy="1426464"/>
          </a:xfrm>
          <a:prstGeom prst="roundRect">
            <a:avLst>
              <a:gd name="adj" fmla="val 5769"/>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86384" y="1847088"/>
            <a:ext cx="457200" cy="45720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09828" y="1970532"/>
            <a:ext cx="210312" cy="210312"/>
          </a:xfrm>
          <a:prstGeom prst="rect">
            <a:avLst/>
          </a:prstGeom>
        </p:spPr>
      </p:pic>
      <p:sp>
        <p:nvSpPr>
          <p:cNvPr id="8" name="Text 5"/>
          <p:cNvSpPr/>
          <p:nvPr/>
        </p:nvSpPr>
        <p:spPr>
          <a:xfrm>
            <a:off x="1335024" y="1828800"/>
            <a:ext cx="2551176" cy="493776"/>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Executive summary</a:t>
            </a:r>
            <a:endParaRPr lang="en-US" sz="1550" dirty="0"/>
          </a:p>
        </p:txBody>
      </p:sp>
      <p:sp>
        <p:nvSpPr>
          <p:cNvPr id="9" name="Text 6"/>
          <p:cNvSpPr/>
          <p:nvPr/>
        </p:nvSpPr>
        <p:spPr>
          <a:xfrm>
            <a:off x="786384" y="2377440"/>
            <a:ext cx="3035808" cy="56692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The whole argument in one paragraph — written last, read first.</a:t>
            </a:r>
            <a:endParaRPr lang="en-US" sz="1300" dirty="0"/>
          </a:p>
        </p:txBody>
      </p:sp>
      <p:sp>
        <p:nvSpPr>
          <p:cNvPr id="10" name="Shape 7"/>
          <p:cNvSpPr/>
          <p:nvPr/>
        </p:nvSpPr>
        <p:spPr>
          <a:xfrm>
            <a:off x="4233672" y="1627632"/>
            <a:ext cx="3511296" cy="1426464"/>
          </a:xfrm>
          <a:prstGeom prst="roundRect">
            <a:avLst>
              <a:gd name="adj" fmla="val 5769"/>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4471416" y="1847088"/>
            <a:ext cx="457200" cy="457200"/>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4594860" y="1970532"/>
            <a:ext cx="210312" cy="210312"/>
          </a:xfrm>
          <a:prstGeom prst="rect">
            <a:avLst/>
          </a:prstGeom>
        </p:spPr>
      </p:pic>
      <p:sp>
        <p:nvSpPr>
          <p:cNvPr id="13" name="Text 9"/>
          <p:cNvSpPr/>
          <p:nvPr/>
        </p:nvSpPr>
        <p:spPr>
          <a:xfrm>
            <a:off x="5020056" y="1828800"/>
            <a:ext cx="2551176" cy="493776"/>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Problem &amp; users</a:t>
            </a:r>
            <a:endParaRPr lang="en-US" sz="1550" dirty="0"/>
          </a:p>
        </p:txBody>
      </p:sp>
      <p:sp>
        <p:nvSpPr>
          <p:cNvPr id="14" name="Text 10"/>
          <p:cNvSpPr/>
          <p:nvPr/>
        </p:nvSpPr>
        <p:spPr>
          <a:xfrm>
            <a:off x="4471416" y="2377440"/>
            <a:ext cx="3035808" cy="56692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Who, what need, what evidence. Everything else is judged against it.</a:t>
            </a:r>
            <a:endParaRPr lang="en-US" sz="1300" dirty="0"/>
          </a:p>
        </p:txBody>
      </p:sp>
      <p:sp>
        <p:nvSpPr>
          <p:cNvPr id="15" name="Shape 11"/>
          <p:cNvSpPr/>
          <p:nvPr/>
        </p:nvSpPr>
        <p:spPr>
          <a:xfrm>
            <a:off x="7918704" y="1627632"/>
            <a:ext cx="3511296" cy="1426464"/>
          </a:xfrm>
          <a:prstGeom prst="roundRect">
            <a:avLst>
              <a:gd name="adj" fmla="val 5769"/>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156448" y="1847088"/>
            <a:ext cx="457200" cy="457200"/>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8279892" y="1970532"/>
            <a:ext cx="210312" cy="210312"/>
          </a:xfrm>
          <a:prstGeom prst="rect">
            <a:avLst/>
          </a:prstGeom>
        </p:spPr>
      </p:pic>
      <p:sp>
        <p:nvSpPr>
          <p:cNvPr id="18" name="Text 13"/>
          <p:cNvSpPr/>
          <p:nvPr/>
        </p:nvSpPr>
        <p:spPr>
          <a:xfrm>
            <a:off x="8705088" y="1828800"/>
            <a:ext cx="2551176" cy="493776"/>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Solution overview</a:t>
            </a:r>
            <a:endParaRPr lang="en-US" sz="1550" dirty="0"/>
          </a:p>
        </p:txBody>
      </p:sp>
      <p:sp>
        <p:nvSpPr>
          <p:cNvPr id="19" name="Text 14"/>
          <p:cNvSpPr/>
          <p:nvPr/>
        </p:nvSpPr>
        <p:spPr>
          <a:xfrm>
            <a:off x="8156448" y="2377440"/>
            <a:ext cx="3035808" cy="56692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What a user does — mapped back to the prioritized needs.</a:t>
            </a:r>
            <a:endParaRPr lang="en-US" sz="1300" dirty="0"/>
          </a:p>
        </p:txBody>
      </p:sp>
      <p:sp>
        <p:nvSpPr>
          <p:cNvPr id="20" name="Shape 15"/>
          <p:cNvSpPr/>
          <p:nvPr/>
        </p:nvSpPr>
        <p:spPr>
          <a:xfrm>
            <a:off x="548640" y="3200400"/>
            <a:ext cx="3511296" cy="1426464"/>
          </a:xfrm>
          <a:prstGeom prst="roundRect">
            <a:avLst>
              <a:gd name="adj" fmla="val 5769"/>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786384" y="3419856"/>
            <a:ext cx="457200" cy="457200"/>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909828" y="3543300"/>
            <a:ext cx="210312" cy="210312"/>
          </a:xfrm>
          <a:prstGeom prst="rect">
            <a:avLst/>
          </a:prstGeom>
        </p:spPr>
      </p:pic>
      <p:sp>
        <p:nvSpPr>
          <p:cNvPr id="23" name="Text 17"/>
          <p:cNvSpPr/>
          <p:nvPr/>
        </p:nvSpPr>
        <p:spPr>
          <a:xfrm>
            <a:off x="1335024" y="3401568"/>
            <a:ext cx="2551176" cy="493776"/>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Core features</a:t>
            </a:r>
            <a:endParaRPr lang="en-US" sz="1550" dirty="0"/>
          </a:p>
        </p:txBody>
      </p:sp>
      <p:sp>
        <p:nvSpPr>
          <p:cNvPr id="24" name="Text 18"/>
          <p:cNvSpPr/>
          <p:nvPr/>
        </p:nvSpPr>
        <p:spPr>
          <a:xfrm>
            <a:off x="786384" y="3950208"/>
            <a:ext cx="3035808" cy="56692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The shortlist, visibly ranked. This is where judgment shows.</a:t>
            </a:r>
            <a:endParaRPr lang="en-US" sz="1300" dirty="0"/>
          </a:p>
        </p:txBody>
      </p:sp>
      <p:sp>
        <p:nvSpPr>
          <p:cNvPr id="25" name="Shape 19"/>
          <p:cNvSpPr/>
          <p:nvPr/>
        </p:nvSpPr>
        <p:spPr>
          <a:xfrm>
            <a:off x="4233672" y="3200400"/>
            <a:ext cx="3511296" cy="1426464"/>
          </a:xfrm>
          <a:prstGeom prst="roundRect">
            <a:avLst>
              <a:gd name="adj" fmla="val 5769"/>
            </a:avLst>
          </a:prstGeom>
          <a:solidFill>
            <a:srgbClr val="F2F6F8"/>
          </a:solidFill>
          <a:ln/>
          <a:effectLst>
            <a:outerShdw sx="100000" sy="100000" kx="0" ky="0" algn="bl" rotWithShape="0" blurRad="88900" dist="38100" dir="5400000">
              <a:srgbClr val="000000">
                <a:alpha val="13000"/>
              </a:srgbClr>
            </a:outerShdw>
          </a:effectLst>
        </p:spPr>
      </p:sp>
      <p:sp>
        <p:nvSpPr>
          <p:cNvPr id="26" name="Shape 20"/>
          <p:cNvSpPr/>
          <p:nvPr/>
        </p:nvSpPr>
        <p:spPr>
          <a:xfrm>
            <a:off x="4471416" y="3419856"/>
            <a:ext cx="457200" cy="457200"/>
          </a:xfrm>
          <a:prstGeom prst="ellipse">
            <a:avLst/>
          </a:prstGeom>
          <a:solidFill>
            <a:srgbClr val="12908F"/>
          </a:solidFill>
          <a:ln/>
        </p:spPr>
      </p:sp>
      <p:pic>
        <p:nvPicPr>
          <p:cNvPr id="27" name="Image 4" descr="preencoded.png">    </p:cNvPr>
          <p:cNvPicPr>
            <a:picLocks noChangeAspect="1"/>
          </p:cNvPicPr>
          <p:nvPr/>
        </p:nvPicPr>
        <p:blipFill>
          <a:blip r:embed="rId5"/>
          <a:stretch>
            <a:fillRect/>
          </a:stretch>
        </p:blipFill>
        <p:spPr>
          <a:xfrm>
            <a:off x="4594860" y="3543300"/>
            <a:ext cx="210312" cy="210312"/>
          </a:xfrm>
          <a:prstGeom prst="rect">
            <a:avLst/>
          </a:prstGeom>
        </p:spPr>
      </p:pic>
      <p:sp>
        <p:nvSpPr>
          <p:cNvPr id="28" name="Text 21"/>
          <p:cNvSpPr/>
          <p:nvPr/>
        </p:nvSpPr>
        <p:spPr>
          <a:xfrm>
            <a:off x="5020056" y="3401568"/>
            <a:ext cx="2551176" cy="493776"/>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Non-goals</a:t>
            </a:r>
            <a:endParaRPr lang="en-US" sz="1550" dirty="0"/>
          </a:p>
        </p:txBody>
      </p:sp>
      <p:sp>
        <p:nvSpPr>
          <p:cNvPr id="29" name="Text 22"/>
          <p:cNvSpPr/>
          <p:nvPr/>
        </p:nvSpPr>
        <p:spPr>
          <a:xfrm>
            <a:off x="4471416" y="3950208"/>
            <a:ext cx="3035808" cy="56692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What you deliberately won't build, and why. Proof you scoped.</a:t>
            </a:r>
            <a:endParaRPr lang="en-US" sz="1300" dirty="0"/>
          </a:p>
        </p:txBody>
      </p:sp>
      <p:sp>
        <p:nvSpPr>
          <p:cNvPr id="30" name="Shape 23"/>
          <p:cNvSpPr/>
          <p:nvPr/>
        </p:nvSpPr>
        <p:spPr>
          <a:xfrm>
            <a:off x="7918704" y="3200400"/>
            <a:ext cx="3511296" cy="1426464"/>
          </a:xfrm>
          <a:prstGeom prst="roundRect">
            <a:avLst>
              <a:gd name="adj" fmla="val 5769"/>
            </a:avLst>
          </a:prstGeom>
          <a:solidFill>
            <a:srgbClr val="F2F6F8"/>
          </a:solidFill>
          <a:ln/>
          <a:effectLst>
            <a:outerShdw sx="100000" sy="100000" kx="0" ky="0" algn="bl" rotWithShape="0" blurRad="88900" dist="38100" dir="5400000">
              <a:srgbClr val="000000">
                <a:alpha val="13000"/>
              </a:srgbClr>
            </a:outerShdw>
          </a:effectLst>
        </p:spPr>
      </p:sp>
      <p:sp>
        <p:nvSpPr>
          <p:cNvPr id="31" name="Shape 24"/>
          <p:cNvSpPr/>
          <p:nvPr/>
        </p:nvSpPr>
        <p:spPr>
          <a:xfrm>
            <a:off x="8156448" y="3419856"/>
            <a:ext cx="457200" cy="457200"/>
          </a:xfrm>
          <a:prstGeom prst="ellipse">
            <a:avLst/>
          </a:prstGeom>
          <a:solidFill>
            <a:srgbClr val="12908F"/>
          </a:solidFill>
          <a:ln/>
        </p:spPr>
      </p:sp>
      <p:pic>
        <p:nvPicPr>
          <p:cNvPr id="32" name="Image 5" descr="preencoded.png">    </p:cNvPr>
          <p:cNvPicPr>
            <a:picLocks noChangeAspect="1"/>
          </p:cNvPicPr>
          <p:nvPr/>
        </p:nvPicPr>
        <p:blipFill>
          <a:blip r:embed="rId6"/>
          <a:stretch>
            <a:fillRect/>
          </a:stretch>
        </p:blipFill>
        <p:spPr>
          <a:xfrm>
            <a:off x="8279892" y="3543300"/>
            <a:ext cx="210312" cy="210312"/>
          </a:xfrm>
          <a:prstGeom prst="rect">
            <a:avLst/>
          </a:prstGeom>
        </p:spPr>
      </p:pic>
      <p:sp>
        <p:nvSpPr>
          <p:cNvPr id="33" name="Text 25"/>
          <p:cNvSpPr/>
          <p:nvPr/>
        </p:nvSpPr>
        <p:spPr>
          <a:xfrm>
            <a:off x="8705088" y="3401568"/>
            <a:ext cx="2551176" cy="493776"/>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Technical approach</a:t>
            </a:r>
            <a:endParaRPr lang="en-US" sz="1550" dirty="0"/>
          </a:p>
        </p:txBody>
      </p:sp>
      <p:sp>
        <p:nvSpPr>
          <p:cNvPr id="34" name="Text 26"/>
          <p:cNvSpPr/>
          <p:nvPr/>
        </p:nvSpPr>
        <p:spPr>
          <a:xfrm>
            <a:off x="8156448" y="3950208"/>
            <a:ext cx="3035808" cy="56692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Stack + dependencies, justified. Plus your spike result.</a:t>
            </a:r>
            <a:endParaRPr lang="en-US" sz="1300" dirty="0"/>
          </a:p>
        </p:txBody>
      </p:sp>
      <p:sp>
        <p:nvSpPr>
          <p:cNvPr id="35" name="Shape 27"/>
          <p:cNvSpPr/>
          <p:nvPr/>
        </p:nvSpPr>
        <p:spPr>
          <a:xfrm>
            <a:off x="548640" y="4773168"/>
            <a:ext cx="3511296" cy="1426464"/>
          </a:xfrm>
          <a:prstGeom prst="roundRect">
            <a:avLst>
              <a:gd name="adj" fmla="val 5769"/>
            </a:avLst>
          </a:prstGeom>
          <a:solidFill>
            <a:srgbClr val="F2F6F8"/>
          </a:solidFill>
          <a:ln/>
          <a:effectLst>
            <a:outerShdw sx="100000" sy="100000" kx="0" ky="0" algn="bl" rotWithShape="0" blurRad="88900" dist="38100" dir="5400000">
              <a:srgbClr val="000000">
                <a:alpha val="13000"/>
              </a:srgbClr>
            </a:outerShdw>
          </a:effectLst>
        </p:spPr>
      </p:sp>
      <p:sp>
        <p:nvSpPr>
          <p:cNvPr id="36" name="Shape 28"/>
          <p:cNvSpPr/>
          <p:nvPr/>
        </p:nvSpPr>
        <p:spPr>
          <a:xfrm>
            <a:off x="786384" y="4992624"/>
            <a:ext cx="457200" cy="457200"/>
          </a:xfrm>
          <a:prstGeom prst="ellipse">
            <a:avLst/>
          </a:prstGeom>
          <a:solidFill>
            <a:srgbClr val="12908F"/>
          </a:solidFill>
          <a:ln/>
        </p:spPr>
      </p:sp>
      <p:pic>
        <p:nvPicPr>
          <p:cNvPr id="37" name="Image 6" descr="preencoded.png">    </p:cNvPr>
          <p:cNvPicPr>
            <a:picLocks noChangeAspect="1"/>
          </p:cNvPicPr>
          <p:nvPr/>
        </p:nvPicPr>
        <p:blipFill>
          <a:blip r:embed="rId7"/>
          <a:stretch>
            <a:fillRect/>
          </a:stretch>
        </p:blipFill>
        <p:spPr>
          <a:xfrm>
            <a:off x="909828" y="5116068"/>
            <a:ext cx="210312" cy="210312"/>
          </a:xfrm>
          <a:prstGeom prst="rect">
            <a:avLst/>
          </a:prstGeom>
        </p:spPr>
      </p:pic>
      <p:sp>
        <p:nvSpPr>
          <p:cNvPr id="38" name="Text 29"/>
          <p:cNvSpPr/>
          <p:nvPr/>
        </p:nvSpPr>
        <p:spPr>
          <a:xfrm>
            <a:off x="1335024" y="4974336"/>
            <a:ext cx="2551176" cy="493776"/>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Risks &amp; mitigation</a:t>
            </a:r>
            <a:endParaRPr lang="en-US" sz="1550" dirty="0"/>
          </a:p>
        </p:txBody>
      </p:sp>
      <p:sp>
        <p:nvSpPr>
          <p:cNvPr id="39" name="Text 30"/>
          <p:cNvSpPr/>
          <p:nvPr/>
        </p:nvSpPr>
        <p:spPr>
          <a:xfrm>
            <a:off x="786384" y="5522976"/>
            <a:ext cx="3035808" cy="56692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Six categories. Specific risks, mitigations with a trigger.</a:t>
            </a:r>
            <a:endParaRPr lang="en-US" sz="1300" dirty="0"/>
          </a:p>
        </p:txBody>
      </p:sp>
      <p:sp>
        <p:nvSpPr>
          <p:cNvPr id="40" name="Shape 31"/>
          <p:cNvSpPr/>
          <p:nvPr/>
        </p:nvSpPr>
        <p:spPr>
          <a:xfrm>
            <a:off x="4233672" y="4773168"/>
            <a:ext cx="3511296" cy="1426464"/>
          </a:xfrm>
          <a:prstGeom prst="roundRect">
            <a:avLst>
              <a:gd name="adj" fmla="val 5769"/>
            </a:avLst>
          </a:prstGeom>
          <a:solidFill>
            <a:srgbClr val="F2F6F8"/>
          </a:solidFill>
          <a:ln/>
          <a:effectLst>
            <a:outerShdw sx="100000" sy="100000" kx="0" ky="0" algn="bl" rotWithShape="0" blurRad="88900" dist="38100" dir="5400000">
              <a:srgbClr val="000000">
                <a:alpha val="13000"/>
              </a:srgbClr>
            </a:outerShdw>
          </a:effectLst>
        </p:spPr>
      </p:sp>
      <p:sp>
        <p:nvSpPr>
          <p:cNvPr id="41" name="Shape 32"/>
          <p:cNvSpPr/>
          <p:nvPr/>
        </p:nvSpPr>
        <p:spPr>
          <a:xfrm>
            <a:off x="4471416" y="4992624"/>
            <a:ext cx="457200" cy="457200"/>
          </a:xfrm>
          <a:prstGeom prst="ellipse">
            <a:avLst/>
          </a:prstGeom>
          <a:solidFill>
            <a:srgbClr val="12908F"/>
          </a:solidFill>
          <a:ln/>
        </p:spPr>
      </p:sp>
      <p:pic>
        <p:nvPicPr>
          <p:cNvPr id="42" name="Image 7" descr="preencoded.png">    </p:cNvPr>
          <p:cNvPicPr>
            <a:picLocks noChangeAspect="1"/>
          </p:cNvPicPr>
          <p:nvPr/>
        </p:nvPicPr>
        <p:blipFill>
          <a:blip r:embed="rId8"/>
          <a:stretch>
            <a:fillRect/>
          </a:stretch>
        </p:blipFill>
        <p:spPr>
          <a:xfrm>
            <a:off x="4594860" y="5116068"/>
            <a:ext cx="210312" cy="210312"/>
          </a:xfrm>
          <a:prstGeom prst="rect">
            <a:avLst/>
          </a:prstGeom>
        </p:spPr>
      </p:pic>
      <p:sp>
        <p:nvSpPr>
          <p:cNvPr id="43" name="Text 33"/>
          <p:cNvSpPr/>
          <p:nvPr/>
        </p:nvSpPr>
        <p:spPr>
          <a:xfrm>
            <a:off x="5020056" y="4974336"/>
            <a:ext cx="2551176" cy="493776"/>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MVP definition</a:t>
            </a:r>
            <a:endParaRPr lang="en-US" sz="1550" dirty="0"/>
          </a:p>
        </p:txBody>
      </p:sp>
      <p:sp>
        <p:nvSpPr>
          <p:cNvPr id="44" name="Text 34"/>
          <p:cNvSpPr/>
          <p:nvPr/>
        </p:nvSpPr>
        <p:spPr>
          <a:xfrm>
            <a:off x="4471416" y="5522976"/>
            <a:ext cx="3035808" cy="56692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The slice you'll actually build — sized against real hours.</a:t>
            </a:r>
            <a:endParaRPr lang="en-US" sz="1300" dirty="0"/>
          </a:p>
        </p:txBody>
      </p:sp>
      <p:sp>
        <p:nvSpPr>
          <p:cNvPr id="45" name="Shape 35"/>
          <p:cNvSpPr/>
          <p:nvPr/>
        </p:nvSpPr>
        <p:spPr>
          <a:xfrm>
            <a:off x="7918704" y="4773168"/>
            <a:ext cx="3511296" cy="1426464"/>
          </a:xfrm>
          <a:prstGeom prst="roundRect">
            <a:avLst>
              <a:gd name="adj" fmla="val 5769"/>
            </a:avLst>
          </a:prstGeom>
          <a:solidFill>
            <a:srgbClr val="F2F6F8"/>
          </a:solidFill>
          <a:ln/>
          <a:effectLst>
            <a:outerShdw sx="100000" sy="100000" kx="0" ky="0" algn="bl" rotWithShape="0" blurRad="88900" dist="38100" dir="5400000">
              <a:srgbClr val="000000">
                <a:alpha val="13000"/>
              </a:srgbClr>
            </a:outerShdw>
          </a:effectLst>
        </p:spPr>
      </p:sp>
      <p:sp>
        <p:nvSpPr>
          <p:cNvPr id="46" name="Shape 36"/>
          <p:cNvSpPr/>
          <p:nvPr/>
        </p:nvSpPr>
        <p:spPr>
          <a:xfrm>
            <a:off x="8156448" y="4992624"/>
            <a:ext cx="457200" cy="457200"/>
          </a:xfrm>
          <a:prstGeom prst="ellipse">
            <a:avLst/>
          </a:prstGeom>
          <a:solidFill>
            <a:srgbClr val="12908F"/>
          </a:solidFill>
          <a:ln/>
        </p:spPr>
      </p:sp>
      <p:pic>
        <p:nvPicPr>
          <p:cNvPr id="47" name="Image 8" descr="preencoded.png">    </p:cNvPr>
          <p:cNvPicPr>
            <a:picLocks noChangeAspect="1"/>
          </p:cNvPicPr>
          <p:nvPr/>
        </p:nvPicPr>
        <p:blipFill>
          <a:blip r:embed="rId9"/>
          <a:stretch>
            <a:fillRect/>
          </a:stretch>
        </p:blipFill>
        <p:spPr>
          <a:xfrm>
            <a:off x="8279892" y="5116068"/>
            <a:ext cx="210312" cy="210312"/>
          </a:xfrm>
          <a:prstGeom prst="rect">
            <a:avLst/>
          </a:prstGeom>
        </p:spPr>
      </p:pic>
      <p:sp>
        <p:nvSpPr>
          <p:cNvPr id="48" name="Text 37"/>
          <p:cNvSpPr/>
          <p:nvPr/>
        </p:nvSpPr>
        <p:spPr>
          <a:xfrm>
            <a:off x="8705088" y="4974336"/>
            <a:ext cx="2551176" cy="493776"/>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Success criteria</a:t>
            </a:r>
            <a:endParaRPr lang="en-US" sz="1550" dirty="0"/>
          </a:p>
        </p:txBody>
      </p:sp>
      <p:sp>
        <p:nvSpPr>
          <p:cNvPr id="49" name="Text 38"/>
          <p:cNvSpPr/>
          <p:nvPr/>
        </p:nvSpPr>
        <p:spPr>
          <a:xfrm>
            <a:off x="8156448" y="5522976"/>
            <a:ext cx="3035808" cy="56692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Observer + action + threshold. What "it works" means.</a:t>
            </a:r>
            <a:endParaRPr lang="en-US" sz="1300" dirty="0"/>
          </a:p>
        </p:txBody>
      </p:sp>
      <p:sp>
        <p:nvSpPr>
          <p:cNvPr id="50" name="Text 39"/>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51" name="Text 4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THING READING CAN'T FORCE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Write them out of order</a:t>
            </a:r>
            <a:endParaRPr lang="en-US" sz="3100" dirty="0"/>
          </a:p>
        </p:txBody>
      </p:sp>
      <p:sp>
        <p:nvSpPr>
          <p:cNvPr id="5" name="Text 3"/>
          <p:cNvSpPr/>
          <p:nvPr/>
        </p:nvSpPr>
        <p:spPr>
          <a:xfrm>
            <a:off x="548640" y="1517904"/>
            <a:ext cx="11064240" cy="329184"/>
          </a:xfrm>
          <a:prstGeom prst="rect">
            <a:avLst/>
          </a:prstGeom>
          <a:noFill/>
          <a:ln/>
        </p:spPr>
        <p:txBody>
          <a:bodyPr wrap="square" lIns="0" tIns="0" rIns="0" bIns="0" rtlCol="0" anchor="ctr"/>
          <a:lstStyle/>
          <a:p>
            <a:pPr indent="0" marL="0">
              <a:buNone/>
            </a:pPr>
            <a:r>
              <a:rPr lang="en-US" sz="1500" i="1" dirty="0">
                <a:solidFill>
                  <a:srgbClr val="5F7284"/>
                </a:solidFill>
                <a:latin typeface="Calibri" pitchFamily="34" charset="0"/>
                <a:ea typeface="Calibri" pitchFamily="34" charset="-122"/>
                <a:cs typeface="Calibri" pitchFamily="34" charset="-120"/>
              </a:rPr>
              <a:t>Each step supplies the material the next one needs. The hardest section — the MVP — gets easy once everything above it is decided.</a:t>
            </a:r>
            <a:endParaRPr lang="en-US" sz="1500" dirty="0"/>
          </a:p>
        </p:txBody>
      </p:sp>
      <p:sp>
        <p:nvSpPr>
          <p:cNvPr id="6" name="Shape 4"/>
          <p:cNvSpPr/>
          <p:nvPr/>
        </p:nvSpPr>
        <p:spPr>
          <a:xfrm>
            <a:off x="548640" y="1883664"/>
            <a:ext cx="11064240" cy="438912"/>
          </a:xfrm>
          <a:prstGeom prst="roundRect">
            <a:avLst>
              <a:gd name="adj" fmla="val 18750"/>
            </a:avLst>
          </a:prstGeom>
          <a:solidFill>
            <a:srgbClr val="F2F6F8"/>
          </a:solidFill>
          <a:ln/>
          <a:effectLst>
            <a:outerShdw sx="100000" sy="100000" kx="0" ky="0" algn="bl" rotWithShape="0" blurRad="88900" dist="38100" dir="5400000">
              <a:srgbClr val="000000">
                <a:alpha val="13000"/>
              </a:srgbClr>
            </a:outerShdw>
          </a:effectLst>
        </p:spPr>
      </p:sp>
      <p:sp>
        <p:nvSpPr>
          <p:cNvPr id="7" name="Shape 5"/>
          <p:cNvSpPr/>
          <p:nvPr/>
        </p:nvSpPr>
        <p:spPr>
          <a:xfrm>
            <a:off x="731520" y="1920240"/>
            <a:ext cx="365760" cy="365760"/>
          </a:xfrm>
          <a:prstGeom prst="ellipse">
            <a:avLst/>
          </a:prstGeom>
          <a:solidFill>
            <a:srgbClr val="12908F"/>
          </a:solidFill>
          <a:ln/>
        </p:spPr>
      </p:sp>
      <p:sp>
        <p:nvSpPr>
          <p:cNvPr id="8" name="Text 6"/>
          <p:cNvSpPr/>
          <p:nvPr/>
        </p:nvSpPr>
        <p:spPr>
          <a:xfrm>
            <a:off x="731520" y="192024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p:nvPr/>
        </p:nvSpPr>
        <p:spPr>
          <a:xfrm>
            <a:off x="1280160" y="1883664"/>
            <a:ext cx="3657600" cy="438912"/>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Problem &amp; users</a:t>
            </a:r>
            <a:endParaRPr lang="en-US" sz="1550" dirty="0"/>
          </a:p>
        </p:txBody>
      </p:sp>
      <p:sp>
        <p:nvSpPr>
          <p:cNvPr id="10" name="Text 8"/>
          <p:cNvSpPr/>
          <p:nvPr/>
        </p:nvSpPr>
        <p:spPr>
          <a:xfrm>
            <a:off x="5029200" y="1883664"/>
            <a:ext cx="6400800" cy="438912"/>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From your evidence. Everything else is judged against it.</a:t>
            </a:r>
            <a:endParaRPr lang="en-US" sz="1400" dirty="0"/>
          </a:p>
        </p:txBody>
      </p:sp>
      <p:sp>
        <p:nvSpPr>
          <p:cNvPr id="11" name="Shape 9"/>
          <p:cNvSpPr/>
          <p:nvPr/>
        </p:nvSpPr>
        <p:spPr>
          <a:xfrm>
            <a:off x="548640" y="2404872"/>
            <a:ext cx="11064240" cy="438912"/>
          </a:xfrm>
          <a:prstGeom prst="roundRect">
            <a:avLst>
              <a:gd name="adj" fmla="val 18750"/>
            </a:avLst>
          </a:prstGeom>
          <a:solidFill>
            <a:srgbClr val="F2F6F8"/>
          </a:solidFill>
          <a:ln/>
          <a:effectLst>
            <a:outerShdw sx="100000" sy="100000" kx="0" ky="0" algn="bl" rotWithShape="0" blurRad="88900" dist="38100" dir="5400000">
              <a:srgbClr val="000000">
                <a:alpha val="13000"/>
              </a:srgbClr>
            </a:outerShdw>
          </a:effectLst>
        </p:spPr>
      </p:sp>
      <p:sp>
        <p:nvSpPr>
          <p:cNvPr id="12" name="Shape 10"/>
          <p:cNvSpPr/>
          <p:nvPr/>
        </p:nvSpPr>
        <p:spPr>
          <a:xfrm>
            <a:off x="731520" y="2441448"/>
            <a:ext cx="365760" cy="365760"/>
          </a:xfrm>
          <a:prstGeom prst="ellipse">
            <a:avLst/>
          </a:prstGeom>
          <a:solidFill>
            <a:srgbClr val="12908F"/>
          </a:solidFill>
          <a:ln/>
        </p:spPr>
      </p:sp>
      <p:sp>
        <p:nvSpPr>
          <p:cNvPr id="13" name="Text 11"/>
          <p:cNvSpPr/>
          <p:nvPr/>
        </p:nvSpPr>
        <p:spPr>
          <a:xfrm>
            <a:off x="731520" y="244144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1280160" y="2404872"/>
            <a:ext cx="3657600" cy="438912"/>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Success criteria</a:t>
            </a:r>
            <a:endParaRPr lang="en-US" sz="1550" dirty="0"/>
          </a:p>
        </p:txBody>
      </p:sp>
      <p:sp>
        <p:nvSpPr>
          <p:cNvPr id="15" name="Text 13"/>
          <p:cNvSpPr/>
          <p:nvPr/>
        </p:nvSpPr>
        <p:spPr>
          <a:xfrm>
            <a:off x="5029200" y="2404872"/>
            <a:ext cx="6400800" cy="438912"/>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Before features — so features have to earn their place.</a:t>
            </a:r>
            <a:endParaRPr lang="en-US" sz="1400" dirty="0"/>
          </a:p>
        </p:txBody>
      </p:sp>
      <p:sp>
        <p:nvSpPr>
          <p:cNvPr id="16" name="Shape 14"/>
          <p:cNvSpPr/>
          <p:nvPr/>
        </p:nvSpPr>
        <p:spPr>
          <a:xfrm>
            <a:off x="548640" y="2926080"/>
            <a:ext cx="11064240" cy="438912"/>
          </a:xfrm>
          <a:prstGeom prst="roundRect">
            <a:avLst>
              <a:gd name="adj" fmla="val 18750"/>
            </a:avLst>
          </a:prstGeom>
          <a:solidFill>
            <a:srgbClr val="F2F6F8"/>
          </a:solidFill>
          <a:ln/>
          <a:effectLst>
            <a:outerShdw sx="100000" sy="100000" kx="0" ky="0" algn="bl" rotWithShape="0" blurRad="88900" dist="38100" dir="5400000">
              <a:srgbClr val="000000">
                <a:alpha val="13000"/>
              </a:srgbClr>
            </a:outerShdw>
          </a:effectLst>
        </p:spPr>
      </p:sp>
      <p:sp>
        <p:nvSpPr>
          <p:cNvPr id="17" name="Shape 15"/>
          <p:cNvSpPr/>
          <p:nvPr/>
        </p:nvSpPr>
        <p:spPr>
          <a:xfrm>
            <a:off x="731520" y="2962656"/>
            <a:ext cx="365760" cy="365760"/>
          </a:xfrm>
          <a:prstGeom prst="ellipse">
            <a:avLst/>
          </a:prstGeom>
          <a:solidFill>
            <a:srgbClr val="12908F"/>
          </a:solidFill>
          <a:ln/>
        </p:spPr>
      </p:sp>
      <p:sp>
        <p:nvSpPr>
          <p:cNvPr id="18" name="Text 16"/>
          <p:cNvSpPr/>
          <p:nvPr/>
        </p:nvSpPr>
        <p:spPr>
          <a:xfrm>
            <a:off x="731520" y="296265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p:nvPr/>
        </p:nvSpPr>
        <p:spPr>
          <a:xfrm>
            <a:off x="1280160" y="2926080"/>
            <a:ext cx="3657600" cy="438912"/>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Solution + core features</a:t>
            </a:r>
            <a:endParaRPr lang="en-US" sz="1550" dirty="0"/>
          </a:p>
        </p:txBody>
      </p:sp>
      <p:sp>
        <p:nvSpPr>
          <p:cNvPr id="20" name="Text 18"/>
          <p:cNvSpPr/>
          <p:nvPr/>
        </p:nvSpPr>
        <p:spPr>
          <a:xfrm>
            <a:off x="5029200" y="2926080"/>
            <a:ext cx="6400800" cy="438912"/>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Chosen to satisfy 1 and 2, then ranked.</a:t>
            </a:r>
            <a:endParaRPr lang="en-US" sz="1400" dirty="0"/>
          </a:p>
        </p:txBody>
      </p:sp>
      <p:sp>
        <p:nvSpPr>
          <p:cNvPr id="21" name="Shape 19"/>
          <p:cNvSpPr/>
          <p:nvPr/>
        </p:nvSpPr>
        <p:spPr>
          <a:xfrm>
            <a:off x="548640" y="3447288"/>
            <a:ext cx="11064240" cy="438912"/>
          </a:xfrm>
          <a:prstGeom prst="roundRect">
            <a:avLst>
              <a:gd name="adj" fmla="val 18750"/>
            </a:avLst>
          </a:prstGeom>
          <a:solidFill>
            <a:srgbClr val="F2F6F8"/>
          </a:solidFill>
          <a:ln/>
          <a:effectLst>
            <a:outerShdw sx="100000" sy="100000" kx="0" ky="0" algn="bl" rotWithShape="0" blurRad="88900" dist="38100" dir="5400000">
              <a:srgbClr val="000000">
                <a:alpha val="13000"/>
              </a:srgbClr>
            </a:outerShdw>
          </a:effectLst>
        </p:spPr>
      </p:sp>
      <p:sp>
        <p:nvSpPr>
          <p:cNvPr id="22" name="Shape 20"/>
          <p:cNvSpPr/>
          <p:nvPr/>
        </p:nvSpPr>
        <p:spPr>
          <a:xfrm>
            <a:off x="731520" y="3483864"/>
            <a:ext cx="365760" cy="365760"/>
          </a:xfrm>
          <a:prstGeom prst="ellipse">
            <a:avLst/>
          </a:prstGeom>
          <a:solidFill>
            <a:srgbClr val="12908F"/>
          </a:solidFill>
          <a:ln/>
        </p:spPr>
      </p:sp>
      <p:sp>
        <p:nvSpPr>
          <p:cNvPr id="23" name="Text 21"/>
          <p:cNvSpPr/>
          <p:nvPr/>
        </p:nvSpPr>
        <p:spPr>
          <a:xfrm>
            <a:off x="731520" y="348386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Text 22"/>
          <p:cNvSpPr/>
          <p:nvPr/>
        </p:nvSpPr>
        <p:spPr>
          <a:xfrm>
            <a:off x="1280160" y="3447288"/>
            <a:ext cx="3657600" cy="438912"/>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Non-goals</a:t>
            </a:r>
            <a:endParaRPr lang="en-US" sz="1550" dirty="0"/>
          </a:p>
        </p:txBody>
      </p:sp>
      <p:sp>
        <p:nvSpPr>
          <p:cNvPr id="25" name="Text 23"/>
          <p:cNvSpPr/>
          <p:nvPr/>
        </p:nvSpPr>
        <p:spPr>
          <a:xfrm>
            <a:off x="5029200" y="3447288"/>
            <a:ext cx="6400800" cy="438912"/>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Written while you cut — the reasons are freshest then.</a:t>
            </a:r>
            <a:endParaRPr lang="en-US" sz="1400" dirty="0"/>
          </a:p>
        </p:txBody>
      </p:sp>
      <p:sp>
        <p:nvSpPr>
          <p:cNvPr id="26" name="Shape 24"/>
          <p:cNvSpPr/>
          <p:nvPr/>
        </p:nvSpPr>
        <p:spPr>
          <a:xfrm>
            <a:off x="548640" y="3968496"/>
            <a:ext cx="11064240" cy="438912"/>
          </a:xfrm>
          <a:prstGeom prst="roundRect">
            <a:avLst>
              <a:gd name="adj" fmla="val 18750"/>
            </a:avLst>
          </a:prstGeom>
          <a:solidFill>
            <a:srgbClr val="F2F6F8"/>
          </a:solidFill>
          <a:ln/>
          <a:effectLst>
            <a:outerShdw sx="100000" sy="100000" kx="0" ky="0" algn="bl" rotWithShape="0" blurRad="88900" dist="38100" dir="5400000">
              <a:srgbClr val="000000">
                <a:alpha val="13000"/>
              </a:srgbClr>
            </a:outerShdw>
          </a:effectLst>
        </p:spPr>
      </p:sp>
      <p:sp>
        <p:nvSpPr>
          <p:cNvPr id="27" name="Shape 25"/>
          <p:cNvSpPr/>
          <p:nvPr/>
        </p:nvSpPr>
        <p:spPr>
          <a:xfrm>
            <a:off x="731520" y="4005072"/>
            <a:ext cx="365760" cy="365760"/>
          </a:xfrm>
          <a:prstGeom prst="ellipse">
            <a:avLst/>
          </a:prstGeom>
          <a:solidFill>
            <a:srgbClr val="12908F"/>
          </a:solidFill>
          <a:ln/>
        </p:spPr>
      </p:sp>
      <p:sp>
        <p:nvSpPr>
          <p:cNvPr id="28" name="Text 26"/>
          <p:cNvSpPr/>
          <p:nvPr/>
        </p:nvSpPr>
        <p:spPr>
          <a:xfrm>
            <a:off x="731520" y="400507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9" name="Text 27"/>
          <p:cNvSpPr/>
          <p:nvPr/>
        </p:nvSpPr>
        <p:spPr>
          <a:xfrm>
            <a:off x="1280160" y="3968496"/>
            <a:ext cx="3657600" cy="438912"/>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Technical approach + spike</a:t>
            </a:r>
            <a:endParaRPr lang="en-US" sz="1550" dirty="0"/>
          </a:p>
        </p:txBody>
      </p:sp>
      <p:sp>
        <p:nvSpPr>
          <p:cNvPr id="30" name="Text 28"/>
          <p:cNvSpPr/>
          <p:nvPr/>
        </p:nvSpPr>
        <p:spPr>
          <a:xfrm>
            <a:off x="5029200" y="3968496"/>
            <a:ext cx="6400800" cy="438912"/>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The spike result usually changes something above it.</a:t>
            </a:r>
            <a:endParaRPr lang="en-US" sz="1400" dirty="0"/>
          </a:p>
        </p:txBody>
      </p:sp>
      <p:sp>
        <p:nvSpPr>
          <p:cNvPr id="31" name="Shape 29"/>
          <p:cNvSpPr/>
          <p:nvPr/>
        </p:nvSpPr>
        <p:spPr>
          <a:xfrm>
            <a:off x="548640" y="4489704"/>
            <a:ext cx="11064240" cy="438912"/>
          </a:xfrm>
          <a:prstGeom prst="roundRect">
            <a:avLst>
              <a:gd name="adj" fmla="val 18750"/>
            </a:avLst>
          </a:prstGeom>
          <a:solidFill>
            <a:srgbClr val="F2F6F8"/>
          </a:solidFill>
          <a:ln/>
          <a:effectLst>
            <a:outerShdw sx="100000" sy="100000" kx="0" ky="0" algn="bl" rotWithShape="0" blurRad="88900" dist="38100" dir="5400000">
              <a:srgbClr val="000000">
                <a:alpha val="13000"/>
              </a:srgbClr>
            </a:outerShdw>
          </a:effectLst>
        </p:spPr>
      </p:sp>
      <p:sp>
        <p:nvSpPr>
          <p:cNvPr id="32" name="Shape 30"/>
          <p:cNvSpPr/>
          <p:nvPr/>
        </p:nvSpPr>
        <p:spPr>
          <a:xfrm>
            <a:off x="731520" y="4526280"/>
            <a:ext cx="365760" cy="365760"/>
          </a:xfrm>
          <a:prstGeom prst="ellipse">
            <a:avLst/>
          </a:prstGeom>
          <a:solidFill>
            <a:srgbClr val="12908F"/>
          </a:solidFill>
          <a:ln/>
        </p:spPr>
      </p:sp>
      <p:sp>
        <p:nvSpPr>
          <p:cNvPr id="33" name="Text 31"/>
          <p:cNvSpPr/>
          <p:nvPr/>
        </p:nvSpPr>
        <p:spPr>
          <a:xfrm>
            <a:off x="731520" y="452628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4" name="Text 32"/>
          <p:cNvSpPr/>
          <p:nvPr/>
        </p:nvSpPr>
        <p:spPr>
          <a:xfrm>
            <a:off x="1280160" y="4489704"/>
            <a:ext cx="3657600" cy="438912"/>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Risks &amp; mitigation</a:t>
            </a:r>
            <a:endParaRPr lang="en-US" sz="1550" dirty="0"/>
          </a:p>
        </p:txBody>
      </p:sp>
      <p:sp>
        <p:nvSpPr>
          <p:cNvPr id="35" name="Text 33"/>
          <p:cNvSpPr/>
          <p:nvPr/>
        </p:nvSpPr>
        <p:spPr>
          <a:xfrm>
            <a:off x="5029200" y="4489704"/>
            <a:ext cx="6400800" cy="438912"/>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Falls out of the approach and the calendar.</a:t>
            </a:r>
            <a:endParaRPr lang="en-US" sz="1400" dirty="0"/>
          </a:p>
        </p:txBody>
      </p:sp>
      <p:sp>
        <p:nvSpPr>
          <p:cNvPr id="36" name="Shape 34"/>
          <p:cNvSpPr/>
          <p:nvPr/>
        </p:nvSpPr>
        <p:spPr>
          <a:xfrm>
            <a:off x="548640" y="5010912"/>
            <a:ext cx="11064240" cy="438912"/>
          </a:xfrm>
          <a:prstGeom prst="roundRect">
            <a:avLst>
              <a:gd name="adj" fmla="val 18750"/>
            </a:avLst>
          </a:prstGeom>
          <a:solidFill>
            <a:srgbClr val="F2F6F8"/>
          </a:solidFill>
          <a:ln/>
          <a:effectLst>
            <a:outerShdw sx="100000" sy="100000" kx="0" ky="0" algn="bl" rotWithShape="0" blurRad="88900" dist="38100" dir="5400000">
              <a:srgbClr val="000000">
                <a:alpha val="13000"/>
              </a:srgbClr>
            </a:outerShdw>
          </a:effectLst>
        </p:spPr>
      </p:sp>
      <p:sp>
        <p:nvSpPr>
          <p:cNvPr id="37" name="Shape 35"/>
          <p:cNvSpPr/>
          <p:nvPr/>
        </p:nvSpPr>
        <p:spPr>
          <a:xfrm>
            <a:off x="731520" y="5047488"/>
            <a:ext cx="365760" cy="365760"/>
          </a:xfrm>
          <a:prstGeom prst="ellipse">
            <a:avLst/>
          </a:prstGeom>
          <a:solidFill>
            <a:srgbClr val="12908F"/>
          </a:solidFill>
          <a:ln/>
        </p:spPr>
      </p:sp>
      <p:sp>
        <p:nvSpPr>
          <p:cNvPr id="38" name="Text 36"/>
          <p:cNvSpPr/>
          <p:nvPr/>
        </p:nvSpPr>
        <p:spPr>
          <a:xfrm>
            <a:off x="731520" y="504748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39" name="Text 37"/>
          <p:cNvSpPr/>
          <p:nvPr/>
        </p:nvSpPr>
        <p:spPr>
          <a:xfrm>
            <a:off x="1280160" y="5010912"/>
            <a:ext cx="3657600" cy="438912"/>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MVP</a:t>
            </a:r>
            <a:endParaRPr lang="en-US" sz="1550" dirty="0"/>
          </a:p>
        </p:txBody>
      </p:sp>
      <p:sp>
        <p:nvSpPr>
          <p:cNvPr id="40" name="Text 38"/>
          <p:cNvSpPr/>
          <p:nvPr/>
        </p:nvSpPr>
        <p:spPr>
          <a:xfrm>
            <a:off x="5029200" y="5010912"/>
            <a:ext cx="6400800" cy="438912"/>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Features × risk × real hours. By now it's arithmetic.</a:t>
            </a:r>
            <a:endParaRPr lang="en-US" sz="1400" dirty="0"/>
          </a:p>
        </p:txBody>
      </p:sp>
      <p:sp>
        <p:nvSpPr>
          <p:cNvPr id="41" name="Shape 39"/>
          <p:cNvSpPr/>
          <p:nvPr/>
        </p:nvSpPr>
        <p:spPr>
          <a:xfrm>
            <a:off x="548640" y="5532120"/>
            <a:ext cx="11064240" cy="438912"/>
          </a:xfrm>
          <a:prstGeom prst="roundRect">
            <a:avLst>
              <a:gd name="adj" fmla="val 18750"/>
            </a:avLst>
          </a:prstGeom>
          <a:solidFill>
            <a:srgbClr val="FBEEDA"/>
          </a:solidFill>
          <a:ln/>
          <a:effectLst>
            <a:outerShdw sx="100000" sy="100000" kx="0" ky="0" algn="bl" rotWithShape="0" blurRad="88900" dist="38100" dir="5400000">
              <a:srgbClr val="000000">
                <a:alpha val="13000"/>
              </a:srgbClr>
            </a:outerShdw>
          </a:effectLst>
        </p:spPr>
      </p:sp>
      <p:sp>
        <p:nvSpPr>
          <p:cNvPr id="42" name="Shape 40"/>
          <p:cNvSpPr/>
          <p:nvPr/>
        </p:nvSpPr>
        <p:spPr>
          <a:xfrm>
            <a:off x="731520" y="5568696"/>
            <a:ext cx="365760" cy="365760"/>
          </a:xfrm>
          <a:prstGeom prst="ellipse">
            <a:avLst/>
          </a:prstGeom>
          <a:solidFill>
            <a:srgbClr val="E8A33D"/>
          </a:solidFill>
          <a:ln/>
        </p:spPr>
      </p:sp>
      <p:sp>
        <p:nvSpPr>
          <p:cNvPr id="43" name="Text 41"/>
          <p:cNvSpPr/>
          <p:nvPr/>
        </p:nvSpPr>
        <p:spPr>
          <a:xfrm>
            <a:off x="731520" y="5568696"/>
            <a:ext cx="365760" cy="365760"/>
          </a:xfrm>
          <a:prstGeom prst="rect">
            <a:avLst/>
          </a:prstGeom>
          <a:noFill/>
          <a:ln/>
        </p:spPr>
        <p:txBody>
          <a:bodyPr wrap="square" lIns="0" tIns="0" rIns="0" bIns="0" rtlCol="0" anchor="ctr"/>
          <a:lstStyle/>
          <a:p>
            <a:pPr algn="ctr" indent="0" marL="0">
              <a:buNone/>
            </a:pPr>
            <a:r>
              <a:rPr lang="en-US" sz="1600" b="1" dirty="0">
                <a:solidFill>
                  <a:srgbClr val="14233A"/>
                </a:solidFill>
                <a:latin typeface="Cambria" pitchFamily="34" charset="0"/>
                <a:ea typeface="Cambria" pitchFamily="34" charset="-122"/>
                <a:cs typeface="Cambria" pitchFamily="34" charset="-120"/>
              </a:rPr>
              <a:t>8</a:t>
            </a:r>
            <a:endParaRPr lang="en-US" sz="1600" dirty="0"/>
          </a:p>
        </p:txBody>
      </p:sp>
      <p:sp>
        <p:nvSpPr>
          <p:cNvPr id="44" name="Text 42"/>
          <p:cNvSpPr/>
          <p:nvPr/>
        </p:nvSpPr>
        <p:spPr>
          <a:xfrm>
            <a:off x="1280160" y="5532120"/>
            <a:ext cx="3657600" cy="438912"/>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Executive summary</a:t>
            </a:r>
            <a:endParaRPr lang="en-US" sz="1550" dirty="0"/>
          </a:p>
        </p:txBody>
      </p:sp>
      <p:sp>
        <p:nvSpPr>
          <p:cNvPr id="45" name="Text 43"/>
          <p:cNvSpPr/>
          <p:nvPr/>
        </p:nvSpPr>
        <p:spPr>
          <a:xfrm>
            <a:off x="5029200" y="5532120"/>
            <a:ext cx="6400800" cy="438912"/>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Last. You can't compress an argument you haven't finished.</a:t>
            </a:r>
            <a:endParaRPr lang="en-US" sz="1400" dirty="0"/>
          </a:p>
        </p:txBody>
      </p:sp>
      <p:sp>
        <p:nvSpPr>
          <p:cNvPr id="46" name="Text 44"/>
          <p:cNvSpPr/>
          <p:nvPr/>
        </p:nvSpPr>
        <p:spPr>
          <a:xfrm>
            <a:off x="548640" y="6053328"/>
            <a:ext cx="11064240" cy="310896"/>
          </a:xfrm>
          <a:prstGeom prst="rect">
            <a:avLst/>
          </a:prstGeom>
          <a:noFill/>
          <a:ln/>
        </p:spPr>
        <p:txBody>
          <a:bodyPr wrap="square" lIns="0" tIns="0" rIns="0" bIns="0" rtlCol="0" anchor="ctr"/>
          <a:lstStyle/>
          <a:p>
            <a:pPr algn="ctr" indent="0" marL="0">
              <a:buNone/>
            </a:pPr>
            <a:r>
              <a:rPr lang="en-US" sz="1400" b="1" dirty="0">
                <a:solidFill>
                  <a:srgbClr val="0E6E6D"/>
                </a:solidFill>
                <a:latin typeface="Calibri" pitchFamily="34" charset="0"/>
                <a:ea typeface="Calibri" pitchFamily="34" charset="-122"/>
                <a:cs typeface="Calibri" pitchFamily="34" charset="-120"/>
              </a:rPr>
              <a:t>Then a revision pass: read only your topic sentences · check every claim for its source · cut adjectives.</a:t>
            </a:r>
            <a:endParaRPr lang="en-US" sz="1400" dirty="0"/>
          </a:p>
        </p:txBody>
      </p:sp>
      <p:sp>
        <p:nvSpPr>
          <p:cNvPr id="47" name="Text 4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48" name="Text 4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WRITING FOR A SKEPTICAL READER</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Four checks — run them on every paragraph</a:t>
            </a:r>
            <a:endParaRPr lang="en-US" sz="3100" dirty="0"/>
          </a:p>
        </p:txBody>
      </p:sp>
      <p:sp>
        <p:nvSpPr>
          <p:cNvPr id="5" name="Shape 3"/>
          <p:cNvSpPr/>
          <p:nvPr/>
        </p:nvSpPr>
        <p:spPr>
          <a:xfrm>
            <a:off x="548640" y="1737360"/>
            <a:ext cx="11064240" cy="868680"/>
          </a:xfrm>
          <a:prstGeom prst="roundRect">
            <a:avLst>
              <a:gd name="adj" fmla="val 9474"/>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1920240"/>
            <a:ext cx="502920" cy="502920"/>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04468" y="2056028"/>
            <a:ext cx="231343" cy="231343"/>
          </a:xfrm>
          <a:prstGeom prst="rect">
            <a:avLst/>
          </a:prstGeom>
        </p:spPr>
      </p:pic>
      <p:sp>
        <p:nvSpPr>
          <p:cNvPr id="8" name="Text 5"/>
          <p:cNvSpPr/>
          <p:nvPr/>
        </p:nvSpPr>
        <p:spPr>
          <a:xfrm>
            <a:off x="1600200" y="1737360"/>
            <a:ext cx="9738360" cy="868680"/>
          </a:xfrm>
          <a:prstGeom prst="rect">
            <a:avLst/>
          </a:prstGeom>
          <a:noFill/>
          <a:ln/>
        </p:spPr>
        <p:txBody>
          <a:bodyPr wrap="square" lIns="0" tIns="0" rIns="0" bIns="0" rtlCol="0" anchor="ctr"/>
          <a:lstStyle/>
          <a:p>
            <a:pPr indent="0" marL="0">
              <a:lnSpc>
                <a:spcPct val="104000"/>
              </a:lnSpc>
              <a:buNone/>
            </a:pPr>
            <a:r>
              <a:rPr lang="en-US" sz="1550" dirty="0">
                <a:solidFill>
                  <a:srgbClr val="CFE0E9"/>
                </a:solidFill>
                <a:latin typeface="Calibri" pitchFamily="34" charset="0"/>
                <a:ea typeface="Calibri" pitchFamily="34" charset="-122"/>
                <a:cs typeface="Calibri" pitchFamily="34" charset="-120"/>
              </a:rPr>
              <a:t>These four apply to any technical writing with a reader on the other end — bug reports, PRs, design docs, release notes, incident writeups.</a:t>
            </a:r>
            <a:endParaRPr lang="en-US" sz="1550" dirty="0"/>
          </a:p>
        </p:txBody>
      </p:sp>
      <p:sp>
        <p:nvSpPr>
          <p:cNvPr id="9" name="Shape 6"/>
          <p:cNvSpPr/>
          <p:nvPr/>
        </p:nvSpPr>
        <p:spPr>
          <a:xfrm>
            <a:off x="548640" y="2834640"/>
            <a:ext cx="2670048" cy="2377440"/>
          </a:xfrm>
          <a:prstGeom prst="roundRect">
            <a:avLst>
              <a:gd name="adj" fmla="val 3462"/>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1554480" y="3090672"/>
            <a:ext cx="658368" cy="658368"/>
          </a:xfrm>
          <a:prstGeom prst="ellipse">
            <a:avLst/>
          </a:prstGeom>
          <a:solidFill>
            <a:srgbClr val="12908F"/>
          </a:solidFill>
          <a:ln/>
        </p:spPr>
      </p:sp>
      <p:pic>
        <p:nvPicPr>
          <p:cNvPr id="11" name="Image 1" descr="preencoded.png">    </p:cNvPr>
          <p:cNvPicPr>
            <a:picLocks noChangeAspect="1"/>
          </p:cNvPicPr>
          <p:nvPr/>
        </p:nvPicPr>
        <p:blipFill>
          <a:blip r:embed="rId2"/>
          <a:stretch>
            <a:fillRect/>
          </a:stretch>
        </p:blipFill>
        <p:spPr>
          <a:xfrm>
            <a:off x="1732239" y="3268431"/>
            <a:ext cx="302849" cy="302849"/>
          </a:xfrm>
          <a:prstGeom prst="rect">
            <a:avLst/>
          </a:prstGeom>
        </p:spPr>
      </p:pic>
      <p:sp>
        <p:nvSpPr>
          <p:cNvPr id="12" name="Text 8"/>
          <p:cNvSpPr/>
          <p:nvPr/>
        </p:nvSpPr>
        <p:spPr>
          <a:xfrm>
            <a:off x="694944" y="3877056"/>
            <a:ext cx="2377440" cy="438912"/>
          </a:xfrm>
          <a:prstGeom prst="rect">
            <a:avLst/>
          </a:prstGeom>
          <a:noFill/>
          <a:ln/>
        </p:spPr>
        <p:txBody>
          <a:bodyPr wrap="square" lIns="0" tIns="0" rIns="0" bIns="0" rtlCol="0" anchor="ctr"/>
          <a:lstStyle/>
          <a:p>
            <a:pPr algn="ctr" indent="0" marL="0">
              <a:buNone/>
            </a:pPr>
            <a:r>
              <a:rPr lang="en-US" sz="2000" b="1" dirty="0">
                <a:solidFill>
                  <a:srgbClr val="1E2A36"/>
                </a:solidFill>
                <a:latin typeface="Calibri" pitchFamily="34" charset="0"/>
                <a:ea typeface="Calibri" pitchFamily="34" charset="-122"/>
                <a:cs typeface="Calibri" pitchFamily="34" charset="-120"/>
              </a:rPr>
              <a:t>Audience</a:t>
            </a:r>
            <a:endParaRPr lang="en-US" sz="2000" dirty="0"/>
          </a:p>
        </p:txBody>
      </p:sp>
      <p:sp>
        <p:nvSpPr>
          <p:cNvPr id="13" name="Text 9"/>
          <p:cNvSpPr/>
          <p:nvPr/>
        </p:nvSpPr>
        <p:spPr>
          <a:xfrm>
            <a:off x="749808" y="4370832"/>
            <a:ext cx="2267712" cy="749808"/>
          </a:xfrm>
          <a:prstGeom prst="rect">
            <a:avLst/>
          </a:prstGeom>
          <a:noFill/>
          <a:ln/>
        </p:spPr>
        <p:txBody>
          <a:bodyPr wrap="square" lIns="0" tIns="0" rIns="0" bIns="0" rtlCol="0" anchor="t"/>
          <a:lstStyle/>
          <a:p>
            <a:pPr algn="ctr" indent="0" marL="0">
              <a:lnSpc>
                <a:spcPct val="105000"/>
              </a:lnSpc>
              <a:buNone/>
            </a:pPr>
            <a:r>
              <a:rPr lang="en-US" sz="1350" dirty="0">
                <a:solidFill>
                  <a:srgbClr val="5F7284"/>
                </a:solidFill>
                <a:latin typeface="Calibri" pitchFamily="34" charset="0"/>
                <a:ea typeface="Calibri" pitchFamily="34" charset="-122"/>
                <a:cs typeface="Calibri" pitchFamily="34" charset="-120"/>
              </a:rPr>
              <a:t>Who is this for, what do they know, what must they believe next?</a:t>
            </a:r>
            <a:endParaRPr lang="en-US" sz="1350" dirty="0"/>
          </a:p>
        </p:txBody>
      </p:sp>
      <p:sp>
        <p:nvSpPr>
          <p:cNvPr id="14" name="Shape 10"/>
          <p:cNvSpPr/>
          <p:nvPr/>
        </p:nvSpPr>
        <p:spPr>
          <a:xfrm>
            <a:off x="3364992" y="2834640"/>
            <a:ext cx="2670048" cy="2377440"/>
          </a:xfrm>
          <a:prstGeom prst="roundRect">
            <a:avLst>
              <a:gd name="adj" fmla="val 3462"/>
            </a:avLst>
          </a:prstGeom>
          <a:solidFill>
            <a:srgbClr val="F2F6F8"/>
          </a:solidFill>
          <a:ln/>
          <a:effectLst>
            <a:outerShdw sx="100000" sy="100000" kx="0" ky="0" algn="bl" rotWithShape="0" blurRad="88900" dist="38100" dir="5400000">
              <a:srgbClr val="000000">
                <a:alpha val="13000"/>
              </a:srgbClr>
            </a:outerShdw>
          </a:effectLst>
        </p:spPr>
      </p:sp>
      <p:sp>
        <p:nvSpPr>
          <p:cNvPr id="15" name="Shape 11"/>
          <p:cNvSpPr/>
          <p:nvPr/>
        </p:nvSpPr>
        <p:spPr>
          <a:xfrm>
            <a:off x="4370832" y="3090672"/>
            <a:ext cx="658368" cy="658368"/>
          </a:xfrm>
          <a:prstGeom prst="ellipse">
            <a:avLst/>
          </a:prstGeom>
          <a:solidFill>
            <a:srgbClr val="12908F"/>
          </a:solidFill>
          <a:ln/>
        </p:spPr>
      </p:sp>
      <p:pic>
        <p:nvPicPr>
          <p:cNvPr id="16" name="Image 2" descr="preencoded.png">    </p:cNvPr>
          <p:cNvPicPr>
            <a:picLocks noChangeAspect="1"/>
          </p:cNvPicPr>
          <p:nvPr/>
        </p:nvPicPr>
        <p:blipFill>
          <a:blip r:embed="rId3"/>
          <a:stretch>
            <a:fillRect/>
          </a:stretch>
        </p:blipFill>
        <p:spPr>
          <a:xfrm>
            <a:off x="4548591" y="3268431"/>
            <a:ext cx="302849" cy="302849"/>
          </a:xfrm>
          <a:prstGeom prst="rect">
            <a:avLst/>
          </a:prstGeom>
        </p:spPr>
      </p:pic>
      <p:sp>
        <p:nvSpPr>
          <p:cNvPr id="17" name="Text 12"/>
          <p:cNvSpPr/>
          <p:nvPr/>
        </p:nvSpPr>
        <p:spPr>
          <a:xfrm>
            <a:off x="3511296" y="3877056"/>
            <a:ext cx="2377440" cy="438912"/>
          </a:xfrm>
          <a:prstGeom prst="rect">
            <a:avLst/>
          </a:prstGeom>
          <a:noFill/>
          <a:ln/>
        </p:spPr>
        <p:txBody>
          <a:bodyPr wrap="square" lIns="0" tIns="0" rIns="0" bIns="0" rtlCol="0" anchor="ctr"/>
          <a:lstStyle/>
          <a:p>
            <a:pPr algn="ctr" indent="0" marL="0">
              <a:buNone/>
            </a:pPr>
            <a:r>
              <a:rPr lang="en-US" sz="2000" b="1" dirty="0">
                <a:solidFill>
                  <a:srgbClr val="1E2A36"/>
                </a:solidFill>
                <a:latin typeface="Calibri" pitchFamily="34" charset="0"/>
                <a:ea typeface="Calibri" pitchFamily="34" charset="-122"/>
                <a:cs typeface="Calibri" pitchFamily="34" charset="-120"/>
              </a:rPr>
              <a:t>Content</a:t>
            </a:r>
            <a:endParaRPr lang="en-US" sz="2000" dirty="0"/>
          </a:p>
        </p:txBody>
      </p:sp>
      <p:sp>
        <p:nvSpPr>
          <p:cNvPr id="18" name="Text 13"/>
          <p:cNvSpPr/>
          <p:nvPr/>
        </p:nvSpPr>
        <p:spPr>
          <a:xfrm>
            <a:off x="3566160" y="4370832"/>
            <a:ext cx="2267712" cy="749808"/>
          </a:xfrm>
          <a:prstGeom prst="rect">
            <a:avLst/>
          </a:prstGeom>
          <a:noFill/>
          <a:ln/>
        </p:spPr>
        <p:txBody>
          <a:bodyPr wrap="square" lIns="0" tIns="0" rIns="0" bIns="0" rtlCol="0" anchor="t"/>
          <a:lstStyle/>
          <a:p>
            <a:pPr algn="ctr" indent="0" marL="0">
              <a:lnSpc>
                <a:spcPct val="105000"/>
              </a:lnSpc>
              <a:buNone/>
            </a:pPr>
            <a:r>
              <a:rPr lang="en-US" sz="1350" dirty="0">
                <a:solidFill>
                  <a:srgbClr val="5F7284"/>
                </a:solidFill>
                <a:latin typeface="Calibri" pitchFamily="34" charset="0"/>
                <a:ea typeface="Calibri" pitchFamily="34" charset="-122"/>
                <a:cs typeface="Calibri" pitchFamily="34" charset="-120"/>
              </a:rPr>
              <a:t>Everything needed, at the right altitude, nothing extra.</a:t>
            </a:r>
            <a:endParaRPr lang="en-US" sz="1350" dirty="0"/>
          </a:p>
        </p:txBody>
      </p:sp>
      <p:sp>
        <p:nvSpPr>
          <p:cNvPr id="19" name="Shape 14"/>
          <p:cNvSpPr/>
          <p:nvPr/>
        </p:nvSpPr>
        <p:spPr>
          <a:xfrm>
            <a:off x="6181344" y="2834640"/>
            <a:ext cx="2670048" cy="2377440"/>
          </a:xfrm>
          <a:prstGeom prst="roundRect">
            <a:avLst>
              <a:gd name="adj" fmla="val 3462"/>
            </a:avLst>
          </a:prstGeom>
          <a:solidFill>
            <a:srgbClr val="F2F6F8"/>
          </a:solidFill>
          <a:ln/>
          <a:effectLst>
            <a:outerShdw sx="100000" sy="100000" kx="0" ky="0" algn="bl" rotWithShape="0" blurRad="88900" dist="38100" dir="5400000">
              <a:srgbClr val="000000">
                <a:alpha val="13000"/>
              </a:srgbClr>
            </a:outerShdw>
          </a:effectLst>
        </p:spPr>
      </p:sp>
      <p:sp>
        <p:nvSpPr>
          <p:cNvPr id="20" name="Shape 15"/>
          <p:cNvSpPr/>
          <p:nvPr/>
        </p:nvSpPr>
        <p:spPr>
          <a:xfrm>
            <a:off x="7187184" y="3090672"/>
            <a:ext cx="658368" cy="658368"/>
          </a:xfrm>
          <a:prstGeom prst="ellipse">
            <a:avLst/>
          </a:prstGeom>
          <a:solidFill>
            <a:srgbClr val="12908F"/>
          </a:solidFill>
          <a:ln/>
        </p:spPr>
      </p:sp>
      <p:pic>
        <p:nvPicPr>
          <p:cNvPr id="21" name="Image 3" descr="preencoded.png">    </p:cNvPr>
          <p:cNvPicPr>
            <a:picLocks noChangeAspect="1"/>
          </p:cNvPicPr>
          <p:nvPr/>
        </p:nvPicPr>
        <p:blipFill>
          <a:blip r:embed="rId4"/>
          <a:stretch>
            <a:fillRect/>
          </a:stretch>
        </p:blipFill>
        <p:spPr>
          <a:xfrm>
            <a:off x="7364943" y="3268431"/>
            <a:ext cx="302849" cy="302849"/>
          </a:xfrm>
          <a:prstGeom prst="rect">
            <a:avLst/>
          </a:prstGeom>
        </p:spPr>
      </p:pic>
      <p:sp>
        <p:nvSpPr>
          <p:cNvPr id="22" name="Text 16"/>
          <p:cNvSpPr/>
          <p:nvPr/>
        </p:nvSpPr>
        <p:spPr>
          <a:xfrm>
            <a:off x="6327648" y="3877056"/>
            <a:ext cx="2377440" cy="438912"/>
          </a:xfrm>
          <a:prstGeom prst="rect">
            <a:avLst/>
          </a:prstGeom>
          <a:noFill/>
          <a:ln/>
        </p:spPr>
        <p:txBody>
          <a:bodyPr wrap="square" lIns="0" tIns="0" rIns="0" bIns="0" rtlCol="0" anchor="ctr"/>
          <a:lstStyle/>
          <a:p>
            <a:pPr algn="ctr" indent="0" marL="0">
              <a:buNone/>
            </a:pPr>
            <a:r>
              <a:rPr lang="en-US" sz="2000" b="1" dirty="0">
                <a:solidFill>
                  <a:srgbClr val="1E2A36"/>
                </a:solidFill>
                <a:latin typeface="Calibri" pitchFamily="34" charset="0"/>
                <a:ea typeface="Calibri" pitchFamily="34" charset="-122"/>
                <a:cs typeface="Calibri" pitchFamily="34" charset="-120"/>
              </a:rPr>
              <a:t>Clarity</a:t>
            </a:r>
            <a:endParaRPr lang="en-US" sz="2000" dirty="0"/>
          </a:p>
        </p:txBody>
      </p:sp>
      <p:sp>
        <p:nvSpPr>
          <p:cNvPr id="23" name="Text 17"/>
          <p:cNvSpPr/>
          <p:nvPr/>
        </p:nvSpPr>
        <p:spPr>
          <a:xfrm>
            <a:off x="6382512" y="4370832"/>
            <a:ext cx="2267712" cy="749808"/>
          </a:xfrm>
          <a:prstGeom prst="rect">
            <a:avLst/>
          </a:prstGeom>
          <a:noFill/>
          <a:ln/>
        </p:spPr>
        <p:txBody>
          <a:bodyPr wrap="square" lIns="0" tIns="0" rIns="0" bIns="0" rtlCol="0" anchor="t"/>
          <a:lstStyle/>
          <a:p>
            <a:pPr algn="ctr" indent="0" marL="0">
              <a:lnSpc>
                <a:spcPct val="105000"/>
              </a:lnSpc>
              <a:buNone/>
            </a:pPr>
            <a:r>
              <a:rPr lang="en-US" sz="1350" dirty="0">
                <a:solidFill>
                  <a:srgbClr val="5F7284"/>
                </a:solidFill>
                <a:latin typeface="Calibri" pitchFamily="34" charset="0"/>
                <a:ea typeface="Calibri" pitchFamily="34" charset="-122"/>
                <a:cs typeface="Calibri" pitchFamily="34" charset="-120"/>
              </a:rPr>
              <a:t>Short sentences. Concrete nouns. One claim per paragraph.</a:t>
            </a:r>
            <a:endParaRPr lang="en-US" sz="1350" dirty="0"/>
          </a:p>
        </p:txBody>
      </p:sp>
      <p:sp>
        <p:nvSpPr>
          <p:cNvPr id="24" name="Shape 18"/>
          <p:cNvSpPr/>
          <p:nvPr/>
        </p:nvSpPr>
        <p:spPr>
          <a:xfrm>
            <a:off x="8997696" y="2834640"/>
            <a:ext cx="2670048" cy="2377440"/>
          </a:xfrm>
          <a:prstGeom prst="roundRect">
            <a:avLst>
              <a:gd name="adj" fmla="val 3462"/>
            </a:avLst>
          </a:prstGeom>
          <a:solidFill>
            <a:srgbClr val="F2F6F8"/>
          </a:solidFill>
          <a:ln/>
          <a:effectLst>
            <a:outerShdw sx="100000" sy="100000" kx="0" ky="0" algn="bl" rotWithShape="0" blurRad="88900" dist="38100" dir="5400000">
              <a:srgbClr val="000000">
                <a:alpha val="13000"/>
              </a:srgbClr>
            </a:outerShdw>
          </a:effectLst>
        </p:spPr>
      </p:sp>
      <p:sp>
        <p:nvSpPr>
          <p:cNvPr id="25" name="Shape 19"/>
          <p:cNvSpPr/>
          <p:nvPr/>
        </p:nvSpPr>
        <p:spPr>
          <a:xfrm>
            <a:off x="10003536" y="3090672"/>
            <a:ext cx="658368" cy="658368"/>
          </a:xfrm>
          <a:prstGeom prst="ellipse">
            <a:avLst/>
          </a:prstGeom>
          <a:solidFill>
            <a:srgbClr val="12908F"/>
          </a:solidFill>
          <a:ln/>
        </p:spPr>
      </p:sp>
      <p:pic>
        <p:nvPicPr>
          <p:cNvPr id="26" name="Image 4" descr="preencoded.png">    </p:cNvPr>
          <p:cNvPicPr>
            <a:picLocks noChangeAspect="1"/>
          </p:cNvPicPr>
          <p:nvPr/>
        </p:nvPicPr>
        <p:blipFill>
          <a:blip r:embed="rId5"/>
          <a:stretch>
            <a:fillRect/>
          </a:stretch>
        </p:blipFill>
        <p:spPr>
          <a:xfrm>
            <a:off x="10181295" y="3268431"/>
            <a:ext cx="302849" cy="302849"/>
          </a:xfrm>
          <a:prstGeom prst="rect">
            <a:avLst/>
          </a:prstGeom>
        </p:spPr>
      </p:pic>
      <p:sp>
        <p:nvSpPr>
          <p:cNvPr id="27" name="Text 20"/>
          <p:cNvSpPr/>
          <p:nvPr/>
        </p:nvSpPr>
        <p:spPr>
          <a:xfrm>
            <a:off x="9144000" y="3877056"/>
            <a:ext cx="2377440" cy="438912"/>
          </a:xfrm>
          <a:prstGeom prst="rect">
            <a:avLst/>
          </a:prstGeom>
          <a:noFill/>
          <a:ln/>
        </p:spPr>
        <p:txBody>
          <a:bodyPr wrap="square" lIns="0" tIns="0" rIns="0" bIns="0" rtlCol="0" anchor="ctr"/>
          <a:lstStyle/>
          <a:p>
            <a:pPr algn="ctr" indent="0" marL="0">
              <a:buNone/>
            </a:pPr>
            <a:r>
              <a:rPr lang="en-US" sz="2000" b="1" dirty="0">
                <a:solidFill>
                  <a:srgbClr val="1E2A36"/>
                </a:solidFill>
                <a:latin typeface="Calibri" pitchFamily="34" charset="0"/>
                <a:ea typeface="Calibri" pitchFamily="34" charset="-122"/>
                <a:cs typeface="Calibri" pitchFamily="34" charset="-120"/>
              </a:rPr>
              <a:t>Tone</a:t>
            </a:r>
            <a:endParaRPr lang="en-US" sz="2000" dirty="0"/>
          </a:p>
        </p:txBody>
      </p:sp>
      <p:sp>
        <p:nvSpPr>
          <p:cNvPr id="28" name="Text 21"/>
          <p:cNvSpPr/>
          <p:nvPr/>
        </p:nvSpPr>
        <p:spPr>
          <a:xfrm>
            <a:off x="9198864" y="4370832"/>
            <a:ext cx="2267712" cy="749808"/>
          </a:xfrm>
          <a:prstGeom prst="rect">
            <a:avLst/>
          </a:prstGeom>
          <a:noFill/>
          <a:ln/>
        </p:spPr>
        <p:txBody>
          <a:bodyPr wrap="square" lIns="0" tIns="0" rIns="0" bIns="0" rtlCol="0" anchor="t"/>
          <a:lstStyle/>
          <a:p>
            <a:pPr algn="ctr" indent="0" marL="0">
              <a:lnSpc>
                <a:spcPct val="105000"/>
              </a:lnSpc>
              <a:buNone/>
            </a:pPr>
            <a:r>
              <a:rPr lang="en-US" sz="1350" dirty="0">
                <a:solidFill>
                  <a:srgbClr val="5F7284"/>
                </a:solidFill>
                <a:latin typeface="Calibri" pitchFamily="34" charset="0"/>
                <a:ea typeface="Calibri" pitchFamily="34" charset="-122"/>
                <a:cs typeface="Calibri" pitchFamily="34" charset="-120"/>
              </a:rPr>
              <a:t>How it sounds to a stranger who owes you nothing.</a:t>
            </a:r>
            <a:endParaRPr lang="en-US" sz="1350" dirty="0"/>
          </a:p>
        </p:txBody>
      </p:sp>
      <p:sp>
        <p:nvSpPr>
          <p:cNvPr id="29" name="Shape 22"/>
          <p:cNvSpPr/>
          <p:nvPr/>
        </p:nvSpPr>
        <p:spPr>
          <a:xfrm>
            <a:off x="548640" y="5394960"/>
            <a:ext cx="11064240" cy="786384"/>
          </a:xfrm>
          <a:prstGeom prst="roundRect">
            <a:avLst>
              <a:gd name="adj" fmla="val 10465"/>
            </a:avLst>
          </a:prstGeom>
          <a:solidFill>
            <a:srgbClr val="FBEEDA"/>
          </a:solidFill>
          <a:ln/>
          <a:effectLst>
            <a:outerShdw sx="100000" sy="100000" kx="0" ky="0" algn="bl" rotWithShape="0" blurRad="88900" dist="38100" dir="5400000">
              <a:srgbClr val="000000">
                <a:alpha val="13000"/>
              </a:srgbClr>
            </a:outerShdw>
          </a:effectLst>
        </p:spPr>
      </p:sp>
      <p:sp>
        <p:nvSpPr>
          <p:cNvPr id="30" name="Text 23"/>
          <p:cNvSpPr/>
          <p:nvPr/>
        </p:nvSpPr>
        <p:spPr>
          <a:xfrm>
            <a:off x="822960" y="5394960"/>
            <a:ext cx="10515600" cy="786384"/>
          </a:xfrm>
          <a:prstGeom prst="rect">
            <a:avLst/>
          </a:prstGeom>
          <a:noFill/>
          <a:ln/>
        </p:spPr>
        <p:txBody>
          <a:bodyPr wrap="square" lIns="0" tIns="0" rIns="0" bIns="0" rtlCol="0" anchor="ctr"/>
          <a:lstStyle/>
          <a:p>
            <a:pPr algn="ctr" indent="0" marL="0">
              <a:buNone/>
            </a:pPr>
            <a:r>
              <a:rPr lang="en-US" sz="1500" b="1" dirty="0">
                <a:solidFill>
                  <a:srgbClr val="0E6E6D"/>
                </a:solidFill>
                <a:latin typeface="Calibri" pitchFamily="34" charset="0"/>
                <a:ea typeface="Calibri" pitchFamily="34" charset="-122"/>
                <a:cs typeface="Calibri" pitchFamily="34" charset="-120"/>
              </a:rPr>
              <a:t>You'll meet these again  </a:t>
            </a:r>
            <a:pPr algn="ctr" indent="0" marL="0">
              <a:buNone/>
            </a:pPr>
            <a:r>
              <a:rPr lang="en-US" sz="1500" dirty="0">
                <a:solidFill>
                  <a:srgbClr val="1E2A36"/>
                </a:solidFill>
                <a:latin typeface="Calibri" pitchFamily="34" charset="0"/>
                <a:ea typeface="Calibri" pitchFamily="34" charset="-122"/>
                <a:cs typeface="Calibri" pitchFamily="34" charset="-120"/>
              </a:rPr>
              <a:t>— design review (Wk 6), code review and PR descriptions (Wk 7), the repo audit (Wk 11), the tech-comm portfolio (CP9).</a:t>
            </a:r>
            <a:endParaRPr lang="en-US" sz="1500" dirty="0"/>
          </a:p>
        </p:txBody>
      </p:sp>
      <p:sp>
        <p:nvSpPr>
          <p:cNvPr id="31" name="Text 2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32" name="Text 2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CHECK 1 · AUDIENCE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Three readers — and none of them start at page one</a:t>
            </a:r>
            <a:endParaRPr lang="en-US" sz="3100" dirty="0"/>
          </a:p>
        </p:txBody>
      </p:sp>
      <p:sp>
        <p:nvSpPr>
          <p:cNvPr id="5" name="Shape 3"/>
          <p:cNvSpPr/>
          <p:nvPr/>
        </p:nvSpPr>
        <p:spPr>
          <a:xfrm>
            <a:off x="548640" y="1691640"/>
            <a:ext cx="3511296" cy="2423160"/>
          </a:xfrm>
          <a:prstGeom prst="roundRect">
            <a:avLst>
              <a:gd name="adj" fmla="val 3396"/>
            </a:avLst>
          </a:prstGeom>
          <a:solidFill>
            <a:srgbClr val="FBECE8"/>
          </a:solidFill>
          <a:ln/>
          <a:effectLst>
            <a:outerShdw sx="100000" sy="100000" kx="0" ky="0" algn="bl" rotWithShape="0" blurRad="88900" dist="38100" dir="5400000">
              <a:srgbClr val="000000">
                <a:alpha val="13000"/>
              </a:srgbClr>
            </a:outerShdw>
          </a:effectLst>
        </p:spPr>
      </p:sp>
      <p:sp>
        <p:nvSpPr>
          <p:cNvPr id="6" name="Shape 4"/>
          <p:cNvSpPr/>
          <p:nvPr/>
        </p:nvSpPr>
        <p:spPr>
          <a:xfrm>
            <a:off x="804672" y="1938528"/>
            <a:ext cx="548640" cy="548640"/>
          </a:xfrm>
          <a:prstGeom prst="ellipse">
            <a:avLst/>
          </a:prstGeom>
          <a:solidFill>
            <a:srgbClr val="D9614C"/>
          </a:solidFill>
          <a:ln/>
        </p:spPr>
      </p:sp>
      <p:pic>
        <p:nvPicPr>
          <p:cNvPr id="7" name="Image 0" descr="preencoded.png">    </p:cNvPr>
          <p:cNvPicPr>
            <a:picLocks noChangeAspect="1"/>
          </p:cNvPicPr>
          <p:nvPr/>
        </p:nvPicPr>
        <p:blipFill>
          <a:blip r:embed="rId1"/>
          <a:stretch>
            <a:fillRect/>
          </a:stretch>
        </p:blipFill>
        <p:spPr>
          <a:xfrm>
            <a:off x="952805" y="2086661"/>
            <a:ext cx="252374" cy="252374"/>
          </a:xfrm>
          <a:prstGeom prst="rect">
            <a:avLst/>
          </a:prstGeom>
        </p:spPr>
      </p:pic>
      <p:sp>
        <p:nvSpPr>
          <p:cNvPr id="8" name="Text 5"/>
          <p:cNvSpPr/>
          <p:nvPr/>
        </p:nvSpPr>
        <p:spPr>
          <a:xfrm>
            <a:off x="804672" y="2560320"/>
            <a:ext cx="2999232" cy="438912"/>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The skeptic</a:t>
            </a:r>
            <a:endParaRPr lang="en-US" sz="1700" dirty="0"/>
          </a:p>
        </p:txBody>
      </p:sp>
      <p:sp>
        <p:nvSpPr>
          <p:cNvPr id="9" name="Text 6"/>
          <p:cNvSpPr/>
          <p:nvPr/>
        </p:nvSpPr>
        <p:spPr>
          <a:xfrm>
            <a:off x="804672" y="3035808"/>
            <a:ext cx="2999232" cy="914400"/>
          </a:xfrm>
          <a:prstGeom prst="rect">
            <a:avLst/>
          </a:prstGeom>
          <a:noFill/>
          <a:ln/>
        </p:spPr>
        <p:txBody>
          <a:bodyPr wrap="square" lIns="0" tIns="0" rIns="0" bIns="0" rtlCol="0" anchor="t"/>
          <a:lstStyle/>
          <a:p>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No stake in your success. Reads to find the hole — every unsupported claim is one.</a:t>
            </a:r>
            <a:endParaRPr lang="en-US" sz="1400" dirty="0"/>
          </a:p>
        </p:txBody>
      </p:sp>
      <p:sp>
        <p:nvSpPr>
          <p:cNvPr id="10" name="Shape 7"/>
          <p:cNvSpPr/>
          <p:nvPr/>
        </p:nvSpPr>
        <p:spPr>
          <a:xfrm>
            <a:off x="4233672" y="1691640"/>
            <a:ext cx="3511296" cy="2423160"/>
          </a:xfrm>
          <a:prstGeom prst="roundRect">
            <a:avLst>
              <a:gd name="adj" fmla="val 3396"/>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4489704" y="1938528"/>
            <a:ext cx="548640" cy="548640"/>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4637837" y="2086661"/>
            <a:ext cx="252374" cy="252374"/>
          </a:xfrm>
          <a:prstGeom prst="rect">
            <a:avLst/>
          </a:prstGeom>
        </p:spPr>
      </p:pic>
      <p:sp>
        <p:nvSpPr>
          <p:cNvPr id="13" name="Text 9"/>
          <p:cNvSpPr/>
          <p:nvPr/>
        </p:nvSpPr>
        <p:spPr>
          <a:xfrm>
            <a:off x="4489704" y="2560320"/>
            <a:ext cx="2999232" cy="438912"/>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The one you're recruiting</a:t>
            </a:r>
            <a:endParaRPr lang="en-US" sz="1700" dirty="0"/>
          </a:p>
        </p:txBody>
      </p:sp>
      <p:sp>
        <p:nvSpPr>
          <p:cNvPr id="14" name="Text 10"/>
          <p:cNvSpPr/>
          <p:nvPr/>
        </p:nvSpPr>
        <p:spPr>
          <a:xfrm>
            <a:off x="4489704" y="3035808"/>
            <a:ext cx="2999232" cy="914400"/>
          </a:xfrm>
          <a:prstGeom prst="rect">
            <a:avLst/>
          </a:prstGeom>
          <a:noFill/>
          <a:ln/>
        </p:spPr>
        <p:txBody>
          <a:bodyPr wrap="square" lIns="0" tIns="0" rIns="0" bIns="0" rtlCol="0" anchor="t"/>
          <a:lstStyle/>
          <a:p>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A coworker, a contributor, a classmate on Oct 7. Reads your RISKS section hardest.</a:t>
            </a:r>
            <a:endParaRPr lang="en-US" sz="1400" dirty="0"/>
          </a:p>
        </p:txBody>
      </p:sp>
      <p:sp>
        <p:nvSpPr>
          <p:cNvPr id="15" name="Shape 11"/>
          <p:cNvSpPr/>
          <p:nvPr/>
        </p:nvSpPr>
        <p:spPr>
          <a:xfrm>
            <a:off x="7918704" y="1691640"/>
            <a:ext cx="3511296" cy="2423160"/>
          </a:xfrm>
          <a:prstGeom prst="roundRect">
            <a:avLst>
              <a:gd name="adj" fmla="val 3396"/>
            </a:avLst>
          </a:prstGeom>
          <a:solidFill>
            <a:srgbClr val="EAF4EE"/>
          </a:solidFill>
          <a:ln/>
          <a:effectLst>
            <a:outerShdw sx="100000" sy="100000" kx="0" ky="0" algn="bl" rotWithShape="0" blurRad="88900" dist="38100" dir="5400000">
              <a:srgbClr val="000000">
                <a:alpha val="13000"/>
              </a:srgbClr>
            </a:outerShdw>
          </a:effectLst>
        </p:spPr>
      </p:sp>
      <p:sp>
        <p:nvSpPr>
          <p:cNvPr id="16" name="Shape 12"/>
          <p:cNvSpPr/>
          <p:nvPr/>
        </p:nvSpPr>
        <p:spPr>
          <a:xfrm>
            <a:off x="8174736" y="1938528"/>
            <a:ext cx="548640" cy="548640"/>
          </a:xfrm>
          <a:prstGeom prst="ellipse">
            <a:avLst/>
          </a:prstGeom>
          <a:solidFill>
            <a:srgbClr val="3E9C6B"/>
          </a:solidFill>
          <a:ln/>
        </p:spPr>
      </p:sp>
      <p:pic>
        <p:nvPicPr>
          <p:cNvPr id="17" name="Image 2" descr="preencoded.png">    </p:cNvPr>
          <p:cNvPicPr>
            <a:picLocks noChangeAspect="1"/>
          </p:cNvPicPr>
          <p:nvPr/>
        </p:nvPicPr>
        <p:blipFill>
          <a:blip r:embed="rId3"/>
          <a:stretch>
            <a:fillRect/>
          </a:stretch>
        </p:blipFill>
        <p:spPr>
          <a:xfrm>
            <a:off x="8322869" y="2086661"/>
            <a:ext cx="252374" cy="252374"/>
          </a:xfrm>
          <a:prstGeom prst="rect">
            <a:avLst/>
          </a:prstGeom>
        </p:spPr>
      </p:pic>
      <p:sp>
        <p:nvSpPr>
          <p:cNvPr id="18" name="Text 13"/>
          <p:cNvSpPr/>
          <p:nvPr/>
        </p:nvSpPr>
        <p:spPr>
          <a:xfrm>
            <a:off x="8174736" y="2560320"/>
            <a:ext cx="2999232" cy="438912"/>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The evaluator</a:t>
            </a:r>
            <a:endParaRPr lang="en-US" sz="1700" dirty="0"/>
          </a:p>
        </p:txBody>
      </p:sp>
      <p:sp>
        <p:nvSpPr>
          <p:cNvPr id="19" name="Text 14"/>
          <p:cNvSpPr/>
          <p:nvPr/>
        </p:nvSpPr>
        <p:spPr>
          <a:xfrm>
            <a:off x="8174736" y="3035808"/>
            <a:ext cx="2999232" cy="914400"/>
          </a:xfrm>
          <a:prstGeom prst="rect">
            <a:avLst/>
          </a:prstGeom>
          <a:noFill/>
          <a:ln/>
        </p:spPr>
        <p:txBody>
          <a:bodyPr wrap="square" lIns="0" tIns="0" rIns="0" bIns="0" rtlCol="0" anchor="t"/>
          <a:lstStyle/>
          <a:p>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Applying explicit criteria. The move: find out what they are before you write.</a:t>
            </a:r>
            <a:endParaRPr lang="en-US" sz="1400" dirty="0"/>
          </a:p>
        </p:txBody>
      </p:sp>
      <p:sp>
        <p:nvSpPr>
          <p:cNvPr id="20" name="Shape 15"/>
          <p:cNvSpPr/>
          <p:nvPr/>
        </p:nvSpPr>
        <p:spPr>
          <a:xfrm>
            <a:off x="548640" y="4279392"/>
            <a:ext cx="11064240" cy="658368"/>
          </a:xfrm>
          <a:prstGeom prst="roundRect">
            <a:avLst>
              <a:gd name="adj" fmla="val 12500"/>
            </a:avLst>
          </a:prstGeom>
          <a:solidFill>
            <a:srgbClr val="F2F6F8"/>
          </a:solidFill>
          <a:ln/>
          <a:effectLst>
            <a:outerShdw sx="100000" sy="100000" kx="0" ky="0" algn="bl" rotWithShape="0" blurRad="88900" dist="38100" dir="5400000">
              <a:srgbClr val="000000">
                <a:alpha val="13000"/>
              </a:srgbClr>
            </a:outerShdw>
          </a:effectLst>
        </p:spPr>
      </p:sp>
      <p:sp>
        <p:nvSpPr>
          <p:cNvPr id="21" name="Text 16"/>
          <p:cNvSpPr/>
          <p:nvPr/>
        </p:nvSpPr>
        <p:spPr>
          <a:xfrm>
            <a:off x="822960" y="4279392"/>
            <a:ext cx="10515600" cy="658368"/>
          </a:xfrm>
          <a:prstGeom prst="rect">
            <a:avLst/>
          </a:prstGeom>
          <a:noFill/>
          <a:ln/>
        </p:spPr>
        <p:txBody>
          <a:bodyPr wrap="square" lIns="0" tIns="0" rIns="0" bIns="0" rtlCol="0" anchor="ctr"/>
          <a:lstStyle/>
          <a:p>
            <a:pPr algn="ctr" indent="0" marL="0">
              <a:buNone/>
            </a:pPr>
            <a:r>
              <a:rPr lang="en-US" sz="1500" dirty="0">
                <a:solidFill>
                  <a:srgbClr val="1E2A36"/>
                </a:solidFill>
                <a:latin typeface="Calibri" pitchFamily="34" charset="0"/>
                <a:ea typeface="Calibri" pitchFamily="34" charset="-122"/>
                <a:cs typeface="Calibri" pitchFamily="34" charset="-120"/>
              </a:rPr>
              <a:t>They skim headings and dive into whichever section they doubt. Boring, conventional headings are a navigation aid — use them.</a:t>
            </a:r>
            <a:endParaRPr lang="en-US" sz="1500" dirty="0"/>
          </a:p>
        </p:txBody>
      </p:sp>
      <p:sp>
        <p:nvSpPr>
          <p:cNvPr id="22" name="Shape 17"/>
          <p:cNvSpPr/>
          <p:nvPr/>
        </p:nvSpPr>
        <p:spPr>
          <a:xfrm>
            <a:off x="548640" y="5102352"/>
            <a:ext cx="11064240" cy="1078992"/>
          </a:xfrm>
          <a:prstGeom prst="roundRect">
            <a:avLst>
              <a:gd name="adj" fmla="val 7627"/>
            </a:avLst>
          </a:prstGeom>
          <a:solidFill>
            <a:srgbClr val="14233A"/>
          </a:solidFill>
          <a:ln/>
          <a:effectLst>
            <a:outerShdw sx="100000" sy="100000" kx="0" ky="0" algn="bl" rotWithShape="0" blurRad="88900" dist="38100" dir="5400000">
              <a:srgbClr val="000000">
                <a:alpha val="13000"/>
              </a:srgbClr>
            </a:outerShdw>
          </a:effectLst>
        </p:spPr>
      </p:sp>
      <p:sp>
        <p:nvSpPr>
          <p:cNvPr id="23" name="Shape 18"/>
          <p:cNvSpPr/>
          <p:nvPr/>
        </p:nvSpPr>
        <p:spPr>
          <a:xfrm>
            <a:off x="868680" y="5358384"/>
            <a:ext cx="548640" cy="548640"/>
          </a:xfrm>
          <a:prstGeom prst="ellipse">
            <a:avLst/>
          </a:prstGeom>
          <a:solidFill>
            <a:srgbClr val="E8A33D"/>
          </a:solidFill>
          <a:ln/>
        </p:spPr>
      </p:sp>
      <p:pic>
        <p:nvPicPr>
          <p:cNvPr id="24" name="Image 3" descr="preencoded.png">    </p:cNvPr>
          <p:cNvPicPr>
            <a:picLocks noChangeAspect="1"/>
          </p:cNvPicPr>
          <p:nvPr/>
        </p:nvPicPr>
        <p:blipFill>
          <a:blip r:embed="rId4"/>
          <a:stretch>
            <a:fillRect/>
          </a:stretch>
        </p:blipFill>
        <p:spPr>
          <a:xfrm>
            <a:off x="1016813" y="5506517"/>
            <a:ext cx="252374" cy="252374"/>
          </a:xfrm>
          <a:prstGeom prst="rect">
            <a:avLst/>
          </a:prstGeom>
        </p:spPr>
      </p:pic>
      <p:sp>
        <p:nvSpPr>
          <p:cNvPr id="25" name="Text 19"/>
          <p:cNvSpPr/>
          <p:nvPr/>
        </p:nvSpPr>
        <p:spPr>
          <a:xfrm>
            <a:off x="1627632" y="5102352"/>
            <a:ext cx="9692640" cy="1078992"/>
          </a:xfrm>
          <a:prstGeom prst="rect">
            <a:avLst/>
          </a:prstGeom>
          <a:noFill/>
          <a:ln/>
        </p:spPr>
        <p:txBody>
          <a:bodyPr wrap="square" lIns="0" tIns="0" rIns="0" bIns="0" rtlCol="0" anchor="ctr"/>
          <a:lstStyle/>
          <a:p>
            <a:pPr indent="0" marL="0">
              <a:lnSpc>
                <a:spcPct val="106000"/>
              </a:lnSpc>
              <a:buNone/>
            </a:pPr>
            <a:r>
              <a:rPr lang="en-US" sz="1500" b="1" dirty="0">
                <a:solidFill>
                  <a:srgbClr val="E8A33D"/>
                </a:solidFill>
                <a:latin typeface="Calibri" pitchFamily="34" charset="0"/>
                <a:ea typeface="Calibri" pitchFamily="34" charset="-122"/>
                <a:cs typeface="Calibri" pitchFamily="34" charset="-120"/>
              </a:rPr>
              <a:t>Live test — right now:  </a:t>
            </a:r>
            <a:pPr indent="0" marL="0">
              <a:lnSpc>
                <a:spcPct val="106000"/>
              </a:lnSpc>
              <a:buNone/>
            </a:pPr>
            <a:r>
              <a:rPr lang="en-US" sz="1500" dirty="0">
                <a:solidFill>
                  <a:srgbClr val="FFFFFF"/>
                </a:solidFill>
                <a:latin typeface="Calibri" pitchFamily="34" charset="0"/>
                <a:ea typeface="Calibri" pitchFamily="34" charset="-122"/>
                <a:cs typeface="Calibri" pitchFamily="34" charset="-120"/>
              </a:rPr>
              <a:t>someone reads their problem paragraph aloud. Someone across the room restates it in one sentence.</a:t>
            </a:r>
            <a:endParaRPr lang="en-US" sz="1500" dirty="0"/>
          </a:p>
          <a:p>
            <a:pPr indent="0" marL="0">
              <a:lnSpc>
                <a:spcPct val="106000"/>
              </a:lnSpc>
              <a:buNone/>
            </a:pPr>
            <a:r>
              <a:rPr lang="en-US" sz="1500" dirty="0">
                <a:solidFill>
                  <a:srgbClr val="FFFFFF"/>
                </a:solidFill>
                <a:latin typeface="Calibri" pitchFamily="34" charset="0"/>
                <a:ea typeface="Calibri" pitchFamily="34" charset="-122"/>
                <a:cs typeface="Calibri" pitchFamily="34" charset="-120"/>
              </a:rPr>
              <a:t>If they can't, the section is broken — however clear it is to you.</a:t>
            </a:r>
            <a:endParaRPr lang="en-US" sz="1500" dirty="0"/>
          </a:p>
        </p:txBody>
      </p:sp>
      <p:sp>
        <p:nvSpPr>
          <p:cNvPr id="26"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27"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CHECK 2 · CONTENT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Right altitude — and name your holes</a:t>
            </a:r>
            <a:endParaRPr lang="en-US" sz="3100" dirty="0"/>
          </a:p>
        </p:txBody>
      </p:sp>
      <p:sp>
        <p:nvSpPr>
          <p:cNvPr id="5" name="Shape 3"/>
          <p:cNvSpPr/>
          <p:nvPr/>
        </p:nvSpPr>
        <p:spPr>
          <a:xfrm>
            <a:off x="548640" y="1737360"/>
            <a:ext cx="11064240" cy="1060704"/>
          </a:xfrm>
          <a:prstGeom prst="roundRect">
            <a:avLst>
              <a:gd name="adj" fmla="val 7759"/>
            </a:avLst>
          </a:prstGeom>
          <a:solidFill>
            <a:srgbClr val="E8A33D"/>
          </a:solidFill>
          <a:ln/>
          <a:effectLst>
            <a:outerShdw sx="100000" sy="100000" kx="0" ky="0" algn="bl" rotWithShape="0" blurRad="88900" dist="38100" dir="5400000">
              <a:srgbClr val="000000">
                <a:alpha val="13000"/>
              </a:srgbClr>
            </a:outerShdw>
          </a:effectLst>
        </p:spPr>
      </p:sp>
      <p:sp>
        <p:nvSpPr>
          <p:cNvPr id="6" name="Shape 4"/>
          <p:cNvSpPr/>
          <p:nvPr/>
        </p:nvSpPr>
        <p:spPr>
          <a:xfrm>
            <a:off x="868680" y="1993392"/>
            <a:ext cx="548640" cy="548640"/>
          </a:xfrm>
          <a:prstGeom prst="ellipse">
            <a:avLst/>
          </a:prstGeom>
          <a:solidFill>
            <a:srgbClr val="14233A"/>
          </a:solidFill>
          <a:ln/>
        </p:spPr>
      </p:sp>
      <p:pic>
        <p:nvPicPr>
          <p:cNvPr id="7" name="Image 0" descr="preencoded.png">    </p:cNvPr>
          <p:cNvPicPr>
            <a:picLocks noChangeAspect="1"/>
          </p:cNvPicPr>
          <p:nvPr/>
        </p:nvPicPr>
        <p:blipFill>
          <a:blip r:embed="rId1"/>
          <a:stretch>
            <a:fillRect/>
          </a:stretch>
        </p:blipFill>
        <p:spPr>
          <a:xfrm>
            <a:off x="1016813" y="2141525"/>
            <a:ext cx="252374" cy="252374"/>
          </a:xfrm>
          <a:prstGeom prst="rect">
            <a:avLst/>
          </a:prstGeom>
        </p:spPr>
      </p:pic>
      <p:sp>
        <p:nvSpPr>
          <p:cNvPr id="8" name="Text 5"/>
          <p:cNvSpPr/>
          <p:nvPr/>
        </p:nvSpPr>
        <p:spPr>
          <a:xfrm>
            <a:off x="1627632" y="1737360"/>
            <a:ext cx="9692640" cy="1060704"/>
          </a:xfrm>
          <a:prstGeom prst="rect">
            <a:avLst/>
          </a:prstGeom>
          <a:noFill/>
          <a:ln/>
        </p:spPr>
        <p:txBody>
          <a:bodyPr wrap="square" lIns="0" tIns="0" rIns="0" bIns="0" rtlCol="0" anchor="ctr"/>
          <a:lstStyle/>
          <a:p>
            <a:pPr indent="0" marL="0">
              <a:buNone/>
            </a:pPr>
            <a:r>
              <a:rPr lang="en-US" sz="2600" b="1" dirty="0">
                <a:solidFill>
                  <a:srgbClr val="14233A"/>
                </a:solidFill>
                <a:latin typeface="Cambria" pitchFamily="34" charset="0"/>
                <a:ea typeface="Cambria" pitchFamily="34" charset="-122"/>
                <a:cs typeface="Cambria" pitchFamily="34" charset="-120"/>
              </a:rPr>
              <a:t>Name the stack. Don't draw the schema.</a:t>
            </a:r>
            <a:endParaRPr lang="en-US" sz="2600" dirty="0"/>
          </a:p>
        </p:txBody>
      </p:sp>
      <p:sp>
        <p:nvSpPr>
          <p:cNvPr id="9" name="Shape 6"/>
          <p:cNvSpPr/>
          <p:nvPr/>
        </p:nvSpPr>
        <p:spPr>
          <a:xfrm>
            <a:off x="548640" y="2962656"/>
            <a:ext cx="5440680" cy="2011680"/>
          </a:xfrm>
          <a:prstGeom prst="roundRect">
            <a:avLst>
              <a:gd name="adj" fmla="val 4091"/>
            </a:avLst>
          </a:prstGeom>
          <a:solidFill>
            <a:srgbClr val="EAF4EE"/>
          </a:solidFill>
          <a:ln/>
          <a:effectLst>
            <a:outerShdw sx="100000" sy="100000" kx="0" ky="0" algn="bl" rotWithShape="0" blurRad="88900" dist="38100" dir="5400000">
              <a:srgbClr val="000000">
                <a:alpha val="13000"/>
              </a:srgbClr>
            </a:outerShdw>
          </a:effectLst>
        </p:spPr>
      </p:sp>
      <p:sp>
        <p:nvSpPr>
          <p:cNvPr id="10" name="Text 7"/>
          <p:cNvSpPr/>
          <p:nvPr/>
        </p:nvSpPr>
        <p:spPr>
          <a:xfrm>
            <a:off x="841248" y="3127248"/>
            <a:ext cx="4846320" cy="384048"/>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Belongs in the proposal</a:t>
            </a:r>
            <a:endParaRPr lang="en-US" sz="1600" dirty="0"/>
          </a:p>
        </p:txBody>
      </p:sp>
      <p:sp>
        <p:nvSpPr>
          <p:cNvPr id="11" name="Text 8"/>
          <p:cNvSpPr/>
          <p:nvPr/>
        </p:nvSpPr>
        <p:spPr>
          <a:xfrm>
            <a:off x="841248" y="3584448"/>
            <a:ext cx="4846320" cy="1207008"/>
          </a:xfrm>
          <a:prstGeom prst="rect">
            <a:avLst/>
          </a:prstGeom>
          <a:noFill/>
          <a:ln/>
        </p:spPr>
        <p:txBody>
          <a:bodyPr wrap="square" lIns="0" tIns="0" rIns="0" bIns="0" rtlCol="0" anchor="t"/>
          <a:lstStyle/>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“Django + Postgres — the data is relational and the admin gives the wardrobe lead a repair tool for free.”</a:t>
            </a:r>
            <a:endParaRPr lang="en-US" sz="1500" dirty="0"/>
          </a:p>
        </p:txBody>
      </p:sp>
      <p:sp>
        <p:nvSpPr>
          <p:cNvPr id="12" name="Shape 9"/>
          <p:cNvSpPr/>
          <p:nvPr/>
        </p:nvSpPr>
        <p:spPr>
          <a:xfrm>
            <a:off x="6172200" y="2962656"/>
            <a:ext cx="5440680" cy="2011680"/>
          </a:xfrm>
          <a:prstGeom prst="roundRect">
            <a:avLst>
              <a:gd name="adj" fmla="val 4091"/>
            </a:avLst>
          </a:prstGeom>
          <a:solidFill>
            <a:srgbClr val="FBECE8"/>
          </a:solidFill>
          <a:ln/>
          <a:effectLst>
            <a:outerShdw sx="100000" sy="100000" kx="0" ky="0" algn="bl" rotWithShape="0" blurRad="88900" dist="38100" dir="5400000">
              <a:srgbClr val="000000">
                <a:alpha val="13000"/>
              </a:srgbClr>
            </a:outerShdw>
          </a:effectLst>
        </p:spPr>
      </p:sp>
      <p:sp>
        <p:nvSpPr>
          <p:cNvPr id="13" name="Text 10"/>
          <p:cNvSpPr/>
          <p:nvPr/>
        </p:nvSpPr>
        <p:spPr>
          <a:xfrm>
            <a:off x="6464808" y="3127248"/>
            <a:ext cx="4846320" cy="384048"/>
          </a:xfrm>
          <a:prstGeom prst="rect">
            <a:avLst/>
          </a:prstGeom>
          <a:noFill/>
          <a:ln/>
        </p:spPr>
        <p:txBody>
          <a:bodyPr wrap="square" lIns="0" tIns="0" rIns="0" bIns="0" rtlCol="0" anchor="ctr"/>
          <a:lstStyle/>
          <a:p>
            <a:pPr indent="0" marL="0">
              <a:buNone/>
            </a:pPr>
            <a:r>
              <a:rPr lang="en-US" sz="1600" b="1" dirty="0">
                <a:solidFill>
                  <a:srgbClr val="D9614C"/>
                </a:solidFill>
                <a:latin typeface="Calibri" pitchFamily="34" charset="0"/>
                <a:ea typeface="Calibri" pitchFamily="34" charset="-122"/>
                <a:cs typeface="Calibri" pitchFamily="34" charset="-120"/>
              </a:rPr>
              <a:t>Belongs in the Week-6 design doc</a:t>
            </a:r>
            <a:endParaRPr lang="en-US" sz="1600" dirty="0"/>
          </a:p>
        </p:txBody>
      </p:sp>
      <p:sp>
        <p:nvSpPr>
          <p:cNvPr id="14" name="Text 11"/>
          <p:cNvSpPr/>
          <p:nvPr/>
        </p:nvSpPr>
        <p:spPr>
          <a:xfrm>
            <a:off x="6464808" y="3584448"/>
            <a:ext cx="4846320" cy="1207008"/>
          </a:xfrm>
          <a:prstGeom prst="rect">
            <a:avLst/>
          </a:prstGeom>
          <a:noFill/>
          <a:ln/>
        </p:spPr>
        <p:txBody>
          <a:bodyPr wrap="square" lIns="0" tIns="0" rIns="0" bIns="0" rtlCol="0" anchor="t"/>
          <a:lstStyle/>
          <a:p>
            <a:pPr indent="0" marL="0">
              <a:lnSpc>
                <a:spcPct val="105000"/>
              </a:lnSpc>
              <a:buNone/>
            </a:pPr>
            <a:r>
              <a:rPr lang="en-US" sz="1500" dirty="0">
                <a:solidFill>
                  <a:srgbClr val="1E2A36"/>
                </a:solidFill>
                <a:latin typeface="Calibri" pitchFamily="34" charset="0"/>
                <a:ea typeface="Calibri" pitchFamily="34" charset="-122"/>
                <a:cs typeface="Calibri" pitchFamily="34" charset="-120"/>
              </a:rPr>
              <a:t>Entity-relationship diagrams · table schemas · endpoint lists · class hierarchies · wireframe sets</a:t>
            </a:r>
            <a:endParaRPr lang="en-US" sz="1500" dirty="0"/>
          </a:p>
        </p:txBody>
      </p:sp>
      <p:sp>
        <p:nvSpPr>
          <p:cNvPr id="15" name="Shape 12"/>
          <p:cNvSpPr/>
          <p:nvPr/>
        </p:nvSpPr>
        <p:spPr>
          <a:xfrm>
            <a:off x="548640" y="5138928"/>
            <a:ext cx="11064240" cy="1042416"/>
          </a:xfrm>
          <a:prstGeom prst="roundRect">
            <a:avLst>
              <a:gd name="adj" fmla="val 7895"/>
            </a:avLst>
          </a:prstGeom>
          <a:solidFill>
            <a:srgbClr val="14233A"/>
          </a:solidFill>
          <a:ln/>
          <a:effectLst>
            <a:outerShdw sx="100000" sy="100000" kx="0" ky="0" algn="bl" rotWithShape="0" blurRad="88900" dist="38100" dir="5400000">
              <a:srgbClr val="000000">
                <a:alpha val="13000"/>
              </a:srgbClr>
            </a:outerShdw>
          </a:effectLst>
        </p:spPr>
      </p:sp>
      <p:sp>
        <p:nvSpPr>
          <p:cNvPr id="16" name="Shape 13"/>
          <p:cNvSpPr/>
          <p:nvPr/>
        </p:nvSpPr>
        <p:spPr>
          <a:xfrm>
            <a:off x="868680" y="5394960"/>
            <a:ext cx="530352" cy="530352"/>
          </a:xfrm>
          <a:prstGeom prst="ellipse">
            <a:avLst/>
          </a:prstGeom>
          <a:solidFill>
            <a:srgbClr val="E8A33D"/>
          </a:solidFill>
          <a:ln/>
        </p:spPr>
      </p:sp>
      <p:pic>
        <p:nvPicPr>
          <p:cNvPr id="17" name="Image 1" descr="preencoded.png">    </p:cNvPr>
          <p:cNvPicPr>
            <a:picLocks noChangeAspect="1"/>
          </p:cNvPicPr>
          <p:nvPr/>
        </p:nvPicPr>
        <p:blipFill>
          <a:blip r:embed="rId2"/>
          <a:stretch>
            <a:fillRect/>
          </a:stretch>
        </p:blipFill>
        <p:spPr>
          <a:xfrm>
            <a:off x="1011875" y="5538155"/>
            <a:ext cx="243962" cy="243962"/>
          </a:xfrm>
          <a:prstGeom prst="rect">
            <a:avLst/>
          </a:prstGeom>
        </p:spPr>
      </p:pic>
      <p:sp>
        <p:nvSpPr>
          <p:cNvPr id="18" name="Text 14"/>
          <p:cNvSpPr/>
          <p:nvPr/>
        </p:nvSpPr>
        <p:spPr>
          <a:xfrm>
            <a:off x="1609344" y="5138928"/>
            <a:ext cx="9692640" cy="1042416"/>
          </a:xfrm>
          <a:prstGeom prst="rect">
            <a:avLst/>
          </a:prstGeom>
          <a:noFill/>
          <a:ln/>
        </p:spPr>
        <p:txBody>
          <a:bodyPr wrap="square" lIns="0" tIns="0" rIns="0" bIns="0" rtlCol="0" anchor="ctr"/>
          <a:lstStyle/>
          <a:p>
            <a:pPr indent="0" marL="0">
              <a:lnSpc>
                <a:spcPct val="106000"/>
              </a:lnSpc>
              <a:buNone/>
            </a:pPr>
            <a:r>
              <a:rPr lang="en-US" sz="1500" b="1" dirty="0">
                <a:solidFill>
                  <a:srgbClr val="E8A33D"/>
                </a:solidFill>
                <a:latin typeface="Calibri" pitchFamily="34" charset="0"/>
                <a:ea typeface="Calibri" pitchFamily="34" charset="-122"/>
                <a:cs typeface="Calibri" pitchFamily="34" charset="-120"/>
              </a:rPr>
              <a:t>Name your holes.  </a:t>
            </a:r>
            <a:pPr indent="0" marL="0">
              <a:lnSpc>
                <a:spcPct val="106000"/>
              </a:lnSpc>
              <a:buNone/>
            </a:pPr>
            <a:r>
              <a:rPr lang="en-US" sz="1500" dirty="0">
                <a:solidFill>
                  <a:srgbClr val="FFFFFF"/>
                </a:solidFill>
                <a:latin typeface="Calibri" pitchFamily="34" charset="0"/>
                <a:ea typeface="Calibri" pitchFamily="34" charset="-122"/>
                <a:cs typeface="Calibri" pitchFamily="34" charset="-120"/>
              </a:rPr>
              <a:t>Where information is genuinely missing, say so: “[A] I haven't observed this yet.”</a:t>
            </a:r>
            <a:endParaRPr lang="en-US" sz="1500" dirty="0"/>
          </a:p>
          <a:p>
            <a:pPr indent="0" marL="0">
              <a:lnSpc>
                <a:spcPct val="106000"/>
              </a:lnSpc>
              <a:buNone/>
            </a:pPr>
            <a:r>
              <a:rPr lang="en-US" sz="1500" dirty="0">
                <a:solidFill>
                  <a:srgbClr val="FFFFFF"/>
                </a:solidFill>
                <a:latin typeface="Calibri" pitchFamily="34" charset="0"/>
                <a:ea typeface="Calibri" pitchFamily="34" charset="-122"/>
                <a:cs typeface="Calibri" pitchFamily="34" charset="-120"/>
              </a:rPr>
              <a:t>A named hole is content. A hidden one is a trap that goes off when the reader finds it.</a:t>
            </a:r>
            <a:endParaRPr lang="en-US" sz="1500" dirty="0"/>
          </a:p>
        </p:txBody>
      </p:sp>
      <p:sp>
        <p:nvSpPr>
          <p:cNvPr id="19" name="Text 1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20" name="Text 1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CHECK 3 · CLARITY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topic-sentence test</a:t>
            </a:r>
            <a:endParaRPr lang="en-US" sz="3100" dirty="0"/>
          </a:p>
        </p:txBody>
      </p:sp>
      <p:sp>
        <p:nvSpPr>
          <p:cNvPr id="5" name="Shape 3"/>
          <p:cNvSpPr/>
          <p:nvPr/>
        </p:nvSpPr>
        <p:spPr>
          <a:xfrm>
            <a:off x="548640" y="1719072"/>
            <a:ext cx="11064240" cy="841248"/>
          </a:xfrm>
          <a:prstGeom prst="roundRect">
            <a:avLst>
              <a:gd name="adj" fmla="val 9783"/>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1883664"/>
            <a:ext cx="512064" cy="512064"/>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06937" y="2021921"/>
            <a:ext cx="235549" cy="235549"/>
          </a:xfrm>
          <a:prstGeom prst="rect">
            <a:avLst/>
          </a:prstGeom>
        </p:spPr>
      </p:pic>
      <p:sp>
        <p:nvSpPr>
          <p:cNvPr id="8" name="Text 5"/>
          <p:cNvSpPr/>
          <p:nvPr/>
        </p:nvSpPr>
        <p:spPr>
          <a:xfrm>
            <a:off x="1600200" y="1719072"/>
            <a:ext cx="9738360" cy="8412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Read only your first sentences, in order. Do they make the argument by themselves?</a:t>
            </a:r>
            <a:endParaRPr lang="en-US" sz="1700" dirty="0"/>
          </a:p>
        </p:txBody>
      </p:sp>
      <p:sp>
        <p:nvSpPr>
          <p:cNvPr id="9" name="Shape 6"/>
          <p:cNvSpPr/>
          <p:nvPr/>
        </p:nvSpPr>
        <p:spPr>
          <a:xfrm>
            <a:off x="548640" y="2743200"/>
            <a:ext cx="5440680" cy="2331720"/>
          </a:xfrm>
          <a:prstGeom prst="roundRect">
            <a:avLst>
              <a:gd name="adj" fmla="val 3529"/>
            </a:avLst>
          </a:prstGeom>
          <a:solidFill>
            <a:srgbClr val="EAF4EE"/>
          </a:solidFill>
          <a:ln/>
          <a:effectLst>
            <a:outerShdw sx="100000" sy="100000" kx="0" ky="0" algn="bl" rotWithShape="0" blurRad="88900" dist="38100" dir="5400000">
              <a:srgbClr val="000000">
                <a:alpha val="13000"/>
              </a:srgbClr>
            </a:outerShdw>
          </a:effectLst>
        </p:spPr>
      </p:sp>
      <p:sp>
        <p:nvSpPr>
          <p:cNvPr id="10" name="Text 7"/>
          <p:cNvSpPr/>
          <p:nvPr/>
        </p:nvSpPr>
        <p:spPr>
          <a:xfrm>
            <a:off x="841248" y="2907792"/>
            <a:ext cx="4846320" cy="384048"/>
          </a:xfrm>
          <a:prstGeom prst="rect">
            <a:avLst/>
          </a:prstGeom>
          <a:noFill/>
          <a:ln/>
        </p:spPr>
        <p:txBody>
          <a:bodyPr wrap="square" lIns="0" tIns="0" rIns="0" bIns="0" rtlCol="0" anchor="ctr"/>
          <a:lstStyle/>
          <a:p>
            <a:pPr indent="0" marL="0">
              <a:buNone/>
            </a:pPr>
            <a:r>
              <a:rPr lang="en-US" sz="1500" b="1" dirty="0">
                <a:solidFill>
                  <a:srgbClr val="0E6E6D"/>
                </a:solidFill>
                <a:latin typeface="Calibri" pitchFamily="34" charset="0"/>
                <a:ea typeface="Calibri" pitchFamily="34" charset="-122"/>
                <a:cs typeface="Calibri" pitchFamily="34" charset="-120"/>
              </a:rPr>
              <a:t>Backstage — first sentences: summary · problem · solution</a:t>
            </a:r>
            <a:endParaRPr lang="en-US" sz="1500" dirty="0"/>
          </a:p>
        </p:txBody>
      </p:sp>
      <p:sp>
        <p:nvSpPr>
          <p:cNvPr id="11" name="Text 8"/>
          <p:cNvSpPr/>
          <p:nvPr/>
        </p:nvSpPr>
        <p:spPr>
          <a:xfrm>
            <a:off x="841248" y="3346704"/>
            <a:ext cx="4846320" cy="1572768"/>
          </a:xfrm>
          <a:prstGeom prst="rect">
            <a:avLst/>
          </a:prstGeom>
          <a:noFill/>
          <a:ln/>
        </p:spPr>
        <p:txBody>
          <a:bodyPr wrap="square" lIns="0" tIns="0" rIns="0" bIns="0" rtlCol="0" anchor="t"/>
          <a:lstStyle/>
          <a:p>
            <a:pPr indent="0" marL="0">
              <a:lnSpc>
                <a:spcPct val="105000"/>
              </a:lnSpc>
              <a:spcAft>
                <a:spcPts val="700"/>
              </a:spcAft>
              <a:buNone/>
            </a:pPr>
            <a:r>
              <a:rPr lang="en-US" sz="1500" i="1" dirty="0">
                <a:solidFill>
                  <a:srgbClr val="1E2A36"/>
                </a:solidFill>
                <a:latin typeface="Calibri" pitchFamily="34" charset="0"/>
                <a:ea typeface="Calibri" pitchFamily="34" charset="-122"/>
                <a:cs typeface="Calibri" pitchFamily="34" charset="-120"/>
              </a:rPr>
              <a:t>Volunteer-run community theaters own thousands of costumes and track them in spiral notebooks and one volunteer's memory.</a:t>
            </a:r>
            <a:endParaRPr lang="en-US" sz="1500" dirty="0"/>
          </a:p>
          <a:p>
            <a:pPr indent="0" marL="0">
              <a:lnSpc>
                <a:spcPct val="105000"/>
              </a:lnSpc>
              <a:spcAft>
                <a:spcPts val="700"/>
              </a:spcAft>
              <a:buNone/>
            </a:pPr>
            <a:r>
              <a:rPr lang="en-US" sz="1500" i="1" dirty="0">
                <a:solidFill>
                  <a:srgbClr val="1E2A36"/>
                </a:solidFill>
                <a:latin typeface="Calibri" pitchFamily="34" charset="0"/>
                <a:ea typeface="Calibri" pitchFamily="34" charset="-122"/>
                <a:cs typeface="Calibri" pitchFamily="34" charset="-120"/>
              </a:rPr>
              <a:t>Wardrobe and props volunteers at small, volunteer-run community theaters — one to three people per theater.</a:t>
            </a:r>
            <a:endParaRPr lang="en-US" sz="1500" dirty="0"/>
          </a:p>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A phone-first web catalog for one theater's collection.</a:t>
            </a:r>
            <a:endParaRPr lang="en-US" sz="1500" dirty="0"/>
          </a:p>
        </p:txBody>
      </p:sp>
      <p:sp>
        <p:nvSpPr>
          <p:cNvPr id="12" name="Shape 9"/>
          <p:cNvSpPr/>
          <p:nvPr/>
        </p:nvSpPr>
        <p:spPr>
          <a:xfrm>
            <a:off x="6172200" y="2743200"/>
            <a:ext cx="5440680" cy="2331720"/>
          </a:xfrm>
          <a:prstGeom prst="roundRect">
            <a:avLst>
              <a:gd name="adj" fmla="val 3529"/>
            </a:avLst>
          </a:prstGeom>
          <a:solidFill>
            <a:srgbClr val="FBECE8"/>
          </a:solidFill>
          <a:ln/>
          <a:effectLst>
            <a:outerShdw sx="100000" sy="100000" kx="0" ky="0" algn="bl" rotWithShape="0" blurRad="88900" dist="38100" dir="5400000">
              <a:srgbClr val="000000">
                <a:alpha val="13000"/>
              </a:srgbClr>
            </a:outerShdw>
          </a:effectLst>
        </p:spPr>
      </p:sp>
      <p:sp>
        <p:nvSpPr>
          <p:cNvPr id="13" name="Text 10"/>
          <p:cNvSpPr/>
          <p:nvPr/>
        </p:nvSpPr>
        <p:spPr>
          <a:xfrm>
            <a:off x="6464808" y="2907792"/>
            <a:ext cx="4846320" cy="384048"/>
          </a:xfrm>
          <a:prstGeom prst="rect">
            <a:avLst/>
          </a:prstGeom>
          <a:noFill/>
          <a:ln/>
        </p:spPr>
        <p:txBody>
          <a:bodyPr wrap="square" lIns="0" tIns="0" rIns="0" bIns="0" rtlCol="0" anchor="ctr"/>
          <a:lstStyle/>
          <a:p>
            <a:pPr indent="0" marL="0">
              <a:buNone/>
            </a:pPr>
            <a:r>
              <a:rPr lang="en-US" sz="1500" b="1" dirty="0">
                <a:solidFill>
                  <a:srgbClr val="D9614C"/>
                </a:solidFill>
                <a:latin typeface="Calibri" pitchFamily="34" charset="0"/>
                <a:ea typeface="Calibri" pitchFamily="34" charset="-122"/>
                <a:cs typeface="Calibri" pitchFamily="34" charset="-120"/>
              </a:rPr>
              <a:t>CostumeHub — the same three sentences</a:t>
            </a:r>
            <a:endParaRPr lang="en-US" sz="1500" dirty="0"/>
          </a:p>
        </p:txBody>
      </p:sp>
      <p:sp>
        <p:nvSpPr>
          <p:cNvPr id="14" name="Text 11"/>
          <p:cNvSpPr/>
          <p:nvPr/>
        </p:nvSpPr>
        <p:spPr>
          <a:xfrm>
            <a:off x="6464808" y="3346704"/>
            <a:ext cx="4846320" cy="1572768"/>
          </a:xfrm>
          <a:prstGeom prst="rect">
            <a:avLst/>
          </a:prstGeom>
          <a:noFill/>
          <a:ln/>
        </p:spPr>
        <p:txBody>
          <a:bodyPr wrap="square" lIns="0" tIns="0" rIns="0" bIns="0" rtlCol="0" anchor="t"/>
          <a:lstStyle/>
          <a:p>
            <a:pPr indent="0" marL="0">
              <a:lnSpc>
                <a:spcPct val="105000"/>
              </a:lnSpc>
              <a:spcAft>
                <a:spcPts val="700"/>
              </a:spcAft>
              <a:buNone/>
            </a:pPr>
            <a:r>
              <a:rPr lang="en-US" sz="1500" i="1" dirty="0">
                <a:solidFill>
                  <a:srgbClr val="1E2A36"/>
                </a:solidFill>
                <a:latin typeface="Calibri" pitchFamily="34" charset="0"/>
                <a:ea typeface="Calibri" pitchFamily="34" charset="-122"/>
                <a:cs typeface="Calibri" pitchFamily="34" charset="-120"/>
              </a:rPr>
              <a:t>Costume management is a huge problem for theaters everywhere.</a:t>
            </a:r>
            <a:endParaRPr lang="en-US" sz="1500" dirty="0"/>
          </a:p>
          <a:p>
            <a:pPr indent="0" marL="0">
              <a:lnSpc>
                <a:spcPct val="105000"/>
              </a:lnSpc>
              <a:spcAft>
                <a:spcPts val="700"/>
              </a:spcAft>
              <a:buNone/>
            </a:pPr>
            <a:r>
              <a:rPr lang="en-US" sz="1500" i="1" dirty="0">
                <a:solidFill>
                  <a:srgbClr val="1E2A36"/>
                </a:solidFill>
                <a:latin typeface="Calibri" pitchFamily="34" charset="0"/>
                <a:ea typeface="Calibri" pitchFamily="34" charset="-122"/>
                <a:cs typeface="Calibri" pitchFamily="34" charset="-120"/>
              </a:rPr>
              <a:t>Theaters everywhere struggle to keep track of their costumes.</a:t>
            </a:r>
            <a:endParaRPr lang="en-US" sz="1500" dirty="0"/>
          </a:p>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CostumeHub will be a complete, modern platform for costume management.</a:t>
            </a:r>
            <a:endParaRPr lang="en-US" sz="1500" dirty="0"/>
          </a:p>
        </p:txBody>
      </p:sp>
      <p:sp>
        <p:nvSpPr>
          <p:cNvPr id="15" name="Shape 12"/>
          <p:cNvSpPr/>
          <p:nvPr/>
        </p:nvSpPr>
        <p:spPr>
          <a:xfrm>
            <a:off x="548640" y="5230368"/>
            <a:ext cx="11064240" cy="950976"/>
          </a:xfrm>
          <a:prstGeom prst="roundRect">
            <a:avLst>
              <a:gd name="adj" fmla="val 8654"/>
            </a:avLst>
          </a:prstGeom>
          <a:solidFill>
            <a:srgbClr val="FBEEDA"/>
          </a:solidFill>
          <a:ln/>
          <a:effectLst>
            <a:outerShdw sx="100000" sy="100000" kx="0" ky="0" algn="bl" rotWithShape="0" blurRad="88900" dist="38100" dir="5400000">
              <a:srgbClr val="000000">
                <a:alpha val="13000"/>
              </a:srgbClr>
            </a:outerShdw>
          </a:effectLst>
        </p:spPr>
      </p:sp>
      <p:sp>
        <p:nvSpPr>
          <p:cNvPr id="16" name="Text 13"/>
          <p:cNvSpPr/>
          <p:nvPr/>
        </p:nvSpPr>
        <p:spPr>
          <a:xfrm>
            <a:off x="822960" y="5230368"/>
            <a:ext cx="10515600" cy="950976"/>
          </a:xfrm>
          <a:prstGeom prst="rect">
            <a:avLst/>
          </a:prstGeom>
          <a:noFill/>
          <a:ln/>
        </p:spPr>
        <p:txBody>
          <a:bodyPr wrap="square" lIns="0" tIns="0" rIns="0" bIns="0" rtlCol="0" anchor="ctr"/>
          <a:lstStyle/>
          <a:p>
            <a:pPr algn="ctr" indent="0" marL="0">
              <a:lnSpc>
                <a:spcPct val="105000"/>
              </a:lnSpc>
              <a:buNone/>
            </a:pPr>
            <a:r>
              <a:rPr lang="en-US" sz="1500" b="1" dirty="0">
                <a:solidFill>
                  <a:srgbClr val="0E6E6D"/>
                </a:solidFill>
                <a:latin typeface="Calibri" pitchFamily="34" charset="0"/>
                <a:ea typeface="Calibri" pitchFamily="34" charset="-122"/>
                <a:cs typeface="Calibri" pitchFamily="34" charset="-120"/>
              </a:rPr>
              <a:t>One reads as an argument. One reads as a list of moods.  </a:t>
            </a:r>
            <a:pPr algn="ctr" indent="0" marL="0">
              <a:lnSpc>
                <a:spcPct val="105000"/>
              </a:lnSpc>
              <a:buNone/>
            </a:pPr>
            <a:r>
              <a:rPr lang="en-US" sz="1500" dirty="0">
                <a:solidFill>
                  <a:srgbClr val="1E2A36"/>
                </a:solidFill>
                <a:latin typeface="Calibri" pitchFamily="34" charset="0"/>
                <a:ea typeface="Calibri" pitchFamily="34" charset="-122"/>
                <a:cs typeface="Calibri" pitchFamily="34" charset="-120"/>
              </a:rPr>
              <a:t>If your topic sentences don't carry it, the argument is buried where skimmers will never find it.</a:t>
            </a:r>
            <a:endParaRPr lang="en-US" sz="1500" dirty="0"/>
          </a:p>
        </p:txBody>
      </p:sp>
      <p:sp>
        <p:nvSpPr>
          <p:cNvPr id="17"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18"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CHECK 4 · TONE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Two ways to lose a reader who owes you nothing</a:t>
            </a:r>
            <a:endParaRPr lang="en-US" sz="3100" dirty="0"/>
          </a:p>
        </p:txBody>
      </p:sp>
      <p:sp>
        <p:nvSpPr>
          <p:cNvPr id="5" name="Shape 3"/>
          <p:cNvSpPr/>
          <p:nvPr/>
        </p:nvSpPr>
        <p:spPr>
          <a:xfrm>
            <a:off x="548640" y="1691640"/>
            <a:ext cx="5440680" cy="2286000"/>
          </a:xfrm>
          <a:prstGeom prst="roundRect">
            <a:avLst>
              <a:gd name="adj" fmla="val 3600"/>
            </a:avLst>
          </a:prstGeom>
          <a:solidFill>
            <a:srgbClr val="FBECE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1938528"/>
            <a:ext cx="530352" cy="530352"/>
          </a:xfrm>
          <a:prstGeom prst="ellipse">
            <a:avLst/>
          </a:prstGeom>
          <a:solidFill>
            <a:srgbClr val="D9614C"/>
          </a:solidFill>
          <a:ln/>
        </p:spPr>
      </p:sp>
      <p:pic>
        <p:nvPicPr>
          <p:cNvPr id="7" name="Image 0" descr="preencoded.png">    </p:cNvPr>
          <p:cNvPicPr>
            <a:picLocks noChangeAspect="1"/>
          </p:cNvPicPr>
          <p:nvPr/>
        </p:nvPicPr>
        <p:blipFill>
          <a:blip r:embed="rId1"/>
          <a:stretch>
            <a:fillRect/>
          </a:stretch>
        </p:blipFill>
        <p:spPr>
          <a:xfrm>
            <a:off x="966155" y="2081723"/>
            <a:ext cx="243962" cy="243962"/>
          </a:xfrm>
          <a:prstGeom prst="rect">
            <a:avLst/>
          </a:prstGeom>
        </p:spPr>
      </p:pic>
      <p:sp>
        <p:nvSpPr>
          <p:cNvPr id="8" name="Text 5"/>
          <p:cNvSpPr/>
          <p:nvPr/>
        </p:nvSpPr>
        <p:spPr>
          <a:xfrm>
            <a:off x="1517904" y="1975104"/>
            <a:ext cx="4023360" cy="457200"/>
          </a:xfrm>
          <a:prstGeom prst="rect">
            <a:avLst/>
          </a:prstGeom>
          <a:noFill/>
          <a:ln/>
        </p:spPr>
        <p:txBody>
          <a:bodyPr wrap="square" lIns="0" tIns="0" rIns="0" bIns="0" rtlCol="0" anchor="ctr"/>
          <a:lstStyle/>
          <a:p>
            <a:pPr indent="0" marL="0">
              <a:buNone/>
            </a:pPr>
            <a:r>
              <a:rPr lang="en-US" sz="1800" b="1" dirty="0">
                <a:solidFill>
                  <a:srgbClr val="D9614C"/>
                </a:solidFill>
                <a:latin typeface="Calibri" pitchFamily="34" charset="0"/>
                <a:ea typeface="Calibri" pitchFamily="34" charset="-122"/>
                <a:cs typeface="Calibri" pitchFamily="34" charset="-120"/>
              </a:rPr>
              <a:t>Too salesy</a:t>
            </a:r>
            <a:endParaRPr lang="en-US" sz="1800" dirty="0"/>
          </a:p>
        </p:txBody>
      </p:sp>
      <p:sp>
        <p:nvSpPr>
          <p:cNvPr id="9" name="Text 6"/>
          <p:cNvSpPr/>
          <p:nvPr/>
        </p:nvSpPr>
        <p:spPr>
          <a:xfrm>
            <a:off x="868680" y="2615184"/>
            <a:ext cx="4846320" cy="1188720"/>
          </a:xfrm>
          <a:prstGeom prst="rect">
            <a:avLst/>
          </a:prstGeom>
          <a:noFill/>
          <a:ln/>
        </p:spPr>
        <p:txBody>
          <a:bodyPr wrap="square" lIns="0" tIns="0" rIns="0" bIns="0" rtlCol="0" anchor="t"/>
          <a:lstStyle/>
          <a:p>
            <a:pPr indent="0" marL="0">
              <a:lnSpc>
                <a:spcPct val="106000"/>
              </a:lnSpc>
              <a:buNone/>
            </a:pPr>
            <a:r>
              <a:rPr lang="en-US" sz="1500" dirty="0">
                <a:solidFill>
                  <a:srgbClr val="1E2A36"/>
                </a:solidFill>
                <a:latin typeface="Calibri" pitchFamily="34" charset="0"/>
                <a:ea typeface="Calibri" pitchFamily="34" charset="-122"/>
                <a:cs typeface="Calibri" pitchFamily="34" charset="-120"/>
              </a:rPr>
              <a:t>“revolutionize” · “seamless” · “game-changing”</a:t>
            </a:r>
            <a:endParaRPr lang="en-US" sz="1500" dirty="0"/>
          </a:p>
          <a:p>
            <a:pPr indent="0" marL="0">
              <a:lnSpc>
                <a:spcPct val="106000"/>
              </a:lnSpc>
              <a:buNone/>
            </a:pPr>
            <a:r>
              <a:rPr lang="en-US" sz="1500" dirty="0">
                <a:solidFill>
                  <a:srgbClr val="1E2A36"/>
                </a:solidFill>
                <a:latin typeface="Calibri" pitchFamily="34" charset="0"/>
                <a:ea typeface="Calibri" pitchFamily="34" charset="-122"/>
                <a:cs typeface="Calibri" pitchFamily="34" charset="-120"/>
              </a:rPr>
              <a:t>Reads as compensation for missing evidence.</a:t>
            </a:r>
            <a:endParaRPr lang="en-US" sz="1500" dirty="0"/>
          </a:p>
        </p:txBody>
      </p:sp>
      <p:sp>
        <p:nvSpPr>
          <p:cNvPr id="10" name="Shape 7"/>
          <p:cNvSpPr/>
          <p:nvPr/>
        </p:nvSpPr>
        <p:spPr>
          <a:xfrm>
            <a:off x="6172200" y="1691640"/>
            <a:ext cx="5440680" cy="2286000"/>
          </a:xfrm>
          <a:prstGeom prst="roundRect">
            <a:avLst>
              <a:gd name="adj" fmla="val 3600"/>
            </a:avLst>
          </a:prstGeom>
          <a:solidFill>
            <a:srgbClr val="FBECE8"/>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1938528"/>
            <a:ext cx="530352" cy="530352"/>
          </a:xfrm>
          <a:prstGeom prst="ellipse">
            <a:avLst/>
          </a:prstGeom>
          <a:solidFill>
            <a:srgbClr val="5F7284"/>
          </a:solidFill>
          <a:ln/>
        </p:spPr>
      </p:sp>
      <p:pic>
        <p:nvPicPr>
          <p:cNvPr id="12" name="Image 1" descr="preencoded.png">    </p:cNvPr>
          <p:cNvPicPr>
            <a:picLocks noChangeAspect="1"/>
          </p:cNvPicPr>
          <p:nvPr/>
        </p:nvPicPr>
        <p:blipFill>
          <a:blip r:embed="rId2"/>
          <a:stretch>
            <a:fillRect/>
          </a:stretch>
        </p:blipFill>
        <p:spPr>
          <a:xfrm>
            <a:off x="6589715" y="2081723"/>
            <a:ext cx="243962" cy="243962"/>
          </a:xfrm>
          <a:prstGeom prst="rect">
            <a:avLst/>
          </a:prstGeom>
        </p:spPr>
      </p:pic>
      <p:sp>
        <p:nvSpPr>
          <p:cNvPr id="13" name="Text 9"/>
          <p:cNvSpPr/>
          <p:nvPr/>
        </p:nvSpPr>
        <p:spPr>
          <a:xfrm>
            <a:off x="7141464" y="1975104"/>
            <a:ext cx="4023360" cy="457200"/>
          </a:xfrm>
          <a:prstGeom prst="rect">
            <a:avLst/>
          </a:prstGeom>
          <a:noFill/>
          <a:ln/>
        </p:spPr>
        <p:txBody>
          <a:bodyPr wrap="square" lIns="0" tIns="0" rIns="0" bIns="0" rtlCol="0" anchor="ctr"/>
          <a:lstStyle/>
          <a:p>
            <a:pPr indent="0" marL="0">
              <a:buNone/>
            </a:pPr>
            <a:r>
              <a:rPr lang="en-US" sz="1800" b="1" dirty="0">
                <a:solidFill>
                  <a:srgbClr val="5F7284"/>
                </a:solidFill>
                <a:latin typeface="Calibri" pitchFamily="34" charset="0"/>
                <a:ea typeface="Calibri" pitchFamily="34" charset="-122"/>
                <a:cs typeface="Calibri" pitchFamily="34" charset="-120"/>
              </a:rPr>
              <a:t>Too apologetic</a:t>
            </a:r>
            <a:endParaRPr lang="en-US" sz="1800" dirty="0"/>
          </a:p>
        </p:txBody>
      </p:sp>
      <p:sp>
        <p:nvSpPr>
          <p:cNvPr id="14" name="Text 10"/>
          <p:cNvSpPr/>
          <p:nvPr/>
        </p:nvSpPr>
        <p:spPr>
          <a:xfrm>
            <a:off x="6492240" y="2615184"/>
            <a:ext cx="4846320" cy="1188720"/>
          </a:xfrm>
          <a:prstGeom prst="rect">
            <a:avLst/>
          </a:prstGeom>
          <a:noFill/>
          <a:ln/>
        </p:spPr>
        <p:txBody>
          <a:bodyPr wrap="square" lIns="0" tIns="0" rIns="0" bIns="0" rtlCol="0" anchor="t"/>
          <a:lstStyle/>
          <a:p>
            <a:pPr indent="0" marL="0">
              <a:lnSpc>
                <a:spcPct val="106000"/>
              </a:lnSpc>
              <a:buNone/>
            </a:pPr>
            <a:r>
              <a:rPr lang="en-US" sz="1500" dirty="0">
                <a:solidFill>
                  <a:srgbClr val="1E2A36"/>
                </a:solidFill>
                <a:latin typeface="Calibri" pitchFamily="34" charset="0"/>
                <a:ea typeface="Calibri" pitchFamily="34" charset="-122"/>
                <a:cs typeface="Calibri" pitchFamily="34" charset="-120"/>
              </a:rPr>
              <a:t>“I hope to maybe attempt…”</a:t>
            </a:r>
            <a:endParaRPr lang="en-US" sz="1500" dirty="0"/>
          </a:p>
          <a:p>
            <a:pPr indent="0" marL="0">
              <a:lnSpc>
                <a:spcPct val="106000"/>
              </a:lnSpc>
              <a:buNone/>
            </a:pPr>
            <a:r>
              <a:rPr lang="en-US" sz="1500" dirty="0">
                <a:solidFill>
                  <a:srgbClr val="1E2A36"/>
                </a:solidFill>
                <a:latin typeface="Calibri" pitchFamily="34" charset="0"/>
                <a:ea typeface="Calibri" pitchFamily="34" charset="-122"/>
                <a:cs typeface="Calibri" pitchFamily="34" charset="-120"/>
              </a:rPr>
              <a:t>Invites doubt before the argument even starts.</a:t>
            </a:r>
            <a:endParaRPr lang="en-US" sz="1500" dirty="0"/>
          </a:p>
        </p:txBody>
      </p:sp>
      <p:sp>
        <p:nvSpPr>
          <p:cNvPr id="15" name="Shape 11"/>
          <p:cNvSpPr/>
          <p:nvPr/>
        </p:nvSpPr>
        <p:spPr>
          <a:xfrm>
            <a:off x="548640" y="4133088"/>
            <a:ext cx="11064240" cy="1325880"/>
          </a:xfrm>
          <a:prstGeom prst="roundRect">
            <a:avLst>
              <a:gd name="adj" fmla="val 6207"/>
            </a:avLst>
          </a:prstGeom>
          <a:solidFill>
            <a:srgbClr val="EAF4EE"/>
          </a:solidFill>
          <a:ln/>
          <a:effectLst>
            <a:outerShdw sx="100000" sy="100000" kx="0" ky="0" algn="bl" rotWithShape="0" blurRad="88900" dist="38100" dir="5400000">
              <a:srgbClr val="000000">
                <a:alpha val="13000"/>
              </a:srgbClr>
            </a:outerShdw>
          </a:effectLst>
        </p:spPr>
      </p:sp>
      <p:sp>
        <p:nvSpPr>
          <p:cNvPr id="16" name="Shape 12"/>
          <p:cNvSpPr/>
          <p:nvPr/>
        </p:nvSpPr>
        <p:spPr>
          <a:xfrm>
            <a:off x="868680" y="4443984"/>
            <a:ext cx="658368" cy="658368"/>
          </a:xfrm>
          <a:prstGeom prst="ellipse">
            <a:avLst/>
          </a:prstGeom>
          <a:solidFill>
            <a:srgbClr val="3E9C6B"/>
          </a:solidFill>
          <a:ln/>
        </p:spPr>
      </p:sp>
      <p:pic>
        <p:nvPicPr>
          <p:cNvPr id="17" name="Image 2" descr="preencoded.png">    </p:cNvPr>
          <p:cNvPicPr>
            <a:picLocks noChangeAspect="1"/>
          </p:cNvPicPr>
          <p:nvPr/>
        </p:nvPicPr>
        <p:blipFill>
          <a:blip r:embed="rId3"/>
          <a:stretch>
            <a:fillRect/>
          </a:stretch>
        </p:blipFill>
        <p:spPr>
          <a:xfrm>
            <a:off x="1046439" y="4621743"/>
            <a:ext cx="302849" cy="302849"/>
          </a:xfrm>
          <a:prstGeom prst="rect">
            <a:avLst/>
          </a:prstGeom>
        </p:spPr>
      </p:pic>
      <p:sp>
        <p:nvSpPr>
          <p:cNvPr id="18" name="Text 13"/>
          <p:cNvSpPr/>
          <p:nvPr/>
        </p:nvSpPr>
        <p:spPr>
          <a:xfrm>
            <a:off x="1783080" y="4133088"/>
            <a:ext cx="9601200" cy="1325880"/>
          </a:xfrm>
          <a:prstGeom prst="rect">
            <a:avLst/>
          </a:prstGeom>
          <a:noFill/>
          <a:ln/>
        </p:spPr>
        <p:txBody>
          <a:bodyPr wrap="square" lIns="0" tIns="0" rIns="0" bIns="0" rtlCol="0" anchor="ctr"/>
          <a:lstStyle/>
          <a:p>
            <a:pPr indent="0" marL="0">
              <a:lnSpc>
                <a:spcPct val="105000"/>
              </a:lnSpc>
              <a:buNone/>
            </a:pPr>
            <a:r>
              <a:rPr lang="en-US" sz="1700" b="1" dirty="0">
                <a:solidFill>
                  <a:srgbClr val="0E6E6D"/>
                </a:solidFill>
                <a:latin typeface="Calibri" pitchFamily="34" charset="0"/>
                <a:ea typeface="Calibri" pitchFamily="34" charset="-122"/>
                <a:cs typeface="Calibri" pitchFamily="34" charset="-120"/>
              </a:rPr>
              <a:t>Honest confidence:  </a:t>
            </a:r>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here's what I know · here's what I must learn, and my plan · here's what I've cut.</a:t>
            </a:r>
            <a:endParaRPr lang="en-US" sz="1700" dirty="0"/>
          </a:p>
        </p:txBody>
      </p:sp>
      <p:sp>
        <p:nvSpPr>
          <p:cNvPr id="19" name="Shape 14"/>
          <p:cNvSpPr/>
          <p:nvPr/>
        </p:nvSpPr>
        <p:spPr>
          <a:xfrm>
            <a:off x="548640" y="5614416"/>
            <a:ext cx="11064240" cy="658368"/>
          </a:xfrm>
          <a:prstGeom prst="roundRect">
            <a:avLst>
              <a:gd name="adj" fmla="val 12500"/>
            </a:avLst>
          </a:prstGeom>
          <a:solidFill>
            <a:srgbClr val="14233A"/>
          </a:solidFill>
          <a:ln/>
          <a:effectLst>
            <a:outerShdw sx="100000" sy="100000" kx="0" ky="0" algn="bl" rotWithShape="0" blurRad="88900" dist="38100" dir="5400000">
              <a:srgbClr val="000000">
                <a:alpha val="13000"/>
              </a:srgbClr>
            </a:outerShdw>
          </a:effectLst>
        </p:spPr>
      </p:sp>
      <p:sp>
        <p:nvSpPr>
          <p:cNvPr id="20" name="Text 15"/>
          <p:cNvSpPr/>
          <p:nvPr/>
        </p:nvSpPr>
        <p:spPr>
          <a:xfrm>
            <a:off x="822960" y="5614416"/>
            <a:ext cx="10515600" cy="658368"/>
          </a:xfrm>
          <a:prstGeom prst="rect">
            <a:avLst/>
          </a:prstGeom>
          <a:noFill/>
          <a:ln/>
        </p:spPr>
        <p:txBody>
          <a:bodyPr wrap="square" lIns="0" tIns="0" rIns="0" bIns="0" rtlCol="0" anchor="ctr"/>
          <a:lstStyle/>
          <a:p>
            <a:pPr algn="ctr" indent="0" marL="0">
              <a:buNone/>
            </a:pPr>
            <a:r>
              <a:rPr lang="en-US" sz="1450" b="1" dirty="0">
                <a:solidFill>
                  <a:srgbClr val="E8A33D"/>
                </a:solidFill>
                <a:latin typeface="Calibri" pitchFamily="34" charset="0"/>
                <a:ea typeface="Calibri" pitchFamily="34" charset="-122"/>
                <a:cs typeface="Calibri" pitchFamily="34" charset="-120"/>
              </a:rPr>
              <a:t>Evidence beats adjectives.  </a:t>
            </a:r>
            <a:pPr algn="ctr" indent="0" marL="0">
              <a:buNone/>
            </a:pPr>
            <a:r>
              <a:rPr lang="en-US" sz="1450" dirty="0">
                <a:solidFill>
                  <a:srgbClr val="FFFFFF"/>
                </a:solidFill>
                <a:latin typeface="Calibri" pitchFamily="34" charset="0"/>
                <a:ea typeface="Calibri" pitchFamily="34" charset="-122"/>
                <a:cs typeface="Calibri" pitchFamily="34" charset="-120"/>
              </a:rPr>
              <a:t>“Three of four wardrobe volunteers described the same twenty-minute walk to the racks” persuades. “This is a huge problem” doesn't.</a:t>
            </a:r>
            <a:endParaRPr lang="en-US" sz="1450" dirty="0"/>
          </a:p>
        </p:txBody>
      </p:sp>
      <p:sp>
        <p:nvSpPr>
          <p:cNvPr id="21" name="Text 16"/>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22" name="Text 1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DISSECTION · 22 MINUTES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Same project. Two proposals.</a:t>
            </a:r>
            <a:endParaRPr lang="en-US" sz="3100" dirty="0"/>
          </a:p>
        </p:txBody>
      </p:sp>
      <p:sp>
        <p:nvSpPr>
          <p:cNvPr id="5" name="Shape 3"/>
          <p:cNvSpPr/>
          <p:nvPr/>
        </p:nvSpPr>
        <p:spPr>
          <a:xfrm>
            <a:off x="548640" y="1719072"/>
            <a:ext cx="11064240" cy="960120"/>
          </a:xfrm>
          <a:prstGeom prst="roundRect">
            <a:avLst>
              <a:gd name="adj" fmla="val 8571"/>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1920240"/>
            <a:ext cx="548640" cy="548640"/>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16813" y="2068373"/>
            <a:ext cx="252374" cy="252374"/>
          </a:xfrm>
          <a:prstGeom prst="rect">
            <a:avLst/>
          </a:prstGeom>
        </p:spPr>
      </p:pic>
      <p:sp>
        <p:nvSpPr>
          <p:cNvPr id="8" name="Text 5"/>
          <p:cNvSpPr/>
          <p:nvPr/>
        </p:nvSpPr>
        <p:spPr>
          <a:xfrm>
            <a:off x="1627632" y="1719072"/>
            <a:ext cx="9692640" cy="960120"/>
          </a:xfrm>
          <a:prstGeom prst="rect">
            <a:avLst/>
          </a:prstGeom>
          <a:noFill/>
          <a:ln/>
        </p:spPr>
        <p:txBody>
          <a:bodyPr wrap="square" lIns="0" tIns="0" rIns="0" bIns="0" rtlCol="0" anchor="ctr"/>
          <a:lstStyle/>
          <a:p>
            <a:pPr indent="0" marL="0">
              <a:lnSpc>
                <a:spcPct val="104000"/>
              </a:lnSpc>
              <a:buNone/>
            </a:pPr>
            <a:r>
              <a:rPr lang="en-US" sz="1600" dirty="0">
                <a:solidFill>
                  <a:srgbClr val="CFE0E9"/>
                </a:solidFill>
                <a:latin typeface="Calibri" pitchFamily="34" charset="0"/>
                <a:ea typeface="Calibri" pitchFamily="34" charset="-122"/>
                <a:cs typeface="Calibri" pitchFamily="34" charset="-120"/>
              </a:rPr>
              <a:t>The project, both times: a phone-first catalog of one community theater's costumes and props — search what you own, see a photo and a bin, check items in and out. Volunteer-run, no IT staff. Same idea, same effort level; the difference is discovery and cutting.</a:t>
            </a:r>
            <a:endParaRPr lang="en-US" sz="1600" dirty="0"/>
          </a:p>
        </p:txBody>
      </p:sp>
      <p:sp>
        <p:nvSpPr>
          <p:cNvPr id="9" name="Shape 6"/>
          <p:cNvSpPr/>
          <p:nvPr/>
        </p:nvSpPr>
        <p:spPr>
          <a:xfrm>
            <a:off x="548640" y="2880360"/>
            <a:ext cx="5440680" cy="1463040"/>
          </a:xfrm>
          <a:prstGeom prst="roundRect">
            <a:avLst>
              <a:gd name="adj" fmla="val 5625"/>
            </a:avLst>
          </a:prstGeom>
          <a:solidFill>
            <a:srgbClr val="FBECE8"/>
          </a:solidFill>
          <a:ln/>
          <a:effectLst>
            <a:outerShdw sx="100000" sy="100000" kx="0" ky="0" algn="bl" rotWithShape="0" blurRad="88900" dist="38100" dir="5400000">
              <a:srgbClr val="000000">
                <a:alpha val="13000"/>
              </a:srgbClr>
            </a:outerShdw>
          </a:effectLst>
        </p:spPr>
      </p:sp>
      <p:sp>
        <p:nvSpPr>
          <p:cNvPr id="10" name="Text 7"/>
          <p:cNvSpPr/>
          <p:nvPr/>
        </p:nvSpPr>
        <p:spPr>
          <a:xfrm>
            <a:off x="841248" y="3017520"/>
            <a:ext cx="4846320" cy="457200"/>
          </a:xfrm>
          <a:prstGeom prst="rect">
            <a:avLst/>
          </a:prstGeom>
          <a:noFill/>
          <a:ln/>
        </p:spPr>
        <p:txBody>
          <a:bodyPr wrap="square" lIns="0" tIns="0" rIns="0" bIns="0" rtlCol="0" anchor="ctr"/>
          <a:lstStyle/>
          <a:p>
            <a:pPr indent="0" marL="0">
              <a:buNone/>
            </a:pPr>
            <a:r>
              <a:rPr lang="en-US" sz="2200" b="1" dirty="0">
                <a:solidFill>
                  <a:srgbClr val="D9614C"/>
                </a:solidFill>
                <a:latin typeface="Cambria" pitchFamily="34" charset="0"/>
                <a:ea typeface="Cambria" pitchFamily="34" charset="-122"/>
                <a:cs typeface="Cambria" pitchFamily="34" charset="-120"/>
              </a:rPr>
              <a:t>CostumeHub</a:t>
            </a:r>
            <a:endParaRPr lang="en-US" sz="2200" dirty="0"/>
          </a:p>
        </p:txBody>
      </p:sp>
      <p:sp>
        <p:nvSpPr>
          <p:cNvPr id="11" name="Text 8"/>
          <p:cNvSpPr/>
          <p:nvPr/>
        </p:nvSpPr>
        <p:spPr>
          <a:xfrm>
            <a:off x="841248" y="3529584"/>
            <a:ext cx="4846320" cy="640080"/>
          </a:xfrm>
          <a:prstGeom prst="rect">
            <a:avLst/>
          </a:prstGeom>
          <a:noFill/>
          <a:ln/>
        </p:spPr>
        <p:txBody>
          <a:bodyPr wrap="square" lIns="0" tIns="0" rIns="0" bIns="0" rtlCol="0" anchor="t"/>
          <a:lstStyle/>
          <a:p>
            <a:pPr indent="0" marL="0">
              <a:buNone/>
            </a:pPr>
            <a:r>
              <a:rPr lang="en-US" sz="1500" dirty="0">
                <a:solidFill>
                  <a:srgbClr val="1E2A36"/>
                </a:solidFill>
                <a:latin typeface="Calibri" pitchFamily="34" charset="0"/>
                <a:ea typeface="Calibri" pitchFamily="34" charset="-122"/>
                <a:cs typeface="Calibri" pitchFamily="34" charset="-120"/>
              </a:rPr>
              <a:t>The one you read. Skipped discovery, cut nothing.</a:t>
            </a:r>
            <a:endParaRPr lang="en-US" sz="1500" dirty="0"/>
          </a:p>
        </p:txBody>
      </p:sp>
      <p:sp>
        <p:nvSpPr>
          <p:cNvPr id="12" name="Shape 9"/>
          <p:cNvSpPr/>
          <p:nvPr/>
        </p:nvSpPr>
        <p:spPr>
          <a:xfrm>
            <a:off x="6172200" y="2880360"/>
            <a:ext cx="5440680" cy="1463040"/>
          </a:xfrm>
          <a:prstGeom prst="roundRect">
            <a:avLst>
              <a:gd name="adj" fmla="val 5625"/>
            </a:avLst>
          </a:prstGeom>
          <a:solidFill>
            <a:srgbClr val="EAF4EE"/>
          </a:solidFill>
          <a:ln/>
          <a:effectLst>
            <a:outerShdw sx="100000" sy="100000" kx="0" ky="0" algn="bl" rotWithShape="0" blurRad="88900" dist="38100" dir="5400000">
              <a:srgbClr val="000000">
                <a:alpha val="13000"/>
              </a:srgbClr>
            </a:outerShdw>
          </a:effectLst>
        </p:spPr>
      </p:sp>
      <p:sp>
        <p:nvSpPr>
          <p:cNvPr id="13" name="Text 10"/>
          <p:cNvSpPr/>
          <p:nvPr/>
        </p:nvSpPr>
        <p:spPr>
          <a:xfrm>
            <a:off x="6464808" y="3017520"/>
            <a:ext cx="4846320" cy="457200"/>
          </a:xfrm>
          <a:prstGeom prst="rect">
            <a:avLst/>
          </a:prstGeom>
          <a:noFill/>
          <a:ln/>
        </p:spPr>
        <p:txBody>
          <a:bodyPr wrap="square" lIns="0" tIns="0" rIns="0" bIns="0" rtlCol="0" anchor="ctr"/>
          <a:lstStyle/>
          <a:p>
            <a:pPr indent="0" marL="0">
              <a:buNone/>
            </a:pPr>
            <a:r>
              <a:rPr lang="en-US" sz="2200" b="1" dirty="0">
                <a:solidFill>
                  <a:srgbClr val="0E6E6D"/>
                </a:solidFill>
                <a:latin typeface="Cambria" pitchFamily="34" charset="0"/>
                <a:ea typeface="Cambria" pitchFamily="34" charset="-122"/>
                <a:cs typeface="Cambria" pitchFamily="34" charset="-120"/>
              </a:rPr>
              <a:t>Backstage</a:t>
            </a:r>
            <a:endParaRPr lang="en-US" sz="2200" dirty="0"/>
          </a:p>
        </p:txBody>
      </p:sp>
      <p:sp>
        <p:nvSpPr>
          <p:cNvPr id="14" name="Text 11"/>
          <p:cNvSpPr/>
          <p:nvPr/>
        </p:nvSpPr>
        <p:spPr>
          <a:xfrm>
            <a:off x="6464808" y="3529584"/>
            <a:ext cx="4846320" cy="640080"/>
          </a:xfrm>
          <a:prstGeom prst="rect">
            <a:avLst/>
          </a:prstGeom>
          <a:noFill/>
          <a:ln/>
        </p:spPr>
        <p:txBody>
          <a:bodyPr wrap="square" lIns="0" tIns="0" rIns="0" bIns="0" rtlCol="0" anchor="t"/>
          <a:lstStyle/>
          <a:p>
            <a:pPr indent="0" marL="0">
              <a:buNone/>
            </a:pPr>
            <a:r>
              <a:rPr lang="en-US" sz="1500" dirty="0">
                <a:solidFill>
                  <a:srgbClr val="1E2A36"/>
                </a:solidFill>
                <a:latin typeface="Calibri" pitchFamily="34" charset="0"/>
                <a:ea typeface="Calibri" pitchFamily="34" charset="-122"/>
                <a:cs typeface="Calibri" pitchFamily="34" charset="-120"/>
              </a:rPr>
              <a:t>Four interviews, one observation, one spike, five cuts.</a:t>
            </a:r>
            <a:endParaRPr lang="en-US" sz="1500" dirty="0"/>
          </a:p>
        </p:txBody>
      </p:sp>
      <p:sp>
        <p:nvSpPr>
          <p:cNvPr id="15" name="Shape 12"/>
          <p:cNvSpPr/>
          <p:nvPr/>
        </p:nvSpPr>
        <p:spPr>
          <a:xfrm>
            <a:off x="548640" y="4526280"/>
            <a:ext cx="11064240" cy="960120"/>
          </a:xfrm>
          <a:prstGeom prst="roundRect">
            <a:avLst>
              <a:gd name="adj" fmla="val 8571"/>
            </a:avLst>
          </a:prstGeom>
          <a:solidFill>
            <a:srgbClr val="F2F6F8"/>
          </a:solidFill>
          <a:ln/>
          <a:effectLst>
            <a:outerShdw sx="100000" sy="100000" kx="0" ky="0" algn="bl" rotWithShape="0" blurRad="88900" dist="38100" dir="5400000">
              <a:srgbClr val="000000">
                <a:alpha val="13000"/>
              </a:srgbClr>
            </a:outerShdw>
          </a:effectLst>
        </p:spPr>
      </p:sp>
      <p:sp>
        <p:nvSpPr>
          <p:cNvPr id="16" name="Shape 13"/>
          <p:cNvSpPr/>
          <p:nvPr/>
        </p:nvSpPr>
        <p:spPr>
          <a:xfrm>
            <a:off x="868680" y="4736592"/>
            <a:ext cx="530352" cy="530352"/>
          </a:xfrm>
          <a:prstGeom prst="ellipse">
            <a:avLst/>
          </a:prstGeom>
          <a:solidFill>
            <a:srgbClr val="12908F"/>
          </a:solidFill>
          <a:ln/>
        </p:spPr>
      </p:sp>
      <p:pic>
        <p:nvPicPr>
          <p:cNvPr id="17" name="Image 1" descr="preencoded.png">    </p:cNvPr>
          <p:cNvPicPr>
            <a:picLocks noChangeAspect="1"/>
          </p:cNvPicPr>
          <p:nvPr/>
        </p:nvPicPr>
        <p:blipFill>
          <a:blip r:embed="rId2"/>
          <a:stretch>
            <a:fillRect/>
          </a:stretch>
        </p:blipFill>
        <p:spPr>
          <a:xfrm>
            <a:off x="1011875" y="4879787"/>
            <a:ext cx="243962" cy="243962"/>
          </a:xfrm>
          <a:prstGeom prst="rect">
            <a:avLst/>
          </a:prstGeom>
        </p:spPr>
      </p:pic>
      <p:sp>
        <p:nvSpPr>
          <p:cNvPr id="18" name="Text 14"/>
          <p:cNvSpPr/>
          <p:nvPr/>
        </p:nvSpPr>
        <p:spPr>
          <a:xfrm>
            <a:off x="1609344" y="4526280"/>
            <a:ext cx="9692640" cy="960120"/>
          </a:xfrm>
          <a:prstGeom prst="rect">
            <a:avLst/>
          </a:prstGeom>
          <a:noFill/>
          <a:ln/>
        </p:spPr>
        <p:txBody>
          <a:bodyPr wrap="square" lIns="0" tIns="0" rIns="0" bIns="0" rtlCol="0" anchor="ctr"/>
          <a:lstStyle/>
          <a:p>
            <a:pPr indent="0" marL="0">
              <a:lnSpc>
                <a:spcPct val="104000"/>
              </a:lnSpc>
              <a:buNone/>
            </a:pPr>
            <a:r>
              <a:rPr lang="en-US" sz="1500" b="1" dirty="0">
                <a:solidFill>
                  <a:srgbClr val="0E6E6D"/>
                </a:solidFill>
                <a:latin typeface="Calibri" pitchFamily="34" charset="0"/>
                <a:ea typeface="Calibri" pitchFamily="34" charset="-122"/>
                <a:cs typeface="Calibri" pitchFamily="34" charset="-120"/>
              </a:rPr>
              <a:t>How this runs:  </a:t>
            </a:r>
            <a:pPr indent="0" marL="0">
              <a:lnSpc>
                <a:spcPct val="104000"/>
              </a:lnSpc>
              <a:buNone/>
            </a:pPr>
            <a:r>
              <a:rPr lang="en-US" sz="1500" dirty="0">
                <a:solidFill>
                  <a:srgbClr val="1E2A36"/>
                </a:solidFill>
                <a:latin typeface="Calibri" pitchFamily="34" charset="0"/>
                <a:ea typeface="Calibri" pitchFamily="34" charset="-122"/>
                <a:cs typeface="Calibri" pitchFamily="34" charset="-120"/>
              </a:rPr>
              <a:t>weak version goes up → you tell me where you stop believing it → then we reveal the strong version. Say what is wrong, specifically — the next slide shows what that sounds like.</a:t>
            </a:r>
            <a:endParaRPr lang="en-US" sz="1500" dirty="0"/>
          </a:p>
        </p:txBody>
      </p:sp>
      <p:sp>
        <p:nvSpPr>
          <p:cNvPr id="19" name="Shape 15"/>
          <p:cNvSpPr/>
          <p:nvPr/>
        </p:nvSpPr>
        <p:spPr>
          <a:xfrm>
            <a:off x="548640" y="5650992"/>
            <a:ext cx="11064240" cy="566928"/>
          </a:xfrm>
          <a:prstGeom prst="roundRect">
            <a:avLst>
              <a:gd name="adj" fmla="val 14516"/>
            </a:avLst>
          </a:prstGeom>
          <a:solidFill>
            <a:srgbClr val="FBEEDA"/>
          </a:solidFill>
          <a:ln/>
          <a:effectLst>
            <a:outerShdw sx="100000" sy="100000" kx="0" ky="0" algn="bl" rotWithShape="0" blurRad="88900" dist="38100" dir="5400000">
              <a:srgbClr val="000000">
                <a:alpha val="13000"/>
              </a:srgbClr>
            </a:outerShdw>
          </a:effectLst>
        </p:spPr>
      </p:sp>
      <p:sp>
        <p:nvSpPr>
          <p:cNvPr id="20" name="Text 16"/>
          <p:cNvSpPr/>
          <p:nvPr/>
        </p:nvSpPr>
        <p:spPr>
          <a:xfrm>
            <a:off x="822960" y="5650992"/>
            <a:ext cx="10515600" cy="566928"/>
          </a:xfrm>
          <a:prstGeom prst="rect">
            <a:avLst/>
          </a:prstGeom>
          <a:noFill/>
          <a:ln/>
        </p:spPr>
        <p:txBody>
          <a:bodyPr wrap="square" lIns="0" tIns="0" rIns="0" bIns="0" rtlCol="0" anchor="ctr"/>
          <a:lstStyle/>
          <a:p>
            <a:pPr algn="ctr" indent="0" marL="0">
              <a:buNone/>
            </a:pPr>
            <a:r>
              <a:rPr lang="en-US" sz="1400" i="1" dirty="0">
                <a:solidFill>
                  <a:srgbClr val="1E2A36"/>
                </a:solidFill>
                <a:latin typeface="Calibri" pitchFamily="34" charset="0"/>
                <a:ea typeface="Calibri" pitchFamily="34" charset="-122"/>
                <a:cs typeface="Calibri" pitchFamily="34" charset="-120"/>
              </a:rPr>
              <a:t>Both are teaching samples: the theater, the people, the interviews, and the spike are invented. Your evidence must be real.</a:t>
            </a:r>
            <a:endParaRPr lang="en-US" sz="1400" dirty="0"/>
          </a:p>
        </p:txBody>
      </p:sp>
      <p:sp>
        <p:nvSpPr>
          <p:cNvPr id="21" name="Text 1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22" name="Text 1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HOW TO ANSWER</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Say what's wrong — specifically</a:t>
            </a:r>
            <a:endParaRPr lang="en-US" sz="3100" dirty="0"/>
          </a:p>
        </p:txBody>
      </p:sp>
      <p:sp>
        <p:nvSpPr>
          <p:cNvPr id="5" name="Text 3"/>
          <p:cNvSpPr/>
          <p:nvPr/>
        </p:nvSpPr>
        <p:spPr>
          <a:xfrm>
            <a:off x="548640" y="1481328"/>
            <a:ext cx="11064240" cy="310896"/>
          </a:xfrm>
          <a:prstGeom prst="rect">
            <a:avLst/>
          </a:prstGeom>
          <a:noFill/>
          <a:ln/>
        </p:spPr>
        <p:txBody>
          <a:bodyPr wrap="square" lIns="0" tIns="0" rIns="0" bIns="0" rtlCol="0" anchor="ctr"/>
          <a:lstStyle/>
          <a:p>
            <a:pPr indent="0" marL="0">
              <a:buNone/>
            </a:pPr>
            <a:r>
              <a:rPr lang="en-US" sz="1450" i="1" dirty="0">
                <a:solidFill>
                  <a:srgbClr val="5F7284"/>
                </a:solidFill>
                <a:latin typeface="Calibri" pitchFamily="34" charset="0"/>
                <a:ea typeface="Calibri" pitchFamily="34" charset="-122"/>
                <a:cs typeface="Calibri" pitchFamily="34" charset="-120"/>
              </a:rPr>
              <a:t>A vague reaction is real information the author can't act on. Convert it into the specific defect before you say it out loud.</a:t>
            </a:r>
            <a:endParaRPr lang="en-US" sz="1450" dirty="0"/>
          </a:p>
        </p:txBody>
      </p:sp>
      <p:sp>
        <p:nvSpPr>
          <p:cNvPr id="6" name="Shape 4"/>
          <p:cNvSpPr/>
          <p:nvPr/>
        </p:nvSpPr>
        <p:spPr>
          <a:xfrm>
            <a:off x="548640" y="1883664"/>
            <a:ext cx="4114800" cy="1005840"/>
          </a:xfrm>
          <a:prstGeom prst="roundRect">
            <a:avLst>
              <a:gd name="adj" fmla="val 8182"/>
            </a:avLst>
          </a:prstGeom>
          <a:solidFill>
            <a:srgbClr val="FBECE8"/>
          </a:solidFill>
          <a:ln/>
          <a:effectLst>
            <a:outerShdw sx="100000" sy="100000" kx="0" ky="0" algn="bl" rotWithShape="0" blurRad="88900" dist="38100" dir="5400000">
              <a:srgbClr val="000000">
                <a:alpha val="13000"/>
              </a:srgbClr>
            </a:outerShdw>
          </a:effectLst>
        </p:spPr>
      </p:sp>
      <p:sp>
        <p:nvSpPr>
          <p:cNvPr id="7" name="Text 5"/>
          <p:cNvSpPr/>
          <p:nvPr/>
        </p:nvSpPr>
        <p:spPr>
          <a:xfrm>
            <a:off x="777240" y="1883664"/>
            <a:ext cx="3657600" cy="1005840"/>
          </a:xfrm>
          <a:prstGeom prst="rect">
            <a:avLst/>
          </a:prstGeom>
          <a:noFill/>
          <a:ln/>
        </p:spPr>
        <p:txBody>
          <a:bodyPr wrap="square" lIns="0" tIns="0" rIns="0" bIns="0" rtlCol="0" anchor="ctr"/>
          <a:lstStyle/>
          <a:p>
            <a:pPr indent="0" marL="0">
              <a:lnSpc>
                <a:spcPct val="103000"/>
              </a:lnSpc>
              <a:buNone/>
            </a:pPr>
            <a:r>
              <a:rPr lang="en-US" sz="1550" i="1" dirty="0">
                <a:solidFill>
                  <a:srgbClr val="1E2A36"/>
                </a:solidFill>
                <a:latin typeface="Calibri" pitchFamily="34" charset="0"/>
                <a:ea typeface="Calibri" pitchFamily="34" charset="-122"/>
                <a:cs typeface="Calibri" pitchFamily="34" charset="-120"/>
              </a:rPr>
              <a:t>“It's vague.”</a:t>
            </a:r>
            <a:endParaRPr lang="en-US" sz="1550" dirty="0"/>
          </a:p>
        </p:txBody>
      </p:sp>
      <p:sp>
        <p:nvSpPr>
          <p:cNvPr id="8" name="Shape 6"/>
          <p:cNvSpPr/>
          <p:nvPr/>
        </p:nvSpPr>
        <p:spPr>
          <a:xfrm>
            <a:off x="4864608" y="2167128"/>
            <a:ext cx="438912" cy="438912"/>
          </a:xfrm>
          <a:prstGeom prst="ellipse">
            <a:avLst/>
          </a:prstGeom>
          <a:solidFill>
            <a:srgbClr val="E8A33D"/>
          </a:solidFill>
          <a:ln/>
        </p:spPr>
      </p:sp>
      <p:pic>
        <p:nvPicPr>
          <p:cNvPr id="9" name="Image 0" descr="preencoded.png">    </p:cNvPr>
          <p:cNvPicPr>
            <a:picLocks noChangeAspect="1"/>
          </p:cNvPicPr>
          <p:nvPr/>
        </p:nvPicPr>
        <p:blipFill>
          <a:blip r:embed="rId1"/>
          <a:stretch>
            <a:fillRect/>
          </a:stretch>
        </p:blipFill>
        <p:spPr>
          <a:xfrm>
            <a:off x="4983114" y="2285634"/>
            <a:ext cx="201900" cy="201900"/>
          </a:xfrm>
          <a:prstGeom prst="rect">
            <a:avLst/>
          </a:prstGeom>
        </p:spPr>
      </p:pic>
      <p:sp>
        <p:nvSpPr>
          <p:cNvPr id="10" name="Shape 7"/>
          <p:cNvSpPr/>
          <p:nvPr/>
        </p:nvSpPr>
        <p:spPr>
          <a:xfrm>
            <a:off x="5669280" y="1883664"/>
            <a:ext cx="5943600" cy="1005840"/>
          </a:xfrm>
          <a:prstGeom prst="roundRect">
            <a:avLst>
              <a:gd name="adj" fmla="val 8182"/>
            </a:avLst>
          </a:prstGeom>
          <a:solidFill>
            <a:srgbClr val="EAF4EE"/>
          </a:solidFill>
          <a:ln/>
          <a:effectLst>
            <a:outerShdw sx="100000" sy="100000" kx="0" ky="0" algn="bl" rotWithShape="0" blurRad="88900" dist="38100" dir="5400000">
              <a:srgbClr val="000000">
                <a:alpha val="13000"/>
              </a:srgbClr>
            </a:outerShdw>
          </a:effectLst>
        </p:spPr>
      </p:sp>
      <p:sp>
        <p:nvSpPr>
          <p:cNvPr id="11" name="Text 8"/>
          <p:cNvSpPr/>
          <p:nvPr/>
        </p:nvSpPr>
        <p:spPr>
          <a:xfrm>
            <a:off x="5897880" y="1883664"/>
            <a:ext cx="5486400" cy="1005840"/>
          </a:xfrm>
          <a:prstGeom prst="rect">
            <a:avLst/>
          </a:prstGeom>
          <a:noFill/>
          <a:ln/>
        </p:spPr>
        <p:txBody>
          <a:bodyPr wrap="square" lIns="0" tIns="0" rIns="0" bIns="0" rtlCol="0" anchor="ctr"/>
          <a:lstStyle/>
          <a:p>
            <a:pPr indent="0" marL="0">
              <a:lnSpc>
                <a:spcPct val="103000"/>
              </a:lnSpc>
              <a:buNone/>
            </a:pPr>
            <a:r>
              <a:rPr lang="en-US" sz="1550" b="1" dirty="0">
                <a:solidFill>
                  <a:srgbClr val="1E2A36"/>
                </a:solidFill>
                <a:latin typeface="Calibri" pitchFamily="34" charset="0"/>
                <a:ea typeface="Calibri" pitchFamily="34" charset="-122"/>
                <a:cs typeface="Calibri" pitchFamily="34" charset="-120"/>
              </a:rPr>
              <a:t>“The userbase is six audiences, so it's nobody.”</a:t>
            </a:r>
            <a:endParaRPr lang="en-US" sz="1550" dirty="0"/>
          </a:p>
        </p:txBody>
      </p:sp>
      <p:sp>
        <p:nvSpPr>
          <p:cNvPr id="12" name="Shape 9"/>
          <p:cNvSpPr/>
          <p:nvPr/>
        </p:nvSpPr>
        <p:spPr>
          <a:xfrm>
            <a:off x="548640" y="3017520"/>
            <a:ext cx="4114800" cy="1005840"/>
          </a:xfrm>
          <a:prstGeom prst="roundRect">
            <a:avLst>
              <a:gd name="adj" fmla="val 8182"/>
            </a:avLst>
          </a:prstGeom>
          <a:solidFill>
            <a:srgbClr val="FBECE8"/>
          </a:solidFill>
          <a:ln/>
          <a:effectLst>
            <a:outerShdw sx="100000" sy="100000" kx="0" ky="0" algn="bl" rotWithShape="0" blurRad="88900" dist="38100" dir="5400000">
              <a:srgbClr val="000000">
                <a:alpha val="13000"/>
              </a:srgbClr>
            </a:outerShdw>
          </a:effectLst>
        </p:spPr>
      </p:sp>
      <p:sp>
        <p:nvSpPr>
          <p:cNvPr id="13" name="Text 10"/>
          <p:cNvSpPr/>
          <p:nvPr/>
        </p:nvSpPr>
        <p:spPr>
          <a:xfrm>
            <a:off x="777240" y="3017520"/>
            <a:ext cx="3657600" cy="1005840"/>
          </a:xfrm>
          <a:prstGeom prst="rect">
            <a:avLst/>
          </a:prstGeom>
          <a:noFill/>
          <a:ln/>
        </p:spPr>
        <p:txBody>
          <a:bodyPr wrap="square" lIns="0" tIns="0" rIns="0" bIns="0" rtlCol="0" anchor="ctr"/>
          <a:lstStyle/>
          <a:p>
            <a:pPr indent="0" marL="0">
              <a:lnSpc>
                <a:spcPct val="103000"/>
              </a:lnSpc>
              <a:buNone/>
            </a:pPr>
            <a:r>
              <a:rPr lang="en-US" sz="1550" i="1" dirty="0">
                <a:solidFill>
                  <a:srgbClr val="1E2A36"/>
                </a:solidFill>
                <a:latin typeface="Calibri" pitchFamily="34" charset="0"/>
                <a:ea typeface="Calibri" pitchFamily="34" charset="-122"/>
                <a:cs typeface="Calibri" pitchFamily="34" charset="-120"/>
              </a:rPr>
              <a:t>“Seems hard.”</a:t>
            </a:r>
            <a:endParaRPr lang="en-US" sz="1550" dirty="0"/>
          </a:p>
        </p:txBody>
      </p:sp>
      <p:sp>
        <p:nvSpPr>
          <p:cNvPr id="14" name="Shape 11"/>
          <p:cNvSpPr/>
          <p:nvPr/>
        </p:nvSpPr>
        <p:spPr>
          <a:xfrm>
            <a:off x="4864608" y="3300984"/>
            <a:ext cx="438912" cy="438912"/>
          </a:xfrm>
          <a:prstGeom prst="ellipse">
            <a:avLst/>
          </a:prstGeom>
          <a:solidFill>
            <a:srgbClr val="E8A33D"/>
          </a:solidFill>
          <a:ln/>
        </p:spPr>
      </p:sp>
      <p:pic>
        <p:nvPicPr>
          <p:cNvPr id="15" name="Image 1" descr="preencoded.png">    </p:cNvPr>
          <p:cNvPicPr>
            <a:picLocks noChangeAspect="1"/>
          </p:cNvPicPr>
          <p:nvPr/>
        </p:nvPicPr>
        <p:blipFill>
          <a:blip r:embed="rId2"/>
          <a:stretch>
            <a:fillRect/>
          </a:stretch>
        </p:blipFill>
        <p:spPr>
          <a:xfrm>
            <a:off x="4983114" y="3419490"/>
            <a:ext cx="201900" cy="201900"/>
          </a:xfrm>
          <a:prstGeom prst="rect">
            <a:avLst/>
          </a:prstGeom>
        </p:spPr>
      </p:pic>
      <p:sp>
        <p:nvSpPr>
          <p:cNvPr id="16" name="Shape 12"/>
          <p:cNvSpPr/>
          <p:nvPr/>
        </p:nvSpPr>
        <p:spPr>
          <a:xfrm>
            <a:off x="5669280" y="3017520"/>
            <a:ext cx="5943600" cy="1005840"/>
          </a:xfrm>
          <a:prstGeom prst="roundRect">
            <a:avLst>
              <a:gd name="adj" fmla="val 8182"/>
            </a:avLst>
          </a:prstGeom>
          <a:solidFill>
            <a:srgbClr val="EAF4EE"/>
          </a:solidFill>
          <a:ln/>
          <a:effectLst>
            <a:outerShdw sx="100000" sy="100000" kx="0" ky="0" algn="bl" rotWithShape="0" blurRad="88900" dist="38100" dir="5400000">
              <a:srgbClr val="000000">
                <a:alpha val="13000"/>
              </a:srgbClr>
            </a:outerShdw>
          </a:effectLst>
        </p:spPr>
      </p:sp>
      <p:sp>
        <p:nvSpPr>
          <p:cNvPr id="17" name="Text 13"/>
          <p:cNvSpPr/>
          <p:nvPr/>
        </p:nvSpPr>
        <p:spPr>
          <a:xfrm>
            <a:off x="5897880" y="3017520"/>
            <a:ext cx="5486400" cy="1005840"/>
          </a:xfrm>
          <a:prstGeom prst="rect">
            <a:avLst/>
          </a:prstGeom>
          <a:noFill/>
          <a:ln/>
        </p:spPr>
        <p:txBody>
          <a:bodyPr wrap="square" lIns="0" tIns="0" rIns="0" bIns="0" rtlCol="0" anchor="ctr"/>
          <a:lstStyle/>
          <a:p>
            <a:pPr indent="0" marL="0">
              <a:lnSpc>
                <a:spcPct val="103000"/>
              </a:lnSpc>
              <a:buNone/>
            </a:pPr>
            <a:r>
              <a:rPr lang="en-US" sz="1550" b="1" dirty="0">
                <a:solidFill>
                  <a:srgbClr val="1E2A36"/>
                </a:solidFill>
                <a:latin typeface="Calibri" pitchFamily="34" charset="0"/>
                <a:ea typeface="Calibri" pitchFamily="34" charset="-122"/>
                <a:cs typeface="Calibri" pitchFamily="34" charset="-120"/>
              </a:rPr>
              <a:t>“Four features in five build weeks, and no evidence behind the estimate.”</a:t>
            </a:r>
            <a:endParaRPr lang="en-US" sz="1550" dirty="0"/>
          </a:p>
        </p:txBody>
      </p:sp>
      <p:sp>
        <p:nvSpPr>
          <p:cNvPr id="18" name="Shape 14"/>
          <p:cNvSpPr/>
          <p:nvPr/>
        </p:nvSpPr>
        <p:spPr>
          <a:xfrm>
            <a:off x="548640" y="4151376"/>
            <a:ext cx="4114800" cy="1005840"/>
          </a:xfrm>
          <a:prstGeom prst="roundRect">
            <a:avLst>
              <a:gd name="adj" fmla="val 8182"/>
            </a:avLst>
          </a:prstGeom>
          <a:solidFill>
            <a:srgbClr val="FBECE8"/>
          </a:solidFill>
          <a:ln/>
          <a:effectLst>
            <a:outerShdw sx="100000" sy="100000" kx="0" ky="0" algn="bl" rotWithShape="0" blurRad="88900" dist="38100" dir="5400000">
              <a:srgbClr val="000000">
                <a:alpha val="13000"/>
              </a:srgbClr>
            </a:outerShdw>
          </a:effectLst>
        </p:spPr>
      </p:sp>
      <p:sp>
        <p:nvSpPr>
          <p:cNvPr id="19" name="Text 15"/>
          <p:cNvSpPr/>
          <p:nvPr/>
        </p:nvSpPr>
        <p:spPr>
          <a:xfrm>
            <a:off x="777240" y="4151376"/>
            <a:ext cx="3657600" cy="1005840"/>
          </a:xfrm>
          <a:prstGeom prst="rect">
            <a:avLst/>
          </a:prstGeom>
          <a:noFill/>
          <a:ln/>
        </p:spPr>
        <p:txBody>
          <a:bodyPr wrap="square" lIns="0" tIns="0" rIns="0" bIns="0" rtlCol="0" anchor="ctr"/>
          <a:lstStyle/>
          <a:p>
            <a:pPr indent="0" marL="0">
              <a:lnSpc>
                <a:spcPct val="103000"/>
              </a:lnSpc>
              <a:buNone/>
            </a:pPr>
            <a:r>
              <a:rPr lang="en-US" sz="1550" i="1" dirty="0">
                <a:solidFill>
                  <a:srgbClr val="1E2A36"/>
                </a:solidFill>
                <a:latin typeface="Calibri" pitchFamily="34" charset="0"/>
                <a:ea typeface="Calibri" pitchFamily="34" charset="-122"/>
                <a:cs typeface="Calibri" pitchFamily="34" charset="-120"/>
              </a:rPr>
              <a:t>“I didn't like the tech section.”</a:t>
            </a:r>
            <a:endParaRPr lang="en-US" sz="1550" dirty="0"/>
          </a:p>
        </p:txBody>
      </p:sp>
      <p:sp>
        <p:nvSpPr>
          <p:cNvPr id="20" name="Shape 16"/>
          <p:cNvSpPr/>
          <p:nvPr/>
        </p:nvSpPr>
        <p:spPr>
          <a:xfrm>
            <a:off x="4864608" y="4434840"/>
            <a:ext cx="438912" cy="438912"/>
          </a:xfrm>
          <a:prstGeom prst="ellipse">
            <a:avLst/>
          </a:prstGeom>
          <a:solidFill>
            <a:srgbClr val="E8A33D"/>
          </a:solidFill>
          <a:ln/>
        </p:spPr>
      </p:sp>
      <p:pic>
        <p:nvPicPr>
          <p:cNvPr id="21" name="Image 2" descr="preencoded.png">    </p:cNvPr>
          <p:cNvPicPr>
            <a:picLocks noChangeAspect="1"/>
          </p:cNvPicPr>
          <p:nvPr/>
        </p:nvPicPr>
        <p:blipFill>
          <a:blip r:embed="rId3"/>
          <a:stretch>
            <a:fillRect/>
          </a:stretch>
        </p:blipFill>
        <p:spPr>
          <a:xfrm>
            <a:off x="4983114" y="4553346"/>
            <a:ext cx="201900" cy="201900"/>
          </a:xfrm>
          <a:prstGeom prst="rect">
            <a:avLst/>
          </a:prstGeom>
        </p:spPr>
      </p:pic>
      <p:sp>
        <p:nvSpPr>
          <p:cNvPr id="22" name="Shape 17"/>
          <p:cNvSpPr/>
          <p:nvPr/>
        </p:nvSpPr>
        <p:spPr>
          <a:xfrm>
            <a:off x="5669280" y="4151376"/>
            <a:ext cx="5943600" cy="1005840"/>
          </a:xfrm>
          <a:prstGeom prst="roundRect">
            <a:avLst>
              <a:gd name="adj" fmla="val 8182"/>
            </a:avLst>
          </a:prstGeom>
          <a:solidFill>
            <a:srgbClr val="EAF4EE"/>
          </a:solidFill>
          <a:ln/>
          <a:effectLst>
            <a:outerShdw sx="100000" sy="100000" kx="0" ky="0" algn="bl" rotWithShape="0" blurRad="88900" dist="38100" dir="5400000">
              <a:srgbClr val="000000">
                <a:alpha val="13000"/>
              </a:srgbClr>
            </a:outerShdw>
          </a:effectLst>
        </p:spPr>
      </p:sp>
      <p:sp>
        <p:nvSpPr>
          <p:cNvPr id="23" name="Text 18"/>
          <p:cNvSpPr/>
          <p:nvPr/>
        </p:nvSpPr>
        <p:spPr>
          <a:xfrm>
            <a:off x="5897880" y="4151376"/>
            <a:ext cx="5486400" cy="1005840"/>
          </a:xfrm>
          <a:prstGeom prst="rect">
            <a:avLst/>
          </a:prstGeom>
          <a:noFill/>
          <a:ln/>
        </p:spPr>
        <p:txBody>
          <a:bodyPr wrap="square" lIns="0" tIns="0" rIns="0" bIns="0" rtlCol="0" anchor="ctr"/>
          <a:lstStyle/>
          <a:p>
            <a:pPr indent="0" marL="0">
              <a:lnSpc>
                <a:spcPct val="103000"/>
              </a:lnSpc>
              <a:buNone/>
            </a:pPr>
            <a:r>
              <a:rPr lang="en-US" sz="1550" b="1" dirty="0">
                <a:solidFill>
                  <a:srgbClr val="1E2A36"/>
                </a:solidFill>
                <a:latin typeface="Calibri" pitchFamily="34" charset="0"/>
                <a:ea typeface="Calibri" pitchFamily="34" charset="-122"/>
                <a:cs typeface="Calibri" pitchFamily="34" charset="-120"/>
              </a:rPr>
              <a:t>“Every justification there would fit any project on earth.”</a:t>
            </a:r>
            <a:endParaRPr lang="en-US" sz="1550" dirty="0"/>
          </a:p>
        </p:txBody>
      </p:sp>
      <p:sp>
        <p:nvSpPr>
          <p:cNvPr id="24" name="Shape 19"/>
          <p:cNvSpPr/>
          <p:nvPr/>
        </p:nvSpPr>
        <p:spPr>
          <a:xfrm>
            <a:off x="548640" y="5358384"/>
            <a:ext cx="11064240" cy="859536"/>
          </a:xfrm>
          <a:prstGeom prst="roundRect">
            <a:avLst>
              <a:gd name="adj" fmla="val 9574"/>
            </a:avLst>
          </a:prstGeom>
          <a:solidFill>
            <a:srgbClr val="14233A"/>
          </a:solidFill>
          <a:ln/>
          <a:effectLst>
            <a:outerShdw sx="100000" sy="100000" kx="0" ky="0" algn="bl" rotWithShape="0" blurRad="88900" dist="38100" dir="5400000">
              <a:srgbClr val="000000">
                <a:alpha val="13000"/>
              </a:srgbClr>
            </a:outerShdw>
          </a:effectLst>
        </p:spPr>
      </p:sp>
      <p:sp>
        <p:nvSpPr>
          <p:cNvPr id="25" name="Shape 20"/>
          <p:cNvSpPr/>
          <p:nvPr/>
        </p:nvSpPr>
        <p:spPr>
          <a:xfrm>
            <a:off x="868680" y="5568696"/>
            <a:ext cx="438912" cy="438912"/>
          </a:xfrm>
          <a:prstGeom prst="ellipse">
            <a:avLst/>
          </a:prstGeom>
          <a:solidFill>
            <a:srgbClr val="E8A33D"/>
          </a:solidFill>
          <a:ln/>
        </p:spPr>
      </p:sp>
      <p:pic>
        <p:nvPicPr>
          <p:cNvPr id="26" name="Image 3" descr="preencoded.png">    </p:cNvPr>
          <p:cNvPicPr>
            <a:picLocks noChangeAspect="1"/>
          </p:cNvPicPr>
          <p:nvPr/>
        </p:nvPicPr>
        <p:blipFill>
          <a:blip r:embed="rId4"/>
          <a:stretch>
            <a:fillRect/>
          </a:stretch>
        </p:blipFill>
        <p:spPr>
          <a:xfrm>
            <a:off x="987186" y="5687202"/>
            <a:ext cx="201900" cy="201900"/>
          </a:xfrm>
          <a:prstGeom prst="rect">
            <a:avLst/>
          </a:prstGeom>
        </p:spPr>
      </p:pic>
      <p:sp>
        <p:nvSpPr>
          <p:cNvPr id="27" name="Text 21"/>
          <p:cNvSpPr/>
          <p:nvPr/>
        </p:nvSpPr>
        <p:spPr>
          <a:xfrm>
            <a:off x="1463040" y="5358384"/>
            <a:ext cx="9875520" cy="859536"/>
          </a:xfrm>
          <a:prstGeom prst="rect">
            <a:avLst/>
          </a:prstGeom>
          <a:noFill/>
          <a:ln/>
        </p:spPr>
        <p:txBody>
          <a:bodyPr wrap="square" lIns="0" tIns="0" rIns="0" bIns="0" rtlCol="0" anchor="ctr"/>
          <a:lstStyle/>
          <a:p>
            <a:pPr indent="0" marL="0">
              <a:lnSpc>
                <a:spcPct val="104000"/>
              </a:lnSpc>
              <a:buNone/>
            </a:pPr>
            <a:r>
              <a:rPr lang="en-US" sz="1400" b="1" dirty="0">
                <a:solidFill>
                  <a:srgbClr val="E8A33D"/>
                </a:solidFill>
                <a:latin typeface="Calibri" pitchFamily="34" charset="0"/>
                <a:ea typeface="Calibri" pitchFamily="34" charset="-122"/>
                <a:cs typeface="Calibri" pitchFamily="34" charset="-120"/>
              </a:rPr>
              <a:t>The test is not vocabulary — it's whether the author could act on it.  </a:t>
            </a:r>
            <a:pPr indent="0" marL="0">
              <a:lnSpc>
                <a:spcPct val="104000"/>
              </a:lnSpc>
              <a:buNone/>
            </a:pPr>
            <a:r>
              <a:rPr lang="en-US" sz="1400" dirty="0">
                <a:solidFill>
                  <a:srgbClr val="FFFFFF"/>
                </a:solidFill>
                <a:latin typeface="Calibri" pitchFamily="34" charset="0"/>
                <a:ea typeface="Calibri" pitchFamily="34" charset="-122"/>
                <a:cs typeface="Calibri" pitchFamily="34" charset="-120"/>
              </a:rPr>
              <a:t>The CP3 criteria give you ready-made names (problem &amp; user clarity · scope realism · feasibility), and Wednesday's review uses them — but precision is the requirement, in any words.</a:t>
            </a:r>
            <a:endParaRPr lang="en-US" sz="1400" dirty="0"/>
          </a:p>
        </p:txBody>
      </p:sp>
      <p:sp>
        <p:nvSpPr>
          <p:cNvPr id="28" name="Text 2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29" name="Text 2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BEFORE WE PULL IT APART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whole argument, in one paragraph</a:t>
            </a:r>
            <a:endParaRPr lang="en-US" sz="3100" dirty="0"/>
          </a:p>
        </p:txBody>
      </p:sp>
      <p:sp>
        <p:nvSpPr>
          <p:cNvPr id="5" name="Text 3"/>
          <p:cNvSpPr/>
          <p:nvPr/>
        </p:nvSpPr>
        <p:spPr>
          <a:xfrm>
            <a:off x="548640" y="1481328"/>
            <a:ext cx="11064240" cy="310896"/>
          </a:xfrm>
          <a:prstGeom prst="rect">
            <a:avLst/>
          </a:prstGeom>
          <a:noFill/>
          <a:ln/>
        </p:spPr>
        <p:txBody>
          <a:bodyPr wrap="square" lIns="0" tIns="0" rIns="0" bIns="0" rtlCol="0" anchor="ctr"/>
          <a:lstStyle/>
          <a:p>
            <a:pPr indent="0" marL="0">
              <a:buNone/>
            </a:pPr>
            <a:r>
              <a:rPr lang="en-US" sz="1300" b="1" spc="100" kern="0" dirty="0">
                <a:solidFill>
                  <a:srgbClr val="0E6E6D"/>
                </a:solidFill>
                <a:latin typeface="Calibri" pitchFamily="34" charset="0"/>
                <a:ea typeface="Calibri" pitchFamily="34" charset="-122"/>
                <a:cs typeface="Calibri" pitchFamily="34" charset="-120"/>
              </a:rPr>
              <a:t>SECTION 1 OF 9 · EXECUTIVE SUMMARY  </a:t>
            </a:r>
            <a:pPr indent="0" marL="0">
              <a:buNone/>
            </a:pPr>
            <a:r>
              <a:rPr lang="en-US" sz="1300" dirty="0">
                <a:solidFill>
                  <a:srgbClr val="5F7284"/>
                </a:solidFill>
                <a:latin typeface="Calibri" pitchFamily="34" charset="0"/>
                <a:ea typeface="Calibri" pitchFamily="34" charset="-122"/>
                <a:cs typeface="Calibri" pitchFamily="34" charset="-120"/>
              </a:rPr>
              <a:t>— the entire argument in miniature — written last, read first.</a:t>
            </a:r>
            <a:endParaRPr lang="en-US" sz="1300" dirty="0"/>
          </a:p>
        </p:txBody>
      </p:sp>
      <p:sp>
        <p:nvSpPr>
          <p:cNvPr id="6" name="Shape 4"/>
          <p:cNvSpPr/>
          <p:nvPr/>
        </p:nvSpPr>
        <p:spPr>
          <a:xfrm>
            <a:off x="548640" y="1847088"/>
            <a:ext cx="5440680" cy="3154680"/>
          </a:xfrm>
          <a:prstGeom prst="roundRect">
            <a:avLst>
              <a:gd name="adj" fmla="val 2609"/>
            </a:avLst>
          </a:prstGeom>
          <a:solidFill>
            <a:srgbClr val="FBECE8"/>
          </a:solidFill>
          <a:ln/>
          <a:effectLst>
            <a:outerShdw sx="100000" sy="100000" kx="0" ky="0" algn="bl" rotWithShape="0" blurRad="88900" dist="38100" dir="5400000">
              <a:srgbClr val="000000">
                <a:alpha val="13000"/>
              </a:srgbClr>
            </a:outerShdw>
          </a:effectLst>
        </p:spPr>
      </p:sp>
      <p:sp>
        <p:nvSpPr>
          <p:cNvPr id="7" name="Text 5"/>
          <p:cNvSpPr/>
          <p:nvPr/>
        </p:nvSpPr>
        <p:spPr>
          <a:xfrm>
            <a:off x="804672" y="1993392"/>
            <a:ext cx="4928616" cy="384048"/>
          </a:xfrm>
          <a:prstGeom prst="rect">
            <a:avLst/>
          </a:prstGeom>
          <a:noFill/>
          <a:ln/>
        </p:spPr>
        <p:txBody>
          <a:bodyPr wrap="square" lIns="0" tIns="0" rIns="0" bIns="0" rtlCol="0" anchor="ctr"/>
          <a:lstStyle/>
          <a:p>
            <a:pPr indent="0" marL="0">
              <a:buNone/>
            </a:pPr>
            <a:r>
              <a:rPr lang="en-US" sz="1500" b="1" spc="40" kern="0" dirty="0">
                <a:solidFill>
                  <a:srgbClr val="D9614C"/>
                </a:solidFill>
                <a:latin typeface="Calibri" pitchFamily="34" charset="0"/>
                <a:ea typeface="Calibri" pitchFamily="34" charset="-122"/>
                <a:cs typeface="Calibri" pitchFamily="34" charset="-120"/>
              </a:rPr>
              <a:t>CostumeHub — the weak version</a:t>
            </a:r>
            <a:endParaRPr lang="en-US" sz="1500" dirty="0"/>
          </a:p>
        </p:txBody>
      </p:sp>
      <p:sp>
        <p:nvSpPr>
          <p:cNvPr id="8" name="Text 6"/>
          <p:cNvSpPr/>
          <p:nvPr/>
        </p:nvSpPr>
        <p:spPr>
          <a:xfrm>
            <a:off x="804672" y="2414016"/>
            <a:ext cx="4928616" cy="2404872"/>
          </a:xfrm>
          <a:prstGeom prst="rect">
            <a:avLst/>
          </a:prstGeom>
          <a:noFill/>
          <a:ln/>
        </p:spPr>
        <p:txBody>
          <a:bodyPr wrap="square" lIns="0" tIns="0" rIns="0" bIns="0" rtlCol="0" anchor="t"/>
          <a:lstStyle/>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“Costume management is a huge problem for theaters everywhere. Most theaters use outdated methods like paper and spreadsheets, which leads to lost items and wasted money. CostumeHub will revolutionize costume inventory with barcode scanning, rentals, budget tracking, and AI-powered recommendations.”</a:t>
            </a:r>
            <a:endParaRPr lang="en-US" sz="1500" dirty="0"/>
          </a:p>
        </p:txBody>
      </p:sp>
      <p:sp>
        <p:nvSpPr>
          <p:cNvPr id="9" name="Shape 7"/>
          <p:cNvSpPr/>
          <p:nvPr/>
        </p:nvSpPr>
        <p:spPr>
          <a:xfrm>
            <a:off x="6172200" y="1847088"/>
            <a:ext cx="5440680" cy="3154680"/>
          </a:xfrm>
          <a:prstGeom prst="roundRect">
            <a:avLst>
              <a:gd name="adj" fmla="val 2609"/>
            </a:avLst>
          </a:prstGeom>
          <a:solidFill>
            <a:srgbClr val="EAF4EE"/>
          </a:solidFill>
          <a:ln/>
          <a:effectLst>
            <a:outerShdw sx="100000" sy="100000" kx="0" ky="0" algn="bl" rotWithShape="0" blurRad="88900" dist="38100" dir="5400000">
              <a:srgbClr val="000000">
                <a:alpha val="13000"/>
              </a:srgbClr>
            </a:outerShdw>
          </a:effectLst>
        </p:spPr>
      </p:sp>
      <p:sp>
        <p:nvSpPr>
          <p:cNvPr id="10" name="Text 8"/>
          <p:cNvSpPr/>
          <p:nvPr/>
        </p:nvSpPr>
        <p:spPr>
          <a:xfrm>
            <a:off x="6428232" y="1993392"/>
            <a:ext cx="4928616" cy="384048"/>
          </a:xfrm>
          <a:prstGeom prst="rect">
            <a:avLst/>
          </a:prstGeom>
          <a:noFill/>
          <a:ln/>
        </p:spPr>
        <p:txBody>
          <a:bodyPr wrap="square" lIns="0" tIns="0" rIns="0" bIns="0" rtlCol="0" anchor="ctr"/>
          <a:lstStyle/>
          <a:p>
            <a:pPr indent="0" marL="0">
              <a:buNone/>
            </a:pPr>
            <a:r>
              <a:rPr lang="en-US" sz="1500" b="1" spc="40" kern="0" dirty="0">
                <a:solidFill>
                  <a:srgbClr val="0E6E6D"/>
                </a:solidFill>
                <a:latin typeface="Calibri" pitchFamily="34" charset="0"/>
                <a:ea typeface="Calibri" pitchFamily="34" charset="-122"/>
                <a:cs typeface="Calibri" pitchFamily="34" charset="-120"/>
              </a:rPr>
              <a:t>Backstage — the strong version</a:t>
            </a:r>
            <a:endParaRPr lang="en-US" sz="1500" dirty="0"/>
          </a:p>
        </p:txBody>
      </p:sp>
      <p:sp>
        <p:nvSpPr>
          <p:cNvPr id="11" name="Text 9"/>
          <p:cNvSpPr/>
          <p:nvPr/>
        </p:nvSpPr>
        <p:spPr>
          <a:xfrm>
            <a:off x="6428232" y="2414016"/>
            <a:ext cx="4928616" cy="2404872"/>
          </a:xfrm>
          <a:prstGeom prst="rect">
            <a:avLst/>
          </a:prstGeom>
          <a:noFill/>
          <a:ln/>
        </p:spPr>
        <p:txBody>
          <a:bodyPr wrap="square" lIns="0" tIns="0" rIns="0" bIns="0" rtlCol="0" anchor="t"/>
          <a:lstStyle/>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“Volunteer-run community theaters track thousands of costumes in spiral notebooks and one volunteer's memory. I interviewed four wardrobe volunteers across three theaters; two named items they had bought twice. Backstage is a phone-first catalog: search what you own, see a photo and a bin, check items in and out. The MVP is one theater, seeded with 60 real items. Out of scope: ticketing, budgets, rentals between theaters.”</a:t>
            </a:r>
            <a:endParaRPr lang="en-US" sz="1500" dirty="0"/>
          </a:p>
        </p:txBody>
      </p:sp>
      <p:sp>
        <p:nvSpPr>
          <p:cNvPr id="12" name="Shape 10"/>
          <p:cNvSpPr/>
          <p:nvPr/>
        </p:nvSpPr>
        <p:spPr>
          <a:xfrm>
            <a:off x="548640" y="5193792"/>
            <a:ext cx="11064240" cy="1005840"/>
          </a:xfrm>
          <a:prstGeom prst="roundRect">
            <a:avLst>
              <a:gd name="adj" fmla="val 8182"/>
            </a:avLst>
          </a:prstGeom>
          <a:solidFill>
            <a:srgbClr val="14233A"/>
          </a:solidFill>
          <a:ln/>
          <a:effectLst>
            <a:outerShdw sx="100000" sy="100000" kx="0" ky="0" algn="bl" rotWithShape="0" blurRad="88900" dist="38100" dir="5400000">
              <a:srgbClr val="000000">
                <a:alpha val="13000"/>
              </a:srgbClr>
            </a:outerShdw>
          </a:effectLst>
        </p:spPr>
      </p:sp>
      <p:sp>
        <p:nvSpPr>
          <p:cNvPr id="13" name="Shape 11"/>
          <p:cNvSpPr/>
          <p:nvPr/>
        </p:nvSpPr>
        <p:spPr>
          <a:xfrm>
            <a:off x="868680" y="5431536"/>
            <a:ext cx="530352" cy="530352"/>
          </a:xfrm>
          <a:prstGeom prst="ellipse">
            <a:avLst/>
          </a:prstGeom>
          <a:solidFill>
            <a:srgbClr val="E8A33D"/>
          </a:solidFill>
          <a:ln/>
        </p:spPr>
      </p:sp>
      <p:pic>
        <p:nvPicPr>
          <p:cNvPr id="14" name="Image 0" descr="preencoded.png">    </p:cNvPr>
          <p:cNvPicPr>
            <a:picLocks noChangeAspect="1"/>
          </p:cNvPicPr>
          <p:nvPr/>
        </p:nvPicPr>
        <p:blipFill>
          <a:blip r:embed="rId1"/>
          <a:stretch>
            <a:fillRect/>
          </a:stretch>
        </p:blipFill>
        <p:spPr>
          <a:xfrm>
            <a:off x="1011875" y="5574731"/>
            <a:ext cx="243962" cy="243962"/>
          </a:xfrm>
          <a:prstGeom prst="rect">
            <a:avLst/>
          </a:prstGeom>
        </p:spPr>
      </p:pic>
      <p:sp>
        <p:nvSpPr>
          <p:cNvPr id="15" name="Text 12"/>
          <p:cNvSpPr/>
          <p:nvPr/>
        </p:nvSpPr>
        <p:spPr>
          <a:xfrm>
            <a:off x="1609344" y="5193792"/>
            <a:ext cx="9692640" cy="1005840"/>
          </a:xfrm>
          <a:prstGeom prst="rect">
            <a:avLst/>
          </a:prstGeom>
          <a:noFill/>
          <a:ln/>
        </p:spPr>
        <p:txBody>
          <a:bodyPr wrap="square" lIns="0" tIns="0" rIns="0" bIns="0" rtlCol="0" anchor="ctr"/>
          <a:lstStyle/>
          <a:p>
            <a:pPr indent="0" marL="0">
              <a:lnSpc>
                <a:spcPct val="105000"/>
              </a:lnSpc>
              <a:buNone/>
            </a:pPr>
            <a:r>
              <a:rPr lang="en-US" sz="1450" b="1" dirty="0">
                <a:solidFill>
                  <a:srgbClr val="E8A33D"/>
                </a:solidFill>
                <a:latin typeface="Calibri" pitchFamily="34" charset="0"/>
                <a:ea typeface="Calibri" pitchFamily="34" charset="-122"/>
                <a:cs typeface="Calibri" pitchFamily="34" charset="-120"/>
              </a:rPr>
              <a:t>One of these gives you the problem, the evidence, the scope, and what's excluded.  </a:t>
            </a:r>
            <a:pPr indent="0" marL="0">
              <a:lnSpc>
                <a:spcPct val="105000"/>
              </a:lnSpc>
              <a:buNone/>
            </a:pPr>
            <a:r>
              <a:rPr lang="en-US" sz="1450" dirty="0">
                <a:solidFill>
                  <a:srgbClr val="FFFFFF"/>
                </a:solidFill>
                <a:latin typeface="Calibri" pitchFamily="34" charset="0"/>
                <a:ea typeface="Calibri" pitchFamily="34" charset="-122"/>
                <a:cs typeface="Calibri" pitchFamily="34" charset="-120"/>
              </a:rPr>
              <a:t>The other gives you how the author feels about it. Everything we look at next is a paragraph out of one of these two documents.</a:t>
            </a:r>
            <a:endParaRPr lang="en-US" sz="1450" dirty="0"/>
          </a:p>
        </p:txBody>
      </p:sp>
      <p:sp>
        <p:nvSpPr>
          <p:cNvPr id="16" name="Text 1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17" name="Text 1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PAIR 1 · PROBLEM &amp; USERS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Where do you stop believing this?</a:t>
            </a:r>
            <a:endParaRPr lang="en-US" sz="3100" dirty="0"/>
          </a:p>
        </p:txBody>
      </p:sp>
      <p:sp>
        <p:nvSpPr>
          <p:cNvPr id="5" name="Text 3"/>
          <p:cNvSpPr/>
          <p:nvPr/>
        </p:nvSpPr>
        <p:spPr>
          <a:xfrm>
            <a:off x="548640" y="1481328"/>
            <a:ext cx="11064240" cy="310896"/>
          </a:xfrm>
          <a:prstGeom prst="rect">
            <a:avLst/>
          </a:prstGeom>
          <a:noFill/>
          <a:ln/>
        </p:spPr>
        <p:txBody>
          <a:bodyPr wrap="square" lIns="0" tIns="0" rIns="0" bIns="0" rtlCol="0" anchor="ctr"/>
          <a:lstStyle/>
          <a:p>
            <a:pPr indent="0" marL="0">
              <a:buNone/>
            </a:pPr>
            <a:r>
              <a:rPr lang="en-US" sz="1300" b="1" spc="100" kern="0" dirty="0">
                <a:solidFill>
                  <a:srgbClr val="0E6E6D"/>
                </a:solidFill>
                <a:latin typeface="Calibri" pitchFamily="34" charset="0"/>
                <a:ea typeface="Calibri" pitchFamily="34" charset="-122"/>
                <a:cs typeface="Calibri" pitchFamily="34" charset="-120"/>
              </a:rPr>
              <a:t>SECTION 2 OF 9 · PROBLEM &amp; USERS  </a:t>
            </a:r>
            <a:pPr indent="0" marL="0">
              <a:buNone/>
            </a:pPr>
            <a:r>
              <a:rPr lang="en-US" sz="1300" dirty="0">
                <a:solidFill>
                  <a:srgbClr val="5F7284"/>
                </a:solidFill>
                <a:latin typeface="Calibri" pitchFamily="34" charset="0"/>
                <a:ea typeface="Calibri" pitchFamily="34" charset="-122"/>
                <a:cs typeface="Calibri" pitchFamily="34" charset="-120"/>
              </a:rPr>
              <a:t>— who has the problem, and the evidence it is real. Everything else is judged against it.</a:t>
            </a:r>
            <a:endParaRPr lang="en-US" sz="1300" dirty="0"/>
          </a:p>
        </p:txBody>
      </p:sp>
      <p:sp>
        <p:nvSpPr>
          <p:cNvPr id="6" name="Shape 4"/>
          <p:cNvSpPr/>
          <p:nvPr/>
        </p:nvSpPr>
        <p:spPr>
          <a:xfrm>
            <a:off x="548640" y="1847088"/>
            <a:ext cx="11064240" cy="2926080"/>
          </a:xfrm>
          <a:prstGeom prst="roundRect">
            <a:avLst>
              <a:gd name="adj" fmla="val 2813"/>
            </a:avLst>
          </a:prstGeom>
          <a:solidFill>
            <a:srgbClr val="FBECE8"/>
          </a:solidFill>
          <a:ln/>
          <a:effectLst>
            <a:outerShdw sx="100000" sy="100000" kx="0" ky="0" algn="bl" rotWithShape="0" blurRad="88900" dist="38100" dir="5400000">
              <a:srgbClr val="000000">
                <a:alpha val="13000"/>
              </a:srgbClr>
            </a:outerShdw>
          </a:effectLst>
        </p:spPr>
      </p:sp>
      <p:sp>
        <p:nvSpPr>
          <p:cNvPr id="7" name="Text 5"/>
          <p:cNvSpPr/>
          <p:nvPr/>
        </p:nvSpPr>
        <p:spPr>
          <a:xfrm>
            <a:off x="804672" y="1993392"/>
            <a:ext cx="10552176" cy="384048"/>
          </a:xfrm>
          <a:prstGeom prst="rect">
            <a:avLst/>
          </a:prstGeom>
          <a:noFill/>
          <a:ln/>
        </p:spPr>
        <p:txBody>
          <a:bodyPr wrap="square" lIns="0" tIns="0" rIns="0" bIns="0" rtlCol="0" anchor="ctr"/>
          <a:lstStyle/>
          <a:p>
            <a:pPr indent="0" marL="0">
              <a:buNone/>
            </a:pPr>
            <a:r>
              <a:rPr lang="en-US" sz="1500" b="1" spc="40" kern="0" dirty="0">
                <a:solidFill>
                  <a:srgbClr val="D9614C"/>
                </a:solidFill>
                <a:latin typeface="Calibri" pitchFamily="34" charset="0"/>
                <a:ea typeface="Calibri" pitchFamily="34" charset="-122"/>
                <a:cs typeface="Calibri" pitchFamily="34" charset="-120"/>
              </a:rPr>
              <a:t>CostumeHub — the weak version</a:t>
            </a:r>
            <a:endParaRPr lang="en-US" sz="1500" dirty="0"/>
          </a:p>
        </p:txBody>
      </p:sp>
      <p:sp>
        <p:nvSpPr>
          <p:cNvPr id="8" name="Text 6"/>
          <p:cNvSpPr/>
          <p:nvPr/>
        </p:nvSpPr>
        <p:spPr>
          <a:xfrm>
            <a:off x="804672" y="2414016"/>
            <a:ext cx="10552176" cy="2176272"/>
          </a:xfrm>
          <a:prstGeom prst="rect">
            <a:avLst/>
          </a:prstGeom>
          <a:noFill/>
          <a:ln/>
        </p:spPr>
        <p:txBody>
          <a:bodyPr wrap="square" lIns="0" tIns="0" rIns="0" bIns="0" rtlCol="0" anchor="t"/>
          <a:lstStyle/>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“Theaters everywhere struggle to keep track of their costumes.”</a:t>
            </a:r>
            <a:endParaRPr lang="en-US" sz="1500" dirty="0"/>
          </a:p>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“The users of CostumeHub include community theaters, high school and university drama departments, dance studios, church and community groups, cosplayers, and eventually professional theater companies.”</a:t>
            </a:r>
            <a:endParaRPr lang="en-US" sz="1500" dirty="0"/>
          </a:p>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“I talked to my aunt, who does costumes for her church's Christmas program, and she said their system is a total mess. I also searched online and found many Reddit posts, which confirms this is a widespread issue.”</a:t>
            </a:r>
            <a:endParaRPr lang="en-US" sz="1500" dirty="0"/>
          </a:p>
        </p:txBody>
      </p:sp>
      <p:sp>
        <p:nvSpPr>
          <p:cNvPr id="9" name="Shape 7"/>
          <p:cNvSpPr/>
          <p:nvPr/>
        </p:nvSpPr>
        <p:spPr>
          <a:xfrm>
            <a:off x="548640" y="4956048"/>
            <a:ext cx="11064240" cy="1060704"/>
          </a:xfrm>
          <a:prstGeom prst="roundRect">
            <a:avLst>
              <a:gd name="adj" fmla="val 7759"/>
            </a:avLst>
          </a:prstGeom>
          <a:solidFill>
            <a:srgbClr val="14233A"/>
          </a:solidFill>
          <a:ln/>
          <a:effectLst>
            <a:outerShdw sx="100000" sy="100000" kx="0" ky="0" algn="bl" rotWithShape="0" blurRad="88900" dist="38100" dir="5400000">
              <a:srgbClr val="000000">
                <a:alpha val="13000"/>
              </a:srgbClr>
            </a:outerShdw>
          </a:effectLst>
        </p:spPr>
      </p:sp>
      <p:sp>
        <p:nvSpPr>
          <p:cNvPr id="10" name="Shape 8"/>
          <p:cNvSpPr/>
          <p:nvPr/>
        </p:nvSpPr>
        <p:spPr>
          <a:xfrm>
            <a:off x="868680" y="5212080"/>
            <a:ext cx="548640" cy="548640"/>
          </a:xfrm>
          <a:prstGeom prst="ellipse">
            <a:avLst/>
          </a:prstGeom>
          <a:solidFill>
            <a:srgbClr val="E8A33D"/>
          </a:solidFill>
          <a:ln/>
        </p:spPr>
      </p:sp>
      <p:pic>
        <p:nvPicPr>
          <p:cNvPr id="11" name="Image 0" descr="preencoded.png">    </p:cNvPr>
          <p:cNvPicPr>
            <a:picLocks noChangeAspect="1"/>
          </p:cNvPicPr>
          <p:nvPr/>
        </p:nvPicPr>
        <p:blipFill>
          <a:blip r:embed="rId1"/>
          <a:stretch>
            <a:fillRect/>
          </a:stretch>
        </p:blipFill>
        <p:spPr>
          <a:xfrm>
            <a:off x="1016813" y="5360213"/>
            <a:ext cx="252374" cy="252374"/>
          </a:xfrm>
          <a:prstGeom prst="rect">
            <a:avLst/>
          </a:prstGeom>
        </p:spPr>
      </p:pic>
      <p:sp>
        <p:nvSpPr>
          <p:cNvPr id="12" name="Text 9"/>
          <p:cNvSpPr/>
          <p:nvPr/>
        </p:nvSpPr>
        <p:spPr>
          <a:xfrm>
            <a:off x="1627632" y="4956048"/>
            <a:ext cx="9692640" cy="1060704"/>
          </a:xfrm>
          <a:prstGeom prst="rect">
            <a:avLst/>
          </a:prstGeom>
          <a:noFill/>
          <a:ln/>
        </p:spPr>
        <p:txBody>
          <a:bodyPr wrap="square" lIns="0" tIns="0" rIns="0" bIns="0" rtlCol="0" anchor="ctr"/>
          <a:lstStyle/>
          <a:p>
            <a:pPr indent="0" marL="0">
              <a:lnSpc>
                <a:spcPct val="105000"/>
              </a:lnSpc>
              <a:buNone/>
            </a:pPr>
            <a:r>
              <a:rPr lang="en-US" sz="1550" b="1" dirty="0">
                <a:solidFill>
                  <a:srgbClr val="E8A33D"/>
                </a:solidFill>
                <a:latin typeface="Calibri" pitchFamily="34" charset="0"/>
                <a:ea typeface="Calibri" pitchFamily="34" charset="-122"/>
                <a:cs typeface="Calibri" pitchFamily="34" charset="-120"/>
              </a:rPr>
              <a:t>Three or four answers.  </a:t>
            </a:r>
            <a:pPr indent="0" marL="0">
              <a:lnSpc>
                <a:spcPct val="105000"/>
              </a:lnSpc>
              <a:buNone/>
            </a:pPr>
            <a:r>
              <a:rPr lang="en-US" sz="1550" dirty="0">
                <a:solidFill>
                  <a:srgbClr val="FFFFFF"/>
                </a:solidFill>
                <a:latin typeface="Calibri" pitchFamily="34" charset="0"/>
                <a:ea typeface="Calibri" pitchFamily="34" charset="-122"/>
                <a:cs typeface="Calibri" pitchFamily="34" charset="-120"/>
              </a:rPr>
              <a:t>Name the criterion, not the feeling: bounded users? evidence behind the claim? are the needs ranked?</a:t>
            </a:r>
            <a:endParaRPr lang="en-US" sz="1550" dirty="0"/>
          </a:p>
        </p:txBody>
      </p:sp>
      <p:sp>
        <p:nvSpPr>
          <p:cNvPr id="13" name="Text 1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14" name="Text 1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PAIR 1 · THE CONTRAST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Bounded users, ranked needs, a real quote</a:t>
            </a:r>
            <a:endParaRPr lang="en-US" sz="3100" dirty="0"/>
          </a:p>
        </p:txBody>
      </p:sp>
      <p:sp>
        <p:nvSpPr>
          <p:cNvPr id="5" name="Text 3"/>
          <p:cNvSpPr/>
          <p:nvPr/>
        </p:nvSpPr>
        <p:spPr>
          <a:xfrm>
            <a:off x="548640" y="1481328"/>
            <a:ext cx="11064240" cy="310896"/>
          </a:xfrm>
          <a:prstGeom prst="rect">
            <a:avLst/>
          </a:prstGeom>
          <a:noFill/>
          <a:ln/>
        </p:spPr>
        <p:txBody>
          <a:bodyPr wrap="square" lIns="0" tIns="0" rIns="0" bIns="0" rtlCol="0" anchor="ctr"/>
          <a:lstStyle/>
          <a:p>
            <a:pPr indent="0" marL="0">
              <a:buNone/>
            </a:pPr>
            <a:r>
              <a:rPr lang="en-US" sz="1300" b="1" spc="100" kern="0" dirty="0">
                <a:solidFill>
                  <a:srgbClr val="0E6E6D"/>
                </a:solidFill>
                <a:latin typeface="Calibri" pitchFamily="34" charset="0"/>
                <a:ea typeface="Calibri" pitchFamily="34" charset="-122"/>
                <a:cs typeface="Calibri" pitchFamily="34" charset="-120"/>
              </a:rPr>
              <a:t>SECTION 2 OF 9 · PROBLEM &amp; USERS  </a:t>
            </a:r>
            <a:pPr indent="0" marL="0">
              <a:buNone/>
            </a:pPr>
            <a:r>
              <a:rPr lang="en-US" sz="1300" dirty="0">
                <a:solidFill>
                  <a:srgbClr val="5F7284"/>
                </a:solidFill>
                <a:latin typeface="Calibri" pitchFamily="34" charset="0"/>
                <a:ea typeface="Calibri" pitchFamily="34" charset="-122"/>
                <a:cs typeface="Calibri" pitchFamily="34" charset="-120"/>
              </a:rPr>
              <a:t>— same section of the same document, written by someone who did the discovery.</a:t>
            </a:r>
            <a:endParaRPr lang="en-US" sz="1300" dirty="0"/>
          </a:p>
        </p:txBody>
      </p:sp>
      <p:sp>
        <p:nvSpPr>
          <p:cNvPr id="6" name="Shape 4"/>
          <p:cNvSpPr/>
          <p:nvPr/>
        </p:nvSpPr>
        <p:spPr>
          <a:xfrm>
            <a:off x="548640" y="1847088"/>
            <a:ext cx="5440680" cy="3291840"/>
          </a:xfrm>
          <a:prstGeom prst="roundRect">
            <a:avLst>
              <a:gd name="adj" fmla="val 2500"/>
            </a:avLst>
          </a:prstGeom>
          <a:solidFill>
            <a:srgbClr val="FBECE8"/>
          </a:solidFill>
          <a:ln/>
          <a:effectLst>
            <a:outerShdw sx="100000" sy="100000" kx="0" ky="0" algn="bl" rotWithShape="0" blurRad="88900" dist="38100" dir="5400000">
              <a:srgbClr val="000000">
                <a:alpha val="13000"/>
              </a:srgbClr>
            </a:outerShdw>
          </a:effectLst>
        </p:spPr>
      </p:sp>
      <p:sp>
        <p:nvSpPr>
          <p:cNvPr id="7" name="Text 5"/>
          <p:cNvSpPr/>
          <p:nvPr/>
        </p:nvSpPr>
        <p:spPr>
          <a:xfrm>
            <a:off x="804672" y="1993392"/>
            <a:ext cx="4928616" cy="384048"/>
          </a:xfrm>
          <a:prstGeom prst="rect">
            <a:avLst/>
          </a:prstGeom>
          <a:noFill/>
          <a:ln/>
        </p:spPr>
        <p:txBody>
          <a:bodyPr wrap="square" lIns="0" tIns="0" rIns="0" bIns="0" rtlCol="0" anchor="ctr"/>
          <a:lstStyle/>
          <a:p>
            <a:pPr indent="0" marL="0">
              <a:buNone/>
            </a:pPr>
            <a:r>
              <a:rPr lang="en-US" sz="1500" b="1" spc="40" kern="0" dirty="0">
                <a:solidFill>
                  <a:srgbClr val="D9614C"/>
                </a:solidFill>
                <a:latin typeface="Calibri" pitchFamily="34" charset="0"/>
                <a:ea typeface="Calibri" pitchFamily="34" charset="-122"/>
                <a:cs typeface="Calibri" pitchFamily="34" charset="-120"/>
              </a:rPr>
              <a:t>CostumeHub — the weak version</a:t>
            </a:r>
            <a:endParaRPr lang="en-US" sz="1500" dirty="0"/>
          </a:p>
        </p:txBody>
      </p:sp>
      <p:sp>
        <p:nvSpPr>
          <p:cNvPr id="8" name="Text 6"/>
          <p:cNvSpPr/>
          <p:nvPr/>
        </p:nvSpPr>
        <p:spPr>
          <a:xfrm>
            <a:off x="804672" y="2414016"/>
            <a:ext cx="4928616" cy="2542032"/>
          </a:xfrm>
          <a:prstGeom prst="rect">
            <a:avLst/>
          </a:prstGeom>
          <a:noFill/>
          <a:ln/>
        </p:spPr>
        <p:txBody>
          <a:bodyPr wrap="square" lIns="0" tIns="0" rIns="0" bIns="0" rtlCol="0" anchor="t"/>
          <a:lstStyle/>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“Theaters everywhere struggle…”</a:t>
            </a:r>
            <a:endParaRPr lang="en-US" sz="1500" dirty="0"/>
          </a:p>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“…community theaters, drama departments, dance studios, church groups, cosplayers, professional companies…”</a:t>
            </a:r>
            <a:endParaRPr lang="en-US" sz="1500" dirty="0"/>
          </a:p>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“I talked to my aunt… I also searched online.”</a:t>
            </a:r>
            <a:endParaRPr lang="en-US" sz="1500" dirty="0"/>
          </a:p>
        </p:txBody>
      </p:sp>
      <p:sp>
        <p:nvSpPr>
          <p:cNvPr id="9" name="Shape 7"/>
          <p:cNvSpPr/>
          <p:nvPr/>
        </p:nvSpPr>
        <p:spPr>
          <a:xfrm>
            <a:off x="6172200" y="1847088"/>
            <a:ext cx="5440680" cy="3291840"/>
          </a:xfrm>
          <a:prstGeom prst="roundRect">
            <a:avLst>
              <a:gd name="adj" fmla="val 2500"/>
            </a:avLst>
          </a:prstGeom>
          <a:solidFill>
            <a:srgbClr val="EAF4EE"/>
          </a:solidFill>
          <a:ln/>
          <a:effectLst>
            <a:outerShdw sx="100000" sy="100000" kx="0" ky="0" algn="bl" rotWithShape="0" blurRad="88900" dist="38100" dir="5400000">
              <a:srgbClr val="000000">
                <a:alpha val="13000"/>
              </a:srgbClr>
            </a:outerShdw>
          </a:effectLst>
        </p:spPr>
      </p:sp>
      <p:sp>
        <p:nvSpPr>
          <p:cNvPr id="10" name="Text 8"/>
          <p:cNvSpPr/>
          <p:nvPr/>
        </p:nvSpPr>
        <p:spPr>
          <a:xfrm>
            <a:off x="6428232" y="1993392"/>
            <a:ext cx="4928616" cy="384048"/>
          </a:xfrm>
          <a:prstGeom prst="rect">
            <a:avLst/>
          </a:prstGeom>
          <a:noFill/>
          <a:ln/>
        </p:spPr>
        <p:txBody>
          <a:bodyPr wrap="square" lIns="0" tIns="0" rIns="0" bIns="0" rtlCol="0" anchor="ctr"/>
          <a:lstStyle/>
          <a:p>
            <a:pPr indent="0" marL="0">
              <a:buNone/>
            </a:pPr>
            <a:r>
              <a:rPr lang="en-US" sz="1500" b="1" spc="40" kern="0" dirty="0">
                <a:solidFill>
                  <a:srgbClr val="0E6E6D"/>
                </a:solidFill>
                <a:latin typeface="Calibri" pitchFamily="34" charset="0"/>
                <a:ea typeface="Calibri" pitchFamily="34" charset="-122"/>
                <a:cs typeface="Calibri" pitchFamily="34" charset="-120"/>
              </a:rPr>
              <a:t>Backstage — the strong version</a:t>
            </a:r>
            <a:endParaRPr lang="en-US" sz="1500" dirty="0"/>
          </a:p>
        </p:txBody>
      </p:sp>
      <p:sp>
        <p:nvSpPr>
          <p:cNvPr id="11" name="Text 9"/>
          <p:cNvSpPr/>
          <p:nvPr/>
        </p:nvSpPr>
        <p:spPr>
          <a:xfrm>
            <a:off x="6428232" y="2414016"/>
            <a:ext cx="4928616" cy="2542032"/>
          </a:xfrm>
          <a:prstGeom prst="rect">
            <a:avLst/>
          </a:prstGeom>
          <a:noFill/>
          <a:ln/>
        </p:spPr>
        <p:txBody>
          <a:bodyPr wrap="square" lIns="0" tIns="0" rIns="0" bIns="0" rtlCol="0" anchor="t"/>
          <a:lstStyle/>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“Wardrobe and props volunteers at small community theaters — one to three people per theater.”</a:t>
            </a:r>
            <a:endParaRPr lang="en-US" sz="1500" dirty="0"/>
          </a:p>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“Need 1 — “Do we already own this?” cannot be answered from the shop floor. [E — 4 of 4]”</a:t>
            </a:r>
            <a:endParaRPr lang="en-US" sz="1500" dirty="0"/>
          </a:p>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“Ruth H. keeps the collection in a notebook and a shoebox of photos; finding an item means twenty minutes at the racks.”</a:t>
            </a:r>
            <a:endParaRPr lang="en-US" sz="1500" dirty="0"/>
          </a:p>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“What I have not established: [A] I have spoken to leads, not to new volunteers.”</a:t>
            </a:r>
            <a:endParaRPr lang="en-US" sz="1500" dirty="0"/>
          </a:p>
        </p:txBody>
      </p:sp>
      <p:sp>
        <p:nvSpPr>
          <p:cNvPr id="12" name="Shape 10"/>
          <p:cNvSpPr/>
          <p:nvPr/>
        </p:nvSpPr>
        <p:spPr>
          <a:xfrm>
            <a:off x="548640" y="5248656"/>
            <a:ext cx="11064240" cy="1005840"/>
          </a:xfrm>
          <a:prstGeom prst="roundRect">
            <a:avLst>
              <a:gd name="adj" fmla="val 8182"/>
            </a:avLst>
          </a:prstGeom>
          <a:solidFill>
            <a:srgbClr val="14233A"/>
          </a:solidFill>
          <a:ln/>
          <a:effectLst>
            <a:outerShdw sx="100000" sy="100000" kx="0" ky="0" algn="bl" rotWithShape="0" blurRad="88900" dist="38100" dir="5400000">
              <a:srgbClr val="000000">
                <a:alpha val="13000"/>
              </a:srgbClr>
            </a:outerShdw>
          </a:effectLst>
        </p:spPr>
      </p:sp>
      <p:sp>
        <p:nvSpPr>
          <p:cNvPr id="13" name="Text 11"/>
          <p:cNvSpPr/>
          <p:nvPr/>
        </p:nvSpPr>
        <p:spPr>
          <a:xfrm>
            <a:off x="914400" y="5248656"/>
            <a:ext cx="10332720" cy="1005840"/>
          </a:xfrm>
          <a:prstGeom prst="rect">
            <a:avLst/>
          </a:prstGeom>
          <a:noFill/>
          <a:ln/>
        </p:spPr>
        <p:txBody>
          <a:bodyPr wrap="square" lIns="0" tIns="0" rIns="0" bIns="0" rtlCol="0" anchor="ctr"/>
          <a:lstStyle/>
          <a:p>
            <a:pPr indent="0" marL="0">
              <a:lnSpc>
                <a:spcPct val="104000"/>
              </a:lnSpc>
              <a:buNone/>
            </a:pPr>
            <a:r>
              <a:rPr lang="en-US" sz="1500" b="1" dirty="0">
                <a:solidFill>
                  <a:srgbClr val="E8A33D"/>
                </a:solidFill>
                <a:latin typeface="Calibri" pitchFamily="34" charset="0"/>
                <a:ea typeface="Calibri" pitchFamily="34" charset="-122"/>
                <a:cs typeface="Calibri" pitchFamily="34" charset="-120"/>
              </a:rPr>
              <a:t>What changed: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the user is bounded and countable · needs are ranked and tagged with how many people said it · a specific person replaces “everywhere” · and the author names what they haven't established.</a:t>
            </a:r>
            <a:endParaRPr lang="en-US" sz="1500" dirty="0"/>
          </a:p>
        </p:txBody>
      </p:sp>
      <p:sp>
        <p:nvSpPr>
          <p:cNvPr id="14" name="Text 1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15" name="Text 1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PAIR 2 · TECHNICAL APPROACH</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Does this author know the project is possible?</a:t>
            </a:r>
            <a:endParaRPr lang="en-US" sz="3100" dirty="0"/>
          </a:p>
        </p:txBody>
      </p:sp>
      <p:sp>
        <p:nvSpPr>
          <p:cNvPr id="5" name="Text 3"/>
          <p:cNvSpPr/>
          <p:nvPr/>
        </p:nvSpPr>
        <p:spPr>
          <a:xfrm>
            <a:off x="548640" y="1481328"/>
            <a:ext cx="11064240" cy="310896"/>
          </a:xfrm>
          <a:prstGeom prst="rect">
            <a:avLst/>
          </a:prstGeom>
          <a:noFill/>
          <a:ln/>
        </p:spPr>
        <p:txBody>
          <a:bodyPr wrap="square" lIns="0" tIns="0" rIns="0" bIns="0" rtlCol="0" anchor="ctr"/>
          <a:lstStyle/>
          <a:p>
            <a:pPr indent="0" marL="0">
              <a:buNone/>
            </a:pPr>
            <a:r>
              <a:rPr lang="en-US" sz="1300" b="1" spc="100" kern="0" dirty="0">
                <a:solidFill>
                  <a:srgbClr val="0E6E6D"/>
                </a:solidFill>
                <a:latin typeface="Calibri" pitchFamily="34" charset="0"/>
                <a:ea typeface="Calibri" pitchFamily="34" charset="-122"/>
                <a:cs typeface="Calibri" pitchFamily="34" charset="-120"/>
              </a:rPr>
              <a:t>SECTION 6 OF 9 · TECHNICAL APPROACH  </a:t>
            </a:r>
            <a:pPr indent="0" marL="0">
              <a:buNone/>
            </a:pPr>
            <a:r>
              <a:rPr lang="en-US" sz="1300" dirty="0">
                <a:solidFill>
                  <a:srgbClr val="5F7284"/>
                </a:solidFill>
                <a:latin typeface="Calibri" pitchFamily="34" charset="0"/>
                <a:ea typeface="Calibri" pitchFamily="34" charset="-122"/>
                <a:cs typeface="Calibri" pitchFamily="34" charset="-120"/>
              </a:rPr>
              <a:t>— the stack, the gaps, and the spike — where “can this person build it?” gets answered.</a:t>
            </a:r>
            <a:endParaRPr lang="en-US" sz="1300" dirty="0"/>
          </a:p>
        </p:txBody>
      </p:sp>
      <p:sp>
        <p:nvSpPr>
          <p:cNvPr id="6" name="Shape 4"/>
          <p:cNvSpPr/>
          <p:nvPr/>
        </p:nvSpPr>
        <p:spPr>
          <a:xfrm>
            <a:off x="548640" y="1847088"/>
            <a:ext cx="11064240" cy="2926080"/>
          </a:xfrm>
          <a:prstGeom prst="roundRect">
            <a:avLst>
              <a:gd name="adj" fmla="val 2813"/>
            </a:avLst>
          </a:prstGeom>
          <a:solidFill>
            <a:srgbClr val="FBECE8"/>
          </a:solidFill>
          <a:ln/>
          <a:effectLst>
            <a:outerShdw sx="100000" sy="100000" kx="0" ky="0" algn="bl" rotWithShape="0" blurRad="88900" dist="38100" dir="5400000">
              <a:srgbClr val="000000">
                <a:alpha val="13000"/>
              </a:srgbClr>
            </a:outerShdw>
          </a:effectLst>
        </p:spPr>
      </p:sp>
      <p:sp>
        <p:nvSpPr>
          <p:cNvPr id="7" name="Text 5"/>
          <p:cNvSpPr/>
          <p:nvPr/>
        </p:nvSpPr>
        <p:spPr>
          <a:xfrm>
            <a:off x="804672" y="1993392"/>
            <a:ext cx="10552176" cy="384048"/>
          </a:xfrm>
          <a:prstGeom prst="rect">
            <a:avLst/>
          </a:prstGeom>
          <a:noFill/>
          <a:ln/>
        </p:spPr>
        <p:txBody>
          <a:bodyPr wrap="square" lIns="0" tIns="0" rIns="0" bIns="0" rtlCol="0" anchor="ctr"/>
          <a:lstStyle/>
          <a:p>
            <a:pPr indent="0" marL="0">
              <a:buNone/>
            </a:pPr>
            <a:r>
              <a:rPr lang="en-US" sz="1500" b="1" spc="40" kern="0" dirty="0">
                <a:solidFill>
                  <a:srgbClr val="D9614C"/>
                </a:solidFill>
                <a:latin typeface="Calibri" pitchFamily="34" charset="0"/>
                <a:ea typeface="Calibri" pitchFamily="34" charset="-122"/>
                <a:cs typeface="Calibri" pitchFamily="34" charset="-120"/>
              </a:rPr>
              <a:t>CostumeHub — the weak version</a:t>
            </a:r>
            <a:endParaRPr lang="en-US" sz="1500" dirty="0"/>
          </a:p>
        </p:txBody>
      </p:sp>
      <p:sp>
        <p:nvSpPr>
          <p:cNvPr id="8" name="Text 6"/>
          <p:cNvSpPr/>
          <p:nvPr/>
        </p:nvSpPr>
        <p:spPr>
          <a:xfrm>
            <a:off x="804672" y="2414016"/>
            <a:ext cx="10552176" cy="2176272"/>
          </a:xfrm>
          <a:prstGeom prst="rect">
            <a:avLst/>
          </a:prstGeom>
          <a:noFill/>
          <a:ln/>
        </p:spPr>
        <p:txBody>
          <a:bodyPr wrap="square" lIns="0" tIns="0" rIns="0" bIns="0" rtlCol="0" anchor="t"/>
          <a:lstStyle/>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“CostumeHub will be built with React on the front end and Node.js on the back end, which are modern, industry-standard technologies with lots of community support.”</a:t>
            </a:r>
            <a:endParaRPr lang="en-US" sz="1500" dirty="0"/>
          </a:p>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“For the database I will probably use MongoDB because it's flexible and works well with JavaScript.”</a:t>
            </a:r>
            <a:endParaRPr lang="en-US" sz="1500" dirty="0"/>
          </a:p>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“I have not run a spike yet, but I plan to start with the parts I already know and work up to the harder features.”</a:t>
            </a:r>
            <a:endParaRPr lang="en-US" sz="1500" dirty="0"/>
          </a:p>
        </p:txBody>
      </p:sp>
      <p:sp>
        <p:nvSpPr>
          <p:cNvPr id="9" name="Shape 7"/>
          <p:cNvSpPr/>
          <p:nvPr/>
        </p:nvSpPr>
        <p:spPr>
          <a:xfrm>
            <a:off x="548640" y="4956048"/>
            <a:ext cx="11064240" cy="1060704"/>
          </a:xfrm>
          <a:prstGeom prst="roundRect">
            <a:avLst>
              <a:gd name="adj" fmla="val 7759"/>
            </a:avLst>
          </a:prstGeom>
          <a:solidFill>
            <a:srgbClr val="14233A"/>
          </a:solidFill>
          <a:ln/>
          <a:effectLst>
            <a:outerShdw sx="100000" sy="100000" kx="0" ky="0" algn="bl" rotWithShape="0" blurRad="88900" dist="38100" dir="5400000">
              <a:srgbClr val="000000">
                <a:alpha val="13000"/>
              </a:srgbClr>
            </a:outerShdw>
          </a:effectLst>
        </p:spPr>
      </p:sp>
      <p:sp>
        <p:nvSpPr>
          <p:cNvPr id="10" name="Shape 8"/>
          <p:cNvSpPr/>
          <p:nvPr/>
        </p:nvSpPr>
        <p:spPr>
          <a:xfrm>
            <a:off x="868680" y="5212080"/>
            <a:ext cx="548640" cy="548640"/>
          </a:xfrm>
          <a:prstGeom prst="ellipse">
            <a:avLst/>
          </a:prstGeom>
          <a:solidFill>
            <a:srgbClr val="E8A33D"/>
          </a:solidFill>
          <a:ln/>
        </p:spPr>
      </p:sp>
      <p:pic>
        <p:nvPicPr>
          <p:cNvPr id="11" name="Image 0" descr="preencoded.png">    </p:cNvPr>
          <p:cNvPicPr>
            <a:picLocks noChangeAspect="1"/>
          </p:cNvPicPr>
          <p:nvPr/>
        </p:nvPicPr>
        <p:blipFill>
          <a:blip r:embed="rId1"/>
          <a:stretch>
            <a:fillRect/>
          </a:stretch>
        </p:blipFill>
        <p:spPr>
          <a:xfrm>
            <a:off x="1016813" y="5360213"/>
            <a:ext cx="252374" cy="252374"/>
          </a:xfrm>
          <a:prstGeom prst="rect">
            <a:avLst/>
          </a:prstGeom>
        </p:spPr>
      </p:pic>
      <p:sp>
        <p:nvSpPr>
          <p:cNvPr id="12" name="Text 9"/>
          <p:cNvSpPr/>
          <p:nvPr/>
        </p:nvSpPr>
        <p:spPr>
          <a:xfrm>
            <a:off x="1627632" y="4956048"/>
            <a:ext cx="9692640" cy="1060704"/>
          </a:xfrm>
          <a:prstGeom prst="rect">
            <a:avLst/>
          </a:prstGeom>
          <a:noFill/>
          <a:ln/>
        </p:spPr>
        <p:txBody>
          <a:bodyPr wrap="square" lIns="0" tIns="0" rIns="0" bIns="0" rtlCol="0" anchor="ctr"/>
          <a:lstStyle/>
          <a:p>
            <a:pPr indent="0" marL="0">
              <a:lnSpc>
                <a:spcPct val="105000"/>
              </a:lnSpc>
              <a:buNone/>
            </a:pPr>
            <a:r>
              <a:rPr lang="en-US" sz="1550" b="1" dirty="0">
                <a:solidFill>
                  <a:srgbClr val="E8A33D"/>
                </a:solidFill>
                <a:latin typeface="Calibri" pitchFamily="34" charset="0"/>
                <a:ea typeface="Calibri" pitchFamily="34" charset="-122"/>
                <a:cs typeface="Calibri" pitchFamily="34" charset="-120"/>
              </a:rPr>
              <a:t>Test every justification:  </a:t>
            </a:r>
            <a:pPr indent="0" marL="0">
              <a:lnSpc>
                <a:spcPct val="105000"/>
              </a:lnSpc>
              <a:buNone/>
            </a:pPr>
            <a:r>
              <a:rPr lang="en-US" sz="1550" dirty="0">
                <a:solidFill>
                  <a:srgbClr val="FFFFFF"/>
                </a:solidFill>
                <a:latin typeface="Calibri" pitchFamily="34" charset="0"/>
                <a:ea typeface="Calibri" pitchFamily="34" charset="-122"/>
                <a:cs typeface="Calibri" pitchFamily="34" charset="-120"/>
              </a:rPr>
              <a:t>would this same sentence fit any other project on earth? If yes, it isn't a justification — it's a label.</a:t>
            </a:r>
            <a:endParaRPr lang="en-US" sz="1550" dirty="0"/>
          </a:p>
        </p:txBody>
      </p:sp>
      <p:sp>
        <p:nvSpPr>
          <p:cNvPr id="13" name="Text 1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14" name="Text 1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PAIR 2 · THE CONTRAST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Adjectives vs. constraints — and a spike that ran</a:t>
            </a:r>
            <a:endParaRPr lang="en-US" sz="3100" dirty="0"/>
          </a:p>
        </p:txBody>
      </p:sp>
      <p:sp>
        <p:nvSpPr>
          <p:cNvPr id="5" name="Text 3"/>
          <p:cNvSpPr/>
          <p:nvPr/>
        </p:nvSpPr>
        <p:spPr>
          <a:xfrm>
            <a:off x="548640" y="1481328"/>
            <a:ext cx="11064240" cy="310896"/>
          </a:xfrm>
          <a:prstGeom prst="rect">
            <a:avLst/>
          </a:prstGeom>
          <a:noFill/>
          <a:ln/>
        </p:spPr>
        <p:txBody>
          <a:bodyPr wrap="square" lIns="0" tIns="0" rIns="0" bIns="0" rtlCol="0" anchor="ctr"/>
          <a:lstStyle/>
          <a:p>
            <a:pPr indent="0" marL="0">
              <a:buNone/>
            </a:pPr>
            <a:r>
              <a:rPr lang="en-US" sz="1300" b="1" spc="100" kern="0" dirty="0">
                <a:solidFill>
                  <a:srgbClr val="0E6E6D"/>
                </a:solidFill>
                <a:latin typeface="Calibri" pitchFamily="34" charset="0"/>
                <a:ea typeface="Calibri" pitchFamily="34" charset="-122"/>
                <a:cs typeface="Calibri" pitchFamily="34" charset="-120"/>
              </a:rPr>
              <a:t>SECTION 6 OF 9 · TECHNICAL APPROACH  </a:t>
            </a:r>
            <a:pPr indent="0" marL="0">
              <a:buNone/>
            </a:pPr>
            <a:r>
              <a:rPr lang="en-US" sz="1300" dirty="0">
                <a:solidFill>
                  <a:srgbClr val="5F7284"/>
                </a:solidFill>
                <a:latin typeface="Calibri" pitchFamily="34" charset="0"/>
                <a:ea typeface="Calibri" pitchFamily="34" charset="-122"/>
                <a:cs typeface="Calibri" pitchFamily="34" charset="-120"/>
              </a:rPr>
              <a:t>— four lines from Backstage: two stack choices, the spike, and what the spike changed.</a:t>
            </a:r>
            <a:endParaRPr lang="en-US" sz="1300" dirty="0"/>
          </a:p>
        </p:txBody>
      </p:sp>
      <p:sp>
        <p:nvSpPr>
          <p:cNvPr id="6" name="Shape 4"/>
          <p:cNvSpPr/>
          <p:nvPr/>
        </p:nvSpPr>
        <p:spPr>
          <a:xfrm>
            <a:off x="548640" y="1847088"/>
            <a:ext cx="5440680" cy="3291840"/>
          </a:xfrm>
          <a:prstGeom prst="roundRect">
            <a:avLst>
              <a:gd name="adj" fmla="val 2500"/>
            </a:avLst>
          </a:prstGeom>
          <a:solidFill>
            <a:srgbClr val="FBECE8"/>
          </a:solidFill>
          <a:ln/>
          <a:effectLst>
            <a:outerShdw sx="100000" sy="100000" kx="0" ky="0" algn="bl" rotWithShape="0" blurRad="88900" dist="38100" dir="5400000">
              <a:srgbClr val="000000">
                <a:alpha val="13000"/>
              </a:srgbClr>
            </a:outerShdw>
          </a:effectLst>
        </p:spPr>
      </p:sp>
      <p:sp>
        <p:nvSpPr>
          <p:cNvPr id="7" name="Text 5"/>
          <p:cNvSpPr/>
          <p:nvPr/>
        </p:nvSpPr>
        <p:spPr>
          <a:xfrm>
            <a:off x="804672" y="1993392"/>
            <a:ext cx="4928616" cy="384048"/>
          </a:xfrm>
          <a:prstGeom prst="rect">
            <a:avLst/>
          </a:prstGeom>
          <a:noFill/>
          <a:ln/>
        </p:spPr>
        <p:txBody>
          <a:bodyPr wrap="square" lIns="0" tIns="0" rIns="0" bIns="0" rtlCol="0" anchor="ctr"/>
          <a:lstStyle/>
          <a:p>
            <a:pPr indent="0" marL="0">
              <a:buNone/>
            </a:pPr>
            <a:r>
              <a:rPr lang="en-US" sz="1500" b="1" spc="40" kern="0" dirty="0">
                <a:solidFill>
                  <a:srgbClr val="D9614C"/>
                </a:solidFill>
                <a:latin typeface="Calibri" pitchFamily="34" charset="0"/>
                <a:ea typeface="Calibri" pitchFamily="34" charset="-122"/>
                <a:cs typeface="Calibri" pitchFamily="34" charset="-120"/>
              </a:rPr>
              <a:t>CostumeHub — the weak version</a:t>
            </a:r>
            <a:endParaRPr lang="en-US" sz="1500" dirty="0"/>
          </a:p>
        </p:txBody>
      </p:sp>
      <p:sp>
        <p:nvSpPr>
          <p:cNvPr id="8" name="Text 6"/>
          <p:cNvSpPr/>
          <p:nvPr/>
        </p:nvSpPr>
        <p:spPr>
          <a:xfrm>
            <a:off x="804672" y="2414016"/>
            <a:ext cx="4928616" cy="2542032"/>
          </a:xfrm>
          <a:prstGeom prst="rect">
            <a:avLst/>
          </a:prstGeom>
          <a:noFill/>
          <a:ln/>
        </p:spPr>
        <p:txBody>
          <a:bodyPr wrap="square" lIns="0" tIns="0" rIns="0" bIns="0" rtlCol="0" anchor="t"/>
          <a:lstStyle/>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“React and Node — modern, industry-standard, lots of community support.”</a:t>
            </a:r>
            <a:endParaRPr lang="en-US" sz="1500" dirty="0"/>
          </a:p>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“Probably MongoDB because it's flexible.”</a:t>
            </a:r>
            <a:endParaRPr lang="en-US" sz="1500" dirty="0"/>
          </a:p>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“I have not run a spike yet, but I plan to start with the parts I already know.”</a:t>
            </a:r>
            <a:endParaRPr lang="en-US" sz="1500" dirty="0"/>
          </a:p>
        </p:txBody>
      </p:sp>
      <p:sp>
        <p:nvSpPr>
          <p:cNvPr id="9" name="Shape 7"/>
          <p:cNvSpPr/>
          <p:nvPr/>
        </p:nvSpPr>
        <p:spPr>
          <a:xfrm>
            <a:off x="6172200" y="1847088"/>
            <a:ext cx="5440680" cy="3291840"/>
          </a:xfrm>
          <a:prstGeom prst="roundRect">
            <a:avLst>
              <a:gd name="adj" fmla="val 2500"/>
            </a:avLst>
          </a:prstGeom>
          <a:solidFill>
            <a:srgbClr val="EAF4EE"/>
          </a:solidFill>
          <a:ln/>
          <a:effectLst>
            <a:outerShdw sx="100000" sy="100000" kx="0" ky="0" algn="bl" rotWithShape="0" blurRad="88900" dist="38100" dir="5400000">
              <a:srgbClr val="000000">
                <a:alpha val="13000"/>
              </a:srgbClr>
            </a:outerShdw>
          </a:effectLst>
        </p:spPr>
      </p:sp>
      <p:sp>
        <p:nvSpPr>
          <p:cNvPr id="10" name="Text 8"/>
          <p:cNvSpPr/>
          <p:nvPr/>
        </p:nvSpPr>
        <p:spPr>
          <a:xfrm>
            <a:off x="6428232" y="1993392"/>
            <a:ext cx="4928616" cy="384048"/>
          </a:xfrm>
          <a:prstGeom prst="rect">
            <a:avLst/>
          </a:prstGeom>
          <a:noFill/>
          <a:ln/>
        </p:spPr>
        <p:txBody>
          <a:bodyPr wrap="square" lIns="0" tIns="0" rIns="0" bIns="0" rtlCol="0" anchor="ctr"/>
          <a:lstStyle/>
          <a:p>
            <a:pPr indent="0" marL="0">
              <a:buNone/>
            </a:pPr>
            <a:r>
              <a:rPr lang="en-US" sz="1500" b="1" spc="40" kern="0" dirty="0">
                <a:solidFill>
                  <a:srgbClr val="0E6E6D"/>
                </a:solidFill>
                <a:latin typeface="Calibri" pitchFamily="34" charset="0"/>
                <a:ea typeface="Calibri" pitchFamily="34" charset="-122"/>
                <a:cs typeface="Calibri" pitchFamily="34" charset="-120"/>
              </a:rPr>
              <a:t>Backstage — the strong version</a:t>
            </a:r>
            <a:endParaRPr lang="en-US" sz="1500" dirty="0"/>
          </a:p>
        </p:txBody>
      </p:sp>
      <p:sp>
        <p:nvSpPr>
          <p:cNvPr id="11" name="Text 9"/>
          <p:cNvSpPr/>
          <p:nvPr/>
        </p:nvSpPr>
        <p:spPr>
          <a:xfrm>
            <a:off x="6428232" y="2414016"/>
            <a:ext cx="4928616" cy="2542032"/>
          </a:xfrm>
          <a:prstGeom prst="rect">
            <a:avLst/>
          </a:prstGeom>
          <a:noFill/>
          <a:ln/>
        </p:spPr>
        <p:txBody>
          <a:bodyPr wrap="square" lIns="0" tIns="0" rIns="0" bIns="0" rtlCol="0" anchor="t"/>
          <a:lstStyle/>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“Django + Postgres — I've shipped two Django apps, and the admin gives the wardrobe lead a data-repair tool on day one for free.”</a:t>
            </a:r>
            <a:endParaRPr lang="en-US" sz="1500" dirty="0"/>
          </a:p>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“A $6/month VPS — no IT staff exists at these theaters; one box I can hand over beats an architecture nobody can operate.”</a:t>
            </a:r>
            <a:endParaRPr lang="en-US" sz="1500" dirty="0"/>
          </a:p>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“Client-side downscaling before upload — direct result of the spike; not optional.”</a:t>
            </a:r>
            <a:endParaRPr lang="en-US" sz="1500" dirty="0"/>
          </a:p>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“Spike, 6-hour box: naive upload = 71 s median, three of ten failed on the venue's wifi. With downscaling: 48 s, zero failures.”</a:t>
            </a:r>
            <a:endParaRPr lang="en-US" sz="1500" dirty="0"/>
          </a:p>
        </p:txBody>
      </p:sp>
      <p:sp>
        <p:nvSpPr>
          <p:cNvPr id="12" name="Shape 10"/>
          <p:cNvSpPr/>
          <p:nvPr/>
        </p:nvSpPr>
        <p:spPr>
          <a:xfrm>
            <a:off x="548640" y="5248656"/>
            <a:ext cx="11064240" cy="1005840"/>
          </a:xfrm>
          <a:prstGeom prst="roundRect">
            <a:avLst>
              <a:gd name="adj" fmla="val 8182"/>
            </a:avLst>
          </a:prstGeom>
          <a:solidFill>
            <a:srgbClr val="14233A"/>
          </a:solidFill>
          <a:ln/>
          <a:effectLst>
            <a:outerShdw sx="100000" sy="100000" kx="0" ky="0" algn="bl" rotWithShape="0" blurRad="88900" dist="38100" dir="5400000">
              <a:srgbClr val="000000">
                <a:alpha val="13000"/>
              </a:srgbClr>
            </a:outerShdw>
          </a:effectLst>
        </p:spPr>
      </p:sp>
      <p:sp>
        <p:nvSpPr>
          <p:cNvPr id="13" name="Text 11"/>
          <p:cNvSpPr/>
          <p:nvPr/>
        </p:nvSpPr>
        <p:spPr>
          <a:xfrm>
            <a:off x="914400" y="5248656"/>
            <a:ext cx="10332720" cy="1005840"/>
          </a:xfrm>
          <a:prstGeom prst="rect">
            <a:avLst/>
          </a:prstGeom>
          <a:noFill/>
          <a:ln/>
        </p:spPr>
        <p:txBody>
          <a:bodyPr wrap="square" lIns="0" tIns="0" rIns="0" bIns="0" rtlCol="0" anchor="ctr"/>
          <a:lstStyle/>
          <a:p>
            <a:pPr indent="0" marL="0">
              <a:lnSpc>
                <a:spcPct val="104000"/>
              </a:lnSpc>
              <a:buNone/>
            </a:pPr>
            <a:r>
              <a:rPr lang="en-US" sz="1500" b="1" dirty="0">
                <a:solidFill>
                  <a:srgbClr val="E8A33D"/>
                </a:solidFill>
                <a:latin typeface="Calibri" pitchFamily="34" charset="0"/>
                <a:ea typeface="Calibri" pitchFamily="34" charset="-122"/>
                <a:cs typeface="Calibri" pitchFamily="34" charset="-120"/>
              </a:rPr>
              <a:t>What changed: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every reason is now a constraint — no IT staff, a box the theater can actually operate, a venue where uploads fail — instead of an adjective; and the scariest unknown was answered in six hours, not hoped about.</a:t>
            </a:r>
            <a:endParaRPr lang="en-US" sz="1500" dirty="0"/>
          </a:p>
        </p:txBody>
      </p:sp>
      <p:sp>
        <p:nvSpPr>
          <p:cNvPr id="14" name="Text 1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15" name="Text 1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PAIR 3 · NON-GOALS &amp; MVP</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What's wrong with this scope?</a:t>
            </a:r>
            <a:endParaRPr lang="en-US" sz="3100" dirty="0"/>
          </a:p>
        </p:txBody>
      </p:sp>
      <p:sp>
        <p:nvSpPr>
          <p:cNvPr id="5" name="Text 3"/>
          <p:cNvSpPr/>
          <p:nvPr/>
        </p:nvSpPr>
        <p:spPr>
          <a:xfrm>
            <a:off x="548640" y="1481328"/>
            <a:ext cx="11064240" cy="310896"/>
          </a:xfrm>
          <a:prstGeom prst="rect">
            <a:avLst/>
          </a:prstGeom>
          <a:noFill/>
          <a:ln/>
        </p:spPr>
        <p:txBody>
          <a:bodyPr wrap="square" lIns="0" tIns="0" rIns="0" bIns="0" rtlCol="0" anchor="ctr"/>
          <a:lstStyle/>
          <a:p>
            <a:pPr indent="0" marL="0">
              <a:buNone/>
            </a:pPr>
            <a:r>
              <a:rPr lang="en-US" sz="1300" b="1" spc="100" kern="0" dirty="0">
                <a:solidFill>
                  <a:srgbClr val="0E6E6D"/>
                </a:solidFill>
                <a:latin typeface="Calibri" pitchFamily="34" charset="0"/>
                <a:ea typeface="Calibri" pitchFamily="34" charset="-122"/>
                <a:cs typeface="Calibri" pitchFamily="34" charset="-120"/>
              </a:rPr>
              <a:t>SECTIONS 5 AND 8 OF 9 · NON-GOALS + MVP  </a:t>
            </a:r>
            <a:pPr indent="0" marL="0">
              <a:buNone/>
            </a:pPr>
            <a:r>
              <a:rPr lang="en-US" sz="1300" dirty="0">
                <a:solidFill>
                  <a:srgbClr val="5F7284"/>
                </a:solidFill>
                <a:latin typeface="Calibri" pitchFamily="34" charset="0"/>
                <a:ea typeface="Calibri" pitchFamily="34" charset="-122"/>
                <a:cs typeface="Calibri" pitchFamily="34" charset="-120"/>
              </a:rPr>
              <a:t>— what you deliberately won't build, and the slice you actually will.</a:t>
            </a:r>
            <a:endParaRPr lang="en-US" sz="1300" dirty="0"/>
          </a:p>
        </p:txBody>
      </p:sp>
      <p:sp>
        <p:nvSpPr>
          <p:cNvPr id="6" name="Shape 4"/>
          <p:cNvSpPr/>
          <p:nvPr/>
        </p:nvSpPr>
        <p:spPr>
          <a:xfrm>
            <a:off x="548640" y="1828800"/>
            <a:ext cx="11064240" cy="1371600"/>
          </a:xfrm>
          <a:prstGeom prst="roundRect">
            <a:avLst>
              <a:gd name="adj" fmla="val 6000"/>
            </a:avLst>
          </a:prstGeom>
          <a:solidFill>
            <a:srgbClr val="FBECE8"/>
          </a:solidFill>
          <a:ln/>
          <a:effectLst>
            <a:outerShdw sx="100000" sy="100000" kx="0" ky="0" algn="bl" rotWithShape="0" blurRad="88900" dist="38100" dir="5400000">
              <a:srgbClr val="000000">
                <a:alpha val="13000"/>
              </a:srgbClr>
            </a:outerShdw>
          </a:effectLst>
        </p:spPr>
      </p:sp>
      <p:sp>
        <p:nvSpPr>
          <p:cNvPr id="7" name="Text 5"/>
          <p:cNvSpPr/>
          <p:nvPr/>
        </p:nvSpPr>
        <p:spPr>
          <a:xfrm>
            <a:off x="804672" y="1975104"/>
            <a:ext cx="10552176" cy="384048"/>
          </a:xfrm>
          <a:prstGeom prst="rect">
            <a:avLst/>
          </a:prstGeom>
          <a:noFill/>
          <a:ln/>
        </p:spPr>
        <p:txBody>
          <a:bodyPr wrap="square" lIns="0" tIns="0" rIns="0" bIns="0" rtlCol="0" anchor="ctr"/>
          <a:lstStyle/>
          <a:p>
            <a:pPr indent="0" marL="0">
              <a:buNone/>
            </a:pPr>
            <a:r>
              <a:rPr lang="en-US" sz="1500" b="1" spc="40" kern="0" dirty="0">
                <a:solidFill>
                  <a:srgbClr val="D9614C"/>
                </a:solidFill>
                <a:latin typeface="Calibri" pitchFamily="34" charset="0"/>
                <a:ea typeface="Calibri" pitchFamily="34" charset="-122"/>
                <a:cs typeface="Calibri" pitchFamily="34" charset="-120"/>
              </a:rPr>
              <a:t>CostumeHub — non-goals</a:t>
            </a:r>
            <a:endParaRPr lang="en-US" sz="1500" dirty="0"/>
          </a:p>
        </p:txBody>
      </p:sp>
      <p:sp>
        <p:nvSpPr>
          <p:cNvPr id="8" name="Text 6"/>
          <p:cNvSpPr/>
          <p:nvPr/>
        </p:nvSpPr>
        <p:spPr>
          <a:xfrm>
            <a:off x="804672" y="2395728"/>
            <a:ext cx="10552176" cy="621792"/>
          </a:xfrm>
          <a:prstGeom prst="rect">
            <a:avLst/>
          </a:prstGeom>
          <a:noFill/>
          <a:ln/>
        </p:spPr>
        <p:txBody>
          <a:bodyPr wrap="square" lIns="0" tIns="0" rIns="0" bIns="0" rtlCol="0" anchor="t"/>
          <a:lstStyle/>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“Non-goals: None at this time. The goal of CostumeHub is to be a complete solution, so I don't want to rule anything out this early.”</a:t>
            </a:r>
            <a:endParaRPr lang="en-US" sz="1500" dirty="0"/>
          </a:p>
        </p:txBody>
      </p:sp>
      <p:sp>
        <p:nvSpPr>
          <p:cNvPr id="9" name="Shape 7"/>
          <p:cNvSpPr/>
          <p:nvPr/>
        </p:nvSpPr>
        <p:spPr>
          <a:xfrm>
            <a:off x="548640" y="3310128"/>
            <a:ext cx="11064240" cy="1691640"/>
          </a:xfrm>
          <a:prstGeom prst="roundRect">
            <a:avLst>
              <a:gd name="adj" fmla="val 4865"/>
            </a:avLst>
          </a:prstGeom>
          <a:solidFill>
            <a:srgbClr val="FBECE8"/>
          </a:solidFill>
          <a:ln/>
          <a:effectLst>
            <a:outerShdw sx="100000" sy="100000" kx="0" ky="0" algn="bl" rotWithShape="0" blurRad="88900" dist="38100" dir="5400000">
              <a:srgbClr val="000000">
                <a:alpha val="13000"/>
              </a:srgbClr>
            </a:outerShdw>
          </a:effectLst>
        </p:spPr>
      </p:sp>
      <p:sp>
        <p:nvSpPr>
          <p:cNvPr id="10" name="Text 8"/>
          <p:cNvSpPr/>
          <p:nvPr/>
        </p:nvSpPr>
        <p:spPr>
          <a:xfrm>
            <a:off x="804672" y="3456432"/>
            <a:ext cx="10552176" cy="384048"/>
          </a:xfrm>
          <a:prstGeom prst="rect">
            <a:avLst/>
          </a:prstGeom>
          <a:noFill/>
          <a:ln/>
        </p:spPr>
        <p:txBody>
          <a:bodyPr wrap="square" lIns="0" tIns="0" rIns="0" bIns="0" rtlCol="0" anchor="ctr"/>
          <a:lstStyle/>
          <a:p>
            <a:pPr indent="0" marL="0">
              <a:buNone/>
            </a:pPr>
            <a:r>
              <a:rPr lang="en-US" sz="1500" b="1" spc="40" kern="0" dirty="0">
                <a:solidFill>
                  <a:srgbClr val="D9614C"/>
                </a:solidFill>
                <a:latin typeface="Calibri" pitchFamily="34" charset="0"/>
                <a:ea typeface="Calibri" pitchFamily="34" charset="-122"/>
                <a:cs typeface="Calibri" pitchFamily="34" charset="-120"/>
              </a:rPr>
              <a:t>CostumeHub — MVP</a:t>
            </a:r>
            <a:endParaRPr lang="en-US" sz="1500" dirty="0"/>
          </a:p>
        </p:txBody>
      </p:sp>
      <p:sp>
        <p:nvSpPr>
          <p:cNvPr id="11" name="Text 9"/>
          <p:cNvSpPr/>
          <p:nvPr/>
        </p:nvSpPr>
        <p:spPr>
          <a:xfrm>
            <a:off x="804672" y="3877056"/>
            <a:ext cx="10552176" cy="941832"/>
          </a:xfrm>
          <a:prstGeom prst="rect">
            <a:avLst/>
          </a:prstGeom>
          <a:noFill/>
          <a:ln/>
        </p:spPr>
        <p:txBody>
          <a:bodyPr wrap="square" lIns="0" tIns="0" rIns="0" bIns="0" rtlCol="0" anchor="t"/>
          <a:lstStyle/>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“The MVP will include the inventory catalog with photos, barcode scanning, the mobile app, check-out and return tracking, and basic rental support.”</a:t>
            </a:r>
            <a:endParaRPr lang="en-US" sz="1500" dirty="0"/>
          </a:p>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“This should be achievable working about 10 hours per week for 14 weeks, which is 140 hours — plenty of time for a project of this size.”</a:t>
            </a:r>
            <a:endParaRPr lang="en-US" sz="1500" dirty="0"/>
          </a:p>
        </p:txBody>
      </p:sp>
      <p:sp>
        <p:nvSpPr>
          <p:cNvPr id="12" name="Shape 10"/>
          <p:cNvSpPr/>
          <p:nvPr/>
        </p:nvSpPr>
        <p:spPr>
          <a:xfrm>
            <a:off x="548640" y="5193792"/>
            <a:ext cx="11064240" cy="987552"/>
          </a:xfrm>
          <a:prstGeom prst="roundRect">
            <a:avLst>
              <a:gd name="adj" fmla="val 8333"/>
            </a:avLst>
          </a:prstGeom>
          <a:solidFill>
            <a:srgbClr val="14233A"/>
          </a:solidFill>
          <a:ln/>
          <a:effectLst>
            <a:outerShdw sx="100000" sy="100000" kx="0" ky="0" algn="bl" rotWithShape="0" blurRad="88900" dist="38100" dir="5400000">
              <a:srgbClr val="000000">
                <a:alpha val="13000"/>
              </a:srgbClr>
            </a:outerShdw>
          </a:effectLst>
        </p:spPr>
      </p:sp>
      <p:sp>
        <p:nvSpPr>
          <p:cNvPr id="13" name="Shape 11"/>
          <p:cNvSpPr/>
          <p:nvPr/>
        </p:nvSpPr>
        <p:spPr>
          <a:xfrm>
            <a:off x="868680" y="5413248"/>
            <a:ext cx="548640" cy="548640"/>
          </a:xfrm>
          <a:prstGeom prst="ellipse">
            <a:avLst/>
          </a:prstGeom>
          <a:solidFill>
            <a:srgbClr val="E8A33D"/>
          </a:solidFill>
          <a:ln/>
        </p:spPr>
      </p:sp>
      <p:pic>
        <p:nvPicPr>
          <p:cNvPr id="14" name="Image 0" descr="preencoded.png">    </p:cNvPr>
          <p:cNvPicPr>
            <a:picLocks noChangeAspect="1"/>
          </p:cNvPicPr>
          <p:nvPr/>
        </p:nvPicPr>
        <p:blipFill>
          <a:blip r:embed="rId1"/>
          <a:stretch>
            <a:fillRect/>
          </a:stretch>
        </p:blipFill>
        <p:spPr>
          <a:xfrm>
            <a:off x="1016813" y="5561381"/>
            <a:ext cx="252374" cy="252374"/>
          </a:xfrm>
          <a:prstGeom prst="rect">
            <a:avLst/>
          </a:prstGeom>
        </p:spPr>
      </p:pic>
      <p:sp>
        <p:nvSpPr>
          <p:cNvPr id="15" name="Text 12"/>
          <p:cNvSpPr/>
          <p:nvPr/>
        </p:nvSpPr>
        <p:spPr>
          <a:xfrm>
            <a:off x="1627632" y="5193792"/>
            <a:ext cx="9692640" cy="987552"/>
          </a:xfrm>
          <a:prstGeom prst="rect">
            <a:avLst/>
          </a:prstGeom>
          <a:noFill/>
          <a:ln/>
        </p:spPr>
        <p:txBody>
          <a:bodyPr wrap="square" lIns="0" tIns="0" rIns="0" bIns="0" rtlCol="0" anchor="ctr"/>
          <a:lstStyle/>
          <a:p>
            <a:pPr indent="0" marL="0">
              <a:lnSpc>
                <a:spcPct val="105000"/>
              </a:lnSpc>
              <a:buNone/>
            </a:pPr>
            <a:r>
              <a:rPr lang="en-US" sz="1550" b="1" dirty="0">
                <a:solidFill>
                  <a:srgbClr val="E8A33D"/>
                </a:solidFill>
                <a:latin typeface="Calibri" pitchFamily="34" charset="0"/>
                <a:ea typeface="Calibri" pitchFamily="34" charset="-122"/>
                <a:cs typeface="Calibri" pitchFamily="34" charset="-120"/>
              </a:rPr>
              <a:t>Two problems here.  </a:t>
            </a:r>
            <a:pPr indent="0" marL="0">
              <a:lnSpc>
                <a:spcPct val="105000"/>
              </a:lnSpc>
              <a:buNone/>
            </a:pPr>
            <a:r>
              <a:rPr lang="en-US" sz="1550" dirty="0">
                <a:solidFill>
                  <a:srgbClr val="FFFFFF"/>
                </a:solidFill>
                <a:latin typeface="Calibri" pitchFamily="34" charset="0"/>
                <a:ea typeface="Calibri" pitchFamily="34" charset="-122"/>
                <a:cs typeface="Calibri" pitchFamily="34" charset="-120"/>
              </a:rPr>
              <a:t>One is a section that exists but says nothing. The other is a number. Find both.</a:t>
            </a:r>
            <a:endParaRPr lang="en-US" sz="1550" dirty="0"/>
          </a:p>
        </p:txBody>
      </p:sp>
      <p:sp>
        <p:nvSpPr>
          <p:cNvPr id="16" name="Text 1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17" name="Text 1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PAIR 3 · THE CONTRAST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 cut that hurt — and an MVP sized against real weeks</a:t>
            </a:r>
            <a:endParaRPr lang="en-US" sz="3100" dirty="0"/>
          </a:p>
        </p:txBody>
      </p:sp>
      <p:sp>
        <p:nvSpPr>
          <p:cNvPr id="5" name="Text 3"/>
          <p:cNvSpPr/>
          <p:nvPr/>
        </p:nvSpPr>
        <p:spPr>
          <a:xfrm>
            <a:off x="548640" y="1481328"/>
            <a:ext cx="11064240" cy="310896"/>
          </a:xfrm>
          <a:prstGeom prst="rect">
            <a:avLst/>
          </a:prstGeom>
          <a:noFill/>
          <a:ln/>
        </p:spPr>
        <p:txBody>
          <a:bodyPr wrap="square" lIns="0" tIns="0" rIns="0" bIns="0" rtlCol="0" anchor="ctr"/>
          <a:lstStyle/>
          <a:p>
            <a:pPr indent="0" marL="0">
              <a:buNone/>
            </a:pPr>
            <a:r>
              <a:rPr lang="en-US" sz="1300" b="1" spc="100" kern="0" dirty="0">
                <a:solidFill>
                  <a:srgbClr val="0E6E6D"/>
                </a:solidFill>
                <a:latin typeface="Calibri" pitchFamily="34" charset="0"/>
                <a:ea typeface="Calibri" pitchFamily="34" charset="-122"/>
                <a:cs typeface="Calibri" pitchFamily="34" charset="-120"/>
              </a:rPr>
              <a:t>SECTIONS 5 AND 8 OF 9 · NON-GOALS + MVP  </a:t>
            </a:r>
            <a:pPr indent="0" marL="0">
              <a:buNone/>
            </a:pPr>
            <a:r>
              <a:rPr lang="en-US" sz="1300" dirty="0">
                <a:solidFill>
                  <a:srgbClr val="5F7284"/>
                </a:solidFill>
                <a:latin typeface="Calibri" pitchFamily="34" charset="0"/>
                <a:ea typeface="Calibri" pitchFamily="34" charset="-122"/>
                <a:cs typeface="Calibri" pitchFamily="34" charset="-120"/>
              </a:rPr>
              <a:t>— the offcuts, with reasons — and the slice those cuts made possible.</a:t>
            </a:r>
            <a:endParaRPr lang="en-US" sz="1300" dirty="0"/>
          </a:p>
        </p:txBody>
      </p:sp>
      <p:sp>
        <p:nvSpPr>
          <p:cNvPr id="6" name="Shape 4"/>
          <p:cNvSpPr/>
          <p:nvPr/>
        </p:nvSpPr>
        <p:spPr>
          <a:xfrm>
            <a:off x="548640" y="1847088"/>
            <a:ext cx="5440680" cy="3291840"/>
          </a:xfrm>
          <a:prstGeom prst="roundRect">
            <a:avLst>
              <a:gd name="adj" fmla="val 2500"/>
            </a:avLst>
          </a:prstGeom>
          <a:solidFill>
            <a:srgbClr val="FBECE8"/>
          </a:solidFill>
          <a:ln/>
          <a:effectLst>
            <a:outerShdw sx="100000" sy="100000" kx="0" ky="0" algn="bl" rotWithShape="0" blurRad="88900" dist="38100" dir="5400000">
              <a:srgbClr val="000000">
                <a:alpha val="13000"/>
              </a:srgbClr>
            </a:outerShdw>
          </a:effectLst>
        </p:spPr>
      </p:sp>
      <p:sp>
        <p:nvSpPr>
          <p:cNvPr id="7" name="Text 5"/>
          <p:cNvSpPr/>
          <p:nvPr/>
        </p:nvSpPr>
        <p:spPr>
          <a:xfrm>
            <a:off x="804672" y="1993392"/>
            <a:ext cx="4928616" cy="384048"/>
          </a:xfrm>
          <a:prstGeom prst="rect">
            <a:avLst/>
          </a:prstGeom>
          <a:noFill/>
          <a:ln/>
        </p:spPr>
        <p:txBody>
          <a:bodyPr wrap="square" lIns="0" tIns="0" rIns="0" bIns="0" rtlCol="0" anchor="ctr"/>
          <a:lstStyle/>
          <a:p>
            <a:pPr indent="0" marL="0">
              <a:buNone/>
            </a:pPr>
            <a:r>
              <a:rPr lang="en-US" sz="1500" b="1" spc="40" kern="0" dirty="0">
                <a:solidFill>
                  <a:srgbClr val="D9614C"/>
                </a:solidFill>
                <a:latin typeface="Calibri" pitchFamily="34" charset="0"/>
                <a:ea typeface="Calibri" pitchFamily="34" charset="-122"/>
                <a:cs typeface="Calibri" pitchFamily="34" charset="-120"/>
              </a:rPr>
              <a:t>CostumeHub — the weak version</a:t>
            </a:r>
            <a:endParaRPr lang="en-US" sz="1500" dirty="0"/>
          </a:p>
        </p:txBody>
      </p:sp>
      <p:sp>
        <p:nvSpPr>
          <p:cNvPr id="8" name="Text 6"/>
          <p:cNvSpPr/>
          <p:nvPr/>
        </p:nvSpPr>
        <p:spPr>
          <a:xfrm>
            <a:off x="804672" y="2414016"/>
            <a:ext cx="4928616" cy="2542032"/>
          </a:xfrm>
          <a:prstGeom prst="rect">
            <a:avLst/>
          </a:prstGeom>
          <a:noFill/>
          <a:ln/>
        </p:spPr>
        <p:txBody>
          <a:bodyPr wrap="square" lIns="0" tIns="0" rIns="0" bIns="0" rtlCol="0" anchor="t"/>
          <a:lstStyle/>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“Non-goals: None at this time — we want a complete solution.”</a:t>
            </a:r>
            <a:endParaRPr lang="en-US" sz="1500" dirty="0"/>
          </a:p>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“MVP: catalog + barcode scanning + mobile app + rentals.”</a:t>
            </a:r>
            <a:endParaRPr lang="en-US" sz="1500" dirty="0"/>
          </a:p>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“10 hrs/week × 14 weeks = 140 hours — plenty of time.”</a:t>
            </a:r>
            <a:endParaRPr lang="en-US" sz="1500" dirty="0"/>
          </a:p>
        </p:txBody>
      </p:sp>
      <p:sp>
        <p:nvSpPr>
          <p:cNvPr id="9" name="Shape 7"/>
          <p:cNvSpPr/>
          <p:nvPr/>
        </p:nvSpPr>
        <p:spPr>
          <a:xfrm>
            <a:off x="6172200" y="1847088"/>
            <a:ext cx="5440680" cy="3291840"/>
          </a:xfrm>
          <a:prstGeom prst="roundRect">
            <a:avLst>
              <a:gd name="adj" fmla="val 2500"/>
            </a:avLst>
          </a:prstGeom>
          <a:solidFill>
            <a:srgbClr val="EAF4EE"/>
          </a:solidFill>
          <a:ln/>
          <a:effectLst>
            <a:outerShdw sx="100000" sy="100000" kx="0" ky="0" algn="bl" rotWithShape="0" blurRad="88900" dist="38100" dir="5400000">
              <a:srgbClr val="000000">
                <a:alpha val="13000"/>
              </a:srgbClr>
            </a:outerShdw>
          </a:effectLst>
        </p:spPr>
      </p:sp>
      <p:sp>
        <p:nvSpPr>
          <p:cNvPr id="10" name="Text 8"/>
          <p:cNvSpPr/>
          <p:nvPr/>
        </p:nvSpPr>
        <p:spPr>
          <a:xfrm>
            <a:off x="6428232" y="1993392"/>
            <a:ext cx="4928616" cy="384048"/>
          </a:xfrm>
          <a:prstGeom prst="rect">
            <a:avLst/>
          </a:prstGeom>
          <a:noFill/>
          <a:ln/>
        </p:spPr>
        <p:txBody>
          <a:bodyPr wrap="square" lIns="0" tIns="0" rIns="0" bIns="0" rtlCol="0" anchor="ctr"/>
          <a:lstStyle/>
          <a:p>
            <a:pPr indent="0" marL="0">
              <a:buNone/>
            </a:pPr>
            <a:r>
              <a:rPr lang="en-US" sz="1500" b="1" spc="40" kern="0" dirty="0">
                <a:solidFill>
                  <a:srgbClr val="0E6E6D"/>
                </a:solidFill>
                <a:latin typeface="Calibri" pitchFamily="34" charset="0"/>
                <a:ea typeface="Calibri" pitchFamily="34" charset="-122"/>
                <a:cs typeface="Calibri" pitchFamily="34" charset="-120"/>
              </a:rPr>
              <a:t>Backstage — the strong version</a:t>
            </a:r>
            <a:endParaRPr lang="en-US" sz="1500" dirty="0"/>
          </a:p>
        </p:txBody>
      </p:sp>
      <p:sp>
        <p:nvSpPr>
          <p:cNvPr id="11" name="Text 9"/>
          <p:cNvSpPr/>
          <p:nvPr/>
        </p:nvSpPr>
        <p:spPr>
          <a:xfrm>
            <a:off x="6428232" y="2414016"/>
            <a:ext cx="4928616" cy="2542032"/>
          </a:xfrm>
          <a:prstGeom prst="rect">
            <a:avLst/>
          </a:prstGeom>
          <a:noFill/>
          <a:ln/>
        </p:spPr>
        <p:txBody>
          <a:bodyPr wrap="square" lIns="0" tIns="0" rIns="0" bIns="0" rtlCol="0" anchor="t"/>
          <a:lstStyle/>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“No inter-theater rental marketplace — the most-requested “wouldn't it be cool,” and the fastest way to lose the semester.”</a:t>
            </a:r>
            <a:endParaRPr lang="en-US" sz="1500" dirty="0"/>
          </a:p>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“Cutting it is what makes the rest of this proposal credible. It was in my first draft.”</a:t>
            </a:r>
            <a:endParaRPr lang="en-US" sz="1500" dirty="0"/>
          </a:p>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“MVP: one theater, one workflow, 60 real items — sized against roughly five build weeks.”</a:t>
            </a:r>
            <a:endParaRPr lang="en-US" sz="1500" dirty="0"/>
          </a:p>
        </p:txBody>
      </p:sp>
      <p:sp>
        <p:nvSpPr>
          <p:cNvPr id="12" name="Shape 10"/>
          <p:cNvSpPr/>
          <p:nvPr/>
        </p:nvSpPr>
        <p:spPr>
          <a:xfrm>
            <a:off x="548640" y="5248656"/>
            <a:ext cx="11064240" cy="1005840"/>
          </a:xfrm>
          <a:prstGeom prst="roundRect">
            <a:avLst>
              <a:gd name="adj" fmla="val 8182"/>
            </a:avLst>
          </a:prstGeom>
          <a:solidFill>
            <a:srgbClr val="14233A"/>
          </a:solidFill>
          <a:ln/>
          <a:effectLst>
            <a:outerShdw sx="100000" sy="100000" kx="0" ky="0" algn="bl" rotWithShape="0" blurRad="88900" dist="38100" dir="5400000">
              <a:srgbClr val="000000">
                <a:alpha val="13000"/>
              </a:srgbClr>
            </a:outerShdw>
          </a:effectLst>
        </p:spPr>
      </p:sp>
      <p:sp>
        <p:nvSpPr>
          <p:cNvPr id="13" name="Text 11"/>
          <p:cNvSpPr/>
          <p:nvPr/>
        </p:nvSpPr>
        <p:spPr>
          <a:xfrm>
            <a:off x="914400" y="5248656"/>
            <a:ext cx="10332720" cy="1005840"/>
          </a:xfrm>
          <a:prstGeom prst="rect">
            <a:avLst/>
          </a:prstGeom>
          <a:noFill/>
          <a:ln/>
        </p:spPr>
        <p:txBody>
          <a:bodyPr wrap="square" lIns="0" tIns="0" rIns="0" bIns="0" rtlCol="0" anchor="ctr"/>
          <a:lstStyle/>
          <a:p>
            <a:pPr indent="0" marL="0">
              <a:lnSpc>
                <a:spcPct val="104000"/>
              </a:lnSpc>
              <a:buNone/>
            </a:pPr>
            <a:r>
              <a:rPr lang="en-US" sz="1500" b="1" dirty="0">
                <a:solidFill>
                  <a:srgbClr val="E8A33D"/>
                </a:solidFill>
                <a:latin typeface="Calibri" pitchFamily="34" charset="0"/>
                <a:ea typeface="Calibri" pitchFamily="34" charset="-122"/>
                <a:cs typeface="Calibri" pitchFamily="34" charset="-120"/>
              </a:rPr>
              <a:t>What changed: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the cuts are named with reasons — including one the author regretted — and the MVP is one workflow end to end, sized against the weeks that actually exist.</a:t>
            </a:r>
            <a:endParaRPr lang="en-US" sz="1500" dirty="0"/>
          </a:p>
        </p:txBody>
      </p:sp>
      <p:sp>
        <p:nvSpPr>
          <p:cNvPr id="14" name="Text 1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15" name="Text 1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SYNTHESIS · PART 1</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Weak patterns — the ones we just watched</a:t>
            </a:r>
            <a:endParaRPr lang="en-US" sz="3100" dirty="0"/>
          </a:p>
        </p:txBody>
      </p:sp>
      <p:sp>
        <p:nvSpPr>
          <p:cNvPr id="5" name="Shape 3"/>
          <p:cNvSpPr/>
          <p:nvPr/>
        </p:nvSpPr>
        <p:spPr>
          <a:xfrm>
            <a:off x="548640" y="1664208"/>
            <a:ext cx="5440680" cy="731520"/>
          </a:xfrm>
          <a:prstGeom prst="roundRect">
            <a:avLst>
              <a:gd name="adj" fmla="val 11250"/>
            </a:avLst>
          </a:prstGeom>
          <a:solidFill>
            <a:srgbClr val="FBECE8"/>
          </a:solidFill>
          <a:ln/>
          <a:effectLst>
            <a:outerShdw sx="100000" sy="100000" kx="0" ky="0" algn="bl" rotWithShape="0" blurRad="88900" dist="38100" dir="5400000">
              <a:srgbClr val="000000">
                <a:alpha val="13000"/>
              </a:srgbClr>
            </a:outerShdw>
          </a:effectLst>
        </p:spPr>
      </p:sp>
      <p:sp>
        <p:nvSpPr>
          <p:cNvPr id="6" name="Shape 4"/>
          <p:cNvSpPr/>
          <p:nvPr/>
        </p:nvSpPr>
        <p:spPr>
          <a:xfrm>
            <a:off x="749808" y="1837944"/>
            <a:ext cx="384048" cy="384048"/>
          </a:xfrm>
          <a:prstGeom prst="ellipse">
            <a:avLst/>
          </a:prstGeom>
          <a:solidFill>
            <a:srgbClr val="D9614C"/>
          </a:solidFill>
          <a:ln/>
        </p:spPr>
      </p:sp>
      <p:pic>
        <p:nvPicPr>
          <p:cNvPr id="7" name="Image 0" descr="preencoded.png">    </p:cNvPr>
          <p:cNvPicPr>
            <a:picLocks noChangeAspect="1"/>
          </p:cNvPicPr>
          <p:nvPr/>
        </p:nvPicPr>
        <p:blipFill>
          <a:blip r:embed="rId1"/>
          <a:stretch>
            <a:fillRect/>
          </a:stretch>
        </p:blipFill>
        <p:spPr>
          <a:xfrm>
            <a:off x="853501" y="1941637"/>
            <a:ext cx="176662" cy="176662"/>
          </a:xfrm>
          <a:prstGeom prst="rect">
            <a:avLst/>
          </a:prstGeom>
        </p:spPr>
      </p:pic>
      <p:sp>
        <p:nvSpPr>
          <p:cNvPr id="8" name="Text 5"/>
          <p:cNvSpPr/>
          <p:nvPr/>
        </p:nvSpPr>
        <p:spPr>
          <a:xfrm>
            <a:off x="1261872" y="1664208"/>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The unbounded user — “theaters everywhere,” six audiences at once</a:t>
            </a:r>
            <a:endParaRPr lang="en-US" sz="1400" dirty="0"/>
          </a:p>
        </p:txBody>
      </p:sp>
      <p:sp>
        <p:nvSpPr>
          <p:cNvPr id="9" name="Shape 6"/>
          <p:cNvSpPr/>
          <p:nvPr/>
        </p:nvSpPr>
        <p:spPr>
          <a:xfrm>
            <a:off x="548640" y="2505456"/>
            <a:ext cx="5440680" cy="731520"/>
          </a:xfrm>
          <a:prstGeom prst="roundRect">
            <a:avLst>
              <a:gd name="adj" fmla="val 11250"/>
            </a:avLst>
          </a:prstGeom>
          <a:solidFill>
            <a:srgbClr val="FBECE8"/>
          </a:solidFill>
          <a:ln/>
          <a:effectLst>
            <a:outerShdw sx="100000" sy="100000" kx="0" ky="0" algn="bl" rotWithShape="0" blurRad="88900" dist="38100" dir="5400000">
              <a:srgbClr val="000000">
                <a:alpha val="13000"/>
              </a:srgbClr>
            </a:outerShdw>
          </a:effectLst>
        </p:spPr>
      </p:sp>
      <p:sp>
        <p:nvSpPr>
          <p:cNvPr id="10" name="Shape 7"/>
          <p:cNvSpPr/>
          <p:nvPr/>
        </p:nvSpPr>
        <p:spPr>
          <a:xfrm>
            <a:off x="749808" y="2679192"/>
            <a:ext cx="384048" cy="384048"/>
          </a:xfrm>
          <a:prstGeom prst="ellipse">
            <a:avLst/>
          </a:prstGeom>
          <a:solidFill>
            <a:srgbClr val="D9614C"/>
          </a:solidFill>
          <a:ln/>
        </p:spPr>
      </p:sp>
      <p:pic>
        <p:nvPicPr>
          <p:cNvPr id="11" name="Image 1" descr="preencoded.png">    </p:cNvPr>
          <p:cNvPicPr>
            <a:picLocks noChangeAspect="1"/>
          </p:cNvPicPr>
          <p:nvPr/>
        </p:nvPicPr>
        <p:blipFill>
          <a:blip r:embed="rId2"/>
          <a:stretch>
            <a:fillRect/>
          </a:stretch>
        </p:blipFill>
        <p:spPr>
          <a:xfrm>
            <a:off x="853501" y="2782885"/>
            <a:ext cx="176662" cy="176662"/>
          </a:xfrm>
          <a:prstGeom prst="rect">
            <a:avLst/>
          </a:prstGeom>
        </p:spPr>
      </p:pic>
      <p:sp>
        <p:nvSpPr>
          <p:cNvPr id="12" name="Text 8"/>
          <p:cNvSpPr/>
          <p:nvPr/>
        </p:nvSpPr>
        <p:spPr>
          <a:xfrm>
            <a:off x="1261872" y="2505456"/>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Anecdote as evidence — one relative and a search result</a:t>
            </a:r>
            <a:endParaRPr lang="en-US" sz="1400" dirty="0"/>
          </a:p>
        </p:txBody>
      </p:sp>
      <p:sp>
        <p:nvSpPr>
          <p:cNvPr id="13" name="Shape 9"/>
          <p:cNvSpPr/>
          <p:nvPr/>
        </p:nvSpPr>
        <p:spPr>
          <a:xfrm>
            <a:off x="548640" y="3346704"/>
            <a:ext cx="5440680" cy="731520"/>
          </a:xfrm>
          <a:prstGeom prst="roundRect">
            <a:avLst>
              <a:gd name="adj" fmla="val 11250"/>
            </a:avLst>
          </a:prstGeom>
          <a:solidFill>
            <a:srgbClr val="FBECE8"/>
          </a:solidFill>
          <a:ln/>
          <a:effectLst>
            <a:outerShdw sx="100000" sy="100000" kx="0" ky="0" algn="bl" rotWithShape="0" blurRad="88900" dist="38100" dir="5400000">
              <a:srgbClr val="000000">
                <a:alpha val="13000"/>
              </a:srgbClr>
            </a:outerShdw>
          </a:effectLst>
        </p:spPr>
      </p:sp>
      <p:sp>
        <p:nvSpPr>
          <p:cNvPr id="14" name="Shape 10"/>
          <p:cNvSpPr/>
          <p:nvPr/>
        </p:nvSpPr>
        <p:spPr>
          <a:xfrm>
            <a:off x="749808" y="3520440"/>
            <a:ext cx="384048" cy="384048"/>
          </a:xfrm>
          <a:prstGeom prst="ellipse">
            <a:avLst/>
          </a:prstGeom>
          <a:solidFill>
            <a:srgbClr val="D9614C"/>
          </a:solidFill>
          <a:ln/>
        </p:spPr>
      </p:sp>
      <p:pic>
        <p:nvPicPr>
          <p:cNvPr id="15" name="Image 2" descr="preencoded.png">    </p:cNvPr>
          <p:cNvPicPr>
            <a:picLocks noChangeAspect="1"/>
          </p:cNvPicPr>
          <p:nvPr/>
        </p:nvPicPr>
        <p:blipFill>
          <a:blip r:embed="rId3"/>
          <a:stretch>
            <a:fillRect/>
          </a:stretch>
        </p:blipFill>
        <p:spPr>
          <a:xfrm>
            <a:off x="853501" y="3624133"/>
            <a:ext cx="176662" cy="176662"/>
          </a:xfrm>
          <a:prstGeom prst="rect">
            <a:avLst/>
          </a:prstGeom>
        </p:spPr>
      </p:pic>
      <p:sp>
        <p:nvSpPr>
          <p:cNvPr id="16" name="Text 11"/>
          <p:cNvSpPr/>
          <p:nvPr/>
        </p:nvSpPr>
        <p:spPr>
          <a:xfrm>
            <a:off x="1261872" y="3346704"/>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The feature flood — twelve items, no tiers, no mapping to needs</a:t>
            </a:r>
            <a:endParaRPr lang="en-US" sz="1400" dirty="0"/>
          </a:p>
        </p:txBody>
      </p:sp>
      <p:sp>
        <p:nvSpPr>
          <p:cNvPr id="17" name="Shape 12"/>
          <p:cNvSpPr/>
          <p:nvPr/>
        </p:nvSpPr>
        <p:spPr>
          <a:xfrm>
            <a:off x="548640" y="4187952"/>
            <a:ext cx="5440680" cy="731520"/>
          </a:xfrm>
          <a:prstGeom prst="roundRect">
            <a:avLst>
              <a:gd name="adj" fmla="val 11250"/>
            </a:avLst>
          </a:prstGeom>
          <a:solidFill>
            <a:srgbClr val="FBECE8"/>
          </a:solidFill>
          <a:ln/>
          <a:effectLst>
            <a:outerShdw sx="100000" sy="100000" kx="0" ky="0" algn="bl" rotWithShape="0" blurRad="88900" dist="38100" dir="5400000">
              <a:srgbClr val="000000">
                <a:alpha val="13000"/>
              </a:srgbClr>
            </a:outerShdw>
          </a:effectLst>
        </p:spPr>
      </p:sp>
      <p:sp>
        <p:nvSpPr>
          <p:cNvPr id="18" name="Shape 13"/>
          <p:cNvSpPr/>
          <p:nvPr/>
        </p:nvSpPr>
        <p:spPr>
          <a:xfrm>
            <a:off x="749808" y="4361688"/>
            <a:ext cx="384048" cy="384048"/>
          </a:xfrm>
          <a:prstGeom prst="ellipse">
            <a:avLst/>
          </a:prstGeom>
          <a:solidFill>
            <a:srgbClr val="D9614C"/>
          </a:solidFill>
          <a:ln/>
        </p:spPr>
      </p:sp>
      <p:pic>
        <p:nvPicPr>
          <p:cNvPr id="19" name="Image 3" descr="preencoded.png">    </p:cNvPr>
          <p:cNvPicPr>
            <a:picLocks noChangeAspect="1"/>
          </p:cNvPicPr>
          <p:nvPr/>
        </p:nvPicPr>
        <p:blipFill>
          <a:blip r:embed="rId4"/>
          <a:stretch>
            <a:fillRect/>
          </a:stretch>
        </p:blipFill>
        <p:spPr>
          <a:xfrm>
            <a:off x="853501" y="4465381"/>
            <a:ext cx="176662" cy="176662"/>
          </a:xfrm>
          <a:prstGeom prst="rect">
            <a:avLst/>
          </a:prstGeom>
        </p:spPr>
      </p:pic>
      <p:sp>
        <p:nvSpPr>
          <p:cNvPr id="20" name="Text 14"/>
          <p:cNvSpPr/>
          <p:nvPr/>
        </p:nvSpPr>
        <p:spPr>
          <a:xfrm>
            <a:off x="1261872" y="4187952"/>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Non-goals empty or missing — scoping postponed, not done</a:t>
            </a:r>
            <a:endParaRPr lang="en-US" sz="1400" dirty="0"/>
          </a:p>
        </p:txBody>
      </p:sp>
      <p:sp>
        <p:nvSpPr>
          <p:cNvPr id="21" name="Shape 15"/>
          <p:cNvSpPr/>
          <p:nvPr/>
        </p:nvSpPr>
        <p:spPr>
          <a:xfrm>
            <a:off x="548640" y="5029200"/>
            <a:ext cx="5440680" cy="731520"/>
          </a:xfrm>
          <a:prstGeom prst="roundRect">
            <a:avLst>
              <a:gd name="adj" fmla="val 11250"/>
            </a:avLst>
          </a:prstGeom>
          <a:solidFill>
            <a:srgbClr val="FBECE8"/>
          </a:solidFill>
          <a:ln/>
          <a:effectLst>
            <a:outerShdw sx="100000" sy="100000" kx="0" ky="0" algn="bl" rotWithShape="0" blurRad="88900" dist="38100" dir="5400000">
              <a:srgbClr val="000000">
                <a:alpha val="13000"/>
              </a:srgbClr>
            </a:outerShdw>
          </a:effectLst>
        </p:spPr>
      </p:sp>
      <p:sp>
        <p:nvSpPr>
          <p:cNvPr id="22" name="Shape 16"/>
          <p:cNvSpPr/>
          <p:nvPr/>
        </p:nvSpPr>
        <p:spPr>
          <a:xfrm>
            <a:off x="749808" y="5202936"/>
            <a:ext cx="384048" cy="384048"/>
          </a:xfrm>
          <a:prstGeom prst="ellipse">
            <a:avLst/>
          </a:prstGeom>
          <a:solidFill>
            <a:srgbClr val="D9614C"/>
          </a:solidFill>
          <a:ln/>
        </p:spPr>
      </p:sp>
      <p:pic>
        <p:nvPicPr>
          <p:cNvPr id="23" name="Image 4" descr="preencoded.png">    </p:cNvPr>
          <p:cNvPicPr>
            <a:picLocks noChangeAspect="1"/>
          </p:cNvPicPr>
          <p:nvPr/>
        </p:nvPicPr>
        <p:blipFill>
          <a:blip r:embed="rId5"/>
          <a:stretch>
            <a:fillRect/>
          </a:stretch>
        </p:blipFill>
        <p:spPr>
          <a:xfrm>
            <a:off x="853501" y="5306629"/>
            <a:ext cx="176662" cy="176662"/>
          </a:xfrm>
          <a:prstGeom prst="rect">
            <a:avLst/>
          </a:prstGeom>
        </p:spPr>
      </p:pic>
      <p:sp>
        <p:nvSpPr>
          <p:cNvPr id="24" name="Text 17"/>
          <p:cNvSpPr/>
          <p:nvPr/>
        </p:nvSpPr>
        <p:spPr>
          <a:xfrm>
            <a:off x="1261872" y="5029200"/>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Adjective-only stack justification — “modern,” “flexible”</a:t>
            </a:r>
            <a:endParaRPr lang="en-US" sz="1400" dirty="0"/>
          </a:p>
        </p:txBody>
      </p:sp>
      <p:sp>
        <p:nvSpPr>
          <p:cNvPr id="25" name="Shape 18"/>
          <p:cNvSpPr/>
          <p:nvPr/>
        </p:nvSpPr>
        <p:spPr>
          <a:xfrm>
            <a:off x="6172200" y="1664208"/>
            <a:ext cx="5440680" cy="731520"/>
          </a:xfrm>
          <a:prstGeom prst="roundRect">
            <a:avLst>
              <a:gd name="adj" fmla="val 11250"/>
            </a:avLst>
          </a:prstGeom>
          <a:solidFill>
            <a:srgbClr val="FBECE8"/>
          </a:solidFill>
          <a:ln/>
          <a:effectLst>
            <a:outerShdw sx="100000" sy="100000" kx="0" ky="0" algn="bl" rotWithShape="0" blurRad="88900" dist="38100" dir="5400000">
              <a:srgbClr val="000000">
                <a:alpha val="13000"/>
              </a:srgbClr>
            </a:outerShdw>
          </a:effectLst>
        </p:spPr>
      </p:sp>
      <p:sp>
        <p:nvSpPr>
          <p:cNvPr id="26" name="Shape 19"/>
          <p:cNvSpPr/>
          <p:nvPr/>
        </p:nvSpPr>
        <p:spPr>
          <a:xfrm>
            <a:off x="6373368" y="1837944"/>
            <a:ext cx="384048" cy="384048"/>
          </a:xfrm>
          <a:prstGeom prst="ellipse">
            <a:avLst/>
          </a:prstGeom>
          <a:solidFill>
            <a:srgbClr val="D9614C"/>
          </a:solidFill>
          <a:ln/>
        </p:spPr>
      </p:sp>
      <p:pic>
        <p:nvPicPr>
          <p:cNvPr id="27" name="Image 5" descr="preencoded.png">    </p:cNvPr>
          <p:cNvPicPr>
            <a:picLocks noChangeAspect="1"/>
          </p:cNvPicPr>
          <p:nvPr/>
        </p:nvPicPr>
        <p:blipFill>
          <a:blip r:embed="rId6"/>
          <a:stretch>
            <a:fillRect/>
          </a:stretch>
        </p:blipFill>
        <p:spPr>
          <a:xfrm>
            <a:off x="6477061" y="1941637"/>
            <a:ext cx="176662" cy="176662"/>
          </a:xfrm>
          <a:prstGeom prst="rect">
            <a:avLst/>
          </a:prstGeom>
        </p:spPr>
      </p:pic>
      <p:sp>
        <p:nvSpPr>
          <p:cNvPr id="28" name="Text 20"/>
          <p:cNvSpPr/>
          <p:nvPr/>
        </p:nvSpPr>
        <p:spPr>
          <a:xfrm>
            <a:off x="6885432" y="1664208"/>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The spike promised, not run</a:t>
            </a:r>
            <a:endParaRPr lang="en-US" sz="1400" dirty="0"/>
          </a:p>
        </p:txBody>
      </p:sp>
      <p:sp>
        <p:nvSpPr>
          <p:cNvPr id="29" name="Shape 21"/>
          <p:cNvSpPr/>
          <p:nvPr/>
        </p:nvSpPr>
        <p:spPr>
          <a:xfrm>
            <a:off x="6172200" y="2505456"/>
            <a:ext cx="5440680" cy="731520"/>
          </a:xfrm>
          <a:prstGeom prst="roundRect">
            <a:avLst>
              <a:gd name="adj" fmla="val 11250"/>
            </a:avLst>
          </a:prstGeom>
          <a:solidFill>
            <a:srgbClr val="FBECE8"/>
          </a:solidFill>
          <a:ln/>
          <a:effectLst>
            <a:outerShdw sx="100000" sy="100000" kx="0" ky="0" algn="bl" rotWithShape="0" blurRad="88900" dist="38100" dir="5400000">
              <a:srgbClr val="000000">
                <a:alpha val="13000"/>
              </a:srgbClr>
            </a:outerShdw>
          </a:effectLst>
        </p:spPr>
      </p:sp>
      <p:sp>
        <p:nvSpPr>
          <p:cNvPr id="30" name="Shape 22"/>
          <p:cNvSpPr/>
          <p:nvPr/>
        </p:nvSpPr>
        <p:spPr>
          <a:xfrm>
            <a:off x="6373368" y="2679192"/>
            <a:ext cx="384048" cy="384048"/>
          </a:xfrm>
          <a:prstGeom prst="ellipse">
            <a:avLst/>
          </a:prstGeom>
          <a:solidFill>
            <a:srgbClr val="D9614C"/>
          </a:solidFill>
          <a:ln/>
        </p:spPr>
      </p:sp>
      <p:pic>
        <p:nvPicPr>
          <p:cNvPr id="31" name="Image 6" descr="preencoded.png">    </p:cNvPr>
          <p:cNvPicPr>
            <a:picLocks noChangeAspect="1"/>
          </p:cNvPicPr>
          <p:nvPr/>
        </p:nvPicPr>
        <p:blipFill>
          <a:blip r:embed="rId7"/>
          <a:stretch>
            <a:fillRect/>
          </a:stretch>
        </p:blipFill>
        <p:spPr>
          <a:xfrm>
            <a:off x="6477061" y="2782885"/>
            <a:ext cx="176662" cy="176662"/>
          </a:xfrm>
          <a:prstGeom prst="rect">
            <a:avLst/>
          </a:prstGeom>
        </p:spPr>
      </p:pic>
      <p:sp>
        <p:nvSpPr>
          <p:cNvPr id="32" name="Text 23"/>
          <p:cNvSpPr/>
          <p:nvPr/>
        </p:nvSpPr>
        <p:spPr>
          <a:xfrm>
            <a:off x="6885432" y="2505456"/>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Generic risks — “time management,” “bugs may occur”</a:t>
            </a:r>
            <a:endParaRPr lang="en-US" sz="1400" dirty="0"/>
          </a:p>
        </p:txBody>
      </p:sp>
      <p:sp>
        <p:nvSpPr>
          <p:cNvPr id="33" name="Shape 24"/>
          <p:cNvSpPr/>
          <p:nvPr/>
        </p:nvSpPr>
        <p:spPr>
          <a:xfrm>
            <a:off x="6172200" y="3346704"/>
            <a:ext cx="5440680" cy="731520"/>
          </a:xfrm>
          <a:prstGeom prst="roundRect">
            <a:avLst>
              <a:gd name="adj" fmla="val 11250"/>
            </a:avLst>
          </a:prstGeom>
          <a:solidFill>
            <a:srgbClr val="FBECE8"/>
          </a:solidFill>
          <a:ln/>
          <a:effectLst>
            <a:outerShdw sx="100000" sy="100000" kx="0" ky="0" algn="bl" rotWithShape="0" blurRad="88900" dist="38100" dir="5400000">
              <a:srgbClr val="000000">
                <a:alpha val="13000"/>
              </a:srgbClr>
            </a:outerShdw>
          </a:effectLst>
        </p:spPr>
      </p:sp>
      <p:sp>
        <p:nvSpPr>
          <p:cNvPr id="34" name="Shape 25"/>
          <p:cNvSpPr/>
          <p:nvPr/>
        </p:nvSpPr>
        <p:spPr>
          <a:xfrm>
            <a:off x="6373368" y="3520440"/>
            <a:ext cx="384048" cy="384048"/>
          </a:xfrm>
          <a:prstGeom prst="ellipse">
            <a:avLst/>
          </a:prstGeom>
          <a:solidFill>
            <a:srgbClr val="D9614C"/>
          </a:solidFill>
          <a:ln/>
        </p:spPr>
      </p:sp>
      <p:pic>
        <p:nvPicPr>
          <p:cNvPr id="35" name="Image 7" descr="preencoded.png">    </p:cNvPr>
          <p:cNvPicPr>
            <a:picLocks noChangeAspect="1"/>
          </p:cNvPicPr>
          <p:nvPr/>
        </p:nvPicPr>
        <p:blipFill>
          <a:blip r:embed="rId8"/>
          <a:stretch>
            <a:fillRect/>
          </a:stretch>
        </p:blipFill>
        <p:spPr>
          <a:xfrm>
            <a:off x="6477061" y="3624133"/>
            <a:ext cx="176662" cy="176662"/>
          </a:xfrm>
          <a:prstGeom prst="rect">
            <a:avLst/>
          </a:prstGeom>
        </p:spPr>
      </p:pic>
      <p:sp>
        <p:nvSpPr>
          <p:cNvPr id="36" name="Text 26"/>
          <p:cNvSpPr/>
          <p:nvPr/>
        </p:nvSpPr>
        <p:spPr>
          <a:xfrm>
            <a:off x="6885432" y="3346704"/>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The 140-hour arithmetic</a:t>
            </a:r>
            <a:endParaRPr lang="en-US" sz="1400" dirty="0"/>
          </a:p>
        </p:txBody>
      </p:sp>
      <p:sp>
        <p:nvSpPr>
          <p:cNvPr id="37" name="Shape 27"/>
          <p:cNvSpPr/>
          <p:nvPr/>
        </p:nvSpPr>
        <p:spPr>
          <a:xfrm>
            <a:off x="6172200" y="4187952"/>
            <a:ext cx="5440680" cy="731520"/>
          </a:xfrm>
          <a:prstGeom prst="roundRect">
            <a:avLst>
              <a:gd name="adj" fmla="val 11250"/>
            </a:avLst>
          </a:prstGeom>
          <a:solidFill>
            <a:srgbClr val="FBECE8"/>
          </a:solidFill>
          <a:ln/>
          <a:effectLst>
            <a:outerShdw sx="100000" sy="100000" kx="0" ky="0" algn="bl" rotWithShape="0" blurRad="88900" dist="38100" dir="5400000">
              <a:srgbClr val="000000">
                <a:alpha val="13000"/>
              </a:srgbClr>
            </a:outerShdw>
          </a:effectLst>
        </p:spPr>
      </p:sp>
      <p:sp>
        <p:nvSpPr>
          <p:cNvPr id="38" name="Shape 28"/>
          <p:cNvSpPr/>
          <p:nvPr/>
        </p:nvSpPr>
        <p:spPr>
          <a:xfrm>
            <a:off x="6373368" y="4361688"/>
            <a:ext cx="384048" cy="384048"/>
          </a:xfrm>
          <a:prstGeom prst="ellipse">
            <a:avLst/>
          </a:prstGeom>
          <a:solidFill>
            <a:srgbClr val="D9614C"/>
          </a:solidFill>
          <a:ln/>
        </p:spPr>
      </p:sp>
      <p:pic>
        <p:nvPicPr>
          <p:cNvPr id="39" name="Image 8" descr="preencoded.png">    </p:cNvPr>
          <p:cNvPicPr>
            <a:picLocks noChangeAspect="1"/>
          </p:cNvPicPr>
          <p:nvPr/>
        </p:nvPicPr>
        <p:blipFill>
          <a:blip r:embed="rId9"/>
          <a:stretch>
            <a:fillRect/>
          </a:stretch>
        </p:blipFill>
        <p:spPr>
          <a:xfrm>
            <a:off x="6477061" y="4465381"/>
            <a:ext cx="176662" cy="176662"/>
          </a:xfrm>
          <a:prstGeom prst="rect">
            <a:avLst/>
          </a:prstGeom>
        </p:spPr>
      </p:pic>
      <p:sp>
        <p:nvSpPr>
          <p:cNvPr id="40" name="Text 29"/>
          <p:cNvSpPr/>
          <p:nvPr/>
        </p:nvSpPr>
        <p:spPr>
          <a:xfrm>
            <a:off x="6885432" y="4187952"/>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Success criteria no observer could check — “users love the app”</a:t>
            </a:r>
            <a:endParaRPr lang="en-US" sz="1400" dirty="0"/>
          </a:p>
        </p:txBody>
      </p:sp>
      <p:sp>
        <p:nvSpPr>
          <p:cNvPr id="41" name="Shape 30"/>
          <p:cNvSpPr/>
          <p:nvPr/>
        </p:nvSpPr>
        <p:spPr>
          <a:xfrm>
            <a:off x="6172200" y="5029200"/>
            <a:ext cx="5440680" cy="731520"/>
          </a:xfrm>
          <a:prstGeom prst="roundRect">
            <a:avLst>
              <a:gd name="adj" fmla="val 11250"/>
            </a:avLst>
          </a:prstGeom>
          <a:solidFill>
            <a:srgbClr val="FBECE8"/>
          </a:solidFill>
          <a:ln/>
          <a:effectLst>
            <a:outerShdw sx="100000" sy="100000" kx="0" ky="0" algn="bl" rotWithShape="0" blurRad="88900" dist="38100" dir="5400000">
              <a:srgbClr val="000000">
                <a:alpha val="13000"/>
              </a:srgbClr>
            </a:outerShdw>
          </a:effectLst>
        </p:spPr>
      </p:sp>
      <p:sp>
        <p:nvSpPr>
          <p:cNvPr id="42" name="Shape 31"/>
          <p:cNvSpPr/>
          <p:nvPr/>
        </p:nvSpPr>
        <p:spPr>
          <a:xfrm>
            <a:off x="6373368" y="5202936"/>
            <a:ext cx="384048" cy="384048"/>
          </a:xfrm>
          <a:prstGeom prst="ellipse">
            <a:avLst/>
          </a:prstGeom>
          <a:solidFill>
            <a:srgbClr val="D9614C"/>
          </a:solidFill>
          <a:ln/>
        </p:spPr>
      </p:sp>
      <p:pic>
        <p:nvPicPr>
          <p:cNvPr id="43" name="Image 9" descr="preencoded.png">    </p:cNvPr>
          <p:cNvPicPr>
            <a:picLocks noChangeAspect="1"/>
          </p:cNvPicPr>
          <p:nvPr/>
        </p:nvPicPr>
        <p:blipFill>
          <a:blip r:embed="rId10"/>
          <a:stretch>
            <a:fillRect/>
          </a:stretch>
        </p:blipFill>
        <p:spPr>
          <a:xfrm>
            <a:off x="6477061" y="5306629"/>
            <a:ext cx="176662" cy="176662"/>
          </a:xfrm>
          <a:prstGeom prst="rect">
            <a:avLst/>
          </a:prstGeom>
        </p:spPr>
      </p:pic>
      <p:sp>
        <p:nvSpPr>
          <p:cNvPr id="44" name="Text 32"/>
          <p:cNvSpPr/>
          <p:nvPr/>
        </p:nvSpPr>
        <p:spPr>
          <a:xfrm>
            <a:off x="6885432" y="5029200"/>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The stretch goal that's obviously the real dream</a:t>
            </a:r>
            <a:endParaRPr lang="en-US" sz="1400" dirty="0"/>
          </a:p>
        </p:txBody>
      </p:sp>
      <p:sp>
        <p:nvSpPr>
          <p:cNvPr id="45" name="Text 3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46" name="Text 3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SYNTHESIS · PART 2</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Strong patterns — aim here</a:t>
            </a:r>
            <a:endParaRPr lang="en-US" sz="3100" dirty="0"/>
          </a:p>
        </p:txBody>
      </p:sp>
      <p:sp>
        <p:nvSpPr>
          <p:cNvPr id="5" name="Shape 3"/>
          <p:cNvSpPr/>
          <p:nvPr/>
        </p:nvSpPr>
        <p:spPr>
          <a:xfrm>
            <a:off x="548640" y="1664208"/>
            <a:ext cx="5440680" cy="731520"/>
          </a:xfrm>
          <a:prstGeom prst="roundRect">
            <a:avLst>
              <a:gd name="adj" fmla="val 11250"/>
            </a:avLst>
          </a:prstGeom>
          <a:solidFill>
            <a:srgbClr val="EAF4EE"/>
          </a:solidFill>
          <a:ln/>
          <a:effectLst>
            <a:outerShdw sx="100000" sy="100000" kx="0" ky="0" algn="bl" rotWithShape="0" blurRad="88900" dist="38100" dir="5400000">
              <a:srgbClr val="000000">
                <a:alpha val="13000"/>
              </a:srgbClr>
            </a:outerShdw>
          </a:effectLst>
        </p:spPr>
      </p:sp>
      <p:sp>
        <p:nvSpPr>
          <p:cNvPr id="6" name="Shape 4"/>
          <p:cNvSpPr/>
          <p:nvPr/>
        </p:nvSpPr>
        <p:spPr>
          <a:xfrm>
            <a:off x="749808" y="1837944"/>
            <a:ext cx="384048" cy="384048"/>
          </a:xfrm>
          <a:prstGeom prst="ellipse">
            <a:avLst/>
          </a:prstGeom>
          <a:solidFill>
            <a:srgbClr val="3E9C6B"/>
          </a:solidFill>
          <a:ln/>
        </p:spPr>
      </p:sp>
      <p:pic>
        <p:nvPicPr>
          <p:cNvPr id="7" name="Image 0" descr="preencoded.png">    </p:cNvPr>
          <p:cNvPicPr>
            <a:picLocks noChangeAspect="1"/>
          </p:cNvPicPr>
          <p:nvPr/>
        </p:nvPicPr>
        <p:blipFill>
          <a:blip r:embed="rId1"/>
          <a:stretch>
            <a:fillRect/>
          </a:stretch>
        </p:blipFill>
        <p:spPr>
          <a:xfrm>
            <a:off x="853501" y="1941637"/>
            <a:ext cx="176662" cy="176662"/>
          </a:xfrm>
          <a:prstGeom prst="rect">
            <a:avLst/>
          </a:prstGeom>
        </p:spPr>
      </p:pic>
      <p:sp>
        <p:nvSpPr>
          <p:cNvPr id="8" name="Text 5"/>
          <p:cNvSpPr/>
          <p:nvPr/>
        </p:nvSpPr>
        <p:spPr>
          <a:xfrm>
            <a:off x="1261872" y="1664208"/>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Bounded users, with counts and a real quote</a:t>
            </a:r>
            <a:endParaRPr lang="en-US" sz="1400" dirty="0"/>
          </a:p>
        </p:txBody>
      </p:sp>
      <p:sp>
        <p:nvSpPr>
          <p:cNvPr id="9" name="Shape 6"/>
          <p:cNvSpPr/>
          <p:nvPr/>
        </p:nvSpPr>
        <p:spPr>
          <a:xfrm>
            <a:off x="548640" y="2505456"/>
            <a:ext cx="5440680" cy="731520"/>
          </a:xfrm>
          <a:prstGeom prst="roundRect">
            <a:avLst>
              <a:gd name="adj" fmla="val 11250"/>
            </a:avLst>
          </a:prstGeom>
          <a:solidFill>
            <a:srgbClr val="EAF4EE"/>
          </a:solidFill>
          <a:ln/>
          <a:effectLst>
            <a:outerShdw sx="100000" sy="100000" kx="0" ky="0" algn="bl" rotWithShape="0" blurRad="88900" dist="38100" dir="5400000">
              <a:srgbClr val="000000">
                <a:alpha val="13000"/>
              </a:srgbClr>
            </a:outerShdw>
          </a:effectLst>
        </p:spPr>
      </p:sp>
      <p:sp>
        <p:nvSpPr>
          <p:cNvPr id="10" name="Shape 7"/>
          <p:cNvSpPr/>
          <p:nvPr/>
        </p:nvSpPr>
        <p:spPr>
          <a:xfrm>
            <a:off x="749808" y="2679192"/>
            <a:ext cx="384048" cy="384048"/>
          </a:xfrm>
          <a:prstGeom prst="ellipse">
            <a:avLst/>
          </a:prstGeom>
          <a:solidFill>
            <a:srgbClr val="3E9C6B"/>
          </a:solidFill>
          <a:ln/>
        </p:spPr>
      </p:sp>
      <p:pic>
        <p:nvPicPr>
          <p:cNvPr id="11" name="Image 1" descr="preencoded.png">    </p:cNvPr>
          <p:cNvPicPr>
            <a:picLocks noChangeAspect="1"/>
          </p:cNvPicPr>
          <p:nvPr/>
        </p:nvPicPr>
        <p:blipFill>
          <a:blip r:embed="rId2"/>
          <a:stretch>
            <a:fillRect/>
          </a:stretch>
        </p:blipFill>
        <p:spPr>
          <a:xfrm>
            <a:off x="853501" y="2782885"/>
            <a:ext cx="176662" cy="176662"/>
          </a:xfrm>
          <a:prstGeom prst="rect">
            <a:avLst/>
          </a:prstGeom>
        </p:spPr>
      </p:pic>
      <p:sp>
        <p:nvSpPr>
          <p:cNvPr id="12" name="Text 8"/>
          <p:cNvSpPr/>
          <p:nvPr/>
        </p:nvSpPr>
        <p:spPr>
          <a:xfrm>
            <a:off x="1261872" y="2505456"/>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Ranked needs, tagged [E] evidence / [A] assumption</a:t>
            </a:r>
            <a:endParaRPr lang="en-US" sz="1400" dirty="0"/>
          </a:p>
        </p:txBody>
      </p:sp>
      <p:sp>
        <p:nvSpPr>
          <p:cNvPr id="13" name="Shape 9"/>
          <p:cNvSpPr/>
          <p:nvPr/>
        </p:nvSpPr>
        <p:spPr>
          <a:xfrm>
            <a:off x="548640" y="3346704"/>
            <a:ext cx="5440680" cy="731520"/>
          </a:xfrm>
          <a:prstGeom prst="roundRect">
            <a:avLst>
              <a:gd name="adj" fmla="val 11250"/>
            </a:avLst>
          </a:prstGeom>
          <a:solidFill>
            <a:srgbClr val="EAF4EE"/>
          </a:solidFill>
          <a:ln/>
          <a:effectLst>
            <a:outerShdw sx="100000" sy="100000" kx="0" ky="0" algn="bl" rotWithShape="0" blurRad="88900" dist="38100" dir="5400000">
              <a:srgbClr val="000000">
                <a:alpha val="13000"/>
              </a:srgbClr>
            </a:outerShdw>
          </a:effectLst>
        </p:spPr>
      </p:sp>
      <p:sp>
        <p:nvSpPr>
          <p:cNvPr id="14" name="Shape 10"/>
          <p:cNvSpPr/>
          <p:nvPr/>
        </p:nvSpPr>
        <p:spPr>
          <a:xfrm>
            <a:off x="749808" y="3520440"/>
            <a:ext cx="384048" cy="384048"/>
          </a:xfrm>
          <a:prstGeom prst="ellipse">
            <a:avLst/>
          </a:prstGeom>
          <a:solidFill>
            <a:srgbClr val="3E9C6B"/>
          </a:solidFill>
          <a:ln/>
        </p:spPr>
      </p:sp>
      <p:pic>
        <p:nvPicPr>
          <p:cNvPr id="15" name="Image 2" descr="preencoded.png">    </p:cNvPr>
          <p:cNvPicPr>
            <a:picLocks noChangeAspect="1"/>
          </p:cNvPicPr>
          <p:nvPr/>
        </p:nvPicPr>
        <p:blipFill>
          <a:blip r:embed="rId3"/>
          <a:stretch>
            <a:fillRect/>
          </a:stretch>
        </p:blipFill>
        <p:spPr>
          <a:xfrm>
            <a:off x="853501" y="3624133"/>
            <a:ext cx="176662" cy="176662"/>
          </a:xfrm>
          <a:prstGeom prst="rect">
            <a:avLst/>
          </a:prstGeom>
        </p:spPr>
      </p:pic>
      <p:sp>
        <p:nvSpPr>
          <p:cNvPr id="16" name="Text 11"/>
          <p:cNvSpPr/>
          <p:nvPr/>
        </p:nvSpPr>
        <p:spPr>
          <a:xfrm>
            <a:off x="1261872" y="3346704"/>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A tiered feature table, each item mapped to a need</a:t>
            </a:r>
            <a:endParaRPr lang="en-US" sz="1400" dirty="0"/>
          </a:p>
        </p:txBody>
      </p:sp>
      <p:sp>
        <p:nvSpPr>
          <p:cNvPr id="17" name="Shape 12"/>
          <p:cNvSpPr/>
          <p:nvPr/>
        </p:nvSpPr>
        <p:spPr>
          <a:xfrm>
            <a:off x="548640" y="4187952"/>
            <a:ext cx="5440680" cy="731520"/>
          </a:xfrm>
          <a:prstGeom prst="roundRect">
            <a:avLst>
              <a:gd name="adj" fmla="val 11250"/>
            </a:avLst>
          </a:prstGeom>
          <a:solidFill>
            <a:srgbClr val="EAF4EE"/>
          </a:solidFill>
          <a:ln/>
          <a:effectLst>
            <a:outerShdw sx="100000" sy="100000" kx="0" ky="0" algn="bl" rotWithShape="0" blurRad="88900" dist="38100" dir="5400000">
              <a:srgbClr val="000000">
                <a:alpha val="13000"/>
              </a:srgbClr>
            </a:outerShdw>
          </a:effectLst>
        </p:spPr>
      </p:sp>
      <p:sp>
        <p:nvSpPr>
          <p:cNvPr id="18" name="Shape 13"/>
          <p:cNvSpPr/>
          <p:nvPr/>
        </p:nvSpPr>
        <p:spPr>
          <a:xfrm>
            <a:off x="749808" y="4361688"/>
            <a:ext cx="384048" cy="384048"/>
          </a:xfrm>
          <a:prstGeom prst="ellipse">
            <a:avLst/>
          </a:prstGeom>
          <a:solidFill>
            <a:srgbClr val="3E9C6B"/>
          </a:solidFill>
          <a:ln/>
        </p:spPr>
      </p:sp>
      <p:pic>
        <p:nvPicPr>
          <p:cNvPr id="19" name="Image 3" descr="preencoded.png">    </p:cNvPr>
          <p:cNvPicPr>
            <a:picLocks noChangeAspect="1"/>
          </p:cNvPicPr>
          <p:nvPr/>
        </p:nvPicPr>
        <p:blipFill>
          <a:blip r:embed="rId4"/>
          <a:stretch>
            <a:fillRect/>
          </a:stretch>
        </p:blipFill>
        <p:spPr>
          <a:xfrm>
            <a:off x="853501" y="4465381"/>
            <a:ext cx="176662" cy="176662"/>
          </a:xfrm>
          <a:prstGeom prst="rect">
            <a:avLst/>
          </a:prstGeom>
        </p:spPr>
      </p:pic>
      <p:sp>
        <p:nvSpPr>
          <p:cNvPr id="20" name="Text 14"/>
          <p:cNvSpPr/>
          <p:nvPr/>
        </p:nvSpPr>
        <p:spPr>
          <a:xfrm>
            <a:off x="1261872" y="4187952"/>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Non-goals with reasons — including one that hurt</a:t>
            </a:r>
            <a:endParaRPr lang="en-US" sz="1400" dirty="0"/>
          </a:p>
        </p:txBody>
      </p:sp>
      <p:sp>
        <p:nvSpPr>
          <p:cNvPr id="21" name="Shape 15"/>
          <p:cNvSpPr/>
          <p:nvPr/>
        </p:nvSpPr>
        <p:spPr>
          <a:xfrm>
            <a:off x="548640" y="5029200"/>
            <a:ext cx="5440680" cy="731520"/>
          </a:xfrm>
          <a:prstGeom prst="roundRect">
            <a:avLst>
              <a:gd name="adj" fmla="val 11250"/>
            </a:avLst>
          </a:prstGeom>
          <a:solidFill>
            <a:srgbClr val="EAF4EE"/>
          </a:solidFill>
          <a:ln/>
          <a:effectLst>
            <a:outerShdw sx="100000" sy="100000" kx="0" ky="0" algn="bl" rotWithShape="0" blurRad="88900" dist="38100" dir="5400000">
              <a:srgbClr val="000000">
                <a:alpha val="13000"/>
              </a:srgbClr>
            </a:outerShdw>
          </a:effectLst>
        </p:spPr>
      </p:sp>
      <p:sp>
        <p:nvSpPr>
          <p:cNvPr id="22" name="Shape 16"/>
          <p:cNvSpPr/>
          <p:nvPr/>
        </p:nvSpPr>
        <p:spPr>
          <a:xfrm>
            <a:off x="749808" y="5202936"/>
            <a:ext cx="384048" cy="384048"/>
          </a:xfrm>
          <a:prstGeom prst="ellipse">
            <a:avLst/>
          </a:prstGeom>
          <a:solidFill>
            <a:srgbClr val="3E9C6B"/>
          </a:solidFill>
          <a:ln/>
        </p:spPr>
      </p:sp>
      <p:pic>
        <p:nvPicPr>
          <p:cNvPr id="23" name="Image 4" descr="preencoded.png">    </p:cNvPr>
          <p:cNvPicPr>
            <a:picLocks noChangeAspect="1"/>
          </p:cNvPicPr>
          <p:nvPr/>
        </p:nvPicPr>
        <p:blipFill>
          <a:blip r:embed="rId5"/>
          <a:stretch>
            <a:fillRect/>
          </a:stretch>
        </p:blipFill>
        <p:spPr>
          <a:xfrm>
            <a:off x="853501" y="5306629"/>
            <a:ext cx="176662" cy="176662"/>
          </a:xfrm>
          <a:prstGeom prst="rect">
            <a:avLst/>
          </a:prstGeom>
        </p:spPr>
      </p:pic>
      <p:sp>
        <p:nvSpPr>
          <p:cNvPr id="24" name="Text 17"/>
          <p:cNvSpPr/>
          <p:nvPr/>
        </p:nvSpPr>
        <p:spPr>
          <a:xfrm>
            <a:off x="1261872" y="5029200"/>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Stack choices justified by constraints, not adjectives</a:t>
            </a:r>
            <a:endParaRPr lang="en-US" sz="1400" dirty="0"/>
          </a:p>
        </p:txBody>
      </p:sp>
      <p:sp>
        <p:nvSpPr>
          <p:cNvPr id="25" name="Shape 18"/>
          <p:cNvSpPr/>
          <p:nvPr/>
        </p:nvSpPr>
        <p:spPr>
          <a:xfrm>
            <a:off x="6172200" y="1664208"/>
            <a:ext cx="5440680" cy="731520"/>
          </a:xfrm>
          <a:prstGeom prst="roundRect">
            <a:avLst>
              <a:gd name="adj" fmla="val 11250"/>
            </a:avLst>
          </a:prstGeom>
          <a:solidFill>
            <a:srgbClr val="EAF4EE"/>
          </a:solidFill>
          <a:ln/>
          <a:effectLst>
            <a:outerShdw sx="100000" sy="100000" kx="0" ky="0" algn="bl" rotWithShape="0" blurRad="88900" dist="38100" dir="5400000">
              <a:srgbClr val="000000">
                <a:alpha val="13000"/>
              </a:srgbClr>
            </a:outerShdw>
          </a:effectLst>
        </p:spPr>
      </p:sp>
      <p:sp>
        <p:nvSpPr>
          <p:cNvPr id="26" name="Shape 19"/>
          <p:cNvSpPr/>
          <p:nvPr/>
        </p:nvSpPr>
        <p:spPr>
          <a:xfrm>
            <a:off x="6373368" y="1837944"/>
            <a:ext cx="384048" cy="384048"/>
          </a:xfrm>
          <a:prstGeom prst="ellipse">
            <a:avLst/>
          </a:prstGeom>
          <a:solidFill>
            <a:srgbClr val="3E9C6B"/>
          </a:solidFill>
          <a:ln/>
        </p:spPr>
      </p:sp>
      <p:pic>
        <p:nvPicPr>
          <p:cNvPr id="27" name="Image 5" descr="preencoded.png">    </p:cNvPr>
          <p:cNvPicPr>
            <a:picLocks noChangeAspect="1"/>
          </p:cNvPicPr>
          <p:nvPr/>
        </p:nvPicPr>
        <p:blipFill>
          <a:blip r:embed="rId6"/>
          <a:stretch>
            <a:fillRect/>
          </a:stretch>
        </p:blipFill>
        <p:spPr>
          <a:xfrm>
            <a:off x="6477061" y="1941637"/>
            <a:ext cx="176662" cy="176662"/>
          </a:xfrm>
          <a:prstGeom prst="rect">
            <a:avLst/>
          </a:prstGeom>
        </p:spPr>
      </p:pic>
      <p:sp>
        <p:nvSpPr>
          <p:cNvPr id="28" name="Text 20"/>
          <p:cNvSpPr/>
          <p:nvPr/>
        </p:nvSpPr>
        <p:spPr>
          <a:xfrm>
            <a:off x="6885432" y="1664208"/>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A spike with a question, a box, pre-declared green/red lines</a:t>
            </a:r>
            <a:endParaRPr lang="en-US" sz="1400" dirty="0"/>
          </a:p>
        </p:txBody>
      </p:sp>
      <p:sp>
        <p:nvSpPr>
          <p:cNvPr id="29" name="Shape 21"/>
          <p:cNvSpPr/>
          <p:nvPr/>
        </p:nvSpPr>
        <p:spPr>
          <a:xfrm>
            <a:off x="6172200" y="2505456"/>
            <a:ext cx="5440680" cy="731520"/>
          </a:xfrm>
          <a:prstGeom prst="roundRect">
            <a:avLst>
              <a:gd name="adj" fmla="val 11250"/>
            </a:avLst>
          </a:prstGeom>
          <a:solidFill>
            <a:srgbClr val="EAF4EE"/>
          </a:solidFill>
          <a:ln/>
          <a:effectLst>
            <a:outerShdw sx="100000" sy="100000" kx="0" ky="0" algn="bl" rotWithShape="0" blurRad="88900" dist="38100" dir="5400000">
              <a:srgbClr val="000000">
                <a:alpha val="13000"/>
              </a:srgbClr>
            </a:outerShdw>
          </a:effectLst>
        </p:spPr>
      </p:sp>
      <p:sp>
        <p:nvSpPr>
          <p:cNvPr id="30" name="Shape 22"/>
          <p:cNvSpPr/>
          <p:nvPr/>
        </p:nvSpPr>
        <p:spPr>
          <a:xfrm>
            <a:off x="6373368" y="2679192"/>
            <a:ext cx="384048" cy="384048"/>
          </a:xfrm>
          <a:prstGeom prst="ellipse">
            <a:avLst/>
          </a:prstGeom>
          <a:solidFill>
            <a:srgbClr val="3E9C6B"/>
          </a:solidFill>
          <a:ln/>
        </p:spPr>
      </p:sp>
      <p:pic>
        <p:nvPicPr>
          <p:cNvPr id="31" name="Image 6" descr="preencoded.png">    </p:cNvPr>
          <p:cNvPicPr>
            <a:picLocks noChangeAspect="1"/>
          </p:cNvPicPr>
          <p:nvPr/>
        </p:nvPicPr>
        <p:blipFill>
          <a:blip r:embed="rId7"/>
          <a:stretch>
            <a:fillRect/>
          </a:stretch>
        </p:blipFill>
        <p:spPr>
          <a:xfrm>
            <a:off x="6477061" y="2782885"/>
            <a:ext cx="176662" cy="176662"/>
          </a:xfrm>
          <a:prstGeom prst="rect">
            <a:avLst/>
          </a:prstGeom>
        </p:spPr>
      </p:pic>
      <p:sp>
        <p:nvSpPr>
          <p:cNvPr id="32" name="Text 23"/>
          <p:cNvSpPr/>
          <p:nvPr/>
        </p:nvSpPr>
        <p:spPr>
          <a:xfrm>
            <a:off x="6885432" y="2505456"/>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Risks that could belong to no other project</a:t>
            </a:r>
            <a:endParaRPr lang="en-US" sz="1400" dirty="0"/>
          </a:p>
        </p:txBody>
      </p:sp>
      <p:sp>
        <p:nvSpPr>
          <p:cNvPr id="33" name="Shape 24"/>
          <p:cNvSpPr/>
          <p:nvPr/>
        </p:nvSpPr>
        <p:spPr>
          <a:xfrm>
            <a:off x="6172200" y="3346704"/>
            <a:ext cx="5440680" cy="731520"/>
          </a:xfrm>
          <a:prstGeom prst="roundRect">
            <a:avLst>
              <a:gd name="adj" fmla="val 11250"/>
            </a:avLst>
          </a:prstGeom>
          <a:solidFill>
            <a:srgbClr val="EAF4EE"/>
          </a:solidFill>
          <a:ln/>
          <a:effectLst>
            <a:outerShdw sx="100000" sy="100000" kx="0" ky="0" algn="bl" rotWithShape="0" blurRad="88900" dist="38100" dir="5400000">
              <a:srgbClr val="000000">
                <a:alpha val="13000"/>
              </a:srgbClr>
            </a:outerShdw>
          </a:effectLst>
        </p:spPr>
      </p:sp>
      <p:sp>
        <p:nvSpPr>
          <p:cNvPr id="34" name="Shape 25"/>
          <p:cNvSpPr/>
          <p:nvPr/>
        </p:nvSpPr>
        <p:spPr>
          <a:xfrm>
            <a:off x="6373368" y="3520440"/>
            <a:ext cx="384048" cy="384048"/>
          </a:xfrm>
          <a:prstGeom prst="ellipse">
            <a:avLst/>
          </a:prstGeom>
          <a:solidFill>
            <a:srgbClr val="3E9C6B"/>
          </a:solidFill>
          <a:ln/>
        </p:spPr>
      </p:sp>
      <p:pic>
        <p:nvPicPr>
          <p:cNvPr id="35" name="Image 7" descr="preencoded.png">    </p:cNvPr>
          <p:cNvPicPr>
            <a:picLocks noChangeAspect="1"/>
          </p:cNvPicPr>
          <p:nvPr/>
        </p:nvPicPr>
        <p:blipFill>
          <a:blip r:embed="rId8"/>
          <a:stretch>
            <a:fillRect/>
          </a:stretch>
        </p:blipFill>
        <p:spPr>
          <a:xfrm>
            <a:off x="6477061" y="3624133"/>
            <a:ext cx="176662" cy="176662"/>
          </a:xfrm>
          <a:prstGeom prst="rect">
            <a:avLst/>
          </a:prstGeom>
        </p:spPr>
      </p:pic>
      <p:sp>
        <p:nvSpPr>
          <p:cNvPr id="36" name="Text 26"/>
          <p:cNvSpPr/>
          <p:nvPr/>
        </p:nvSpPr>
        <p:spPr>
          <a:xfrm>
            <a:off x="6885432" y="3346704"/>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Mitigations with a date or a trigger</a:t>
            </a:r>
            <a:endParaRPr lang="en-US" sz="1400" dirty="0"/>
          </a:p>
        </p:txBody>
      </p:sp>
      <p:sp>
        <p:nvSpPr>
          <p:cNvPr id="37" name="Shape 27"/>
          <p:cNvSpPr/>
          <p:nvPr/>
        </p:nvSpPr>
        <p:spPr>
          <a:xfrm>
            <a:off x="6172200" y="4187952"/>
            <a:ext cx="5440680" cy="731520"/>
          </a:xfrm>
          <a:prstGeom prst="roundRect">
            <a:avLst>
              <a:gd name="adj" fmla="val 11250"/>
            </a:avLst>
          </a:prstGeom>
          <a:solidFill>
            <a:srgbClr val="EAF4EE"/>
          </a:solidFill>
          <a:ln/>
          <a:effectLst>
            <a:outerShdw sx="100000" sy="100000" kx="0" ky="0" algn="bl" rotWithShape="0" blurRad="88900" dist="38100" dir="5400000">
              <a:srgbClr val="000000">
                <a:alpha val="13000"/>
              </a:srgbClr>
            </a:outerShdw>
          </a:effectLst>
        </p:spPr>
      </p:sp>
      <p:sp>
        <p:nvSpPr>
          <p:cNvPr id="38" name="Shape 28"/>
          <p:cNvSpPr/>
          <p:nvPr/>
        </p:nvSpPr>
        <p:spPr>
          <a:xfrm>
            <a:off x="6373368" y="4361688"/>
            <a:ext cx="384048" cy="384048"/>
          </a:xfrm>
          <a:prstGeom prst="ellipse">
            <a:avLst/>
          </a:prstGeom>
          <a:solidFill>
            <a:srgbClr val="3E9C6B"/>
          </a:solidFill>
          <a:ln/>
        </p:spPr>
      </p:sp>
      <p:pic>
        <p:nvPicPr>
          <p:cNvPr id="39" name="Image 8" descr="preencoded.png">    </p:cNvPr>
          <p:cNvPicPr>
            <a:picLocks noChangeAspect="1"/>
          </p:cNvPicPr>
          <p:nvPr/>
        </p:nvPicPr>
        <p:blipFill>
          <a:blip r:embed="rId9"/>
          <a:stretch>
            <a:fillRect/>
          </a:stretch>
        </p:blipFill>
        <p:spPr>
          <a:xfrm>
            <a:off x="6477061" y="4465381"/>
            <a:ext cx="176662" cy="176662"/>
          </a:xfrm>
          <a:prstGeom prst="rect">
            <a:avLst/>
          </a:prstGeom>
        </p:spPr>
      </p:pic>
      <p:sp>
        <p:nvSpPr>
          <p:cNvPr id="40" name="Text 29"/>
          <p:cNvSpPr/>
          <p:nvPr/>
        </p:nvSpPr>
        <p:spPr>
          <a:xfrm>
            <a:off x="6885432" y="4187952"/>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An MVP sized against roughly five real build weeks</a:t>
            </a:r>
            <a:endParaRPr lang="en-US" sz="1400" dirty="0"/>
          </a:p>
        </p:txBody>
      </p:sp>
      <p:sp>
        <p:nvSpPr>
          <p:cNvPr id="41" name="Shape 30"/>
          <p:cNvSpPr/>
          <p:nvPr/>
        </p:nvSpPr>
        <p:spPr>
          <a:xfrm>
            <a:off x="6172200" y="5029200"/>
            <a:ext cx="5440680" cy="731520"/>
          </a:xfrm>
          <a:prstGeom prst="roundRect">
            <a:avLst>
              <a:gd name="adj" fmla="val 11250"/>
            </a:avLst>
          </a:prstGeom>
          <a:solidFill>
            <a:srgbClr val="EAF4EE"/>
          </a:solidFill>
          <a:ln/>
          <a:effectLst>
            <a:outerShdw sx="100000" sy="100000" kx="0" ky="0" algn="bl" rotWithShape="0" blurRad="88900" dist="38100" dir="5400000">
              <a:srgbClr val="000000">
                <a:alpha val="13000"/>
              </a:srgbClr>
            </a:outerShdw>
          </a:effectLst>
        </p:spPr>
      </p:sp>
      <p:sp>
        <p:nvSpPr>
          <p:cNvPr id="42" name="Shape 31"/>
          <p:cNvSpPr/>
          <p:nvPr/>
        </p:nvSpPr>
        <p:spPr>
          <a:xfrm>
            <a:off x="6373368" y="5202936"/>
            <a:ext cx="384048" cy="384048"/>
          </a:xfrm>
          <a:prstGeom prst="ellipse">
            <a:avLst/>
          </a:prstGeom>
          <a:solidFill>
            <a:srgbClr val="3E9C6B"/>
          </a:solidFill>
          <a:ln/>
        </p:spPr>
      </p:sp>
      <p:pic>
        <p:nvPicPr>
          <p:cNvPr id="43" name="Image 9" descr="preencoded.png">    </p:cNvPr>
          <p:cNvPicPr>
            <a:picLocks noChangeAspect="1"/>
          </p:cNvPicPr>
          <p:nvPr/>
        </p:nvPicPr>
        <p:blipFill>
          <a:blip r:embed="rId10"/>
          <a:stretch>
            <a:fillRect/>
          </a:stretch>
        </p:blipFill>
        <p:spPr>
          <a:xfrm>
            <a:off x="6477061" y="5306629"/>
            <a:ext cx="176662" cy="176662"/>
          </a:xfrm>
          <a:prstGeom prst="rect">
            <a:avLst/>
          </a:prstGeom>
        </p:spPr>
      </p:pic>
      <p:sp>
        <p:nvSpPr>
          <p:cNvPr id="44" name="Text 32"/>
          <p:cNvSpPr/>
          <p:nvPr/>
        </p:nvSpPr>
        <p:spPr>
          <a:xfrm>
            <a:off x="6885432" y="5029200"/>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Criteria with an observer, an action, and a threshold</a:t>
            </a:r>
            <a:endParaRPr lang="en-US" sz="1400" dirty="0"/>
          </a:p>
        </p:txBody>
      </p:sp>
      <p:sp>
        <p:nvSpPr>
          <p:cNvPr id="45" name="Text 3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46" name="Text 3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HARDEST MOVE IN THE GENRE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Arguing feasibility without overpromising</a:t>
            </a:r>
            <a:endParaRPr lang="en-US" sz="3100" dirty="0"/>
          </a:p>
        </p:txBody>
      </p:sp>
      <p:sp>
        <p:nvSpPr>
          <p:cNvPr id="5" name="Shape 3"/>
          <p:cNvSpPr/>
          <p:nvPr/>
        </p:nvSpPr>
        <p:spPr>
          <a:xfrm>
            <a:off x="548640" y="1691640"/>
            <a:ext cx="11064240" cy="1097280"/>
          </a:xfrm>
          <a:prstGeom prst="roundRect">
            <a:avLst>
              <a:gd name="adj" fmla="val 7500"/>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1965960"/>
            <a:ext cx="548640" cy="548640"/>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16813" y="2114093"/>
            <a:ext cx="252374" cy="252374"/>
          </a:xfrm>
          <a:prstGeom prst="rect">
            <a:avLst/>
          </a:prstGeom>
        </p:spPr>
      </p:pic>
      <p:sp>
        <p:nvSpPr>
          <p:cNvPr id="8" name="Text 5"/>
          <p:cNvSpPr/>
          <p:nvPr/>
        </p:nvSpPr>
        <p:spPr>
          <a:xfrm>
            <a:off x="1627632" y="1691640"/>
            <a:ext cx="9692640" cy="1097280"/>
          </a:xfrm>
          <a:prstGeom prst="rect">
            <a:avLst/>
          </a:prstGeom>
          <a:noFill/>
          <a:ln/>
        </p:spPr>
        <p:txBody>
          <a:bodyPr wrap="square" lIns="0" tIns="0" rIns="0" bIns="0" rtlCol="0" anchor="ctr"/>
          <a:lstStyle/>
          <a:p>
            <a:pPr indent="0" marL="0">
              <a:lnSpc>
                <a:spcPct val="105000"/>
              </a:lnSpc>
              <a:buNone/>
            </a:pPr>
            <a:r>
              <a:rPr lang="en-US" sz="1700" b="1" dirty="0">
                <a:solidFill>
                  <a:srgbClr val="E8A33D"/>
                </a:solidFill>
                <a:latin typeface="Calibri" pitchFamily="34" charset="0"/>
                <a:ea typeface="Calibri" pitchFamily="34" charset="-122"/>
                <a:cs typeface="Calibri" pitchFamily="34" charset="-120"/>
              </a:rPr>
              <a:t>Honest confidence:  </a:t>
            </a:r>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here's what I know · here's what I must learn, and my plan for it · here's what I've cut.</a:t>
            </a:r>
            <a:endParaRPr lang="en-US" sz="1700" dirty="0"/>
          </a:p>
        </p:txBody>
      </p:sp>
      <p:sp>
        <p:nvSpPr>
          <p:cNvPr id="9" name="Shape 6"/>
          <p:cNvSpPr/>
          <p:nvPr/>
        </p:nvSpPr>
        <p:spPr>
          <a:xfrm>
            <a:off x="548640" y="2971800"/>
            <a:ext cx="5440680" cy="1060704"/>
          </a:xfrm>
          <a:prstGeom prst="roundRect">
            <a:avLst>
              <a:gd name="adj" fmla="val 7759"/>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786384" y="3246120"/>
            <a:ext cx="512064" cy="512064"/>
          </a:xfrm>
          <a:prstGeom prst="ellipse">
            <a:avLst/>
          </a:prstGeom>
          <a:solidFill>
            <a:srgbClr val="12908F"/>
          </a:solidFill>
          <a:ln/>
        </p:spPr>
      </p:sp>
      <p:pic>
        <p:nvPicPr>
          <p:cNvPr id="11" name="Image 1" descr="preencoded.png">    </p:cNvPr>
          <p:cNvPicPr>
            <a:picLocks noChangeAspect="1"/>
          </p:cNvPicPr>
          <p:nvPr/>
        </p:nvPicPr>
        <p:blipFill>
          <a:blip r:embed="rId2"/>
          <a:stretch>
            <a:fillRect/>
          </a:stretch>
        </p:blipFill>
        <p:spPr>
          <a:xfrm>
            <a:off x="924641" y="3384377"/>
            <a:ext cx="235549" cy="235549"/>
          </a:xfrm>
          <a:prstGeom prst="rect">
            <a:avLst/>
          </a:prstGeom>
        </p:spPr>
      </p:pic>
      <p:sp>
        <p:nvSpPr>
          <p:cNvPr id="12" name="Text 8"/>
          <p:cNvSpPr/>
          <p:nvPr/>
        </p:nvSpPr>
        <p:spPr>
          <a:xfrm>
            <a:off x="1444752" y="3081528"/>
            <a:ext cx="4389120" cy="41148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Six risk categories</a:t>
            </a:r>
            <a:endParaRPr lang="en-US" sz="1650" dirty="0"/>
          </a:p>
        </p:txBody>
      </p:sp>
      <p:sp>
        <p:nvSpPr>
          <p:cNvPr id="13" name="Text 9"/>
          <p:cNvSpPr/>
          <p:nvPr/>
        </p:nvSpPr>
        <p:spPr>
          <a:xfrm>
            <a:off x="1444752" y="3483864"/>
            <a:ext cx="4389120" cy="457200"/>
          </a:xfrm>
          <a:prstGeom prst="rect">
            <a:avLst/>
          </a:prstGeom>
          <a:noFill/>
          <a:ln/>
        </p:spPr>
        <p:txBody>
          <a:bodyPr wrap="square" lIns="0" tIns="0" rIns="0" bIns="0" rtlCol="0" anchor="t"/>
          <a:lstStyle/>
          <a:p>
            <a:pPr indent="0" marL="0">
              <a:lnSpc>
                <a:spcPct val="103000"/>
              </a:lnSpc>
              <a:buNone/>
            </a:pPr>
            <a:r>
              <a:rPr lang="en-US" sz="1300" dirty="0">
                <a:solidFill>
                  <a:srgbClr val="5F7284"/>
                </a:solidFill>
                <a:latin typeface="Calibri" pitchFamily="34" charset="0"/>
                <a:ea typeface="Calibri" pitchFamily="34" charset="-122"/>
                <a:cs typeface="Calibri" pitchFamily="34" charset="-120"/>
              </a:rPr>
              <a:t>technical · schedule · dependency · skill · adoption · maintenance</a:t>
            </a:r>
            <a:endParaRPr lang="en-US" sz="1300" dirty="0"/>
          </a:p>
        </p:txBody>
      </p:sp>
      <p:sp>
        <p:nvSpPr>
          <p:cNvPr id="14" name="Shape 10"/>
          <p:cNvSpPr/>
          <p:nvPr/>
        </p:nvSpPr>
        <p:spPr>
          <a:xfrm>
            <a:off x="6172200" y="2971800"/>
            <a:ext cx="5440680" cy="1060704"/>
          </a:xfrm>
          <a:prstGeom prst="roundRect">
            <a:avLst>
              <a:gd name="adj" fmla="val 7759"/>
            </a:avLst>
          </a:prstGeom>
          <a:solidFill>
            <a:srgbClr val="F2F6F8"/>
          </a:solidFill>
          <a:ln/>
          <a:effectLst>
            <a:outerShdw sx="100000" sy="100000" kx="0" ky="0" algn="bl" rotWithShape="0" blurRad="88900" dist="38100" dir="5400000">
              <a:srgbClr val="000000">
                <a:alpha val="13000"/>
              </a:srgbClr>
            </a:outerShdw>
          </a:effectLst>
        </p:spPr>
      </p:sp>
      <p:sp>
        <p:nvSpPr>
          <p:cNvPr id="15" name="Shape 11"/>
          <p:cNvSpPr/>
          <p:nvPr/>
        </p:nvSpPr>
        <p:spPr>
          <a:xfrm>
            <a:off x="6409944" y="3246120"/>
            <a:ext cx="512064" cy="512064"/>
          </a:xfrm>
          <a:prstGeom prst="ellipse">
            <a:avLst/>
          </a:prstGeom>
          <a:solidFill>
            <a:srgbClr val="12908F"/>
          </a:solidFill>
          <a:ln/>
        </p:spPr>
      </p:sp>
      <p:pic>
        <p:nvPicPr>
          <p:cNvPr id="16" name="Image 2" descr="preencoded.png">    </p:cNvPr>
          <p:cNvPicPr>
            <a:picLocks noChangeAspect="1"/>
          </p:cNvPicPr>
          <p:nvPr/>
        </p:nvPicPr>
        <p:blipFill>
          <a:blip r:embed="rId3"/>
          <a:stretch>
            <a:fillRect/>
          </a:stretch>
        </p:blipFill>
        <p:spPr>
          <a:xfrm>
            <a:off x="6548201" y="3384377"/>
            <a:ext cx="235549" cy="235549"/>
          </a:xfrm>
          <a:prstGeom prst="rect">
            <a:avLst/>
          </a:prstGeom>
        </p:spPr>
      </p:pic>
      <p:sp>
        <p:nvSpPr>
          <p:cNvPr id="17" name="Text 12"/>
          <p:cNvSpPr/>
          <p:nvPr/>
        </p:nvSpPr>
        <p:spPr>
          <a:xfrm>
            <a:off x="7068312" y="3081528"/>
            <a:ext cx="4389120" cy="41148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Know / learn / avoid</a:t>
            </a:r>
            <a:endParaRPr lang="en-US" sz="1650" dirty="0"/>
          </a:p>
        </p:txBody>
      </p:sp>
      <p:sp>
        <p:nvSpPr>
          <p:cNvPr id="18" name="Text 13"/>
          <p:cNvSpPr/>
          <p:nvPr/>
        </p:nvSpPr>
        <p:spPr>
          <a:xfrm>
            <a:off x="7068312" y="3483864"/>
            <a:ext cx="4389120" cy="457200"/>
          </a:xfrm>
          <a:prstGeom prst="rect">
            <a:avLst/>
          </a:prstGeom>
          <a:noFill/>
          <a:ln/>
        </p:spPr>
        <p:txBody>
          <a:bodyPr wrap="square" lIns="0" tIns="0" rIns="0" bIns="0" rtlCol="0" anchor="t"/>
          <a:lstStyle/>
          <a:p>
            <a:pPr indent="0" marL="0">
              <a:lnSpc>
                <a:spcPct val="103000"/>
              </a:lnSpc>
              <a:buNone/>
            </a:pPr>
            <a:r>
              <a:rPr lang="en-US" sz="1300" dirty="0">
                <a:solidFill>
                  <a:srgbClr val="5F7284"/>
                </a:solidFill>
                <a:latin typeface="Calibri" pitchFamily="34" charset="0"/>
                <a:ea typeface="Calibri" pitchFamily="34" charset="-122"/>
                <a:cs typeface="Calibri" pitchFamily="34" charset="-120"/>
              </a:rPr>
              <a:t>Triage every requirement. Every justified “avoid” buys feasibility.</a:t>
            </a:r>
            <a:endParaRPr lang="en-US" sz="1300" dirty="0"/>
          </a:p>
        </p:txBody>
      </p:sp>
      <p:sp>
        <p:nvSpPr>
          <p:cNvPr id="19" name="Shape 14"/>
          <p:cNvSpPr/>
          <p:nvPr/>
        </p:nvSpPr>
        <p:spPr>
          <a:xfrm>
            <a:off x="548640" y="4178808"/>
            <a:ext cx="5440680" cy="1060704"/>
          </a:xfrm>
          <a:prstGeom prst="roundRect">
            <a:avLst>
              <a:gd name="adj" fmla="val 7759"/>
            </a:avLst>
          </a:prstGeom>
          <a:solidFill>
            <a:srgbClr val="F2F6F8"/>
          </a:solidFill>
          <a:ln/>
          <a:effectLst>
            <a:outerShdw sx="100000" sy="100000" kx="0" ky="0" algn="bl" rotWithShape="0" blurRad="88900" dist="38100" dir="5400000">
              <a:srgbClr val="000000">
                <a:alpha val="13000"/>
              </a:srgbClr>
            </a:outerShdw>
          </a:effectLst>
        </p:spPr>
      </p:sp>
      <p:sp>
        <p:nvSpPr>
          <p:cNvPr id="20" name="Shape 15"/>
          <p:cNvSpPr/>
          <p:nvPr/>
        </p:nvSpPr>
        <p:spPr>
          <a:xfrm>
            <a:off x="786384" y="4453128"/>
            <a:ext cx="512064" cy="512064"/>
          </a:xfrm>
          <a:prstGeom prst="ellipse">
            <a:avLst/>
          </a:prstGeom>
          <a:solidFill>
            <a:srgbClr val="12908F"/>
          </a:solidFill>
          <a:ln/>
        </p:spPr>
      </p:sp>
      <p:pic>
        <p:nvPicPr>
          <p:cNvPr id="21" name="Image 3" descr="preencoded.png">    </p:cNvPr>
          <p:cNvPicPr>
            <a:picLocks noChangeAspect="1"/>
          </p:cNvPicPr>
          <p:nvPr/>
        </p:nvPicPr>
        <p:blipFill>
          <a:blip r:embed="rId4"/>
          <a:stretch>
            <a:fillRect/>
          </a:stretch>
        </p:blipFill>
        <p:spPr>
          <a:xfrm>
            <a:off x="924641" y="4591385"/>
            <a:ext cx="235549" cy="235549"/>
          </a:xfrm>
          <a:prstGeom prst="rect">
            <a:avLst/>
          </a:prstGeom>
        </p:spPr>
      </p:pic>
      <p:sp>
        <p:nvSpPr>
          <p:cNvPr id="22" name="Text 16"/>
          <p:cNvSpPr/>
          <p:nvPr/>
        </p:nvSpPr>
        <p:spPr>
          <a:xfrm>
            <a:off x="1444752" y="4288536"/>
            <a:ext cx="4389120" cy="41148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Your spike</a:t>
            </a:r>
            <a:endParaRPr lang="en-US" sz="1650" dirty="0"/>
          </a:p>
        </p:txBody>
      </p:sp>
      <p:sp>
        <p:nvSpPr>
          <p:cNvPr id="23" name="Text 17"/>
          <p:cNvSpPr/>
          <p:nvPr/>
        </p:nvSpPr>
        <p:spPr>
          <a:xfrm>
            <a:off x="1444752" y="4690872"/>
            <a:ext cx="4389120" cy="457200"/>
          </a:xfrm>
          <a:prstGeom prst="rect">
            <a:avLst/>
          </a:prstGeom>
          <a:noFill/>
          <a:ln/>
        </p:spPr>
        <p:txBody>
          <a:bodyPr wrap="square" lIns="0" tIns="0" rIns="0" bIns="0" rtlCol="0" anchor="t"/>
          <a:lstStyle/>
          <a:p>
            <a:pPr indent="0" marL="0">
              <a:lnSpc>
                <a:spcPct val="103000"/>
              </a:lnSpc>
              <a:buNone/>
            </a:pPr>
            <a:r>
              <a:rPr lang="en-US" sz="1300" dirty="0">
                <a:solidFill>
                  <a:srgbClr val="5F7284"/>
                </a:solidFill>
                <a:latin typeface="Calibri" pitchFamily="34" charset="0"/>
                <a:ea typeface="Calibri" pitchFamily="34" charset="-122"/>
                <a:cs typeface="Calibri" pitchFamily="34" charset="-120"/>
              </a:rPr>
              <a:t>Required for CP3 — question, time box, green/red lines, honest result.</a:t>
            </a:r>
            <a:endParaRPr lang="en-US" sz="1300" dirty="0"/>
          </a:p>
        </p:txBody>
      </p:sp>
      <p:sp>
        <p:nvSpPr>
          <p:cNvPr id="24" name="Shape 18"/>
          <p:cNvSpPr/>
          <p:nvPr/>
        </p:nvSpPr>
        <p:spPr>
          <a:xfrm>
            <a:off x="6172200" y="4178808"/>
            <a:ext cx="5440680" cy="1060704"/>
          </a:xfrm>
          <a:prstGeom prst="roundRect">
            <a:avLst>
              <a:gd name="adj" fmla="val 7759"/>
            </a:avLst>
          </a:prstGeom>
          <a:solidFill>
            <a:srgbClr val="F2F6F8"/>
          </a:solidFill>
          <a:ln/>
          <a:effectLst>
            <a:outerShdw sx="100000" sy="100000" kx="0" ky="0" algn="bl" rotWithShape="0" blurRad="88900" dist="38100" dir="5400000">
              <a:srgbClr val="000000">
                <a:alpha val="13000"/>
              </a:srgbClr>
            </a:outerShdw>
          </a:effectLst>
        </p:spPr>
      </p:sp>
      <p:sp>
        <p:nvSpPr>
          <p:cNvPr id="25" name="Shape 19"/>
          <p:cNvSpPr/>
          <p:nvPr/>
        </p:nvSpPr>
        <p:spPr>
          <a:xfrm>
            <a:off x="6409944" y="4453128"/>
            <a:ext cx="512064" cy="512064"/>
          </a:xfrm>
          <a:prstGeom prst="ellipse">
            <a:avLst/>
          </a:prstGeom>
          <a:solidFill>
            <a:srgbClr val="12908F"/>
          </a:solidFill>
          <a:ln/>
        </p:spPr>
      </p:sp>
      <p:pic>
        <p:nvPicPr>
          <p:cNvPr id="26" name="Image 4" descr="preencoded.png">    </p:cNvPr>
          <p:cNvPicPr>
            <a:picLocks noChangeAspect="1"/>
          </p:cNvPicPr>
          <p:nvPr/>
        </p:nvPicPr>
        <p:blipFill>
          <a:blip r:embed="rId5"/>
          <a:stretch>
            <a:fillRect/>
          </a:stretch>
        </p:blipFill>
        <p:spPr>
          <a:xfrm>
            <a:off x="6548201" y="4591385"/>
            <a:ext cx="235549" cy="235549"/>
          </a:xfrm>
          <a:prstGeom prst="rect">
            <a:avLst/>
          </a:prstGeom>
        </p:spPr>
      </p:pic>
      <p:sp>
        <p:nvSpPr>
          <p:cNvPr id="27" name="Text 20"/>
          <p:cNvSpPr/>
          <p:nvPr/>
        </p:nvSpPr>
        <p:spPr>
          <a:xfrm>
            <a:off x="7068312" y="4288536"/>
            <a:ext cx="4389120" cy="41148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The learning plan</a:t>
            </a:r>
            <a:endParaRPr lang="en-US" sz="1650" dirty="0"/>
          </a:p>
        </p:txBody>
      </p:sp>
      <p:sp>
        <p:nvSpPr>
          <p:cNvPr id="28" name="Text 21"/>
          <p:cNvSpPr/>
          <p:nvPr/>
        </p:nvSpPr>
        <p:spPr>
          <a:xfrm>
            <a:off x="7068312" y="4690872"/>
            <a:ext cx="4389120" cy="457200"/>
          </a:xfrm>
          <a:prstGeom prst="rect">
            <a:avLst/>
          </a:prstGeom>
          <a:noFill/>
          <a:ln/>
        </p:spPr>
        <p:txBody>
          <a:bodyPr wrap="square" lIns="0" tIns="0" rIns="0" bIns="0" rtlCol="0" anchor="t"/>
          <a:lstStyle/>
          <a:p>
            <a:pPr indent="0" marL="0">
              <a:lnSpc>
                <a:spcPct val="103000"/>
              </a:lnSpc>
              <a:buNone/>
            </a:pPr>
            <a:r>
              <a:rPr lang="en-US" sz="1300" dirty="0">
                <a:solidFill>
                  <a:srgbClr val="5F7284"/>
                </a:solidFill>
                <a:latin typeface="Calibri" pitchFamily="34" charset="0"/>
                <a:ea typeface="Calibri" pitchFamily="34" charset="-122"/>
                <a:cs typeface="Calibri" pitchFamily="34" charset="-120"/>
              </a:rPr>
              <a:t>For gaps the spike didn't close: hours budgeted, fallback named.</a:t>
            </a:r>
            <a:endParaRPr lang="en-US" sz="1300" dirty="0"/>
          </a:p>
        </p:txBody>
      </p:sp>
      <p:sp>
        <p:nvSpPr>
          <p:cNvPr id="29" name="Shape 22"/>
          <p:cNvSpPr/>
          <p:nvPr/>
        </p:nvSpPr>
        <p:spPr>
          <a:xfrm>
            <a:off x="548640" y="5504688"/>
            <a:ext cx="11064240" cy="676656"/>
          </a:xfrm>
          <a:prstGeom prst="roundRect">
            <a:avLst>
              <a:gd name="adj" fmla="val 12162"/>
            </a:avLst>
          </a:prstGeom>
          <a:solidFill>
            <a:srgbClr val="E8A33D"/>
          </a:solidFill>
          <a:ln/>
          <a:effectLst>
            <a:outerShdw sx="100000" sy="100000" kx="0" ky="0" algn="bl" rotWithShape="0" blurRad="88900" dist="38100" dir="5400000">
              <a:srgbClr val="000000">
                <a:alpha val="13000"/>
              </a:srgbClr>
            </a:outerShdw>
          </a:effectLst>
        </p:spPr>
      </p:sp>
      <p:sp>
        <p:nvSpPr>
          <p:cNvPr id="30" name="Shape 23"/>
          <p:cNvSpPr/>
          <p:nvPr/>
        </p:nvSpPr>
        <p:spPr>
          <a:xfrm>
            <a:off x="841248" y="5632704"/>
            <a:ext cx="420624" cy="420624"/>
          </a:xfrm>
          <a:prstGeom prst="ellipse">
            <a:avLst/>
          </a:prstGeom>
          <a:solidFill>
            <a:srgbClr val="14233A"/>
          </a:solidFill>
          <a:ln/>
        </p:spPr>
      </p:sp>
      <p:pic>
        <p:nvPicPr>
          <p:cNvPr id="31" name="Image 5" descr="preencoded.png">    </p:cNvPr>
          <p:cNvPicPr>
            <a:picLocks noChangeAspect="1"/>
          </p:cNvPicPr>
          <p:nvPr/>
        </p:nvPicPr>
        <p:blipFill>
          <a:blip r:embed="rId6"/>
          <a:stretch>
            <a:fillRect/>
          </a:stretch>
        </p:blipFill>
        <p:spPr>
          <a:xfrm>
            <a:off x="954816" y="5746272"/>
            <a:ext cx="193487" cy="193487"/>
          </a:xfrm>
          <a:prstGeom prst="rect">
            <a:avLst/>
          </a:prstGeom>
        </p:spPr>
      </p:pic>
      <p:sp>
        <p:nvSpPr>
          <p:cNvPr id="32" name="Text 24"/>
          <p:cNvSpPr/>
          <p:nvPr/>
        </p:nvSpPr>
        <p:spPr>
          <a:xfrm>
            <a:off x="1444752" y="5504688"/>
            <a:ext cx="9966960" cy="676656"/>
          </a:xfrm>
          <a:prstGeom prst="rect">
            <a:avLst/>
          </a:prstGeom>
          <a:noFill/>
          <a:ln/>
        </p:spPr>
        <p:txBody>
          <a:bodyPr wrap="square" lIns="0" tIns="0" rIns="0" bIns="0" rtlCol="0" anchor="ctr"/>
          <a:lstStyle/>
          <a:p>
            <a:pPr indent="0" marL="0">
              <a:buNone/>
            </a:pPr>
            <a:r>
              <a:rPr lang="en-US" sz="1450" b="1" dirty="0">
                <a:solidFill>
                  <a:srgbClr val="14233A"/>
                </a:solidFill>
                <a:latin typeface="Calibri" pitchFamily="34" charset="0"/>
                <a:ea typeface="Calibri" pitchFamily="34" charset="-122"/>
                <a:cs typeface="Calibri" pitchFamily="34" charset="-120"/>
              </a:rPr>
              <a:t>Feasibility &amp; technical approach is the heaviest CP3 criterion — 20 points.  </a:t>
            </a:r>
            <a:pPr indent="0" marL="0">
              <a:buNone/>
            </a:pPr>
            <a:r>
              <a:rPr lang="en-US" sz="1450" dirty="0">
                <a:solidFill>
                  <a:srgbClr val="14233A"/>
                </a:solidFill>
                <a:latin typeface="Calibri" pitchFamily="34" charset="0"/>
                <a:ea typeface="Calibri" pitchFamily="34" charset="-122"/>
                <a:cs typeface="Calibri" pitchFamily="34" charset="-120"/>
              </a:rPr>
              <a:t>Scope realism is another 15.</a:t>
            </a:r>
            <a:endParaRPr lang="en-US" sz="1450" dirty="0"/>
          </a:p>
        </p:txBody>
      </p:sp>
      <p:sp>
        <p:nvSpPr>
          <p:cNvPr id="33" name="Text 2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34" name="Text 2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HOW CP3 IS GRADED</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Written Proposal — the rubric</a:t>
            </a:r>
            <a:endParaRPr lang="en-US" sz="3100" dirty="0"/>
          </a:p>
        </p:txBody>
      </p:sp>
      <p:sp>
        <p:nvSpPr>
          <p:cNvPr id="5" name="Text 3"/>
          <p:cNvSpPr/>
          <p:nvPr/>
        </p:nvSpPr>
        <p:spPr>
          <a:xfrm>
            <a:off x="548640" y="1517904"/>
            <a:ext cx="11064240" cy="310896"/>
          </a:xfrm>
          <a:prstGeom prst="rect">
            <a:avLst/>
          </a:prstGeom>
          <a:noFill/>
          <a:ln/>
        </p:spPr>
        <p:txBody>
          <a:bodyPr wrap="square" lIns="0" tIns="0" rIns="0" bIns="0" rtlCol="0" anchor="ctr"/>
          <a:lstStyle/>
          <a:p>
            <a:pPr indent="0" marL="0">
              <a:buNone/>
            </a:pPr>
            <a:r>
              <a:rPr lang="en-US" sz="1450" i="1" dirty="0">
                <a:solidFill>
                  <a:srgbClr val="5F7284"/>
                </a:solidFill>
                <a:latin typeface="Calibri" pitchFamily="34" charset="0"/>
                <a:ea typeface="Calibri" pitchFamily="34" charset="-122"/>
                <a:cs typeface="Calibri" pitchFamily="34" charset="-120"/>
              </a:rPr>
              <a:t>100 points, weighted. The two highlighted rows are a third of the assignment — that weighting is the point of today.</a:t>
            </a:r>
            <a:endParaRPr lang="en-US" sz="14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810512"/>
          <a:ext cx="11064240" cy="914400"/>
        </p:xfrm>
        <a:graphic>
          <a:graphicData uri="http://schemas.openxmlformats.org/drawingml/2006/table">
            <a:tbl>
              <a:tblPr/>
              <a:tblGrid>
                <a:gridCol w="3566160"/>
                <a:gridCol w="731520"/>
                <a:gridCol w="6766560"/>
              </a:tblGrid>
              <a:tr h="402336">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Criterion</a:t>
                      </a:r>
                      <a:endParaRPr lang="en-US" sz="14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4233A"/>
                    </a:solidFill>
                  </a:tcPr>
                </a:tc>
                <a:tc>
                  <a:txBody>
                    <a:bodyPr/>
                    <a:lstStyle/>
                    <a:p>
                      <a:pPr algn="ctr" indent="0" marL="0">
                        <a:buNone/>
                      </a:pPr>
                      <a:r>
                        <a:rPr lang="en-US" sz="1450" b="1" dirty="0">
                          <a:solidFill>
                            <a:srgbClr val="FFFFFF"/>
                          </a:solidFill>
                          <a:latin typeface="Calibri" pitchFamily="34" charset="0"/>
                          <a:ea typeface="Calibri" pitchFamily="34" charset="-122"/>
                          <a:cs typeface="Calibri" pitchFamily="34" charset="-120"/>
                        </a:rPr>
                        <a:t>Wt</a:t>
                      </a:r>
                      <a:endParaRPr lang="en-US" sz="14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4233A"/>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What it measures</a:t>
                      </a:r>
                      <a:endParaRPr lang="en-US" sz="14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4233A"/>
                    </a:solidFill>
                  </a:tcPr>
                </a:tc>
              </a:tr>
              <a:tr h="402336">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Problem &amp; user clarity</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Problem and users compelling and evidence-backed — the discovery trail shows.</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Solution &amp; core features (+ non-goals)</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Coherent solution; sharp, prioritized features; explicit non-goals.</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Feasibility &amp; technical approach</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Stack researched; a spike run on the scariest unknown and honestly reported.</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r>
              <a:tr h="402336">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Scope realism (MVP for this term)</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A vertical slice sized against the real build window — with the arithmetic shown.</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r>
              <a:tr h="402336">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Richness &amp; extensibility</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Exercises multiple engineering dimensions; a path for others to join.</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Risks &amp; mitigation</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Real, specific risks with credible mitigations.</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Argument &amp; revision</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Persuasive, and visibly improved in response to peer feedback.</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68112"/>
            <a:ext cx="11064240" cy="713232"/>
          </a:xfrm>
          <a:prstGeom prst="roundRect">
            <a:avLst>
              <a:gd name="adj" fmla="val 11538"/>
            </a:avLst>
          </a:prstGeom>
          <a:solidFill>
            <a:srgbClr val="14233A"/>
          </a:solidFill>
          <a:ln/>
          <a:effectLst>
            <a:outerShdw sx="100000" sy="100000" kx="0" ky="0" algn="bl" rotWithShape="0" blurRad="88900" dist="38100" dir="5400000">
              <a:srgbClr val="000000">
                <a:alpha val="13000"/>
              </a:srgbClr>
            </a:outerShdw>
          </a:effectLst>
        </p:spPr>
      </p:sp>
      <p:sp>
        <p:nvSpPr>
          <p:cNvPr id="8" name="Shape 5"/>
          <p:cNvSpPr/>
          <p:nvPr/>
        </p:nvSpPr>
        <p:spPr>
          <a:xfrm>
            <a:off x="841248" y="5614416"/>
            <a:ext cx="420624" cy="420624"/>
          </a:xfrm>
          <a:prstGeom prst="ellipse">
            <a:avLst/>
          </a:prstGeom>
          <a:solidFill>
            <a:srgbClr val="E8A33D"/>
          </a:solidFill>
          <a:ln/>
        </p:spPr>
      </p:sp>
      <p:pic>
        <p:nvPicPr>
          <p:cNvPr id="9" name="Image 0" descr="preencoded.png">    </p:cNvPr>
          <p:cNvPicPr>
            <a:picLocks noChangeAspect="1"/>
          </p:cNvPicPr>
          <p:nvPr/>
        </p:nvPicPr>
        <p:blipFill>
          <a:blip r:embed="rId1"/>
          <a:stretch>
            <a:fillRect/>
          </a:stretch>
        </p:blipFill>
        <p:spPr>
          <a:xfrm>
            <a:off x="954816" y="5727984"/>
            <a:ext cx="193487" cy="193487"/>
          </a:xfrm>
          <a:prstGeom prst="rect">
            <a:avLst/>
          </a:prstGeom>
        </p:spPr>
      </p:pic>
      <p:sp>
        <p:nvSpPr>
          <p:cNvPr id="10" name="Text 6"/>
          <p:cNvSpPr/>
          <p:nvPr/>
        </p:nvSpPr>
        <p:spPr>
          <a:xfrm>
            <a:off x="1417320" y="5468112"/>
            <a:ext cx="9966960" cy="713232"/>
          </a:xfrm>
          <a:prstGeom prst="rect">
            <a:avLst/>
          </a:prstGeom>
          <a:noFill/>
          <a:ln/>
        </p:spPr>
        <p:txBody>
          <a:bodyPr wrap="square" lIns="0" tIns="0" rIns="0" bIns="0" rtlCol="0" anchor="ctr"/>
          <a:lstStyle/>
          <a:p>
            <a:pPr indent="0" marL="0">
              <a:buNone/>
            </a:pPr>
            <a:r>
              <a:rPr lang="en-US" sz="1450" b="1" dirty="0">
                <a:solidFill>
                  <a:srgbClr val="E8A33D"/>
                </a:solidFill>
                <a:latin typeface="Calibri" pitchFamily="34" charset="0"/>
                <a:ea typeface="Calibri" pitchFamily="34" charset="-122"/>
                <a:cs typeface="Calibri" pitchFamily="34" charset="-120"/>
              </a:rPr>
              <a:t>The four performance levels are in rubrics.md  </a:t>
            </a:r>
            <a:pPr indent="0" marL="0">
              <a:buNone/>
            </a:pPr>
            <a:r>
              <a:rPr lang="en-US" sz="1450" dirty="0">
                <a:solidFill>
                  <a:srgbClr val="FFFFFF"/>
                </a:solidFill>
                <a:latin typeface="Calibri" pitchFamily="34" charset="0"/>
                <a:ea typeface="Calibri" pitchFamily="34" charset="-122"/>
                <a:cs typeface="Calibri" pitchFamily="34" charset="-120"/>
              </a:rPr>
              <a:t>— you've had it since week one. Reach at least Developing on every criterion to stay on a passing track.</a:t>
            </a:r>
            <a:endParaRPr lang="en-US" sz="1450" dirty="0"/>
          </a:p>
        </p:txBody>
      </p:sp>
      <p:sp>
        <p:nvSpPr>
          <p:cNvPr id="11" name="Text 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12" name="Text 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EVIDENCE THAT YOU FOUND OUT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 red spike beats a promised green one</a:t>
            </a:r>
            <a:endParaRPr lang="en-US" sz="3100" dirty="0"/>
          </a:p>
        </p:txBody>
      </p:sp>
      <p:sp>
        <p:nvSpPr>
          <p:cNvPr id="5" name="Shape 3"/>
          <p:cNvSpPr/>
          <p:nvPr/>
        </p:nvSpPr>
        <p:spPr>
          <a:xfrm>
            <a:off x="548640" y="1691640"/>
            <a:ext cx="11064240" cy="1737360"/>
          </a:xfrm>
          <a:prstGeom prst="roundRect">
            <a:avLst>
              <a:gd name="adj" fmla="val 4737"/>
            </a:avLst>
          </a:prstGeom>
          <a:solidFill>
            <a:srgbClr val="EAF4EE"/>
          </a:solidFill>
          <a:ln/>
          <a:effectLst>
            <a:outerShdw sx="100000" sy="100000" kx="0" ky="0" algn="bl" rotWithShape="0" blurRad="88900" dist="38100" dir="5400000">
              <a:srgbClr val="000000">
                <a:alpha val="13000"/>
              </a:srgbClr>
            </a:outerShdw>
          </a:effectLst>
        </p:spPr>
      </p:sp>
      <p:sp>
        <p:nvSpPr>
          <p:cNvPr id="6" name="Text 4"/>
          <p:cNvSpPr/>
          <p:nvPr/>
        </p:nvSpPr>
        <p:spPr>
          <a:xfrm>
            <a:off x="868680" y="1847088"/>
            <a:ext cx="10424160" cy="402336"/>
          </a:xfrm>
          <a:prstGeom prst="rect">
            <a:avLst/>
          </a:prstGeom>
          <a:noFill/>
          <a:ln/>
        </p:spPr>
        <p:txBody>
          <a:bodyPr wrap="square" lIns="0" tIns="0" rIns="0" bIns="0" rtlCol="0" anchor="ctr"/>
          <a:lstStyle/>
          <a:p>
            <a:pPr indent="0" marL="0">
              <a:buNone/>
            </a:pPr>
            <a:r>
              <a:rPr lang="en-US" sz="1650" b="1" dirty="0">
                <a:solidFill>
                  <a:srgbClr val="0E6E6D"/>
                </a:solidFill>
                <a:latin typeface="Calibri" pitchFamily="34" charset="0"/>
                <a:ea typeface="Calibri" pitchFamily="34" charset="-122"/>
                <a:cs typeface="Calibri" pitchFamily="34" charset="-120"/>
              </a:rPr>
              <a:t>Backstage's spike — six-hour box</a:t>
            </a:r>
            <a:endParaRPr lang="en-US" sz="1650" dirty="0"/>
          </a:p>
        </p:txBody>
      </p:sp>
      <p:sp>
        <p:nvSpPr>
          <p:cNvPr id="7" name="Text 5"/>
          <p:cNvSpPr/>
          <p:nvPr/>
        </p:nvSpPr>
        <p:spPr>
          <a:xfrm>
            <a:off x="868680" y="2286000"/>
            <a:ext cx="10424160" cy="1051560"/>
          </a:xfrm>
          <a:prstGeom prst="rect">
            <a:avLst/>
          </a:prstGeom>
          <a:noFill/>
          <a:ln/>
        </p:spPr>
        <p:txBody>
          <a:bodyPr wrap="square" lIns="0" tIns="0" rIns="0" bIns="0" rtlCol="0" anchor="t"/>
          <a:lstStyle/>
          <a:p>
            <a:pPr indent="0" marL="0">
              <a:lnSpc>
                <a:spcPct val="105000"/>
              </a:lnSpc>
              <a:spcAft>
                <a:spcPts val="600"/>
              </a:spcAft>
              <a:buNone/>
            </a:pPr>
            <a:r>
              <a:rPr lang="en-US" sz="1500" dirty="0">
                <a:solidFill>
                  <a:srgbClr val="1E2A36"/>
                </a:solidFill>
                <a:latin typeface="Calibri" pitchFamily="34" charset="0"/>
                <a:ea typeface="Calibri" pitchFamily="34" charset="-122"/>
                <a:cs typeface="Calibri" pitchFamily="34" charset="-120"/>
              </a:rPr>
              <a:t>Question: can a volunteer photograph and file one item in under 60 seconds on the venue's wifi?</a:t>
            </a:r>
            <a:endParaRPr lang="en-US" sz="1500" dirty="0"/>
          </a:p>
          <a:p>
            <a:pPr indent="0" marL="0">
              <a:lnSpc>
                <a:spcPct val="105000"/>
              </a:lnSpc>
              <a:spcAft>
                <a:spcPts val="600"/>
              </a:spcAft>
              <a:buNone/>
            </a:pPr>
            <a:r>
              <a:rPr lang="en-US" sz="1500" dirty="0">
                <a:solidFill>
                  <a:srgbClr val="1E2A36"/>
                </a:solidFill>
                <a:latin typeface="Calibri" pitchFamily="34" charset="0"/>
                <a:ea typeface="Calibri" pitchFamily="34" charset="-122"/>
                <a:cs typeface="Calibri" pitchFamily="34" charset="-120"/>
              </a:rPr>
              <a:t>Declared up front — green: median ≤ 60 s over ten items. Red: median &gt; 90 s, or repeated failures.</a:t>
            </a:r>
            <a:endParaRPr lang="en-US" sz="1500" dirty="0"/>
          </a:p>
          <a:p>
            <a:pPr indent="0" marL="0">
              <a:lnSpc>
                <a:spcPct val="105000"/>
              </a:lnSpc>
              <a:buNone/>
            </a:pPr>
            <a:r>
              <a:rPr lang="en-US" sz="1500" dirty="0">
                <a:solidFill>
                  <a:srgbClr val="1E2A36"/>
                </a:solidFill>
                <a:latin typeface="Calibri" pitchFamily="34" charset="0"/>
                <a:ea typeface="Calibri" pitchFamily="34" charset="-122"/>
                <a:cs typeface="Calibri" pitchFamily="34" charset="-120"/>
              </a:rPr>
              <a:t>Result: 71 s and three failures out of ten — until client-side downscaling. Then 48 s, zero failures.</a:t>
            </a:r>
            <a:endParaRPr lang="en-US" sz="1500" dirty="0"/>
          </a:p>
        </p:txBody>
      </p:sp>
      <p:sp>
        <p:nvSpPr>
          <p:cNvPr id="8" name="Shape 6"/>
          <p:cNvSpPr/>
          <p:nvPr/>
        </p:nvSpPr>
        <p:spPr>
          <a:xfrm>
            <a:off x="548640" y="3611880"/>
            <a:ext cx="3511296" cy="1874520"/>
          </a:xfrm>
          <a:prstGeom prst="roundRect">
            <a:avLst>
              <a:gd name="adj" fmla="val 4390"/>
            </a:avLst>
          </a:prstGeom>
          <a:solidFill>
            <a:srgbClr val="EAF4EE"/>
          </a:solidFill>
          <a:ln/>
          <a:effectLst>
            <a:outerShdw sx="100000" sy="100000" kx="0" ky="0" algn="bl" rotWithShape="0" blurRad="88900" dist="38100" dir="5400000">
              <a:srgbClr val="000000">
                <a:alpha val="13000"/>
              </a:srgbClr>
            </a:outerShdw>
          </a:effectLst>
        </p:spPr>
      </p:sp>
      <p:sp>
        <p:nvSpPr>
          <p:cNvPr id="9" name="Shape 7"/>
          <p:cNvSpPr/>
          <p:nvPr/>
        </p:nvSpPr>
        <p:spPr>
          <a:xfrm>
            <a:off x="804672" y="3840480"/>
            <a:ext cx="493776" cy="493776"/>
          </a:xfrm>
          <a:prstGeom prst="ellipse">
            <a:avLst/>
          </a:prstGeom>
          <a:solidFill>
            <a:srgbClr val="3E9C6B"/>
          </a:solidFill>
          <a:ln/>
        </p:spPr>
      </p:sp>
      <p:pic>
        <p:nvPicPr>
          <p:cNvPr id="10" name="Image 0" descr="preencoded.png">    </p:cNvPr>
          <p:cNvPicPr>
            <a:picLocks noChangeAspect="1"/>
          </p:cNvPicPr>
          <p:nvPr/>
        </p:nvPicPr>
        <p:blipFill>
          <a:blip r:embed="rId1"/>
          <a:stretch>
            <a:fillRect/>
          </a:stretch>
        </p:blipFill>
        <p:spPr>
          <a:xfrm>
            <a:off x="937992" y="3973800"/>
            <a:ext cx="227137" cy="227137"/>
          </a:xfrm>
          <a:prstGeom prst="rect">
            <a:avLst/>
          </a:prstGeom>
        </p:spPr>
      </p:pic>
      <p:sp>
        <p:nvSpPr>
          <p:cNvPr id="11" name="Text 8"/>
          <p:cNvSpPr/>
          <p:nvPr/>
        </p:nvSpPr>
        <p:spPr>
          <a:xfrm>
            <a:off x="1408176" y="3840480"/>
            <a:ext cx="2505456" cy="493776"/>
          </a:xfrm>
          <a:prstGeom prst="rect">
            <a:avLst/>
          </a:prstGeom>
          <a:noFill/>
          <a:ln/>
        </p:spPr>
        <p:txBody>
          <a:bodyPr wrap="square" lIns="0" tIns="0" rIns="0" bIns="0" rtlCol="0" anchor="ctr"/>
          <a:lstStyle/>
          <a:p>
            <a:pPr indent="0" marL="0">
              <a:buNone/>
            </a:pPr>
            <a:r>
              <a:rPr lang="en-US" sz="1700" b="1" dirty="0">
                <a:solidFill>
                  <a:srgbClr val="3E9C6B"/>
                </a:solidFill>
                <a:latin typeface="Calibri" pitchFamily="34" charset="0"/>
                <a:ea typeface="Calibri" pitchFamily="34" charset="-122"/>
                <a:cs typeface="Calibri" pitchFamily="34" charset="-120"/>
              </a:rPr>
              <a:t>Best</a:t>
            </a:r>
            <a:endParaRPr lang="en-US" sz="1700" dirty="0"/>
          </a:p>
        </p:txBody>
      </p:sp>
      <p:sp>
        <p:nvSpPr>
          <p:cNvPr id="12" name="Text 9"/>
          <p:cNvSpPr/>
          <p:nvPr/>
        </p:nvSpPr>
        <p:spPr>
          <a:xfrm>
            <a:off x="804672" y="4462272"/>
            <a:ext cx="2999232" cy="868680"/>
          </a:xfrm>
          <a:prstGeom prst="rect">
            <a:avLst/>
          </a:prstGeom>
          <a:noFill/>
          <a:ln/>
        </p:spPr>
        <p:txBody>
          <a:bodyPr wrap="square" lIns="0" tIns="0" rIns="0" bIns="0" rtlCol="0" anchor="t"/>
          <a:lstStyle/>
          <a:p>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Ran it. Reported the result honestly — including what it forced you to change.</a:t>
            </a:r>
            <a:endParaRPr lang="en-US" sz="1400" dirty="0"/>
          </a:p>
        </p:txBody>
      </p:sp>
      <p:sp>
        <p:nvSpPr>
          <p:cNvPr id="13" name="Shape 10"/>
          <p:cNvSpPr/>
          <p:nvPr/>
        </p:nvSpPr>
        <p:spPr>
          <a:xfrm>
            <a:off x="4233672" y="3611880"/>
            <a:ext cx="3511296" cy="1874520"/>
          </a:xfrm>
          <a:prstGeom prst="roundRect">
            <a:avLst>
              <a:gd name="adj" fmla="val 4390"/>
            </a:avLst>
          </a:prstGeom>
          <a:solidFill>
            <a:srgbClr val="FBEEDA"/>
          </a:solidFill>
          <a:ln/>
          <a:effectLst>
            <a:outerShdw sx="100000" sy="100000" kx="0" ky="0" algn="bl" rotWithShape="0" blurRad="88900" dist="38100" dir="5400000">
              <a:srgbClr val="000000">
                <a:alpha val="13000"/>
              </a:srgbClr>
            </a:outerShdw>
          </a:effectLst>
        </p:spPr>
      </p:sp>
      <p:sp>
        <p:nvSpPr>
          <p:cNvPr id="14" name="Shape 11"/>
          <p:cNvSpPr/>
          <p:nvPr/>
        </p:nvSpPr>
        <p:spPr>
          <a:xfrm>
            <a:off x="4489704" y="3840480"/>
            <a:ext cx="493776" cy="493776"/>
          </a:xfrm>
          <a:prstGeom prst="ellipse">
            <a:avLst/>
          </a:prstGeom>
          <a:solidFill>
            <a:srgbClr val="E8A33D"/>
          </a:solidFill>
          <a:ln/>
        </p:spPr>
      </p:sp>
      <p:pic>
        <p:nvPicPr>
          <p:cNvPr id="15" name="Image 1" descr="preencoded.png">    </p:cNvPr>
          <p:cNvPicPr>
            <a:picLocks noChangeAspect="1"/>
          </p:cNvPicPr>
          <p:nvPr/>
        </p:nvPicPr>
        <p:blipFill>
          <a:blip r:embed="rId2"/>
          <a:stretch>
            <a:fillRect/>
          </a:stretch>
        </p:blipFill>
        <p:spPr>
          <a:xfrm>
            <a:off x="4623024" y="3973800"/>
            <a:ext cx="227137" cy="227137"/>
          </a:xfrm>
          <a:prstGeom prst="rect">
            <a:avLst/>
          </a:prstGeom>
        </p:spPr>
      </p:pic>
      <p:sp>
        <p:nvSpPr>
          <p:cNvPr id="16" name="Text 12"/>
          <p:cNvSpPr/>
          <p:nvPr/>
        </p:nvSpPr>
        <p:spPr>
          <a:xfrm>
            <a:off x="5093208" y="3840480"/>
            <a:ext cx="2505456" cy="493776"/>
          </a:xfrm>
          <a:prstGeom prst="rect">
            <a:avLst/>
          </a:prstGeom>
          <a:noFill/>
          <a:ln/>
        </p:spPr>
        <p:txBody>
          <a:bodyPr wrap="square" lIns="0" tIns="0" rIns="0" bIns="0" rtlCol="0" anchor="ctr"/>
          <a:lstStyle/>
          <a:p>
            <a:pPr indent="0" marL="0">
              <a:buNone/>
            </a:pPr>
            <a:r>
              <a:rPr lang="en-US" sz="1700" b="1" dirty="0">
                <a:solidFill>
                  <a:srgbClr val="B9781C"/>
                </a:solidFill>
                <a:latin typeface="Calibri" pitchFamily="34" charset="0"/>
                <a:ea typeface="Calibri" pitchFamily="34" charset="-122"/>
                <a:cs typeface="Calibri" pitchFamily="34" charset="-120"/>
              </a:rPr>
              <a:t>Still good</a:t>
            </a:r>
            <a:endParaRPr lang="en-US" sz="1700" dirty="0"/>
          </a:p>
        </p:txBody>
      </p:sp>
      <p:sp>
        <p:nvSpPr>
          <p:cNvPr id="17" name="Text 13"/>
          <p:cNvSpPr/>
          <p:nvPr/>
        </p:nvSpPr>
        <p:spPr>
          <a:xfrm>
            <a:off x="4489704" y="4462272"/>
            <a:ext cx="2999232" cy="868680"/>
          </a:xfrm>
          <a:prstGeom prst="rect">
            <a:avLst/>
          </a:prstGeom>
          <a:noFill/>
          <a:ln/>
        </p:spPr>
        <p:txBody>
          <a:bodyPr wrap="square" lIns="0" tIns="0" rIns="0" bIns="0" rtlCol="0" anchor="t"/>
          <a:lstStyle/>
          <a:p>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Ran it and it came back RED. That's the spike doing its job, cheaply and early.</a:t>
            </a:r>
            <a:endParaRPr lang="en-US" sz="1400" dirty="0"/>
          </a:p>
        </p:txBody>
      </p:sp>
      <p:sp>
        <p:nvSpPr>
          <p:cNvPr id="18" name="Shape 14"/>
          <p:cNvSpPr/>
          <p:nvPr/>
        </p:nvSpPr>
        <p:spPr>
          <a:xfrm>
            <a:off x="7918704" y="3611880"/>
            <a:ext cx="3511296" cy="1874520"/>
          </a:xfrm>
          <a:prstGeom prst="roundRect">
            <a:avLst>
              <a:gd name="adj" fmla="val 4390"/>
            </a:avLst>
          </a:prstGeom>
          <a:solidFill>
            <a:srgbClr val="FBECE8"/>
          </a:solidFill>
          <a:ln/>
          <a:effectLst>
            <a:outerShdw sx="100000" sy="100000" kx="0" ky="0" algn="bl" rotWithShape="0" blurRad="88900" dist="38100" dir="5400000">
              <a:srgbClr val="000000">
                <a:alpha val="13000"/>
              </a:srgbClr>
            </a:outerShdw>
          </a:effectLst>
        </p:spPr>
      </p:sp>
      <p:sp>
        <p:nvSpPr>
          <p:cNvPr id="19" name="Shape 15"/>
          <p:cNvSpPr/>
          <p:nvPr/>
        </p:nvSpPr>
        <p:spPr>
          <a:xfrm>
            <a:off x="8174736" y="3840480"/>
            <a:ext cx="493776" cy="493776"/>
          </a:xfrm>
          <a:prstGeom prst="ellipse">
            <a:avLst/>
          </a:prstGeom>
          <a:solidFill>
            <a:srgbClr val="D9614C"/>
          </a:solidFill>
          <a:ln/>
        </p:spPr>
      </p:sp>
      <p:pic>
        <p:nvPicPr>
          <p:cNvPr id="20" name="Image 2" descr="preencoded.png">    </p:cNvPr>
          <p:cNvPicPr>
            <a:picLocks noChangeAspect="1"/>
          </p:cNvPicPr>
          <p:nvPr/>
        </p:nvPicPr>
        <p:blipFill>
          <a:blip r:embed="rId3"/>
          <a:stretch>
            <a:fillRect/>
          </a:stretch>
        </p:blipFill>
        <p:spPr>
          <a:xfrm>
            <a:off x="8308056" y="3973800"/>
            <a:ext cx="227137" cy="227137"/>
          </a:xfrm>
          <a:prstGeom prst="rect">
            <a:avLst/>
          </a:prstGeom>
        </p:spPr>
      </p:pic>
      <p:sp>
        <p:nvSpPr>
          <p:cNvPr id="21" name="Text 16"/>
          <p:cNvSpPr/>
          <p:nvPr/>
        </p:nvSpPr>
        <p:spPr>
          <a:xfrm>
            <a:off x="8778240" y="3840480"/>
            <a:ext cx="2505456" cy="493776"/>
          </a:xfrm>
          <a:prstGeom prst="rect">
            <a:avLst/>
          </a:prstGeom>
          <a:noFill/>
          <a:ln/>
        </p:spPr>
        <p:txBody>
          <a:bodyPr wrap="square" lIns="0" tIns="0" rIns="0" bIns="0" rtlCol="0" anchor="ctr"/>
          <a:lstStyle/>
          <a:p>
            <a:pPr indent="0" marL="0">
              <a:buNone/>
            </a:pPr>
            <a:r>
              <a:rPr lang="en-US" sz="1700" b="1" dirty="0">
                <a:solidFill>
                  <a:srgbClr val="D9614C"/>
                </a:solidFill>
                <a:latin typeface="Calibri" pitchFamily="34" charset="0"/>
                <a:ea typeface="Calibri" pitchFamily="34" charset="-122"/>
                <a:cs typeface="Calibri" pitchFamily="34" charset="-120"/>
              </a:rPr>
              <a:t>Worst</a:t>
            </a:r>
            <a:endParaRPr lang="en-US" sz="1700" dirty="0"/>
          </a:p>
        </p:txBody>
      </p:sp>
      <p:sp>
        <p:nvSpPr>
          <p:cNvPr id="22" name="Text 17"/>
          <p:cNvSpPr/>
          <p:nvPr/>
        </p:nvSpPr>
        <p:spPr>
          <a:xfrm>
            <a:off x="8174736" y="4462272"/>
            <a:ext cx="2999232" cy="868680"/>
          </a:xfrm>
          <a:prstGeom prst="rect">
            <a:avLst/>
          </a:prstGeom>
          <a:noFill/>
          <a:ln/>
        </p:spPr>
        <p:txBody>
          <a:bodyPr wrap="square" lIns="0" tIns="0" rIns="0" bIns="0" rtlCol="0" anchor="t"/>
          <a:lstStyle/>
          <a:p>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“I haven't run one yet, but I'm confident.” Confidence isn't evidence.</a:t>
            </a:r>
            <a:endParaRPr lang="en-US" sz="1400" dirty="0"/>
          </a:p>
        </p:txBody>
      </p:sp>
      <p:sp>
        <p:nvSpPr>
          <p:cNvPr id="23" name="Shape 18"/>
          <p:cNvSpPr/>
          <p:nvPr/>
        </p:nvSpPr>
        <p:spPr>
          <a:xfrm>
            <a:off x="548640" y="5632704"/>
            <a:ext cx="11064240" cy="548640"/>
          </a:xfrm>
          <a:prstGeom prst="roundRect">
            <a:avLst>
              <a:gd name="adj" fmla="val 15000"/>
            </a:avLst>
          </a:prstGeom>
          <a:solidFill>
            <a:srgbClr val="14233A"/>
          </a:solidFill>
          <a:ln/>
          <a:effectLst>
            <a:outerShdw sx="100000" sy="100000" kx="0" ky="0" algn="bl" rotWithShape="0" blurRad="88900" dist="38100" dir="5400000">
              <a:srgbClr val="000000">
                <a:alpha val="13000"/>
              </a:srgbClr>
            </a:outerShdw>
          </a:effectLst>
        </p:spPr>
      </p:sp>
      <p:sp>
        <p:nvSpPr>
          <p:cNvPr id="24" name="Text 19"/>
          <p:cNvSpPr/>
          <p:nvPr/>
        </p:nvSpPr>
        <p:spPr>
          <a:xfrm>
            <a:off x="822960" y="5632704"/>
            <a:ext cx="10515600" cy="548640"/>
          </a:xfrm>
          <a:prstGeom prst="rect">
            <a:avLst/>
          </a:prstGeom>
          <a:noFill/>
          <a:ln/>
        </p:spPr>
        <p:txBody>
          <a:bodyPr wrap="square" lIns="0" tIns="0" rIns="0" bIns="0" rtlCol="0" anchor="ctr"/>
          <a:lstStyle/>
          <a:p>
            <a:pPr algn="ctr" indent="0" marL="0">
              <a:buNone/>
            </a:pPr>
            <a:r>
              <a:rPr lang="en-US" sz="1400" i="1" dirty="0">
                <a:solidFill>
                  <a:srgbClr val="CFE0E9"/>
                </a:solidFill>
                <a:latin typeface="Calibri" pitchFamily="34" charset="0"/>
                <a:ea typeface="Calibri" pitchFamily="34" charset="-122"/>
                <a:cs typeface="Calibri" pitchFamily="34" charset="-120"/>
              </a:rPr>
              <a:t>The condition that spike produced is now a line in the technical approach. That's what the artifact of a person who found out looks like.</a:t>
            </a:r>
            <a:endParaRPr lang="en-US" sz="1400" dirty="0"/>
          </a:p>
        </p:txBody>
      </p:sp>
      <p:sp>
        <p:nvSpPr>
          <p:cNvPr id="25"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26"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SCOPE REALISM</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arithmetic almost everyone gets wrong</a:t>
            </a:r>
            <a:endParaRPr lang="en-US" sz="3100" dirty="0"/>
          </a:p>
        </p:txBody>
      </p:sp>
      <p:sp>
        <p:nvSpPr>
          <p:cNvPr id="5" name="Shape 3"/>
          <p:cNvSpPr/>
          <p:nvPr/>
        </p:nvSpPr>
        <p:spPr>
          <a:xfrm>
            <a:off x="548640" y="1664208"/>
            <a:ext cx="5440680" cy="2057400"/>
          </a:xfrm>
          <a:prstGeom prst="roundRect">
            <a:avLst>
              <a:gd name="adj" fmla="val 4000"/>
            </a:avLst>
          </a:prstGeom>
          <a:solidFill>
            <a:srgbClr val="FBECE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1901952"/>
            <a:ext cx="512064" cy="512064"/>
          </a:xfrm>
          <a:prstGeom prst="ellipse">
            <a:avLst/>
          </a:prstGeom>
          <a:solidFill>
            <a:srgbClr val="D9614C"/>
          </a:solidFill>
          <a:ln/>
        </p:spPr>
      </p:sp>
      <p:pic>
        <p:nvPicPr>
          <p:cNvPr id="7" name="Image 0" descr="preencoded.png">    </p:cNvPr>
          <p:cNvPicPr>
            <a:picLocks noChangeAspect="1"/>
          </p:cNvPicPr>
          <p:nvPr/>
        </p:nvPicPr>
        <p:blipFill>
          <a:blip r:embed="rId1"/>
          <a:stretch>
            <a:fillRect/>
          </a:stretch>
        </p:blipFill>
        <p:spPr>
          <a:xfrm>
            <a:off x="961217" y="2040209"/>
            <a:ext cx="235549" cy="235549"/>
          </a:xfrm>
          <a:prstGeom prst="rect">
            <a:avLst/>
          </a:prstGeom>
        </p:spPr>
      </p:pic>
      <p:sp>
        <p:nvSpPr>
          <p:cNvPr id="8" name="Text 5"/>
          <p:cNvSpPr/>
          <p:nvPr/>
        </p:nvSpPr>
        <p:spPr>
          <a:xfrm>
            <a:off x="1517904" y="1938528"/>
            <a:ext cx="4023360" cy="438912"/>
          </a:xfrm>
          <a:prstGeom prst="rect">
            <a:avLst/>
          </a:prstGeom>
          <a:noFill/>
          <a:ln/>
        </p:spPr>
        <p:txBody>
          <a:bodyPr wrap="square" lIns="0" tIns="0" rIns="0" bIns="0" rtlCol="0" anchor="ctr"/>
          <a:lstStyle/>
          <a:p>
            <a:pPr indent="0" marL="0">
              <a:buNone/>
            </a:pPr>
            <a:r>
              <a:rPr lang="en-US" sz="1700" b="1" dirty="0">
                <a:solidFill>
                  <a:srgbClr val="D9614C"/>
                </a:solidFill>
                <a:latin typeface="Calibri" pitchFamily="34" charset="0"/>
                <a:ea typeface="Calibri" pitchFamily="34" charset="-122"/>
                <a:cs typeface="Calibri" pitchFamily="34" charset="-120"/>
              </a:rPr>
              <a:t>The fatal version</a:t>
            </a:r>
            <a:endParaRPr lang="en-US" sz="1700" dirty="0"/>
          </a:p>
        </p:txBody>
      </p:sp>
      <p:sp>
        <p:nvSpPr>
          <p:cNvPr id="9" name="Text 6"/>
          <p:cNvSpPr/>
          <p:nvPr/>
        </p:nvSpPr>
        <p:spPr>
          <a:xfrm>
            <a:off x="868680" y="2542032"/>
            <a:ext cx="4846320" cy="457200"/>
          </a:xfrm>
          <a:prstGeom prst="rect">
            <a:avLst/>
          </a:prstGeom>
          <a:noFill/>
          <a:ln/>
        </p:spPr>
        <p:txBody>
          <a:bodyPr wrap="square" lIns="0" tIns="0" rIns="0" bIns="0" rtlCol="0" anchor="ctr"/>
          <a:lstStyle/>
          <a:p>
            <a:pPr indent="0" marL="0">
              <a:buNone/>
            </a:pPr>
            <a:r>
              <a:rPr lang="en-US" sz="2000" b="1" dirty="0">
                <a:solidFill>
                  <a:srgbClr val="1E2A36"/>
                </a:solidFill>
                <a:latin typeface="Cambria" pitchFamily="34" charset="0"/>
                <a:ea typeface="Cambria" pitchFamily="34" charset="-122"/>
                <a:cs typeface="Cambria" pitchFamily="34" charset="-120"/>
              </a:rPr>
              <a:t>10 hrs/week × 14 weeks = 140 hours</a:t>
            </a:r>
            <a:endParaRPr lang="en-US" sz="2000" dirty="0"/>
          </a:p>
        </p:txBody>
      </p:sp>
      <p:sp>
        <p:nvSpPr>
          <p:cNvPr id="10" name="Text 7"/>
          <p:cNvSpPr/>
          <p:nvPr/>
        </p:nvSpPr>
        <p:spPr>
          <a:xfrm>
            <a:off x="868680" y="3017520"/>
            <a:ext cx="4846320" cy="566928"/>
          </a:xfrm>
          <a:prstGeom prst="rect">
            <a:avLst/>
          </a:prstGeom>
          <a:noFill/>
          <a:ln/>
        </p:spPr>
        <p:txBody>
          <a:bodyPr wrap="square" lIns="0" tIns="0" rIns="0" bIns="0" rtlCol="0" anchor="t"/>
          <a:lstStyle/>
          <a:p>
            <a:pPr indent="0" marL="0">
              <a:lnSpc>
                <a:spcPct val="104000"/>
              </a:lnSpc>
              <a:buNone/>
            </a:pPr>
            <a:r>
              <a:rPr lang="en-US" sz="1400" dirty="0">
                <a:solidFill>
                  <a:srgbClr val="1E2A36"/>
                </a:solidFill>
                <a:latin typeface="Calibri" pitchFamily="34" charset="0"/>
                <a:ea typeface="Calibri" pitchFamily="34" charset="-122"/>
                <a:cs typeface="Calibri" pitchFamily="34" charset="-120"/>
              </a:rPr>
              <a:t>Counts hours that were never available, over weeks where you weren't building.</a:t>
            </a:r>
            <a:endParaRPr lang="en-US" sz="1400" dirty="0"/>
          </a:p>
        </p:txBody>
      </p:sp>
      <p:sp>
        <p:nvSpPr>
          <p:cNvPr id="11" name="Shape 8"/>
          <p:cNvSpPr/>
          <p:nvPr/>
        </p:nvSpPr>
        <p:spPr>
          <a:xfrm>
            <a:off x="6172200" y="1664208"/>
            <a:ext cx="5440680" cy="2057400"/>
          </a:xfrm>
          <a:prstGeom prst="roundRect">
            <a:avLst>
              <a:gd name="adj" fmla="val 4000"/>
            </a:avLst>
          </a:prstGeom>
          <a:solidFill>
            <a:srgbClr val="EAF4EE"/>
          </a:solidFill>
          <a:ln/>
          <a:effectLst>
            <a:outerShdw sx="100000" sy="100000" kx="0" ky="0" algn="bl" rotWithShape="0" blurRad="88900" dist="38100" dir="5400000">
              <a:srgbClr val="000000">
                <a:alpha val="13000"/>
              </a:srgbClr>
            </a:outerShdw>
          </a:effectLst>
        </p:spPr>
      </p:sp>
      <p:sp>
        <p:nvSpPr>
          <p:cNvPr id="12" name="Shape 9"/>
          <p:cNvSpPr/>
          <p:nvPr/>
        </p:nvSpPr>
        <p:spPr>
          <a:xfrm>
            <a:off x="6446520" y="1901952"/>
            <a:ext cx="512064" cy="512064"/>
          </a:xfrm>
          <a:prstGeom prst="ellipse">
            <a:avLst/>
          </a:prstGeom>
          <a:solidFill>
            <a:srgbClr val="3E9C6B"/>
          </a:solidFill>
          <a:ln/>
        </p:spPr>
      </p:sp>
      <p:pic>
        <p:nvPicPr>
          <p:cNvPr id="13" name="Image 1" descr="preencoded.png">    </p:cNvPr>
          <p:cNvPicPr>
            <a:picLocks noChangeAspect="1"/>
          </p:cNvPicPr>
          <p:nvPr/>
        </p:nvPicPr>
        <p:blipFill>
          <a:blip r:embed="rId2"/>
          <a:stretch>
            <a:fillRect/>
          </a:stretch>
        </p:blipFill>
        <p:spPr>
          <a:xfrm>
            <a:off x="6584777" y="2040209"/>
            <a:ext cx="235549" cy="235549"/>
          </a:xfrm>
          <a:prstGeom prst="rect">
            <a:avLst/>
          </a:prstGeom>
        </p:spPr>
      </p:pic>
      <p:sp>
        <p:nvSpPr>
          <p:cNvPr id="14" name="Text 10"/>
          <p:cNvSpPr/>
          <p:nvPr/>
        </p:nvSpPr>
        <p:spPr>
          <a:xfrm>
            <a:off x="7141464" y="1938528"/>
            <a:ext cx="4023360" cy="438912"/>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The honest version</a:t>
            </a:r>
            <a:endParaRPr lang="en-US" sz="1700" dirty="0"/>
          </a:p>
        </p:txBody>
      </p:sp>
      <p:sp>
        <p:nvSpPr>
          <p:cNvPr id="15" name="Text 11"/>
          <p:cNvSpPr/>
          <p:nvPr/>
        </p:nvSpPr>
        <p:spPr>
          <a:xfrm>
            <a:off x="6492240" y="2542032"/>
            <a:ext cx="4846320" cy="457200"/>
          </a:xfrm>
          <a:prstGeom prst="rect">
            <a:avLst/>
          </a:prstGeom>
          <a:noFill/>
          <a:ln/>
        </p:spPr>
        <p:txBody>
          <a:bodyPr wrap="square" lIns="0" tIns="0" rIns="0" bIns="0" rtlCol="0" anchor="ctr"/>
          <a:lstStyle/>
          <a:p>
            <a:pPr indent="0" marL="0">
              <a:buNone/>
            </a:pPr>
            <a:r>
              <a:rPr lang="en-US" sz="2000" b="1" dirty="0">
                <a:solidFill>
                  <a:srgbClr val="1E2A36"/>
                </a:solidFill>
                <a:latin typeface="Cambria" pitchFamily="34" charset="0"/>
                <a:ea typeface="Cambria" pitchFamily="34" charset="-122"/>
                <a:cs typeface="Cambria" pitchFamily="34" charset="-120"/>
              </a:rPr>
              <a:t>(hours left after everything) × ~5 weeks</a:t>
            </a:r>
            <a:endParaRPr lang="en-US" sz="2000" dirty="0"/>
          </a:p>
        </p:txBody>
      </p:sp>
      <p:sp>
        <p:nvSpPr>
          <p:cNvPr id="16" name="Text 12"/>
          <p:cNvSpPr/>
          <p:nvPr/>
        </p:nvSpPr>
        <p:spPr>
          <a:xfrm>
            <a:off x="6492240" y="3017520"/>
            <a:ext cx="4846320" cy="566928"/>
          </a:xfrm>
          <a:prstGeom prst="rect">
            <a:avLst/>
          </a:prstGeom>
          <a:noFill/>
          <a:ln/>
        </p:spPr>
        <p:txBody>
          <a:bodyPr wrap="square" lIns="0" tIns="0" rIns="0" bIns="0" rtlCol="0" anchor="t"/>
          <a:lstStyle/>
          <a:p>
            <a:pPr indent="0" marL="0">
              <a:lnSpc>
                <a:spcPct val="104000"/>
              </a:lnSpc>
              <a:buNone/>
            </a:pPr>
            <a:r>
              <a:rPr lang="en-US" sz="1400" dirty="0">
                <a:solidFill>
                  <a:srgbClr val="1E2A36"/>
                </a:solidFill>
                <a:latin typeface="Calibri" pitchFamily="34" charset="0"/>
                <a:ea typeface="Calibri" pitchFamily="34" charset="-122"/>
                <a:cs typeface="Calibri" pitchFamily="34" charset="-120"/>
              </a:rPr>
              <a:t>The ~10 hrs/week covers class, reading, discovery, writing, and reviews. Building runs Weeks 9–13.</a:t>
            </a:r>
            <a:endParaRPr lang="en-US" sz="1400" dirty="0"/>
          </a:p>
        </p:txBody>
      </p:sp>
      <p:sp>
        <p:nvSpPr>
          <p:cNvPr id="17" name="Shape 13"/>
          <p:cNvSpPr/>
          <p:nvPr/>
        </p:nvSpPr>
        <p:spPr>
          <a:xfrm>
            <a:off x="548640" y="3913632"/>
            <a:ext cx="11064240" cy="1481328"/>
          </a:xfrm>
          <a:prstGeom prst="roundRect">
            <a:avLst>
              <a:gd name="adj" fmla="val 5556"/>
            </a:avLst>
          </a:prstGeom>
          <a:solidFill>
            <a:srgbClr val="E8A33D"/>
          </a:solidFill>
          <a:ln/>
          <a:effectLst>
            <a:outerShdw sx="100000" sy="100000" kx="0" ky="0" algn="bl" rotWithShape="0" blurRad="88900" dist="38100" dir="5400000">
              <a:srgbClr val="000000">
                <a:alpha val="13000"/>
              </a:srgbClr>
            </a:outerShdw>
          </a:effectLst>
        </p:spPr>
      </p:sp>
      <p:sp>
        <p:nvSpPr>
          <p:cNvPr id="18" name="Shape 14"/>
          <p:cNvSpPr/>
          <p:nvPr/>
        </p:nvSpPr>
        <p:spPr>
          <a:xfrm>
            <a:off x="914400" y="4224528"/>
            <a:ext cx="859536" cy="859536"/>
          </a:xfrm>
          <a:prstGeom prst="ellipse">
            <a:avLst/>
          </a:prstGeom>
          <a:solidFill>
            <a:srgbClr val="14233A"/>
          </a:solidFill>
          <a:ln/>
        </p:spPr>
      </p:sp>
      <p:pic>
        <p:nvPicPr>
          <p:cNvPr id="19" name="Image 2" descr="preencoded.png">    </p:cNvPr>
          <p:cNvPicPr>
            <a:picLocks noChangeAspect="1"/>
          </p:cNvPicPr>
          <p:nvPr/>
        </p:nvPicPr>
        <p:blipFill>
          <a:blip r:embed="rId3"/>
          <a:stretch>
            <a:fillRect/>
          </a:stretch>
        </p:blipFill>
        <p:spPr>
          <a:xfrm>
            <a:off x="1146475" y="4456603"/>
            <a:ext cx="395387" cy="395387"/>
          </a:xfrm>
          <a:prstGeom prst="rect">
            <a:avLst/>
          </a:prstGeom>
        </p:spPr>
      </p:pic>
      <p:sp>
        <p:nvSpPr>
          <p:cNvPr id="20" name="Text 15"/>
          <p:cNvSpPr/>
          <p:nvPr/>
        </p:nvSpPr>
        <p:spPr>
          <a:xfrm>
            <a:off x="2103120" y="4059936"/>
            <a:ext cx="9235440" cy="457200"/>
          </a:xfrm>
          <a:prstGeom prst="rect">
            <a:avLst/>
          </a:prstGeom>
          <a:noFill/>
          <a:ln/>
        </p:spPr>
        <p:txBody>
          <a:bodyPr wrap="square" lIns="0" tIns="0" rIns="0" bIns="0" rtlCol="0" anchor="ctr"/>
          <a:lstStyle/>
          <a:p>
            <a:pPr indent="0" marL="0">
              <a:buNone/>
            </a:pPr>
            <a:r>
              <a:rPr lang="en-US" sz="2300" b="1" dirty="0">
                <a:solidFill>
                  <a:srgbClr val="14233A"/>
                </a:solidFill>
                <a:latin typeface="Cambria" pitchFamily="34" charset="0"/>
                <a:ea typeface="Cambria" pitchFamily="34" charset="-122"/>
                <a:cs typeface="Cambria" pitchFamily="34" charset="-120"/>
              </a:rPr>
              <a:t>Do it right now — 90 seconds</a:t>
            </a:r>
            <a:endParaRPr lang="en-US" sz="2300" dirty="0"/>
          </a:p>
        </p:txBody>
      </p:sp>
      <p:sp>
        <p:nvSpPr>
          <p:cNvPr id="21" name="Text 16"/>
          <p:cNvSpPr/>
          <p:nvPr/>
        </p:nvSpPr>
        <p:spPr>
          <a:xfrm>
            <a:off x="2103120" y="4553712"/>
            <a:ext cx="9235440" cy="713232"/>
          </a:xfrm>
          <a:prstGeom prst="rect">
            <a:avLst/>
          </a:prstGeom>
          <a:noFill/>
          <a:ln/>
        </p:spPr>
        <p:txBody>
          <a:bodyPr wrap="square" lIns="0" tIns="0" rIns="0" bIns="0" rtlCol="0" anchor="t"/>
          <a:lstStyle/>
          <a:p>
            <a:pPr indent="0" marL="0">
              <a:lnSpc>
                <a:spcPct val="105000"/>
              </a:lnSpc>
              <a:buNone/>
            </a:pPr>
            <a:r>
              <a:rPr lang="en-US" sz="1550" dirty="0">
                <a:solidFill>
                  <a:srgbClr val="14233A"/>
                </a:solidFill>
                <a:latin typeface="Calibri" pitchFamily="34" charset="0"/>
                <a:ea typeface="Calibri" pitchFamily="34" charset="-122"/>
                <a:cs typeface="Calibri" pitchFamily="34" charset="-120"/>
              </a:rPr>
              <a:t>On paper: the hours you actually have in a week × 5. Write the number down. If your MVP doesn't fit it, you found out today instead of in Week 12.</a:t>
            </a:r>
            <a:endParaRPr lang="en-US" sz="1550" dirty="0"/>
          </a:p>
        </p:txBody>
      </p:sp>
      <p:sp>
        <p:nvSpPr>
          <p:cNvPr id="22" name="Shape 17"/>
          <p:cNvSpPr/>
          <p:nvPr/>
        </p:nvSpPr>
        <p:spPr>
          <a:xfrm>
            <a:off x="548640" y="5541264"/>
            <a:ext cx="11064240" cy="640080"/>
          </a:xfrm>
          <a:prstGeom prst="roundRect">
            <a:avLst>
              <a:gd name="adj" fmla="val 12857"/>
            </a:avLst>
          </a:prstGeom>
          <a:solidFill>
            <a:srgbClr val="14233A"/>
          </a:solidFill>
          <a:ln/>
          <a:effectLst>
            <a:outerShdw sx="100000" sy="100000" kx="0" ky="0" algn="bl" rotWithShape="0" blurRad="88900" dist="38100" dir="5400000">
              <a:srgbClr val="000000">
                <a:alpha val="13000"/>
              </a:srgbClr>
            </a:outerShdw>
          </a:effectLst>
        </p:spPr>
      </p:sp>
      <p:sp>
        <p:nvSpPr>
          <p:cNvPr id="23" name="Text 18"/>
          <p:cNvSpPr/>
          <p:nvPr/>
        </p:nvSpPr>
        <p:spPr>
          <a:xfrm>
            <a:off x="822960" y="5541264"/>
            <a:ext cx="10515600" cy="640080"/>
          </a:xfrm>
          <a:prstGeom prst="rect">
            <a:avLst/>
          </a:prstGeom>
          <a:noFill/>
          <a:ln/>
        </p:spPr>
        <p:txBody>
          <a:bodyPr wrap="square" lIns="0" tIns="0" rIns="0" bIns="0" rtlCol="0" anchor="ctr"/>
          <a:lstStyle/>
          <a:p>
            <a:pPr algn="ctr" indent="0" marL="0">
              <a:buNone/>
            </a:pPr>
            <a:r>
              <a:rPr lang="en-US" sz="1450" b="1" dirty="0">
                <a:solidFill>
                  <a:srgbClr val="E8A33D"/>
                </a:solidFill>
                <a:latin typeface="Calibri" pitchFamily="34" charset="0"/>
                <a:ea typeface="Calibri" pitchFamily="34" charset="-122"/>
                <a:cs typeface="Calibri" pitchFamily="34" charset="-120"/>
              </a:rPr>
              <a:t>Underpromise correctly.  </a:t>
            </a:r>
            <a:pPr algn="ctr" indent="0" marL="0">
              <a:buNone/>
            </a:pPr>
            <a:r>
              <a:rPr lang="en-US" sz="1450" dirty="0">
                <a:solidFill>
                  <a:srgbClr val="FFFFFF"/>
                </a:solidFill>
                <a:latin typeface="Calibri" pitchFamily="34" charset="0"/>
                <a:ea typeface="Calibri" pitchFamily="34" charset="-122"/>
                <a:cs typeface="Calibri" pitchFamily="34" charset="-120"/>
              </a:rPr>
              <a:t>A modest MVP you certainly finish beats an impressive one you might. Every explicit non-goal is part of this argument.</a:t>
            </a:r>
            <a:endParaRPr lang="en-US" sz="1450" dirty="0"/>
          </a:p>
        </p:txBody>
      </p:sp>
      <p:sp>
        <p:nvSpPr>
          <p:cNvPr id="24" name="Text 19"/>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25" name="Text 2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IN CLASS · 6A · ~6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Sketch your proposal</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Solo, on the worksheet:</a:t>
            </a:r>
            <a:endParaRPr lang="en-US" sz="1600" dirty="0"/>
          </a:p>
        </p:txBody>
      </p:sp>
      <p:sp>
        <p:nvSpPr>
          <p:cNvPr id="7" name="Shape 5"/>
          <p:cNvSpPr/>
          <p:nvPr/>
        </p:nvSpPr>
        <p:spPr>
          <a:xfrm>
            <a:off x="548640" y="2148840"/>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8" name="Shape 6"/>
          <p:cNvSpPr/>
          <p:nvPr/>
        </p:nvSpPr>
        <p:spPr>
          <a:xfrm>
            <a:off x="777240" y="2352294"/>
            <a:ext cx="457200" cy="457200"/>
          </a:xfrm>
          <a:prstGeom prst="ellipse">
            <a:avLst/>
          </a:prstGeom>
          <a:solidFill>
            <a:srgbClr val="E8A33D"/>
          </a:solidFill>
          <a:ln/>
        </p:spPr>
      </p:sp>
      <p:sp>
        <p:nvSpPr>
          <p:cNvPr id="9" name="Text 7"/>
          <p:cNvSpPr/>
          <p:nvPr/>
        </p:nvSpPr>
        <p:spPr>
          <a:xfrm>
            <a:off x="777240" y="2352294"/>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148840"/>
            <a:ext cx="85953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Nine lines — one per section. Each line says what that section will CLAIM, not what it is.</a:t>
            </a:r>
            <a:endParaRPr lang="en-US" sz="1550" dirty="0"/>
          </a:p>
        </p:txBody>
      </p:sp>
      <p:sp>
        <p:nvSpPr>
          <p:cNvPr id="11" name="Text 9"/>
          <p:cNvSpPr/>
          <p:nvPr/>
        </p:nvSpPr>
        <p:spPr>
          <a:xfrm>
            <a:off x="10149840" y="2148840"/>
            <a:ext cx="1280160" cy="864108"/>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~3 min</a:t>
            </a:r>
            <a:endParaRPr lang="en-US" sz="1400" dirty="0"/>
          </a:p>
        </p:txBody>
      </p:sp>
      <p:sp>
        <p:nvSpPr>
          <p:cNvPr id="12" name="Shape 10"/>
          <p:cNvSpPr/>
          <p:nvPr/>
        </p:nvSpPr>
        <p:spPr>
          <a:xfrm>
            <a:off x="548640" y="3140964"/>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777240" y="3344418"/>
            <a:ext cx="457200" cy="457200"/>
          </a:xfrm>
          <a:prstGeom prst="ellipse">
            <a:avLst/>
          </a:prstGeom>
          <a:solidFill>
            <a:srgbClr val="E8A33D"/>
          </a:solidFill>
          <a:ln/>
        </p:spPr>
      </p:sp>
      <p:sp>
        <p:nvSpPr>
          <p:cNvPr id="14" name="Text 12"/>
          <p:cNvSpPr/>
          <p:nvPr/>
        </p:nvSpPr>
        <p:spPr>
          <a:xfrm>
            <a:off x="777240" y="3344418"/>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417320" y="3140964"/>
            <a:ext cx="85953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Your three biggest risks: category + a mitigation with a date or a trigger.</a:t>
            </a:r>
            <a:endParaRPr lang="en-US" sz="1550" dirty="0"/>
          </a:p>
        </p:txBody>
      </p:sp>
      <p:sp>
        <p:nvSpPr>
          <p:cNvPr id="16" name="Text 14"/>
          <p:cNvSpPr/>
          <p:nvPr/>
        </p:nvSpPr>
        <p:spPr>
          <a:xfrm>
            <a:off x="10149840" y="3140964"/>
            <a:ext cx="1280160" cy="864108"/>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~2 min</a:t>
            </a:r>
            <a:endParaRPr lang="en-US" sz="1400" dirty="0"/>
          </a:p>
        </p:txBody>
      </p:sp>
      <p:sp>
        <p:nvSpPr>
          <p:cNvPr id="17" name="Shape 15"/>
          <p:cNvSpPr/>
          <p:nvPr/>
        </p:nvSpPr>
        <p:spPr>
          <a:xfrm>
            <a:off x="548640" y="4133088"/>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18" name="Shape 16"/>
          <p:cNvSpPr/>
          <p:nvPr/>
        </p:nvSpPr>
        <p:spPr>
          <a:xfrm>
            <a:off x="777240" y="4336542"/>
            <a:ext cx="457200" cy="457200"/>
          </a:xfrm>
          <a:prstGeom prst="ellipse">
            <a:avLst/>
          </a:prstGeom>
          <a:solidFill>
            <a:srgbClr val="E8A33D"/>
          </a:solidFill>
          <a:ln/>
        </p:spPr>
      </p:sp>
      <p:sp>
        <p:nvSpPr>
          <p:cNvPr id="19" name="Text 17"/>
          <p:cNvSpPr/>
          <p:nvPr/>
        </p:nvSpPr>
        <p:spPr>
          <a:xfrm>
            <a:off x="777240" y="4336542"/>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1417320" y="4133088"/>
            <a:ext cx="85953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The five-week arithmetic — the number you just wrote, and what it honestly buys.</a:t>
            </a:r>
            <a:endParaRPr lang="en-US" sz="1550" dirty="0"/>
          </a:p>
        </p:txBody>
      </p:sp>
      <p:sp>
        <p:nvSpPr>
          <p:cNvPr id="21" name="Text 19"/>
          <p:cNvSpPr/>
          <p:nvPr/>
        </p:nvSpPr>
        <p:spPr>
          <a:xfrm>
            <a:off x="10149840" y="4133088"/>
            <a:ext cx="1280160" cy="864108"/>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~1 min</a:t>
            </a:r>
            <a:endParaRPr lang="en-US" sz="1400" dirty="0"/>
          </a:p>
        </p:txBody>
      </p:sp>
      <p:sp>
        <p:nvSpPr>
          <p:cNvPr id="22" name="Shape 20"/>
          <p:cNvSpPr/>
          <p:nvPr/>
        </p:nvSpPr>
        <p:spPr>
          <a:xfrm>
            <a:off x="548640" y="5125212"/>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23" name="Shape 21"/>
          <p:cNvSpPr/>
          <p:nvPr/>
        </p:nvSpPr>
        <p:spPr>
          <a:xfrm>
            <a:off x="777240" y="5328666"/>
            <a:ext cx="457200" cy="457200"/>
          </a:xfrm>
          <a:prstGeom prst="ellipse">
            <a:avLst/>
          </a:prstGeom>
          <a:solidFill>
            <a:srgbClr val="E8A33D"/>
          </a:solidFill>
          <a:ln/>
        </p:spPr>
      </p:sp>
      <p:sp>
        <p:nvSpPr>
          <p:cNvPr id="24" name="Text 22"/>
          <p:cNvSpPr/>
          <p:nvPr/>
        </p:nvSpPr>
        <p:spPr>
          <a:xfrm>
            <a:off x="777240" y="5328666"/>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4</a:t>
            </a:r>
            <a:endParaRPr lang="en-US" sz="2000" dirty="0"/>
          </a:p>
        </p:txBody>
      </p:sp>
      <p:sp>
        <p:nvSpPr>
          <p:cNvPr id="25" name="Text 23"/>
          <p:cNvSpPr/>
          <p:nvPr/>
        </p:nvSpPr>
        <p:spPr>
          <a:xfrm>
            <a:off x="1417320" y="5125212"/>
            <a:ext cx="99669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Star the section you have the least evidence for. That's Wednesday's first stop.</a:t>
            </a:r>
            <a:endParaRPr lang="en-US" sz="1550" dirty="0"/>
          </a:p>
        </p:txBody>
      </p:sp>
      <p:sp>
        <p:nvSpPr>
          <p:cNvPr id="26" name="Text 2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7 · Proposal Anatomy</a:t>
            </a:r>
            <a:endParaRPr lang="en-US" sz="1000" dirty="0"/>
          </a:p>
        </p:txBody>
      </p:sp>
      <p:sp>
        <p:nvSpPr>
          <p:cNvPr id="27" name="Text 2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IN CLASS · 6B · ~6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Trade and pressure-test</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In pairs · 3 minutes each way — the reader answers exactly three questions, out loud:</a:t>
            </a:r>
            <a:endParaRPr lang="en-US" sz="1600" dirty="0"/>
          </a:p>
        </p:txBody>
      </p:sp>
      <p:sp>
        <p:nvSpPr>
          <p:cNvPr id="7" name="Shape 5"/>
          <p:cNvSpPr/>
          <p:nvPr/>
        </p:nvSpPr>
        <p:spPr>
          <a:xfrm>
            <a:off x="548640" y="2148840"/>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8" name="Shape 6"/>
          <p:cNvSpPr/>
          <p:nvPr/>
        </p:nvSpPr>
        <p:spPr>
          <a:xfrm>
            <a:off x="777240" y="2352294"/>
            <a:ext cx="457200" cy="457200"/>
          </a:xfrm>
          <a:prstGeom prst="ellipse">
            <a:avLst/>
          </a:prstGeom>
          <a:solidFill>
            <a:srgbClr val="E8A33D"/>
          </a:solidFill>
          <a:ln/>
        </p:spPr>
      </p:sp>
      <p:sp>
        <p:nvSpPr>
          <p:cNvPr id="9" name="Text 7"/>
          <p:cNvSpPr/>
          <p:nvPr/>
        </p:nvSpPr>
        <p:spPr>
          <a:xfrm>
            <a:off x="777240" y="2352294"/>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148840"/>
            <a:ext cx="99669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Trade worksheets with a neighbor — ideally someone who knows nothing about your project.</a:t>
            </a:r>
            <a:endParaRPr lang="en-US" sz="1550" dirty="0"/>
          </a:p>
        </p:txBody>
      </p:sp>
      <p:sp>
        <p:nvSpPr>
          <p:cNvPr id="11" name="Shape 9"/>
          <p:cNvSpPr/>
          <p:nvPr/>
        </p:nvSpPr>
        <p:spPr>
          <a:xfrm>
            <a:off x="548640" y="3140964"/>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12" name="Shape 10"/>
          <p:cNvSpPr/>
          <p:nvPr/>
        </p:nvSpPr>
        <p:spPr>
          <a:xfrm>
            <a:off x="777240" y="3344418"/>
            <a:ext cx="457200" cy="457200"/>
          </a:xfrm>
          <a:prstGeom prst="ellipse">
            <a:avLst/>
          </a:prstGeom>
          <a:solidFill>
            <a:srgbClr val="E8A33D"/>
          </a:solidFill>
          <a:ln/>
        </p:spPr>
      </p:sp>
      <p:sp>
        <p:nvSpPr>
          <p:cNvPr id="13" name="Text 11"/>
          <p:cNvSpPr/>
          <p:nvPr/>
        </p:nvSpPr>
        <p:spPr>
          <a:xfrm>
            <a:off x="777240" y="3344418"/>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1417320" y="3140964"/>
            <a:ext cx="99669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Which section is weakest? Say what is wrong specifically — not “it’s vague.”</a:t>
            </a:r>
            <a:endParaRPr lang="en-US" sz="1550" dirty="0"/>
          </a:p>
        </p:txBody>
      </p:sp>
      <p:sp>
        <p:nvSpPr>
          <p:cNvPr id="15" name="Shape 13"/>
          <p:cNvSpPr/>
          <p:nvPr/>
        </p:nvSpPr>
        <p:spPr>
          <a:xfrm>
            <a:off x="548640" y="4133088"/>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16" name="Shape 14"/>
          <p:cNvSpPr/>
          <p:nvPr/>
        </p:nvSpPr>
        <p:spPr>
          <a:xfrm>
            <a:off x="777240" y="4336542"/>
            <a:ext cx="457200" cy="457200"/>
          </a:xfrm>
          <a:prstGeom prst="ellipse">
            <a:avLst/>
          </a:prstGeom>
          <a:solidFill>
            <a:srgbClr val="E8A33D"/>
          </a:solidFill>
          <a:ln/>
        </p:spPr>
      </p:sp>
      <p:sp>
        <p:nvSpPr>
          <p:cNvPr id="17" name="Text 15"/>
          <p:cNvSpPr/>
          <p:nvPr/>
        </p:nvSpPr>
        <p:spPr>
          <a:xfrm>
            <a:off x="777240" y="4336542"/>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18" name="Text 16"/>
          <p:cNvSpPr/>
          <p:nvPr/>
        </p:nvSpPr>
        <p:spPr>
          <a:xfrm>
            <a:off x="1417320" y="4133088"/>
            <a:ext cx="99669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Which claim most needs evidence? Point at one line: “how do you know?”</a:t>
            </a:r>
            <a:endParaRPr lang="en-US" sz="1550" dirty="0"/>
          </a:p>
        </p:txBody>
      </p:sp>
      <p:sp>
        <p:nvSpPr>
          <p:cNvPr id="19" name="Shape 17"/>
          <p:cNvSpPr/>
          <p:nvPr/>
        </p:nvSpPr>
        <p:spPr>
          <a:xfrm>
            <a:off x="548640" y="5125212"/>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20" name="Shape 18"/>
          <p:cNvSpPr/>
          <p:nvPr/>
        </p:nvSpPr>
        <p:spPr>
          <a:xfrm>
            <a:off x="777240" y="5328666"/>
            <a:ext cx="457200" cy="457200"/>
          </a:xfrm>
          <a:prstGeom prst="ellipse">
            <a:avLst/>
          </a:prstGeom>
          <a:solidFill>
            <a:srgbClr val="E8A33D"/>
          </a:solidFill>
          <a:ln/>
        </p:spPr>
      </p:sp>
      <p:sp>
        <p:nvSpPr>
          <p:cNvPr id="21" name="Text 19"/>
          <p:cNvSpPr/>
          <p:nvPr/>
        </p:nvSpPr>
        <p:spPr>
          <a:xfrm>
            <a:off x="777240" y="5328666"/>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4</a:t>
            </a:r>
            <a:endParaRPr lang="en-US" sz="2000" dirty="0"/>
          </a:p>
        </p:txBody>
      </p:sp>
      <p:sp>
        <p:nvSpPr>
          <p:cNvPr id="22" name="Text 20"/>
          <p:cNvSpPr/>
          <p:nvPr/>
        </p:nvSpPr>
        <p:spPr>
          <a:xfrm>
            <a:off x="1417320" y="5125212"/>
            <a:ext cx="99669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Do you believe the five-week arithmetic? Yes or no, and why.</a:t>
            </a:r>
            <a:endParaRPr lang="en-US" sz="1550" dirty="0"/>
          </a:p>
        </p:txBody>
      </p:sp>
      <p:sp>
        <p:nvSpPr>
          <p:cNvPr id="23" name="Text 2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7 · Proposal Anatomy</a:t>
            </a:r>
            <a:endParaRPr lang="en-US" sz="1000" dirty="0"/>
          </a:p>
        </p:txBody>
      </p:sp>
      <p:sp>
        <p:nvSpPr>
          <p:cNvPr id="24" name="Text 2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WEDNESDAY, SEP 30</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Peer-review workshop — the hard mechanics</a:t>
            </a:r>
            <a:endParaRPr lang="en-US" sz="3100" dirty="0"/>
          </a:p>
        </p:txBody>
      </p:sp>
      <p:sp>
        <p:nvSpPr>
          <p:cNvPr id="5" name="Shape 3"/>
          <p:cNvSpPr/>
          <p:nvPr/>
        </p:nvSpPr>
        <p:spPr>
          <a:xfrm>
            <a:off x="548640" y="1691640"/>
            <a:ext cx="3511296"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04672" y="1938528"/>
            <a:ext cx="548640" cy="54864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52805" y="2086661"/>
            <a:ext cx="252374" cy="252374"/>
          </a:xfrm>
          <a:prstGeom prst="rect">
            <a:avLst/>
          </a:prstGeom>
        </p:spPr>
      </p:pic>
      <p:sp>
        <p:nvSpPr>
          <p:cNvPr id="8" name="Text 5"/>
          <p:cNvSpPr/>
          <p:nvPr/>
        </p:nvSpPr>
        <p:spPr>
          <a:xfrm>
            <a:off x="804672" y="2560320"/>
            <a:ext cx="2999232" cy="45720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Two printed copies</a:t>
            </a:r>
            <a:endParaRPr lang="en-US" sz="1650" dirty="0"/>
          </a:p>
        </p:txBody>
      </p:sp>
      <p:sp>
        <p:nvSpPr>
          <p:cNvPr id="9" name="Text 6"/>
          <p:cNvSpPr/>
          <p:nvPr/>
        </p:nvSpPr>
        <p:spPr>
          <a:xfrm>
            <a:off x="804672" y="3054096"/>
            <a:ext cx="2999232" cy="822960"/>
          </a:xfrm>
          <a:prstGeom prst="rect">
            <a:avLst/>
          </a:prstGeom>
          <a:noFill/>
          <a:ln/>
        </p:spPr>
        <p:txBody>
          <a:bodyPr wrap="square" lIns="0" tIns="0" rIns="0" bIns="0" rtlCol="0" anchor="t"/>
          <a:lstStyle/>
          <a:p>
            <a:pPr indent="0" marL="0">
              <a:lnSpc>
                <a:spcPct val="105000"/>
              </a:lnSpc>
              <a:buNone/>
            </a:pPr>
            <a:r>
              <a:rPr lang="en-US" sz="1350" dirty="0">
                <a:solidFill>
                  <a:srgbClr val="5F7284"/>
                </a:solidFill>
                <a:latin typeface="Calibri" pitchFamily="34" charset="0"/>
                <a:ea typeface="Calibri" pitchFamily="34" charset="-122"/>
                <a:cs typeface="Calibri" pitchFamily="34" charset="-120"/>
              </a:rPr>
              <a:t>Reviewers mark up paper. You keep both — and photograph them that night.</a:t>
            </a:r>
            <a:endParaRPr lang="en-US" sz="1350" dirty="0"/>
          </a:p>
        </p:txBody>
      </p:sp>
      <p:sp>
        <p:nvSpPr>
          <p:cNvPr id="10" name="Shape 7"/>
          <p:cNvSpPr/>
          <p:nvPr/>
        </p:nvSpPr>
        <p:spPr>
          <a:xfrm>
            <a:off x="4233672" y="1691640"/>
            <a:ext cx="3511296"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4489704" y="1938528"/>
            <a:ext cx="548640" cy="548640"/>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4637837" y="2086661"/>
            <a:ext cx="252374" cy="252374"/>
          </a:xfrm>
          <a:prstGeom prst="rect">
            <a:avLst/>
          </a:prstGeom>
        </p:spPr>
      </p:pic>
      <p:sp>
        <p:nvSpPr>
          <p:cNvPr id="13" name="Text 9"/>
          <p:cNvSpPr/>
          <p:nvPr/>
        </p:nvSpPr>
        <p:spPr>
          <a:xfrm>
            <a:off x="4489704" y="2560320"/>
            <a:ext cx="2999232" cy="45720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Draft uploaded to the LMS</a:t>
            </a:r>
            <a:endParaRPr lang="en-US" sz="1650" dirty="0"/>
          </a:p>
        </p:txBody>
      </p:sp>
      <p:sp>
        <p:nvSpPr>
          <p:cNvPr id="14" name="Text 10"/>
          <p:cNvSpPr/>
          <p:nvPr/>
        </p:nvSpPr>
        <p:spPr>
          <a:xfrm>
            <a:off x="4489704" y="3054096"/>
            <a:ext cx="2999232" cy="822960"/>
          </a:xfrm>
          <a:prstGeom prst="rect">
            <a:avLst/>
          </a:prstGeom>
          <a:noFill/>
          <a:ln/>
        </p:spPr>
        <p:txBody>
          <a:bodyPr wrap="square" lIns="0" tIns="0" rIns="0" bIns="0" rtlCol="0" anchor="t"/>
          <a:lstStyle/>
          <a:p>
            <a:pPr indent="0" marL="0">
              <a:lnSpc>
                <a:spcPct val="105000"/>
              </a:lnSpc>
              <a:buNone/>
            </a:pPr>
            <a:r>
              <a:rPr lang="en-US" sz="1350" dirty="0">
                <a:solidFill>
                  <a:srgbClr val="5F7284"/>
                </a:solidFill>
                <a:latin typeface="Calibri" pitchFamily="34" charset="0"/>
                <a:ea typeface="Calibri" pitchFamily="34" charset="-122"/>
                <a:cs typeface="Calibri" pitchFamily="34" charset="-120"/>
              </a:rPr>
              <a:t>By the start of class. Completion-checked, not scored.</a:t>
            </a:r>
            <a:endParaRPr lang="en-US" sz="1350" dirty="0"/>
          </a:p>
        </p:txBody>
      </p:sp>
      <p:sp>
        <p:nvSpPr>
          <p:cNvPr id="15" name="Shape 11"/>
          <p:cNvSpPr/>
          <p:nvPr/>
        </p:nvSpPr>
        <p:spPr>
          <a:xfrm>
            <a:off x="7918704" y="1691640"/>
            <a:ext cx="3511296"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174736" y="1938528"/>
            <a:ext cx="548640" cy="548640"/>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8322869" y="2086661"/>
            <a:ext cx="252374" cy="252374"/>
          </a:xfrm>
          <a:prstGeom prst="rect">
            <a:avLst/>
          </a:prstGeom>
        </p:spPr>
      </p:pic>
      <p:sp>
        <p:nvSpPr>
          <p:cNvPr id="18" name="Text 13"/>
          <p:cNvSpPr/>
          <p:nvPr/>
        </p:nvSpPr>
        <p:spPr>
          <a:xfrm>
            <a:off x="8174736" y="2560320"/>
            <a:ext cx="2999232" cy="45720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Minimum sections</a:t>
            </a:r>
            <a:endParaRPr lang="en-US" sz="1650" dirty="0"/>
          </a:p>
        </p:txBody>
      </p:sp>
      <p:sp>
        <p:nvSpPr>
          <p:cNvPr id="19" name="Text 14"/>
          <p:cNvSpPr/>
          <p:nvPr/>
        </p:nvSpPr>
        <p:spPr>
          <a:xfrm>
            <a:off x="8174736" y="3054096"/>
            <a:ext cx="2999232" cy="822960"/>
          </a:xfrm>
          <a:prstGeom prst="rect">
            <a:avLst/>
          </a:prstGeom>
          <a:noFill/>
          <a:ln/>
        </p:spPr>
        <p:txBody>
          <a:bodyPr wrap="square" lIns="0" tIns="0" rIns="0" bIns="0" rtlCol="0" anchor="t"/>
          <a:lstStyle/>
          <a:p>
            <a:pPr indent="0" marL="0">
              <a:lnSpc>
                <a:spcPct val="105000"/>
              </a:lnSpc>
              <a:buNone/>
            </a:pPr>
            <a:r>
              <a:rPr lang="en-US" sz="1350" dirty="0">
                <a:solidFill>
                  <a:srgbClr val="5F7284"/>
                </a:solidFill>
                <a:latin typeface="Calibri" pitchFamily="34" charset="0"/>
                <a:ea typeface="Calibri" pitchFamily="34" charset="-122"/>
                <a:cs typeface="Calibri" pitchFamily="34" charset="-120"/>
              </a:rPr>
              <a:t>Problem &amp; users · solution · non-goals · risks. A fuller draft gets a better review.</a:t>
            </a:r>
            <a:endParaRPr lang="en-US" sz="1350" dirty="0"/>
          </a:p>
        </p:txBody>
      </p:sp>
      <p:sp>
        <p:nvSpPr>
          <p:cNvPr id="20" name="Shape 15"/>
          <p:cNvSpPr/>
          <p:nvPr/>
        </p:nvSpPr>
        <p:spPr>
          <a:xfrm>
            <a:off x="548640" y="4160520"/>
            <a:ext cx="11064240" cy="1188720"/>
          </a:xfrm>
          <a:prstGeom prst="roundRect">
            <a:avLst>
              <a:gd name="adj" fmla="val 6923"/>
            </a:avLst>
          </a:prstGeom>
          <a:solidFill>
            <a:srgbClr val="FBECE8"/>
          </a:solidFill>
          <a:ln/>
          <a:effectLst>
            <a:outerShdw sx="100000" sy="100000" kx="0" ky="0" algn="bl" rotWithShape="0" blurRad="88900" dist="38100" dir="5400000">
              <a:srgbClr val="000000">
                <a:alpha val="13000"/>
              </a:srgbClr>
            </a:outerShdw>
          </a:effectLst>
        </p:spPr>
      </p:sp>
      <p:sp>
        <p:nvSpPr>
          <p:cNvPr id="21" name="Shape 16"/>
          <p:cNvSpPr/>
          <p:nvPr/>
        </p:nvSpPr>
        <p:spPr>
          <a:xfrm>
            <a:off x="868680" y="4434840"/>
            <a:ext cx="640080" cy="640080"/>
          </a:xfrm>
          <a:prstGeom prst="ellipse">
            <a:avLst/>
          </a:prstGeom>
          <a:solidFill>
            <a:srgbClr val="D9614C"/>
          </a:solidFill>
          <a:ln/>
        </p:spPr>
      </p:sp>
      <p:pic>
        <p:nvPicPr>
          <p:cNvPr id="22" name="Image 3" descr="preencoded.png">    </p:cNvPr>
          <p:cNvPicPr>
            <a:picLocks noChangeAspect="1"/>
          </p:cNvPicPr>
          <p:nvPr/>
        </p:nvPicPr>
        <p:blipFill>
          <a:blip r:embed="rId4"/>
          <a:stretch>
            <a:fillRect/>
          </a:stretch>
        </p:blipFill>
        <p:spPr>
          <a:xfrm>
            <a:off x="1041502" y="4607662"/>
            <a:ext cx="294437" cy="294437"/>
          </a:xfrm>
          <a:prstGeom prst="rect">
            <a:avLst/>
          </a:prstGeom>
        </p:spPr>
      </p:pic>
      <p:sp>
        <p:nvSpPr>
          <p:cNvPr id="23" name="Text 17"/>
          <p:cNvSpPr/>
          <p:nvPr/>
        </p:nvSpPr>
        <p:spPr>
          <a:xfrm>
            <a:off x="1783080" y="4160520"/>
            <a:ext cx="9509760" cy="1188720"/>
          </a:xfrm>
          <a:prstGeom prst="rect">
            <a:avLst/>
          </a:prstGeom>
          <a:noFill/>
          <a:ln/>
        </p:spPr>
        <p:txBody>
          <a:bodyPr wrap="square" lIns="0" tIns="0" rIns="0" bIns="0" rtlCol="0" anchor="ctr"/>
          <a:lstStyle/>
          <a:p>
            <a:pPr indent="0" marL="0">
              <a:lnSpc>
                <a:spcPct val="105000"/>
              </a:lnSpc>
              <a:buNone/>
            </a:pPr>
            <a:r>
              <a:rPr lang="en-US" sz="1500" b="1" dirty="0">
                <a:solidFill>
                  <a:srgbClr val="D9614C"/>
                </a:solidFill>
                <a:latin typeface="Calibri" pitchFamily="34" charset="0"/>
                <a:ea typeface="Calibri" pitchFamily="34" charset="-122"/>
                <a:cs typeface="Calibri" pitchFamily="34" charset="-120"/>
              </a:rPr>
              <a:t>No draft on file caps Argument &amp; revision at Developing.  </a:t>
            </a:r>
            <a:pPr indent="0" marL="0">
              <a:lnSpc>
                <a:spcPct val="105000"/>
              </a:lnSpc>
              <a:buNone/>
            </a:pPr>
            <a:r>
              <a:rPr lang="en-US" sz="1500" dirty="0">
                <a:solidFill>
                  <a:srgbClr val="1E2A36"/>
                </a:solidFill>
                <a:latin typeface="Calibri" pitchFamily="34" charset="0"/>
                <a:ea typeface="Calibri" pitchFamily="34" charset="-122"/>
                <a:cs typeface="Calibri" pitchFamily="34" charset="-120"/>
              </a:rPr>
              <a:t>That criterion measures visible response to feedback — with no draft, there's nothing to show improvement against. Arriving empty-handed also costs a classmate their review.</a:t>
            </a:r>
            <a:endParaRPr lang="en-US" sz="1500" dirty="0"/>
          </a:p>
        </p:txBody>
      </p:sp>
      <p:sp>
        <p:nvSpPr>
          <p:cNvPr id="24" name="Shape 18"/>
          <p:cNvSpPr/>
          <p:nvPr/>
        </p:nvSpPr>
        <p:spPr>
          <a:xfrm>
            <a:off x="548640" y="5532120"/>
            <a:ext cx="11064240" cy="658368"/>
          </a:xfrm>
          <a:prstGeom prst="roundRect">
            <a:avLst>
              <a:gd name="adj" fmla="val 12500"/>
            </a:avLst>
          </a:prstGeom>
          <a:solidFill>
            <a:srgbClr val="14233A"/>
          </a:solidFill>
          <a:ln/>
          <a:effectLst>
            <a:outerShdw sx="100000" sy="100000" kx="0" ky="0" algn="bl" rotWithShape="0" blurRad="88900" dist="38100" dir="5400000">
              <a:srgbClr val="000000">
                <a:alpha val="13000"/>
              </a:srgbClr>
            </a:outerShdw>
          </a:effectLst>
        </p:spPr>
      </p:sp>
      <p:sp>
        <p:nvSpPr>
          <p:cNvPr id="25" name="Shape 19"/>
          <p:cNvSpPr/>
          <p:nvPr/>
        </p:nvSpPr>
        <p:spPr>
          <a:xfrm>
            <a:off x="841248" y="5650992"/>
            <a:ext cx="420624" cy="420624"/>
          </a:xfrm>
          <a:prstGeom prst="ellipse">
            <a:avLst/>
          </a:prstGeom>
          <a:solidFill>
            <a:srgbClr val="E8A33D"/>
          </a:solidFill>
          <a:ln/>
        </p:spPr>
      </p:sp>
      <p:pic>
        <p:nvPicPr>
          <p:cNvPr id="26" name="Image 4" descr="preencoded.png">    </p:cNvPr>
          <p:cNvPicPr>
            <a:picLocks noChangeAspect="1"/>
          </p:cNvPicPr>
          <p:nvPr/>
        </p:nvPicPr>
        <p:blipFill>
          <a:blip r:embed="rId5"/>
          <a:stretch>
            <a:fillRect/>
          </a:stretch>
        </p:blipFill>
        <p:spPr>
          <a:xfrm>
            <a:off x="954816" y="5764560"/>
            <a:ext cx="193487" cy="193487"/>
          </a:xfrm>
          <a:prstGeom prst="rect">
            <a:avLst/>
          </a:prstGeom>
        </p:spPr>
      </p:pic>
      <p:sp>
        <p:nvSpPr>
          <p:cNvPr id="27" name="Text 20"/>
          <p:cNvSpPr/>
          <p:nvPr/>
        </p:nvSpPr>
        <p:spPr>
          <a:xfrm>
            <a:off x="1417320" y="5532120"/>
            <a:ext cx="9966960" cy="658368"/>
          </a:xfrm>
          <a:prstGeom prst="rect">
            <a:avLst/>
          </a:prstGeom>
          <a:noFill/>
          <a:ln/>
        </p:spPr>
        <p:txBody>
          <a:bodyPr wrap="square" lIns="0" tIns="0" rIns="0" bIns="0" rtlCol="0" anchor="ctr"/>
          <a:lstStyle/>
          <a:p>
            <a:pPr indent="0" marL="0">
              <a:buNone/>
            </a:pPr>
            <a:r>
              <a:rPr lang="en-US" sz="1500" b="1" dirty="0">
                <a:solidFill>
                  <a:srgbClr val="E8A33D"/>
                </a:solidFill>
                <a:latin typeface="Calibri" pitchFamily="34" charset="0"/>
                <a:ea typeface="Calibri" pitchFamily="34" charset="-122"/>
                <a:cs typeface="Calibri" pitchFamily="34" charset="-120"/>
              </a:rPr>
              <a:t>CP3 due Mon, Oct 5  </a:t>
            </a:r>
            <a:pPr indent="0" marL="0">
              <a:buNone/>
            </a:pPr>
            <a:r>
              <a:rPr lang="en-US" sz="1500" dirty="0">
                <a:solidFill>
                  <a:srgbClr val="FFFFFF"/>
                </a:solidFill>
                <a:latin typeface="Calibri" pitchFamily="34" charset="0"/>
                <a:ea typeface="Calibri" pitchFamily="34" charset="-122"/>
                <a:cs typeface="Calibri" pitchFamily="34" charset="-120"/>
              </a:rPr>
              <a:t>— the final proposal plus scans or photos of both annotated draft copies.</a:t>
            </a:r>
            <a:endParaRPr lang="en-US" sz="1500" dirty="0"/>
          </a:p>
        </p:txBody>
      </p:sp>
      <p:sp>
        <p:nvSpPr>
          <p:cNvPr id="28" name="Text 2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29" name="Text 2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1143000"/>
            <a:ext cx="822960" cy="82296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45159" y="1365199"/>
            <a:ext cx="378562" cy="378562"/>
          </a:xfrm>
          <a:prstGeom prst="rect">
            <a:avLst/>
          </a:prstGeom>
        </p:spPr>
      </p:pic>
      <p:sp>
        <p:nvSpPr>
          <p:cNvPr id="5" name="Text 2"/>
          <p:cNvSpPr/>
          <p:nvPr/>
        </p:nvSpPr>
        <p:spPr>
          <a:xfrm>
            <a:off x="822960" y="2103120"/>
            <a:ext cx="10881360" cy="1371600"/>
          </a:xfrm>
          <a:prstGeom prst="rect">
            <a:avLst/>
          </a:prstGeom>
          <a:noFill/>
          <a:ln/>
        </p:spPr>
        <p:txBody>
          <a:bodyPr wrap="square" lIns="0" tIns="0" rIns="0" bIns="0" rtlCol="0" anchor="ctr"/>
          <a:lstStyle/>
          <a:p>
            <a:pPr indent="0" marL="0">
              <a:lnSpc>
                <a:spcPct val="106000"/>
              </a:lnSpc>
              <a:buNone/>
            </a:pPr>
            <a:r>
              <a:rPr lang="en-US" sz="2600" b="1" i="1" dirty="0">
                <a:solidFill>
                  <a:srgbClr val="FFFFFF"/>
                </a:solidFill>
                <a:latin typeface="Cambria" pitchFamily="34" charset="0"/>
                <a:ea typeface="Cambria" pitchFamily="34" charset="-122"/>
                <a:cs typeface="Cambria" pitchFamily="34" charset="-120"/>
              </a:rPr>
              <a:t>A proposal is an argument, section by section,</a:t>
            </a:r>
            <a:endParaRPr lang="en-US" sz="2600" dirty="0"/>
          </a:p>
          <a:p>
            <a:pPr indent="0" marL="0">
              <a:lnSpc>
                <a:spcPct val="106000"/>
              </a:lnSpc>
              <a:buNone/>
            </a:pPr>
            <a:r>
              <a:rPr lang="en-US" sz="2600" b="1" i="1" dirty="0">
                <a:solidFill>
                  <a:srgbClr val="FFFFFF"/>
                </a:solidFill>
                <a:latin typeface="Cambria" pitchFamily="34" charset="0"/>
                <a:ea typeface="Cambria" pitchFamily="34" charset="-122"/>
                <a:cs typeface="Cambria" pitchFamily="34" charset="-120"/>
              </a:rPr>
              <a:t>to a reader who is allowed to say no.</a:t>
            </a:r>
            <a:endParaRPr lang="en-US" sz="2600" dirty="0"/>
          </a:p>
        </p:txBody>
      </p:sp>
      <p:sp>
        <p:nvSpPr>
          <p:cNvPr id="6" name="Text 3"/>
          <p:cNvSpPr/>
          <p:nvPr/>
        </p:nvSpPr>
        <p:spPr>
          <a:xfrm>
            <a:off x="841248" y="379476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BEFORE WEDNESDAY, SEP 30</a:t>
            </a:r>
            <a:endParaRPr lang="en-US" sz="1400" dirty="0"/>
          </a:p>
        </p:txBody>
      </p:sp>
      <p:sp>
        <p:nvSpPr>
          <p:cNvPr id="7" name="Text 4"/>
          <p:cNvSpPr/>
          <p:nvPr/>
        </p:nvSpPr>
        <p:spPr>
          <a:xfrm>
            <a:off x="868680" y="4206240"/>
            <a:ext cx="10698480" cy="1737360"/>
          </a:xfrm>
          <a:prstGeom prst="rect">
            <a:avLst/>
          </a:prstGeom>
          <a:noFill/>
          <a:ln/>
        </p:spPr>
        <p:txBody>
          <a:bodyPr wrap="square" lIns="0" tIns="0" rIns="0" bIns="0" rtlCol="0" anchor="t"/>
          <a:lstStyle/>
          <a:p>
            <a:pPr marL="203200" indent="-203200">
              <a:spcAft>
                <a:spcPts val="800"/>
              </a:spcAft>
              <a:buSzPct val="100000"/>
              <a:buChar char="•"/>
            </a:pPr>
            <a:r>
              <a:rPr lang="en-US" sz="1550" dirty="0">
                <a:solidFill>
                  <a:srgbClr val="CBD8E6"/>
                </a:solidFill>
                <a:latin typeface="Calibri" pitchFamily="34" charset="0"/>
                <a:ea typeface="Calibri" pitchFamily="34" charset="-122"/>
                <a:cs typeface="Calibri" pitchFamily="34" charset="-120"/>
              </a:rPr>
              <a:t>Draft your proposal — write the sections in the order from the reading, not top to bottom</a:t>
            </a:r>
            <a:endParaRPr lang="en-US" sz="1550" dirty="0"/>
          </a:p>
          <a:p>
            <a:pPr marL="203200" indent="-203200">
              <a:spcAft>
                <a:spcPts val="800"/>
              </a:spcAft>
              <a:buSzPct val="100000"/>
              <a:buChar char="•"/>
            </a:pPr>
            <a:r>
              <a:rPr lang="en-US" sz="1550" dirty="0">
                <a:solidFill>
                  <a:srgbClr val="CBD8E6"/>
                </a:solidFill>
                <a:latin typeface="Calibri" pitchFamily="34" charset="0"/>
                <a:ea typeface="Calibri" pitchFamily="34" charset="-122"/>
                <a:cs typeface="Calibri" pitchFamily="34" charset="-120"/>
              </a:rPr>
              <a:t>Run your spike if you haven't — the result belongs in the technical approach</a:t>
            </a:r>
            <a:endParaRPr lang="en-US" sz="1550" dirty="0"/>
          </a:p>
          <a:p>
            <a:pPr marL="203200" indent="-203200">
              <a:buSzPct val="100000"/>
              <a:buChar char="•"/>
            </a:pPr>
            <a:r>
              <a:rPr lang="en-US" sz="1550" dirty="0">
                <a:solidFill>
                  <a:srgbClr val="CBD8E6"/>
                </a:solidFill>
                <a:latin typeface="Calibri" pitchFamily="34" charset="0"/>
                <a:ea typeface="Calibri" pitchFamily="34" charset="-122"/>
                <a:cs typeface="Calibri" pitchFamily="34" charset="-120"/>
              </a:rPr>
              <a:t>Bring two printed copies + upload the draft to the LMS. CP3 due Mon, Oct 5</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7 — Proposal Anatomy</dc:title>
  <dc:subject>PptxGenJS Presentation</dc:subject>
  <dc:creator>CS 301R</dc:creator>
  <cp:lastModifiedBy>CS 301R</cp:lastModifiedBy>
  <cp:revision>1</cp:revision>
  <dcterms:created xsi:type="dcterms:W3CDTF">2026-08-07T17:22:02Z</dcterms:created>
  <dcterms:modified xsi:type="dcterms:W3CDTF">2026-08-07T17:22:02Z</dcterms:modified>
</cp:coreProperties>
</file>