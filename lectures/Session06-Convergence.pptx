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weeks of opening up; today we deliberately narrow down. Frame the goal in one breath: leave with one or two ideas you can defend, and a written rationale for them. Convergence done well is a discipline, not a gut call — a shared yardstick, honest feedback, then commit. CP1 Idea Briefs turn in today; the idea you converge on becomes CP2, written over the weekend and due Mon, Sep 28. Keep energy up — most of today is hands-on.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The pile of candidate ideas is raw material; today we choose a working direction. Set the destination — 1–2 defensible ideas plus a one-line rationale each. Make the deliverable split explicit and say why the gap is deliberate: CP1 turns in now, but CP2 is written after they've converged and gotten feedback, so it reflects a real decision rather than a rushed guess made the same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minutes. The failure mode is emotional: people converge on the idea they already love and reverse-justify it. The five moves come from the CPS reading — read them as habits, not rules. Emphasize 'improve, don't only kill': a promising-but-flawed idea often beats a safe-but-thin one once narrowed. Land the bottom line hard — a working direction is defensible and revisable; you are not signing a marriage certificate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reframe that makes the whole session portable. These five moves are how you evaluate ANY idea — a feature proposal at work, a startup concept, a side project. The move people skip is the first: deciding what 'good' means before you score. Say it plainly — today we aim these moves at this course's criteria, but the method is what transfers and outlasts the class. The next slides hand you the tools for moves 1 and 3; moves 2, 4, and 5 are the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name what "good" means for THIS course. Walk the seven, dwelling on the two highlighted — real need and richness — the ones students under-weight, chasing what's fun to build. A fatal flaw on real need or feasibility outweighs a high total, so this is a conversation-starter, not an average. The amber bar is the reframe in one line: these criteria are a deliberate choice tied to our goal; another setting lists different criteria and runs the exact same method. Same sheet in their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minutes and the key conceptual move of the day. Feasibility (Monday) and richness (today) are different axes: an idea can be perfectly buildable and still too thin to found a project on. Name both failure modes — the weekend script that's over the moment it's done, and the fantasy with no shippable slice. The target is the middle: a rich core with a vertical slice, deep enough that finishing your slice leaves real work for the people who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CPS convergence tool, and the same value/effort 2x2 the product world uses. Have them physically place each idea. The teaching point is the top-left: a high-value idea with low do-ability is not a reject — it's a 'narrow the scope or run a spike' idea, the exact move we'll demo on the two calibration candidates next. Low value is a drop regardless of how easy it is. This is the picture printed on their scoring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calibration candidate — walk the evaluation aloud. It's tempting because it's easy and finishable, which is exactly the trap: high do-ability seduces. Score it live — low value (the need is already met), fails richness (one component, nothing to hand a contributor). It lands bottom-right on the 2x2, and low value means drop regardless of how quick it is. Set up the contrast: the next candidate is the opposite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candidate — the opposite shape, and the one that teaches the lesson. Don't describe it by scope or team size; describe it by the work. Read the six build components: each is a serious subsystem, which is exactly why richness is very high and do-ability, as-is, is low — no single team ships all of that soon. High value plus low do-ability lands top-left: the 2x2 says narrow or spike, not drop. Next slide does the narrowing.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slide. The better founding bet was the scary one — but only after narrowing. Show the cut: v1 is one low-stakes case type with intake, document assembly, and a human review queue. Everything else — AI, funding, integrations — is deferred, and that's a feature, not a bug: it's the on-ramp for contributors. This is the shape you want them hunting for in their own ideas in the next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framing before hands-on. Two reminders that change how they score: first, don't just sum the columns — a fatal flaw on real need or feasibility kills an idea a high total can't rescue. Second, have them circle a provisional favorite before the feedback round, so they can actually observe whether peer input moves them. Then flip to the task slide and start the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while they work — 12 minutes, solo, on the Idea Scoring Sheet. Circulate: the most common miss is scoring for do-ability and forgetting real need and richness. Nudge anyone whose top pick is the easiest idea to re-check value. Keep the clock visible; call the last two minutes so everyone has a circled top 1–2 before the peer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 process before starting the clock — it's printed in Part 3 of their scoring sheet. Three fixed challenges keep feedback substantive instead of vague praise. The protocol — affirm, concern, suggestion — keeps it constructive. The hardest rule to hold is 'capture, don't defend': presenters instinctively argue. Name it explicitly; their job is to collect, not to win. Put solo-track students in a group too so no one skips the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full 16 minutes. Enforce the round-robin so quieter students present too. Circulate and add the instructor read where it helps most — especially real need and richness. Watch the clock: ~4 minutes per person; give groups a nudge to rotate so the last presenter isn't rushed. Keep presenters capturing rather than debating.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room back together for the decision. The rationale sentence is the deliverable — it forces them to name the user, the need, the feasibility read, and the richness in one breath. If they can't fill the blanks, they haven't converged yet. Reassure the anxious: this is a working direction they'll keep refining, not a vow — but from here their effort concentrates, which is the whole point of converging.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for the final 8 minutes. The rationale is the checkpoint — if the blanks won't fill, they haven't really converged; nudge them to pick anyway and note what they'd verify. Collect one or two rationales aloud, especially one where peer feedback changed the pick. Remind them this exact idea becomes CP2 over the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shape so no one leaves unsure what to write. Emphasize it's a definition of problem and user, not a solution — no architecture yet. The evidence tags [E]/[A] matter: honesty about what came from a real conversation vs. an assumption is graded as heavily as the findings. Point them to the PRD reference handout. The weekend gap is the point — the brief should reflect today's converged pick and the feedback, not a same-hour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rubric so students write toward it, not blind. The highlighted row is where the grade concentrates — needfinding quality and honesty at 30 points. Say plainly that a brief built honestly on thin evidence beats one that dresses guesses as facts: honesty about method is graded as heavily as the findings. PRD mapping means it reads as a problem/user definition, not a design. Every criterion must clear Developing to stay on a passing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the whole session in a sentence: you narrowed on purpose, so you can defend the choice. Make the actions concrete: CP1 in today, CP2 written this weekend from the converged pick, discovery continues. Preview Week 4 briefly — proposal anatomy and arguing feasibility without overpromising; CP3 Written Proposal is due Mon, Oct 5. Send them off to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Narrowing to a Defensible Idea</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6 — the convergence workshop</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23,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weeks diverging — today you converge</a:t>
            </a:r>
            <a:endParaRPr lang="en-US" sz="3100" dirty="0"/>
          </a:p>
        </p:txBody>
      </p:sp>
      <p:sp>
        <p:nvSpPr>
          <p:cNvPr id="5" name="Shape 3"/>
          <p:cNvSpPr/>
          <p:nvPr/>
        </p:nvSpPr>
        <p:spPr>
          <a:xfrm>
            <a:off x="548640" y="1874520"/>
            <a:ext cx="5440680" cy="3200400"/>
          </a:xfrm>
          <a:prstGeom prst="roundRect">
            <a:avLst>
              <a:gd name="adj" fmla="val 257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Weeks 1–3 · diverging</a:t>
            </a:r>
            <a:endParaRPr lang="en-US" sz="2000" dirty="0"/>
          </a:p>
        </p:txBody>
      </p:sp>
      <p:sp>
        <p:nvSpPr>
          <p:cNvPr id="9" name="Text 6"/>
          <p:cNvSpPr/>
          <p:nvPr/>
        </p:nvSpPr>
        <p:spPr>
          <a:xfrm>
            <a:off x="896112" y="3017520"/>
            <a:ext cx="4892040" cy="192024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explored the problem space, did discovery, and read feasibility. You arrive with 2–3 candidate ideas.</a:t>
            </a:r>
            <a:endParaRPr lang="en-US" sz="1650" dirty="0"/>
          </a:p>
        </p:txBody>
      </p:sp>
      <p:sp>
        <p:nvSpPr>
          <p:cNvPr id="10" name="Shape 7"/>
          <p:cNvSpPr/>
          <p:nvPr/>
        </p:nvSpPr>
        <p:spPr>
          <a:xfrm>
            <a:off x="6172200" y="1874520"/>
            <a:ext cx="5440680" cy="3200400"/>
          </a:xfrm>
          <a:prstGeom prst="roundRect">
            <a:avLst>
              <a:gd name="adj" fmla="val 2571"/>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 · converging</a:t>
            </a:r>
            <a:endParaRPr lang="en-US" sz="2000" dirty="0"/>
          </a:p>
        </p:txBody>
      </p:sp>
      <p:sp>
        <p:nvSpPr>
          <p:cNvPr id="14" name="Text 10"/>
          <p:cNvSpPr/>
          <p:nvPr/>
        </p:nvSpPr>
        <p:spPr>
          <a:xfrm>
            <a:off x="6492240" y="3017520"/>
            <a:ext cx="4892040" cy="192024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Score against a shared yardstick, pressure-test with peers, and leave with 1–2 ideas you can defend.</a:t>
            </a:r>
            <a:endParaRPr lang="en-US" sz="1650" dirty="0"/>
          </a:p>
        </p:txBody>
      </p:sp>
      <p:sp>
        <p:nvSpPr>
          <p:cNvPr id="15" name="Shape 11"/>
          <p:cNvSpPr/>
          <p:nvPr/>
        </p:nvSpPr>
        <p:spPr>
          <a:xfrm>
            <a:off x="548640" y="5285232"/>
            <a:ext cx="11064240" cy="896112"/>
          </a:xfrm>
          <a:prstGeom prst="roundRect">
            <a:avLst>
              <a:gd name="adj" fmla="val 9184"/>
            </a:avLst>
          </a:prstGeom>
          <a:solidFill>
            <a:srgbClr val="E8A33D"/>
          </a:solidFill>
          <a:ln/>
          <a:effectLst>
            <a:outerShdw sx="100000" sy="100000" kx="0" ky="0" algn="bl" rotWithShape="0" blurRad="88900" dist="38100" dir="5400000">
              <a:srgbClr val="000000">
                <a:alpha val="13000"/>
              </a:srgbClr>
            </a:outerShdw>
          </a:effectLst>
        </p:spPr>
      </p:sp>
      <p:sp>
        <p:nvSpPr>
          <p:cNvPr id="16" name="Shape 12"/>
          <p:cNvSpPr/>
          <p:nvPr/>
        </p:nvSpPr>
        <p:spPr>
          <a:xfrm>
            <a:off x="841248" y="5504688"/>
            <a:ext cx="457200" cy="457200"/>
          </a:xfrm>
          <a:prstGeom prst="ellipse">
            <a:avLst/>
          </a:prstGeom>
          <a:solidFill>
            <a:srgbClr val="14233A"/>
          </a:solidFill>
          <a:ln/>
        </p:spPr>
      </p:sp>
      <p:pic>
        <p:nvPicPr>
          <p:cNvPr id="17" name="Image 2" descr="preencoded.png">    </p:cNvPr>
          <p:cNvPicPr>
            <a:picLocks noChangeAspect="1"/>
          </p:cNvPicPr>
          <p:nvPr/>
        </p:nvPicPr>
        <p:blipFill>
          <a:blip r:embed="rId3"/>
          <a:stretch>
            <a:fillRect/>
          </a:stretch>
        </p:blipFill>
        <p:spPr>
          <a:xfrm>
            <a:off x="964692" y="5628132"/>
            <a:ext cx="210312" cy="210312"/>
          </a:xfrm>
          <a:prstGeom prst="rect">
            <a:avLst/>
          </a:prstGeom>
        </p:spPr>
      </p:pic>
      <p:sp>
        <p:nvSpPr>
          <p:cNvPr id="18" name="Text 13"/>
          <p:cNvSpPr/>
          <p:nvPr/>
        </p:nvSpPr>
        <p:spPr>
          <a:xfrm>
            <a:off x="1463040" y="5285232"/>
            <a:ext cx="9875520" cy="896112"/>
          </a:xfrm>
          <a:prstGeom prst="rect">
            <a:avLst/>
          </a:prstGeom>
          <a:noFill/>
          <a:ln/>
        </p:spPr>
        <p:txBody>
          <a:bodyPr wrap="square" lIns="0" tIns="0" rIns="0" bIns="0" rtlCol="0" anchor="ctr"/>
          <a:lstStyle/>
          <a:p>
            <a:pPr indent="0" marL="0">
              <a:lnSpc>
                <a:spcPct val="103000"/>
              </a:lnSpc>
              <a:buNone/>
            </a:pPr>
            <a:r>
              <a:rPr lang="en-US" sz="1550" b="1" dirty="0">
                <a:solidFill>
                  <a:srgbClr val="14233A"/>
                </a:solidFill>
                <a:latin typeface="Calibri" pitchFamily="34" charset="0"/>
                <a:ea typeface="Calibri" pitchFamily="34" charset="-122"/>
                <a:cs typeface="Calibri" pitchFamily="34" charset="-120"/>
              </a:rPr>
              <a:t>Due today: CP1 Idea Briefs.  </a:t>
            </a:r>
            <a:pPr indent="0" marL="0">
              <a:lnSpc>
                <a:spcPct val="103000"/>
              </a:lnSpc>
              <a:buNone/>
            </a:pPr>
            <a:r>
              <a:rPr lang="en-US" sz="1550" dirty="0">
                <a:solidFill>
                  <a:srgbClr val="14233A"/>
                </a:solidFill>
                <a:latin typeface="Calibri" pitchFamily="34" charset="0"/>
                <a:ea typeface="Calibri" pitchFamily="34" charset="-122"/>
                <a:cs typeface="Calibri" pitchFamily="34" charset="-120"/>
              </a:rPr>
              <a:t>The idea you converge on becomes CP2 — written this weekend, due Mon, Sep 28.</a:t>
            </a:r>
            <a:endParaRPr lang="en-US" sz="15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CONVERGENCE, DONE WELL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Choose deliberately — don't just grab a favorite</a:t>
            </a:r>
            <a:endParaRPr lang="en-US" sz="3100" dirty="0"/>
          </a:p>
        </p:txBody>
      </p:sp>
      <p:sp>
        <p:nvSpPr>
          <p:cNvPr id="5" name="Shape 3"/>
          <p:cNvSpPr/>
          <p:nvPr/>
        </p:nvSpPr>
        <p:spPr>
          <a:xfrm>
            <a:off x="548640" y="1828800"/>
            <a:ext cx="3977640" cy="3291840"/>
          </a:xfrm>
          <a:prstGeom prst="roundRect">
            <a:avLst>
              <a:gd name="adj" fmla="val 2500"/>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03120"/>
            <a:ext cx="566928" cy="566928"/>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6031" y="2256191"/>
            <a:ext cx="260787" cy="260787"/>
          </a:xfrm>
          <a:prstGeom prst="rect">
            <a:avLst/>
          </a:prstGeom>
        </p:spPr>
      </p:pic>
      <p:sp>
        <p:nvSpPr>
          <p:cNvPr id="8" name="Text 5"/>
          <p:cNvSpPr/>
          <p:nvPr/>
        </p:nvSpPr>
        <p:spPr>
          <a:xfrm>
            <a:off x="1517904" y="2139696"/>
            <a:ext cx="2743200" cy="45720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The trap</a:t>
            </a:r>
            <a:endParaRPr lang="en-US" sz="1900" dirty="0"/>
          </a:p>
        </p:txBody>
      </p:sp>
      <p:sp>
        <p:nvSpPr>
          <p:cNvPr id="9" name="Text 6"/>
          <p:cNvSpPr/>
          <p:nvPr/>
        </p:nvSpPr>
        <p:spPr>
          <a:xfrm>
            <a:off x="868680" y="2880360"/>
            <a:ext cx="3383280" cy="2103120"/>
          </a:xfrm>
          <a:prstGeom prst="rect">
            <a:avLst/>
          </a:prstGeom>
          <a:noFill/>
          <a:ln/>
        </p:spPr>
        <p:txBody>
          <a:bodyPr wrap="square" lIns="0" tIns="0" rIns="0" bIns="0" rtlCol="0" anchor="t"/>
          <a:lstStyle/>
          <a:p>
            <a:pPr indent="0" marL="0">
              <a:lnSpc>
                <a:spcPct val="107000"/>
              </a:lnSpc>
              <a:buNone/>
            </a:pPr>
            <a:r>
              <a:rPr lang="en-US" sz="1550" dirty="0">
                <a:solidFill>
                  <a:srgbClr val="1E2A36"/>
                </a:solidFill>
                <a:latin typeface="Calibri" pitchFamily="34" charset="0"/>
                <a:ea typeface="Calibri" pitchFamily="34" charset="-122"/>
                <a:cs typeface="Calibri" pitchFamily="34" charset="-120"/>
              </a:rPr>
              <a:t>Premature convergence — grabbing the first or favorite idea and stopping. Scoring exists to make the choice defensible, not just decisive.</a:t>
            </a:r>
            <a:endParaRPr lang="en-US" sz="1550" dirty="0"/>
          </a:p>
        </p:txBody>
      </p:sp>
      <p:sp>
        <p:nvSpPr>
          <p:cNvPr id="10" name="Shape 7"/>
          <p:cNvSpPr/>
          <p:nvPr/>
        </p:nvSpPr>
        <p:spPr>
          <a:xfrm>
            <a:off x="4709160" y="1828800"/>
            <a:ext cx="6903720" cy="3291840"/>
          </a:xfrm>
          <a:prstGeom prst="roundRect">
            <a:avLst>
              <a:gd name="adj" fmla="val 25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983480" y="2103120"/>
            <a:ext cx="566928" cy="566928"/>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5136551" y="2256191"/>
            <a:ext cx="260787" cy="260787"/>
          </a:xfrm>
          <a:prstGeom prst="rect">
            <a:avLst/>
          </a:prstGeom>
        </p:spPr>
      </p:pic>
      <p:sp>
        <p:nvSpPr>
          <p:cNvPr id="13" name="Text 9"/>
          <p:cNvSpPr/>
          <p:nvPr/>
        </p:nvSpPr>
        <p:spPr>
          <a:xfrm>
            <a:off x="5678424" y="2139696"/>
            <a:ext cx="566928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discipline — five moves</a:t>
            </a:r>
            <a:endParaRPr lang="en-US" sz="1900" dirty="0"/>
          </a:p>
        </p:txBody>
      </p:sp>
      <p:sp>
        <p:nvSpPr>
          <p:cNvPr id="14" name="Text 10"/>
          <p:cNvSpPr/>
          <p:nvPr/>
        </p:nvSpPr>
        <p:spPr>
          <a:xfrm>
            <a:off x="5029200" y="2852928"/>
            <a:ext cx="6309360" cy="214884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Be deliberate — decide on the criteria, not on vibes.</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Check your objective — does it serve a real need?</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Improve promising ideas — don't only kill weak ones.</a:t>
            </a:r>
            <a:endParaRPr lang="en-US" sz="1550" dirty="0"/>
          </a:p>
          <a:p>
            <a:pPr marL="177800" indent="-177800">
              <a:spcAft>
                <a:spcPts val="800"/>
              </a:spcAft>
              <a:buSzPct val="100000"/>
              <a:buChar char="•"/>
            </a:pPr>
            <a:r>
              <a:rPr lang="en-US" sz="1550" dirty="0">
                <a:solidFill>
                  <a:srgbClr val="1E2A36"/>
                </a:solidFill>
                <a:latin typeface="Calibri" pitchFamily="34" charset="0"/>
                <a:ea typeface="Calibri" pitchFamily="34" charset="-122"/>
                <a:cs typeface="Calibri" pitchFamily="34" charset="-120"/>
              </a:rPr>
              <a:t>Keep the novelty alive — don't default to the safest.</a:t>
            </a:r>
            <a:endParaRPr lang="en-US" sz="1550" dirty="0"/>
          </a:p>
          <a:p>
            <a:pPr marL="177800" indent="-177800">
              <a:buSzPct val="100000"/>
              <a:buChar char="•"/>
            </a:pPr>
            <a:r>
              <a:rPr lang="en-US" sz="1550" dirty="0">
                <a:solidFill>
                  <a:srgbClr val="1E2A36"/>
                </a:solidFill>
                <a:latin typeface="Calibri" pitchFamily="34" charset="0"/>
                <a:ea typeface="Calibri" pitchFamily="34" charset="-122"/>
                <a:cs typeface="Calibri" pitchFamily="34" charset="-120"/>
              </a:rPr>
              <a:t>Stay affirmative — narrowing isn't tearing down.</a:t>
            </a:r>
            <a:endParaRPr lang="en-US" sz="1550" dirty="0"/>
          </a:p>
        </p:txBody>
      </p:sp>
      <p:sp>
        <p:nvSpPr>
          <p:cNvPr id="15" name="Shape 11"/>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349240"/>
            <a:ext cx="10515600" cy="822960"/>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Converging means choosing a working direction you can defend and revise</a:t>
            </a:r>
            <a:pPr algn="ctr" indent="0" marL="0">
              <a:buNone/>
            </a:pPr>
            <a:r>
              <a:rPr lang="en-US" sz="1550" dirty="0">
                <a:solidFill>
                  <a:srgbClr val="FFFFFF"/>
                </a:solidFill>
                <a:latin typeface="Calibri" pitchFamily="34" charset="0"/>
                <a:ea typeface="Calibri" pitchFamily="34" charset="-122"/>
                <a:cs typeface="Calibri" pitchFamily="34" charset="-120"/>
              </a:rPr>
              <a:t> — not marrying an idea.</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SKILL UNDER CONVERGENCE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Evaluating an idea — a portable toolkit</a:t>
            </a:r>
            <a:endParaRPr lang="en-US" sz="3100" dirty="0"/>
          </a:p>
        </p:txBody>
      </p:sp>
      <p:sp>
        <p:nvSpPr>
          <p:cNvPr id="5" name="Shape 3"/>
          <p:cNvSpPr/>
          <p:nvPr/>
        </p:nvSpPr>
        <p:spPr>
          <a:xfrm>
            <a:off x="548640" y="166420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1764792"/>
            <a:ext cx="457200" cy="457200"/>
          </a:xfrm>
          <a:prstGeom prst="ellipse">
            <a:avLst/>
          </a:prstGeom>
          <a:solidFill>
            <a:srgbClr val="12908F"/>
          </a:solidFill>
          <a:ln/>
        </p:spPr>
      </p:sp>
      <p:sp>
        <p:nvSpPr>
          <p:cNvPr id="7" name="Text 5"/>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417320" y="170078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Decide what "good" means here</a:t>
            </a:r>
            <a:endParaRPr lang="en-US" sz="1650" dirty="0"/>
          </a:p>
        </p:txBody>
      </p:sp>
      <p:sp>
        <p:nvSpPr>
          <p:cNvPr id="9" name="Text 7"/>
          <p:cNvSpPr/>
          <p:nvPr/>
        </p:nvSpPr>
        <p:spPr>
          <a:xfrm>
            <a:off x="5486400" y="170078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Pick the criteria that fit your goal — the step most people skip.</a:t>
            </a:r>
            <a:endParaRPr lang="en-US" sz="1350" dirty="0"/>
          </a:p>
        </p:txBody>
      </p:sp>
      <p:sp>
        <p:nvSpPr>
          <p:cNvPr id="10" name="Shape 8"/>
          <p:cNvSpPr/>
          <p:nvPr/>
        </p:nvSpPr>
        <p:spPr>
          <a:xfrm>
            <a:off x="548640" y="244144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777240" y="2542032"/>
            <a:ext cx="457200" cy="457200"/>
          </a:xfrm>
          <a:prstGeom prst="ellipse">
            <a:avLst/>
          </a:prstGeom>
          <a:solidFill>
            <a:srgbClr val="12908F"/>
          </a:solidFill>
          <a:ln/>
        </p:spPr>
      </p:sp>
      <p:sp>
        <p:nvSpPr>
          <p:cNvPr id="12" name="Text 10"/>
          <p:cNvSpPr/>
          <p:nvPr/>
        </p:nvSpPr>
        <p:spPr>
          <a:xfrm>
            <a:off x="777240" y="254203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1417320" y="247802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Score candidates against them</a:t>
            </a:r>
            <a:endParaRPr lang="en-US" sz="1650" dirty="0"/>
          </a:p>
        </p:txBody>
      </p:sp>
      <p:sp>
        <p:nvSpPr>
          <p:cNvPr id="14" name="Text 12"/>
          <p:cNvSpPr/>
          <p:nvPr/>
        </p:nvSpPr>
        <p:spPr>
          <a:xfrm>
            <a:off x="5486400" y="247802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Deliberately, not by attachment — a fatal flaw beats a high total.</a:t>
            </a:r>
            <a:endParaRPr lang="en-US" sz="1350" dirty="0"/>
          </a:p>
        </p:txBody>
      </p:sp>
      <p:sp>
        <p:nvSpPr>
          <p:cNvPr id="15" name="Shape 13"/>
          <p:cNvSpPr/>
          <p:nvPr/>
        </p:nvSpPr>
        <p:spPr>
          <a:xfrm>
            <a:off x="548640" y="321868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3319272"/>
            <a:ext cx="457200" cy="457200"/>
          </a:xfrm>
          <a:prstGeom prst="ellipse">
            <a:avLst/>
          </a:prstGeom>
          <a:solidFill>
            <a:srgbClr val="12908F"/>
          </a:solidFill>
          <a:ln/>
        </p:spPr>
      </p:sp>
      <p:sp>
        <p:nvSpPr>
          <p:cNvPr id="17" name="Text 15"/>
          <p:cNvSpPr/>
          <p:nvPr/>
        </p:nvSpPr>
        <p:spPr>
          <a:xfrm>
            <a:off x="777240" y="331927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325526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Weigh value against do-ability</a:t>
            </a:r>
            <a:endParaRPr lang="en-US" sz="1650" dirty="0"/>
          </a:p>
        </p:txBody>
      </p:sp>
      <p:sp>
        <p:nvSpPr>
          <p:cNvPr id="19" name="Text 17"/>
          <p:cNvSpPr/>
          <p:nvPr/>
        </p:nvSpPr>
        <p:spPr>
          <a:xfrm>
            <a:off x="5486400" y="325526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Is the payoff worth the effort? Plot it; don't guess.</a:t>
            </a:r>
            <a:endParaRPr lang="en-US" sz="1350" dirty="0"/>
          </a:p>
        </p:txBody>
      </p:sp>
      <p:sp>
        <p:nvSpPr>
          <p:cNvPr id="20" name="Shape 18"/>
          <p:cNvSpPr/>
          <p:nvPr/>
        </p:nvSpPr>
        <p:spPr>
          <a:xfrm>
            <a:off x="548640" y="399592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1" name="Shape 19"/>
          <p:cNvSpPr/>
          <p:nvPr/>
        </p:nvSpPr>
        <p:spPr>
          <a:xfrm>
            <a:off x="777240" y="4096512"/>
            <a:ext cx="457200" cy="457200"/>
          </a:xfrm>
          <a:prstGeom prst="ellipse">
            <a:avLst/>
          </a:prstGeom>
          <a:solidFill>
            <a:srgbClr val="12908F"/>
          </a:solidFill>
          <a:ln/>
        </p:spPr>
      </p:sp>
      <p:sp>
        <p:nvSpPr>
          <p:cNvPr id="22" name="Text 20"/>
          <p:cNvSpPr/>
          <p:nvPr/>
        </p:nvSpPr>
        <p:spPr>
          <a:xfrm>
            <a:off x="777240" y="409651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417320" y="403250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Pressure-test with others</a:t>
            </a:r>
            <a:endParaRPr lang="en-US" sz="1650" dirty="0"/>
          </a:p>
        </p:txBody>
      </p:sp>
      <p:sp>
        <p:nvSpPr>
          <p:cNvPr id="24" name="Text 22"/>
          <p:cNvSpPr/>
          <p:nvPr/>
        </p:nvSpPr>
        <p:spPr>
          <a:xfrm>
            <a:off x="5486400" y="403250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Structured feedback — challenge the idea, not the person.</a:t>
            </a:r>
            <a:endParaRPr lang="en-US" sz="1350" dirty="0"/>
          </a:p>
        </p:txBody>
      </p:sp>
      <p:sp>
        <p:nvSpPr>
          <p:cNvPr id="25" name="Shape 23"/>
          <p:cNvSpPr/>
          <p:nvPr/>
        </p:nvSpPr>
        <p:spPr>
          <a:xfrm>
            <a:off x="548640" y="4773168"/>
            <a:ext cx="11064240" cy="658368"/>
          </a:xfrm>
          <a:prstGeom prst="roundRect">
            <a:avLst>
              <a:gd name="adj" fmla="val 12500"/>
            </a:avLst>
          </a:prstGeom>
          <a:solidFill>
            <a:srgbClr val="F2F6F8"/>
          </a:solidFill>
          <a:ln/>
          <a:effectLst>
            <a:outerShdw sx="100000" sy="100000" kx="0" ky="0" algn="bl" rotWithShape="0" blurRad="88900" dist="38100" dir="5400000">
              <a:srgbClr val="000000">
                <a:alpha val="13000"/>
              </a:srgbClr>
            </a:outerShdw>
          </a:effectLst>
        </p:spPr>
      </p:sp>
      <p:sp>
        <p:nvSpPr>
          <p:cNvPr id="26" name="Shape 24"/>
          <p:cNvSpPr/>
          <p:nvPr/>
        </p:nvSpPr>
        <p:spPr>
          <a:xfrm>
            <a:off x="777240" y="4873752"/>
            <a:ext cx="457200" cy="457200"/>
          </a:xfrm>
          <a:prstGeom prst="ellipse">
            <a:avLst/>
          </a:prstGeom>
          <a:solidFill>
            <a:srgbClr val="12908F"/>
          </a:solidFill>
          <a:ln/>
        </p:spPr>
      </p:sp>
      <p:sp>
        <p:nvSpPr>
          <p:cNvPr id="27" name="Text 25"/>
          <p:cNvSpPr/>
          <p:nvPr/>
        </p:nvSpPr>
        <p:spPr>
          <a:xfrm>
            <a:off x="777240" y="48737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1417320" y="4809744"/>
            <a:ext cx="3977640" cy="585216"/>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Commit — with a rationale</a:t>
            </a:r>
            <a:endParaRPr lang="en-US" sz="1650" dirty="0"/>
          </a:p>
        </p:txBody>
      </p:sp>
      <p:sp>
        <p:nvSpPr>
          <p:cNvPr id="29" name="Text 27"/>
          <p:cNvSpPr/>
          <p:nvPr/>
        </p:nvSpPr>
        <p:spPr>
          <a:xfrm>
            <a:off x="5486400" y="4809744"/>
            <a:ext cx="5943600" cy="585216"/>
          </a:xfrm>
          <a:prstGeom prst="rect">
            <a:avLst/>
          </a:prstGeom>
          <a:noFill/>
          <a:ln/>
        </p:spPr>
        <p:txBody>
          <a:bodyPr wrap="square" lIns="0" tIns="0" rIns="0" bIns="0" rtlCol="0" anchor="ctr"/>
          <a:lstStyle/>
          <a:p>
            <a:pPr indent="0" marL="0">
              <a:lnSpc>
                <a:spcPct val="102000"/>
              </a:lnSpc>
              <a:buNone/>
            </a:pPr>
            <a:r>
              <a:rPr lang="en-US" sz="1350" dirty="0">
                <a:solidFill>
                  <a:srgbClr val="5F7284"/>
                </a:solidFill>
                <a:latin typeface="Calibri" pitchFamily="34" charset="0"/>
                <a:ea typeface="Calibri" pitchFamily="34" charset="-122"/>
                <a:cs typeface="Calibri" pitchFamily="34" charset="-120"/>
              </a:rPr>
              <a:t>Choose a working direction you can defend and revise.</a:t>
            </a:r>
            <a:endParaRPr lang="en-US" sz="1350" dirty="0"/>
          </a:p>
        </p:txBody>
      </p:sp>
      <p:sp>
        <p:nvSpPr>
          <p:cNvPr id="30" name="Shape 28"/>
          <p:cNvSpPr/>
          <p:nvPr/>
        </p:nvSpPr>
        <p:spPr>
          <a:xfrm>
            <a:off x="548640" y="5541264"/>
            <a:ext cx="11064240" cy="658368"/>
          </a:xfrm>
          <a:prstGeom prst="roundRect">
            <a:avLst>
              <a:gd name="adj" fmla="val 12500"/>
            </a:avLst>
          </a:prstGeom>
          <a:solidFill>
            <a:srgbClr val="E8A33D"/>
          </a:solidFill>
          <a:ln/>
          <a:effectLst>
            <a:outerShdw sx="100000" sy="100000" kx="0" ky="0" algn="bl" rotWithShape="0" blurRad="88900" dist="38100" dir="5400000">
              <a:srgbClr val="000000">
                <a:alpha val="13000"/>
              </a:srgbClr>
            </a:outerShdw>
          </a:effectLst>
        </p:spPr>
      </p:sp>
      <p:sp>
        <p:nvSpPr>
          <p:cNvPr id="31" name="Shape 29"/>
          <p:cNvSpPr/>
          <p:nvPr/>
        </p:nvSpPr>
        <p:spPr>
          <a:xfrm>
            <a:off x="841248" y="5660136"/>
            <a:ext cx="420624" cy="420624"/>
          </a:xfrm>
          <a:prstGeom prst="ellipse">
            <a:avLst/>
          </a:prstGeom>
          <a:solidFill>
            <a:srgbClr val="14233A"/>
          </a:solidFill>
          <a:ln/>
        </p:spPr>
      </p:sp>
      <p:pic>
        <p:nvPicPr>
          <p:cNvPr id="32" name="Image 0" descr="preencoded.png">    </p:cNvPr>
          <p:cNvPicPr>
            <a:picLocks noChangeAspect="1"/>
          </p:cNvPicPr>
          <p:nvPr/>
        </p:nvPicPr>
        <p:blipFill>
          <a:blip r:embed="rId1"/>
          <a:stretch>
            <a:fillRect/>
          </a:stretch>
        </p:blipFill>
        <p:spPr>
          <a:xfrm>
            <a:off x="954816" y="5773704"/>
            <a:ext cx="193487" cy="193487"/>
          </a:xfrm>
          <a:prstGeom prst="rect">
            <a:avLst/>
          </a:prstGeom>
        </p:spPr>
      </p:pic>
      <p:sp>
        <p:nvSpPr>
          <p:cNvPr id="33" name="Text 30"/>
          <p:cNvSpPr/>
          <p:nvPr/>
        </p:nvSpPr>
        <p:spPr>
          <a:xfrm>
            <a:off x="1444752" y="5541264"/>
            <a:ext cx="9966960" cy="658368"/>
          </a:xfrm>
          <a:prstGeom prst="rect">
            <a:avLst/>
          </a:prstGeom>
          <a:noFill/>
          <a:ln/>
        </p:spPr>
        <p:txBody>
          <a:bodyPr wrap="square" lIns="0" tIns="0" rIns="0" bIns="0" rtlCol="0" anchor="ctr"/>
          <a:lstStyle/>
          <a:p>
            <a:pPr indent="0" marL="0">
              <a:lnSpc>
                <a:spcPct val="103000"/>
              </a:lnSpc>
              <a:buNone/>
            </a:pPr>
            <a:r>
              <a:rPr lang="en-US" sz="1500" b="1" dirty="0">
                <a:solidFill>
                  <a:srgbClr val="14233A"/>
                </a:solidFill>
                <a:latin typeface="Calibri" pitchFamily="34" charset="0"/>
                <a:ea typeface="Calibri" pitchFamily="34" charset="-122"/>
                <a:cs typeface="Calibri" pitchFamily="34" charset="-120"/>
              </a:rPr>
              <a:t>Portable:  </a:t>
            </a:r>
            <a:pPr indent="0" marL="0">
              <a:lnSpc>
                <a:spcPct val="103000"/>
              </a:lnSpc>
              <a:buNone/>
            </a:pPr>
            <a:r>
              <a:rPr lang="en-US" sz="1500" dirty="0">
                <a:solidFill>
                  <a:srgbClr val="14233A"/>
                </a:solidFill>
                <a:latin typeface="Calibri" pitchFamily="34" charset="0"/>
                <a:ea typeface="Calibri" pitchFamily="34" charset="-122"/>
                <a:cs typeface="Calibri" pitchFamily="34" charset="-120"/>
              </a:rPr>
              <a:t>this works on any idea — a feature at work, a startup, a side project. Only step 1 changes — the criteria you choose.</a:t>
            </a:r>
            <a:endParaRPr lang="en-US" sz="1500" dirty="0"/>
          </a:p>
        </p:txBody>
      </p:sp>
      <p:sp>
        <p:nvSpPr>
          <p:cNvPr id="34" name="Text 3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35" name="Text 3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CRITERIA WE CHOSE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selection criteria</a:t>
            </a:r>
            <a:endParaRPr lang="en-US" sz="3100" dirty="0"/>
          </a:p>
        </p:txBody>
      </p:sp>
      <p:sp>
        <p:nvSpPr>
          <p:cNvPr id="5" name="Text 3"/>
          <p:cNvSpPr/>
          <p:nvPr/>
        </p:nvSpPr>
        <p:spPr>
          <a:xfrm>
            <a:off x="548640" y="1517904"/>
            <a:ext cx="11064240" cy="310896"/>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Score each candidate 1–3 on each. The two most-missed — real need and richness (highlighted) — carry the most weight.</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847088"/>
          <a:ext cx="11064240" cy="914400"/>
        </p:xfrm>
        <a:graphic>
          <a:graphicData uri="http://schemas.openxmlformats.org/drawingml/2006/table">
            <a:tbl>
              <a:tblPr/>
              <a:tblGrid>
                <a:gridCol w="3383280"/>
                <a:gridCol w="7680960"/>
              </a:tblGrid>
              <a:tr h="45720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What a strong idea shows</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Real need, reachable users</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400" dirty="0">
                          <a:solidFill>
                            <a:srgbClr val="1E2A36"/>
                          </a:solidFill>
                          <a:latin typeface="Calibri" pitchFamily="34" charset="0"/>
                          <a:ea typeface="Calibri" pitchFamily="34" charset="-122"/>
                          <a:cs typeface="Calibri" pitchFamily="34" charset="-120"/>
                        </a:rPr>
                        <a:t>A specific userbase with a felt, evidenced need — not a toy.</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Richness / breadth</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400" dirty="0">
                          <a:solidFill>
                            <a:srgbClr val="1E2A36"/>
                          </a:solidFill>
                          <a:latin typeface="Calibri" pitchFamily="34" charset="0"/>
                          <a:ea typeface="Calibri" pitchFamily="34" charset="-122"/>
                          <a:cs typeface="Calibri" pitchFamily="34" charset="-120"/>
                        </a:rPr>
                        <a:t>Exercises multiple engineering dimensions; room for a team to grow.</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One-semester MVP</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A coherent vertical slice fits ~10 hrs/week over 14 weeks.</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Feasibility</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Risks named and reducible — the Session-5 read.</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Extensible / room to grow</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Others can credibly keep building on it as the team grows.</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Open-source-worthy</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Appropriate to develop and release in the open.</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Tractable stack</a:t>
                      </a:r>
                      <a:endParaRPr lang="en-US" sz="145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5F7284"/>
                          </a:solidFill>
                          <a:latin typeface="Calibri" pitchFamily="34" charset="0"/>
                          <a:ea typeface="Calibri" pitchFamily="34" charset="-122"/>
                          <a:cs typeface="Calibri" pitchFamily="34" charset="-120"/>
                        </a:rPr>
                        <a:t>Tech you can own, explain, and support.</a:t>
                      </a:r>
                      <a:endParaRPr lang="en-US" sz="1400" dirty="0">
                        <a:latin typeface="Calibri" charset="0"/>
                        <a:ea typeface="Calibri" charset="0"/>
                        <a:cs typeface="Calibri" charset="0"/>
                      </a:endParaRPr>
                    </a:p>
                  </a:txBody>
                  <a:tcPr marL="114300" marR="1143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77840"/>
            <a:ext cx="11064240" cy="603504"/>
          </a:xfrm>
          <a:prstGeom prst="roundRect">
            <a:avLst>
              <a:gd name="adj" fmla="val 13636"/>
            </a:avLst>
          </a:prstGeom>
          <a:solidFill>
            <a:srgbClr val="E8A33D"/>
          </a:solidFill>
          <a:ln/>
          <a:effectLst>
            <a:outerShdw sx="100000" sy="100000" kx="0" ky="0" algn="bl" rotWithShape="0" blurRad="88900" dist="38100" dir="5400000">
              <a:srgbClr val="000000">
                <a:alpha val="13000"/>
              </a:srgbClr>
            </a:outerShdw>
          </a:effectLst>
        </p:spPr>
      </p:sp>
      <p:sp>
        <p:nvSpPr>
          <p:cNvPr id="8" name="Text 5"/>
          <p:cNvSpPr/>
          <p:nvPr/>
        </p:nvSpPr>
        <p:spPr>
          <a:xfrm>
            <a:off x="822960" y="5577840"/>
            <a:ext cx="10515600" cy="603504"/>
          </a:xfrm>
          <a:prstGeom prst="rect">
            <a:avLst/>
          </a:prstGeom>
          <a:noFill/>
          <a:ln/>
        </p:spPr>
        <p:txBody>
          <a:bodyPr wrap="square" lIns="0" tIns="0" rIns="0" bIns="0" rtlCol="0" anchor="ctr"/>
          <a:lstStyle/>
          <a:p>
            <a:pPr algn="ctr" indent="0" marL="0">
              <a:lnSpc>
                <a:spcPct val="102000"/>
              </a:lnSpc>
              <a:buNone/>
            </a:pPr>
            <a:r>
              <a:rPr lang="en-US" sz="1350" b="1" dirty="0">
                <a:solidFill>
                  <a:srgbClr val="14233A"/>
                </a:solidFill>
                <a:latin typeface="Calibri" pitchFamily="34" charset="0"/>
                <a:ea typeface="Calibri" pitchFamily="34" charset="-122"/>
                <a:cs typeface="Calibri" pitchFamily="34" charset="-120"/>
              </a:rPr>
              <a:t>Different goal, different list — same method.  </a:t>
            </a:r>
            <a:pPr algn="ctr" indent="0" marL="0">
              <a:lnSpc>
                <a:spcPct val="102000"/>
              </a:lnSpc>
              <a:buNone/>
            </a:pPr>
            <a:r>
              <a:rPr lang="en-US" sz="1350" dirty="0">
                <a:solidFill>
                  <a:srgbClr val="14233A"/>
                </a:solidFill>
                <a:latin typeface="Calibri" pitchFamily="34" charset="0"/>
                <a:ea typeface="Calibri" pitchFamily="34" charset="-122"/>
                <a:cs typeface="Calibri" pitchFamily="34" charset="-120"/>
              </a:rPr>
              <a:t>These are our criteria because we're founding lasting open-source projects; another context would score on other things.</a:t>
            </a:r>
            <a:endParaRPr lang="en-US" sz="1350" dirty="0"/>
          </a:p>
        </p:txBody>
      </p:sp>
      <p:sp>
        <p:nvSpPr>
          <p:cNvPr id="9" name="Text 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0" name="Text 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ONE OF OUR CRITERIA, UP CLOSE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richness test — feasible isn't enough</a:t>
            </a:r>
            <a:endParaRPr lang="en-US" sz="3100" dirty="0"/>
          </a:p>
        </p:txBody>
      </p:sp>
      <p:sp>
        <p:nvSpPr>
          <p:cNvPr id="5" name="Shape 3"/>
          <p:cNvSpPr/>
          <p:nvPr/>
        </p:nvSpPr>
        <p:spPr>
          <a:xfrm>
            <a:off x="548640" y="1737360"/>
            <a:ext cx="11064240" cy="932688"/>
          </a:xfrm>
          <a:prstGeom prst="roundRect">
            <a:avLst>
              <a:gd name="adj" fmla="val 8824"/>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41248" y="1929384"/>
            <a:ext cx="548640" cy="54864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989381" y="2077517"/>
            <a:ext cx="252374" cy="252374"/>
          </a:xfrm>
          <a:prstGeom prst="rect">
            <a:avLst/>
          </a:prstGeom>
        </p:spPr>
      </p:pic>
      <p:sp>
        <p:nvSpPr>
          <p:cNvPr id="8" name="Text 5"/>
          <p:cNvSpPr/>
          <p:nvPr/>
        </p:nvSpPr>
        <p:spPr>
          <a:xfrm>
            <a:off x="1600200" y="1737360"/>
            <a:ext cx="9738360" cy="932688"/>
          </a:xfrm>
          <a:prstGeom prst="rect">
            <a:avLst/>
          </a:prstGeom>
          <a:noFill/>
          <a:ln/>
        </p:spPr>
        <p:txBody>
          <a:bodyPr wrap="square" lIns="0" tIns="0" rIns="0" bIns="0" rtlCol="0" anchor="ctr"/>
          <a:lstStyle/>
          <a:p>
            <a:pPr indent="0" marL="0">
              <a:lnSpc>
                <a:spcPct val="105000"/>
              </a:lnSpc>
              <a:buNone/>
            </a:pPr>
            <a:r>
              <a:rPr lang="en-US" sz="1500" b="1" dirty="0">
                <a:solidFill>
                  <a:srgbClr val="E8A33D"/>
                </a:solidFill>
                <a:latin typeface="Calibri" pitchFamily="34" charset="0"/>
                <a:ea typeface="Calibri" pitchFamily="34" charset="-122"/>
                <a:cs typeface="Calibri" pitchFamily="34" charset="-120"/>
              </a:rPr>
              <a:t>The check:  </a:t>
            </a:r>
            <a:pPr indent="0" marL="0">
              <a:lnSpc>
                <a:spcPct val="105000"/>
              </a:lnSpc>
              <a:buNone/>
            </a:pPr>
            <a:r>
              <a:rPr lang="en-US" sz="1500" dirty="0">
                <a:solidFill>
                  <a:srgbClr val="CFE0E9"/>
                </a:solidFill>
                <a:latin typeface="Calibri" pitchFamily="34" charset="0"/>
                <a:ea typeface="Calibri" pitchFamily="34" charset="-122"/>
                <a:cs typeface="Calibri" pitchFamily="34" charset="-120"/>
              </a:rPr>
              <a:t>does it exercise multiple engineering dimensions (data, interfaces, logic, integration) — and leave room to grow after your slice ships?</a:t>
            </a:r>
            <a:endParaRPr lang="en-US" sz="1500" dirty="0"/>
          </a:p>
        </p:txBody>
      </p:sp>
      <p:sp>
        <p:nvSpPr>
          <p:cNvPr id="9" name="Shape 6"/>
          <p:cNvSpPr/>
          <p:nvPr/>
        </p:nvSpPr>
        <p:spPr>
          <a:xfrm>
            <a:off x="548640" y="2852928"/>
            <a:ext cx="3511296" cy="2606040"/>
          </a:xfrm>
          <a:prstGeom prst="roundRect">
            <a:avLst>
              <a:gd name="adj" fmla="val 3158"/>
            </a:avLst>
          </a:prstGeom>
          <a:solidFill>
            <a:srgbClr val="FBECE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127248"/>
            <a:ext cx="566928" cy="566928"/>
          </a:xfrm>
          <a:prstGeom prst="ellipse">
            <a:avLst/>
          </a:prstGeom>
          <a:solidFill>
            <a:srgbClr val="D9614C"/>
          </a:solidFill>
          <a:ln/>
        </p:spPr>
      </p:sp>
      <p:pic>
        <p:nvPicPr>
          <p:cNvPr id="11" name="Image 1" descr="preencoded.png">    </p:cNvPr>
          <p:cNvPicPr>
            <a:picLocks noChangeAspect="1"/>
          </p:cNvPicPr>
          <p:nvPr/>
        </p:nvPicPr>
        <p:blipFill>
          <a:blip r:embed="rId2"/>
          <a:stretch>
            <a:fillRect/>
          </a:stretch>
        </p:blipFill>
        <p:spPr>
          <a:xfrm>
            <a:off x="976031" y="3280319"/>
            <a:ext cx="260787" cy="260787"/>
          </a:xfrm>
          <a:prstGeom prst="rect">
            <a:avLst/>
          </a:prstGeom>
        </p:spPr>
      </p:pic>
      <p:sp>
        <p:nvSpPr>
          <p:cNvPr id="12" name="Text 8"/>
          <p:cNvSpPr/>
          <p:nvPr/>
        </p:nvSpPr>
        <p:spPr>
          <a:xfrm>
            <a:off x="1499616"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Too thin</a:t>
            </a:r>
            <a:endParaRPr lang="en-US" sz="1800" dirty="0"/>
          </a:p>
        </p:txBody>
      </p:sp>
      <p:sp>
        <p:nvSpPr>
          <p:cNvPr id="13" name="Text 9"/>
          <p:cNvSpPr/>
          <p:nvPr/>
        </p:nvSpPr>
        <p:spPr>
          <a:xfrm>
            <a:off x="822960"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A weekend script. Finish it and there's nothing left to found — nothing for a contributor to do.</a:t>
            </a:r>
            <a:endParaRPr lang="en-US" sz="1450" dirty="0"/>
          </a:p>
        </p:txBody>
      </p:sp>
      <p:sp>
        <p:nvSpPr>
          <p:cNvPr id="14" name="Shape 10"/>
          <p:cNvSpPr/>
          <p:nvPr/>
        </p:nvSpPr>
        <p:spPr>
          <a:xfrm>
            <a:off x="4233672" y="2852928"/>
            <a:ext cx="3511296" cy="2606040"/>
          </a:xfrm>
          <a:prstGeom prst="roundRect">
            <a:avLst>
              <a:gd name="adj" fmla="val 3158"/>
            </a:avLst>
          </a:prstGeom>
          <a:solidFill>
            <a:srgbClr val="FBEEDA"/>
          </a:solidFill>
          <a:ln/>
          <a:effectLst>
            <a:outerShdw sx="100000" sy="100000" kx="0" ky="0" algn="bl" rotWithShape="0" blurRad="88900" dist="38100" dir="5400000">
              <a:srgbClr val="000000">
                <a:alpha val="13000"/>
              </a:srgbClr>
            </a:outerShdw>
          </a:effectLst>
        </p:spPr>
      </p:sp>
      <p:sp>
        <p:nvSpPr>
          <p:cNvPr id="15" name="Shape 11"/>
          <p:cNvSpPr/>
          <p:nvPr/>
        </p:nvSpPr>
        <p:spPr>
          <a:xfrm>
            <a:off x="4507992" y="3127248"/>
            <a:ext cx="566928" cy="566928"/>
          </a:xfrm>
          <a:prstGeom prst="ellipse">
            <a:avLst/>
          </a:prstGeom>
          <a:solidFill>
            <a:srgbClr val="E8A33D"/>
          </a:solidFill>
          <a:ln/>
        </p:spPr>
      </p:sp>
      <p:pic>
        <p:nvPicPr>
          <p:cNvPr id="16" name="Image 2" descr="preencoded.png">    </p:cNvPr>
          <p:cNvPicPr>
            <a:picLocks noChangeAspect="1"/>
          </p:cNvPicPr>
          <p:nvPr/>
        </p:nvPicPr>
        <p:blipFill>
          <a:blip r:embed="rId3"/>
          <a:stretch>
            <a:fillRect/>
          </a:stretch>
        </p:blipFill>
        <p:spPr>
          <a:xfrm>
            <a:off x="4661063" y="3280319"/>
            <a:ext cx="260787" cy="260787"/>
          </a:xfrm>
          <a:prstGeom prst="rect">
            <a:avLst/>
          </a:prstGeom>
        </p:spPr>
      </p:pic>
      <p:sp>
        <p:nvSpPr>
          <p:cNvPr id="17" name="Text 12"/>
          <p:cNvSpPr/>
          <p:nvPr/>
        </p:nvSpPr>
        <p:spPr>
          <a:xfrm>
            <a:off x="5184648"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Too big</a:t>
            </a:r>
            <a:endParaRPr lang="en-US" sz="1800" dirty="0"/>
          </a:p>
        </p:txBody>
      </p:sp>
      <p:sp>
        <p:nvSpPr>
          <p:cNvPr id="18" name="Text 13"/>
          <p:cNvSpPr/>
          <p:nvPr/>
        </p:nvSpPr>
        <p:spPr>
          <a:xfrm>
            <a:off x="4507992"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Feasible only as a fantasy — no vertical slice you could actually ship this semester.</a:t>
            </a:r>
            <a:endParaRPr lang="en-US" sz="1450" dirty="0"/>
          </a:p>
        </p:txBody>
      </p:sp>
      <p:sp>
        <p:nvSpPr>
          <p:cNvPr id="19" name="Shape 14"/>
          <p:cNvSpPr/>
          <p:nvPr/>
        </p:nvSpPr>
        <p:spPr>
          <a:xfrm>
            <a:off x="7918704" y="2852928"/>
            <a:ext cx="3511296" cy="2606040"/>
          </a:xfrm>
          <a:prstGeom prst="roundRect">
            <a:avLst>
              <a:gd name="adj" fmla="val 3158"/>
            </a:avLst>
          </a:prstGeom>
          <a:solidFill>
            <a:srgbClr val="EAF4EE"/>
          </a:solidFill>
          <a:ln/>
          <a:effectLst>
            <a:outerShdw sx="100000" sy="100000" kx="0" ky="0" algn="bl" rotWithShape="0" blurRad="88900" dist="38100" dir="5400000">
              <a:srgbClr val="000000">
                <a:alpha val="13000"/>
              </a:srgbClr>
            </a:outerShdw>
          </a:effectLst>
        </p:spPr>
      </p:sp>
      <p:sp>
        <p:nvSpPr>
          <p:cNvPr id="20" name="Shape 15"/>
          <p:cNvSpPr/>
          <p:nvPr/>
        </p:nvSpPr>
        <p:spPr>
          <a:xfrm>
            <a:off x="8193024" y="3127248"/>
            <a:ext cx="566928" cy="566928"/>
          </a:xfrm>
          <a:prstGeom prst="ellipse">
            <a:avLst/>
          </a:prstGeom>
          <a:solidFill>
            <a:srgbClr val="3E9C6B"/>
          </a:solidFill>
          <a:ln/>
        </p:spPr>
      </p:sp>
      <p:pic>
        <p:nvPicPr>
          <p:cNvPr id="21" name="Image 3" descr="preencoded.png">    </p:cNvPr>
          <p:cNvPicPr>
            <a:picLocks noChangeAspect="1"/>
          </p:cNvPicPr>
          <p:nvPr/>
        </p:nvPicPr>
        <p:blipFill>
          <a:blip r:embed="rId4"/>
          <a:stretch>
            <a:fillRect/>
          </a:stretch>
        </p:blipFill>
        <p:spPr>
          <a:xfrm>
            <a:off x="8346095" y="3280319"/>
            <a:ext cx="260787" cy="260787"/>
          </a:xfrm>
          <a:prstGeom prst="rect">
            <a:avLst/>
          </a:prstGeom>
        </p:spPr>
      </p:pic>
      <p:sp>
        <p:nvSpPr>
          <p:cNvPr id="22" name="Text 16"/>
          <p:cNvSpPr/>
          <p:nvPr/>
        </p:nvSpPr>
        <p:spPr>
          <a:xfrm>
            <a:off x="8869680" y="3163824"/>
            <a:ext cx="2414016" cy="512064"/>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sweet spot</a:t>
            </a:r>
            <a:endParaRPr lang="en-US" sz="1800" dirty="0"/>
          </a:p>
        </p:txBody>
      </p:sp>
      <p:sp>
        <p:nvSpPr>
          <p:cNvPr id="23" name="Text 17"/>
          <p:cNvSpPr/>
          <p:nvPr/>
        </p:nvSpPr>
        <p:spPr>
          <a:xfrm>
            <a:off x="8193024" y="3840480"/>
            <a:ext cx="2962656" cy="14630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A rich core with a buildable slice — finishing it leaves obvious, valuable next work for others.</a:t>
            </a:r>
            <a:endParaRPr lang="en-US" sz="1450" dirty="0"/>
          </a:p>
        </p:txBody>
      </p:sp>
      <p:sp>
        <p:nvSpPr>
          <p:cNvPr id="24" name="Shape 18"/>
          <p:cNvSpPr/>
          <p:nvPr/>
        </p:nvSpPr>
        <p:spPr>
          <a:xfrm>
            <a:off x="548640" y="5632704"/>
            <a:ext cx="11064240" cy="548640"/>
          </a:xfrm>
          <a:prstGeom prst="roundRect">
            <a:avLst>
              <a:gd name="adj" fmla="val 15000"/>
            </a:avLst>
          </a:prstGeom>
          <a:solidFill>
            <a:srgbClr val="F2F6F8"/>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632704"/>
            <a:ext cx="10515600" cy="548640"/>
          </a:xfrm>
          <a:prstGeom prst="rect">
            <a:avLst/>
          </a:prstGeom>
          <a:noFill/>
          <a:ln/>
        </p:spPr>
        <p:txBody>
          <a:bodyPr wrap="square" lIns="0" tIns="0" rIns="0" bIns="0" rtlCol="0" anchor="ctr"/>
          <a:lstStyle/>
          <a:p>
            <a:pPr algn="ctr" indent="0" marL="0">
              <a:buNone/>
            </a:pPr>
            <a:r>
              <a:rPr lang="en-US" sz="1350" b="1" dirty="0">
                <a:solidFill>
                  <a:srgbClr val="0E6E6D"/>
                </a:solidFill>
                <a:latin typeface="Calibri" pitchFamily="34" charset="0"/>
                <a:ea typeface="Calibri" pitchFamily="34" charset="-122"/>
                <a:cs typeface="Calibri" pitchFamily="34" charset="-120"/>
              </a:rPr>
              <a:t>Monday asked "can I build it?"  </a:t>
            </a:r>
            <a:pPr algn="ctr" indent="0" marL="0">
              <a:buNone/>
            </a:pPr>
            <a:r>
              <a:rPr lang="en-US" sz="1350" dirty="0">
                <a:solidFill>
                  <a:srgbClr val="1E2A36"/>
                </a:solidFill>
                <a:latin typeface="Calibri" pitchFamily="34" charset="0"/>
                <a:ea typeface="Calibri" pitchFamily="34" charset="-122"/>
                <a:cs typeface="Calibri" pitchFamily="34" charset="-120"/>
              </a:rPr>
              <a:t>Richness asks "is it worth building?" — both can pass on the feasibility worksheet, which is why this is a separate test.</a:t>
            </a:r>
            <a:endParaRPr lang="en-US" sz="135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A GENERAL-PURPOSE TOOL</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Plot each idea, then act by quadrant</a:t>
            </a:r>
            <a:endParaRPr lang="en-US" sz="3100" dirty="0"/>
          </a:p>
        </p:txBody>
      </p:sp>
      <p:pic>
        <p:nvPicPr>
          <p:cNvPr id="5" name="Image 0" descr="/mnt/c/Users/steph26/Documents/Classes/CS301R/2026-2027/resources/img/value-doability.png">    </p:cNvPr>
          <p:cNvPicPr>
            <a:picLocks noChangeAspect="1"/>
          </p:cNvPicPr>
          <p:nvPr/>
        </p:nvPicPr>
        <p:blipFill>
          <a:blip r:embed="rId1"/>
          <a:stretch>
            <a:fillRect/>
          </a:stretch>
        </p:blipFill>
        <p:spPr>
          <a:xfrm>
            <a:off x="502920" y="1783080"/>
            <a:ext cx="5577840" cy="4599432"/>
          </a:xfrm>
          <a:prstGeom prst="rect">
            <a:avLst/>
          </a:prstGeom>
        </p:spPr>
      </p:pic>
      <p:sp>
        <p:nvSpPr>
          <p:cNvPr id="6" name="Shape 3"/>
          <p:cNvSpPr/>
          <p:nvPr/>
        </p:nvSpPr>
        <p:spPr>
          <a:xfrm>
            <a:off x="6355080" y="1810512"/>
            <a:ext cx="5257800" cy="1353312"/>
          </a:xfrm>
          <a:prstGeom prst="roundRect">
            <a:avLst>
              <a:gd name="adj" fmla="val 6081"/>
            </a:avLst>
          </a:prstGeom>
          <a:solidFill>
            <a:srgbClr val="EAF4EE"/>
          </a:solidFill>
          <a:ln/>
          <a:effectLst>
            <a:outerShdw sx="100000" sy="100000" kx="0" ky="0" algn="bl" rotWithShape="0" blurRad="88900" dist="38100" dir="5400000">
              <a:srgbClr val="000000">
                <a:alpha val="13000"/>
              </a:srgbClr>
            </a:outerShdw>
          </a:effectLst>
        </p:spPr>
      </p:sp>
      <p:sp>
        <p:nvSpPr>
          <p:cNvPr id="7" name="Text 4"/>
          <p:cNvSpPr/>
          <p:nvPr/>
        </p:nvSpPr>
        <p:spPr>
          <a:xfrm>
            <a:off x="6583680" y="1956816"/>
            <a:ext cx="4846320" cy="402336"/>
          </a:xfrm>
          <a:prstGeom prst="rect">
            <a:avLst/>
          </a:prstGeom>
          <a:noFill/>
          <a:ln/>
        </p:spPr>
        <p:txBody>
          <a:bodyPr wrap="square" lIns="0" tIns="0" rIns="0" bIns="0" rtlCol="0" anchor="ctr"/>
          <a:lstStyle/>
          <a:p>
            <a:pPr indent="0" marL="0">
              <a:buNone/>
            </a:pPr>
            <a:r>
              <a:rPr lang="en-US" sz="1700" b="1" dirty="0">
                <a:solidFill>
                  <a:srgbClr val="3E9C6B"/>
                </a:solidFill>
                <a:latin typeface="Calibri" pitchFamily="34" charset="0"/>
                <a:ea typeface="Calibri" pitchFamily="34" charset="-122"/>
                <a:cs typeface="Calibri" pitchFamily="34" charset="-120"/>
              </a:rPr>
              <a:t>Pursue</a:t>
            </a:r>
            <a:endParaRPr lang="en-US" sz="1700" dirty="0"/>
          </a:p>
        </p:txBody>
      </p:sp>
      <p:sp>
        <p:nvSpPr>
          <p:cNvPr id="8" name="Text 5"/>
          <p:cNvSpPr/>
          <p:nvPr/>
        </p:nvSpPr>
        <p:spPr>
          <a:xfrm>
            <a:off x="6583680" y="2377440"/>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High value + high do-ability — your best candidates.</a:t>
            </a:r>
            <a:endParaRPr lang="en-US" sz="1400" dirty="0"/>
          </a:p>
        </p:txBody>
      </p:sp>
      <p:sp>
        <p:nvSpPr>
          <p:cNvPr id="9" name="Shape 6"/>
          <p:cNvSpPr/>
          <p:nvPr/>
        </p:nvSpPr>
        <p:spPr>
          <a:xfrm>
            <a:off x="6355080" y="3300984"/>
            <a:ext cx="5257800" cy="1353312"/>
          </a:xfrm>
          <a:prstGeom prst="roundRect">
            <a:avLst>
              <a:gd name="adj" fmla="val 6081"/>
            </a:avLst>
          </a:prstGeom>
          <a:solidFill>
            <a:srgbClr val="FBEEDA"/>
          </a:solidFill>
          <a:ln/>
          <a:effectLst>
            <a:outerShdw sx="100000" sy="100000" kx="0" ky="0" algn="bl" rotWithShape="0" blurRad="88900" dist="38100" dir="5400000">
              <a:srgbClr val="000000">
                <a:alpha val="13000"/>
              </a:srgbClr>
            </a:outerShdw>
          </a:effectLst>
        </p:spPr>
      </p:sp>
      <p:sp>
        <p:nvSpPr>
          <p:cNvPr id="10" name="Text 7"/>
          <p:cNvSpPr/>
          <p:nvPr/>
        </p:nvSpPr>
        <p:spPr>
          <a:xfrm>
            <a:off x="6583680" y="3447288"/>
            <a:ext cx="4846320" cy="402336"/>
          </a:xfrm>
          <a:prstGeom prst="rect">
            <a:avLst/>
          </a:prstGeom>
          <a:noFill/>
          <a:ln/>
        </p:spPr>
        <p:txBody>
          <a:bodyPr wrap="square" lIns="0" tIns="0" rIns="0" bIns="0" rtlCol="0" anchor="ctr"/>
          <a:lstStyle/>
          <a:p>
            <a:pPr indent="0" marL="0">
              <a:buNone/>
            </a:pPr>
            <a:r>
              <a:rPr lang="en-US" sz="1700" b="1" dirty="0">
                <a:solidFill>
                  <a:srgbClr val="B9781C"/>
                </a:solidFill>
                <a:latin typeface="Calibri" pitchFamily="34" charset="0"/>
                <a:ea typeface="Calibri" pitchFamily="34" charset="-122"/>
                <a:cs typeface="Calibri" pitchFamily="34" charset="-120"/>
              </a:rPr>
              <a:t>Narrow or spike</a:t>
            </a:r>
            <a:endParaRPr lang="en-US" sz="1700" dirty="0"/>
          </a:p>
        </p:txBody>
      </p:sp>
      <p:sp>
        <p:nvSpPr>
          <p:cNvPr id="11" name="Text 8"/>
          <p:cNvSpPr/>
          <p:nvPr/>
        </p:nvSpPr>
        <p:spPr>
          <a:xfrm>
            <a:off x="6583680" y="3867912"/>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High value + low do-ability — shrink the scope or run a spike to raise do-ability.</a:t>
            </a:r>
            <a:endParaRPr lang="en-US" sz="1400" dirty="0"/>
          </a:p>
        </p:txBody>
      </p:sp>
      <p:sp>
        <p:nvSpPr>
          <p:cNvPr id="12" name="Shape 9"/>
          <p:cNvSpPr/>
          <p:nvPr/>
        </p:nvSpPr>
        <p:spPr>
          <a:xfrm>
            <a:off x="6355080" y="4791456"/>
            <a:ext cx="5257800" cy="1353312"/>
          </a:xfrm>
          <a:prstGeom prst="roundRect">
            <a:avLst>
              <a:gd name="adj" fmla="val 6081"/>
            </a:avLst>
          </a:prstGeom>
          <a:solidFill>
            <a:srgbClr val="FBECE8"/>
          </a:solidFill>
          <a:ln/>
          <a:effectLst>
            <a:outerShdw sx="100000" sy="100000" kx="0" ky="0" algn="bl" rotWithShape="0" blurRad="88900" dist="38100" dir="5400000">
              <a:srgbClr val="000000">
                <a:alpha val="13000"/>
              </a:srgbClr>
            </a:outerShdw>
          </a:effectLst>
        </p:spPr>
      </p:sp>
      <p:sp>
        <p:nvSpPr>
          <p:cNvPr id="13" name="Text 10"/>
          <p:cNvSpPr/>
          <p:nvPr/>
        </p:nvSpPr>
        <p:spPr>
          <a:xfrm>
            <a:off x="6583680" y="4937760"/>
            <a:ext cx="4846320" cy="402336"/>
          </a:xfrm>
          <a:prstGeom prst="rect">
            <a:avLst/>
          </a:prstGeom>
          <a:noFill/>
          <a:ln/>
        </p:spPr>
        <p:txBody>
          <a:bodyPr wrap="square" lIns="0" tIns="0" rIns="0" bIns="0" rtlCol="0" anchor="ctr"/>
          <a:lstStyle/>
          <a:p>
            <a:pPr indent="0" marL="0">
              <a:buNone/>
            </a:pPr>
            <a:r>
              <a:rPr lang="en-US" sz="1700" b="1" dirty="0">
                <a:solidFill>
                  <a:srgbClr val="D9614C"/>
                </a:solidFill>
                <a:latin typeface="Calibri" pitchFamily="34" charset="0"/>
                <a:ea typeface="Calibri" pitchFamily="34" charset="-122"/>
                <a:cs typeface="Calibri" pitchFamily="34" charset="-120"/>
              </a:rPr>
              <a:t>Drop</a:t>
            </a:r>
            <a:endParaRPr lang="en-US" sz="1700" dirty="0"/>
          </a:p>
        </p:txBody>
      </p:sp>
      <p:sp>
        <p:nvSpPr>
          <p:cNvPr id="14" name="Text 11"/>
          <p:cNvSpPr/>
          <p:nvPr/>
        </p:nvSpPr>
        <p:spPr>
          <a:xfrm>
            <a:off x="6583680" y="5358384"/>
            <a:ext cx="4892040" cy="713232"/>
          </a:xfrm>
          <a:prstGeom prst="rect">
            <a:avLst/>
          </a:prstGeom>
          <a:noFill/>
          <a:ln/>
        </p:spPr>
        <p:txBody>
          <a:bodyPr wrap="square" lIns="0" tIns="0" rIns="0" bIns="0" rtlCol="0" anchor="t"/>
          <a:lstStyle/>
          <a:p>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Low value — drop it, however easy. Easy-but-pointless is still pointless.</a:t>
            </a:r>
            <a:endParaRPr lang="en-US" sz="1400" dirty="0"/>
          </a:p>
        </p:txBody>
      </p:sp>
      <p:sp>
        <p:nvSpPr>
          <p:cNvPr id="15" name="Text 12"/>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6" name="Text 13"/>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CANDIDATE A</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ClassClock — thin, but easy</a:t>
            </a:r>
            <a:endParaRPr lang="en-US" sz="3100" dirty="0"/>
          </a:p>
        </p:txBody>
      </p:sp>
      <p:sp>
        <p:nvSpPr>
          <p:cNvPr id="5" name="Shape 3"/>
          <p:cNvSpPr/>
          <p:nvPr/>
        </p:nvSpPr>
        <p:spPr>
          <a:xfrm>
            <a:off x="548640" y="173736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56816"/>
            <a:ext cx="512064" cy="51206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6937" y="2095073"/>
            <a:ext cx="235549" cy="235549"/>
          </a:xfrm>
          <a:prstGeom prst="rect">
            <a:avLst/>
          </a:prstGeom>
        </p:spPr>
      </p:pic>
      <p:sp>
        <p:nvSpPr>
          <p:cNvPr id="8" name="Text 5"/>
          <p:cNvSpPr/>
          <p:nvPr/>
        </p:nvSpPr>
        <p:spPr>
          <a:xfrm>
            <a:off x="1600200" y="1737360"/>
            <a:ext cx="9784080" cy="914400"/>
          </a:xfrm>
          <a:prstGeom prst="rect">
            <a:avLst/>
          </a:prstGeom>
          <a:noFill/>
          <a:ln/>
        </p:spPr>
        <p:txBody>
          <a:bodyPr wrap="square" lIns="0" tIns="0" rIns="0" bIns="0" rtlCol="0" anchor="ctr"/>
          <a:lstStyle/>
          <a:p>
            <a:pPr indent="0" marL="0">
              <a:lnSpc>
                <a:spcPct val="104000"/>
              </a:lnSpc>
              <a:buNone/>
            </a:pPr>
            <a:r>
              <a:rPr lang="en-US" sz="1650" dirty="0">
                <a:solidFill>
                  <a:srgbClr val="1E2A36"/>
                </a:solidFill>
                <a:latin typeface="Calibri" pitchFamily="34" charset="0"/>
                <a:ea typeface="Calibri" pitchFamily="34" charset="-122"/>
                <a:cs typeface="Calibri" pitchFamily="34" charset="-120"/>
              </a:rPr>
              <a:t>A browser extension that reads your class schedule and counts down to your next class.</a:t>
            </a:r>
            <a:endParaRPr lang="en-US" sz="1650" dirty="0"/>
          </a:p>
        </p:txBody>
      </p:sp>
      <p:sp>
        <p:nvSpPr>
          <p:cNvPr id="9" name="Shape 6"/>
          <p:cNvSpPr/>
          <p:nvPr/>
        </p:nvSpPr>
        <p:spPr>
          <a:xfrm>
            <a:off x="548640" y="2834640"/>
            <a:ext cx="3511296"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0" name="Text 7"/>
          <p:cNvSpPr/>
          <p:nvPr/>
        </p:nvSpPr>
        <p:spPr>
          <a:xfrm>
            <a:off x="804672"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Value</a:t>
            </a:r>
            <a:endParaRPr lang="en-US" sz="1400" dirty="0"/>
          </a:p>
        </p:txBody>
      </p:sp>
      <p:sp>
        <p:nvSpPr>
          <p:cNvPr id="11" name="Text 8"/>
          <p:cNvSpPr/>
          <p:nvPr/>
        </p:nvSpPr>
        <p:spPr>
          <a:xfrm>
            <a:off x="804672" y="3419856"/>
            <a:ext cx="2999232" cy="54864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LOW</a:t>
            </a:r>
            <a:endParaRPr lang="en-US" sz="2600" dirty="0"/>
          </a:p>
        </p:txBody>
      </p:sp>
      <p:sp>
        <p:nvSpPr>
          <p:cNvPr id="12" name="Text 9"/>
          <p:cNvSpPr/>
          <p:nvPr/>
        </p:nvSpPr>
        <p:spPr>
          <a:xfrm>
            <a:off x="804672"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Your phone calendar already does this. No unmet need.</a:t>
            </a:r>
            <a:endParaRPr lang="en-US" sz="1400" dirty="0"/>
          </a:p>
        </p:txBody>
      </p:sp>
      <p:sp>
        <p:nvSpPr>
          <p:cNvPr id="13" name="Shape 10"/>
          <p:cNvSpPr/>
          <p:nvPr/>
        </p:nvSpPr>
        <p:spPr>
          <a:xfrm>
            <a:off x="4233672" y="2834640"/>
            <a:ext cx="3511296" cy="2286000"/>
          </a:xfrm>
          <a:prstGeom prst="roundRect">
            <a:avLst>
              <a:gd name="adj" fmla="val 3600"/>
            </a:avLst>
          </a:prstGeom>
          <a:solidFill>
            <a:srgbClr val="EAF4EE"/>
          </a:solidFill>
          <a:ln/>
          <a:effectLst>
            <a:outerShdw sx="100000" sy="100000" kx="0" ky="0" algn="bl" rotWithShape="0" blurRad="88900" dist="38100" dir="5400000">
              <a:srgbClr val="000000">
                <a:alpha val="13000"/>
              </a:srgbClr>
            </a:outerShdw>
          </a:effectLst>
        </p:spPr>
      </p:sp>
      <p:sp>
        <p:nvSpPr>
          <p:cNvPr id="14" name="Text 11"/>
          <p:cNvSpPr/>
          <p:nvPr/>
        </p:nvSpPr>
        <p:spPr>
          <a:xfrm>
            <a:off x="4489704"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Do-ability</a:t>
            </a:r>
            <a:endParaRPr lang="en-US" sz="1400" dirty="0"/>
          </a:p>
        </p:txBody>
      </p:sp>
      <p:sp>
        <p:nvSpPr>
          <p:cNvPr id="15" name="Text 12"/>
          <p:cNvSpPr/>
          <p:nvPr/>
        </p:nvSpPr>
        <p:spPr>
          <a:xfrm>
            <a:off x="4489704" y="3419856"/>
            <a:ext cx="2999232" cy="548640"/>
          </a:xfrm>
          <a:prstGeom prst="rect">
            <a:avLst/>
          </a:prstGeom>
          <a:noFill/>
          <a:ln/>
        </p:spPr>
        <p:txBody>
          <a:bodyPr wrap="square" lIns="0" tIns="0" rIns="0" bIns="0" rtlCol="0" anchor="ctr"/>
          <a:lstStyle/>
          <a:p>
            <a:pPr indent="0" marL="0">
              <a:buNone/>
            </a:pPr>
            <a:r>
              <a:rPr lang="en-US" sz="2600" b="1" dirty="0">
                <a:solidFill>
                  <a:srgbClr val="3E9C6B"/>
                </a:solidFill>
                <a:latin typeface="Cambria" pitchFamily="34" charset="0"/>
                <a:ea typeface="Cambria" pitchFamily="34" charset="-122"/>
                <a:cs typeface="Cambria" pitchFamily="34" charset="-120"/>
              </a:rPr>
              <a:t>HIGH</a:t>
            </a:r>
            <a:endParaRPr lang="en-US" sz="2600" dirty="0"/>
          </a:p>
        </p:txBody>
      </p:sp>
      <p:sp>
        <p:nvSpPr>
          <p:cNvPr id="16" name="Text 13"/>
          <p:cNvSpPr/>
          <p:nvPr/>
        </p:nvSpPr>
        <p:spPr>
          <a:xfrm>
            <a:off x="4489704"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One data source, one screen — a weekend, ~200 lines.</a:t>
            </a:r>
            <a:endParaRPr lang="en-US" sz="1400" dirty="0"/>
          </a:p>
        </p:txBody>
      </p:sp>
      <p:sp>
        <p:nvSpPr>
          <p:cNvPr id="17" name="Shape 14"/>
          <p:cNvSpPr/>
          <p:nvPr/>
        </p:nvSpPr>
        <p:spPr>
          <a:xfrm>
            <a:off x="7918704" y="2834640"/>
            <a:ext cx="3511296" cy="2286000"/>
          </a:xfrm>
          <a:prstGeom prst="roundRect">
            <a:avLst>
              <a:gd name="adj" fmla="val 3600"/>
            </a:avLst>
          </a:prstGeom>
          <a:solidFill>
            <a:srgbClr val="FBECE8"/>
          </a:solidFill>
          <a:ln/>
          <a:effectLst>
            <a:outerShdw sx="100000" sy="100000" kx="0" ky="0" algn="bl" rotWithShape="0" blurRad="88900" dist="38100" dir="5400000">
              <a:srgbClr val="000000">
                <a:alpha val="13000"/>
              </a:srgbClr>
            </a:outerShdw>
          </a:effectLst>
        </p:spPr>
      </p:sp>
      <p:sp>
        <p:nvSpPr>
          <p:cNvPr id="18" name="Text 15"/>
          <p:cNvSpPr/>
          <p:nvPr/>
        </p:nvSpPr>
        <p:spPr>
          <a:xfrm>
            <a:off x="8174736" y="3035808"/>
            <a:ext cx="2999232" cy="402336"/>
          </a:xfrm>
          <a:prstGeom prst="rect">
            <a:avLst/>
          </a:prstGeom>
          <a:noFill/>
          <a:ln/>
        </p:spPr>
        <p:txBody>
          <a:bodyPr wrap="square" lIns="0" tIns="0" rIns="0" bIns="0" rtlCol="0" anchor="ctr"/>
          <a:lstStyle/>
          <a:p>
            <a:pPr indent="0" marL="0">
              <a:buNone/>
            </a:pPr>
            <a:r>
              <a:rPr lang="en-US" sz="1400" b="1" spc="100" kern="0" dirty="0">
                <a:solidFill>
                  <a:srgbClr val="5F7284"/>
                </a:solidFill>
                <a:latin typeface="Calibri" pitchFamily="34" charset="0"/>
                <a:ea typeface="Calibri" pitchFamily="34" charset="-122"/>
                <a:cs typeface="Calibri" pitchFamily="34" charset="-120"/>
              </a:rPr>
              <a:t>Richness</a:t>
            </a:r>
            <a:endParaRPr lang="en-US" sz="1400" dirty="0"/>
          </a:p>
        </p:txBody>
      </p:sp>
      <p:sp>
        <p:nvSpPr>
          <p:cNvPr id="19" name="Text 16"/>
          <p:cNvSpPr/>
          <p:nvPr/>
        </p:nvSpPr>
        <p:spPr>
          <a:xfrm>
            <a:off x="8174736" y="3419856"/>
            <a:ext cx="2999232" cy="548640"/>
          </a:xfrm>
          <a:prstGeom prst="rect">
            <a:avLst/>
          </a:prstGeom>
          <a:noFill/>
          <a:ln/>
        </p:spPr>
        <p:txBody>
          <a:bodyPr wrap="square" lIns="0" tIns="0" rIns="0" bIns="0" rtlCol="0" anchor="ctr"/>
          <a:lstStyle/>
          <a:p>
            <a:pPr indent="0" marL="0">
              <a:buNone/>
            </a:pPr>
            <a:r>
              <a:rPr lang="en-US" sz="2600" b="1" dirty="0">
                <a:solidFill>
                  <a:srgbClr val="D9614C"/>
                </a:solidFill>
                <a:latin typeface="Cambria" pitchFamily="34" charset="0"/>
                <a:ea typeface="Cambria" pitchFamily="34" charset="-122"/>
                <a:cs typeface="Cambria" pitchFamily="34" charset="-120"/>
              </a:rPr>
              <a:t>FAILS</a:t>
            </a:r>
            <a:endParaRPr lang="en-US" sz="2600" dirty="0"/>
          </a:p>
        </p:txBody>
      </p:sp>
      <p:sp>
        <p:nvSpPr>
          <p:cNvPr id="20" name="Text 17"/>
          <p:cNvSpPr/>
          <p:nvPr/>
        </p:nvSpPr>
        <p:spPr>
          <a:xfrm>
            <a:off x="8174736" y="4041648"/>
            <a:ext cx="2999232" cy="960120"/>
          </a:xfrm>
          <a:prstGeom prst="rect">
            <a:avLst/>
          </a:prstGeom>
          <a:noFill/>
          <a:ln/>
        </p:spPr>
        <p:txBody>
          <a:bodyPr wrap="square" lIns="0" tIns="0" rIns="0" bIns="0" rtlCol="0" anchor="t"/>
          <a:lstStyle/>
          <a:p>
            <a:pPr indent="0" marL="0">
              <a:lnSpc>
                <a:spcPct val="106000"/>
              </a:lnSpc>
              <a:buNone/>
            </a:pPr>
            <a:r>
              <a:rPr lang="en-US" sz="1400" dirty="0">
                <a:solidFill>
                  <a:srgbClr val="1E2A36"/>
                </a:solidFill>
                <a:latin typeface="Calibri" pitchFamily="34" charset="0"/>
                <a:ea typeface="Calibri" pitchFamily="34" charset="-122"/>
                <a:cs typeface="Calibri" pitchFamily="34" charset="-120"/>
              </a:rPr>
              <a:t>One component. Finish it and there's nothing left to found.</a:t>
            </a:r>
            <a:endParaRPr lang="en-US" sz="1400" dirty="0"/>
          </a:p>
        </p:txBody>
      </p:sp>
      <p:sp>
        <p:nvSpPr>
          <p:cNvPr id="21" name="Shape 18"/>
          <p:cNvSpPr/>
          <p:nvPr/>
        </p:nvSpPr>
        <p:spPr>
          <a:xfrm>
            <a:off x="548640" y="5349240"/>
            <a:ext cx="11064240" cy="822960"/>
          </a:xfrm>
          <a:prstGeom prst="roundRect">
            <a:avLst>
              <a:gd name="adj" fmla="val 10000"/>
            </a:avLst>
          </a:prstGeom>
          <a:solidFill>
            <a:srgbClr val="14233A"/>
          </a:solidFill>
          <a:ln/>
          <a:effectLst>
            <a:outerShdw sx="100000" sy="100000" kx="0" ky="0" algn="bl" rotWithShape="0" blurRad="88900" dist="38100" dir="5400000">
              <a:srgbClr val="000000">
                <a:alpha val="13000"/>
              </a:srgbClr>
            </a:outerShdw>
          </a:effectLst>
        </p:spPr>
      </p:sp>
      <p:sp>
        <p:nvSpPr>
          <p:cNvPr id="22" name="Shape 19"/>
          <p:cNvSpPr/>
          <p:nvPr/>
        </p:nvSpPr>
        <p:spPr>
          <a:xfrm>
            <a:off x="841248" y="5550408"/>
            <a:ext cx="438912" cy="438912"/>
          </a:xfrm>
          <a:prstGeom prst="ellipse">
            <a:avLst/>
          </a:prstGeom>
          <a:solidFill>
            <a:srgbClr val="E8A33D"/>
          </a:solidFill>
          <a:ln/>
        </p:spPr>
      </p:sp>
      <p:pic>
        <p:nvPicPr>
          <p:cNvPr id="23" name="Image 1" descr="preencoded.png">    </p:cNvPr>
          <p:cNvPicPr>
            <a:picLocks noChangeAspect="1"/>
          </p:cNvPicPr>
          <p:nvPr/>
        </p:nvPicPr>
        <p:blipFill>
          <a:blip r:embed="rId2"/>
          <a:stretch>
            <a:fillRect/>
          </a:stretch>
        </p:blipFill>
        <p:spPr>
          <a:xfrm>
            <a:off x="959754" y="5668914"/>
            <a:ext cx="201900" cy="201900"/>
          </a:xfrm>
          <a:prstGeom prst="rect">
            <a:avLst/>
          </a:prstGeom>
        </p:spPr>
      </p:pic>
      <p:sp>
        <p:nvSpPr>
          <p:cNvPr id="24" name="Text 20"/>
          <p:cNvSpPr/>
          <p:nvPr/>
        </p:nvSpPr>
        <p:spPr>
          <a:xfrm>
            <a:off x="1444752" y="5349240"/>
            <a:ext cx="9966960" cy="822960"/>
          </a:xfrm>
          <a:prstGeom prst="rect">
            <a:avLst/>
          </a:prstGeom>
          <a:noFill/>
          <a:ln/>
        </p:spPr>
        <p:txBody>
          <a:bodyPr wrap="square" lIns="0" tIns="0" rIns="0" bIns="0"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Plots bottom-right — high do-ability, low value.  </a:t>
            </a:r>
            <a:pPr indent="0" marL="0">
              <a:buNone/>
            </a:pPr>
            <a:r>
              <a:rPr lang="en-US" sz="1550" dirty="0">
                <a:solidFill>
                  <a:srgbClr val="FFFFFF"/>
                </a:solidFill>
                <a:latin typeface="Calibri" pitchFamily="34" charset="0"/>
                <a:ea typeface="Calibri" pitchFamily="34" charset="-122"/>
                <a:cs typeface="Calibri" pitchFamily="34" charset="-120"/>
              </a:rPr>
              <a:t>Easy is not a reason. Drop it.</a:t>
            </a:r>
            <a:endParaRPr lang="en-US" sz="1550" dirty="0"/>
          </a:p>
        </p:txBody>
      </p:sp>
      <p:sp>
        <p:nvSpPr>
          <p:cNvPr id="25"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6"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CANDIDATE B</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CrowdDefense — rich, but scary</a:t>
            </a:r>
            <a:endParaRPr lang="en-US" sz="3100" dirty="0"/>
          </a:p>
        </p:txBody>
      </p:sp>
      <p:sp>
        <p:nvSpPr>
          <p:cNvPr id="5" name="Shape 3"/>
          <p:cNvSpPr/>
          <p:nvPr/>
        </p:nvSpPr>
        <p:spPr>
          <a:xfrm>
            <a:off x="548640" y="1664208"/>
            <a:ext cx="11064240" cy="841248"/>
          </a:xfrm>
          <a:prstGeom prst="roundRect">
            <a:avLst>
              <a:gd name="adj" fmla="val 9783"/>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847088"/>
            <a:ext cx="493776" cy="493776"/>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02000" y="1980408"/>
            <a:ext cx="227137" cy="227137"/>
          </a:xfrm>
          <a:prstGeom prst="rect">
            <a:avLst/>
          </a:prstGeom>
        </p:spPr>
      </p:pic>
      <p:sp>
        <p:nvSpPr>
          <p:cNvPr id="8" name="Text 5"/>
          <p:cNvSpPr/>
          <p:nvPr/>
        </p:nvSpPr>
        <p:spPr>
          <a:xfrm>
            <a:off x="1572768" y="1664208"/>
            <a:ext cx="9829800" cy="841248"/>
          </a:xfrm>
          <a:prstGeom prst="rect">
            <a:avLst/>
          </a:prstGeom>
          <a:noFill/>
          <a:ln/>
        </p:spPr>
        <p:txBody>
          <a:bodyPr wrap="square" lIns="0" tIns="0" rIns="0" bIns="0" rtlCol="0" anchor="ctr"/>
          <a:lstStyle/>
          <a:p>
            <a:pPr indent="0" marL="0">
              <a:lnSpc>
                <a:spcPct val="104000"/>
              </a:lnSpc>
              <a:buNone/>
            </a:pPr>
            <a:r>
              <a:rPr lang="en-US" sz="1500" dirty="0">
                <a:solidFill>
                  <a:srgbClr val="1E2A36"/>
                </a:solidFill>
                <a:latin typeface="Calibri" pitchFamily="34" charset="0"/>
                <a:ea typeface="Calibri" pitchFamily="34" charset="-122"/>
                <a:cs typeface="Calibri" pitchFamily="34" charset="-120"/>
              </a:rPr>
              <a:t>A platform that invites the world to help defend someone facing a serious legal problem — pooling volunteer expertise, research, funding, and documents around their case.</a:t>
            </a:r>
            <a:endParaRPr lang="en-US" sz="1500" dirty="0"/>
          </a:p>
        </p:txBody>
      </p:sp>
      <p:sp>
        <p:nvSpPr>
          <p:cNvPr id="9" name="Shape 6"/>
          <p:cNvSpPr/>
          <p:nvPr/>
        </p:nvSpPr>
        <p:spPr>
          <a:xfrm>
            <a:off x="548640" y="2670048"/>
            <a:ext cx="11064240" cy="1874520"/>
          </a:xfrm>
          <a:prstGeom prst="roundRect">
            <a:avLst>
              <a:gd name="adj" fmla="val 4390"/>
            </a:avLst>
          </a:prstGeom>
          <a:solidFill>
            <a:srgbClr val="F2F6F8"/>
          </a:solidFill>
          <a:ln/>
          <a:effectLst>
            <a:outerShdw sx="100000" sy="100000" kx="0" ky="0" algn="bl" rotWithShape="0" blurRad="88900" dist="38100" dir="5400000">
              <a:srgbClr val="000000">
                <a:alpha val="13000"/>
              </a:srgbClr>
            </a:outerShdw>
          </a:effectLst>
        </p:spPr>
      </p:sp>
      <p:sp>
        <p:nvSpPr>
          <p:cNvPr id="10" name="Text 7"/>
          <p:cNvSpPr/>
          <p:nvPr/>
        </p:nvSpPr>
        <p:spPr>
          <a:xfrm>
            <a:off x="822960" y="2779776"/>
            <a:ext cx="10515600" cy="365760"/>
          </a:xfrm>
          <a:prstGeom prst="rect">
            <a:avLst/>
          </a:prstGeom>
          <a:noFill/>
          <a:ln/>
        </p:spPr>
        <p:txBody>
          <a:bodyPr wrap="square" lIns="0" tIns="0" rIns="0" bIns="0" rtlCol="0" anchor="ctr"/>
          <a:lstStyle/>
          <a:p>
            <a:pPr indent="0" marL="0">
              <a:buNone/>
            </a:pPr>
            <a:r>
              <a:rPr lang="en-US" sz="1550" b="1" dirty="0">
                <a:solidFill>
                  <a:srgbClr val="1E2A36"/>
                </a:solidFill>
                <a:latin typeface="Calibri" pitchFamily="34" charset="0"/>
                <a:ea typeface="Calibri" pitchFamily="34" charset="-122"/>
                <a:cs typeface="Calibri" pitchFamily="34" charset="-120"/>
              </a:rPr>
              <a:t>What it would take to build:</a:t>
            </a:r>
            <a:endParaRPr lang="en-US" sz="1550" dirty="0"/>
          </a:p>
        </p:txBody>
      </p:sp>
      <p:sp>
        <p:nvSpPr>
          <p:cNvPr id="11" name="Text 8"/>
          <p:cNvSpPr/>
          <p:nvPr/>
        </p:nvSpPr>
        <p:spPr>
          <a:xfrm>
            <a:off x="914400" y="3200400"/>
            <a:ext cx="5120640" cy="128016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Structured case intake &amp; representation</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AI-assisted legal research &amp; guidance</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Crowd-sourced pro-bono research</a:t>
            </a:r>
            <a:endParaRPr lang="en-US" sz="1450" dirty="0"/>
          </a:p>
        </p:txBody>
      </p:sp>
      <p:sp>
        <p:nvSpPr>
          <p:cNvPr id="12" name="Text 9"/>
          <p:cNvSpPr/>
          <p:nvPr/>
        </p:nvSpPr>
        <p:spPr>
          <a:xfrm>
            <a:off x="6309360" y="3200400"/>
            <a:ext cx="5212080" cy="128016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Crowd funding &amp; payments</a:t>
            </a:r>
            <a:endParaRPr lang="en-US" sz="1450" dirty="0"/>
          </a:p>
          <a:p>
            <a:pPr marL="177800" indent="-177800">
              <a:spcAft>
                <a:spcPts val="600"/>
              </a:spcAft>
              <a:buSzPct val="100000"/>
              <a:buChar char="•"/>
            </a:pPr>
            <a:r>
              <a:rPr lang="en-US" sz="1450" dirty="0">
                <a:solidFill>
                  <a:srgbClr val="1E2A36"/>
                </a:solidFill>
                <a:latin typeface="Calibri" pitchFamily="34" charset="0"/>
                <a:ea typeface="Calibri" pitchFamily="34" charset="-122"/>
                <a:cs typeface="Calibri" pitchFamily="34" charset="-120"/>
              </a:rPr>
              <a:t>Case document management</a:t>
            </a:r>
            <a:endParaRPr lang="en-US" sz="1450" dirty="0"/>
          </a:p>
          <a:p>
            <a:pPr marL="177800" indent="-177800">
              <a:buSzPct val="100000"/>
              <a:buChar char="•"/>
            </a:pPr>
            <a:r>
              <a:rPr lang="en-US" sz="1450" dirty="0">
                <a:solidFill>
                  <a:srgbClr val="1E2A36"/>
                </a:solidFill>
                <a:latin typeface="Calibri" pitchFamily="34" charset="0"/>
                <a:ea typeface="Calibri" pitchFamily="34" charset="-122"/>
                <a:cs typeface="Calibri" pitchFamily="34" charset="-120"/>
              </a:rPr>
              <a:t>Court-system integration (filings, data)</a:t>
            </a:r>
            <a:endParaRPr lang="en-US" sz="1450" dirty="0"/>
          </a:p>
        </p:txBody>
      </p:sp>
      <p:sp>
        <p:nvSpPr>
          <p:cNvPr id="13" name="Text 10"/>
          <p:cNvSpPr/>
          <p:nvPr/>
        </p:nvSpPr>
        <p:spPr>
          <a:xfrm>
            <a:off x="914400" y="4160520"/>
            <a:ext cx="10424160" cy="365760"/>
          </a:xfrm>
          <a:prstGeom prst="rect">
            <a:avLst/>
          </a:prstGeom>
          <a:noFill/>
          <a:ln/>
        </p:spPr>
        <p:txBody>
          <a:bodyPr wrap="square" lIns="0" tIns="0" rIns="0" bIns="0" rtlCol="0" anchor="ctr"/>
          <a:lstStyle/>
          <a:p>
            <a:pPr indent="0" marL="0">
              <a:buNone/>
            </a:pPr>
            <a:r>
              <a:rPr lang="en-US" sz="1300" i="1" dirty="0">
                <a:solidFill>
                  <a:srgbClr val="5F7284"/>
                </a:solidFill>
                <a:latin typeface="Calibri" pitchFamily="34" charset="0"/>
                <a:ea typeface="Calibri" pitchFamily="34" charset="-122"/>
                <a:cs typeface="Calibri" pitchFamily="34" charset="-120"/>
              </a:rPr>
              <a:t>— on top of a data platform, services, UX, and legal / accessibility compliance. Every one is a project on its own.</a:t>
            </a:r>
            <a:endParaRPr lang="en-US" sz="1300" dirty="0"/>
          </a:p>
        </p:txBody>
      </p:sp>
      <p:sp>
        <p:nvSpPr>
          <p:cNvPr id="14" name="Shape 11"/>
          <p:cNvSpPr/>
          <p:nvPr/>
        </p:nvSpPr>
        <p:spPr>
          <a:xfrm>
            <a:off x="548640"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5" name="Text 12"/>
          <p:cNvSpPr/>
          <p:nvPr/>
        </p:nvSpPr>
        <p:spPr>
          <a:xfrm>
            <a:off x="768096"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Value:</a:t>
            </a:r>
            <a:endParaRPr lang="en-US" sz="1450" dirty="0"/>
          </a:p>
        </p:txBody>
      </p:sp>
      <p:sp>
        <p:nvSpPr>
          <p:cNvPr id="16" name="Text 13"/>
          <p:cNvSpPr/>
          <p:nvPr/>
        </p:nvSpPr>
        <p:spPr>
          <a:xfrm>
            <a:off x="2103120" y="4681728"/>
            <a:ext cx="1773936" cy="749808"/>
          </a:xfrm>
          <a:prstGeom prst="rect">
            <a:avLst/>
          </a:prstGeom>
          <a:noFill/>
          <a:ln/>
        </p:spPr>
        <p:txBody>
          <a:bodyPr wrap="square" lIns="0" tIns="0" rIns="0" bIns="0" rtlCol="0" anchor="ctr"/>
          <a:lstStyle/>
          <a:p>
            <a:pPr algn="r" indent="0" marL="0">
              <a:buNone/>
            </a:pPr>
            <a:r>
              <a:rPr lang="en-US" sz="2000" b="1" dirty="0">
                <a:solidFill>
                  <a:srgbClr val="3E9C6B"/>
                </a:solidFill>
                <a:latin typeface="Cambria" pitchFamily="34" charset="0"/>
                <a:ea typeface="Cambria" pitchFamily="34" charset="-122"/>
                <a:cs typeface="Cambria" pitchFamily="34" charset="-120"/>
              </a:rPr>
              <a:t>HIGH</a:t>
            </a:r>
            <a:endParaRPr lang="en-US" sz="2000" dirty="0"/>
          </a:p>
        </p:txBody>
      </p:sp>
      <p:sp>
        <p:nvSpPr>
          <p:cNvPr id="17" name="Shape 14"/>
          <p:cNvSpPr/>
          <p:nvPr/>
        </p:nvSpPr>
        <p:spPr>
          <a:xfrm>
            <a:off x="4233672"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18" name="Text 15"/>
          <p:cNvSpPr/>
          <p:nvPr/>
        </p:nvSpPr>
        <p:spPr>
          <a:xfrm>
            <a:off x="4453128"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Do-ability:</a:t>
            </a:r>
            <a:endParaRPr lang="en-US" sz="1450" dirty="0"/>
          </a:p>
        </p:txBody>
      </p:sp>
      <p:sp>
        <p:nvSpPr>
          <p:cNvPr id="19" name="Text 16"/>
          <p:cNvSpPr/>
          <p:nvPr/>
        </p:nvSpPr>
        <p:spPr>
          <a:xfrm>
            <a:off x="5788152" y="4681728"/>
            <a:ext cx="1773936" cy="749808"/>
          </a:xfrm>
          <a:prstGeom prst="rect">
            <a:avLst/>
          </a:prstGeom>
          <a:noFill/>
          <a:ln/>
        </p:spPr>
        <p:txBody>
          <a:bodyPr wrap="square" lIns="0" tIns="0" rIns="0" bIns="0" rtlCol="0" anchor="ctr"/>
          <a:lstStyle/>
          <a:p>
            <a:pPr algn="r" indent="0" marL="0">
              <a:buNone/>
            </a:pPr>
            <a:r>
              <a:rPr lang="en-US" sz="2000" b="1" dirty="0">
                <a:solidFill>
                  <a:srgbClr val="D9614C"/>
                </a:solidFill>
                <a:latin typeface="Cambria" pitchFamily="34" charset="0"/>
                <a:ea typeface="Cambria" pitchFamily="34" charset="-122"/>
                <a:cs typeface="Cambria" pitchFamily="34" charset="-120"/>
              </a:rPr>
              <a:t>LOW</a:t>
            </a:r>
            <a:endParaRPr lang="en-US" sz="2000" dirty="0"/>
          </a:p>
        </p:txBody>
      </p:sp>
      <p:sp>
        <p:nvSpPr>
          <p:cNvPr id="20" name="Shape 17"/>
          <p:cNvSpPr/>
          <p:nvPr/>
        </p:nvSpPr>
        <p:spPr>
          <a:xfrm>
            <a:off x="7918704" y="4681728"/>
            <a:ext cx="3511296" cy="749808"/>
          </a:xfrm>
          <a:prstGeom prst="roundRect">
            <a:avLst>
              <a:gd name="adj" fmla="val 10976"/>
            </a:avLst>
          </a:prstGeom>
          <a:solidFill>
            <a:srgbClr val="F2F6F8"/>
          </a:solidFill>
          <a:ln/>
          <a:effectLst>
            <a:outerShdw sx="100000" sy="100000" kx="0" ky="0" algn="bl" rotWithShape="0" blurRad="88900" dist="38100" dir="5400000">
              <a:srgbClr val="000000">
                <a:alpha val="13000"/>
              </a:srgbClr>
            </a:outerShdw>
          </a:effectLst>
        </p:spPr>
      </p:sp>
      <p:sp>
        <p:nvSpPr>
          <p:cNvPr id="21" name="Text 18"/>
          <p:cNvSpPr/>
          <p:nvPr/>
        </p:nvSpPr>
        <p:spPr>
          <a:xfrm>
            <a:off x="8138160" y="4681728"/>
            <a:ext cx="1554480" cy="749808"/>
          </a:xfrm>
          <a:prstGeom prst="rect">
            <a:avLst/>
          </a:prstGeom>
          <a:noFill/>
          <a:ln/>
        </p:spPr>
        <p:txBody>
          <a:bodyPr wrap="square" lIns="0" tIns="0" rIns="0" bIns="0" rtlCol="0" anchor="ctr"/>
          <a:lstStyle/>
          <a:p>
            <a:pPr indent="0" marL="0">
              <a:buNone/>
            </a:pPr>
            <a:r>
              <a:rPr lang="en-US" sz="1450" b="1" dirty="0">
                <a:solidFill>
                  <a:srgbClr val="5F7284"/>
                </a:solidFill>
                <a:latin typeface="Calibri" pitchFamily="34" charset="0"/>
                <a:ea typeface="Calibri" pitchFamily="34" charset="-122"/>
                <a:cs typeface="Calibri" pitchFamily="34" charset="-120"/>
              </a:rPr>
              <a:t>Richness:</a:t>
            </a:r>
            <a:endParaRPr lang="en-US" sz="1450" dirty="0"/>
          </a:p>
        </p:txBody>
      </p:sp>
      <p:sp>
        <p:nvSpPr>
          <p:cNvPr id="22" name="Text 19"/>
          <p:cNvSpPr/>
          <p:nvPr/>
        </p:nvSpPr>
        <p:spPr>
          <a:xfrm>
            <a:off x="9473184" y="4681728"/>
            <a:ext cx="1773936" cy="749808"/>
          </a:xfrm>
          <a:prstGeom prst="rect">
            <a:avLst/>
          </a:prstGeom>
          <a:noFill/>
          <a:ln/>
        </p:spPr>
        <p:txBody>
          <a:bodyPr wrap="square" lIns="0" tIns="0" rIns="0" bIns="0" rtlCol="0" anchor="ctr"/>
          <a:lstStyle/>
          <a:p>
            <a:pPr algn="r" indent="0" marL="0">
              <a:buNone/>
            </a:pPr>
            <a:r>
              <a:rPr lang="en-US" sz="2000" b="1" dirty="0">
                <a:solidFill>
                  <a:srgbClr val="12908F"/>
                </a:solidFill>
                <a:latin typeface="Cambria" pitchFamily="34" charset="0"/>
                <a:ea typeface="Cambria" pitchFamily="34" charset="-122"/>
                <a:cs typeface="Cambria" pitchFamily="34" charset="-120"/>
              </a:rPr>
              <a:t>VERY HIGH</a:t>
            </a:r>
            <a:endParaRPr lang="en-US" sz="2000" dirty="0"/>
          </a:p>
        </p:txBody>
      </p:sp>
      <p:sp>
        <p:nvSpPr>
          <p:cNvPr id="23" name="Shape 20"/>
          <p:cNvSpPr/>
          <p:nvPr/>
        </p:nvSpPr>
        <p:spPr>
          <a:xfrm>
            <a:off x="548640" y="5541264"/>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24" name="Shape 21"/>
          <p:cNvSpPr/>
          <p:nvPr/>
        </p:nvSpPr>
        <p:spPr>
          <a:xfrm>
            <a:off x="822960" y="5660136"/>
            <a:ext cx="420624" cy="420624"/>
          </a:xfrm>
          <a:prstGeom prst="ellipse">
            <a:avLst/>
          </a:prstGeom>
          <a:solidFill>
            <a:srgbClr val="E8A33D"/>
          </a:solidFill>
          <a:ln/>
        </p:spPr>
      </p:sp>
      <p:pic>
        <p:nvPicPr>
          <p:cNvPr id="25" name="Image 1" descr="preencoded.png">    </p:cNvPr>
          <p:cNvPicPr>
            <a:picLocks noChangeAspect="1"/>
          </p:cNvPicPr>
          <p:nvPr/>
        </p:nvPicPr>
        <p:blipFill>
          <a:blip r:embed="rId2"/>
          <a:stretch>
            <a:fillRect/>
          </a:stretch>
        </p:blipFill>
        <p:spPr>
          <a:xfrm>
            <a:off x="936528" y="5773704"/>
            <a:ext cx="193487" cy="193487"/>
          </a:xfrm>
          <a:prstGeom prst="rect">
            <a:avLst/>
          </a:prstGeom>
        </p:spPr>
      </p:pic>
      <p:sp>
        <p:nvSpPr>
          <p:cNvPr id="26" name="Text 22"/>
          <p:cNvSpPr/>
          <p:nvPr/>
        </p:nvSpPr>
        <p:spPr>
          <a:xfrm>
            <a:off x="1417320" y="5541264"/>
            <a:ext cx="9966960" cy="658368"/>
          </a:xfrm>
          <a:prstGeom prst="rect">
            <a:avLst/>
          </a:prstGeom>
          <a:noFill/>
          <a:ln/>
        </p:spPr>
        <p:txBody>
          <a:bodyPr wrap="square" lIns="0" tIns="0" rIns="0" bIns="0"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Plots top-left — high value, low do-ability.  </a:t>
            </a:r>
            <a:pPr indent="0" marL="0">
              <a:buNone/>
            </a:pPr>
            <a:r>
              <a:rPr lang="en-US" sz="1550" dirty="0">
                <a:solidFill>
                  <a:srgbClr val="FFFFFF"/>
                </a:solidFill>
                <a:latin typeface="Calibri" pitchFamily="34" charset="0"/>
                <a:ea typeface="Calibri" pitchFamily="34" charset="-122"/>
                <a:cs typeface="Calibri" pitchFamily="34" charset="-120"/>
              </a:rPr>
              <a:t>Don't drop it. Narrow it.</a:t>
            </a:r>
            <a:endParaRPr lang="en-US" sz="1550" dirty="0"/>
          </a:p>
        </p:txBody>
      </p:sp>
      <p:sp>
        <p:nvSpPr>
          <p:cNvPr id="27" name="Text 2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8" name="Text 2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CALIBRATION · THE MOVE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Narrow the rich idea to a slice you can ship</a:t>
            </a:r>
            <a:endParaRPr lang="en-US" sz="3100" dirty="0"/>
          </a:p>
        </p:txBody>
      </p:sp>
      <p:sp>
        <p:nvSpPr>
          <p:cNvPr id="5" name="Shape 3"/>
          <p:cNvSpPr/>
          <p:nvPr/>
        </p:nvSpPr>
        <p:spPr>
          <a:xfrm>
            <a:off x="548640" y="1810512"/>
            <a:ext cx="5440680" cy="3429000"/>
          </a:xfrm>
          <a:prstGeom prst="roundRect">
            <a:avLst>
              <a:gd name="adj" fmla="val 2400"/>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084832"/>
            <a:ext cx="566928" cy="56692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6031" y="2237903"/>
            <a:ext cx="260787" cy="260787"/>
          </a:xfrm>
          <a:prstGeom prst="rect">
            <a:avLst/>
          </a:prstGeom>
        </p:spPr>
      </p:pic>
      <p:sp>
        <p:nvSpPr>
          <p:cNvPr id="8" name="Text 5"/>
          <p:cNvSpPr/>
          <p:nvPr/>
        </p:nvSpPr>
        <p:spPr>
          <a:xfrm>
            <a:off x="1517904" y="2121408"/>
            <a:ext cx="4297680" cy="502920"/>
          </a:xfrm>
          <a:prstGeom prst="rect">
            <a:avLst/>
          </a:prstGeom>
          <a:noFill/>
          <a:ln/>
        </p:spPr>
        <p:txBody>
          <a:bodyPr wrap="square" lIns="0" tIns="0" rIns="0" bIns="0" rtlCol="0" anchor="ctr"/>
          <a:lstStyle/>
          <a:p>
            <a:pPr indent="0" marL="0">
              <a:buNone/>
            </a:pPr>
            <a:r>
              <a:rPr lang="en-US" sz="1800" b="1" dirty="0">
                <a:solidFill>
                  <a:srgbClr val="1E2A36"/>
                </a:solidFill>
                <a:latin typeface="Calibri" pitchFamily="34" charset="0"/>
                <a:ea typeface="Calibri" pitchFamily="34" charset="-122"/>
                <a:cs typeface="Calibri" pitchFamily="34" charset="-120"/>
              </a:rPr>
              <a:t>The v1 slice — one semester</a:t>
            </a:r>
            <a:endParaRPr lang="en-US" sz="1800" dirty="0"/>
          </a:p>
        </p:txBody>
      </p:sp>
      <p:sp>
        <p:nvSpPr>
          <p:cNvPr id="9" name="Text 6"/>
          <p:cNvSpPr/>
          <p:nvPr/>
        </p:nvSpPr>
        <p:spPr>
          <a:xfrm>
            <a:off x="896112" y="2880360"/>
            <a:ext cx="4892040" cy="2194560"/>
          </a:xfrm>
          <a:prstGeom prst="rect">
            <a:avLst/>
          </a:prstGeom>
          <a:noFill/>
          <a:ln/>
        </p:spPr>
        <p:txBody>
          <a:bodyPr wrap="square" lIns="0" tIns="0" rIns="0" bIns="0" rtlCol="0" anchor="t"/>
          <a:lstStyle/>
          <a:p>
            <a:pPr indent="0" marL="0">
              <a:lnSpc>
                <a:spcPct val="108000"/>
              </a:lnSpc>
              <a:buNone/>
            </a:pPr>
            <a:r>
              <a:rPr lang="en-US" sz="1550" dirty="0">
                <a:solidFill>
                  <a:srgbClr val="1E2A36"/>
                </a:solidFill>
                <a:latin typeface="Calibri" pitchFamily="34" charset="0"/>
                <a:ea typeface="Calibri" pitchFamily="34" charset="-122"/>
                <a:cs typeface="Calibri" pitchFamily="34" charset="-120"/>
              </a:rPr>
              <a:t>A structured intake + document-assembly tool for one low-stakes case type (small-claims self-filing), with a queue where a volunteer reviews a submission.</a:t>
            </a:r>
            <a:endParaRPr lang="en-US" sz="1550" dirty="0"/>
          </a:p>
        </p:txBody>
      </p:sp>
      <p:sp>
        <p:nvSpPr>
          <p:cNvPr id="10" name="Shape 7"/>
          <p:cNvSpPr/>
          <p:nvPr/>
        </p:nvSpPr>
        <p:spPr>
          <a:xfrm>
            <a:off x="6172200" y="1810512"/>
            <a:ext cx="5440680" cy="3429000"/>
          </a:xfrm>
          <a:prstGeom prst="roundRect">
            <a:avLst>
              <a:gd name="adj" fmla="val 2400"/>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084832"/>
            <a:ext cx="566928" cy="566928"/>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599591" y="2237903"/>
            <a:ext cx="260787" cy="260787"/>
          </a:xfrm>
          <a:prstGeom prst="rect">
            <a:avLst/>
          </a:prstGeom>
        </p:spPr>
      </p:pic>
      <p:sp>
        <p:nvSpPr>
          <p:cNvPr id="13" name="Text 9"/>
          <p:cNvSpPr/>
          <p:nvPr/>
        </p:nvSpPr>
        <p:spPr>
          <a:xfrm>
            <a:off x="7141464" y="2121408"/>
            <a:ext cx="429768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Deferred → contributor work</a:t>
            </a:r>
            <a:endParaRPr lang="en-US" sz="1800" dirty="0"/>
          </a:p>
        </p:txBody>
      </p:sp>
      <p:sp>
        <p:nvSpPr>
          <p:cNvPr id="14" name="Text 10"/>
          <p:cNvSpPr/>
          <p:nvPr/>
        </p:nvSpPr>
        <p:spPr>
          <a:xfrm>
            <a:off x="6519672" y="2880360"/>
            <a:ext cx="4892040" cy="2194560"/>
          </a:xfrm>
          <a:prstGeom prst="rect">
            <a:avLst/>
          </a:prstGeom>
          <a:noFill/>
          <a:ln/>
        </p:spPr>
        <p:txBody>
          <a:bodyPr wrap="square" lIns="0" tIns="0" rIns="0" bIns="0" rtlCol="0" anchor="t"/>
          <a:lstStyle/>
          <a:p>
            <a:pPr indent="0" marL="0">
              <a:lnSpc>
                <a:spcPct val="108000"/>
              </a:lnSpc>
              <a:buNone/>
            </a:pPr>
            <a:r>
              <a:rPr lang="en-US" sz="1550" dirty="0">
                <a:solidFill>
                  <a:srgbClr val="CFE0E9"/>
                </a:solidFill>
                <a:latin typeface="Calibri" pitchFamily="34" charset="0"/>
                <a:ea typeface="Calibri" pitchFamily="34" charset="-122"/>
                <a:cs typeface="Calibri" pitchFamily="34" charset="-120"/>
              </a:rPr>
              <a:t>AI guidance · crowd funding · more case types · court integration — the obvious, valuable next work you leave for the people who join.</a:t>
            </a:r>
            <a:endParaRPr lang="en-US" sz="1550" dirty="0"/>
          </a:p>
        </p:txBody>
      </p:sp>
      <p:sp>
        <p:nvSpPr>
          <p:cNvPr id="15" name="Shape 11"/>
          <p:cNvSpPr/>
          <p:nvPr/>
        </p:nvSpPr>
        <p:spPr>
          <a:xfrm>
            <a:off x="548640" y="5394960"/>
            <a:ext cx="11064240" cy="786384"/>
          </a:xfrm>
          <a:prstGeom prst="roundRect">
            <a:avLst>
              <a:gd name="adj" fmla="val 10465"/>
            </a:avLst>
          </a:prstGeom>
          <a:solidFill>
            <a:srgbClr val="E8A33D"/>
          </a:solidFill>
          <a:ln/>
          <a:effectLst>
            <a:outerShdw sx="100000" sy="100000" kx="0" ky="0" algn="bl" rotWithShape="0" blurRad="88900" dist="38100" dir="5400000">
              <a:srgbClr val="000000">
                <a:alpha val="13000"/>
              </a:srgbClr>
            </a:outerShdw>
          </a:effectLst>
        </p:spPr>
      </p:sp>
      <p:sp>
        <p:nvSpPr>
          <p:cNvPr id="16" name="Text 12"/>
          <p:cNvSpPr/>
          <p:nvPr/>
        </p:nvSpPr>
        <p:spPr>
          <a:xfrm>
            <a:off x="822960" y="5394960"/>
            <a:ext cx="10515600" cy="786384"/>
          </a:xfrm>
          <a:prstGeom prst="rect">
            <a:avLst/>
          </a:prstGeom>
          <a:noFill/>
          <a:ln/>
        </p:spPr>
        <p:txBody>
          <a:bodyPr wrap="square" lIns="0" tIns="0" rIns="0" bIns="0" rtlCol="0" anchor="ctr"/>
          <a:lstStyle/>
          <a:p>
            <a:pPr algn="ctr" indent="0" marL="0">
              <a:buNone/>
            </a:pPr>
            <a:r>
              <a:rPr lang="en-US" sz="1550" b="1" dirty="0">
                <a:solidFill>
                  <a:srgbClr val="14233A"/>
                </a:solidFill>
                <a:latin typeface="Calibri" pitchFamily="34" charset="0"/>
                <a:ea typeface="Calibri" pitchFamily="34" charset="-122"/>
                <a:cs typeface="Calibri" pitchFamily="34" charset="-120"/>
              </a:rPr>
              <a:t>That's the sweet spot:  </a:t>
            </a:r>
            <a:pPr algn="ctr" indent="0" marL="0">
              <a:buNone/>
            </a:pPr>
            <a:r>
              <a:rPr lang="en-US" sz="1550" dirty="0">
                <a:solidFill>
                  <a:srgbClr val="14233A"/>
                </a:solidFill>
                <a:latin typeface="Calibri" pitchFamily="34" charset="0"/>
                <a:ea typeface="Calibri" pitchFamily="34" charset="-122"/>
                <a:cs typeface="Calibri" pitchFamily="34" charset="-120"/>
              </a:rPr>
              <a:t>a rich core with a vertical slice you can actually ship — and finishing it leaves real work for others.</a:t>
            </a:r>
            <a:endParaRPr lang="en-US" sz="1550" dirty="0"/>
          </a:p>
        </p:txBody>
      </p:sp>
      <p:sp>
        <p:nvSpPr>
          <p:cNvPr id="17" name="Text 13"/>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8" name="Text 14"/>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1</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Now: score your own candidates</a:t>
            </a:r>
            <a:endParaRPr lang="en-US" sz="3100" dirty="0"/>
          </a:p>
        </p:txBody>
      </p:sp>
      <p:sp>
        <p:nvSpPr>
          <p:cNvPr id="5" name="Shape 3"/>
          <p:cNvSpPr/>
          <p:nvPr/>
        </p:nvSpPr>
        <p:spPr>
          <a:xfrm>
            <a:off x="548640" y="1874520"/>
            <a:ext cx="11064240" cy="1371600"/>
          </a:xfrm>
          <a:prstGeom prst="roundRect">
            <a:avLst>
              <a:gd name="adj" fmla="val 6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94560"/>
            <a:ext cx="676656" cy="676656"/>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51377" y="2377257"/>
            <a:ext cx="311262" cy="311262"/>
          </a:xfrm>
          <a:prstGeom prst="rect">
            <a:avLst/>
          </a:prstGeom>
        </p:spPr>
      </p:pic>
      <p:sp>
        <p:nvSpPr>
          <p:cNvPr id="8" name="Text 5"/>
          <p:cNvSpPr/>
          <p:nvPr/>
        </p:nvSpPr>
        <p:spPr>
          <a:xfrm>
            <a:off x="1810512" y="1874520"/>
            <a:ext cx="9601200" cy="1371600"/>
          </a:xfrm>
          <a:prstGeom prst="rect">
            <a:avLst/>
          </a:prstGeom>
          <a:noFill/>
          <a:ln/>
        </p:spPr>
        <p:txBody>
          <a:bodyPr wrap="square" lIns="0" tIns="0" rIns="0" bIns="0" rtlCol="0" anchor="ctr"/>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You just watched the yardstick run on two candidates. Turn it on your own 2–3 ideas — score them, then plot them.</a:t>
            </a:r>
            <a:endParaRPr lang="en-US" sz="1650" dirty="0"/>
          </a:p>
        </p:txBody>
      </p:sp>
      <p:sp>
        <p:nvSpPr>
          <p:cNvPr id="9" name="Shape 6"/>
          <p:cNvSpPr/>
          <p:nvPr/>
        </p:nvSpPr>
        <p:spPr>
          <a:xfrm>
            <a:off x="548640" y="3429000"/>
            <a:ext cx="5440680" cy="2331720"/>
          </a:xfrm>
          <a:prstGeom prst="roundRect">
            <a:avLst>
              <a:gd name="adj" fmla="val 3529"/>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03320"/>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71093" y="3851453"/>
            <a:ext cx="252374" cy="252374"/>
          </a:xfrm>
          <a:prstGeom prst="rect">
            <a:avLst/>
          </a:prstGeom>
        </p:spPr>
      </p:pic>
      <p:sp>
        <p:nvSpPr>
          <p:cNvPr id="12" name="Text 8"/>
          <p:cNvSpPr/>
          <p:nvPr/>
        </p:nvSpPr>
        <p:spPr>
          <a:xfrm>
            <a:off x="1508760" y="3749040"/>
            <a:ext cx="420624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Score, don't average</a:t>
            </a:r>
            <a:endParaRPr lang="en-US" sz="1700" dirty="0"/>
          </a:p>
        </p:txBody>
      </p:sp>
      <p:sp>
        <p:nvSpPr>
          <p:cNvPr id="13" name="Text 9"/>
          <p:cNvSpPr/>
          <p:nvPr/>
        </p:nvSpPr>
        <p:spPr>
          <a:xfrm>
            <a:off x="896112" y="4434840"/>
            <a:ext cx="4892040" cy="12344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The total is a conversation-starter. A fatal flaw on real need or feasibility outweighs a high score elsewhere.</a:t>
            </a:r>
            <a:endParaRPr lang="en-US" sz="1450" dirty="0"/>
          </a:p>
        </p:txBody>
      </p:sp>
      <p:sp>
        <p:nvSpPr>
          <p:cNvPr id="14" name="Shape 10"/>
          <p:cNvSpPr/>
          <p:nvPr/>
        </p:nvSpPr>
        <p:spPr>
          <a:xfrm>
            <a:off x="6172200" y="3429000"/>
            <a:ext cx="5440680" cy="2331720"/>
          </a:xfrm>
          <a:prstGeom prst="roundRect">
            <a:avLst>
              <a:gd name="adj" fmla="val 3529"/>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70332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851453"/>
            <a:ext cx="252374" cy="252374"/>
          </a:xfrm>
          <a:prstGeom prst="rect">
            <a:avLst/>
          </a:prstGeom>
        </p:spPr>
      </p:pic>
      <p:sp>
        <p:nvSpPr>
          <p:cNvPr id="17" name="Text 12"/>
          <p:cNvSpPr/>
          <p:nvPr/>
        </p:nvSpPr>
        <p:spPr>
          <a:xfrm>
            <a:off x="7132320" y="3749040"/>
            <a:ext cx="4389120" cy="45720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Circle a provisional top 1–2</a:t>
            </a:r>
            <a:endParaRPr lang="en-US" sz="1700" dirty="0"/>
          </a:p>
        </p:txBody>
      </p:sp>
      <p:sp>
        <p:nvSpPr>
          <p:cNvPr id="18" name="Text 13"/>
          <p:cNvSpPr/>
          <p:nvPr/>
        </p:nvSpPr>
        <p:spPr>
          <a:xfrm>
            <a:off x="6519672" y="4434840"/>
            <a:ext cx="4892040" cy="1234440"/>
          </a:xfrm>
          <a:prstGeom prst="rect">
            <a:avLst/>
          </a:prstGeom>
          <a:noFill/>
          <a:ln/>
        </p:spPr>
        <p:txBody>
          <a:bodyPr wrap="square" lIns="0" tIns="0" rIns="0" bIns="0" rtlCol="0" anchor="t"/>
          <a:lstStyle/>
          <a:p>
            <a:pPr indent="0" marL="0">
              <a:lnSpc>
                <a:spcPct val="106000"/>
              </a:lnSpc>
              <a:buNone/>
            </a:pPr>
            <a:r>
              <a:rPr lang="en-US" sz="1450" dirty="0">
                <a:solidFill>
                  <a:srgbClr val="1E2A36"/>
                </a:solidFill>
                <a:latin typeface="Calibri" pitchFamily="34" charset="0"/>
                <a:ea typeface="Calibri" pitchFamily="34" charset="-122"/>
                <a:cs typeface="Calibri" pitchFamily="34" charset="-120"/>
              </a:rPr>
              <a:t>Commit to a hunch before feedback — so you can tell whether the peer round actually changes your mind.</a:t>
            </a:r>
            <a:endParaRPr lang="en-US" sz="1450" dirty="0"/>
          </a:p>
        </p:txBody>
      </p:sp>
      <p:sp>
        <p:nvSpPr>
          <p:cNvPr id="19" name="Text 14"/>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1 · ~12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Score your candidates</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Solo, on the Idea Scoring Sheet:</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Score each of your 2–3 candidates on the seven criteria (1–3).</a:t>
            </a:r>
            <a:endParaRPr lang="en-US" sz="1550" dirty="0"/>
          </a:p>
        </p:txBody>
      </p:sp>
      <p:sp>
        <p:nvSpPr>
          <p:cNvPr id="11" name="Text 9"/>
          <p:cNvSpPr/>
          <p:nvPr/>
        </p:nvSpPr>
        <p:spPr>
          <a:xfrm>
            <a:off x="10149840" y="2148840"/>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2" name="Shape 10"/>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344418"/>
            <a:ext cx="457200" cy="457200"/>
          </a:xfrm>
          <a:prstGeom prst="ellipse">
            <a:avLst/>
          </a:prstGeom>
          <a:solidFill>
            <a:srgbClr val="E8A33D"/>
          </a:solidFill>
          <a:ln/>
        </p:spPr>
      </p:sp>
      <p:sp>
        <p:nvSpPr>
          <p:cNvPr id="14" name="Text 12"/>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140964"/>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Plot each one on Value vs. Do-ability.</a:t>
            </a:r>
            <a:endParaRPr lang="en-US" sz="1550" dirty="0"/>
          </a:p>
        </p:txBody>
      </p:sp>
      <p:sp>
        <p:nvSpPr>
          <p:cNvPr id="16" name="Text 14"/>
          <p:cNvSpPr/>
          <p:nvPr/>
        </p:nvSpPr>
        <p:spPr>
          <a:xfrm>
            <a:off x="10149840" y="3140964"/>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3 min</a:t>
            </a:r>
            <a:endParaRPr lang="en-US" sz="1400" dirty="0"/>
          </a:p>
        </p:txBody>
      </p:sp>
      <p:sp>
        <p:nvSpPr>
          <p:cNvPr id="17" name="Shape 15"/>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4336542"/>
            <a:ext cx="457200" cy="457200"/>
          </a:xfrm>
          <a:prstGeom prst="ellipse">
            <a:avLst/>
          </a:prstGeom>
          <a:solidFill>
            <a:srgbClr val="E8A33D"/>
          </a:solidFill>
          <a:ln/>
        </p:spPr>
      </p:sp>
      <p:sp>
        <p:nvSpPr>
          <p:cNvPr id="19" name="Text 17"/>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133088"/>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For each, note the single biggest risk — and if it's high-value / low-do-ability, how you'd shrink it to a slice.</a:t>
            </a:r>
            <a:endParaRPr lang="en-US" sz="1550" dirty="0"/>
          </a:p>
        </p:txBody>
      </p:sp>
      <p:sp>
        <p:nvSpPr>
          <p:cNvPr id="21" name="Text 19"/>
          <p:cNvSpPr/>
          <p:nvPr/>
        </p:nvSpPr>
        <p:spPr>
          <a:xfrm>
            <a:off x="10149840" y="4133088"/>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Shape 20"/>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3" name="Shape 21"/>
          <p:cNvSpPr/>
          <p:nvPr/>
        </p:nvSpPr>
        <p:spPr>
          <a:xfrm>
            <a:off x="777240" y="5328666"/>
            <a:ext cx="457200" cy="457200"/>
          </a:xfrm>
          <a:prstGeom prst="ellipse">
            <a:avLst/>
          </a:prstGeom>
          <a:solidFill>
            <a:srgbClr val="E8A33D"/>
          </a:solidFill>
          <a:ln/>
        </p:spPr>
      </p:sp>
      <p:sp>
        <p:nvSpPr>
          <p:cNvPr id="24" name="Text 22"/>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5" name="Text 23"/>
          <p:cNvSpPr/>
          <p:nvPr/>
        </p:nvSpPr>
        <p:spPr>
          <a:xfrm>
            <a:off x="1417320" y="5125212"/>
            <a:ext cx="85953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Circle your provisional top 1–2 — before any feedback.</a:t>
            </a:r>
            <a:endParaRPr lang="en-US" sz="1550" dirty="0"/>
          </a:p>
        </p:txBody>
      </p:sp>
      <p:sp>
        <p:nvSpPr>
          <p:cNvPr id="26" name="Text 24"/>
          <p:cNvSpPr/>
          <p:nvPr/>
        </p:nvSpPr>
        <p:spPr>
          <a:xfrm>
            <a:off x="10149840" y="5125212"/>
            <a:ext cx="1280160" cy="864108"/>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27" name="Text 25"/>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8" name="Text 2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2</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Peer feedback — how the round works</a:t>
            </a:r>
            <a:endParaRPr lang="en-US" sz="3100" dirty="0"/>
          </a:p>
        </p:txBody>
      </p:sp>
      <p:sp>
        <p:nvSpPr>
          <p:cNvPr id="5" name="Shape 3"/>
          <p:cNvSpPr/>
          <p:nvPr/>
        </p:nvSpPr>
        <p:spPr>
          <a:xfrm>
            <a:off x="548640" y="1737360"/>
            <a:ext cx="11064240" cy="914400"/>
          </a:xfrm>
          <a:prstGeom prst="roundRect">
            <a:avLst>
              <a:gd name="adj" fmla="val 9000"/>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1956816"/>
            <a:ext cx="512064" cy="51206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06937" y="2095073"/>
            <a:ext cx="235549" cy="235549"/>
          </a:xfrm>
          <a:prstGeom prst="rect">
            <a:avLst/>
          </a:prstGeom>
        </p:spPr>
      </p:pic>
      <p:sp>
        <p:nvSpPr>
          <p:cNvPr id="8" name="Text 5"/>
          <p:cNvSpPr/>
          <p:nvPr/>
        </p:nvSpPr>
        <p:spPr>
          <a:xfrm>
            <a:off x="1600200" y="1737360"/>
            <a:ext cx="9738360" cy="914400"/>
          </a:xfrm>
          <a:prstGeom prst="rect">
            <a:avLst/>
          </a:prstGeom>
          <a:noFill/>
          <a:ln/>
        </p:spPr>
        <p:txBody>
          <a:bodyPr wrap="square" lIns="0" tIns="0" rIns="0" bIns="0" rtlCol="0" anchor="ctr"/>
          <a:lstStyle/>
          <a:p>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Groups of 3–4. A round-robin: everyone presents once, ~4 minutes each. Same three challenges for every idea.</a:t>
            </a:r>
            <a:endParaRPr lang="en-US" sz="1600" dirty="0"/>
          </a:p>
        </p:txBody>
      </p:sp>
      <p:sp>
        <p:nvSpPr>
          <p:cNvPr id="9" name="Shape 6"/>
          <p:cNvSpPr/>
          <p:nvPr/>
        </p:nvSpPr>
        <p:spPr>
          <a:xfrm>
            <a:off x="548640"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04672" y="3090672"/>
            <a:ext cx="512064" cy="512064"/>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942929" y="3228929"/>
            <a:ext cx="235549" cy="235549"/>
          </a:xfrm>
          <a:prstGeom prst="rect">
            <a:avLst/>
          </a:prstGeom>
        </p:spPr>
      </p:pic>
      <p:sp>
        <p:nvSpPr>
          <p:cNvPr id="12" name="Text 8"/>
          <p:cNvSpPr/>
          <p:nvPr/>
        </p:nvSpPr>
        <p:spPr>
          <a:xfrm>
            <a:off x="804672"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Need real, user reachable?</a:t>
            </a:r>
            <a:endParaRPr lang="en-US" sz="1550" dirty="0"/>
          </a:p>
        </p:txBody>
      </p:sp>
      <p:sp>
        <p:nvSpPr>
          <p:cNvPr id="13" name="Text 9"/>
          <p:cNvSpPr/>
          <p:nvPr/>
        </p:nvSpPr>
        <p:spPr>
          <a:xfrm>
            <a:off x="804672"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Is there a felt need, and can you actually reach the people who have it?</a:t>
            </a:r>
            <a:endParaRPr lang="en-US" sz="1250" dirty="0"/>
          </a:p>
        </p:txBody>
      </p:sp>
      <p:sp>
        <p:nvSpPr>
          <p:cNvPr id="14" name="Shape 10"/>
          <p:cNvSpPr/>
          <p:nvPr/>
        </p:nvSpPr>
        <p:spPr>
          <a:xfrm>
            <a:off x="4233672"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15" name="Shape 11"/>
          <p:cNvSpPr/>
          <p:nvPr/>
        </p:nvSpPr>
        <p:spPr>
          <a:xfrm>
            <a:off x="4489704" y="3090672"/>
            <a:ext cx="512064" cy="512064"/>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4627961" y="3228929"/>
            <a:ext cx="235549" cy="235549"/>
          </a:xfrm>
          <a:prstGeom prst="rect">
            <a:avLst/>
          </a:prstGeom>
        </p:spPr>
      </p:pic>
      <p:sp>
        <p:nvSpPr>
          <p:cNvPr id="17" name="Text 12"/>
          <p:cNvSpPr/>
          <p:nvPr/>
        </p:nvSpPr>
        <p:spPr>
          <a:xfrm>
            <a:off x="4489704"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Feasible at one-semester scope?</a:t>
            </a:r>
            <a:endParaRPr lang="en-US" sz="1550" dirty="0"/>
          </a:p>
        </p:txBody>
      </p:sp>
      <p:sp>
        <p:nvSpPr>
          <p:cNvPr id="18" name="Text 13"/>
          <p:cNvSpPr/>
          <p:nvPr/>
        </p:nvSpPr>
        <p:spPr>
          <a:xfrm>
            <a:off x="4489704"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Is there a vertical slice you could ship at ~10 hrs/week?</a:t>
            </a:r>
            <a:endParaRPr lang="en-US" sz="1250" dirty="0"/>
          </a:p>
        </p:txBody>
      </p:sp>
      <p:sp>
        <p:nvSpPr>
          <p:cNvPr id="19" name="Shape 14"/>
          <p:cNvSpPr/>
          <p:nvPr/>
        </p:nvSpPr>
        <p:spPr>
          <a:xfrm>
            <a:off x="7918704" y="2834640"/>
            <a:ext cx="3511296" cy="1965960"/>
          </a:xfrm>
          <a:prstGeom prst="roundRect">
            <a:avLst>
              <a:gd name="adj" fmla="val 4186"/>
            </a:avLst>
          </a:prstGeom>
          <a:solidFill>
            <a:srgbClr val="F2F6F8"/>
          </a:solidFill>
          <a:ln/>
          <a:effectLst>
            <a:outerShdw sx="100000" sy="100000" kx="0" ky="0" algn="bl" rotWithShape="0" blurRad="88900" dist="38100" dir="5400000">
              <a:srgbClr val="000000">
                <a:alpha val="13000"/>
              </a:srgbClr>
            </a:outerShdw>
          </a:effectLst>
        </p:spPr>
      </p:sp>
      <p:sp>
        <p:nvSpPr>
          <p:cNvPr id="20" name="Shape 15"/>
          <p:cNvSpPr/>
          <p:nvPr/>
        </p:nvSpPr>
        <p:spPr>
          <a:xfrm>
            <a:off x="8174736" y="3090672"/>
            <a:ext cx="512064" cy="512064"/>
          </a:xfrm>
          <a:prstGeom prst="ellipse">
            <a:avLst/>
          </a:prstGeom>
          <a:solidFill>
            <a:srgbClr val="12908F"/>
          </a:solidFill>
          <a:ln/>
        </p:spPr>
      </p:sp>
      <p:pic>
        <p:nvPicPr>
          <p:cNvPr id="21" name="Image 3" descr="preencoded.png">    </p:cNvPr>
          <p:cNvPicPr>
            <a:picLocks noChangeAspect="1"/>
          </p:cNvPicPr>
          <p:nvPr/>
        </p:nvPicPr>
        <p:blipFill>
          <a:blip r:embed="rId4"/>
          <a:stretch>
            <a:fillRect/>
          </a:stretch>
        </p:blipFill>
        <p:spPr>
          <a:xfrm>
            <a:off x="8312993" y="3228929"/>
            <a:ext cx="235549" cy="235549"/>
          </a:xfrm>
          <a:prstGeom prst="rect">
            <a:avLst/>
          </a:prstGeom>
        </p:spPr>
      </p:pic>
      <p:sp>
        <p:nvSpPr>
          <p:cNvPr id="22" name="Text 16"/>
          <p:cNvSpPr/>
          <p:nvPr/>
        </p:nvSpPr>
        <p:spPr>
          <a:xfrm>
            <a:off x="8174736" y="3675888"/>
            <a:ext cx="2999232" cy="603504"/>
          </a:xfrm>
          <a:prstGeom prst="rect">
            <a:avLst/>
          </a:prstGeom>
          <a:noFill/>
          <a:ln/>
        </p:spPr>
        <p:txBody>
          <a:bodyPr wrap="square" lIns="0" tIns="0" rIns="0" bIns="0" rtlCol="0" anchor="t"/>
          <a:lstStyle/>
          <a:p>
            <a:pPr indent="0" marL="0">
              <a:lnSpc>
                <a:spcPct val="100000"/>
              </a:lnSpc>
              <a:buNone/>
            </a:pPr>
            <a:r>
              <a:rPr lang="en-US" sz="1550" b="1" dirty="0">
                <a:solidFill>
                  <a:srgbClr val="1E2A36"/>
                </a:solidFill>
                <a:latin typeface="Calibri" pitchFamily="34" charset="0"/>
                <a:ea typeface="Calibri" pitchFamily="34" charset="-122"/>
                <a:cs typeface="Calibri" pitchFamily="34" charset="-120"/>
              </a:rPr>
              <a:t>Rich enough to found on?</a:t>
            </a:r>
            <a:endParaRPr lang="en-US" sz="1550" dirty="0"/>
          </a:p>
        </p:txBody>
      </p:sp>
      <p:sp>
        <p:nvSpPr>
          <p:cNvPr id="23" name="Text 17"/>
          <p:cNvSpPr/>
          <p:nvPr/>
        </p:nvSpPr>
        <p:spPr>
          <a:xfrm>
            <a:off x="8174736" y="4224528"/>
            <a:ext cx="2999232" cy="502920"/>
          </a:xfrm>
          <a:prstGeom prst="rect">
            <a:avLst/>
          </a:prstGeom>
          <a:noFill/>
          <a:ln/>
        </p:spPr>
        <p:txBody>
          <a:bodyPr wrap="square" lIns="0" tIns="0" rIns="0" bIns="0" rtlCol="0" anchor="t"/>
          <a:lstStyle/>
          <a:p>
            <a:pPr indent="0" marL="0">
              <a:lnSpc>
                <a:spcPct val="104000"/>
              </a:lnSpc>
              <a:buNone/>
            </a:pPr>
            <a:r>
              <a:rPr lang="en-US" sz="1250" dirty="0">
                <a:solidFill>
                  <a:srgbClr val="5F7284"/>
                </a:solidFill>
                <a:latin typeface="Calibri" pitchFamily="34" charset="0"/>
                <a:ea typeface="Calibri" pitchFamily="34" charset="-122"/>
                <a:cs typeface="Calibri" pitchFamily="34" charset="-120"/>
              </a:rPr>
              <a:t>Does it exercise multiple dimensions and leave room for others?</a:t>
            </a:r>
            <a:endParaRPr lang="en-US" sz="1250" dirty="0"/>
          </a:p>
        </p:txBody>
      </p:sp>
      <p:sp>
        <p:nvSpPr>
          <p:cNvPr id="24" name="Shape 18"/>
          <p:cNvSpPr/>
          <p:nvPr/>
        </p:nvSpPr>
        <p:spPr>
          <a:xfrm>
            <a:off x="548640" y="5029200"/>
            <a:ext cx="11064240" cy="1152144"/>
          </a:xfrm>
          <a:prstGeom prst="roundRect">
            <a:avLst>
              <a:gd name="adj" fmla="val 7143"/>
            </a:avLst>
          </a:prstGeom>
          <a:solidFill>
            <a:srgbClr val="FBEEDA"/>
          </a:solidFill>
          <a:ln/>
          <a:effectLst>
            <a:outerShdw sx="100000" sy="100000" kx="0" ky="0" algn="bl" rotWithShape="0" blurRad="88900" dist="38100" dir="5400000">
              <a:srgbClr val="000000">
                <a:alpha val="13000"/>
              </a:srgbClr>
            </a:outerShdw>
          </a:effectLst>
        </p:spPr>
      </p:sp>
      <p:sp>
        <p:nvSpPr>
          <p:cNvPr id="25" name="Text 19"/>
          <p:cNvSpPr/>
          <p:nvPr/>
        </p:nvSpPr>
        <p:spPr>
          <a:xfrm>
            <a:off x="822960" y="5029200"/>
            <a:ext cx="10515600" cy="1152144"/>
          </a:xfrm>
          <a:prstGeom prst="rect">
            <a:avLst/>
          </a:prstGeom>
          <a:noFill/>
          <a:ln/>
        </p:spPr>
        <p:txBody>
          <a:bodyPr wrap="square" lIns="0" tIns="0" rIns="0" bIns="0" rtlCol="0" anchor="ctr"/>
          <a:lstStyle/>
          <a:p>
            <a:pPr algn="ctr" indent="0" marL="0">
              <a:lnSpc>
                <a:spcPct val="112000"/>
              </a:lnSpc>
              <a:buNone/>
            </a:pPr>
            <a:r>
              <a:rPr lang="en-US" sz="1500" b="1" dirty="0">
                <a:solidFill>
                  <a:srgbClr val="0E6E6D"/>
                </a:solidFill>
                <a:latin typeface="Calibri" pitchFamily="34" charset="0"/>
                <a:ea typeface="Calibri" pitchFamily="34" charset="-122"/>
                <a:cs typeface="Calibri" pitchFamily="34" charset="-120"/>
              </a:rPr>
              <a:t>One protocol for every comment:  </a:t>
            </a:r>
            <a:pPr algn="ctr" indent="0" marL="0">
              <a:lnSpc>
                <a:spcPct val="112000"/>
              </a:lnSpc>
              <a:buNone/>
            </a:pPr>
            <a:r>
              <a:rPr lang="en-US" sz="1500" dirty="0">
                <a:solidFill>
                  <a:srgbClr val="1E2A36"/>
                </a:solidFill>
                <a:latin typeface="Calibri" pitchFamily="34" charset="0"/>
                <a:ea typeface="Calibri" pitchFamily="34" charset="-122"/>
                <a:cs typeface="Calibri" pitchFamily="34" charset="-120"/>
              </a:rPr>
              <a:t>affirm what's strong  →  name the sharpest concern  →  one concrete suggestion.
</a:t>
            </a:r>
            <a:pPr algn="ctr" indent="0" marL="0">
              <a:lnSpc>
                <a:spcPct val="112000"/>
              </a:lnSpc>
              <a:buNone/>
            </a:pPr>
            <a:r>
              <a:rPr lang="en-US" sz="1500" b="1" dirty="0">
                <a:solidFill>
                  <a:srgbClr val="D9614C"/>
                </a:solidFill>
                <a:latin typeface="Calibri" pitchFamily="34" charset="0"/>
                <a:ea typeface="Calibri" pitchFamily="34" charset="-122"/>
                <a:cs typeface="Calibri" pitchFamily="34" charset="-120"/>
              </a:rPr>
              <a:t>The presenter captures, doesn't defend</a:t>
            </a:r>
            <a:pPr algn="ctr" indent="0" marL="0">
              <a:lnSpc>
                <a:spcPct val="112000"/>
              </a:lnSpc>
              <a:buNone/>
            </a:pPr>
            <a:r>
              <a:rPr lang="en-US" sz="1500" dirty="0">
                <a:solidFill>
                  <a:srgbClr val="1E2A36"/>
                </a:solidFill>
                <a:latin typeface="Calibri" pitchFamily="34" charset="0"/>
                <a:ea typeface="Calibri" pitchFamily="34" charset="-122"/>
                <a:cs typeface="Calibri" pitchFamily="34" charset="-120"/>
              </a:rPr>
              <a:t> — write it down; weigh it after.</a:t>
            </a:r>
            <a:endParaRPr lang="en-US" sz="1500" dirty="0"/>
          </a:p>
        </p:txBody>
      </p:sp>
      <p:sp>
        <p:nvSpPr>
          <p:cNvPr id="26"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27"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2 · ~16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Peer feedback round</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Groups of 3–4 · round-robin · ~4 min each:</a:t>
            </a:r>
            <a:endParaRPr lang="en-US" sz="1600" dirty="0"/>
          </a:p>
        </p:txBody>
      </p:sp>
      <p:sp>
        <p:nvSpPr>
          <p:cNvPr id="7" name="Shape 5"/>
          <p:cNvSpPr/>
          <p:nvPr/>
        </p:nvSpPr>
        <p:spPr>
          <a:xfrm>
            <a:off x="548640" y="2148840"/>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352294"/>
            <a:ext cx="457200" cy="457200"/>
          </a:xfrm>
          <a:prstGeom prst="ellipse">
            <a:avLst/>
          </a:prstGeom>
          <a:solidFill>
            <a:srgbClr val="E8A33D"/>
          </a:solidFill>
          <a:ln/>
        </p:spPr>
      </p:sp>
      <p:sp>
        <p:nvSpPr>
          <p:cNvPr id="9" name="Text 7"/>
          <p:cNvSpPr/>
          <p:nvPr/>
        </p:nvSpPr>
        <p:spPr>
          <a:xfrm>
            <a:off x="777240" y="2352294"/>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Present (~90 sec): your top 1–2 — the user, the real need, why it scores well; the slice if it's high-value / low-do-ability.</a:t>
            </a:r>
            <a:endParaRPr lang="en-US" sz="1550" dirty="0"/>
          </a:p>
        </p:txBody>
      </p:sp>
      <p:sp>
        <p:nvSpPr>
          <p:cNvPr id="11" name="Shape 9"/>
          <p:cNvSpPr/>
          <p:nvPr/>
        </p:nvSpPr>
        <p:spPr>
          <a:xfrm>
            <a:off x="548640" y="3140964"/>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2" name="Shape 10"/>
          <p:cNvSpPr/>
          <p:nvPr/>
        </p:nvSpPr>
        <p:spPr>
          <a:xfrm>
            <a:off x="777240" y="3344418"/>
            <a:ext cx="457200" cy="457200"/>
          </a:xfrm>
          <a:prstGeom prst="ellipse">
            <a:avLst/>
          </a:prstGeom>
          <a:solidFill>
            <a:srgbClr val="E8A33D"/>
          </a:solidFill>
          <a:ln/>
        </p:spPr>
      </p:sp>
      <p:sp>
        <p:nvSpPr>
          <p:cNvPr id="13" name="Text 11"/>
          <p:cNvSpPr/>
          <p:nvPr/>
        </p:nvSpPr>
        <p:spPr>
          <a:xfrm>
            <a:off x="777240" y="334441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4" name="Text 12"/>
          <p:cNvSpPr/>
          <p:nvPr/>
        </p:nvSpPr>
        <p:spPr>
          <a:xfrm>
            <a:off x="1417320" y="3140964"/>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Peers pressure-test on the three axes: need real &amp; reachable? feasible at scope? rich enough?</a:t>
            </a:r>
            <a:endParaRPr lang="en-US" sz="1550" dirty="0"/>
          </a:p>
        </p:txBody>
      </p:sp>
      <p:sp>
        <p:nvSpPr>
          <p:cNvPr id="15" name="Shape 13"/>
          <p:cNvSpPr/>
          <p:nvPr/>
        </p:nvSpPr>
        <p:spPr>
          <a:xfrm>
            <a:off x="548640" y="4133088"/>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16" name="Shape 14"/>
          <p:cNvSpPr/>
          <p:nvPr/>
        </p:nvSpPr>
        <p:spPr>
          <a:xfrm>
            <a:off x="777240" y="4336542"/>
            <a:ext cx="457200" cy="457200"/>
          </a:xfrm>
          <a:prstGeom prst="ellipse">
            <a:avLst/>
          </a:prstGeom>
          <a:solidFill>
            <a:srgbClr val="E8A33D"/>
          </a:solidFill>
          <a:ln/>
        </p:spPr>
      </p:sp>
      <p:sp>
        <p:nvSpPr>
          <p:cNvPr id="17" name="Text 15"/>
          <p:cNvSpPr/>
          <p:nvPr/>
        </p:nvSpPr>
        <p:spPr>
          <a:xfrm>
            <a:off x="777240" y="433654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1417320" y="4133088"/>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Each comment: affirm what's strong → sharpest concern → one concrete suggestion.</a:t>
            </a:r>
            <a:endParaRPr lang="en-US" sz="1550" dirty="0"/>
          </a:p>
        </p:txBody>
      </p:sp>
      <p:sp>
        <p:nvSpPr>
          <p:cNvPr id="19" name="Shape 17"/>
          <p:cNvSpPr/>
          <p:nvPr/>
        </p:nvSpPr>
        <p:spPr>
          <a:xfrm>
            <a:off x="548640" y="5125212"/>
            <a:ext cx="11064240" cy="864108"/>
          </a:xfrm>
          <a:prstGeom prst="roundRect">
            <a:avLst>
              <a:gd name="adj" fmla="val 9524"/>
            </a:avLst>
          </a:prstGeom>
          <a:solidFill>
            <a:srgbClr val="1E3352"/>
          </a:solidFill>
          <a:ln/>
          <a:effectLst>
            <a:outerShdw sx="100000" sy="100000" kx="0" ky="0" algn="bl" rotWithShape="0" blurRad="88900" dist="38100" dir="5400000">
              <a:srgbClr val="000000">
                <a:alpha val="13000"/>
              </a:srgbClr>
            </a:outerShdw>
          </a:effectLst>
        </p:spPr>
      </p:sp>
      <p:sp>
        <p:nvSpPr>
          <p:cNvPr id="20" name="Shape 18"/>
          <p:cNvSpPr/>
          <p:nvPr/>
        </p:nvSpPr>
        <p:spPr>
          <a:xfrm>
            <a:off x="777240" y="5328666"/>
            <a:ext cx="457200" cy="457200"/>
          </a:xfrm>
          <a:prstGeom prst="ellipse">
            <a:avLst/>
          </a:prstGeom>
          <a:solidFill>
            <a:srgbClr val="E8A33D"/>
          </a:solidFill>
          <a:ln/>
        </p:spPr>
      </p:sp>
      <p:sp>
        <p:nvSpPr>
          <p:cNvPr id="21" name="Text 19"/>
          <p:cNvSpPr/>
          <p:nvPr/>
        </p:nvSpPr>
        <p:spPr>
          <a:xfrm>
            <a:off x="777240" y="5328666"/>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4</a:t>
            </a:r>
            <a:endParaRPr lang="en-US" sz="2000" dirty="0"/>
          </a:p>
        </p:txBody>
      </p:sp>
      <p:sp>
        <p:nvSpPr>
          <p:cNvPr id="22" name="Text 20"/>
          <p:cNvSpPr/>
          <p:nvPr/>
        </p:nvSpPr>
        <p:spPr>
          <a:xfrm>
            <a:off x="1417320" y="5125212"/>
            <a:ext cx="9966960" cy="864108"/>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Presenter captures, doesn't defend. Then rotate — until everyone has gone.</a:t>
            </a:r>
            <a:endParaRPr lang="en-US" sz="1550" dirty="0"/>
          </a:p>
        </p:txBody>
      </p:sp>
      <p:sp>
        <p:nvSpPr>
          <p:cNvPr id="23" name="Text 2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WORKSHOP · PART 3</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Converge — pick 1–2 and commit</a:t>
            </a:r>
            <a:endParaRPr lang="en-US" sz="3100" dirty="0"/>
          </a:p>
        </p:txBody>
      </p:sp>
      <p:sp>
        <p:nvSpPr>
          <p:cNvPr id="5" name="Shape 3"/>
          <p:cNvSpPr/>
          <p:nvPr/>
        </p:nvSpPr>
        <p:spPr>
          <a:xfrm>
            <a:off x="548640" y="1874520"/>
            <a:ext cx="11064240" cy="1280160"/>
          </a:xfrm>
          <a:prstGeom prst="roundRect">
            <a:avLst>
              <a:gd name="adj" fmla="val 6429"/>
            </a:avLst>
          </a:prstGeom>
          <a:solidFill>
            <a:srgbClr val="14233A"/>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48840"/>
            <a:ext cx="640080" cy="640080"/>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41502" y="2321662"/>
            <a:ext cx="294437" cy="294437"/>
          </a:xfrm>
          <a:prstGeom prst="rect">
            <a:avLst/>
          </a:prstGeom>
        </p:spPr>
      </p:pic>
      <p:sp>
        <p:nvSpPr>
          <p:cNvPr id="8" name="Text 5"/>
          <p:cNvSpPr/>
          <p:nvPr/>
        </p:nvSpPr>
        <p:spPr>
          <a:xfrm>
            <a:off x="1792224" y="1874520"/>
            <a:ext cx="9601200" cy="1280160"/>
          </a:xfrm>
          <a:prstGeom prst="rect">
            <a:avLst/>
          </a:prstGeom>
          <a:noFill/>
          <a:ln/>
        </p:spPr>
        <p:txBody>
          <a:bodyPr wrap="square" lIns="0" tIns="0" rIns="0" bIns="0" rtlCol="0" anchor="ctr"/>
          <a:lstStyle/>
          <a:p>
            <a:pPr indent="0" marL="0">
              <a:lnSpc>
                <a:spcPct val="105000"/>
              </a:lnSpc>
              <a:buNone/>
            </a:pPr>
            <a:r>
              <a:rPr lang="en-US" sz="1650" dirty="0">
                <a:solidFill>
                  <a:srgbClr val="CFE0E9"/>
                </a:solidFill>
                <a:latin typeface="Calibri" pitchFamily="34" charset="0"/>
                <a:ea typeface="Calibri" pitchFamily="34" charset="-122"/>
                <a:cs typeface="Calibri" pitchFamily="34" charset="-120"/>
              </a:rPr>
              <a:t>Weigh the scores and the feedback together, then commit to one or two ideas to carry forward.</a:t>
            </a:r>
            <a:endParaRPr lang="en-US" sz="1650" dirty="0"/>
          </a:p>
        </p:txBody>
      </p:sp>
      <p:sp>
        <p:nvSpPr>
          <p:cNvPr id="9" name="Shape 6"/>
          <p:cNvSpPr/>
          <p:nvPr/>
        </p:nvSpPr>
        <p:spPr>
          <a:xfrm>
            <a:off x="548640" y="333756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0" name="Shape 7"/>
          <p:cNvSpPr/>
          <p:nvPr/>
        </p:nvSpPr>
        <p:spPr>
          <a:xfrm>
            <a:off x="868680" y="3639312"/>
            <a:ext cx="548640" cy="548640"/>
          </a:xfrm>
          <a:prstGeom prst="ellipse">
            <a:avLst/>
          </a:prstGeom>
          <a:solidFill>
            <a:srgbClr val="12908F"/>
          </a:solidFill>
          <a:ln/>
        </p:spPr>
      </p:sp>
      <p:pic>
        <p:nvPicPr>
          <p:cNvPr id="11" name="Image 1" descr="preencoded.png">    </p:cNvPr>
          <p:cNvPicPr>
            <a:picLocks noChangeAspect="1"/>
          </p:cNvPicPr>
          <p:nvPr/>
        </p:nvPicPr>
        <p:blipFill>
          <a:blip r:embed="rId2"/>
          <a:stretch>
            <a:fillRect/>
          </a:stretch>
        </p:blipFill>
        <p:spPr>
          <a:xfrm>
            <a:off x="1016813" y="3787445"/>
            <a:ext cx="252374" cy="252374"/>
          </a:xfrm>
          <a:prstGeom prst="rect">
            <a:avLst/>
          </a:prstGeom>
        </p:spPr>
      </p:pic>
      <p:sp>
        <p:nvSpPr>
          <p:cNvPr id="12" name="Text 8"/>
          <p:cNvSpPr/>
          <p:nvPr/>
        </p:nvSpPr>
        <p:spPr>
          <a:xfrm>
            <a:off x="1627632" y="3337560"/>
            <a:ext cx="9784080" cy="1371600"/>
          </a:xfrm>
          <a:prstGeom prst="rect">
            <a:avLst/>
          </a:prstGeom>
          <a:noFill/>
          <a:ln/>
        </p:spPr>
        <p:txBody>
          <a:bodyPr wrap="square" lIns="0" tIns="0" rIns="0" bIns="0" rtlCol="0" anchor="ctr"/>
          <a:lstStyle/>
          <a:p>
            <a:pPr indent="0" marL="0">
              <a:lnSpc>
                <a:spcPct val="110000"/>
              </a:lnSpc>
              <a:buNone/>
            </a:pPr>
            <a:r>
              <a:rPr lang="en-US" sz="1600" b="1" dirty="0">
                <a:solidFill>
                  <a:srgbClr val="1E2A36"/>
                </a:solidFill>
                <a:latin typeface="Calibri" pitchFamily="34" charset="0"/>
                <a:ea typeface="Calibri" pitchFamily="34" charset="-122"/>
                <a:cs typeface="Calibri" pitchFamily="34" charset="-120"/>
              </a:rPr>
              <a:t>Write a one-line rationale for each:  </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it's for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(who)</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who need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(the real need)</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feasible because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(scope / risk)</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 rich because </a:t>
            </a:r>
            <a:pPr indent="0" marL="0">
              <a:lnSpc>
                <a:spcPct val="110000"/>
              </a:lnSpc>
              <a:buNone/>
            </a:pPr>
            <a:r>
              <a:rPr lang="en-US" sz="1600" i="1" dirty="0">
                <a:solidFill>
                  <a:srgbClr val="5F7284"/>
                </a:solidFill>
                <a:latin typeface="Calibri" pitchFamily="34" charset="0"/>
                <a:ea typeface="Calibri" pitchFamily="34" charset="-122"/>
                <a:cs typeface="Calibri" pitchFamily="34" charset="-120"/>
              </a:rPr>
              <a:t>(dimensions it touches)</a:t>
            </a:r>
            <a:pPr indent="0" marL="0">
              <a:lnSpc>
                <a:spcPct val="110000"/>
              </a:lnSpc>
              <a:buNone/>
            </a:pPr>
            <a:r>
              <a:rPr lang="en-US" sz="1600" dirty="0">
                <a:solidFill>
                  <a:srgbClr val="1E2A36"/>
                </a:solidFill>
                <a:latin typeface="Calibri" pitchFamily="34" charset="0"/>
                <a:ea typeface="Calibri" pitchFamily="34" charset="-122"/>
                <a:cs typeface="Calibri" pitchFamily="34" charset="-120"/>
              </a:rPr>
              <a:t>.</a:t>
            </a:r>
            <a:endParaRPr lang="en-US" sz="1600" dirty="0"/>
          </a:p>
        </p:txBody>
      </p:sp>
      <p:sp>
        <p:nvSpPr>
          <p:cNvPr id="13" name="Shape 9"/>
          <p:cNvSpPr/>
          <p:nvPr/>
        </p:nvSpPr>
        <p:spPr>
          <a:xfrm>
            <a:off x="548640" y="4892040"/>
            <a:ext cx="11064240" cy="960120"/>
          </a:xfrm>
          <a:prstGeom prst="roundRect">
            <a:avLst>
              <a:gd name="adj" fmla="val 8571"/>
            </a:avLst>
          </a:prstGeom>
          <a:solidFill>
            <a:srgbClr val="FBEEDA"/>
          </a:solidFill>
          <a:ln/>
          <a:effectLst>
            <a:outerShdw sx="100000" sy="100000" kx="0" ky="0" algn="bl" rotWithShape="0" blurRad="88900" dist="38100" dir="5400000">
              <a:srgbClr val="000000">
                <a:alpha val="13000"/>
              </a:srgbClr>
            </a:outerShdw>
          </a:effectLst>
        </p:spPr>
      </p:sp>
      <p:sp>
        <p:nvSpPr>
          <p:cNvPr id="14" name="Text 10"/>
          <p:cNvSpPr/>
          <p:nvPr/>
        </p:nvSpPr>
        <p:spPr>
          <a:xfrm>
            <a:off x="822960" y="4892040"/>
            <a:ext cx="10515600" cy="960120"/>
          </a:xfrm>
          <a:prstGeom prst="rect">
            <a:avLst/>
          </a:prstGeom>
          <a:noFill/>
          <a:ln/>
        </p:spPr>
        <p:txBody>
          <a:bodyPr wrap="square" lIns="0" tIns="0" rIns="0" bIns="0" rtlCol="0" anchor="ctr"/>
          <a:lstStyle/>
          <a:p>
            <a:pPr algn="ctr" indent="0" marL="0">
              <a:buNone/>
            </a:pPr>
            <a:r>
              <a:rPr lang="en-US" sz="1550" b="1" dirty="0">
                <a:solidFill>
                  <a:srgbClr val="0E6E6D"/>
                </a:solidFill>
                <a:latin typeface="Calibri" pitchFamily="34" charset="0"/>
                <a:ea typeface="Calibri" pitchFamily="34" charset="-122"/>
                <a:cs typeface="Calibri" pitchFamily="34" charset="-120"/>
              </a:rPr>
              <a:t>A working direction, not an irreversible vow.  </a:t>
            </a:r>
            <a:pPr algn="ctr" indent="0" marL="0">
              <a:buNone/>
            </a:pPr>
            <a:r>
              <a:rPr lang="en-US" sz="1550" dirty="0">
                <a:solidFill>
                  <a:srgbClr val="1E2A36"/>
                </a:solidFill>
                <a:latin typeface="Calibri" pitchFamily="34" charset="0"/>
                <a:ea typeface="Calibri" pitchFamily="34" charset="-122"/>
                <a:cs typeface="Calibri" pitchFamily="34" charset="-120"/>
              </a:rPr>
              <a:t>But from here, your discovery and proposal work focus here.</a:t>
            </a:r>
            <a:endParaRPr lang="en-US" sz="1550" dirty="0"/>
          </a:p>
        </p:txBody>
      </p:sp>
      <p:sp>
        <p:nvSpPr>
          <p:cNvPr id="15" name="Text 11"/>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WORKSHOP · PART 3 · ~8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Commit + write your rationale</a:t>
            </a:r>
            <a:endParaRPr lang="en-US" sz="3200" dirty="0"/>
          </a:p>
        </p:txBody>
      </p:sp>
      <p:sp>
        <p:nvSpPr>
          <p:cNvPr id="6" name="Text 4"/>
          <p:cNvSpPr/>
          <p:nvPr/>
        </p:nvSpPr>
        <p:spPr>
          <a:xfrm>
            <a:off x="566928" y="1627632"/>
            <a:ext cx="10972800" cy="365760"/>
          </a:xfrm>
          <a:prstGeom prst="rect">
            <a:avLst/>
          </a:prstGeom>
          <a:noFill/>
          <a:ln/>
        </p:spPr>
        <p:txBody>
          <a:bodyPr wrap="square" lIns="0" tIns="0" rIns="0" bIns="0" rtlCol="0" anchor="ctr"/>
          <a:lstStyle/>
          <a:p>
            <a:pPr indent="0" marL="0">
              <a:buNone/>
            </a:pPr>
            <a:r>
              <a:rPr lang="en-US" sz="1600" i="1" dirty="0">
                <a:solidFill>
                  <a:srgbClr val="CFE0E9"/>
                </a:solidFill>
                <a:latin typeface="Calibri" pitchFamily="34" charset="0"/>
                <a:ea typeface="Calibri" pitchFamily="34" charset="-122"/>
                <a:cs typeface="Calibri" pitchFamily="34" charset="-120"/>
              </a:rPr>
              <a:t>Weigh it, choose, and write it down:</a:t>
            </a:r>
            <a:endParaRPr lang="en-US" sz="1600" dirty="0"/>
          </a:p>
        </p:txBody>
      </p:sp>
      <p:sp>
        <p:nvSpPr>
          <p:cNvPr id="7" name="Shape 5"/>
          <p:cNvSpPr/>
          <p:nvPr/>
        </p:nvSpPr>
        <p:spPr>
          <a:xfrm>
            <a:off x="548640" y="2148840"/>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777240" y="2517648"/>
            <a:ext cx="457200" cy="457200"/>
          </a:xfrm>
          <a:prstGeom prst="ellipse">
            <a:avLst/>
          </a:prstGeom>
          <a:solidFill>
            <a:srgbClr val="E8A33D"/>
          </a:solidFill>
          <a:ln/>
        </p:spPr>
      </p:sp>
      <p:sp>
        <p:nvSpPr>
          <p:cNvPr id="9" name="Text 7"/>
          <p:cNvSpPr/>
          <p:nvPr/>
        </p:nvSpPr>
        <p:spPr>
          <a:xfrm>
            <a:off x="777240" y="2517648"/>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1</a:t>
            </a:r>
            <a:endParaRPr lang="en-US" sz="2000" dirty="0"/>
          </a:p>
        </p:txBody>
      </p:sp>
      <p:sp>
        <p:nvSpPr>
          <p:cNvPr id="10" name="Text 8"/>
          <p:cNvSpPr/>
          <p:nvPr/>
        </p:nvSpPr>
        <p:spPr>
          <a:xfrm>
            <a:off x="1417320" y="2148840"/>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Weigh the scores and the peer feedback together.</a:t>
            </a:r>
            <a:endParaRPr lang="en-US" sz="1550" dirty="0"/>
          </a:p>
        </p:txBody>
      </p:sp>
      <p:sp>
        <p:nvSpPr>
          <p:cNvPr id="11" name="Text 9"/>
          <p:cNvSpPr/>
          <p:nvPr/>
        </p:nvSpPr>
        <p:spPr>
          <a:xfrm>
            <a:off x="10149840" y="2148840"/>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2" name="Shape 10"/>
          <p:cNvSpPr/>
          <p:nvPr/>
        </p:nvSpPr>
        <p:spPr>
          <a:xfrm>
            <a:off x="548640" y="3471672"/>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777240" y="3840480"/>
            <a:ext cx="457200" cy="457200"/>
          </a:xfrm>
          <a:prstGeom prst="ellipse">
            <a:avLst/>
          </a:prstGeom>
          <a:solidFill>
            <a:srgbClr val="E8A33D"/>
          </a:solidFill>
          <a:ln/>
        </p:spPr>
      </p:sp>
      <p:sp>
        <p:nvSpPr>
          <p:cNvPr id="14" name="Text 12"/>
          <p:cNvSpPr/>
          <p:nvPr/>
        </p:nvSpPr>
        <p:spPr>
          <a:xfrm>
            <a:off x="777240" y="3840480"/>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417320" y="3471672"/>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Commit to one or two ideas to carry forward.</a:t>
            </a:r>
            <a:endParaRPr lang="en-US" sz="1550" dirty="0"/>
          </a:p>
        </p:txBody>
      </p:sp>
      <p:sp>
        <p:nvSpPr>
          <p:cNvPr id="16" name="Text 14"/>
          <p:cNvSpPr/>
          <p:nvPr/>
        </p:nvSpPr>
        <p:spPr>
          <a:xfrm>
            <a:off x="10149840" y="3471672"/>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2 min</a:t>
            </a:r>
            <a:endParaRPr lang="en-US" sz="1400" dirty="0"/>
          </a:p>
        </p:txBody>
      </p:sp>
      <p:sp>
        <p:nvSpPr>
          <p:cNvPr id="17" name="Shape 15"/>
          <p:cNvSpPr/>
          <p:nvPr/>
        </p:nvSpPr>
        <p:spPr>
          <a:xfrm>
            <a:off x="548640" y="4794504"/>
            <a:ext cx="11064240" cy="1194816"/>
          </a:xfrm>
          <a:prstGeom prst="roundRect">
            <a:avLst>
              <a:gd name="adj" fmla="val 6888"/>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777240" y="5163312"/>
            <a:ext cx="457200" cy="457200"/>
          </a:xfrm>
          <a:prstGeom prst="ellipse">
            <a:avLst/>
          </a:prstGeom>
          <a:solidFill>
            <a:srgbClr val="E8A33D"/>
          </a:solidFill>
          <a:ln/>
        </p:spPr>
      </p:sp>
      <p:sp>
        <p:nvSpPr>
          <p:cNvPr id="19" name="Text 17"/>
          <p:cNvSpPr/>
          <p:nvPr/>
        </p:nvSpPr>
        <p:spPr>
          <a:xfrm>
            <a:off x="777240" y="5163312"/>
            <a:ext cx="457200" cy="457200"/>
          </a:xfrm>
          <a:prstGeom prst="rect">
            <a:avLst/>
          </a:prstGeom>
          <a:noFill/>
          <a:ln/>
        </p:spPr>
        <p:txBody>
          <a:bodyPr wrap="square" lIns="0" tIns="0" rIns="0" bIns="0" rtlCol="0" anchor="ctr"/>
          <a:lstStyle/>
          <a:p>
            <a:pPr algn="ctr" indent="0" marL="0">
              <a:buNone/>
            </a:pPr>
            <a:r>
              <a:rPr lang="en-US" sz="2000" b="1" dirty="0">
                <a:solidFill>
                  <a:srgbClr val="14233A"/>
                </a:solidFill>
                <a:latin typeface="Cambria" pitchFamily="34" charset="0"/>
                <a:ea typeface="Cambria" pitchFamily="34" charset="-122"/>
                <a:cs typeface="Cambria" pitchFamily="34" charset="-120"/>
              </a:rPr>
              <a:t>3</a:t>
            </a:r>
            <a:endParaRPr lang="en-US" sz="2000" dirty="0"/>
          </a:p>
        </p:txBody>
      </p:sp>
      <p:sp>
        <p:nvSpPr>
          <p:cNvPr id="20" name="Text 18"/>
          <p:cNvSpPr/>
          <p:nvPr/>
        </p:nvSpPr>
        <p:spPr>
          <a:xfrm>
            <a:off x="1417320" y="4794504"/>
            <a:ext cx="8595360" cy="1194816"/>
          </a:xfrm>
          <a:prstGeom prst="rect">
            <a:avLst/>
          </a:prstGeom>
          <a:noFill/>
          <a:ln/>
        </p:spPr>
        <p:txBody>
          <a:bodyPr wrap="square" lIns="0" tIns="0" rIns="0" bIns="0" rtlCol="0" anchor="ctr"/>
          <a:lstStyle/>
          <a:p>
            <a:pPr indent="0" marL="0">
              <a:lnSpc>
                <a:spcPct val="103000"/>
              </a:lnSpc>
              <a:buNone/>
            </a:pPr>
            <a:r>
              <a:rPr lang="en-US" sz="1550" dirty="0">
                <a:solidFill>
                  <a:srgbClr val="FFFFFF"/>
                </a:solidFill>
                <a:latin typeface="Calibri" pitchFamily="34" charset="0"/>
                <a:ea typeface="Calibri" pitchFamily="34" charset="-122"/>
                <a:cs typeface="Calibri" pitchFamily="34" charset="-120"/>
              </a:rPr>
              <a:t>Write the one-line rationale for each: who · the real need · why feasible · why rich.</a:t>
            </a:r>
            <a:endParaRPr lang="en-US" sz="1550" dirty="0"/>
          </a:p>
        </p:txBody>
      </p:sp>
      <p:sp>
        <p:nvSpPr>
          <p:cNvPr id="21" name="Text 19"/>
          <p:cNvSpPr/>
          <p:nvPr/>
        </p:nvSpPr>
        <p:spPr>
          <a:xfrm>
            <a:off x="10149840" y="4794504"/>
            <a:ext cx="1280160" cy="1194816"/>
          </a:xfrm>
          <a:prstGeom prst="rect">
            <a:avLst/>
          </a:prstGeom>
          <a:noFill/>
          <a:ln/>
        </p:spPr>
        <p:txBody>
          <a:bodyPr wrap="square" lIns="0" tIns="0" rIns="0" bIns="0" rtlCol="0" anchor="ctr"/>
          <a:lstStyle/>
          <a:p>
            <a:pPr algn="r" indent="0" marL="0">
              <a:buNone/>
            </a:pPr>
            <a:r>
              <a:rPr lang="en-US" sz="1400" b="1" dirty="0">
                <a:solidFill>
                  <a:srgbClr val="E8A33D"/>
                </a:solidFill>
                <a:latin typeface="Calibri" pitchFamily="34" charset="0"/>
                <a:ea typeface="Calibri" pitchFamily="34" charset="-122"/>
                <a:cs typeface="Calibri" pitchFamily="34" charset="-120"/>
              </a:rPr>
              <a:t>4 min</a:t>
            </a:r>
            <a:endParaRPr lang="en-US" sz="1400" dirty="0"/>
          </a:p>
        </p:txBody>
      </p:sp>
      <p:sp>
        <p:nvSpPr>
          <p:cNvPr id="22" name="Text 20"/>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6 · Convergence Workshop</a:t>
            </a:r>
            <a:endParaRPr lang="en-US" sz="1000" dirty="0"/>
          </a:p>
        </p:txBody>
      </p:sp>
      <p:sp>
        <p:nvSpPr>
          <p:cNvPr id="23" name="Text 2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THIS WEEKEND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Your idea becomes the Product Definition Brief</a:t>
            </a:r>
            <a:endParaRPr lang="en-US" sz="3100" dirty="0"/>
          </a:p>
        </p:txBody>
      </p:sp>
      <p:sp>
        <p:nvSpPr>
          <p:cNvPr id="5" name="Text 3"/>
          <p:cNvSpPr/>
          <p:nvPr/>
        </p:nvSpPr>
        <p:spPr>
          <a:xfrm>
            <a:off x="548640" y="1572768"/>
            <a:ext cx="11064240" cy="365760"/>
          </a:xfrm>
          <a:prstGeom prst="rect">
            <a:avLst/>
          </a:prstGeom>
          <a:noFill/>
          <a:ln/>
        </p:spPr>
        <p:txBody>
          <a:bodyPr wrap="square" lIns="0" tIns="0" rIns="0" bIns="0" rtlCol="0" anchor="ctr"/>
          <a:lstStyle/>
          <a:p>
            <a:pPr indent="0" marL="0">
              <a:buNone/>
            </a:pPr>
            <a:r>
              <a:rPr lang="en-US" sz="1450" i="1" dirty="0">
                <a:solidFill>
                  <a:srgbClr val="5F7284"/>
                </a:solidFill>
                <a:latin typeface="Calibri" pitchFamily="34" charset="0"/>
                <a:ea typeface="Calibri" pitchFamily="34" charset="-122"/>
                <a:cs typeface="Calibri" pitchFamily="34" charset="-120"/>
              </a:rPr>
              <a:t>The idea you just chose is what CP2 documents — a lightweight PRD (see resources/PRD-Reference.md). Five sections:</a:t>
            </a:r>
            <a:endParaRPr lang="en-US" sz="1450" dirty="0"/>
          </a:p>
        </p:txBody>
      </p:sp>
      <p:sp>
        <p:nvSpPr>
          <p:cNvPr id="6" name="Shape 4"/>
          <p:cNvSpPr/>
          <p:nvPr/>
        </p:nvSpPr>
        <p:spPr>
          <a:xfrm>
            <a:off x="548640"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7" name="Shape 5"/>
          <p:cNvSpPr/>
          <p:nvPr/>
        </p:nvSpPr>
        <p:spPr>
          <a:xfrm>
            <a:off x="786384" y="2249424"/>
            <a:ext cx="512064" cy="512064"/>
          </a:xfrm>
          <a:prstGeom prst="ellipse">
            <a:avLst/>
          </a:prstGeom>
          <a:solidFill>
            <a:srgbClr val="12908F"/>
          </a:solidFill>
          <a:ln/>
        </p:spPr>
      </p:sp>
      <p:pic>
        <p:nvPicPr>
          <p:cNvPr id="8" name="Image 0" descr="preencoded.png">    </p:cNvPr>
          <p:cNvPicPr>
            <a:picLocks noChangeAspect="1"/>
          </p:cNvPicPr>
          <p:nvPr/>
        </p:nvPicPr>
        <p:blipFill>
          <a:blip r:embed="rId1"/>
          <a:stretch>
            <a:fillRect/>
          </a:stretch>
        </p:blipFill>
        <p:spPr>
          <a:xfrm>
            <a:off x="924641" y="2387681"/>
            <a:ext cx="235549" cy="235549"/>
          </a:xfrm>
          <a:prstGeom prst="rect">
            <a:avLst/>
          </a:prstGeom>
        </p:spPr>
      </p:pic>
      <p:sp>
        <p:nvSpPr>
          <p:cNvPr id="9" name="Text 6"/>
          <p:cNvSpPr/>
          <p:nvPr/>
        </p:nvSpPr>
        <p:spPr>
          <a:xfrm>
            <a:off x="1408176"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Target user</a:t>
            </a:r>
            <a:endParaRPr lang="en-US" sz="1650" dirty="0"/>
          </a:p>
        </p:txBody>
      </p:sp>
      <p:sp>
        <p:nvSpPr>
          <p:cNvPr id="10" name="Text 7"/>
          <p:cNvSpPr/>
          <p:nvPr/>
        </p:nvSpPr>
        <p:spPr>
          <a:xfrm>
            <a:off x="786384"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Sharply defined and bounded — who's in, who's out.</a:t>
            </a:r>
            <a:endParaRPr lang="en-US" sz="1300" dirty="0"/>
          </a:p>
        </p:txBody>
      </p:sp>
      <p:sp>
        <p:nvSpPr>
          <p:cNvPr id="11" name="Shape 8"/>
          <p:cNvSpPr/>
          <p:nvPr/>
        </p:nvSpPr>
        <p:spPr>
          <a:xfrm>
            <a:off x="4233672"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4471416" y="2249424"/>
            <a:ext cx="512064" cy="512064"/>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4609673" y="2387681"/>
            <a:ext cx="235549" cy="235549"/>
          </a:xfrm>
          <a:prstGeom prst="rect">
            <a:avLst/>
          </a:prstGeom>
        </p:spPr>
      </p:pic>
      <p:sp>
        <p:nvSpPr>
          <p:cNvPr id="14" name="Text 10"/>
          <p:cNvSpPr/>
          <p:nvPr/>
        </p:nvSpPr>
        <p:spPr>
          <a:xfrm>
            <a:off x="5093208"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The needs</a:t>
            </a:r>
            <a:endParaRPr lang="en-US" sz="1650" dirty="0"/>
          </a:p>
        </p:txBody>
      </p:sp>
      <p:sp>
        <p:nvSpPr>
          <p:cNvPr id="15" name="Text 11"/>
          <p:cNvSpPr/>
          <p:nvPr/>
        </p:nvSpPr>
        <p:spPr>
          <a:xfrm>
            <a:off x="4471416"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What they're trying to do; tagged [E] evidence / [A] assumption.</a:t>
            </a:r>
            <a:endParaRPr lang="en-US" sz="1300" dirty="0"/>
          </a:p>
        </p:txBody>
      </p:sp>
      <p:sp>
        <p:nvSpPr>
          <p:cNvPr id="16" name="Shape 12"/>
          <p:cNvSpPr/>
          <p:nvPr/>
        </p:nvSpPr>
        <p:spPr>
          <a:xfrm>
            <a:off x="7918704" y="2011680"/>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17" name="Shape 13"/>
          <p:cNvSpPr/>
          <p:nvPr/>
        </p:nvSpPr>
        <p:spPr>
          <a:xfrm>
            <a:off x="8156448" y="2249424"/>
            <a:ext cx="512064" cy="512064"/>
          </a:xfrm>
          <a:prstGeom prst="ellipse">
            <a:avLst/>
          </a:prstGeom>
          <a:solidFill>
            <a:srgbClr val="12908F"/>
          </a:solidFill>
          <a:ln/>
        </p:spPr>
      </p:sp>
      <p:pic>
        <p:nvPicPr>
          <p:cNvPr id="18" name="Image 2" descr="preencoded.png">    </p:cNvPr>
          <p:cNvPicPr>
            <a:picLocks noChangeAspect="1"/>
          </p:cNvPicPr>
          <p:nvPr/>
        </p:nvPicPr>
        <p:blipFill>
          <a:blip r:embed="rId3"/>
          <a:stretch>
            <a:fillRect/>
          </a:stretch>
        </p:blipFill>
        <p:spPr>
          <a:xfrm>
            <a:off x="8294705" y="2387681"/>
            <a:ext cx="235549" cy="235549"/>
          </a:xfrm>
          <a:prstGeom prst="rect">
            <a:avLst/>
          </a:prstGeom>
        </p:spPr>
      </p:pic>
      <p:sp>
        <p:nvSpPr>
          <p:cNvPr id="19" name="Text 14"/>
          <p:cNvSpPr/>
          <p:nvPr/>
        </p:nvSpPr>
        <p:spPr>
          <a:xfrm>
            <a:off x="8778240" y="2249424"/>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Prioritized needs</a:t>
            </a:r>
            <a:endParaRPr lang="en-US" sz="1650" dirty="0"/>
          </a:p>
        </p:txBody>
      </p:sp>
      <p:sp>
        <p:nvSpPr>
          <p:cNvPr id="20" name="Text 15"/>
          <p:cNvSpPr/>
          <p:nvPr/>
        </p:nvSpPr>
        <p:spPr>
          <a:xfrm>
            <a:off x="8156448" y="2871216"/>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Must-have vs. nice-to-have, with a one-line rationale.</a:t>
            </a:r>
            <a:endParaRPr lang="en-US" sz="1300" dirty="0"/>
          </a:p>
        </p:txBody>
      </p:sp>
      <p:sp>
        <p:nvSpPr>
          <p:cNvPr id="21" name="Shape 16"/>
          <p:cNvSpPr/>
          <p:nvPr/>
        </p:nvSpPr>
        <p:spPr>
          <a:xfrm>
            <a:off x="548640" y="3913632"/>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2" name="Shape 17"/>
          <p:cNvSpPr/>
          <p:nvPr/>
        </p:nvSpPr>
        <p:spPr>
          <a:xfrm>
            <a:off x="786384" y="4151376"/>
            <a:ext cx="512064" cy="512064"/>
          </a:xfrm>
          <a:prstGeom prst="ellipse">
            <a:avLst/>
          </a:prstGeom>
          <a:solidFill>
            <a:srgbClr val="12908F"/>
          </a:solidFill>
          <a:ln/>
        </p:spPr>
      </p:sp>
      <p:pic>
        <p:nvPicPr>
          <p:cNvPr id="23" name="Image 3" descr="preencoded.png">    </p:cNvPr>
          <p:cNvPicPr>
            <a:picLocks noChangeAspect="1"/>
          </p:cNvPicPr>
          <p:nvPr/>
        </p:nvPicPr>
        <p:blipFill>
          <a:blip r:embed="rId4"/>
          <a:stretch>
            <a:fillRect/>
          </a:stretch>
        </p:blipFill>
        <p:spPr>
          <a:xfrm>
            <a:off x="924641" y="4289633"/>
            <a:ext cx="235549" cy="235549"/>
          </a:xfrm>
          <a:prstGeom prst="rect">
            <a:avLst/>
          </a:prstGeom>
        </p:spPr>
      </p:pic>
      <p:sp>
        <p:nvSpPr>
          <p:cNvPr id="24" name="Text 18"/>
          <p:cNvSpPr/>
          <p:nvPr/>
        </p:nvSpPr>
        <p:spPr>
          <a:xfrm>
            <a:off x="1408176" y="4151376"/>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Success criteria</a:t>
            </a:r>
            <a:endParaRPr lang="en-US" sz="1650" dirty="0"/>
          </a:p>
        </p:txBody>
      </p:sp>
      <p:sp>
        <p:nvSpPr>
          <p:cNvPr id="25" name="Text 19"/>
          <p:cNvSpPr/>
          <p:nvPr/>
        </p:nvSpPr>
        <p:spPr>
          <a:xfrm>
            <a:off x="786384" y="4773168"/>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Specific, observable definitions of "this works."</a:t>
            </a:r>
            <a:endParaRPr lang="en-US" sz="1300" dirty="0"/>
          </a:p>
        </p:txBody>
      </p:sp>
      <p:sp>
        <p:nvSpPr>
          <p:cNvPr id="26" name="Shape 20"/>
          <p:cNvSpPr/>
          <p:nvPr/>
        </p:nvSpPr>
        <p:spPr>
          <a:xfrm>
            <a:off x="4233672" y="3913632"/>
            <a:ext cx="3511296"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27" name="Shape 21"/>
          <p:cNvSpPr/>
          <p:nvPr/>
        </p:nvSpPr>
        <p:spPr>
          <a:xfrm>
            <a:off x="4471416" y="4151376"/>
            <a:ext cx="512064" cy="512064"/>
          </a:xfrm>
          <a:prstGeom prst="ellipse">
            <a:avLst/>
          </a:prstGeom>
          <a:solidFill>
            <a:srgbClr val="12908F"/>
          </a:solidFill>
          <a:ln/>
        </p:spPr>
      </p:sp>
      <p:pic>
        <p:nvPicPr>
          <p:cNvPr id="28" name="Image 4" descr="preencoded.png">    </p:cNvPr>
          <p:cNvPicPr>
            <a:picLocks noChangeAspect="1"/>
          </p:cNvPicPr>
          <p:nvPr/>
        </p:nvPicPr>
        <p:blipFill>
          <a:blip r:embed="rId5"/>
          <a:stretch>
            <a:fillRect/>
          </a:stretch>
        </p:blipFill>
        <p:spPr>
          <a:xfrm>
            <a:off x="4609673" y="4289633"/>
            <a:ext cx="235549" cy="235549"/>
          </a:xfrm>
          <a:prstGeom prst="rect">
            <a:avLst/>
          </a:prstGeom>
        </p:spPr>
      </p:pic>
      <p:sp>
        <p:nvSpPr>
          <p:cNvPr id="29" name="Text 22"/>
          <p:cNvSpPr/>
          <p:nvPr/>
        </p:nvSpPr>
        <p:spPr>
          <a:xfrm>
            <a:off x="5093208" y="4151376"/>
            <a:ext cx="2505456" cy="512064"/>
          </a:xfrm>
          <a:prstGeom prst="rect">
            <a:avLst/>
          </a:prstGeom>
          <a:noFill/>
          <a:ln/>
        </p:spPr>
        <p:txBody>
          <a:bodyPr wrap="square" lIns="0" tIns="0" rIns="0" bIns="0" rtlCol="0" anchor="ctr"/>
          <a:lstStyle/>
          <a:p>
            <a:pPr indent="0" marL="0">
              <a:buNone/>
            </a:pPr>
            <a:r>
              <a:rPr lang="en-US" sz="1650" b="1" dirty="0">
                <a:solidFill>
                  <a:srgbClr val="1E2A36"/>
                </a:solidFill>
                <a:latin typeface="Calibri" pitchFamily="34" charset="0"/>
                <a:ea typeface="Calibri" pitchFamily="34" charset="-122"/>
                <a:cs typeface="Calibri" pitchFamily="34" charset="-120"/>
              </a:rPr>
              <a:t>Open questions</a:t>
            </a:r>
            <a:endParaRPr lang="en-US" sz="1650" dirty="0"/>
          </a:p>
        </p:txBody>
      </p:sp>
      <p:sp>
        <p:nvSpPr>
          <p:cNvPr id="30" name="Text 23"/>
          <p:cNvSpPr/>
          <p:nvPr/>
        </p:nvSpPr>
        <p:spPr>
          <a:xfrm>
            <a:off x="4471416" y="4773168"/>
            <a:ext cx="3054096" cy="822960"/>
          </a:xfrm>
          <a:prstGeom prst="rect">
            <a:avLst/>
          </a:prstGeom>
          <a:noFill/>
          <a:ln/>
        </p:spPr>
        <p:txBody>
          <a:bodyPr wrap="square" lIns="0" tIns="0" rIns="0" bIns="0" rtlCol="0" anchor="t"/>
          <a:lstStyle/>
          <a:p>
            <a:pPr indent="0" marL="0">
              <a:lnSpc>
                <a:spcPct val="104000"/>
              </a:lnSpc>
              <a:buNone/>
            </a:pPr>
            <a:r>
              <a:rPr lang="en-US" sz="1300" dirty="0">
                <a:solidFill>
                  <a:srgbClr val="5F7284"/>
                </a:solidFill>
                <a:latin typeface="Calibri" pitchFamily="34" charset="0"/>
                <a:ea typeface="Calibri" pitchFamily="34" charset="-122"/>
                <a:cs typeface="Calibri" pitchFamily="34" charset="-120"/>
              </a:rPr>
              <a:t>The biggest assumptions you'd still verify.</a:t>
            </a:r>
            <a:endParaRPr lang="en-US" sz="1300" dirty="0"/>
          </a:p>
        </p:txBody>
      </p:sp>
      <p:sp>
        <p:nvSpPr>
          <p:cNvPr id="31" name="Shape 24"/>
          <p:cNvSpPr/>
          <p:nvPr/>
        </p:nvSpPr>
        <p:spPr>
          <a:xfrm>
            <a:off x="7918704" y="3913632"/>
            <a:ext cx="3511296" cy="1783080"/>
          </a:xfrm>
          <a:prstGeom prst="roundRect">
            <a:avLst>
              <a:gd name="adj" fmla="val 4615"/>
            </a:avLst>
          </a:prstGeom>
          <a:solidFill>
            <a:srgbClr val="14233A"/>
          </a:solidFill>
          <a:ln/>
          <a:effectLst>
            <a:outerShdw sx="100000" sy="100000" kx="0" ky="0" algn="bl" rotWithShape="0" blurRad="88900" dist="38100" dir="5400000">
              <a:srgbClr val="000000">
                <a:alpha val="13000"/>
              </a:srgbClr>
            </a:outerShdw>
          </a:effectLst>
        </p:spPr>
      </p:sp>
      <p:sp>
        <p:nvSpPr>
          <p:cNvPr id="32" name="Shape 25"/>
          <p:cNvSpPr/>
          <p:nvPr/>
        </p:nvSpPr>
        <p:spPr>
          <a:xfrm>
            <a:off x="8156448" y="4151376"/>
            <a:ext cx="512064" cy="512064"/>
          </a:xfrm>
          <a:prstGeom prst="ellipse">
            <a:avLst/>
          </a:prstGeom>
          <a:solidFill>
            <a:srgbClr val="E8A33D"/>
          </a:solidFill>
          <a:ln/>
        </p:spPr>
      </p:sp>
      <p:pic>
        <p:nvPicPr>
          <p:cNvPr id="33" name="Image 5" descr="preencoded.png">    </p:cNvPr>
          <p:cNvPicPr>
            <a:picLocks noChangeAspect="1"/>
          </p:cNvPicPr>
          <p:nvPr/>
        </p:nvPicPr>
        <p:blipFill>
          <a:blip r:embed="rId6"/>
          <a:stretch>
            <a:fillRect/>
          </a:stretch>
        </p:blipFill>
        <p:spPr>
          <a:xfrm>
            <a:off x="8294705" y="4289633"/>
            <a:ext cx="235549" cy="235549"/>
          </a:xfrm>
          <a:prstGeom prst="rect">
            <a:avLst/>
          </a:prstGeom>
        </p:spPr>
      </p:pic>
      <p:sp>
        <p:nvSpPr>
          <p:cNvPr id="34" name="Text 26"/>
          <p:cNvSpPr/>
          <p:nvPr/>
        </p:nvSpPr>
        <p:spPr>
          <a:xfrm>
            <a:off x="8778240" y="4151376"/>
            <a:ext cx="2468880" cy="51206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Due Mon, Sep 28</a:t>
            </a:r>
            <a:endParaRPr lang="en-US" sz="1600" dirty="0"/>
          </a:p>
        </p:txBody>
      </p:sp>
      <p:sp>
        <p:nvSpPr>
          <p:cNvPr id="35" name="Text 27"/>
          <p:cNvSpPr/>
          <p:nvPr/>
        </p:nvSpPr>
        <p:spPr>
          <a:xfrm>
            <a:off x="8156448" y="4773168"/>
            <a:ext cx="3035808" cy="822960"/>
          </a:xfrm>
          <a:prstGeom prst="rect">
            <a:avLst/>
          </a:prstGeom>
          <a:noFill/>
          <a:ln/>
        </p:spPr>
        <p:txBody>
          <a:bodyPr wrap="square" lIns="0" tIns="0" rIns="0" bIns="0" rtlCol="0" anchor="t"/>
          <a:lstStyle/>
          <a:p>
            <a:pPr indent="0" marL="0">
              <a:lnSpc>
                <a:spcPct val="104000"/>
              </a:lnSpc>
              <a:buNone/>
            </a:pPr>
            <a:r>
              <a:rPr lang="en-US" sz="1250" dirty="0">
                <a:solidFill>
                  <a:srgbClr val="CFE0E9"/>
                </a:solidFill>
                <a:latin typeface="Calibri" pitchFamily="34" charset="0"/>
                <a:ea typeface="Calibri" pitchFamily="34" charset="-122"/>
                <a:cs typeface="Calibri" pitchFamily="34" charset="-120"/>
              </a:rPr>
              <a:t>Written from today's pick + feedback. ~2 pages. Ground it in your Discovery Notes.</a:t>
            </a:r>
            <a:endParaRPr lang="en-US" sz="1250" dirty="0"/>
          </a:p>
        </p:txBody>
      </p:sp>
      <p:sp>
        <p:nvSpPr>
          <p:cNvPr id="36" name="Text 28"/>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37" name="Text 2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CP2 IS GRADED</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Product Definition Brief — the rubric</a:t>
            </a:r>
            <a:endParaRPr lang="en-US" sz="3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64240" cy="914400"/>
        </p:xfrm>
        <a:graphic>
          <a:graphicData uri="http://schemas.openxmlformats.org/drawingml/2006/table">
            <a:tbl>
              <a:tblPr/>
              <a:tblGrid>
                <a:gridCol w="3017520"/>
                <a:gridCol w="822960"/>
                <a:gridCol w="7223760"/>
              </a:tblGrid>
              <a:tr h="566928">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Criterion</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ctr" indent="0" marL="0">
                        <a:buNone/>
                      </a:pPr>
                      <a:r>
                        <a:rPr lang="en-US" sz="1450" b="1" dirty="0">
                          <a:solidFill>
                            <a:srgbClr val="FFFFFF"/>
                          </a:solidFill>
                          <a:latin typeface="Calibri" pitchFamily="34" charset="0"/>
                          <a:ea typeface="Calibri" pitchFamily="34" charset="-122"/>
                          <a:cs typeface="Calibri" pitchFamily="34" charset="-120"/>
                        </a:rPr>
                        <a:t>Wt</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c>
                  <a:txBody>
                    <a:bodyPr/>
                    <a:lstStyle/>
                    <a:p>
                      <a:pPr algn="l" indent="0" marL="0">
                        <a:buNone/>
                      </a:pPr>
                      <a:r>
                        <a:rPr lang="en-US" sz="1450" b="1" dirty="0">
                          <a:solidFill>
                            <a:srgbClr val="FFFFFF"/>
                          </a:solidFill>
                          <a:latin typeface="Calibri" pitchFamily="34" charset="0"/>
                          <a:ea typeface="Calibri" pitchFamily="34" charset="-122"/>
                          <a:cs typeface="Calibri" pitchFamily="34" charset="-120"/>
                        </a:rPr>
                        <a:t>What it measures</a:t>
                      </a:r>
                      <a:endParaRPr lang="en-US" sz="14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4233A"/>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Target user clarity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Userbase sharply defined and bounded — not "everyone."</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Needfinding quality &amp; honesty</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30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Interviews and/or a documented persona; honesty about method graded as heavily as the findings.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EAD2"/>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Prioritized needs</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Must-have vs. nice-to-have, with a defensible rationale.</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Success criteria</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Specific, observable, defensible definitions of "this works."</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1E2A36"/>
                          </a:solidFill>
                          <a:latin typeface="Calibri" pitchFamily="34" charset="0"/>
                          <a:ea typeface="Calibri" pitchFamily="34" charset="-122"/>
                          <a:cs typeface="Calibri" pitchFamily="34" charset="-120"/>
                        </a:rPr>
                        <a:t>PRD mapping</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E6E6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1E2A36"/>
                          </a:solidFill>
                          <a:latin typeface="Calibri" pitchFamily="34" charset="0"/>
                          <a:ea typeface="Calibri" pitchFamily="34" charset="-122"/>
                          <a:cs typeface="Calibri" pitchFamily="34" charset="-120"/>
                        </a:rPr>
                        <a:t>Reads like a lightweight PRD — problem and user, not a solution.</a:t>
                      </a:r>
                      <a:endParaRPr lang="en-US" sz="1350" dirty="0">
                        <a:latin typeface="Calibri" charset="0"/>
                        <a:ea typeface="Calibri" charset="0"/>
                        <a:cs typeface="Calibri" charset="0"/>
                      </a:endParaRPr>
                    </a:p>
                  </a:txBody>
                  <a:tcPr marL="114300" marR="1143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41264"/>
            <a:ext cx="11064240" cy="658368"/>
          </a:xfrm>
          <a:prstGeom prst="roundRect">
            <a:avLst>
              <a:gd name="adj" fmla="val 12500"/>
            </a:avLst>
          </a:prstGeom>
          <a:solidFill>
            <a:srgbClr val="14233A"/>
          </a:solidFill>
          <a:ln/>
          <a:effectLst>
            <a:outerShdw sx="100000" sy="100000" kx="0" ky="0" algn="bl" rotWithShape="0" blurRad="88900" dist="38100" dir="5400000">
              <a:srgbClr val="000000">
                <a:alpha val="13000"/>
              </a:srgbClr>
            </a:outerShdw>
          </a:effectLst>
        </p:spPr>
      </p:sp>
      <p:sp>
        <p:nvSpPr>
          <p:cNvPr id="7" name="Shape 4"/>
          <p:cNvSpPr/>
          <p:nvPr/>
        </p:nvSpPr>
        <p:spPr>
          <a:xfrm>
            <a:off x="841248" y="5660136"/>
            <a:ext cx="420624" cy="420624"/>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54816" y="5773704"/>
            <a:ext cx="193487" cy="193487"/>
          </a:xfrm>
          <a:prstGeom prst="rect">
            <a:avLst/>
          </a:prstGeom>
        </p:spPr>
      </p:pic>
      <p:sp>
        <p:nvSpPr>
          <p:cNvPr id="9" name="Text 5"/>
          <p:cNvSpPr/>
          <p:nvPr/>
        </p:nvSpPr>
        <p:spPr>
          <a:xfrm>
            <a:off x="1417320" y="5541264"/>
            <a:ext cx="9966960" cy="658368"/>
          </a:xfrm>
          <a:prstGeom prst="rect">
            <a:avLst/>
          </a:prstGeom>
          <a:noFill/>
          <a:ln/>
        </p:spPr>
        <p:txBody>
          <a:bodyPr wrap="square" lIns="0" tIns="0" rIns="0" bIns="0" rtlCol="0" anchor="ctr"/>
          <a:lstStyle/>
          <a:p>
            <a:pPr indent="0" marL="0">
              <a:buNone/>
            </a:pPr>
            <a:r>
              <a:rPr lang="en-US" sz="1450" b="1" dirty="0">
                <a:solidFill>
                  <a:srgbClr val="E8A33D"/>
                </a:solidFill>
                <a:latin typeface="Calibri" pitchFamily="34" charset="0"/>
                <a:ea typeface="Calibri" pitchFamily="34" charset="-122"/>
                <a:cs typeface="Calibri" pitchFamily="34" charset="-120"/>
              </a:rPr>
              <a:t>Needfinding carries the most weight (30)  </a:t>
            </a:r>
            <a:pPr indent="0" marL="0">
              <a:buNone/>
            </a:pPr>
            <a:r>
              <a:rPr lang="en-US" sz="1450" dirty="0">
                <a:solidFill>
                  <a:srgbClr val="FFFFFF"/>
                </a:solidFill>
                <a:latin typeface="Calibri" pitchFamily="34" charset="0"/>
                <a:ea typeface="Calibri" pitchFamily="34" charset="-122"/>
                <a:cs typeface="Calibri" pitchFamily="34" charset="-120"/>
              </a:rPr>
              <a:t>— reach at least Developing on every criterion to stay on a passing track.</a:t>
            </a:r>
            <a:endParaRPr lang="en-US" sz="1450" dirty="0"/>
          </a:p>
        </p:txBody>
      </p:sp>
      <p:sp>
        <p:nvSpPr>
          <p:cNvPr id="10" name="Text 6"/>
          <p:cNvSpPr/>
          <p:nvPr/>
        </p:nvSpPr>
        <p:spPr>
          <a:xfrm>
            <a:off x="6675120" y="6437376"/>
            <a:ext cx="49377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6 · Convergence Workshop</a:t>
            </a:r>
            <a:endParaRPr lang="en-US" sz="1000" dirty="0"/>
          </a:p>
        </p:txBody>
      </p:sp>
      <p:sp>
        <p:nvSpPr>
          <p:cNvPr id="11" name="Text 7"/>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4300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365199"/>
            <a:ext cx="378562" cy="378562"/>
          </a:xfrm>
          <a:prstGeom prst="rect">
            <a:avLst/>
          </a:prstGeom>
        </p:spPr>
      </p:pic>
      <p:sp>
        <p:nvSpPr>
          <p:cNvPr id="5" name="Text 2"/>
          <p:cNvSpPr/>
          <p:nvPr/>
        </p:nvSpPr>
        <p:spPr>
          <a:xfrm>
            <a:off x="822960" y="2103120"/>
            <a:ext cx="10881360" cy="1371600"/>
          </a:xfrm>
          <a:prstGeom prst="rect">
            <a:avLst/>
          </a:prstGeom>
          <a:noFill/>
          <a:ln/>
        </p:spPr>
        <p:txBody>
          <a:bodyPr wrap="square" lIns="0" tIns="0" rIns="0" bIns="0" rtlCol="0" anchor="ctr"/>
          <a:lstStyle/>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You converged deliberately — against a shared yardstick, with feedback.</a:t>
            </a:r>
            <a:endParaRPr lang="en-US" sz="2600" dirty="0"/>
          </a:p>
          <a:p>
            <a:pPr indent="0" marL="0">
              <a:lnSpc>
                <a:spcPct val="106000"/>
              </a:lnSpc>
              <a:buNone/>
            </a:pPr>
            <a:r>
              <a:rPr lang="en-US" sz="2600" b="1" i="1" dirty="0">
                <a:solidFill>
                  <a:srgbClr val="FFFFFF"/>
                </a:solidFill>
                <a:latin typeface="Cambria" pitchFamily="34" charset="0"/>
                <a:ea typeface="Cambria" pitchFamily="34" charset="-122"/>
                <a:cs typeface="Cambria" pitchFamily="34" charset="-120"/>
              </a:rPr>
              <a:t>Now you can defend your pick.</a:t>
            </a:r>
            <a:endParaRPr lang="en-US" sz="2600" dirty="0"/>
          </a:p>
        </p:txBody>
      </p:sp>
      <p:sp>
        <p:nvSpPr>
          <p:cNvPr id="6" name="Text 3"/>
          <p:cNvSpPr/>
          <p:nvPr/>
        </p:nvSpPr>
        <p:spPr>
          <a:xfrm>
            <a:off x="841248" y="37947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SEP 28</a:t>
            </a:r>
            <a:endParaRPr lang="en-US" sz="1400" dirty="0"/>
          </a:p>
        </p:txBody>
      </p:sp>
      <p:sp>
        <p:nvSpPr>
          <p:cNvPr id="7" name="Text 4"/>
          <p:cNvSpPr/>
          <p:nvPr/>
        </p:nvSpPr>
        <p:spPr>
          <a:xfrm>
            <a:off x="868680" y="4206240"/>
            <a:ext cx="10698480" cy="1737360"/>
          </a:xfrm>
          <a:prstGeom prst="rect">
            <a:avLst/>
          </a:prstGeom>
          <a:noFill/>
          <a:ln/>
        </p:spPr>
        <p:txBody>
          <a:bodyPr wrap="square" lIns="0" tIns="0" rIns="0" bIns="0" rtlCol="0" anchor="t"/>
          <a:lstStyle/>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Turn in CP1 Idea Briefs today</a:t>
            </a:r>
            <a:endParaRPr lang="en-US" sz="1550" dirty="0"/>
          </a:p>
          <a:p>
            <a:pPr marL="203200" indent="-203200">
              <a:spcAft>
                <a:spcPts val="800"/>
              </a:spcAft>
              <a:buSzPct val="100000"/>
              <a:buChar char="•"/>
            </a:pPr>
            <a:r>
              <a:rPr lang="en-US" sz="1550" dirty="0">
                <a:solidFill>
                  <a:srgbClr val="CBD8E6"/>
                </a:solidFill>
                <a:latin typeface="Calibri" pitchFamily="34" charset="0"/>
                <a:ea typeface="Calibri" pitchFamily="34" charset="-122"/>
                <a:cs typeface="Calibri" pitchFamily="34" charset="-120"/>
              </a:rPr>
              <a:t>Write CP2 Product Definition Brief from your converged pick + feedback — due Mon, Sep 28</a:t>
            </a:r>
            <a:endParaRPr lang="en-US" sz="1550" dirty="0"/>
          </a:p>
          <a:p>
            <a:pPr marL="203200" indent="-203200">
              <a:buSzPct val="100000"/>
              <a:buChar char="•"/>
            </a:pPr>
            <a:r>
              <a:rPr lang="en-US" sz="1550" dirty="0">
                <a:solidFill>
                  <a:srgbClr val="CBD8E6"/>
                </a:solidFill>
                <a:latin typeface="Calibri" pitchFamily="34" charset="0"/>
                <a:ea typeface="Calibri" pitchFamily="34" charset="-122"/>
                <a:cs typeface="Calibri" pitchFamily="34" charset="-120"/>
              </a:rPr>
              <a:t>Keep doing discovery on your chosen idea — more real input now makes the proposal stronger</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6 — Convergence Workshop</dc:title>
  <dc:subject>PptxGenJS Presentation</dc:subject>
  <dc:creator>CS 301R</dc:creator>
  <cp:lastModifiedBy>CS 301R</cp:lastModifiedBy>
  <cp:revision>1</cp:revision>
  <dcterms:created xsi:type="dcterms:W3CDTF">2026-07-27T20:26:22Z</dcterms:created>
  <dcterms:modified xsi:type="dcterms:W3CDTF">2026-07-27T20:26:22Z</dcterms:modified>
</cp:coreProperties>
</file>