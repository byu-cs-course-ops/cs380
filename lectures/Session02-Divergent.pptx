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61520" cy="6858000"/>
  <p:notesSz cx="6858000" cy="1216152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true workshop, and the first session that assumed pre-reading (the CPS handbook excerpt and Elder Hales). Set expectations immediately: minimal lecture, maximum doing — today they practice the CPS process, then turn it on the real world to generate problems. Keep the energy up; this is a hands-on day.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recap from Session 1: CPS means generate many options, then narrow — divergent opens up, convergent chooses. Then run the journal check-in as a live temperature read: "how many entries so far?", hands up by range. Celebrate quantity and don't judge quality — volume is the whole point right now, and they'll add a lot more today. If entries look thin, gently reset the expectation before you move on. ~2-3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now review from the reading, not new material — move briskly and check comprehension rather than lecturing. Name the four stages with a line each, and ask the room to supply the definitions if they did the reading. Land the banner: every stage uses both divergent and convergent thinking. Keep it to a few minutes; the doing is what matters today.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short discussion beat tied to the Hales reading. The CPS handbook gives the mechanics; Hales speaks to the purpose — creativity as a gift to develop and use in service, not just a technique. Pose the questions and let students talk; resist filling the silence too quickly. Aim to connect that sense of purpose to how they'll choose a project worth founding. ~4-5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toolkit — don't drill each tool. Name each one and its mode: Post-It burst and brainwriting and "how might we" (diverge), the ladder of abstraction (both), and Value vs. Do-ability (converge). Tell them today leans on Post-It, brainwriting, and the ladder, and that Value vs. Do-ability returns in Week 3 when they narrow. This is a reference slide — keep it short.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warm-up clearly: it exists to make the CPS process VISIBLE, not to build anything — paper only, design and reason, no drop. Walk the three beats: Clarify (just the goal for now), Ideate (generate wild protection ideas, no constraints yet), Develop (constraints appear, narrow to one). Put them in groups of 3-4 with a facilitator each. The trap you WANT them to fall into is not asking about constraints early. ~3 min to set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show this until the Development stage — OR reward any team that asks good Clarification questions by revealing it to them early; that reward IS the lesson. When it appears, their wild ideas (giant pillow, huge parachute) suddenly meet real limits, forcing convergence. Read the constraints once, then let them narrow to a single design. This is where "understand constraints before solutioning" gets felt rather than told. The exercise runs ~10-12 min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payoff slide — draw the lesson OUT of them rather than stating it. Ask which teams asked about constraints early and how much easier it made things. The Clarification lesson: real founding work starts by understanding the problem, its users, and its constraints before racing to solutions. Then pivot: the same divergent discipline — generate widely, defer judgment — is exactly how we'll find real problems worth founding on. ~3-4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main event. Three tools, one growing pool, run back to back: breadth (Post-It burst, ~9 min), build (brainwriting, ~9 min), depth (ladder, ~7 min). Explain each briefly, then GO — keep transitions crisp so momentum builds, and circulate as a coach, pushing teams past the obvious. Have them tag WHO feels each problem — a specific person or group, not "everyone"; deep needfinding is next week. ~25 min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slide up during the entire workshop — it's the reference, not a talking point. Return to it out loud whenever energy dips or someone starts solutioning: problems not solutions, defer judgment, prefer quantity, build on others', welcome wild ideas. The 40+ per group target gives them something concrete to chase. Keep reinforcing "tag who feels each one." (Stays up while they work.)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Before anyone leaves, land the capture routine so the work isn't lost. Have them star 3-5 problem spaces that tug at them — a private, gentle first narrowing weighing value against reachable users. Everything, starred or not, goes into the idea journal as raw material for the Idea Briefs. Stress that starring is NOT a commitment to a project; range still matters. ~2-3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the habit: keep noticing, because they need genuine range for three different Idea Briefs. Preview Monday, Sep 14: open source, licensing, and discovery — how to talk to real users. Ask them to bring their starred problem spaces into needfinding. ~1-2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966960" y="-1280160"/>
            <a:ext cx="3840480" cy="384048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00" y="4663440"/>
            <a:ext cx="2743200" cy="274320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325880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9848" y="15727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2514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SOFTWARE ENGINEERING STUDIO 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22960" y="2880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Divergent Problem-Space Workshop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841248" y="4343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 2 — Creative Problem Solving in Action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Wednesday, September 9, 2026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 &amp; journal check-in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3520440"/>
          </a:xfrm>
          <a:prstGeom prst="roundRect">
            <a:avLst>
              <a:gd name="adj" fmla="val 2338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48840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06" y="2311786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2768" y="22128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Session 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96112" y="3063240"/>
            <a:ext cx="489204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CPS = generate many options, then narrow.</a:t>
            </a:r>
            <a:endParaRPr lang="en-US" sz="1600" dirty="0"/>
          </a:p>
          <a:p>
            <a:pPr marL="203200" indent="-203200">
              <a:spcAft>
                <a:spcPts val="1300"/>
              </a:spcAft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 (open up) → convergent (choose).</a:t>
            </a:r>
            <a:endParaRPr lang="en-US" sz="1600" dirty="0"/>
          </a:p>
          <a:p>
            <a:pPr marL="203200" indent="-203200">
              <a:buSzPct val="100000"/>
              <a:buChar char="•"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practice the process, then use it to find real problems.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440680" cy="3520440"/>
          </a:xfrm>
          <a:prstGeom prst="roundRect">
            <a:avLst>
              <a:gd name="adj" fmla="val 2338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148840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466" y="2311786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96328" y="221284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Journal check-in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492240" y="306324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many entries so far?</a:t>
            </a:r>
            <a:endParaRPr lang="en-US" sz="2500" dirty="0"/>
          </a:p>
        </p:txBody>
      </p:sp>
      <p:sp>
        <p:nvSpPr>
          <p:cNvPr id="15" name="Text 11"/>
          <p:cNvSpPr/>
          <p:nvPr/>
        </p:nvSpPr>
        <p:spPr>
          <a:xfrm>
            <a:off x="6492240" y="3749040"/>
            <a:ext cx="4892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 up by range. Quantity is the whole point right now — we'll add a lot more today.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17" name="Text 13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READING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Creative Problem Solving — the four stages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2670048" cy="2697480"/>
          </a:xfrm>
          <a:prstGeom prst="roundRect">
            <a:avLst>
              <a:gd name="adj" fmla="val 308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472184" y="2194560"/>
            <a:ext cx="822960" cy="822960"/>
          </a:xfrm>
          <a:prstGeom prst="ellipse">
            <a:avLst/>
          </a:prstGeom>
          <a:solidFill>
            <a:srgbClr val="12908F"/>
          </a:solidFill>
          <a:ln/>
        </p:spPr>
      </p:sp>
      <p:sp>
        <p:nvSpPr>
          <p:cNvPr id="7" name="Text 5"/>
          <p:cNvSpPr/>
          <p:nvPr/>
        </p:nvSpPr>
        <p:spPr>
          <a:xfrm>
            <a:off x="1472184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58368" y="3154680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Clarification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13232" y="36393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Explore the problem space; gather facts; frame the real problem.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18688" y="3246120"/>
            <a:ext cx="201168" cy="27432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3346704" y="1965960"/>
            <a:ext cx="2670048" cy="2697480"/>
          </a:xfrm>
          <a:prstGeom prst="roundRect">
            <a:avLst>
              <a:gd name="adj" fmla="val 308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270248" y="2194560"/>
            <a:ext cx="822960" cy="822960"/>
          </a:xfrm>
          <a:prstGeom prst="ellipse">
            <a:avLst/>
          </a:prstGeom>
          <a:solidFill>
            <a:srgbClr val="12908F"/>
          </a:solidFill>
          <a:ln/>
        </p:spPr>
      </p:sp>
      <p:sp>
        <p:nvSpPr>
          <p:cNvPr id="13" name="Text 10"/>
          <p:cNvSpPr/>
          <p:nvPr/>
        </p:nvSpPr>
        <p:spPr>
          <a:xfrm>
            <a:off x="4270248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200" dirty="0"/>
          </a:p>
        </p:txBody>
      </p:sp>
      <p:sp>
        <p:nvSpPr>
          <p:cNvPr id="14" name="Text 11"/>
          <p:cNvSpPr/>
          <p:nvPr/>
        </p:nvSpPr>
        <p:spPr>
          <a:xfrm>
            <a:off x="3456432" y="3154680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Ideation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3511296" y="36393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many ideas; defer judgment; prefer quantity.</a:t>
            </a:r>
            <a:endParaRPr lang="en-US" sz="14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3246120"/>
            <a:ext cx="201168" cy="27432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6144768" y="1965960"/>
            <a:ext cx="2670048" cy="2697480"/>
          </a:xfrm>
          <a:prstGeom prst="roundRect">
            <a:avLst>
              <a:gd name="adj" fmla="val 308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7068312" y="2194560"/>
            <a:ext cx="822960" cy="822960"/>
          </a:xfrm>
          <a:prstGeom prst="ellipse">
            <a:avLst/>
          </a:prstGeom>
          <a:solidFill>
            <a:srgbClr val="12908F"/>
          </a:solidFill>
          <a:ln/>
        </p:spPr>
      </p:sp>
      <p:sp>
        <p:nvSpPr>
          <p:cNvPr id="19" name="Text 15"/>
          <p:cNvSpPr/>
          <p:nvPr/>
        </p:nvSpPr>
        <p:spPr>
          <a:xfrm>
            <a:off x="7068312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200" dirty="0"/>
          </a:p>
        </p:txBody>
      </p:sp>
      <p:sp>
        <p:nvSpPr>
          <p:cNvPr id="20" name="Text 16"/>
          <p:cNvSpPr/>
          <p:nvPr/>
        </p:nvSpPr>
        <p:spPr>
          <a:xfrm>
            <a:off x="6254496" y="3154680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6309360" y="36393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Strengthen and refine the best ideas against goals and constraints.</a:t>
            </a:r>
            <a:endParaRPr lang="en-US" sz="14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3246120"/>
            <a:ext cx="201168" cy="27432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8942832" y="1965960"/>
            <a:ext cx="2670048" cy="2697480"/>
          </a:xfrm>
          <a:prstGeom prst="roundRect">
            <a:avLst>
              <a:gd name="adj" fmla="val 3082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866376" y="2194560"/>
            <a:ext cx="822960" cy="822960"/>
          </a:xfrm>
          <a:prstGeom prst="ellipse">
            <a:avLst/>
          </a:prstGeom>
          <a:solidFill>
            <a:srgbClr val="12908F"/>
          </a:solidFill>
          <a:ln/>
        </p:spPr>
      </p:sp>
      <p:sp>
        <p:nvSpPr>
          <p:cNvPr id="25" name="Text 20"/>
          <p:cNvSpPr/>
          <p:nvPr/>
        </p:nvSpPr>
        <p:spPr>
          <a:xfrm>
            <a:off x="9866376" y="21945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26" name="Text 21"/>
          <p:cNvSpPr/>
          <p:nvPr/>
        </p:nvSpPr>
        <p:spPr>
          <a:xfrm>
            <a:off x="9052560" y="3154680"/>
            <a:ext cx="2450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800" dirty="0"/>
          </a:p>
        </p:txBody>
      </p:sp>
      <p:sp>
        <p:nvSpPr>
          <p:cNvPr id="27" name="Text 22"/>
          <p:cNvSpPr/>
          <p:nvPr/>
        </p:nvSpPr>
        <p:spPr>
          <a:xfrm>
            <a:off x="9107424" y="3639312"/>
            <a:ext cx="23408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14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act, and socialize the chosen solution.</a:t>
            </a:r>
            <a:endParaRPr lang="en-US" sz="1400" dirty="0"/>
          </a:p>
        </p:txBody>
      </p:sp>
      <p:sp>
        <p:nvSpPr>
          <p:cNvPr id="28" name="Shape 23"/>
          <p:cNvSpPr/>
          <p:nvPr/>
        </p:nvSpPr>
        <p:spPr>
          <a:xfrm>
            <a:off x="548640" y="502920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14233A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868680" y="5257800"/>
            <a:ext cx="502920" cy="50292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3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468" y="5393588"/>
            <a:ext cx="231343" cy="231343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1554480" y="502920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uses both:  </a:t>
            </a:r>
            <a:pPr indent="0" marL="0"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divergent thinking to generate, then convergent thinking to narrow.</a:t>
            </a:r>
            <a:endParaRPr lang="en-US" sz="1650" dirty="0"/>
          </a:p>
        </p:txBody>
      </p:sp>
      <p:sp>
        <p:nvSpPr>
          <p:cNvPr id="32" name="Text 26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EF4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READING — DISCUSS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"Channeling Your Creativity" — Elder Hales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1106424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96112" y="2212848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9058" y="2375794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1874520"/>
            <a:ext cx="9692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7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CPS process gives you the mechanics; Elder Hales speaks to the purpose — creativity as a gift to develop and use, not just a technique.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548640" y="3566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Talk about it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4023360"/>
            <a:ext cx="10515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7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the article add beyond the CPS mechanics?</a:t>
            </a:r>
            <a:endParaRPr lang="en-US" sz="1700" dirty="0"/>
          </a:p>
          <a:p>
            <a:pPr marL="203200" indent="-203200">
              <a:spcAft>
                <a:spcPts val="1500"/>
              </a:spcAft>
              <a:buSzPct val="100000"/>
              <a:buChar char="•"/>
            </a:pPr>
            <a:r>
              <a:rPr lang="en-US" sz="17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Creativity as a gift to develop and use — in service, not just to produce.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difference might that make in how you find a project worth founding?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TOOLKIT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tools we'll use today</a:t>
            </a:r>
            <a:endParaRPr lang="en-US" sz="3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168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554480"/>
                <a:gridCol w="649224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IS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908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Post-It brainstorming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3E9C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Diverge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 capture — one idea per sticky, say it aloud, go for quantity.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Brainwriting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3E9C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Diverge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Write a few ideas on a sheet, swap, build on others' — silent, so no one dominates.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"How might we…?"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3E9C6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Diverge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Reframe a problem as an open question that invites many answers.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Ladder of Abstraction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Both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Ask "what's stopping you?" to get specific, or "why does it matter?" to go broader.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3F6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0E6E6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 vs. Do-ability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50" b="1" dirty="0">
                          <a:solidFill>
                            <a:srgbClr val="D9614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1E2A3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options on two axes — value × feasibility — to narrow the list.</a:t>
                      </a:r>
                      <a:endParaRPr lang="en-US" sz="14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7000" marR="127000" marT="50800" marB="5080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— THE CPS PROCESS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Egg-drop: a run through the process (paper only)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5544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an egg dropped from increasing heights. Paper only — design and reason; no build, no drop. It's here to make the process visible.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33172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011680" y="2578608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4502" y="2751430"/>
            <a:ext cx="294437" cy="29443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Clarify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804672" y="3858768"/>
            <a:ext cx="3054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 the goal for now — protect the egg. (Ask questions if you want to know more.)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297680" y="233172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760720" y="2578608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3542" y="2751430"/>
            <a:ext cx="294437" cy="294437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3484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Ideate</a:t>
            </a:r>
            <a:endParaRPr lang="en-US" sz="2000" dirty="0"/>
          </a:p>
        </p:txBody>
      </p:sp>
      <p:sp>
        <p:nvSpPr>
          <p:cNvPr id="15" name="Text 11"/>
          <p:cNvSpPr/>
          <p:nvPr/>
        </p:nvSpPr>
        <p:spPr>
          <a:xfrm>
            <a:off x="4553712" y="3858768"/>
            <a:ext cx="3054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many protection ideas. Defer judgment, go wild — no constraints yet.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8046720" y="2331720"/>
            <a:ext cx="3566160" cy="2743200"/>
          </a:xfrm>
          <a:prstGeom prst="roundRect">
            <a:avLst>
              <a:gd name="adj" fmla="val 30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9509760" y="2578608"/>
            <a:ext cx="640080" cy="640080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2582" y="2751430"/>
            <a:ext cx="294437" cy="29443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83880" y="338328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</a:t>
            </a:r>
            <a:endParaRPr lang="en-US" sz="2000" dirty="0"/>
          </a:p>
        </p:txBody>
      </p:sp>
      <p:sp>
        <p:nvSpPr>
          <p:cNvPr id="20" name="Text 15"/>
          <p:cNvSpPr/>
          <p:nvPr/>
        </p:nvSpPr>
        <p:spPr>
          <a:xfrm>
            <a:off x="8302752" y="3858768"/>
            <a:ext cx="3054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the constraints appear. Narrow your wild ideas to the one you'd build.</a:t>
            </a:r>
            <a:endParaRPr lang="en-US" sz="15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06240" y="3520440"/>
            <a:ext cx="219456" cy="256032"/>
          </a:xfrm>
          <a:prstGeom prst="rect">
            <a:avLst/>
          </a:prstGeom>
        </p:spPr>
      </p:pic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3520440"/>
            <a:ext cx="219456" cy="256032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48640" y="530352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of 3–4 · a facilitator each · expect interruptions and feedback.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25" name="Text 18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 AT DEVELOPMENT (OR ON REQUEST)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Now narrow your ideas against these constraints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822960" y="162763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3246120" y="162763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Only: 1 sheet of paper · 12 in of tape · 5 straws · 8 in of string · 10 cotton balls · 2 rubber bands · 1 sandwich bag.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822960" y="2468880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3246120" y="2468880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fit inside an 8-inch cube.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822960" y="309067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3246120" y="309067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 2 oz (without the egg).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822960" y="3712464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time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3246120" y="3712464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Assembled in 10 minutes or less.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822960" y="4334256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246120" y="4334256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Survive three increasing drops — 3 ft, 6 ft, 9 ft. No one-shot designs.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22960" y="5175504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Egg access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3246120" y="5175504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egg must go in and come out without cutting or destroying it.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822960" y="6016752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3246120" y="6016752"/>
            <a:ext cx="8321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1650" dirty="0">
                <a:solidFill>
                  <a:srgbClr val="DCE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Egg uncracked after the 9-ft drop. Tiebreaker: fewer materials &amp; lighter wins.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92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DEBRIEF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just happened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5440680" cy="3429000"/>
          </a:xfrm>
          <a:prstGeom prst="roundRect">
            <a:avLst>
              <a:gd name="adj" fmla="val 2400"/>
            </a:avLst>
          </a:prstGeom>
          <a:solidFill>
            <a:srgbClr val="FCF3E3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76272"/>
            <a:ext cx="603504" cy="60350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5906" y="2339218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2768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Clarification lesson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96112" y="30632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teams that asked about constraints early had it far easier. That's exactly why real founding work starts by understanding the problem, its users, and its constraints — before racing to solutions.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172200" y="1874520"/>
            <a:ext cx="5440680" cy="3429000"/>
          </a:xfrm>
          <a:prstGeom prst="roundRect">
            <a:avLst>
              <a:gd name="adj" fmla="val 2400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46520" y="2176272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466" y="2339218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196328" y="224028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pivot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6519672" y="30632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600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divergent discipline — generate widely, defer judgment — is exactly how we'll find real problems worth founding on. Now we point it at the real world.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MAIN EVENT — HOW IT RUNS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problems worth founding on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48640" y="157276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tools, one growing pool. All three keep generating — breadth, then build, then depth.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3566160" cy="3246120"/>
          </a:xfrm>
          <a:prstGeom prst="roundRect">
            <a:avLst>
              <a:gd name="adj" fmla="val 2535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22960" y="2450592"/>
            <a:ext cx="621792" cy="621792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0844" y="2618476"/>
            <a:ext cx="286024" cy="28602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95528" y="3218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Post-It burst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795528" y="36393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Breadth · ~9 min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95528" y="4005072"/>
            <a:ext cx="3072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Loud and fast: one problem per sticky, say it aloud, fill the wall. Push past the obvious.</a:t>
            </a:r>
            <a:endParaRPr lang="en-US" sz="1450" dirty="0"/>
          </a:p>
        </p:txBody>
      </p:sp>
      <p:sp>
        <p:nvSpPr>
          <p:cNvPr id="12" name="Shape 9"/>
          <p:cNvSpPr/>
          <p:nvPr/>
        </p:nvSpPr>
        <p:spPr>
          <a:xfrm>
            <a:off x="4297680" y="2194560"/>
            <a:ext cx="3566160" cy="3246120"/>
          </a:xfrm>
          <a:prstGeom prst="roundRect">
            <a:avLst>
              <a:gd name="adj" fmla="val 2535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572000" y="2450592"/>
            <a:ext cx="621792" cy="621792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9884" y="2618476"/>
            <a:ext cx="286024" cy="286024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44568" y="3218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Brainwriting</a:t>
            </a:r>
            <a:endParaRPr lang="en-US" sz="1800" dirty="0"/>
          </a:p>
        </p:txBody>
      </p:sp>
      <p:sp>
        <p:nvSpPr>
          <p:cNvPr id="16" name="Text 12"/>
          <p:cNvSpPr/>
          <p:nvPr/>
        </p:nvSpPr>
        <p:spPr>
          <a:xfrm>
            <a:off x="4544568" y="36393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· ~9 min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44568" y="4005072"/>
            <a:ext cx="3072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Silent: write a few on a sheet, swap, build on others'. New problems keep coming.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8046720" y="2194560"/>
            <a:ext cx="3566160" cy="3246120"/>
          </a:xfrm>
          <a:prstGeom prst="roundRect">
            <a:avLst>
              <a:gd name="adj" fmla="val 2535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450592"/>
            <a:ext cx="621792" cy="621792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924" y="2618476"/>
            <a:ext cx="286024" cy="286024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8293608" y="321868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Ladder</a:t>
            </a:r>
            <a:endParaRPr lang="en-US" sz="1800" dirty="0"/>
          </a:p>
        </p:txBody>
      </p:sp>
      <p:sp>
        <p:nvSpPr>
          <p:cNvPr id="22" name="Text 17"/>
          <p:cNvSpPr/>
          <p:nvPr/>
        </p:nvSpPr>
        <p:spPr>
          <a:xfrm>
            <a:off x="8293608" y="363931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6E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· ~7 min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293608" y="4005072"/>
            <a:ext cx="307238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2–3 notes and ask "why does it matter?" / "what specifically?" for sharper problems.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548640" y="56235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who feels each problem — a person or group, not "everyone." (Deep needfinding is next week.)</a:t>
            </a:r>
            <a:endParaRPr lang="en-US" sz="1400" dirty="0"/>
          </a:p>
        </p:txBody>
      </p:sp>
      <p:sp>
        <p:nvSpPr>
          <p:cNvPr id="25" name="Text 20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26" name="Text 21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332720" y="-118872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566928" y="603504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4" name="Text 2"/>
          <p:cNvSpPr/>
          <p:nvPr/>
        </p:nvSpPr>
        <p:spPr>
          <a:xfrm>
            <a:off x="795528" y="51206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THIS UP WHILE YOU WORK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96012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Problems, not solutions.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822960" y="2286000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1217" y="2424257"/>
            <a:ext cx="235549" cy="2355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72768" y="226771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Defer judgment</a:t>
            </a:r>
            <a:endParaRPr lang="en-US" sz="2500" dirty="0"/>
          </a:p>
        </p:txBody>
      </p:sp>
      <p:sp>
        <p:nvSpPr>
          <p:cNvPr id="9" name="Shape 6"/>
          <p:cNvSpPr/>
          <p:nvPr/>
        </p:nvSpPr>
        <p:spPr>
          <a:xfrm>
            <a:off x="822960" y="3017520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1217" y="3155777"/>
            <a:ext cx="235549" cy="235549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572768" y="299923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 quantity</a:t>
            </a:r>
            <a:endParaRPr lang="en-US" sz="2500" dirty="0"/>
          </a:p>
        </p:txBody>
      </p:sp>
      <p:sp>
        <p:nvSpPr>
          <p:cNvPr id="12" name="Shape 8"/>
          <p:cNvSpPr/>
          <p:nvPr/>
        </p:nvSpPr>
        <p:spPr>
          <a:xfrm>
            <a:off x="822960" y="3749040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17" y="3887297"/>
            <a:ext cx="235549" cy="23554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72768" y="373075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 others'</a:t>
            </a:r>
            <a:endParaRPr lang="en-US" sz="2500" dirty="0"/>
          </a:p>
        </p:txBody>
      </p:sp>
      <p:sp>
        <p:nvSpPr>
          <p:cNvPr id="15" name="Shape 10"/>
          <p:cNvSpPr/>
          <p:nvPr/>
        </p:nvSpPr>
        <p:spPr>
          <a:xfrm>
            <a:off x="822960" y="4480560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1217" y="4618817"/>
            <a:ext cx="235549" cy="23554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572768" y="446227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wild ideas</a:t>
            </a:r>
            <a:endParaRPr lang="en-US" sz="2500" dirty="0"/>
          </a:p>
        </p:txBody>
      </p:sp>
      <p:sp>
        <p:nvSpPr>
          <p:cNvPr id="18" name="Shape 12"/>
          <p:cNvSpPr/>
          <p:nvPr/>
        </p:nvSpPr>
        <p:spPr>
          <a:xfrm>
            <a:off x="822960" y="5212080"/>
            <a:ext cx="512064" cy="512064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217" y="5350337"/>
            <a:ext cx="235549" cy="235549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572768" y="5193792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solutioning yet</a:t>
            </a:r>
            <a:endParaRPr lang="en-US" sz="2500" dirty="0"/>
          </a:p>
        </p:txBody>
      </p:sp>
      <p:sp>
        <p:nvSpPr>
          <p:cNvPr id="21" name="Shape 14"/>
          <p:cNvSpPr/>
          <p:nvPr/>
        </p:nvSpPr>
        <p:spPr>
          <a:xfrm>
            <a:off x="8229600" y="2286000"/>
            <a:ext cx="3383280" cy="3246120"/>
          </a:xfrm>
          <a:prstGeom prst="roundRect">
            <a:avLst>
              <a:gd name="adj" fmla="val 2535"/>
            </a:avLst>
          </a:prstGeom>
          <a:solidFill>
            <a:srgbClr val="1E3352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22" name="Shape 15"/>
          <p:cNvSpPr/>
          <p:nvPr/>
        </p:nvSpPr>
        <p:spPr>
          <a:xfrm>
            <a:off x="9464040" y="2578608"/>
            <a:ext cx="914400" cy="91440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10928" y="2825496"/>
            <a:ext cx="420624" cy="420624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8412480" y="3639312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Aim for 40+ per group</a:t>
            </a:r>
            <a:endParaRPr lang="en-US" sz="2100" dirty="0"/>
          </a:p>
        </p:txBody>
      </p:sp>
      <p:sp>
        <p:nvSpPr>
          <p:cNvPr id="25" name="Text 17"/>
          <p:cNvSpPr/>
          <p:nvPr/>
        </p:nvSpPr>
        <p:spPr>
          <a:xfrm>
            <a:off x="8412480" y="4206240"/>
            <a:ext cx="3017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0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tag who feels each one.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02920"/>
            <a:ext cx="137160" cy="1371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" name="Text 1"/>
          <p:cNvSpPr/>
          <p:nvPr/>
        </p:nvSpPr>
        <p:spPr>
          <a:xfrm>
            <a:off x="795528" y="402336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290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LEAVE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548640" y="749808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100" b="1" dirty="0">
                <a:solidFill>
                  <a:srgbClr val="1E2A3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Capture the pool</a:t>
            </a:r>
            <a:endParaRPr lang="en-US" sz="3100" dirty="0"/>
          </a:p>
        </p:txBody>
      </p:sp>
      <p:sp>
        <p:nvSpPr>
          <p:cNvPr id="5" name="Shape 3"/>
          <p:cNvSpPr/>
          <p:nvPr/>
        </p:nvSpPr>
        <p:spPr>
          <a:xfrm>
            <a:off x="548640" y="1965960"/>
            <a:ext cx="11064240" cy="1170432"/>
          </a:xfrm>
          <a:prstGeom prst="roundRect">
            <a:avLst>
              <a:gd name="adj" fmla="val 7031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68680" y="2258568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1626" y="2421514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691640" y="2148840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3–5 problem spaces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1691640" y="2569464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ones that tug at you — weigh value × reachable users. A private, gentle first narrowing.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548640" y="3264408"/>
            <a:ext cx="11064240" cy="1170432"/>
          </a:xfrm>
          <a:prstGeom prst="roundRect">
            <a:avLst>
              <a:gd name="adj" fmla="val 7031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57016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1626" y="3719962"/>
            <a:ext cx="277612" cy="27761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691640" y="3447288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into your journal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1691640" y="38679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Starred or not, the whole pool goes into your idea journal — raw material for the Idea Briefs.</a:t>
            </a:r>
            <a:endParaRPr lang="en-US" sz="1450" dirty="0"/>
          </a:p>
        </p:txBody>
      </p:sp>
      <p:sp>
        <p:nvSpPr>
          <p:cNvPr id="15" name="Shape 11"/>
          <p:cNvSpPr/>
          <p:nvPr/>
        </p:nvSpPr>
        <p:spPr>
          <a:xfrm>
            <a:off x="548640" y="4562856"/>
            <a:ext cx="11064240" cy="1170432"/>
          </a:xfrm>
          <a:prstGeom prst="roundRect">
            <a:avLst>
              <a:gd name="adj" fmla="val 7031"/>
            </a:avLst>
          </a:prstGeom>
          <a:solidFill>
            <a:srgbClr val="F2F6F8"/>
          </a:solidFill>
          <a:ln/>
          <a:effectLst>
            <a:outerShdw sx="100000" sy="100000" kx="0" ky="0" algn="bl" rotWithShape="0" blurRad="88900" dist="38100" dir="54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8680" y="4855464"/>
            <a:ext cx="603504" cy="603504"/>
          </a:xfrm>
          <a:prstGeom prst="ellipse">
            <a:avLst/>
          </a:prstGeom>
          <a:solidFill>
            <a:srgbClr val="12908F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626" y="5018410"/>
            <a:ext cx="277612" cy="27761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691640" y="4745736"/>
            <a:ext cx="9601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commitment</a:t>
            </a:r>
            <a:endParaRPr lang="en-US" sz="1900" dirty="0"/>
          </a:p>
        </p:txBody>
      </p:sp>
      <p:sp>
        <p:nvSpPr>
          <p:cNvPr id="19" name="Text 14"/>
          <p:cNvSpPr/>
          <p:nvPr/>
        </p:nvSpPr>
        <p:spPr>
          <a:xfrm>
            <a:off x="1691640" y="516636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marking what to investigate, not choosing a project. Range still matters.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7315200" y="6437376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301R · Session 2 · Divergent Workshop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548640" y="64373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72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3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754880"/>
            <a:ext cx="3291840" cy="3291840"/>
          </a:xfrm>
          <a:prstGeom prst="ellipse">
            <a:avLst/>
          </a:prstGeom>
          <a:solidFill>
            <a:srgbClr val="1C3252"/>
          </a:solidFill>
          <a:ln/>
        </p:spPr>
      </p:sp>
      <p:sp>
        <p:nvSpPr>
          <p:cNvPr id="3" name="Shape 1"/>
          <p:cNvSpPr/>
          <p:nvPr/>
        </p:nvSpPr>
        <p:spPr>
          <a:xfrm>
            <a:off x="822960" y="1188720"/>
            <a:ext cx="822960" cy="822960"/>
          </a:xfrm>
          <a:prstGeom prst="ellipse">
            <a:avLst/>
          </a:prstGeom>
          <a:solidFill>
            <a:srgbClr val="E8A33D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5159" y="1410919"/>
            <a:ext cx="378562" cy="3785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2148840"/>
            <a:ext cx="10789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noticing.</a:t>
            </a:r>
            <a:endParaRPr lang="en-US" sz="3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need range for three genuinely different Idea Briefs.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41248" y="4023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MONDAY, SEP 14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868680" y="4407408"/>
            <a:ext cx="10698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feeding your idea journal — and bring your starred problem spaces</a:t>
            </a:r>
            <a:endParaRPr lang="en-US" sz="1700" dirty="0"/>
          </a:p>
          <a:p>
            <a:pPr marL="203200" indent="-203200">
              <a:buSzPct val="100000"/>
              <a:buChar char="•"/>
            </a:pPr>
            <a:r>
              <a:rPr lang="en-US" sz="1700" dirty="0">
                <a:solidFill>
                  <a:srgbClr val="CBD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up (Week 2): open source, licensing, and discovery — how to talk to real users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301R — Session 2 — Divergent Problem-Space Workshop</dc:title>
  <dc:subject>PptxGenJS Presentation</dc:subject>
  <dc:creator>CS 301R</dc:creator>
  <cp:lastModifiedBy>CS 301R</cp:lastModifiedBy>
  <cp:revision>1</cp:revision>
  <dcterms:created xsi:type="dcterms:W3CDTF">2026-07-08T20:53:48Z</dcterms:created>
  <dcterms:modified xsi:type="dcterms:W3CDTF">2026-07-08T20:53:48Z</dcterms:modified>
</cp:coreProperties>
</file>