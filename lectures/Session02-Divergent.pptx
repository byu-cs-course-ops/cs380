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true workshop and first session with pre-reading. Minimal lecture, maximum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Introduce, don't drill. We'll lean on Post-It, brainwriting, and the ladder in the workshop; Value vs. Do-ability returns when we narrow.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at Development — or earlier to any team that asks good Clarification questions. The wild ideas (giant pillow, huge parachute) now meet real limits, forcing convergence.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the workshop. Return to it whenever energy or focus dips.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Week 2 (Mon Sep 14): open source, licensing, and discovery methods. They bring their starred problems into needfinding.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663440"/>
            <a:ext cx="2743200" cy="274320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32588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57276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SOFTWARE ENGINEERING STUDIO 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Divergent Problem-Space Workshop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41248" y="4343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Creative Problem Solving in Action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9F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Wednesday, September 9, 2026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journal check-in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3520440"/>
          </a:xfrm>
          <a:prstGeom prst="roundRect">
            <a:avLst>
              <a:gd name="adj" fmla="val 2338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311786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 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4892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CPS = generate many options, then narrow.</a:t>
            </a:r>
            <a:endParaRPr lang="en-US" sz="1600" dirty="0"/>
          </a:p>
          <a:p>
            <a:pPr marL="203200" indent="-203200">
              <a:spcAft>
                <a:spcPts val="1300"/>
              </a:spcAft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(open up) → convergent (choose).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practice the process, then use it to find real problems.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440680" cy="3520440"/>
          </a:xfrm>
          <a:prstGeom prst="roundRect">
            <a:avLst>
              <a:gd name="adj" fmla="val 2338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48840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66" y="2311786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6328" y="2212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check-in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92240" y="30632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entries so far?</a:t>
            </a:r>
            <a:endParaRPr lang="en-US" sz="2500" dirty="0"/>
          </a:p>
        </p:txBody>
      </p:sp>
      <p:sp>
        <p:nvSpPr>
          <p:cNvPr id="15" name="Text 11"/>
          <p:cNvSpPr/>
          <p:nvPr/>
        </p:nvSpPr>
        <p:spPr>
          <a:xfrm>
            <a:off x="6492240" y="374904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up by range. Quantity is the whole point right now — we'll add a lot more today.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READING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Creative Problem Solving — the four stages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70048" cy="2697480"/>
          </a:xfrm>
          <a:prstGeom prst="roundRect">
            <a:avLst>
              <a:gd name="adj" fmla="val 308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2184" y="2194560"/>
            <a:ext cx="822960" cy="822960"/>
          </a:xfrm>
          <a:prstGeom prst="ellipse">
            <a:avLst/>
          </a:prstGeom>
          <a:solidFill>
            <a:srgbClr val="12908F"/>
          </a:solidFill>
          <a:ln/>
        </p:spPr>
      </p:sp>
      <p:sp>
        <p:nvSpPr>
          <p:cNvPr id="7" name="Text 5"/>
          <p:cNvSpPr/>
          <p:nvPr/>
        </p:nvSpPr>
        <p:spPr>
          <a:xfrm>
            <a:off x="1472184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58368" y="3154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Clarification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6393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problem space; gather facts; frame the real problem.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3246120"/>
            <a:ext cx="201168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46704" y="1965960"/>
            <a:ext cx="2670048" cy="2697480"/>
          </a:xfrm>
          <a:prstGeom prst="roundRect">
            <a:avLst>
              <a:gd name="adj" fmla="val 308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0248" y="2194560"/>
            <a:ext cx="822960" cy="822960"/>
          </a:xfrm>
          <a:prstGeom prst="ellipse">
            <a:avLst/>
          </a:prstGeom>
          <a:solidFill>
            <a:srgbClr val="12908F"/>
          </a:solidFill>
          <a:ln/>
        </p:spPr>
      </p:sp>
      <p:sp>
        <p:nvSpPr>
          <p:cNvPr id="13" name="Text 10"/>
          <p:cNvSpPr/>
          <p:nvPr/>
        </p:nvSpPr>
        <p:spPr>
          <a:xfrm>
            <a:off x="427024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3456432" y="3154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Ideation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511296" y="36393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many ideas; defer judgment; prefer quantity.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3246120"/>
            <a:ext cx="201168" cy="27432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144768" y="1965960"/>
            <a:ext cx="2670048" cy="2697480"/>
          </a:xfrm>
          <a:prstGeom prst="roundRect">
            <a:avLst>
              <a:gd name="adj" fmla="val 308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068312" y="2194560"/>
            <a:ext cx="822960" cy="822960"/>
          </a:xfrm>
          <a:prstGeom prst="ellipse">
            <a:avLst/>
          </a:prstGeom>
          <a:solidFill>
            <a:srgbClr val="12908F"/>
          </a:solidFill>
          <a:ln/>
        </p:spPr>
      </p:sp>
      <p:sp>
        <p:nvSpPr>
          <p:cNvPr id="19" name="Text 15"/>
          <p:cNvSpPr/>
          <p:nvPr/>
        </p:nvSpPr>
        <p:spPr>
          <a:xfrm>
            <a:off x="7068312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6254496" y="3154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309360" y="36393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and refine the best ideas against goals and constraints.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16" y="3246120"/>
            <a:ext cx="201168" cy="27432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942832" y="1965960"/>
            <a:ext cx="2670048" cy="2697480"/>
          </a:xfrm>
          <a:prstGeom prst="roundRect">
            <a:avLst>
              <a:gd name="adj" fmla="val 3082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866376" y="2194560"/>
            <a:ext cx="822960" cy="822960"/>
          </a:xfrm>
          <a:prstGeom prst="ellipse">
            <a:avLst/>
          </a:prstGeom>
          <a:solidFill>
            <a:srgbClr val="12908F"/>
          </a:solidFill>
          <a:ln/>
        </p:spPr>
      </p:sp>
      <p:sp>
        <p:nvSpPr>
          <p:cNvPr id="25" name="Text 20"/>
          <p:cNvSpPr/>
          <p:nvPr/>
        </p:nvSpPr>
        <p:spPr>
          <a:xfrm>
            <a:off x="9866376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9052560" y="3154680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9107424" y="3639312"/>
            <a:ext cx="23408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act, and socialize the chosen solution.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14233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68680" y="5257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468" y="5393588"/>
            <a:ext cx="231343" cy="231343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554480" y="50292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uses both:  </a:t>
            </a:r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thinking to generate, then convergent thinking to narrow.</a:t>
            </a:r>
            <a:endParaRPr lang="en-US" sz="1650" dirty="0"/>
          </a:p>
        </p:txBody>
      </p:sp>
      <p:sp>
        <p:nvSpPr>
          <p:cNvPr id="32" name="Text 26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READING — DISCUSS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"Channeling Your Creativity" — Elder Hales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12848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058" y="2375794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7452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CPS process gives you the mechanics; Elder Hales speaks to the purpose — creativity as a gift to develop and use, not just a technique.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about 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02336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article add beyond the CPS mechanics?</a:t>
            </a:r>
            <a:endParaRPr lang="en-US" sz="1700" dirty="0"/>
          </a:p>
          <a:p>
            <a:pPr marL="203200" indent="-203200">
              <a:spcAft>
                <a:spcPts val="1500"/>
              </a:spcAft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 as a gift to develop and use — in service, not just to produce.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difference might that make in how you find a project worth founding?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we'll use today</a:t>
            </a:r>
            <a:endParaRPr lang="en-US" sz="3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6492240"/>
              </a:tblGrid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0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0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08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6E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Post-It brainstorming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3E9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capture — one idea per sticky, say it aloud, go for quantity.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6E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Brainwriting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3E9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 few ideas on a sheet, swap, build on others' — silent, so no one dominates.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6E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"How might we…?"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3E9C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Reframe a problem as an open question that invites many answers.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6E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Ladder of Abstraction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0E6E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"what's stopping you?" to get specific, or "why does it matter?" to go broader.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0E6E6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vs. Do-ability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50" b="1" dirty="0">
                          <a:solidFill>
                            <a:srgbClr val="D961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options on two axes — value × feasibility — to narrow the list.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— THE CPS PROCESS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Egg-drop: a run through the process (paper only)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 egg dropped from increasing heights. Paper only — design and reason; no build, no drop. It's here to make the process visible.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0" y="2578608"/>
            <a:ext cx="640080" cy="64008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4502" y="2751430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04672" y="3858768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goal for now — protect the egg. (Ask questions if you want to know more.)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97680" y="23317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578608"/>
            <a:ext cx="640080" cy="64008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542" y="2751430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484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53712" y="3858768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many protection ideas. Defer judgment, go wild — no constraints yet.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233172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09760" y="2578608"/>
            <a:ext cx="640080" cy="640080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2582" y="2751430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388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02752" y="3858768"/>
            <a:ext cx="30540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the constraints appear. Narrow your wild ideas to the one you'd build.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3520440"/>
            <a:ext cx="219456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3520440"/>
            <a:ext cx="219456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8640" y="5303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of 3–4 · a facilitator each · expect interruptions and feedback.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AT DEVELOPMENT (OR ON REQUEST)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narrow your ideas against these constraints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246120" y="162763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Only: 1 sheet of paper · 12 in of tape · 5 straws · 8 in of string · 10 cotton balls · 2 rubber bands · 1 sandwich bag.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46120" y="246888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fit inside an 8-inch cube.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309067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246120" y="309067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2 oz (without the egg).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22960" y="371246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246120" y="3712464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in 10 minutes or less.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2960" y="4334256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246120" y="4334256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 three increasing drops — 3 ft, 6 ft, 9 ft. No one-shot designs.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" y="517550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access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246120" y="5175504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egg must go in and come out without cutting or destroying it.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822960" y="60167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246120" y="601675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650" dirty="0">
                <a:solidFill>
                  <a:srgbClr val="DCE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 uncracked after the 9-ft drop. Tiebreaker: fewer materials &amp; lighter wins.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just happened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CF3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76272"/>
            <a:ext cx="603504" cy="60350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906" y="2339218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Clarification lesson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96112" y="30632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teams that asked about constraints early had it far easier. That's exactly why real founding work starts by understanding the problem, its users, and its constraints — before racing to solutions.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440680" cy="3429000"/>
          </a:xfrm>
          <a:prstGeom prst="roundRect">
            <a:avLst>
              <a:gd name="adj" fmla="val 2400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176272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9466" y="2339218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96328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19672" y="3063240"/>
            <a:ext cx="4892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6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divergent discipline — generate widely, defer judgment — is exactly how we'll find real problems worth founding on. Now we point it at the real world.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EVENT — HOW IT RUNS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problems worth founding on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tools, one growing pool. All three keep generating — breadth, then build, then depth.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450592"/>
            <a:ext cx="621792" cy="621792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844" y="2618476"/>
            <a:ext cx="286024" cy="2860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Post-It burst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5528" y="36393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Breadth · ~9 min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528" y="4005072"/>
            <a:ext cx="3072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and fast: one problem per sticky, say it aloud, fill the wall. Push past the obvious.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297680" y="219456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0" y="2450592"/>
            <a:ext cx="621792" cy="621792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9884" y="2618476"/>
            <a:ext cx="286024" cy="2860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44568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Brainwriting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544568" y="36393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~9 min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44568" y="4005072"/>
            <a:ext cx="3072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Silent: write a few on a sheet, swap, build on others'. New problems keep coming.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8046720" y="2194560"/>
            <a:ext cx="3566160" cy="3246120"/>
          </a:xfrm>
          <a:prstGeom prst="roundRect">
            <a:avLst>
              <a:gd name="adj" fmla="val 2535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2450592"/>
            <a:ext cx="621792" cy="621792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924" y="2618476"/>
            <a:ext cx="286024" cy="2860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93608" y="321868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Ladder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293608" y="36393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· ~7 min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93608" y="4005072"/>
            <a:ext cx="3072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2–3 notes and ask "why does it matter?" / "what specifically?" for sharper problems.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who feels each problem — a person or group, not "everyone." (Deep needfinding is next week.)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118872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603504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795528" y="51206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UP WHILE YOU 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Problems, not solutions.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17" y="2424257"/>
            <a:ext cx="235549" cy="23554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72768" y="226771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 judgment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217" y="3155777"/>
            <a:ext cx="235549" cy="2355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72768" y="29992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quantity</a:t>
            </a:r>
            <a:endParaRPr lang="en-US" sz="2500" dirty="0"/>
          </a:p>
        </p:txBody>
      </p:sp>
      <p:sp>
        <p:nvSpPr>
          <p:cNvPr id="12" name="Shape 8"/>
          <p:cNvSpPr/>
          <p:nvPr/>
        </p:nvSpPr>
        <p:spPr>
          <a:xfrm>
            <a:off x="822960" y="374904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217" y="3887297"/>
            <a:ext cx="235549" cy="2355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72768" y="37307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others'</a:t>
            </a:r>
            <a:endParaRPr lang="en-US" sz="2500" dirty="0"/>
          </a:p>
        </p:txBody>
      </p:sp>
      <p:sp>
        <p:nvSpPr>
          <p:cNvPr id="15" name="Shape 10"/>
          <p:cNvSpPr/>
          <p:nvPr/>
        </p:nvSpPr>
        <p:spPr>
          <a:xfrm>
            <a:off x="822960" y="448056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17" y="4618817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72768" y="446227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wild ideas</a:t>
            </a:r>
            <a:endParaRPr lang="en-US" sz="2500" dirty="0"/>
          </a:p>
        </p:txBody>
      </p:sp>
      <p:sp>
        <p:nvSpPr>
          <p:cNvPr id="18" name="Shape 12"/>
          <p:cNvSpPr/>
          <p:nvPr/>
        </p:nvSpPr>
        <p:spPr>
          <a:xfrm>
            <a:off x="822960" y="5212080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17" y="5350337"/>
            <a:ext cx="235549" cy="23554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72768" y="51937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solutioning yet</a:t>
            </a:r>
            <a:endParaRPr lang="en-US" sz="2500" dirty="0"/>
          </a:p>
        </p:txBody>
      </p:sp>
      <p:sp>
        <p:nvSpPr>
          <p:cNvPr id="21" name="Shape 14"/>
          <p:cNvSpPr/>
          <p:nvPr/>
        </p:nvSpPr>
        <p:spPr>
          <a:xfrm>
            <a:off x="8229600" y="228600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1E3352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9464040" y="2578608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0928" y="2825496"/>
            <a:ext cx="420624" cy="42062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412480" y="3639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for 40+ per group</a:t>
            </a:r>
            <a:endParaRPr lang="en-US" sz="2100" dirty="0"/>
          </a:p>
        </p:txBody>
      </p:sp>
      <p:sp>
        <p:nvSpPr>
          <p:cNvPr id="25" name="Text 17"/>
          <p:cNvSpPr/>
          <p:nvPr/>
        </p:nvSpPr>
        <p:spPr>
          <a:xfrm>
            <a:off x="8412480" y="4206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0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tag who feels each one.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137160" cy="13716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795528" y="402336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29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E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the pool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1170432"/>
          </a:xfrm>
          <a:prstGeom prst="roundRect">
            <a:avLst>
              <a:gd name="adj" fmla="val 703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258568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626" y="2421514"/>
            <a:ext cx="277612" cy="2776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488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3–5 problem spaces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91640" y="256946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that tug at you — weigh value × reachable users. A private, gentle first narrowing.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3264408"/>
            <a:ext cx="11064240" cy="1170432"/>
          </a:xfrm>
          <a:prstGeom prst="roundRect">
            <a:avLst>
              <a:gd name="adj" fmla="val 703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557016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26" y="3719962"/>
            <a:ext cx="277612" cy="2776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44728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into your journal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691640" y="38679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Starred or not, the whole pool goes into your idea journal — raw material for the Idea Briefs.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48640" y="4562856"/>
            <a:ext cx="11064240" cy="1170432"/>
          </a:xfrm>
          <a:prstGeom prst="roundRect">
            <a:avLst>
              <a:gd name="adj" fmla="val 7031"/>
            </a:avLst>
          </a:prstGeom>
          <a:solidFill>
            <a:srgbClr val="F2F6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8680" y="4855464"/>
            <a:ext cx="603504" cy="603504"/>
          </a:xfrm>
          <a:prstGeom prst="ellipse">
            <a:avLst/>
          </a:prstGeom>
          <a:solidFill>
            <a:srgbClr val="12908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626" y="5018410"/>
            <a:ext cx="277612" cy="2776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74573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commitment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1691640" y="51663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marking what to investigate, not choosing a project. Range still matters.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7315200" y="64373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301R · Session 2 · Divergent Workshop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72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754880"/>
            <a:ext cx="3291840" cy="3291840"/>
          </a:xfrm>
          <a:prstGeom prst="ellipse">
            <a:avLst/>
          </a:prstGeom>
          <a:solidFill>
            <a:srgbClr val="1C3252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1887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410919"/>
            <a:ext cx="378562" cy="378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4884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noticing.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need range for three genuinely different Idea Briefs.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41248" y="4023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MONDAY, SEP 14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68680" y="4407408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feeding your idea journal — and bring your starred problem spaces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CB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(Week 2): open source, licensing, and discovery — how to talk to real users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301R — Session 2 — Divergent Problem-Space Workshop</dc:title>
  <dc:subject>PptxGenJS Presentation</dc:subject>
  <dc:creator>CS 301R</dc:creator>
  <cp:lastModifiedBy>CS 301R</cp:lastModifiedBy>
  <cp:revision>1</cp:revision>
  <dcterms:created xsi:type="dcterms:W3CDTF">2026-07-06T15:23:02Z</dcterms:created>
  <dcterms:modified xsi:type="dcterms:W3CDTF">2026-07-06T15:23:02Z</dcterms:modified>
</cp:coreProperties>
</file>